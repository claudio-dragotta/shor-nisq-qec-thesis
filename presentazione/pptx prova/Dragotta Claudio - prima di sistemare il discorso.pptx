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8" r:id="rId5"/>
    <p:sldId id="279" r:id="rId6"/>
    <p:sldId id="287" r:id="rId8"/>
    <p:sldId id="267" r:id="rId14"/>
    <p:sldId id="263" r:id="rId11"/>
    <p:sldId id="268" r:id="rId15"/>
    <p:sldId id="265" r:id="rId12"/>
    <p:sldId id="269" r:id="rId16"/>
    <p:sldId id="270" r:id="rId17"/>
    <p:sldId id="271" r:id="rId18"/>
    <p:sldId id="266" r:id="rId13"/>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Parto da un dato oggettivo. I computer quantistici lavorano sugli stati quantistici della materia, che sono fragilissimi: basta una minima perturbazione per alterarli. Anche le macchine future dovranno convivere con gli errori.</a:t>
            </a:r>
          </a:p>
          <a:p>
            <a:r>
              <a:t>Un caso in cui questo pesa molto è l'algoritmo di Shor. La sicurezza di RSA, che protegge buona parte delle nostre comunicazioni, si basa sul fatto che fattorizzare un numero molto grande è difficilissimo per un computer classico. Shor ha dimostrato che un computer quantistico ideale lo farebbe in tempo polinomiale.</a:t>
            </a:r>
          </a:p>
          <a:p>
            <a:r>
              <a:t>Ma sulle macchine reali il rumore altera proprio l'informazione da cui Shor ricava la soluzione. Lo scopo della mia tesi è stato capire quali strategie permettono a Shor di dare comunque buoni risultati.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Vediamo come funziona, in modo rigoroso. Abbiamo N, il numero da fattorizzare, e un parametro a, la base, che non ha divisori in comune con N. La funzione a alla x modulo N è periodica, e il compito del computer quantistico è trovarne il periodo r.</a:t>
            </a:r>
          </a:p>
          <a:p>
            <a:r>
              <a:t>Nel mio esempio N è 15 e a è 7: nel grafico i valori si ripetono ogni quattro passi, quindi r è 4. Da r un calcolo classico ricava un fattore, 3, e quindi anche l'altro, 5.</a:t>
            </a:r>
          </a:p>
          <a:p>
            <a:r>
              <a:t>Il circuito usa 8 qubit di controllo e 4 di lavoro: 12 qubit in tutto. È il caso su cui ho fatto tutte le prove con rumore. Ho costruito e verificato anche il circuito per N uguale a 21, con 20 qubit, che uso per le prove sulla QFT approssimata. Tutto è simulato al calcolatore, con strumenti open source.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letteratura propone tre strade contro il rumore, ma raramente le confronta con un riferimento adeguato. Le vedete in viola su questo schema; in giallo c'è l'algoritmo di Shor, con i suoi passi: scelta di a, esponenziazione modulare, QFT inversa e misura.</a:t>
            </a:r>
          </a:p>
          <a:p>
            <a:r>
              <a:t>Il primo obiettivo riguarda il post-processing, dopo la misura: capire se il machine learning migliora davvero la lettura dei risultati.</a:t>
            </a:r>
          </a:p>
          <a:p>
            <a:r>
              <a:t>Il secondo è la correzione degli errori, che protegge i qubit durante il calcolo, cioè nell'esponenziazione e nella QFT. Qui ho confrontato codici e decoder in esperimenti separati, non dentro il circuito di Shor.</a:t>
            </a:r>
          </a:p>
          <a:p>
            <a:r>
              <a:t>Il terzo è la QFT approssimata, che toglie porte alla QFT inversa: verificare se questo migliora il risultato finale.</a:t>
            </a:r>
          </a:p>
          <a:p>
            <a:r>
              <a:t>Per ogni strategia vi mostro prima il metodo e subito dopo il risultato.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da 10 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delle strategie, vediamo quanto il rumore pesa su Shor e come si legge il successo. Nel caso ideale Shor trova i fattori nel 75% dei casi: è la linea in alto. La linea tratteggiata in basso, circa il 24,6%, è quello che otterremmo con risultati completamente casuali, perché la verifica finale accetta 63 esiti su 256. Tutto va letto tra questi due valori.</a:t>
            </a:r>
          </a:p>
          <a:p>
            <a:r>
              <a:t>Per simulare il rumore, dopo ogni porta inserisco con una certa probabilità un operatore di Pauli casuale, cioè un'inversione del bit, della fase o di entrambi. Andando da sinistra a destra cresce l'errore per porta. Senza rumore il successo è del 74,89%, come previsto. Basta l'1% di errore per porta, il punto cerchiato, per scendere al 56%, e oltre il 10% la curva si appiattisce sulla linea del caso: lì Shor non funziona più.</a:t>
            </a:r>
          </a:p>
          <a:p>
            <a:r>
              <a:t>Vediamo ora le tre strategie.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nel cerchio arancione: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rPr lang="it-IT" sz="1400">
                <a:latin typeface="Arial" panose="020B0604020202020204" pitchFamily="34" charset="0"/>
              </a:rPr>
              <a:t>Sui codici più grandi, le linee tratteggiate, il vantaggio quasi sparisce. Le linee grigie sono BP+OSD, un decoder classico più potente, che a distanza 5 fa ancora meglio.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da 10 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2</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609600"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9232900" y="3357860"/>
            <a:ext cx="2349500" cy="2273300"/>
          </a:xfrm>
          <a:prstGeom prst="rect">
            <a:avLst/>
          </a:prstGeom>
        </p:spPr>
      </p:pic>
      <p:sp>
        <p:nvSpPr>
          <p:cNvPr id="28" name="Text 19"/>
          <p:cNvSpPr/>
          <p:nvPr/>
        </p:nvSpPr>
        <p:spPr>
          <a:xfrm>
            <a:off x="7620000" y="5707360"/>
            <a:ext cx="396240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3</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609600" y="1428750"/>
            <a:ext cx="6368073" cy="4095750"/>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Punto di partenza | 5</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7810500" y="1609725"/>
            <a:ext cx="3771900"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7810500" y="2321027"/>
            <a:ext cx="3771900"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7810500" y="4241800"/>
            <a:ext cx="3771900"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
            </a:r>
            <a:r>
              <a:rPr lang="it-IT" sz="1275">
                <a:solidFill>
                  <a:srgbClr val="647487"/>
                </a:solidFill>
                <a:latin typeface="Arial" panose="020B0604020202020204" pitchFamily="34" charset="0"/>
                <a:ea typeface="Arial"/>
                <a:cs typeface="Arial"/>
              </a:rPr>
              <a:t>p</a:t>
            </a:r>
            <a:r>
              <a:rPr lang="it-IT" sz="1275" baseline="-25000">
                <a:solidFill>
                  <a:srgbClr val="647487"/>
                </a:solidFill>
                <a:latin typeface="Arial" panose="020B0604020202020204" pitchFamily="34" charset="0"/>
                <a:ea typeface="Arial"/>
                <a:cs typeface="Arial"/>
              </a:rPr>
              <a:t>g</a:t>
            </a:r>
            <a:r>
              <a:rPr lang="it-IT" sz="1275">
                <a:solidFill>
                  <a:srgbClr val="647487"/>
                </a:solidFill>
                <a:latin typeface="Arial" panose="020B0604020202020204" pitchFamily="34" charset="0"/>
                <a:ea typeface="Arial"/>
                <a:cs typeface="Arial"/>
              </a:rPr>
              <a:t>: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7810500" y="3048000"/>
            <a:ext cx="37719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7810500" y="3429000"/>
            <a:ext cx="37719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7</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11</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13</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21 e 35.</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15</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16</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