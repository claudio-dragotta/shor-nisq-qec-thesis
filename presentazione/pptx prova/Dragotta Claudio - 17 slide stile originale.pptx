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86" r:id="rId3"/>
    <p:sldId id="279" r:id="rId6"/>
    <p:sldId id="267" r:id="rId14"/>
    <p:sldId id="287" r:id="rId8"/>
    <p:sldId id="263" r:id="rId11"/>
    <p:sldId id="268" r:id="rId15"/>
    <p:sldId id="265" r:id="rId12"/>
    <p:sldId id="269" r:id="rId16"/>
    <p:sldId id="270" r:id="rId17"/>
    <p:sldId id="271" r:id="rId18"/>
    <p:sldId id="266" r:id="rId13"/>
    <p:sldId id="272" r:id="rId19"/>
    <p:sldId id="289" r:id="rId22"/>
    <p:sldId id="275" r:id="rId20"/>
    <p:sldId id="276" r:id="rId21"/>
    <p:sldId id="277"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6" Type="http://schemas.openxmlformats.org/officeDocument/2006/relationships/slide" Target="slides/slide3.xml"/><Relationship Id="rId8"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8.xml"/><Relationship Id="rId13" Type="http://schemas.openxmlformats.org/officeDocument/2006/relationships/slide" Target="slides/slide12.xml"/><Relationship Id="rId14" Type="http://schemas.openxmlformats.org/officeDocument/2006/relationships/slide" Target="slides/slide4.xml"/><Relationship Id="rId15" Type="http://schemas.openxmlformats.org/officeDocument/2006/relationships/slide" Target="slides/slide7.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3.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4.xml"/><Relationship Id="rId23" Type="http://schemas.openxmlformats.org/officeDocument/2006/relationships/slide" Target="slides/slide17.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Buongiorno. Ringrazio il presidente e tutta la commissione per la parola. Sono Claudio Dragotta e vi presento la mia tesi, che ho svolto con il professor Soda e l'ingegner Caprio.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sicurezza di RSA, che protegge buona parte delle nostre comunicazioni, si basa sul fatto che fattorizzare un numero molto grande è difficilissimo per un computer classico. L'algoritmo di Shor, su un computer quantistico, lo farebbe in tempo polinomiale.</a:t>
            </a:r>
          </a:p>
          <a:p>
            <a:r>
              <a:t>Ma Shor non è certo nemmeno in condizioni ideali: trova i fattori circa tre volte su quattro, il 75%. Sull'hardware quantistico reale si aggiungono poi gli errori: errori di porta, decoerenza, errori di misura.</a:t>
            </a:r>
          </a:p>
          <a:p>
            <a:r>
              <a:t>Ho quindi simulato questi errori per capire come si comporta l'algoritmo, con un obiettivo preciso: trovare strategie che lo rendano più efficace e più resiliente.</a:t>
            </a:r>
          </a:p>
          <a:p>
            <a:r>
              <a:t>Le strategie che ho studiato sono tre, una per livello: il machine learning applicato ai risultati, la correzione quantistica degli errori e la QFT approssimata. In sintesi, il machine learning non aggiunge informazione, la correzione funziona solo sotto una soglia di errore e la QFT approssimata dà un miglioramento netto su N uguale a 15.</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Vediamo come funziona. Abbiamo N, il numero da fattorizzare, e un parametro a, la base, che non ha divisori in comune con N. La funzione a alla x modulo N è periodica, e il compito del computer quantistico è trovarne il periodo r.</a:t>
            </a:r>
          </a:p>
          <a:p>
            <a:r>
              <a:t>Nel mio esempio N è 15 e a è 7: nel grafico i valori si ripetono ogni quattro passi, quindi r è 4. Da r un calcolo classico ricava un fattore, 3, e quindi anche l'altro, 5.</a:t>
            </a:r>
          </a:p>
          <a:p>
            <a:r>
              <a:t>Il circuito usa 8 qubit di controllo e 4 di lavoro, 12 qubit in tutto, ed è il caso su cui ho fatto le prove con rumore. Ho costruito e verificato anche il circuito per N uguale a 21, con 20 qubit. Tutto è simulato al calcolatore, con strumenti open source.</a:t>
            </a:r>
          </a:p>
          <a:p/>
          <a:p>
            <a:r>
              <a:t>▶ CAMBIA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 provato tre strategie, che agiscono in punti diversi dell'algoritmo. In giallo ci sono i passi di Shor: scelta di a, esponenziazione modulare, QFT inversa e misura; in viola i punti in cui ho lavorato.</a:t>
            </a:r>
          </a:p>
          <a:p>
            <a:r>
              <a:t>La prima agisce dopo la misura: è il post-processing, e qui ho usato il machine learning per capire quali risultati sono buoni.</a:t>
            </a:r>
          </a:p>
          <a:p>
            <a:r>
              <a:t>La seconda è la correzione degli errori, che protegge i qubit durante il calcolo. L'ho studiata in esperimenti separati, confrontando codici e decoder.</a:t>
            </a:r>
          </a:p>
          <a:p>
            <a:r>
              <a:t>La terza è la QFT approssimata, che toglie porte alla QFT inversa.</a:t>
            </a:r>
          </a:p>
          <a:p>
            <a:r>
              <a:t>Per ognuna vi mostro prima il metodo e subito dopo il risultato.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strategia: il post-processing. Ogni esecuzione di Shor dà un istogramma di risultati, e bisogna decidere quali verificare.</a:t>
            </a:r>
          </a:p>
          <a:p>
            <a:r>
              <a:t>TOP-1 verifica solo il più frequente. TOP-4 verifica, uno alla volta, i quattro più frequenti, finché trova i fattori. Il terzo metodo, che nella tesi chiamo Metodo 2, applica TOP-4 solo se un classificatore di machine learning lo approva: il classificatore deve riconoscere i risultati buoni da quelli non buoni. La verifica finale è sempre lo stesso calcolo classico.</a:t>
            </a:r>
          </a:p>
          <a:p>
            <a:r>
              <a:t>Il rischio è dare al machine learning un merito che viene invece dal provare più candidati. Per questo il confronto decisivo è tra il Metodo 2 e TOP-4.</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Seconda strategia: la correzione quantistica degli errori. Più qubit fisici proteggono un solo qubit logico: i controlli segnalano dove c'è un errore e un decoder decide come correggerlo.</a:t>
            </a:r>
          </a:p>
          <a:p>
            <a:r>
              <a:t>Ho usato due codici. Il surface code è il riferimento, robusto ma costoso: per 12 qubit logici servono circa 2000 qubit di dato. Su questo ho confrontato i decoder: quello classico, MWPM, una rete neurale, un ibrido e BP+OSD.</a:t>
            </a:r>
          </a:p>
          <a:p>
            <a:r>
              <a:t>Il Gross code, proposto da IBM, promette una protezione simile con da 10 a 14 volte meno qubit. Qui ho simulato gli errori come sequenze di 144 bit, non lo stato di 144 qubit.</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Terza strategia: la QFT approssimata. L'idea è semplice: gli errori vengono dalle porte, quindi meno porte significa meno errori.</a:t>
            </a:r>
          </a:p>
          <a:p>
            <a:r>
              <a:t>Nella QFT ci sono rotazioni sempre più piccole, che spostano la fase quasi di nulla ma costano porte. Nella versione approssimata le tolgo; per N uguale a 15 bastano quelle tra qubit vicini. Funziona perché Shor non ha bisogno della fase esatta: basta un valore abbastanza vicino perché il calcolo classico ritrovi il periodo.</a:t>
            </a:r>
          </a:p>
          <a:p>
            <a:r>
              <a:t>L'ho provata su N uguale a 15, su N uguale a 21 e su test di stima di fase, con il rumore misurato su un computer IBM e riprodotto in simulazione.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 prima cosa ho misurato quanto il rumore pesa su Shor. Per simularlo, dopo ogni porta inserisco con una certa probabilità un operatore di Pauli casuale, cioè un'inversione del bit, della fase o di entrambi.</a:t>
            </a:r>
          </a:p>
          <a:p>
            <a:r>
              <a:t>Il grafico va letto tra due linee. In alto c'è il 75%, il successo ideale. In basso, tratteggiato, c'è circa il 25%: è quello che otterrei con risultati completamente casuali, perché la verifica finale accetta 63 esiti su 256.</a:t>
            </a:r>
          </a:p>
          <a:p>
            <a:r>
              <a:t>Andando verso destra cresce l'errore per porta. Senza rumore ottengo il 74,89%, come previsto. Basta l'1% di errore per porta, il punto cerchiato, per scendere al 56%, e oltre il 10% la curva tocca la linea del caso: lì Shor non funziona più.</a:t>
            </a:r>
          </a:p>
          <a:p>
            <a:r>
              <a:t>Da qui la domanda della tesi: come rendere Shor più resiliente a questi errori?</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Barre più basse significano meno tentativi per trovare i fattori. Nel riquadro arancione, TOP-4 trova i fattori sempre al primo tentativo, in tutte le 30 repliche.</a:t>
            </a:r>
          </a:p>
          <a:p>
            <a:r>
              <a:t>Il classificatore è molto accurato, eppure il Metodo 2 non abbassa le barre, anzi fa peggio di TOP-4, perché a volte scarta proprio i risultati buoni. In pratica il classificatore premia gli stessi esiti più frequenti che TOP-4 prova già: non mi dà un'informazione in più. C'è anche un limite da dichiarare: l'ho addestrato su dati simulati, non su un computer quantistico reale.</a:t>
            </a:r>
          </a:p>
          <a:p>
            <a:r>
              <a:t>Quindi il vantaggio viene dal provare più candidati, non dal machine learning.</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primo risultato è la soglia. Ogni colore è un codice più grande. Nella zona verde, sotto soglia, le curve dei codici grandi stanno più in basso: fanno meno errori. Nella zona rossa l'ordine si inverte e aggiungere qubit peggiora le cose. La soglia è il punto in cui le curve si incrociano, nel cerchio arancione: l'ho stimata tra lo 0,8 e lo 0,9% di errore.</a:t>
            </a:r>
          </a:p>
          <a:p>
            <a:r>
              <a:t>Cosa significa per Shor? Torno alla curva del rumore: se la correzione porta l'errore residuo per porta allo 0,2%, Shor resta intorno al 70%; allo 0,5% resta al 64%; senza correzione, all'1%, scende al 56%. Quindi la correzione funziona, ma non riporta Shor al 75%. Preciso che è una stima: ho simulato Shor con un errore residuo per porta, non l'intero circuito corretto con i suoi qubit ausiliari.</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 il machine learning trova un ruolo. Sopra la linea dell'1 il decoder sbaglia meno di quello classico. Senza crosstalk la rete da sola non batte il decoder classico. Con il crosstalk, cioè errori correlati tra qubit vicini, il decoder ibrido, la linea arancione continua, sta sopra: nel punto cerchiato gli errori scendono del 16,8%.</a:t>
            </a:r>
          </a:p>
          <a:p>
            <a:r>
              <a:t>Sui codici più grandi, le linee tratteggiate, il vantaggio quasi sparisce, e BP+OSD, in grigio, a distanza 5 fa ancora meglio. Quindi il machine learning aiuta come correttore del decoder classico, non come sostituto.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Infine il confronto tra i due codici. Per proteggere 12 qubit logici il Gross code, la barra arancione, usa 144 qubit di dato, da 10 a 14 volte meno del surface code.</a:t>
            </a:r>
          </a:p>
          <a:p>
            <a:r>
              <a:t>Nel modello semplificato che ho usato, con un errore fisico dallo 0,75% in su, protegge anche meglio. E anche qui il decoder è decisivo: con la versione giusta gli errori scendono di circa cento volte.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A destra c'è la QFT piena, verso sinistra tolgo sempre più rotazioni. Con la QFT piena Shor si ferma al 48%; con il grado scelto, quello cerchiato, sale al 63%: quasi 15 punti in più, con il 23% di porte in meno.</a:t>
            </a:r>
          </a:p>
          <a:p>
            <a:r>
              <a:t>Va detto però che 15 è un caso favorevole. Su N uguale a 21 le porte si dimezzano, ma il vantaggio non è dimostrato: l'approssimazione va scelta caso per caso.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 concludere: una tecnica vale quanto l'informazione che riesce a sfruttare, e va sempre confrontata con un riferimento adeguato.</a:t>
            </a:r>
          </a:p>
          <a:p>
            <a:r>
              <a:t>Nel post-processing il vantaggio viene dal provare più candidati, non dal machine learning. La correzione degli errori funziona solo sotto soglia, e codice e decoder contano insieme. La QFT approssimata aiuta, ma non sempre: su N uguale a 15 sì, su 21 non è dimostrato.</a:t>
            </a:r>
          </a:p>
          <a:p>
            <a:r>
              <a:t>Il mio contributo è stato costruire e verificare i circuiti, progettare confronti corretti e rendere tutto riproducibile.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limiti sono chiari: ho lavorato in simulazione, su pochi casi, e senza un'esecuzione di Shor completamente protetta dagli errori.</a:t>
            </a:r>
          </a:p>
          <a:p>
            <a:r>
              <a:t>Il passo successivo è ridurre ancora il costo dei circuiti e poi unirlo alla correzione degli errori.</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video parte da solo e dura 2 minuti. Parla sopra il video, seguendo le scritte in basso; i tempi tra parentesi sono quelli del video.]</a:t>
            </a:r>
          </a:p>
          <a:p>
            <a:r>
              <a:t>[0:00] Prima delle conclusioni, vi mostro il simulatore che ho realizzato: segue Shor passo per passo, prima senza errori e poi con il rumore.</a:t>
            </a:r>
          </a:p>
          <a:p>
            <a:r>
              <a:t>[0:06] Il caso è quello della tesi: N uguale a 15, base 7. Ogni riga è un qubit, e a destra c'è la sua sfera di Bloch, che mostra lo stato del qubit con una freccia.</a:t>
            </a:r>
          </a:p>
          <a:p>
            <a:r>
              <a:t>[0:17] Le porte di Hadamard mettono i qubit in sovrapposizione. Poi le moltiplicazioni per 7 modulo 15 scrivono il periodo nelle fasi; le frecce si accorciano, ma qui non è un errore: è entanglement.</a:t>
            </a:r>
          </a:p>
          <a:p>
            <a:r>
              <a:t>[0:30] La QFT inversa trasforma il periodo in quattro picchi, e alla misura il calcolo classico ricava 15 uguale 3 per 5.</a:t>
            </a:r>
          </a:p>
          <a:p>
            <a:r>
              <a:t>[0:48] Ora lo stesso circuito con il rumore. Le frecce che prima restavano intere si accorciano: lo stato perde coerenza.</a:t>
            </a:r>
          </a:p>
          <a:p>
            <a:r>
              <a:t>[1:08] Qui si vede dove entra il rumore: ogni porta ha il suo errore, le porte a due qubit sono le più fragili e la misura può sbagliare il bit.</a:t>
            </a:r>
          </a:p>
          <a:p>
            <a:r>
              <a:t>[1:15] Ripetendo il circuito molte volte, le misure si spargono su tutti gli esiti e i picchi si abbassano: è lo stesso calo che avete visto nel grafico del rumore.</a:t>
            </a:r>
          </a:p>
          <a:p>
            <a:r>
              <a:t>[1:33] Questa è informazione persa, che dopo non si recupera.</a:t>
            </a:r>
          </a:p>
          <a:p>
            <a:r>
              <a:t>[1:53] Ed è il messaggio della tesi: il rumore va affrontato durante il calcolo, perché dopo la misura l'informazione distrutta non si ricostruisce.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 ringrazio per l'attenzione. Sono a disposizione per le vostre domande.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6.xml"/><Relationship Id="rId4" Type="http://schemas.openxmlformats.org/officeDocument/2006/relationships/notesSlide" Target="../notesSlides/notesSlide21.xml"/><Relationship Id="rId5" Type="http://schemas.openxmlformats.org/officeDocument/2006/relationships/image" Target="../media/image1.png"/><Relationship Id="rId6"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La tesi in sintesi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Sommario | 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F157E4D6-593B-F797-437E-0DB411060B6B}"/>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Rendere Shor più efficace e resiliente agli errori dell'hardware quantistico</a:t>
            </a:r>
            <a:endParaRPr lang="en-GB" sz="2100">
              <a:solidFill>
                <a:srgbClr val="203344"/>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Shor riesce al 75% già senza errori.</a:t>
            </a:r>
          </a:p>
          <a:p>
            <a:pPr>
              <a:spcAft>
                <a:spcPts val="800"/>
              </a:spcAft>
            </a:pPr>
            <a:r>
              <a:rPr lang="it-IT" sz="1725">
                <a:solidFill>
                  <a:srgbClr val="203344"/>
                </a:solidFill>
                <a:latin typeface="Arial" panose="020B0604020202020204" pitchFamily="34" charset="0"/>
              </a:rPr>
              <a:t>Con l'1% di errore per porta scende al 56%; oltre il 10% è al livello del caso.</a:t>
            </a: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Strategie</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Tre strategie su livelli diversi, ognuna confrontata con un riferimento:</a:t>
            </a:r>
          </a:p>
          <a:p>
            <a:pPr>
              <a:spcAft>
                <a:spcPts val="800"/>
              </a:spcAft>
            </a:pPr>
            <a:r>
              <a:rPr lang="it-IT" sz="1725">
                <a:solidFill>
                  <a:srgbClr val="203344"/>
                </a:solidFill>
                <a:latin typeface="Arial" panose="020B0604020202020204" pitchFamily="34" charset="0"/>
              </a:rPr>
              <a:t>machine learning sui risultati, correzione degli errori, QFT approssimata.</a:t>
            </a: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Risultati</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TOP-4: fattori alla prima iterazione; nel post-processing il ML non aiuta.</a:t>
            </a:r>
          </a:p>
          <a:p>
            <a:pPr>
              <a:spcAft>
                <a:spcPts val="800"/>
              </a:spcAft>
            </a:pPr>
            <a:r>
              <a:rPr lang="it-IT" sz="1725">
                <a:solidFill>
                  <a:srgbClr val="203344"/>
                </a:solidFill>
                <a:latin typeface="Arial" panose="020B0604020202020204" pitchFamily="34" charset="0"/>
              </a:rPr>
              <a:t>Decoder ibrido: −16,8% di </a:t>
            </a:r>
            <a:r>
              <a:rPr lang="it-IT" sz="1725">
                <a:solidFill>
                  <a:srgbClr val="203344"/>
                </a:solidFill>
                <a:latin typeface="Arial" panose="020B0604020202020204" pitchFamily="34" charset="0"/>
              </a:rPr>
              <a:t>p</a:t>
            </a:r>
            <a:r>
              <a:rPr lang="it-IT" sz="1725" baseline="-25000">
                <a:solidFill>
                  <a:srgbClr val="203344"/>
                </a:solidFill>
                <a:latin typeface="Arial" panose="020B0604020202020204" pitchFamily="34" charset="0"/>
              </a:rPr>
              <a:t>L</a:t>
            </a:r>
            <a:r>
              <a:rPr lang="it-IT" sz="1725">
                <a:solidFill>
                  <a:srgbClr val="203344"/>
                </a:solidFill>
                <a:latin typeface="Arial" panose="020B0604020202020204" pitchFamily="34" charset="0"/>
              </a:rPr>
              <a:t> con crosstalk.</a:t>
            </a:r>
          </a:p>
          <a:p>
            <a:pPr>
              <a:spcAft>
                <a:spcPts val="800"/>
              </a:spcAft>
            </a:pPr>
            <a:r>
              <a:rPr lang="it-IT" sz="1725">
                <a:solidFill>
                  <a:srgbClr val="203344"/>
                </a:solidFill>
                <a:latin typeface="Arial" panose="020B0604020202020204" pitchFamily="34" charset="0"/>
              </a:rPr>
              <a:t>AQFT: +14,87 punti su N = 15.</a:t>
            </a:r>
            <a:endParaRPr lang="en-GB" sz="1725">
              <a:solidFill>
                <a:srgbClr val="203344"/>
              </a:solidFill>
              <a:latin typeface="Arial" panose="020B0604020202020204" pitchFamily="34" charset="0"/>
            </a:endParaRPr>
          </a:p>
        </p:txBody>
      </p:sp>
      <p:sp>
        <p:nvSpPr>
          <p:cNvPr id="32" name="TextBox 31">
            <a:extLst>
              <a:ext uri="{FF2B5EF4-FFF2-40B4-BE49-F238E27FC236}">
                <a16:creationId xmlns:a16="http://schemas.microsoft.com/office/drawing/2014/main" id="{74F896F5-2254-1EF9-F5BE-1DC859F7343F}"/>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 benefici sono reali, ma dipendono dal livello d'intervento, dal rumore e dall'istanza.</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90261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base a con MCD(a, N) = 1</a:t>
            </a:r>
            <a:endParaRPr lang="en-US" sz="13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esponenziazione modulare e QPE (stima di fase)</a:t>
            </a:r>
            <a:endParaRPr lang="en-US" sz="13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508000"/>
          </a:xfrm>
          <a:prstGeom prst="rect">
            <a:avLst/>
          </a:prstGeom>
          <a:noFill/>
          <a:ln/>
        </p:spPr>
        <p:txBody>
          <a:bodyPr wrap="square" lIns="0" tIns="0" rIns="0" bIns="0" rtlCol="0" anchor="t">
            <a:noAutofit/>
          </a:bodyPr>
          <a:lstStyle/>
          <a:p>
            <a:pPr marL="0" indent="0" algn="l">
              <a:lnSpc>
                <a:spcPts val="1820"/>
              </a:lnSpc>
              <a:buNone/>
            </a:pPr>
            <a:r>
              <a:rPr lang="es-ES" sz="1300">
                <a:solidFill>
                  <a:srgbClr val="FFFFFF"/>
                </a:solidFill>
                <a:latin typeface="Arial" pitchFamily="34" charset="0"/>
                <a:ea typeface="Arial" pitchFamily="34" charset="-122"/>
                <a:cs typeface="Arial" pitchFamily="34" charset="-120"/>
              </a:rPr>
              <a:t>esito y: y / </a:t>
            </a:r>
            <a:r>
              <a:rPr lang="es-ES" sz="1300">
                <a:solidFill>
                  <a:srgbClr val="FFFFFF"/>
                </a:solidFill>
                <a:latin typeface="Arial" pitchFamily="34" charset="0"/>
                <a:ea typeface="Arial" pitchFamily="34" charset="-122"/>
                <a:cs typeface="Arial" pitchFamily="34" charset="-120"/>
              </a:rPr>
              <a:t>2</a:t>
            </a:r>
            <a:r>
              <a:rPr lang="es-ES" sz="1300" baseline="30000">
                <a:solidFill>
                  <a:srgbClr val="FFFFFF"/>
                </a:solidFill>
                <a:latin typeface="Arial" pitchFamily="34" charset="0"/>
                <a:ea typeface="Arial" pitchFamily="34" charset="-122"/>
                <a:cs typeface="Arial" pitchFamily="34" charset="-120"/>
              </a:rPr>
              <a:t>m</a:t>
            </a:r>
            <a:r>
              <a:rPr lang="es-ES" sz="1300">
                <a:solidFill>
                  <a:srgbClr val="FFFFFF"/>
                </a:solidFill>
                <a:latin typeface="Arial" pitchFamily="34" charset="0"/>
                <a:ea typeface="Arial" pitchFamily="34" charset="-122"/>
                <a:cs typeface="Arial" pitchFamily="34" charset="-120"/>
              </a:rPr>
              <a:t> ≈ s / r</a:t>
            </a:r>
            <a:endParaRPr lang="en-US" sz="13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a:solidFill>
                  <a:srgbClr val="FFFFFF"/>
                </a:solidFill>
                <a:latin typeface="Arial" pitchFamily="34" charset="0"/>
                <a:ea typeface="Arial" pitchFamily="34" charset="-122"/>
                <a:cs typeface="Arial" pitchFamily="34" charset="-120"/>
              </a:rPr>
              <a:t>frazioni continue e MCD</a:t>
            </a:r>
            <a:endParaRPr lang="en-US" sz="13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7860"/>
            <a:ext cx="6604000" cy="2146300"/>
          </a:xfrm>
          <a:prstGeom prst="rect">
            <a:avLst/>
          </a:prstGeom>
        </p:spPr>
      </p:pic>
      <p:sp>
        <p:nvSpPr>
          <p:cNvPr id="26" name="Text 18"/>
          <p:cNvSpPr/>
          <p:nvPr/>
        </p:nvSpPr>
        <p:spPr>
          <a:xfrm>
            <a:off x="609600" y="5631160"/>
            <a:ext cx="6802120" cy="6858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t>
            </a:r>
            <a:r>
              <a:rPr lang="en-US" sz="2000" dirty="0">
                <a:solidFill>
                  <a:srgbClr val="1F2933"/>
                </a:solidFill>
                <a:latin typeface="Arial" pitchFamily="34" charset="0"/>
                <a:ea typeface="Arial" pitchFamily="34" charset="-122"/>
                <a:cs typeface="Arial" pitchFamily="34" charset="-120"/>
              </a:rPr>
              <a:t>a</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N. Con N = 15 e a = 7, </a:t>
            </a:r>
            <a:r>
              <a:rPr lang="en-US" sz="2000" dirty="0">
                <a:solidFill>
                  <a:srgbClr val="1F2933"/>
                </a:solidFill>
                <a:latin typeface="Arial" pitchFamily="34" charset="0"/>
                <a:ea typeface="Arial" pitchFamily="34" charset="-122"/>
                <a:cs typeface="Arial" pitchFamily="34" charset="-120"/>
              </a:rPr>
              <a:t>7</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pic>
        <p:nvPicPr>
          <p:cNvPr id="27" name="Image 6" descr="Circuito di Shor per N = 15: otto qubit di controllo con Hadamard, moltiplicazioni modulari controllate sul registro di lavoro, QFT inversa e misura"/>
          <p:cNvPicPr>
            <a:picLocks noChangeAspect="1"/>
          </p:cNvPicPr>
          <p:nvPr/>
        </p:nvPicPr>
        <p:blipFill>
          <a:blip r:embed="rId5"/>
          <a:srcRect l="-18" r="-18"/>
          <a:stretch/>
        </p:blipFill>
        <p:spPr>
          <a:xfrm>
            <a:off x="9232900" y="3357860"/>
            <a:ext cx="2349500" cy="2273300"/>
          </a:xfrm>
          <a:prstGeom prst="rect">
            <a:avLst/>
          </a:prstGeom>
        </p:spPr>
      </p:pic>
      <p:sp>
        <p:nvSpPr>
          <p:cNvPr id="28" name="Text 19"/>
          <p:cNvSpPr/>
          <p:nvPr/>
        </p:nvSpPr>
        <p:spPr>
          <a:xfrm>
            <a:off x="7620000" y="5707360"/>
            <a:ext cx="3962400"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B6573"/>
                </a:solidFill>
                <a:latin typeface="Arial" pitchFamily="34" charset="0"/>
                <a:ea typeface="Arial" pitchFamily="34" charset="-122"/>
                <a:cs typeface="Arial" pitchFamily="34" charset="-120"/>
              </a:rPr>
              <a:t>Circuito per N = 15: 8 qubit di controllo (C) e 4 di lavoro (T), esponenziazione modulare controllata, QFT inversa e misura</a:t>
            </a:r>
            <a:endParaRPr lang="en-US" sz="14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l'algoritmo di Shor</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3</a:t>
            </a:r>
            <a:endParaRPr sz="1200" b="0">
              <a:solidFill>
                <a:srgbClr val="203344"/>
              </a:solidFill>
              <a:latin typeface="Arial"/>
              <a:ea typeface="Arial"/>
              <a:cs typeface="Arial"/>
            </a:endParaRPr>
          </a:p>
        </p:txBody>
      </p:sp>
    </p:spTree>
    <p:extLst>
      <p:ext uri="{BB962C8B-B14F-4D97-AF65-F5344CB8AC3E}">
        <p14:creationId xmlns:p14="http://schemas.microsoft.com/office/powerpoint/2010/main" val="413659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3_shor_successo_vs_pg.png"/>
          <p:cNvPicPr>
            <a:picLocks noChangeAspect="1"/>
          </p:cNvPicPr>
          <p:nvPr/>
        </p:nvPicPr>
        <p:blipFill>
          <a:blip r:embed="rId5"/>
          <a:stretch>
            <a:fillRect/>
          </a:stretch>
        </p:blipFill>
        <p:spPr>
          <a:xfrm>
            <a:off x="609600" y="1428750"/>
            <a:ext cx="6368073" cy="4095750"/>
          </a:xfrm>
          <a:prstGeom prst="rect">
            <a:avLst/>
          </a:prstGeom>
        </p:spPr>
      </p:pic>
      <p:sp>
        <p:nvSpPr>
          <p:cNvPr id="11" name="Rectangle 10">
            <a:extLst>
              <a:ext uri="{FF2B5EF4-FFF2-40B4-BE49-F238E27FC236}">
                <a16:creationId xmlns:a16="http://schemas.microsoft.com/office/drawing/2014/main" id="{95D582BE-7568-4FB4-B778-5A7052E72D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Quanto il rumore degrada Shor</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72EB8E-9FDE-438D-AF6C-38E0FD3CD7C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D9783EE-F232-40C0-B3E7-031F6A8D5DC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Punto di partenza | 4</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97603FF-05F2-4F40-B8B9-3DC8702E9642}"/>
              </a:ext>
            </a:extLst>
          </p:cNvPr>
          <p:cNvSpPr>
            <a:spLocks noGrp="1"/>
          </p:cNvSpPr>
          <p:nvPr/>
        </p:nvSpPr>
        <p:spPr>
          <a:xfrm>
            <a:off x="7810500" y="1609725"/>
            <a:ext cx="3771900" cy="800100"/>
          </a:xfrm>
          <a:prstGeom prst="rect">
            <a:avLst/>
          </a:prstGeom>
          <a:noFill/>
          <a:ln w="0">
            <a:noFill/>
          </a:ln>
        </p:spPr>
        <p:txBody>
          <a:bodyPr>
            <a:noAutofit/>
          </a:bodyPr>
          <a:lstStyle/>
          <a:p>
            <a:pPr>
              <a:defRPr sz="4500" b="1">
                <a:solidFill>
                  <a:srgbClr val="175F99"/>
                </a:solidFill>
                <a:latin typeface="Arial"/>
                <a:ea typeface="Arial"/>
                <a:cs typeface="Arial"/>
              </a:defRPr>
            </a:pPr>
            <a:r>
              <a:rPr sz="4500" b="1">
                <a:solidFill>
                  <a:srgbClr val="175F99"/>
                </a:solidFill>
                <a:latin typeface="Arial"/>
                <a:ea typeface="Arial"/>
                <a:cs typeface="Arial"/>
              </a:rPr>
              <a:t>74,89%</a:t>
            </a:r>
          </a:p>
        </p:txBody>
      </p:sp>
      <p:sp>
        <p:nvSpPr>
          <p:cNvPr id="7" name="Rectangle 6">
            <a:extLst>
              <a:ext uri="{FF2B5EF4-FFF2-40B4-BE49-F238E27FC236}">
                <a16:creationId xmlns:a16="http://schemas.microsoft.com/office/drawing/2014/main" id="{6B6831B9-EAF8-4F40-BE26-87795B4AE723}"/>
              </a:ext>
            </a:extLst>
          </p:cNvPr>
          <p:cNvSpPr>
            <a:spLocks noGrp="1"/>
          </p:cNvSpPr>
          <p:nvPr/>
        </p:nvSpPr>
        <p:spPr>
          <a:xfrm>
            <a:off x="7810500" y="2321027"/>
            <a:ext cx="3771900" cy="63500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Successo senza rumore</a:t>
            </a:r>
          </a:p>
          <a:p>
            <a:pPr>
              <a:defRPr sz="2025" b="0">
                <a:solidFill>
                  <a:srgbClr val="203344"/>
                </a:solidFill>
                <a:latin typeface="Arial"/>
                <a:ea typeface="Arial"/>
                <a:cs typeface="Arial"/>
              </a:defRPr>
            </a:pPr>
            <a:r>
              <a:rPr sz="2025" b="0">
                <a:solidFill>
                  <a:srgbClr val="203344"/>
                </a:solidFill>
                <a:latin typeface="Arial"/>
                <a:ea typeface="Arial"/>
                <a:cs typeface="Arial"/>
              </a:rPr>
              <a:t>Atteso: 75%</a:t>
            </a:r>
          </a:p>
        </p:txBody>
      </p:sp>
      <p:sp>
        <p:nvSpPr>
          <p:cNvPr id="8" name="Rectangle 7">
            <a:extLst>
              <a:ext uri="{FF2B5EF4-FFF2-40B4-BE49-F238E27FC236}">
                <a16:creationId xmlns:a16="http://schemas.microsoft.com/office/drawing/2014/main" id="{698F4480-43E8-4C7A-BA5E-A533E7D9990E}"/>
              </a:ext>
            </a:extLst>
          </p:cNvPr>
          <p:cNvSpPr>
            <a:spLocks noGrp="1"/>
          </p:cNvSpPr>
          <p:nvPr/>
        </p:nvSpPr>
        <p:spPr>
          <a:xfrm>
            <a:off x="7810500" y="4241800"/>
            <a:ext cx="3771900" cy="1270000"/>
          </a:xfrm>
          <a:prstGeom prst="rect">
            <a:avLst/>
          </a:prstGeom>
          <a:noFill/>
          <a:ln w="0">
            <a:noFill/>
          </a:ln>
        </p:spPr>
        <p:txBody>
          <a:bodyPr>
            <a:noAutofit/>
          </a:bodyPr>
          <a:lstStyle/>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45,2% con il 2%</a:t>
            </a:r>
          </a:p>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29,5% con il 5%</a:t>
            </a:r>
          </a:p>
          <a:p>
            <a:pPr>
              <a:defRPr sz="2100" b="0">
                <a:solidFill>
                  <a:srgbClr val="203344"/>
                </a:solidFill>
                <a:latin typeface="Arial"/>
                <a:ea typeface="Arial"/>
                <a:cs typeface="Arial"/>
              </a:defRPr>
            </a:pPr>
            <a:r>
              <a:rPr lang="it-IT" sz="1275">
                <a:solidFill>
                  <a:srgbClr val="647487"/>
                </a:solidFill>
                <a:latin typeface="Arial" panose="020B0604020202020204" pitchFamily="34" charset="0"/>
                <a:ea typeface="Arial"/>
                <a:cs typeface="Arial"/>
              </a:rPr>
              <a:t/>
            </a:r>
            <a:r>
              <a:rPr lang="it-IT" sz="1275">
                <a:solidFill>
                  <a:srgbClr val="647487"/>
                </a:solidFill>
                <a:latin typeface="Arial" panose="020B0604020202020204" pitchFamily="34" charset="0"/>
                <a:ea typeface="Arial"/>
                <a:cs typeface="Arial"/>
              </a:rPr>
              <a:t>p</a:t>
            </a:r>
            <a:r>
              <a:rPr lang="it-IT" sz="1275" baseline="-25000">
                <a:solidFill>
                  <a:srgbClr val="647487"/>
                </a:solidFill>
                <a:latin typeface="Arial" panose="020B0604020202020204" pitchFamily="34" charset="0"/>
                <a:ea typeface="Arial"/>
                <a:cs typeface="Arial"/>
              </a:rPr>
              <a:t>g</a:t>
            </a:r>
            <a:r>
              <a:rPr lang="it-IT" sz="1275">
                <a:solidFill>
                  <a:srgbClr val="647487"/>
                </a:solidFill>
                <a:latin typeface="Arial" panose="020B0604020202020204" pitchFamily="34" charset="0"/>
                <a:ea typeface="Arial"/>
                <a:cs typeface="Arial"/>
              </a:rPr>
              <a:t>: probabilità di un operatore di Pauli casuale (X, Y, Z) dopo ogni porta</a:t>
            </a:r>
            <a:endParaRPr sz="1275" dirty="0">
              <a:solidFill>
                <a:srgbClr val="647487"/>
              </a:solidFill>
              <a:latin typeface="Arial" panose="020B0604020202020204" pitchFamily="34" charset="0"/>
              <a:ea typeface="Arial"/>
              <a:cs typeface="Arial"/>
            </a:endParaRPr>
          </a:p>
        </p:txBody>
      </p:sp>
      <p:sp>
        <p:nvSpPr>
          <p:cNvPr id="10" name="Rectangle 9">
            <a:extLst>
              <a:ext uri="{FF2B5EF4-FFF2-40B4-BE49-F238E27FC236}">
                <a16:creationId xmlns:a16="http://schemas.microsoft.com/office/drawing/2014/main" id="{B0380CDB-EE66-43E3-A612-0B55A00F0C4D}"/>
              </a:ext>
            </a:extLst>
          </p:cNvPr>
          <p:cNvSpPr>
            <a:spLocks noGrp="1"/>
          </p:cNvSpPr>
          <p:nvPr/>
        </p:nvSpPr>
        <p:spPr>
          <a:xfrm>
            <a:off x="609600" y="6223000"/>
            <a:ext cx="10972800" cy="5334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Oltre il 10% di errore per porta, Shor è al livello del caso.</a:t>
            </a:r>
            <a:endParaRPr sz="1950" b="1">
              <a:solidFill>
                <a:srgbClr val="175F99"/>
              </a:solidFill>
              <a:latin typeface="Arial"/>
              <a:ea typeface="Arial"/>
              <a:cs typeface="Arial"/>
            </a:endParaRPr>
          </a:p>
        </p:txBody>
      </p:sp>
      <p:sp>
        <p:nvSpPr>
          <p:cNvPr id="2" name="TextBox 1">
            <a:extLst>
              <a:ext uri="{FF2B5EF4-FFF2-40B4-BE49-F238E27FC236}">
                <a16:creationId xmlns:a16="http://schemas.microsoft.com/office/drawing/2014/main" id="{301B95E6-8F6E-174E-84E7-F52380DAC9A1}"/>
              </a:ext>
            </a:extLst>
          </p:cNvPr>
          <p:cNvSpPr txBox="1"/>
          <p:nvPr/>
        </p:nvSpPr>
        <p:spPr>
          <a:xfrm>
            <a:off x="7810500" y="3048000"/>
            <a:ext cx="3771900" cy="369332"/>
          </a:xfrm>
          <a:prstGeom prst="rect">
            <a:avLst/>
          </a:prstGeom>
          <a:noFill/>
        </p:spPr>
        <p:txBody>
          <a:bodyPr vert="horz" rtlCol="0">
            <a:spAutoFit/>
          </a:bodyPr>
          <a:lstStyle/>
          <a:p>
            <a:r>
              <a:rPr lang="en-GB" sz="1725" b="1">
                <a:solidFill>
                  <a:srgbClr val="175F99"/>
                </a:solidFill>
                <a:latin typeface="Arial" panose="020B0604020202020204" pitchFamily="34" charset="0"/>
              </a:rPr>
              <a:t>Con rumore</a:t>
            </a:r>
          </a:p>
        </p:txBody>
      </p:sp>
      <p:sp>
        <p:nvSpPr>
          <p:cNvPr id="5" name="Rectangle: Rounded Corners 4">
            <a:extLst>
              <a:ext uri="{FF2B5EF4-FFF2-40B4-BE49-F238E27FC236}">
                <a16:creationId xmlns:a16="http://schemas.microsoft.com/office/drawing/2014/main" id="{68AF8C5D-BA12-A0D3-9003-1497B334212A}"/>
              </a:ext>
            </a:extLst>
          </p:cNvPr>
          <p:cNvSpPr/>
          <p:nvPr/>
        </p:nvSpPr>
        <p:spPr>
          <a:xfrm>
            <a:off x="7810500" y="3429000"/>
            <a:ext cx="3771900" cy="736600"/>
          </a:xfrm>
          <a:prstGeom prst="roundRect">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lIns="127000" tIns="25400" bIns="25400" rtlCol="0" anchor="ctr"/>
          <a:lstStyle/>
          <a:p>
            <a:r>
              <a:rPr lang="it-IT" sz="2600" b="1">
                <a:solidFill>
                  <a:srgbClr val="B5641A"/>
                </a:solidFill>
                <a:latin typeface="Arial" panose="020B0604020202020204" pitchFamily="34" charset="0"/>
              </a:rPr>
              <a:t>56,5%</a:t>
            </a:r>
          </a:p>
          <a:p>
            <a:r>
              <a:rPr lang="it-IT" sz="1500">
                <a:solidFill>
                  <a:srgbClr val="203344"/>
                </a:solidFill>
                <a:latin typeface="Arial" panose="020B0604020202020204" pitchFamily="34" charset="0"/>
              </a:rPr>
              <a:t>già con l'1% di errore per porta</a:t>
            </a:r>
            <a:endParaRPr lang="en-GB" sz="1500">
              <a:solidFill>
                <a:srgbClr val="203344"/>
              </a:solidFill>
              <a:latin typeface="Arial" panose="020B0604020202020204" pitchFamily="34" charset="0"/>
            </a:endParaRPr>
          </a:p>
        </p:txBody>
      </p:sp>
    </p:spTree>
    <p:extLst>
      <p:ext uri="{BB962C8B-B14F-4D97-AF65-F5344CB8AC3E}">
        <p14:creationId xmlns:p14="http://schemas.microsoft.com/office/powerpoint/2010/main" val="771501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39370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2616200"/>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5</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910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4572000"/>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0607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33782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91000"/>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45720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299720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060700"/>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3378200"/>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6</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4_iterazioni_primo_successo.png"/>
          <p:cNvPicPr>
            <a:picLocks noChangeAspect="1"/>
          </p:cNvPicPr>
          <p:nvPr/>
        </p:nvPicPr>
        <p:blipFill>
          <a:blip r:embed="rId5"/>
          <a:stretch>
            <a:fillRect/>
          </a:stretch>
        </p:blipFill>
        <p:spPr>
          <a:xfrm>
            <a:off x="609600" y="1428750"/>
            <a:ext cx="6333428" cy="4095750"/>
          </a:xfrm>
          <a:prstGeom prst="rect">
            <a:avLst/>
          </a:prstGeom>
        </p:spPr>
      </p:pic>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7</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37BF5463-337E-49AE-80CA-06E347012199}"/>
              </a:ext>
            </a:extLst>
          </p:cNvPr>
          <p:cNvSpPr>
            <a:spLocks noGrp="1"/>
          </p:cNvSpPr>
          <p:nvPr/>
        </p:nvSpPr>
        <p:spPr>
          <a:xfrm>
            <a:off x="7810500" y="1628775"/>
            <a:ext cx="3771900"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B5641A"/>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7810500" y="24669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tentativi medi con TOP-4</a:t>
            </a:r>
          </a:p>
          <a:p>
            <a:pPr>
              <a:defRPr sz="2025" b="0">
                <a:solidFill>
                  <a:srgbClr val="203344"/>
                </a:solidFill>
                <a:latin typeface="Arial"/>
                <a:ea typeface="Arial"/>
                <a:cs typeface="Arial"/>
              </a:defRPr>
            </a:pPr>
            <a:r>
              <a:rPr lang="it-IT" sz="2025" b="0">
                <a:solidFill>
                  <a:srgbClr val="203344"/>
                </a:solidFill>
                <a:latin typeface="Arial"/>
                <a:ea typeface="Arial"/>
                <a:cs typeface="Arial"/>
              </a:rPr>
              <a:t>(30 repliche su 30)</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7810500" y="3714750"/>
            <a:ext cx="3771900" cy="1047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1725" b="1">
                <a:solidFill>
                  <a:srgbClr val="175F99"/>
                </a:solidFill>
                <a:latin typeface="Arial"/>
                <a:ea typeface="Arial"/>
                <a:cs typeface="Arial"/>
              </a:rPr>
              <a:t>Gli altri metodi (UC1 · UC2)</a:t>
            </a:r>
          </a:p>
          <a:p>
            <a:pPr>
              <a:defRPr sz="2175" b="0">
                <a:solidFill>
                  <a:srgbClr val="203344"/>
                </a:solidFill>
                <a:latin typeface="Arial"/>
                <a:ea typeface="Arial"/>
                <a:cs typeface="Arial"/>
              </a:defRPr>
            </a:pPr>
            <a:r>
              <a:rPr lang="it-IT">
                <a:solidFill>
                  <a:srgbClr val="203344"/>
                </a:solidFill>
                <a:latin typeface="Arial"/>
                <a:ea typeface="Arial"/>
                <a:cs typeface="Arial"/>
              </a:rPr>
              <a:t>TOP-1: 1,37 · 1,50</a:t>
            </a:r>
          </a:p>
          <a:p>
            <a:pPr>
              <a:defRPr sz="2175" b="0">
                <a:solidFill>
                  <a:srgbClr val="203344"/>
                </a:solidFill>
                <a:latin typeface="Arial"/>
                <a:ea typeface="Arial"/>
                <a:cs typeface="Arial"/>
              </a:defRPr>
            </a:pPr>
            <a:r>
              <a:rPr lang="it-IT">
                <a:solidFill>
                  <a:srgbClr val="203344"/>
                </a:solidFill>
                <a:latin typeface="Arial"/>
                <a:ea typeface="Arial"/>
                <a:cs typeface="Arial"/>
              </a:rPr>
              <a:t>Metodo 2: 1,50 · 1,37</a:t>
            </a:r>
            <a:endParaRPr>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Il vantaggio viene dai candidati in più, non dal machine learning.</a:t>
            </a:r>
            <a:endParaRPr sz="1950" b="1">
              <a:solidFill>
                <a:srgbClr val="175F99"/>
              </a:solidFill>
              <a:latin typeface="Arial"/>
              <a:ea typeface="Arial"/>
              <a:cs typeface="Arial"/>
            </a:endParaRPr>
          </a:p>
        </p:txBody>
      </p:sp>
      <p:sp>
        <p:nvSpPr>
          <p:cNvPr id="14" name="TextBox 13"/>
          <p:cNvSpPr txBox="1"/>
          <p:nvPr/>
        </p:nvSpPr>
        <p:spPr>
          <a:xfrm>
            <a:off x="7810500" y="4857750"/>
            <a:ext cx="3771900" cy="476250"/>
          </a:xfrm>
          <a:prstGeom prst="rect">
            <a:avLst/>
          </a:prstGeom>
          <a:noFill/>
        </p:spPr>
        <p:txBody>
          <a:bodyPr wrap="square">
            <a:spAutoFit/>
          </a:bodyPr>
          <a:lstStyle/>
          <a:p>
            <a:r>
              <a:rPr sz="1300" b="1">
                <a:solidFill>
                  <a:srgbClr val="B8621B"/>
                </a:solidFill>
              </a:rPr>
              <a:t>Metodo 2 peggiore di TOP-4: p = 0,003 (UC1) e 0,010 (UC2), test appaiato con correzione di Holm</a:t>
            </a:r>
          </a:p>
        </p:txBody>
      </p:sp>
      <p:sp>
        <p:nvSpPr>
          <p:cNvPr id="15" name="TextBox 14"/>
          <p:cNvSpPr txBox="1"/>
          <p:nvPr/>
        </p:nvSpPr>
        <p:spPr>
          <a:xfrm>
            <a:off x="7810500" y="5476875"/>
            <a:ext cx="3771900" cy="381000"/>
          </a:xfrm>
          <a:prstGeom prst="rect">
            <a:avLst/>
          </a:prstGeom>
          <a:noFill/>
        </p:spPr>
        <p:txBody>
          <a:bodyPr wrap="square">
            <a:spAutoFit/>
          </a:bodyPr>
          <a:lstStyle/>
          <a:p>
            <a:r>
              <a:rPr sz="1200" b="0">
                <a:solidFill>
                  <a:srgbClr val="5B6573"/>
                </a:solidFill>
              </a:rPr>
              <a:t>UC1 e UC2: due preset di rumore uniforme, illustrativi; 30 repliche ciascuno.</a:t>
            </a:r>
          </a:p>
        </p:txBody>
      </p:sp>
    </p:spTree>
    <p:extLst>
      <p:ext uri="{BB962C8B-B14F-4D97-AF65-F5344CB8AC3E}">
        <p14:creationId xmlns:p14="http://schemas.microsoft.com/office/powerpoint/2010/main" val="627115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8</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Rumore su porte e misure, anche crosstalk.</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gli errori come sequenze di 144 bit, non lo stato quantistico.</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10–14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descr="v2_s15_surface_code_soglia_z.png"/>
          <p:cNvPicPr>
            <a:picLocks noChangeAspect="1"/>
          </p:cNvPicPr>
          <p:nvPr/>
        </p:nvPicPr>
        <p:blipFill>
          <a:blip r:embed="rId5"/>
          <a:stretch>
            <a:fillRect/>
          </a:stretch>
        </p:blipFill>
        <p:spPr>
          <a:xfrm>
            <a:off x="609600" y="1428750"/>
            <a:ext cx="6496827" cy="4095750"/>
          </a:xfrm>
          <a:prstGeom prst="rect">
            <a:avLst/>
          </a:prstGeom>
        </p:spPr>
      </p:pic>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9</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0C456B77-8485-4875-A49F-280A5006DBAD}"/>
              </a:ext>
            </a:extLst>
          </p:cNvPr>
          <p:cNvSpPr>
            <a:spLocks noGrp="1"/>
          </p:cNvSpPr>
          <p:nvPr/>
        </p:nvSpPr>
        <p:spPr>
          <a:xfrm>
            <a:off x="7810500" y="1704975"/>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7810500" y="25431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 (fit)</a:t>
            </a:r>
          </a:p>
          <a:p>
            <a:pPr>
              <a:defRPr sz="2025" b="0">
                <a:solidFill>
                  <a:srgbClr val="203344"/>
                </a:solidFill>
                <a:latin typeface="Arial"/>
                <a:ea typeface="Arial"/>
                <a:cs typeface="Arial"/>
              </a:defRPr>
            </a:pPr>
            <a:r>
              <a:rPr lang="it-IT" sz="2025" b="0">
                <a:solidFill>
                  <a:srgbClr val="203344"/>
                </a:solidFill>
                <a:latin typeface="Arial"/>
                <a:ea typeface="Arial"/>
                <a:cs typeface="Arial"/>
              </a:rPr>
              <a:t>base X: 0,81%</a:t>
            </a:r>
            <a:endParaRPr sz="2025" b="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lang="it-IT" sz="2025" b="1">
                <a:solidFill>
                  <a:srgbClr val="175F99"/>
                </a:solidFill>
                <a:latin typeface="Arial"/>
                <a:ea typeface="Arial"/>
                <a:cs typeface="Arial"/>
              </a:rPr>
              <a:t>Sotto soglia, codici più grandi correggono meglio; sopra soglia peggiorano.</a:t>
            </a:r>
            <a:endParaRPr sz="2025" b="1">
              <a:solidFill>
                <a:srgbClr val="175F99"/>
              </a:solidFill>
              <a:latin typeface="Arial"/>
              <a:ea typeface="Arial"/>
              <a:cs typeface="Arial"/>
            </a:endParaRPr>
          </a:p>
        </p:txBody>
      </p:sp>
      <p:sp>
        <p:nvSpPr>
          <p:cNvPr id="13" name="Rectangle: Rounded Corners 12">
            <a:extLst>
              <a:ext uri="{FF2B5EF4-FFF2-40B4-BE49-F238E27FC236}">
                <a16:creationId xmlns:a16="http://schemas.microsoft.com/office/drawing/2014/main" id="{F5174091-E7B1-4C19-3F79-348B7BFCFDB0}"/>
              </a:ext>
            </a:extLst>
          </p:cNvPr>
          <p:cNvSpPr/>
          <p:nvPr/>
        </p:nvSpPr>
        <p:spPr>
          <a:xfrm>
            <a:off x="7810500" y="3810000"/>
            <a:ext cx="3771900" cy="1320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82D396C-6EB7-5831-1F5F-F7D23910526B}"/>
              </a:ext>
            </a:extLst>
          </p:cNvPr>
          <p:cNvSpPr txBox="1"/>
          <p:nvPr/>
        </p:nvSpPr>
        <p:spPr>
          <a:xfrm>
            <a:off x="7810500" y="3886200"/>
            <a:ext cx="37719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La soglia</a:t>
            </a:r>
          </a:p>
          <a:p>
            <a:r>
              <a:rPr lang="it-IT" sz="1575">
                <a:solidFill>
                  <a:srgbClr val="203344"/>
                </a:solidFill>
                <a:latin typeface="Arial" panose="020B0604020202020204" pitchFamily="34" charset="0"/>
              </a:rPr>
              <a:t>è il punto in cui le curve si incrociano (cerchio arancione)</a:t>
            </a:r>
            <a:endParaRPr lang="en-GB" sz="1575">
              <a:solidFill>
                <a:srgbClr val="203344"/>
              </a:solidFill>
              <a:latin typeface="Arial" panose="020B0604020202020204" pitchFamily="34" charset="0"/>
            </a:endParaRPr>
          </a:p>
        </p:txBody>
      </p:sp>
      <p:sp>
        <p:nvSpPr>
          <p:cNvPr id="16" name="TextBox 15"/>
          <p:cNvSpPr txBox="1"/>
          <p:nvPr/>
        </p:nvSpPr>
        <p:spPr>
          <a:xfrm>
            <a:off x="7810500" y="5334000"/>
            <a:ext cx="3771900" cy="571500"/>
          </a:xfrm>
          <a:prstGeom prst="rect">
            <a:avLst/>
          </a:prstGeom>
          <a:noFill/>
        </p:spPr>
        <p:txBody>
          <a:bodyPr wrap="square">
            <a:spAutoFit/>
          </a:bodyPr>
          <a:lstStyle/>
          <a:p>
            <a:r>
              <a:rPr sz="1200">
                <a:solidFill>
                  <a:srgbClr val="5B6573"/>
                </a:solidFill>
              </a:rPr>
              <a:t>Grafico: base Z, decoder MWPM, d = 3–9, rumore circuit-level, 200 000 shot per punto.</a:t>
            </a:r>
          </a:p>
        </p:txBody>
      </p:sp>
    </p:spTree>
    <p:extLst>
      <p:ext uri="{BB962C8B-B14F-4D97-AF65-F5344CB8AC3E}">
        <p14:creationId xmlns:p14="http://schemas.microsoft.com/office/powerpoint/2010/main" val="1581526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6_decoder_bposd_ibrido.png"/>
          <p:cNvPicPr>
            <a:picLocks noChangeAspect="1"/>
          </p:cNvPicPr>
          <p:nvPr/>
        </p:nvPicPr>
        <p:blipFill>
          <a:blip r:embed="rId5"/>
          <a:stretch>
            <a:fillRect/>
          </a:stretch>
        </p:blipFill>
        <p:spPr>
          <a:xfrm>
            <a:off x="609600" y="1428750"/>
            <a:ext cx="6756912" cy="4095750"/>
          </a:xfrm>
          <a:prstGeom prst="rect">
            <a:avLst/>
          </a:prstGeom>
        </p:spPr>
      </p:pic>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10</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B20ABF44-F325-4D36-BD1F-ABAF3859847D}"/>
              </a:ext>
            </a:extLst>
          </p:cNvPr>
          <p:cNvSpPr>
            <a:spLocks noGrp="1"/>
          </p:cNvSpPr>
          <p:nvPr/>
        </p:nvSpPr>
        <p:spPr>
          <a:xfrm>
            <a:off x="7810500" y="1638300"/>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B5641A"/>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7810500" y="2476500"/>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a:t>
            </a:r>
            <a:r>
              <a:rPr sz="2025" b="0">
                <a:solidFill>
                  <a:srgbClr val="203344"/>
                </a:solidFill>
                <a:latin typeface="Arial"/>
                <a:ea typeface="Arial"/>
                <a:cs typeface="Arial"/>
              </a:rPr>
              <a:t>p</a:t>
            </a:r>
            <a:r>
              <a:rPr sz="2025" b="0" baseline="-25000">
                <a:solidFill>
                  <a:srgbClr val="203344"/>
                </a:solidFill>
                <a:latin typeface="Arial"/>
                <a:ea typeface="Arial"/>
                <a:cs typeface="Arial"/>
              </a:rPr>
              <a:t>L</a:t>
            </a:r>
            <a:r>
              <a:rPr sz="2025" b="0" baseline="-25000">
                <a:solidFill>
                  <a:srgbClr val="203344"/>
                </a:solidFill>
                <a:latin typeface="Arial"/>
                <a:ea typeface="Arial"/>
                <a:cs typeface="Arial"/>
              </a:rPr>
              <a:t/>
            </a:r>
          </a:p>
          <a:p>
            <a:pPr>
              <a:defRPr sz="2025" b="0">
                <a:solidFill>
                  <a:srgbClr val="203344"/>
                </a:solidFill>
                <a:latin typeface="Arial"/>
                <a:ea typeface="Arial"/>
                <a:cs typeface="Arial"/>
              </a:defRPr>
            </a:pPr>
            <a:r>
              <a:rPr sz="2025" b="0">
                <a:solidFill>
                  <a:srgbClr val="203344"/>
                </a:solidFill>
                <a:latin typeface="Arial"/>
                <a:ea typeface="Arial"/>
                <a:cs typeface="Arial"/>
              </a:rPr>
              <a:t>a d = 3, errore fisico 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7810500" y="3714750"/>
            <a:ext cx="377190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lang="it-IT" b="1">
                <a:solidFill>
                  <a:srgbClr val="175F99"/>
                </a:solidFill>
                <a:latin typeface="Arial"/>
                <a:ea typeface="Arial"/>
                <a:cs typeface="Arial"/>
              </a:rPr>
              <a:t>Il ML aiuta come correttore di MWPM; il vantaggio cala sui codici più grandi.</a:t>
            </a:r>
            <a:endParaRPr b="1">
              <a:solidFill>
                <a:srgbClr val="175F99"/>
              </a:solidFill>
              <a:latin typeface="Arial"/>
              <a:ea typeface="Arial"/>
              <a:cs typeface="Arial"/>
            </a:endParaRPr>
          </a:p>
        </p:txBody>
      </p:sp>
      <p:sp>
        <p:nvSpPr>
          <p:cNvPr id="14" name="TextBox 13"/>
          <p:cNvSpPr txBox="1"/>
          <p:nvPr/>
        </p:nvSpPr>
        <p:spPr>
          <a:xfrm>
            <a:off x="7810500" y="5143500"/>
            <a:ext cx="3771900" cy="571500"/>
          </a:xfrm>
          <a:prstGeom prst="rect">
            <a:avLst/>
          </a:prstGeom>
          <a:noFill/>
        </p:spPr>
        <p:txBody>
          <a:bodyPr wrap="square">
            <a:spAutoFit/>
          </a:bodyPr>
          <a:lstStyle/>
          <a:p>
            <a:r>
              <a:rPr sz="1200">
                <a:solidFill>
                  <a:srgbClr val="5B6573"/>
                </a:solidFill>
              </a:rPr>
              <a:t>In grigio BP+OSD, decoder classico più potente: a d = 5 supera l'ibrido.</a:t>
            </a:r>
          </a:p>
        </p:txBody>
      </p:sp>
    </p:spTree>
    <p:extLst>
      <p:ext uri="{BB962C8B-B14F-4D97-AF65-F5344CB8AC3E}">
        <p14:creationId xmlns:p14="http://schemas.microsoft.com/office/powerpoint/2010/main" val="1922446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11</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12 qubit logici ed errore logico a p = 1% ·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delle patch d = 13 solo per p ≥ 0,75% (a 0,5% pari, più in basso vince d = 13).</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Simulazione classica degli errori: sequenze di 144 bit, sindrome e decodifica. Lo stato quantistico di 144 qubit non viene simulato.</a:t>
            </a:r>
            <a:endParaRPr sz="1500" b="0">
              <a:solidFill>
                <a:srgbClr val="5A6B7B"/>
              </a:solidFill>
              <a:latin typeface="Arial"/>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259842" cy="330200"/>
          </a:xfrm>
          <a:prstGeom prst="rect">
            <a:avLst/>
          </a:prstGeom>
          <a:solidFill>
            <a:srgbClr val="D9822B"/>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6667500" cy="381000"/>
          </a:xfrm>
          <a:prstGeom prst="rect">
            <a:avLst/>
          </a:prstGeom>
          <a:noFill/>
        </p:spPr>
        <p:txBody>
          <a:bodyPr vert="horz" wrap="square" rtlCol="0">
            <a:noAutofit/>
          </a:bodyPr>
          <a:lstStyle/>
          <a:p>
            <a:r>
              <a:rPr lang="it-IT" sz="1950" b="1">
                <a:solidFill>
                  <a:srgbClr val="B5641A"/>
                </a:solidFill>
                <a:latin typeface="Arial" panose="020B0604020202020204" pitchFamily="34" charset="0"/>
              </a:rPr>
              <a:t>144  ·  </a:t>
            </a:r>
            <a:r>
              <a:rPr lang="it-IT" sz="1950" b="1">
                <a:solidFill>
                  <a:srgbClr val="B5641A"/>
                </a:solidFill>
                <a:latin typeface="Arial" panose="020B0604020202020204" pitchFamily="34" charset="0"/>
              </a:rPr>
              <a:t>p</a:t>
            </a:r>
            <a:r>
              <a:rPr lang="it-IT" sz="1950" b="1" baseline="-25000">
                <a:solidFill>
                  <a:srgbClr val="B5641A"/>
                </a:solidFill>
                <a:latin typeface="Arial" panose="020B0604020202020204" pitchFamily="34" charset="0"/>
              </a:rPr>
              <a:t>L</a:t>
            </a:r>
            <a:r>
              <a:rPr lang="it-IT" sz="1950" b="1">
                <a:solidFill>
                  <a:srgbClr val="B5641A"/>
                </a:solidFill>
                <a:latin typeface="Arial" panose="020B0604020202020204" pitchFamily="34" charset="0"/>
              </a:rPr>
              <a:t> = 1,0×10⁻⁶  ·  10–14× meno qubit</a:t>
            </a:r>
            <a:endParaRPr lang="en-GB" sz="1950" b="1">
              <a:solidFill>
                <a:srgbClr val="B5641A"/>
              </a:solidFill>
              <a:latin typeface="Arial" panose="020B0604020202020204" pitchFamily="34" charset="0"/>
            </a:endParaRP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2653538"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6937820" y="28321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1,2×10⁻⁵</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370078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7988998" y="34163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1,6×10⁻⁶</a:t>
            </a:r>
          </a:p>
        </p:txBody>
      </p:sp>
    </p:spTree>
    <p:extLst>
      <p:ext uri="{BB962C8B-B14F-4D97-AF65-F5344CB8AC3E}">
        <p14:creationId xmlns:p14="http://schemas.microsoft.com/office/powerpoint/2010/main" val="498351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Meno rotazioni = meno porte e meno rumore, al prezzo di un po' di precisione.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49079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5"/>
          <a:stretch>
            <a:fillRect/>
          </a:stretch>
        </p:blipFill>
        <p:spPr>
          <a:xfrm>
            <a:off x="609600" y="1428750"/>
            <a:ext cx="6499474" cy="4095750"/>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13</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8AFD0C9-328E-4D63-A4D9-E371C130FD82}"/>
              </a:ext>
            </a:extLst>
          </p:cNvPr>
          <p:cNvSpPr>
            <a:spLocks noGrp="1"/>
          </p:cNvSpPr>
          <p:nvPr/>
        </p:nvSpPr>
        <p:spPr>
          <a:xfrm>
            <a:off x="7810500" y="1609725"/>
            <a:ext cx="37719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810500" y="244792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a:p>
            <a:r>
              <a:rPr sz="1600">
                <a:solidFill>
                  <a:srgbClr val="5B6573"/>
                </a:solidFill>
              </a:rPr>
              <a:t>IC 95%: da +12,7 a +17,0</a:t>
            </a:r>
          </a:p>
        </p:txBody>
      </p:sp>
      <p:graphicFrame>
        <p:nvGraphicFramePr>
          <p:cNvPr id="18" name="Table 17"/>
          <p:cNvGraphicFramePr/>
          <p:nvPr/>
        </p:nvGraphicFramePr>
        <p:xfrm>
          <a:off x="7810500" y="3629025"/>
          <a:ext cx="3771900" cy="1895476"/>
        </p:xfrm>
        <a:graphic>
          <a:graphicData uri="http://schemas.openxmlformats.org/drawingml/2006/table">
            <a:tbl>
              <a:tblPr/>
              <a:tblGrid>
                <a:gridCol w="1508760">
                  <a:extLst>
                    <a:ext uri="{9D8B030D-6E8A-4147-A177-3AD203B41FA5}">
                      <a16:colId xmlns:a16="http://schemas.microsoft.com/office/drawing/2014/main" val="20000"/>
                    </a:ext>
                  </a:extLst>
                </a:gridCol>
                <a:gridCol w="1131570">
                  <a:extLst>
                    <a:ext uri="{9D8B030D-6E8A-4147-A177-3AD203B41FA5}">
                      <a16:colId xmlns:a16="http://schemas.microsoft.com/office/drawing/2014/main" val="20001"/>
                    </a:ext>
                  </a:extLst>
                </a:gridCol>
                <a:gridCol w="1131570">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a 2 qubit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Tree>
    <p:extLst>
      <p:ext uri="{BB962C8B-B14F-4D97-AF65-F5344CB8AC3E}">
        <p14:creationId xmlns:p14="http://schemas.microsoft.com/office/powerpoint/2010/main" val="102393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14</a:t>
            </a:r>
            <a:endParaRPr sz="120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25600" y="1270000"/>
            <a:ext cx="8940800" cy="5029200"/>
          </a:xfrm>
          <a:prstGeom prst="rect">
            <a:avLst/>
          </a:prstGeom>
        </p:spPr>
      </p:pic>
      <p:sp>
        <p:nvSpPr>
          <p:cNvPr id="17" name="TextBox 16">
            <a:extLst>
              <a:ext uri="{FF2B5EF4-FFF2-40B4-BE49-F238E27FC236}">
                <a16:creationId xmlns:a16="http://schemas.microsoft.com/office/drawing/2014/main" id="{B9C09EE8-FAE3-DE90-B529-415FBD4F7A44}"/>
              </a:ext>
            </a:extLst>
          </p:cNvPr>
          <p:cNvSpPr txBox="1"/>
          <p:nvPr/>
        </p:nvSpPr>
        <p:spPr>
          <a:xfrm>
            <a:off x="609600" y="6451600"/>
            <a:ext cx="10972800" cy="288541"/>
          </a:xfrm>
          <a:prstGeom prst="rect">
            <a:avLst/>
          </a:prstGeom>
          <a:noFill/>
        </p:spPr>
        <p:txBody>
          <a:bodyPr vert="horz" wrap="square" rtlCol="0">
            <a:spAutoFit/>
          </a:bodyPr>
          <a:lstStyle/>
          <a:p>
            <a:pPr algn="ctr"/>
            <a:r>
              <a:rPr lang="it-IT" sz="1275">
                <a:solidFill>
                  <a:srgbClr val="647487"/>
                </a:solidFill>
                <a:latin typeface="Arial" panose="020B0604020202020204" pitchFamily="34" charset="0"/>
              </a:rPr>
              <a:t>Demo web illustrativa: modello di rumore uniforme (preset UC1). I numeri della demo non sono risultati della tesi.</a:t>
            </a:r>
            <a:endParaRPr lang="en-GB" sz="1275">
              <a:solidFill>
                <a:srgbClr val="647487"/>
              </a:solidFill>
              <a:latin typeface="Arial" panose="020B0604020202020204" pitchFamily="34" charset="0"/>
            </a:endParaRPr>
          </a:p>
        </p:txBody>
      </p:sp>
    </p:spTree>
    <p:extLst>
      <p:ext uri="{BB962C8B-B14F-4D97-AF65-F5344CB8AC3E}">
        <p14:creationId xmlns:p14="http://schemas.microsoft.com/office/powerpoint/2010/main" val="33786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contributo personale</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15</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62484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8128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64516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8128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64516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Implementazione e validazione dei circuiti per N = 15, 21 e 35.</a:t>
            </a:r>
          </a:p>
          <a:p>
            <a:pPr>
              <a:spcAft>
                <a:spcPts val="1000"/>
              </a:spcAft>
            </a:pPr>
            <a:r>
              <a:rPr lang="it-IT" sz="1725">
                <a:solidFill>
                  <a:srgbClr val="203344"/>
                </a:solidFill>
                <a:latin typeface="Arial" panose="020B0604020202020204" pitchFamily="34" charset="0"/>
              </a:rPr>
              <a:t>Progetto delle 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endParaRPr lang="en-GB" sz="1725">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Tree>
    <p:extLst>
      <p:ext uri="{BB962C8B-B14F-4D97-AF65-F5344CB8AC3E}">
        <p14:creationId xmlns:p14="http://schemas.microsoft.com/office/powerpoint/2010/main" val="1540469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Limiti e sviluppi futuri</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16</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736809C-4DF7-437C-890C-B6373A80A43D}"/>
              </a:ext>
            </a:extLst>
          </p:cNvPr>
          <p:cNvSpPr>
            <a:spLocks noGrp="1"/>
          </p:cNvSpPr>
          <p:nvPr/>
        </p:nvSpPr>
        <p:spPr>
          <a:xfrm>
            <a:off x="609600" y="1609725"/>
            <a:ext cx="4857750" cy="3695700"/>
          </a:xfrm>
          <a:prstGeom prst="roundRect">
            <a:avLst>
              <a:gd name="adj" fmla="val 257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2F25D6F7-BB18-443C-A940-C65D30D526E9}"/>
              </a:ext>
            </a:extLst>
          </p:cNvPr>
          <p:cNvSpPr>
            <a:spLocks noGrp="1"/>
          </p:cNvSpPr>
          <p:nvPr/>
        </p:nvSpPr>
        <p:spPr>
          <a:xfrm>
            <a:off x="790575" y="1800225"/>
            <a:ext cx="44958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Limiti</a:t>
            </a:r>
          </a:p>
        </p:txBody>
      </p:sp>
      <p:sp>
        <p:nvSpPr>
          <p:cNvPr id="7" name="Rectangle 6">
            <a:extLst>
              <a:ext uri="{FF2B5EF4-FFF2-40B4-BE49-F238E27FC236}">
                <a16:creationId xmlns:a16="http://schemas.microsoft.com/office/drawing/2014/main" id="{A42D3E0F-7F73-4A21-9D50-356F712E2E64}"/>
              </a:ext>
            </a:extLst>
          </p:cNvPr>
          <p:cNvSpPr>
            <a:spLocks noGrp="1"/>
          </p:cNvSpPr>
          <p:nvPr/>
        </p:nvSpPr>
        <p:spPr>
          <a:xfrm>
            <a:off x="790575" y="2409825"/>
            <a:ext cx="4495800" cy="2800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Simulazioni su poche istanze</a:t>
            </a:r>
          </a:p>
          <a:p>
            <a:pPr>
              <a:defRPr sz="1875" b="0">
                <a:solidFill>
                  <a:srgbClr val="203344"/>
                </a:solidFill>
                <a:latin typeface="Arial"/>
                <a:ea typeface="Arial"/>
                <a:cs typeface="Arial"/>
              </a:defRPr>
            </a:pPr>
            <a:r>
              <a:rPr sz="1875" b="0">
                <a:solidFill>
                  <a:srgbClr val="203344"/>
                </a:solidFill>
                <a:latin typeface="Arial"/>
                <a:ea typeface="Arial"/>
                <a:cs typeface="Arial"/>
              </a:rPr>
              <a:t>QEC su memorie separate</a:t>
            </a:r>
          </a:p>
          <a:p>
            <a:pPr>
              <a:defRPr sz="1875" b="0">
                <a:solidFill>
                  <a:srgbClr val="203344"/>
                </a:solidFill>
                <a:latin typeface="Arial"/>
                <a:ea typeface="Arial"/>
                <a:cs typeface="Arial"/>
              </a:defRPr>
            </a:pPr>
            <a:r>
              <a:rPr sz="1875" b="0">
                <a:solidFill>
                  <a:srgbClr val="203344"/>
                </a:solidFill>
                <a:latin typeface="Arial"/>
                <a:ea typeface="Arial"/>
                <a:cs typeface="Arial"/>
              </a:rPr>
              <a:t>Gross code in code-capacity</a:t>
            </a:r>
          </a:p>
          <a:p>
            <a:pPr>
              <a:defRPr sz="1875" b="0">
                <a:solidFill>
                  <a:srgbClr val="203344"/>
                </a:solidFill>
                <a:latin typeface="Arial"/>
                <a:ea typeface="Arial"/>
                <a:cs typeface="Arial"/>
              </a:defRPr>
            </a:pPr>
            <a:r>
              <a:rPr sz="1875" b="0">
                <a:solidFill>
                  <a:srgbClr val="203344"/>
                </a:solidFill>
                <a:latin typeface="Arial"/>
                <a:ea typeface="Arial"/>
                <a:cs typeface="Arial"/>
              </a:rPr>
              <a:t>Calibrazione hardware offline</a:t>
            </a:r>
          </a:p>
          <a:p>
            <a:pPr>
              <a:defRPr sz="1875" b="0">
                <a:solidFill>
                  <a:srgbClr val="203344"/>
                </a:solidFill>
                <a:latin typeface="Arial"/>
                <a:ea typeface="Arial"/>
                <a:cs typeface="Arial"/>
              </a:defRPr>
            </a:pPr>
            <a:r>
              <a:rPr sz="1875" b="0">
                <a:solidFill>
                  <a:srgbClr val="203344"/>
                </a:solidFill>
                <a:latin typeface="Arial"/>
                <a:ea typeface="Arial"/>
                <a:cs typeface="Arial"/>
              </a:rPr>
              <a:t>Nessuno Shor fault-tolerant</a:t>
            </a:r>
          </a:p>
        </p:txBody>
      </p:sp>
      <p:sp>
        <p:nvSpPr>
          <p:cNvPr id="8" name="Rectangle 7">
            <a:extLst>
              <a:ext uri="{FF2B5EF4-FFF2-40B4-BE49-F238E27FC236}">
                <a16:creationId xmlns:a16="http://schemas.microsoft.com/office/drawing/2014/main" id="{07FCCE78-1995-4A6E-B503-C0FB8B2CE55C}"/>
              </a:ext>
            </a:extLst>
          </p:cNvPr>
          <p:cNvSpPr>
            <a:spLocks noGrp="1"/>
          </p:cNvSpPr>
          <p:nvPr/>
        </p:nvSpPr>
        <p:spPr>
          <a:xfrm>
            <a:off x="6143625" y="1685925"/>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Priorità: costo circuitale</a:t>
            </a:r>
          </a:p>
        </p:txBody>
      </p:sp>
      <p:sp>
        <p:nvSpPr>
          <p:cNvPr id="9" name="Rectangle 8">
            <a:extLst>
              <a:ext uri="{FF2B5EF4-FFF2-40B4-BE49-F238E27FC236}">
                <a16:creationId xmlns:a16="http://schemas.microsoft.com/office/drawing/2014/main" id="{03E7F75E-8090-4D8C-A3C0-14E197BC6225}"/>
              </a:ext>
            </a:extLst>
          </p:cNvPr>
          <p:cNvSpPr>
            <a:spLocks noGrp="1"/>
          </p:cNvSpPr>
          <p:nvPr/>
        </p:nvSpPr>
        <p:spPr>
          <a:xfrm>
            <a:off x="6143625" y="2133600"/>
            <a:ext cx="5429250" cy="828675"/>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AQFT, aritmetica modulare</a:t>
            </a:r>
          </a:p>
          <a:p>
            <a:pPr>
              <a:defRPr sz="2250" b="0">
                <a:solidFill>
                  <a:srgbClr val="203344"/>
                </a:solidFill>
                <a:latin typeface="Arial"/>
                <a:ea typeface="Arial"/>
                <a:cs typeface="Arial"/>
              </a:defRPr>
            </a:pPr>
            <a:r>
              <a:rPr sz="2250" b="0">
                <a:solidFill>
                  <a:srgbClr val="203344"/>
                </a:solidFill>
                <a:latin typeface="Arial"/>
                <a:ea typeface="Arial"/>
                <a:cs typeface="Arial"/>
              </a:rPr>
              <a:t>e sintesi delle operazioni</a:t>
            </a:r>
          </a:p>
        </p:txBody>
      </p:sp>
      <p:sp>
        <p:nvSpPr>
          <p:cNvPr id="10" name="Rectangle 9">
            <a:extLst>
              <a:ext uri="{FF2B5EF4-FFF2-40B4-BE49-F238E27FC236}">
                <a16:creationId xmlns:a16="http://schemas.microsoft.com/office/drawing/2014/main" id="{BC509B3C-7ABF-488B-B403-FCA84D5CCA49}"/>
              </a:ext>
            </a:extLst>
          </p:cNvPr>
          <p:cNvSpPr>
            <a:spLocks noGrp="1"/>
          </p:cNvSpPr>
          <p:nvPr/>
        </p:nvSpPr>
        <p:spPr>
          <a:xfrm>
            <a:off x="6143625" y="335280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Verifica sulla metrica finale</a:t>
            </a:r>
          </a:p>
        </p:txBody>
      </p:sp>
      <p:sp>
        <p:nvSpPr>
          <p:cNvPr id="11" name="Rectangle 10">
            <a:extLst>
              <a:ext uri="{FF2B5EF4-FFF2-40B4-BE49-F238E27FC236}">
                <a16:creationId xmlns:a16="http://schemas.microsoft.com/office/drawing/2014/main" id="{25F31C1B-0262-481F-9574-1CCEAD53F4BB}"/>
              </a:ext>
            </a:extLst>
          </p:cNvPr>
          <p:cNvSpPr>
            <a:spLocks noGrp="1"/>
          </p:cNvSpPr>
          <p:nvPr/>
        </p:nvSpPr>
        <p:spPr>
          <a:xfrm>
            <a:off x="6143625" y="3800475"/>
            <a:ext cx="5429250" cy="8477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Accuratezza della stima di fase</a:t>
            </a:r>
          </a:p>
          <a:p>
            <a:pPr>
              <a:defRPr sz="2100" b="0">
                <a:solidFill>
                  <a:srgbClr val="203344"/>
                </a:solidFill>
                <a:latin typeface="Arial"/>
                <a:ea typeface="Arial"/>
                <a:cs typeface="Arial"/>
              </a:defRPr>
            </a:pPr>
            <a:r>
              <a:rPr sz="2100" b="0">
                <a:solidFill>
                  <a:srgbClr val="203344"/>
                </a:solidFill>
                <a:latin typeface="Arial"/>
                <a:ea typeface="Arial"/>
                <a:cs typeface="Arial"/>
              </a:rPr>
              <a:t>e successo della fattorizzazione</a:t>
            </a:r>
          </a:p>
        </p:txBody>
      </p:sp>
      <p:sp>
        <p:nvSpPr>
          <p:cNvPr id="12" name="Rectangle 11">
            <a:extLst>
              <a:ext uri="{FF2B5EF4-FFF2-40B4-BE49-F238E27FC236}">
                <a16:creationId xmlns:a16="http://schemas.microsoft.com/office/drawing/2014/main" id="{9A548C9A-350D-48B4-AF3D-7F83C636A3E2}"/>
              </a:ext>
            </a:extLst>
          </p:cNvPr>
          <p:cNvSpPr>
            <a:spLocks noGrp="1"/>
          </p:cNvSpPr>
          <p:nvPr/>
        </p:nvSpPr>
        <p:spPr>
          <a:xfrm>
            <a:off x="6143625" y="504825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Integrare la fault tolerance</a:t>
            </a:r>
          </a:p>
        </p:txBody>
      </p:sp>
      <p:sp>
        <p:nvSpPr>
          <p:cNvPr id="13" name="Rectangle 12">
            <a:extLst>
              <a:ext uri="{FF2B5EF4-FFF2-40B4-BE49-F238E27FC236}">
                <a16:creationId xmlns:a16="http://schemas.microsoft.com/office/drawing/2014/main" id="{36A4558C-B64F-48E3-8CDD-700821146101}"/>
              </a:ext>
            </a:extLst>
          </p:cNvPr>
          <p:cNvSpPr>
            <a:spLocks noGrp="1"/>
          </p:cNvSpPr>
          <p:nvPr/>
        </p:nvSpPr>
        <p:spPr>
          <a:xfrm>
            <a:off x="6143625" y="5495925"/>
            <a:ext cx="5429250" cy="6381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Qubit logici e operazioni protette</a:t>
            </a:r>
          </a:p>
        </p:txBody>
      </p:sp>
      <p:sp>
        <p:nvSpPr>
          <p:cNvPr id="14" name="Rectangle 13">
            <a:extLst>
              <a:ext uri="{FF2B5EF4-FFF2-40B4-BE49-F238E27FC236}">
                <a16:creationId xmlns:a16="http://schemas.microsoft.com/office/drawing/2014/main" id="{CA76611A-A935-4D91-8214-290481870DC1}"/>
              </a:ext>
            </a:extLst>
          </p:cNvPr>
          <p:cNvSpPr>
            <a:spLocks noGrp="1"/>
          </p:cNvSpPr>
          <p:nvPr/>
        </p:nvSpPr>
        <p:spPr>
          <a:xfrm>
            <a:off x="609600" y="6324600"/>
            <a:ext cx="10972800" cy="342900"/>
          </a:xfrm>
          <a:prstGeom prst="rect">
            <a:avLst/>
          </a:prstGeom>
          <a:noFill/>
          <a:ln w="0">
            <a:noFill/>
          </a:ln>
        </p:spPr>
        <p:txBody>
          <a:bodyPr>
            <a:noAutofit/>
          </a:bodyPr>
          <a:lstStyle/>
          <a:p>
            <a:pPr>
              <a:defRPr sz="1650" b="1">
                <a:solidFill>
                  <a:srgbClr val="175F99"/>
                </a:solidFill>
                <a:latin typeface="Arial"/>
                <a:ea typeface="Arial"/>
                <a:cs typeface="Arial"/>
              </a:defRPr>
            </a:pPr>
            <a:r>
              <a:rPr sz="1650" b="1">
                <a:solidFill>
                  <a:srgbClr val="175F99"/>
                </a:solidFill>
                <a:latin typeface="Arial"/>
                <a:ea typeface="Arial"/>
                <a:cs typeface="Arial"/>
              </a:rPr>
              <a:t>Nessuna modifica della complessità asintotica dimostrata.</a:t>
            </a:r>
          </a:p>
        </p:txBody>
      </p:sp>
    </p:spTree>
    <p:extLst>
      <p:ext uri="{BB962C8B-B14F-4D97-AF65-F5344CB8AC3E}">
        <p14:creationId xmlns:p14="http://schemas.microsoft.com/office/powerpoint/2010/main" val="1626746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4111</Words>
  <Application>Microsoft Office PowerPoint</Application>
  <DocSecurity>0</DocSecurity>
  <PresentationFormat>Widescreen</PresentationFormat>
  <Paragraphs>372</Paragraphs>
  <Slides>22</Slides>
  <Notes>22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35</cp:revision>
  <dcterms:created xsi:type="dcterms:W3CDTF">2026-10-04T20:49:31Z</dcterms:created>
  <dcterms:modified xsi:type="dcterms:W3CDTF">2026-10-06T13:07:13Z</dcterms:modified>
</cp:coreProperties>
</file>