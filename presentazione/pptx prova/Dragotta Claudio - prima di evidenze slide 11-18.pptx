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77"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e questi stati sono fragilissimi: basta una minima perturbazione per alterarne il valore. Per questo un computer quantistico non è mai preciso al cento per cento: gli errori fanno parte della sua natura, e anche le macchine future dovranno conviverci.</a:t>
            </a:r>
          </a:p>
          <a:p>
            <a:r>
              <a:rPr lang="it-IT" sz="1400">
                <a:latin typeface="Arial" panose="020B0604020202020204" pitchFamily="34" charset="0"/>
              </a:rPr>
              <a:t>Lo scopo della mia tesi è stato quindi analizzare l'algoritmo di Shor proprio in queste condizioni, e capire quali strategie gli permettono di dare comunque risultati buoni, pur girando su un hardware imperfetto.</a:t>
            </a:r>
          </a:p>
          <a:p>
            <a:r>
              <a:rPr lang="it-IT" sz="1400">
                <a:latin typeface="Arial" panose="020B0604020202020204" pitchFamily="34" charset="0"/>
              </a:rPr>
              <a:t>Ho lavorato su tre strategie: il machine learning applicato ai risultati, la correzione quantistica degli errori, e la riduzione delle porte del circuito. Vi anticipo la conclusione: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Shor è così importante. La sicurezza di RSA, che protegge buona parte delle nostre comunicazioni, si basa su un fatto: fattorizzare un numero molto grande è difficilissimo per un computer classico. Shor ha dimostrato che un computer quantistico ideale lo farebbe in tempo polinomiale, cioè enormemente più in fretta.</a:t>
            </a:r>
          </a:p>
          <a:p>
            <a:r>
              <a:rPr lang="it-IT" sz="1400">
                <a:latin typeface="Arial" panose="020B0604020202020204" pitchFamily="34" charset="0"/>
              </a:rPr>
              <a:t>Il punto è quella parola, ideale. Sulle macchine reali il rumore altera proprio l'informazione da cui Shor ricava la soluzione, quindi più rumore c'è, meno probabilità abbiamo di trovare i fattori.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scegliamo un parametro a, la base, che non deve avere divisori in comune con N. La funzione a alla x modulo N è periodica, e il compito del computer quantistico è trovarne il periodo, che chiamiamo r.</a:t>
            </a:r>
          </a:p>
          <a:p>
            <a:r>
              <a:rPr lang="it-IT" sz="1400">
                <a:latin typeface="Arial" panose="020B0604020202020204" pitchFamily="34" charset="0"/>
              </a:rPr>
              <a:t>Nel mio esempio N è 15 e a è 7: come vedete nel grafico, i valori si ripetono ogni quattro passi, quindi r è 4. Una volta noto r, un semplice calcolo classico ci dà un fattore, 3, e di conseguenza anche l'altro, 15 diviso 3, cioè 5.</a:t>
            </a:r>
          </a:p>
          <a:p>
            <a:r>
              <a:rPr lang="it-IT" sz="1400">
                <a:latin typeface="Arial" panose="020B0604020202020204" pitchFamily="34" charset="0"/>
              </a:rPr>
              <a:t>Il circuito usa 8 qubit di controllo, che stimano il periodo, e 4 qubit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difendersi dal rumore, la letteratura propone tre strade: ripulire i risultati dopo la misura, anche con il machine learning; proteggere i qubit con la correzione degli errori; oppure semplificare il circuito. Il limite comune è che raramente queste tecniche vengono confrontate con un riferimento adeguato, e quindi non si capisce quanto aiutino davvero.</a:t>
            </a:r>
          </a:p>
          <a:p>
            <a:r>
              <a:rPr lang="it-IT" sz="1400">
                <a:latin typeface="Arial" panose="020B0604020202020204" pitchFamily="34" charset="0"/>
              </a:rPr>
              <a:t>Da qui i miei tre obiettivi, ognuno con il suo riferimento: capire se il machine learning migliora davvero la lettura dei risultati; confrontare diversi codici di correzione degli errori; verificare se togliere porte al circuito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8 di controllo e 4 di lavoro. È il caso su cui ho fatto tutte le prove con rumore.</a:t>
            </a:r>
          </a:p>
          <a:p>
            <a:r>
              <a:rPr lang="it-IT" sz="1400">
                <a:latin typeface="Arial" panose="020B0604020202020204" pitchFamily="34" charset="0"/>
              </a:rPr>
              <a:t>Il secondo è N uguale a 21, che richiede 20 qubit: sempre 8 di controllo, 5 di lavoro, perché 21 si scrive con 5 bit, e 7 qubit ausiliari per i calcoli modulari. Su questo ho verificato il circuito senza rumore e fatto alcune prove con rumore sulla QFT approssimata.</a:t>
            </a:r>
          </a:p>
          <a:p>
            <a:r>
              <a:rPr lang="it-IT" sz="1400">
                <a:latin typeface="Arial" panose="020B0604020202020204" pitchFamily="34" charset="0"/>
              </a:rPr>
              <a:t>Tutto è stato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volta che eseguo Shor ottengo un istogramma con i risultati misurati, e il problema è decidere quali verificare.</a:t>
            </a:r>
          </a:p>
          <a:p>
            <a:r>
              <a:rPr lang="it-IT" sz="1400">
                <a:latin typeface="Arial" panose="020B0604020202020204" pitchFamily="34" charset="0"/>
              </a:rPr>
              <a:t>TOP-1 verifica solo il risultato più frequente. TOP-4 verifica, uno alla volta, i quattro più frequenti, finché uno non dà i fattori. Il Metodo 2 applica TOP-4 solo se un classificatore di machine learning lo approva. In tutti e tre i casi la verifica finale è la stessa, un calcolo classico che ricava i fattori.</a:t>
            </a:r>
          </a:p>
          <a:p>
            <a:r>
              <a:rPr lang="it-IT" sz="1400">
                <a:latin typeface="Arial" panose="020B0604020202020204" pitchFamily="34" charset="0"/>
              </a:rPr>
              <a:t>In letteratura il machine learning è stato proposto proprio per filtrare questi risultati, per esempio da Yang e Markidis. Il rischio è attribuire al modello un merito che in realtà viene dal provare più candidati. Per questo il confronto decisivo è tra il Metodo 2 e TOP-4: è l'unico modo per capire quanto conta davvero il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L'idea è usare più qubit fisici per proteggere un solo qubit logico: così, se un qubit sbaglia, l'errore si può individuare e correggere.</a:t>
            </a:r>
          </a:p>
          <a:p>
            <a:r>
              <a:rPr lang="it-IT" sz="1400">
                <a:latin typeface="Arial" panose="020B0604020202020204" pitchFamily="34" charset="0"/>
              </a:rPr>
              <a:t>Il codice di riferimento è il surface code, che però è molto oneroso: per proteggere 12 qubit logici servono circa 2000 qubit di dato. Per questo ho analizzato anche il Gross code, proposto da IBM nel 2024, che per gli stessi 12 qubit logici ne usa 144.</a:t>
            </a:r>
          </a:p>
          <a:p>
            <a:r>
              <a:rPr lang="it-IT" sz="1400">
                <a:latin typeface="Arial" panose="020B0604020202020204" pitchFamily="34" charset="0"/>
              </a:rPr>
              <a:t>Per correggere gli errori serve un decoder: ho confrontato quello classico, MWPM, con una rete neurale e con un decoder ibrido, sulla linea dei decoder appresi proposti di recente da Google DeepMind.</a:t>
            </a:r>
          </a:p>
          <a:p>
            <a:r>
              <a:rPr lang="it-IT" sz="1400">
                <a:latin typeface="Arial" panose="020B0604020202020204" pitchFamily="34" charset="0"/>
              </a:rPr>
              <a:t>Sul Gross code ho testato l'algoritmo di correzione: ho simulato gli errori come sequenze di 144 bit e verificato se il decoder li corregge. Non ho simulato lo stato di 144 qubit, che nessun computer è in grado di simulare.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più porte ha il circuito, più lo stato si altera. Ridurre le porte significa ridurre gli errori.</a:t>
            </a:r>
          </a:p>
          <a:p>
            <a:r>
              <a:rPr lang="it-IT" sz="1400">
                <a:latin typeface="Arial" panose="020B0604020202020204" pitchFamily="34" charset="0"/>
              </a:rPr>
              <a:t>Ho lavorato sulla trasformata di Fourier, la QFT, che è fatta di rotazioni sempre più piccole. In Shor la QFT serve a campionare il risultato: non serve un valore esatto, basta un valore abbastanza vicino perché il calcolo classico ritrovi il periodo. Per questo posso togliere le rotazioni più piccole; nel caso di N uguale a 15 è bastato tenere solo il primo livello.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partendo dal problema di base: quanto il rumore degrada Shor. Per simularlo, dopo ogni porta inserisco con una certa probabilità un operatore di Pauli casuale, cioè un'inversione del bit, della fase o di entrambi.</a:t>
            </a:r>
          </a:p>
          <a:p>
            <a:r>
              <a:rPr lang="it-IT" sz="1400">
                <a:latin typeface="Arial" panose="020B0604020202020204" pitchFamily="34" charset="0"/>
              </a:rPr>
              <a:t>Senza rumore il successo è del 74,89%, in linea con il 75% atteso. Ma basta l'1% di errore per porta per scendere al 56%, e con il 5% siamo sotto il 30%. Oltre il 10% la curva si appiattisce sul livello casuale: lì Shor, di fatto,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TOP-4 trova i fattori sempre al primo tentativo, cioè già dal primo istogramma. Il classificatore, pur essendo molto accurato, non migliora le cose, anzi fa peggio di TOP-4, perché a volte scarta proprio i risultati buoni.</a:t>
            </a:r>
          </a:p>
          <a:p>
            <a:r>
              <a:rPr lang="it-IT" sz="1400">
                <a:latin typeface="Arial" panose="020B0604020202020204" pitchFamily="34" charset="0"/>
              </a:rPr>
              <a:t>Quindi il vantaggio non viene dall'intelligenza artificiale, ma semplicemente dal provare più candidati.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e mostra un comportamento fondamentale. Nella zona verde, quando gli errori sono sotto una certa soglia, usare codici più grandi riduce gli errori. Nella zona rossa, sopra la soglia, succede il contrario: aggiungere qubit peggiora le cose. Ho stimato questa soglia tra lo 0,8 e lo 0,9% di errore.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Da solo non batte il decoder classico. Ma quando gli errori sono correlati tra qubit vicini, il cosiddetto crosstalk, un decoder ibrido, che corregge il decoder classico solo quando serve, riduce gli errori del 16,8% sul codice più piccolo. Sui codici più grandi questo vantaggio si riduce.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usa 144 qubit, il surface code circa 2000. Nel modello semplificato che ho usato, con un errore fisico dallo 0,75% in su, il Gross code protegge anche meglio.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Su N uguale a 15 funziona bene: togliendo le rotazioni più piccole,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unire questa strada alla correzione degli errori.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base a con MCD(a, N) = 1</a:t>
            </a:r>
            <a:endParaRPr lang="en-US" sz="14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esponenziazione modulare e QPE (stima di fase)</a:t>
            </a:r>
            <a:endParaRPr lang="en-US" sz="14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256530"/>
          </a:xfrm>
          <a:prstGeom prst="rect">
            <a:avLst/>
          </a:prstGeom>
          <a:noFill/>
          <a:ln/>
        </p:spPr>
        <p:txBody>
          <a:bodyPr wrap="square" lIns="0" tIns="0" rIns="0" bIns="0" rtlCol="0" anchor="t">
            <a:normAutofit fontScale="62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esito y su m qubit: y / 2^m ≈ s / r, s intero</a:t>
            </a:r>
            <a:endParaRPr lang="en-US" sz="14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256530"/>
          </a:xfrm>
          <a:prstGeom prst="rect">
            <a:avLst/>
          </a:prstGeom>
          <a:noFill/>
          <a:ln/>
        </p:spPr>
        <p:txBody>
          <a:bodyPr wrap="square" lIns="0" tIns="0" rIns="0" bIns="0" rtlCol="0" anchor="t">
            <a:normAutofit fontScale="47500" lnSpcReduction="20000"/>
          </a:bodyPr>
          <a:lstStyle/>
          <a:p>
            <a:pPr marL="0" indent="0" algn="l">
              <a:lnSpc>
                <a:spcPts val="1820"/>
              </a:lnSpc>
              <a:buNone/>
            </a:pPr>
            <a:r>
              <a:rPr lang="en-US" sz="1400" dirty="0">
                <a:solidFill>
                  <a:srgbClr val="FFFFFF"/>
                </a:solidFill>
                <a:latin typeface="Arial" pitchFamily="34" charset="0"/>
                <a:ea typeface="Arial" pitchFamily="34" charset="-122"/>
                <a:cs typeface="Arial" pitchFamily="34" charset="-120"/>
              </a:rPr>
              <a:t>frazioni continue e MCD (massimo comune divisore)</a:t>
            </a:r>
            <a:endParaRPr lang="en-US" sz="14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1905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2768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09600" y="3810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09600" y="4673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F550C7F5-9DB6-C4FB-160F-0DA86CD67156}"/>
              </a:ext>
            </a:extLst>
          </p:cNvPr>
          <p:cNvSpPr/>
          <p:nvPr/>
        </p:nvSpPr>
        <p:spPr>
          <a:xfrm>
            <a:off x="6248400" y="2032000"/>
            <a:ext cx="5334000" cy="3556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4852183-35E7-C8A1-0AA0-89A6A18EB24B}"/>
              </a:ext>
            </a:extLst>
          </p:cNvPr>
          <p:cNvSpPr txBox="1"/>
          <p:nvPr/>
        </p:nvSpPr>
        <p:spPr>
          <a:xfrm>
            <a:off x="6451600" y="21844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Come si legge</a:t>
            </a:r>
          </a:p>
        </p:txBody>
      </p:sp>
      <p:sp>
        <p:nvSpPr>
          <p:cNvPr id="26" name="TextBox 25">
            <a:extLst>
              <a:ext uri="{FF2B5EF4-FFF2-40B4-BE49-F238E27FC236}">
                <a16:creationId xmlns:a16="http://schemas.microsoft.com/office/drawing/2014/main" id="{AF938EC5-FB1B-258A-338B-32D7C62322AB}"/>
              </a:ext>
            </a:extLst>
          </p:cNvPr>
          <p:cNvSpPr txBox="1"/>
          <p:nvPr/>
        </p:nvSpPr>
        <p:spPr>
          <a:xfrm>
            <a:off x="6451600" y="26924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Un successo vicino al 24,61% non dimostra che resti informazione quantistica.</a:t>
            </a:r>
          </a:p>
          <a:p>
            <a:pPr>
              <a:spcAft>
                <a:spcPts val="1000"/>
              </a:spcAft>
            </a:pPr>
            <a:r>
              <a:rPr lang="it-IT" sz="1725">
                <a:solidFill>
                  <a:srgbClr val="203344"/>
                </a:solidFill>
                <a:latin typeface="Arial" panose="020B0604020202020204" pitchFamily="34" charset="0"/>
              </a:rPr>
              <a:t>Il riferimento dipende dall'istanza e dalla verifica classica, non dalla fedeltà dello stato.</a:t>
            </a:r>
          </a:p>
          <a:p>
            <a:pPr>
              <a:spcAft>
                <a:spcPts val="1000"/>
              </a:spcAft>
            </a:pPr>
            <a:r>
              <a:rPr lang="it-IT" sz="1725">
                <a:solidFill>
                  <a:srgbClr val="203344"/>
                </a:solidFill>
                <a:latin typeface="Arial" panose="020B0604020202020204" pitchFamily="34" charset="0"/>
              </a:rPr>
              <a:t>Lo stesso criterio vale per tutte le strategie confrontate.</a:t>
            </a:r>
            <a:endParaRPr lang="en-GB" sz="1725">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2BF2E4C9-BB39-4768-A1B2-18244192C53B}"/>
              </a:ext>
            </a:extLst>
          </p:cNvPr>
          <p:cNvSpPr>
            <a:spLocks noGrp="1"/>
          </p:cNvSpPr>
          <p:nvPr/>
        </p:nvSpPr>
        <p:spPr>
          <a:xfrm>
            <a:off x="609600"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46C003BE-DB8A-4399-8840-03FD9DD07018}"/>
              </a:ext>
            </a:extLst>
          </p:cNvPr>
          <p:cNvSpPr>
            <a:spLocks noGrp="1"/>
          </p:cNvSpPr>
          <p:nvPr/>
        </p:nvSpPr>
        <p:spPr>
          <a:xfrm>
            <a:off x="790575"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Surface code</a:t>
            </a:r>
          </a:p>
        </p:txBody>
      </p:sp>
      <p:sp>
        <p:nvSpPr>
          <p:cNvPr id="7" name="Rectangle 6">
            <a:extLst>
              <a:ext uri="{FF2B5EF4-FFF2-40B4-BE49-F238E27FC236}">
                <a16:creationId xmlns:a16="http://schemas.microsoft.com/office/drawing/2014/main" id="{64D25F89-0FF5-4EB4-BA59-ACC9CA4B4236}"/>
              </a:ext>
            </a:extLst>
          </p:cNvPr>
          <p:cNvSpPr>
            <a:spLocks noGrp="1"/>
          </p:cNvSpPr>
          <p:nvPr/>
        </p:nvSpPr>
        <p:spPr>
          <a:xfrm>
            <a:off x="790575"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Distanza d crescente: più errori correggibili</a:t>
            </a:r>
          </a:p>
          <a:p>
            <a:pPr>
              <a:defRPr sz="1875" b="0">
                <a:solidFill>
                  <a:srgbClr val="203344"/>
                </a:solidFill>
                <a:latin typeface="Arial"/>
                <a:ea typeface="Arial"/>
                <a:cs typeface="Arial"/>
              </a:defRPr>
            </a:pPr>
            <a:r>
              <a:rPr sz="1875" b="0">
                <a:solidFill>
                  <a:srgbClr val="203344"/>
                </a:solidFill>
                <a:latin typeface="Arial"/>
                <a:ea typeface="Arial"/>
                <a:cs typeface="Arial"/>
              </a:rPr>
              <a:t>Rumore su operazioni e misure</a:t>
            </a:r>
          </a:p>
          <a:p>
            <a:pPr>
              <a:defRPr sz="1875" b="0">
                <a:solidFill>
                  <a:srgbClr val="203344"/>
                </a:solidFill>
                <a:latin typeface="Arial"/>
                <a:ea typeface="Arial"/>
                <a:cs typeface="Arial"/>
              </a:defRPr>
            </a:pPr>
            <a:r>
              <a:rPr sz="1875" b="0">
                <a:solidFill>
                  <a:srgbClr val="203344"/>
                </a:solidFill>
                <a:latin typeface="Arial"/>
                <a:ea typeface="Arial"/>
                <a:cs typeface="Arial"/>
              </a:rPr>
              <a:t>Crosstalk in alcune prove</a:t>
            </a:r>
          </a:p>
        </p:txBody>
      </p:sp>
      <p:sp>
        <p:nvSpPr>
          <p:cNvPr id="8" name="Rectangle: Rounded Corners 7">
            <a:extLst>
              <a:ext uri="{FF2B5EF4-FFF2-40B4-BE49-F238E27FC236}">
                <a16:creationId xmlns:a16="http://schemas.microsoft.com/office/drawing/2014/main" id="{FE8409B5-A61E-4F89-AD54-5C9EDA42E889}"/>
              </a:ext>
            </a:extLst>
          </p:cNvPr>
          <p:cNvSpPr>
            <a:spLocks noGrp="1"/>
          </p:cNvSpPr>
          <p:nvPr/>
        </p:nvSpPr>
        <p:spPr>
          <a:xfrm>
            <a:off x="6296025" y="1628775"/>
            <a:ext cx="5286375" cy="2171700"/>
          </a:xfrm>
          <a:prstGeom prst="roundRect">
            <a:avLst>
              <a:gd name="adj" fmla="val 4386"/>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71700CA6-33ED-4182-8866-CF9CC2122E50}"/>
              </a:ext>
            </a:extLst>
          </p:cNvPr>
          <p:cNvSpPr>
            <a:spLocks noGrp="1"/>
          </p:cNvSpPr>
          <p:nvPr/>
        </p:nvSpPr>
        <p:spPr>
          <a:xfrm>
            <a:off x="6477000" y="1819275"/>
            <a:ext cx="4924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Gross code · qLDPC</a:t>
            </a:r>
          </a:p>
        </p:txBody>
      </p:sp>
      <p:sp>
        <p:nvSpPr>
          <p:cNvPr id="10" name="Rectangle 9">
            <a:extLst>
              <a:ext uri="{FF2B5EF4-FFF2-40B4-BE49-F238E27FC236}">
                <a16:creationId xmlns:a16="http://schemas.microsoft.com/office/drawing/2014/main" id="{330A12A4-1521-4159-B26C-A2BE5C987FE5}"/>
              </a:ext>
            </a:extLst>
          </p:cNvPr>
          <p:cNvSpPr>
            <a:spLocks noGrp="1"/>
          </p:cNvSpPr>
          <p:nvPr/>
        </p:nvSpPr>
        <p:spPr>
          <a:xfrm>
            <a:off x="6477000" y="2428875"/>
            <a:ext cx="4924425" cy="1276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12 qubit logici, 144 qubit di dato</a:t>
            </a:r>
          </a:p>
          <a:p>
            <a:pPr>
              <a:defRPr sz="1875" b="0">
                <a:solidFill>
                  <a:srgbClr val="203344"/>
                </a:solidFill>
                <a:latin typeface="Arial"/>
                <a:ea typeface="Arial"/>
                <a:cs typeface="Arial"/>
              </a:defRPr>
            </a:pPr>
            <a:r>
              <a:rPr sz="1875" b="0">
                <a:solidFill>
                  <a:srgbClr val="203344"/>
                </a:solidFill>
                <a:latin typeface="Arial"/>
                <a:ea typeface="Arial"/>
                <a:cs typeface="Arial"/>
              </a:rPr>
              <a:t>Code-capacity: errori X sui soli dati</a:t>
            </a:r>
          </a:p>
          <a:p>
            <a:pPr>
              <a:defRPr sz="1875" b="0">
                <a:solidFill>
                  <a:srgbClr val="203344"/>
                </a:solidFill>
                <a:latin typeface="Arial"/>
                <a:ea typeface="Arial"/>
                <a:cs typeface="Arial"/>
              </a:defRPr>
            </a:pPr>
            <a:r>
              <a:rPr sz="1875" b="0">
                <a:solidFill>
                  <a:srgbClr val="203344"/>
                </a:solidFill>
                <a:latin typeface="Arial"/>
                <a:ea typeface="Arial"/>
                <a:cs typeface="Arial"/>
              </a:rPr>
              <a:t>Sindrome perfetta</a:t>
            </a:r>
          </a:p>
          <a:p>
            <a:pPr>
              <a:defRPr sz="1875" b="0">
                <a:solidFill>
                  <a:srgbClr val="203344"/>
                </a:solidFill>
                <a:latin typeface="Arial"/>
                <a:ea typeface="Arial"/>
                <a:cs typeface="Arial"/>
              </a:defRPr>
            </a:pPr>
            <a:r>
              <a:rPr sz="1875" b="0">
                <a:solidFill>
                  <a:srgbClr val="203344"/>
                </a:solidFill>
                <a:latin typeface="Arial"/>
                <a:ea typeface="Arial"/>
                <a:cs typeface="Arial"/>
              </a:rPr>
              <a:t>Simulati gli errori, non lo stato</a:t>
            </a:r>
          </a:p>
        </p:txBody>
      </p:sp>
      <p:sp>
        <p:nvSpPr>
          <p:cNvPr id="11" name="Rectangle 10">
            <a:extLst>
              <a:ext uri="{FF2B5EF4-FFF2-40B4-BE49-F238E27FC236}">
                <a16:creationId xmlns:a16="http://schemas.microsoft.com/office/drawing/2014/main" id="{7833E351-A636-475D-8DAB-9B4D6F769E51}"/>
              </a:ext>
            </a:extLst>
          </p:cNvPr>
          <p:cNvSpPr>
            <a:spLocks noGrp="1"/>
          </p:cNvSpPr>
          <p:nvPr/>
        </p:nvSpPr>
        <p:spPr>
          <a:xfrm>
            <a:off x="609600" y="4292600"/>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surface code</a:t>
            </a:r>
          </a:p>
        </p:txBody>
      </p:sp>
      <p:sp>
        <p:nvSpPr>
          <p:cNvPr id="12" name="Rectangle 11">
            <a:extLst>
              <a:ext uri="{FF2B5EF4-FFF2-40B4-BE49-F238E27FC236}">
                <a16:creationId xmlns:a16="http://schemas.microsoft.com/office/drawing/2014/main" id="{4CC9B132-A3A6-4943-9896-1ED79428894F}"/>
              </a:ext>
            </a:extLst>
          </p:cNvPr>
          <p:cNvSpPr>
            <a:spLocks noGrp="1"/>
          </p:cNvSpPr>
          <p:nvPr/>
        </p:nvSpPr>
        <p:spPr>
          <a:xfrm>
            <a:off x="609600" y="4724400"/>
            <a:ext cx="5286375" cy="1270000"/>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MWPM (matching a peso minimo)</a:t>
            </a:r>
          </a:p>
          <a:p>
            <a:pPr>
              <a:defRPr sz="2100" b="0">
                <a:solidFill>
                  <a:srgbClr val="203344"/>
                </a:solidFill>
                <a:latin typeface="Arial"/>
                <a:ea typeface="Arial"/>
                <a:cs typeface="Arial"/>
              </a:defRPr>
            </a:pPr>
            <a:r>
              <a:rPr sz="2100" b="0">
                <a:solidFill>
                  <a:srgbClr val="203344"/>
                </a:solidFill>
                <a:latin typeface="Arial"/>
                <a:ea typeface="Arial"/>
                <a:cs typeface="Arial"/>
              </a:rPr>
              <a:t>Rete autonoma e decoder ibrido</a:t>
            </a:r>
          </a:p>
          <a:p>
            <a:pPr>
              <a:defRPr sz="2100" b="0">
                <a:solidFill>
                  <a:srgbClr val="203344"/>
                </a:solidFill>
                <a:latin typeface="Arial"/>
                <a:ea typeface="Arial"/>
                <a:cs typeface="Arial"/>
              </a:defRPr>
            </a:pPr>
            <a:r>
              <a:rPr sz="2100" b="0">
                <a:solidFill>
                  <a:srgbClr val="203344"/>
                </a:solidFill>
                <a:latin typeface="Arial"/>
                <a:ea typeface="Arial"/>
                <a:cs typeface="Arial"/>
              </a:rPr>
              <a:t>BP+OSD come ulteriore baseline</a:t>
            </a:r>
          </a:p>
        </p:txBody>
      </p:sp>
      <p:sp>
        <p:nvSpPr>
          <p:cNvPr id="13" name="Rectangle 12">
            <a:extLst>
              <a:ext uri="{FF2B5EF4-FFF2-40B4-BE49-F238E27FC236}">
                <a16:creationId xmlns:a16="http://schemas.microsoft.com/office/drawing/2014/main" id="{29089704-8A2A-4442-A7D6-C7B2EFF5A87C}"/>
              </a:ext>
            </a:extLst>
          </p:cNvPr>
          <p:cNvSpPr>
            <a:spLocks noGrp="1"/>
          </p:cNvSpPr>
          <p:nvPr/>
        </p:nvSpPr>
        <p:spPr>
          <a:xfrm>
            <a:off x="6296025" y="4292600"/>
            <a:ext cx="5286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Decoder sul Gross code</a:t>
            </a:r>
          </a:p>
        </p:txBody>
      </p:sp>
      <p:sp>
        <p:nvSpPr>
          <p:cNvPr id="14" name="Rectangle 13">
            <a:extLst>
              <a:ext uri="{FF2B5EF4-FFF2-40B4-BE49-F238E27FC236}">
                <a16:creationId xmlns:a16="http://schemas.microsoft.com/office/drawing/2014/main" id="{26F169C8-4EDE-4FA1-A0C4-AF14F251477B}"/>
              </a:ext>
            </a:extLst>
          </p:cNvPr>
          <p:cNvSpPr>
            <a:spLocks noGrp="1"/>
          </p:cNvSpPr>
          <p:nvPr/>
        </p:nvSpPr>
        <p:spPr>
          <a:xfrm>
            <a:off x="6296025" y="4724400"/>
            <a:ext cx="5286375" cy="1270000"/>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BP+OSD (belief propagation + OSD)</a:t>
            </a:r>
          </a:p>
          <a:p>
            <a:pPr>
              <a:defRPr sz="2100" b="0">
                <a:solidFill>
                  <a:srgbClr val="203344"/>
                </a:solidFill>
                <a:latin typeface="Arial"/>
                <a:ea typeface="Arial"/>
                <a:cs typeface="Arial"/>
              </a:defRPr>
            </a:pPr>
            <a:r>
              <a:rPr sz="2100" b="0">
                <a:solidFill>
                  <a:srgbClr val="203344"/>
                </a:solidFill>
                <a:latin typeface="Arial"/>
                <a:ea typeface="Arial"/>
                <a:cs typeface="Arial"/>
              </a:rPr>
              <a:t>Aggiornamenti paralleli o seriali</a:t>
            </a:r>
          </a:p>
          <a:p>
            <a:pPr>
              <a:defRPr sz="2100" b="0">
                <a:solidFill>
                  <a:srgbClr val="203344"/>
                </a:solidFill>
                <a:latin typeface="Arial"/>
                <a:ea typeface="Arial"/>
                <a:cs typeface="Arial"/>
              </a:defRPr>
            </a:pPr>
            <a:r>
              <a:rPr sz="2100" b="0">
                <a:solidFill>
                  <a:srgbClr val="203344"/>
                </a:solidFill>
                <a:latin typeface="Arial"/>
                <a:ea typeface="Arial"/>
                <a:cs typeface="Arial"/>
              </a:rPr>
              <a:t>Confronto con patch surface code</a:t>
            </a:r>
          </a:p>
        </p:txBody>
      </p:sp>
      <p:sp>
        <p:nvSpPr>
          <p:cNvPr id="15" name="Rectangle 14">
            <a:extLst>
              <a:ext uri="{FF2B5EF4-FFF2-40B4-BE49-F238E27FC236}">
                <a16:creationId xmlns:a16="http://schemas.microsoft.com/office/drawing/2014/main" id="{32E0AF76-6F62-4BCD-A0B3-87F7983A2B66}"/>
              </a:ext>
            </a:extLst>
          </p:cNvPr>
          <p:cNvSpPr>
            <a:spLocks noGrp="1"/>
          </p:cNvSpPr>
          <p:nvPr/>
        </p:nvSpPr>
        <p:spPr>
          <a:xfrm>
            <a:off x="609600" y="6350000"/>
            <a:ext cx="10972800" cy="24765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Stim campiona le sindromi del surface code. Training, selezione e test separati. La QEC resta distinta da Shor.</a:t>
            </a: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C0B02F1E-42B0-4215-A32B-407191EEB248}"/>
              </a:ext>
            </a:extLst>
          </p:cNvPr>
          <p:cNvSpPr>
            <a:spLocks noGrp="1"/>
          </p:cNvSpPr>
          <p:nvPr/>
        </p:nvSpPr>
        <p:spPr>
          <a:xfrm>
            <a:off x="609600"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B834D500-3518-41DE-B4F5-8EE1598E98B0}"/>
              </a:ext>
            </a:extLst>
          </p:cNvPr>
          <p:cNvSpPr>
            <a:spLocks noGrp="1"/>
          </p:cNvSpPr>
          <p:nvPr/>
        </p:nvSpPr>
        <p:spPr>
          <a:xfrm>
            <a:off x="790575"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piena</a:t>
            </a:r>
          </a:p>
        </p:txBody>
      </p:sp>
      <p:sp>
        <p:nvSpPr>
          <p:cNvPr id="7" name="Rectangle 6">
            <a:extLst>
              <a:ext uri="{FF2B5EF4-FFF2-40B4-BE49-F238E27FC236}">
                <a16:creationId xmlns:a16="http://schemas.microsoft.com/office/drawing/2014/main" id="{74408B65-40AE-4F22-ACE4-857881372EB6}"/>
              </a:ext>
            </a:extLst>
          </p:cNvPr>
          <p:cNvSpPr>
            <a:spLocks noGrp="1"/>
          </p:cNvSpPr>
          <p:nvPr/>
        </p:nvSpPr>
        <p:spPr>
          <a:xfrm>
            <a:off x="790575"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Rotazioni controllate</a:t>
            </a:r>
          </a:p>
          <a:p>
            <a:pPr>
              <a:defRPr sz="1875" b="0">
                <a:solidFill>
                  <a:srgbClr val="203344"/>
                </a:solidFill>
                <a:latin typeface="Arial"/>
                <a:ea typeface="Arial"/>
                <a:cs typeface="Arial"/>
              </a:defRPr>
            </a:pPr>
            <a:r>
              <a:rPr sz="1875" b="0">
                <a:solidFill>
                  <a:srgbClr val="203344"/>
                </a:solidFill>
                <a:latin typeface="Arial"/>
                <a:ea typeface="Arial"/>
                <a:cs typeface="Arial"/>
              </a:rPr>
              <a:t>di grande e piccolo angolo</a:t>
            </a:r>
          </a:p>
        </p:txBody>
      </p:sp>
      <p:sp>
        <p:nvSpPr>
          <p:cNvPr id="8" name="Arrow: Right 7">
            <a:extLst>
              <a:ext uri="{FF2B5EF4-FFF2-40B4-BE49-F238E27FC236}">
                <a16:creationId xmlns:a16="http://schemas.microsoft.com/office/drawing/2014/main" id="{84308519-41A0-4A6A-981E-EE7016A5A95F}"/>
              </a:ext>
            </a:extLst>
          </p:cNvPr>
          <p:cNvSpPr>
            <a:spLocks noGrp="1"/>
          </p:cNvSpPr>
          <p:nvPr/>
        </p:nvSpPr>
        <p:spPr>
          <a:xfrm>
            <a:off x="5819775" y="2133600"/>
            <a:ext cx="542925" cy="295275"/>
          </a:xfrm>
          <a:prstGeom prst="rightArrow">
            <a:avLst/>
          </a:prstGeom>
          <a:solidFill>
            <a:srgbClr val="647487"/>
          </a:solidFill>
          <a:ln w="0">
            <a:noFill/>
          </a:ln>
        </p:spPr>
        <p:txBody>
          <a:bodyPr/>
          <a:lstStyle/>
          <a:p>
            <a:endParaRPr lang="en-GB"/>
          </a:p>
        </p:txBody>
      </p:sp>
      <p:sp>
        <p:nvSpPr>
          <p:cNvPr id="9" name="Rectangle: Rounded Corners 8">
            <a:extLst>
              <a:ext uri="{FF2B5EF4-FFF2-40B4-BE49-F238E27FC236}">
                <a16:creationId xmlns:a16="http://schemas.microsoft.com/office/drawing/2014/main" id="{9D33D295-FC5A-4B11-9247-935CD5405A3E}"/>
              </a:ext>
            </a:extLst>
          </p:cNvPr>
          <p:cNvSpPr>
            <a:spLocks noGrp="1"/>
          </p:cNvSpPr>
          <p:nvPr/>
        </p:nvSpPr>
        <p:spPr>
          <a:xfrm>
            <a:off x="6524625" y="1514475"/>
            <a:ext cx="5057775" cy="1685925"/>
          </a:xfrm>
          <a:prstGeom prst="roundRect">
            <a:avLst>
              <a:gd name="adj" fmla="val 5650"/>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358AB232-6DB1-4560-BDA1-394CCD1D4E69}"/>
              </a:ext>
            </a:extLst>
          </p:cNvPr>
          <p:cNvSpPr>
            <a:spLocks noGrp="1"/>
          </p:cNvSpPr>
          <p:nvPr/>
        </p:nvSpPr>
        <p:spPr>
          <a:xfrm>
            <a:off x="6705600" y="1704975"/>
            <a:ext cx="46958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QFT approssimata</a:t>
            </a:r>
          </a:p>
        </p:txBody>
      </p:sp>
      <p:sp>
        <p:nvSpPr>
          <p:cNvPr id="11" name="Rectangle 10">
            <a:extLst>
              <a:ext uri="{FF2B5EF4-FFF2-40B4-BE49-F238E27FC236}">
                <a16:creationId xmlns:a16="http://schemas.microsoft.com/office/drawing/2014/main" id="{5EDBD92D-BC16-4B3C-BB50-513E87A5286A}"/>
              </a:ext>
            </a:extLst>
          </p:cNvPr>
          <p:cNvSpPr>
            <a:spLocks noGrp="1"/>
          </p:cNvSpPr>
          <p:nvPr/>
        </p:nvSpPr>
        <p:spPr>
          <a:xfrm>
            <a:off x="6705600" y="2314575"/>
            <a:ext cx="4695825" cy="7905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Omette le rotazioni</a:t>
            </a:r>
          </a:p>
          <a:p>
            <a:pPr>
              <a:defRPr sz="1875" b="0">
                <a:solidFill>
                  <a:srgbClr val="203344"/>
                </a:solidFill>
                <a:latin typeface="Arial"/>
                <a:ea typeface="Arial"/>
                <a:cs typeface="Arial"/>
              </a:defRPr>
            </a:pPr>
            <a:r>
              <a:rPr sz="1875" b="0">
                <a:solidFill>
                  <a:srgbClr val="203344"/>
                </a:solidFill>
                <a:latin typeface="Arial"/>
                <a:ea typeface="Arial"/>
                <a:cs typeface="Arial"/>
              </a:rPr>
              <a:t>di piccolo angolo</a:t>
            </a:r>
          </a:p>
        </p:txBody>
      </p:sp>
      <p:sp>
        <p:nvSpPr>
          <p:cNvPr id="12" name="Rectangle 11">
            <a:extLst>
              <a:ext uri="{FF2B5EF4-FFF2-40B4-BE49-F238E27FC236}">
                <a16:creationId xmlns:a16="http://schemas.microsoft.com/office/drawing/2014/main" id="{31792E19-B2BF-4423-8A89-6DA7F3B162F7}"/>
              </a:ext>
            </a:extLst>
          </p:cNvPr>
          <p:cNvSpPr>
            <a:spLocks noGrp="1"/>
          </p:cNvSpPr>
          <p:nvPr/>
        </p:nvSpPr>
        <p:spPr>
          <a:xfrm>
            <a:off x="609600" y="3533775"/>
            <a:ext cx="10972800" cy="523875"/>
          </a:xfrm>
          <a:prstGeom prst="rect">
            <a:avLst/>
          </a:prstGeom>
          <a:noFill/>
          <a:ln w="0">
            <a:noFill/>
          </a:ln>
        </p:spPr>
        <p:txBody>
          <a:bodyPr>
            <a:noAutofit/>
          </a:bodyPr>
          <a:lstStyle/>
          <a:p>
            <a:pPr>
              <a:defRPr sz="2325" b="1">
                <a:solidFill>
                  <a:srgbClr val="175F99"/>
                </a:solidFill>
                <a:latin typeface="Arial"/>
                <a:ea typeface="Arial"/>
                <a:cs typeface="Arial"/>
              </a:defRPr>
            </a:pPr>
            <a:r>
              <a:rPr sz="2325" b="1">
                <a:solidFill>
                  <a:srgbClr val="175F99"/>
                </a:solidFill>
                <a:latin typeface="Arial"/>
                <a:ea typeface="Arial"/>
                <a:cs typeface="Arial"/>
              </a:rPr>
              <a:t>Meno porte e profondità, al prezzo della precisione di fase</a:t>
            </a:r>
            <a:endParaRPr sz="1350">
              <a:solidFill>
                <a:srgbClr val="647487"/>
              </a:solidFill>
              <a:latin typeface="Arial"/>
              <a:ea typeface="Arial"/>
              <a:cs typeface="Arial"/>
            </a:endParaRPr>
          </a:p>
        </p:txBody>
      </p:sp>
      <p:sp>
        <p:nvSpPr>
          <p:cNvPr id="13" name="Rectangle: Rounded Corners 12">
            <a:extLst>
              <a:ext uri="{FF2B5EF4-FFF2-40B4-BE49-F238E27FC236}">
                <a16:creationId xmlns:a16="http://schemas.microsoft.com/office/drawing/2014/main" id="{7001608B-8A7B-493F-BC3F-E70EFEB6F72E}"/>
              </a:ext>
            </a:extLst>
          </p:cNvPr>
          <p:cNvSpPr>
            <a:spLocks noGrp="1"/>
          </p:cNvSpPr>
          <p:nvPr/>
        </p:nvSpPr>
        <p:spPr>
          <a:xfrm>
            <a:off x="6096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4" name="Rectangle 13">
            <a:extLst>
              <a:ext uri="{FF2B5EF4-FFF2-40B4-BE49-F238E27FC236}">
                <a16:creationId xmlns:a16="http://schemas.microsoft.com/office/drawing/2014/main" id="{DDC6FBF2-BD39-44EA-A940-B35847E78555}"/>
              </a:ext>
            </a:extLst>
          </p:cNvPr>
          <p:cNvSpPr>
            <a:spLocks noGrp="1"/>
          </p:cNvSpPr>
          <p:nvPr/>
        </p:nvSpPr>
        <p:spPr>
          <a:xfrm>
            <a:off x="7905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a:t>
            </a:r>
          </a:p>
        </p:txBody>
      </p:sp>
      <p:sp>
        <p:nvSpPr>
          <p:cNvPr id="15" name="Rectangle 14">
            <a:extLst>
              <a:ext uri="{FF2B5EF4-FFF2-40B4-BE49-F238E27FC236}">
                <a16:creationId xmlns:a16="http://schemas.microsoft.com/office/drawing/2014/main" id="{1B6CEE40-E2B0-4908-8DA0-2A430C69B8D4}"/>
              </a:ext>
            </a:extLst>
          </p:cNvPr>
          <p:cNvSpPr>
            <a:spLocks noGrp="1"/>
          </p:cNvSpPr>
          <p:nvPr/>
        </p:nvSpPr>
        <p:spPr>
          <a:xfrm>
            <a:off x="7905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inversa finale</a:t>
            </a:r>
          </a:p>
          <a:p>
            <a:pPr>
              <a:defRPr sz="1875" b="0">
                <a:solidFill>
                  <a:srgbClr val="203344"/>
                </a:solidFill>
                <a:latin typeface="Arial"/>
                <a:ea typeface="Arial"/>
                <a:cs typeface="Arial"/>
              </a:defRPr>
            </a:pPr>
            <a:r>
              <a:rPr sz="1875" b="0">
                <a:solidFill>
                  <a:srgbClr val="203344"/>
                </a:solidFill>
                <a:latin typeface="Arial"/>
                <a:ea typeface="Arial"/>
                <a:cs typeface="Arial"/>
              </a:rPr>
              <a:t>8192 shot nel pilota</a:t>
            </a:r>
          </a:p>
        </p:txBody>
      </p:sp>
      <p:sp>
        <p:nvSpPr>
          <p:cNvPr id="16" name="Rectangle: Rounded Corners 15">
            <a:extLst>
              <a:ext uri="{FF2B5EF4-FFF2-40B4-BE49-F238E27FC236}">
                <a16:creationId xmlns:a16="http://schemas.microsoft.com/office/drawing/2014/main" id="{ADBF0FCF-4420-4916-A2EB-08E9DA30D679}"/>
              </a:ext>
            </a:extLst>
          </p:cNvPr>
          <p:cNvSpPr>
            <a:spLocks noGrp="1"/>
          </p:cNvSpPr>
          <p:nvPr/>
        </p:nvSpPr>
        <p:spPr>
          <a:xfrm>
            <a:off x="4381500" y="4295775"/>
            <a:ext cx="3381375" cy="1495425"/>
          </a:xfrm>
          <a:prstGeom prst="roundRect">
            <a:avLst>
              <a:gd name="adj" fmla="val 6369"/>
            </a:avLst>
          </a:prstGeom>
          <a:solidFill>
            <a:srgbClr val="EEF4F8"/>
          </a:solidFill>
          <a:ln w="14288">
            <a:solidFill>
              <a:srgbClr val="5084BF"/>
            </a:solidFill>
          </a:ln>
        </p:spPr>
        <p:txBody>
          <a:bodyPr/>
          <a:lstStyle/>
          <a:p>
            <a:endParaRPr lang="en-GB"/>
          </a:p>
        </p:txBody>
      </p:sp>
      <p:sp>
        <p:nvSpPr>
          <p:cNvPr id="17" name="Rectangle 16">
            <a:extLst>
              <a:ext uri="{FF2B5EF4-FFF2-40B4-BE49-F238E27FC236}">
                <a16:creationId xmlns:a16="http://schemas.microsoft.com/office/drawing/2014/main" id="{BEBE5384-2BEF-4D2D-A3D4-07F219471525}"/>
              </a:ext>
            </a:extLst>
          </p:cNvPr>
          <p:cNvSpPr>
            <a:spLocks noGrp="1"/>
          </p:cNvSpPr>
          <p:nvPr/>
        </p:nvSpPr>
        <p:spPr>
          <a:xfrm>
            <a:off x="4562475" y="4486275"/>
            <a:ext cx="3019425"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a:t>
            </a:r>
          </a:p>
        </p:txBody>
      </p:sp>
      <p:sp>
        <p:nvSpPr>
          <p:cNvPr id="18" name="Rectangle 17">
            <a:extLst>
              <a:ext uri="{FF2B5EF4-FFF2-40B4-BE49-F238E27FC236}">
                <a16:creationId xmlns:a16="http://schemas.microsoft.com/office/drawing/2014/main" id="{7727BE4E-8867-473A-B1DF-4C7341493322}"/>
              </a:ext>
            </a:extLst>
          </p:cNvPr>
          <p:cNvSpPr>
            <a:spLocks noGrp="1"/>
          </p:cNvSpPr>
          <p:nvPr/>
        </p:nvSpPr>
        <p:spPr>
          <a:xfrm>
            <a:off x="4562475" y="5095875"/>
            <a:ext cx="3019425"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QFT modulari</a:t>
            </a:r>
          </a:p>
          <a:p>
            <a:pPr>
              <a:defRPr sz="1875" b="0">
                <a:solidFill>
                  <a:srgbClr val="203344"/>
                </a:solidFill>
                <a:latin typeface="Arial"/>
                <a:ea typeface="Arial"/>
                <a:cs typeface="Arial"/>
              </a:defRPr>
            </a:pPr>
            <a:r>
              <a:rPr sz="1875" b="0">
                <a:solidFill>
                  <a:srgbClr val="203344"/>
                </a:solidFill>
                <a:latin typeface="Arial"/>
                <a:ea typeface="Arial"/>
                <a:cs typeface="Arial"/>
              </a:rPr>
              <a:t>256 shot</a:t>
            </a:r>
          </a:p>
        </p:txBody>
      </p:sp>
      <p:sp>
        <p:nvSpPr>
          <p:cNvPr id="19" name="Rectangle: Rounded Corners 18">
            <a:extLst>
              <a:ext uri="{FF2B5EF4-FFF2-40B4-BE49-F238E27FC236}">
                <a16:creationId xmlns:a16="http://schemas.microsoft.com/office/drawing/2014/main" id="{A00B0748-E621-4578-9075-26C6BC471272}"/>
              </a:ext>
            </a:extLst>
          </p:cNvPr>
          <p:cNvSpPr>
            <a:spLocks noGrp="1"/>
          </p:cNvSpPr>
          <p:nvPr/>
        </p:nvSpPr>
        <p:spPr>
          <a:xfrm>
            <a:off x="8153400" y="4295775"/>
            <a:ext cx="3429000" cy="1495425"/>
          </a:xfrm>
          <a:prstGeom prst="roundRect">
            <a:avLst>
              <a:gd name="adj" fmla="val 6369"/>
            </a:avLst>
          </a:prstGeom>
          <a:solidFill>
            <a:srgbClr val="EEF4F8"/>
          </a:solidFill>
          <a:ln w="14288">
            <a:solidFill>
              <a:srgbClr val="5084BF"/>
            </a:solidFill>
          </a:ln>
        </p:spPr>
        <p:txBody>
          <a:bodyPr/>
          <a:lstStyle/>
          <a:p>
            <a:endParaRPr lang="en-GB"/>
          </a:p>
        </p:txBody>
      </p:sp>
      <p:sp>
        <p:nvSpPr>
          <p:cNvPr id="20" name="Rectangle 19">
            <a:extLst>
              <a:ext uri="{FF2B5EF4-FFF2-40B4-BE49-F238E27FC236}">
                <a16:creationId xmlns:a16="http://schemas.microsoft.com/office/drawing/2014/main" id="{AD1A1833-4FB8-4B74-884C-2959D523D0FB}"/>
              </a:ext>
            </a:extLst>
          </p:cNvPr>
          <p:cNvSpPr>
            <a:spLocks noGrp="1"/>
          </p:cNvSpPr>
          <p:nvPr/>
        </p:nvSpPr>
        <p:spPr>
          <a:xfrm>
            <a:off x="8334375" y="4486275"/>
            <a:ext cx="306705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QPE isolata</a:t>
            </a:r>
          </a:p>
        </p:txBody>
      </p:sp>
      <p:sp>
        <p:nvSpPr>
          <p:cNvPr id="21" name="Rectangle 20">
            <a:extLst>
              <a:ext uri="{FF2B5EF4-FFF2-40B4-BE49-F238E27FC236}">
                <a16:creationId xmlns:a16="http://schemas.microsoft.com/office/drawing/2014/main" id="{74F1DE24-0151-4DC6-903A-42D747CA328F}"/>
              </a:ext>
            </a:extLst>
          </p:cNvPr>
          <p:cNvSpPr>
            <a:spLocks noGrp="1"/>
          </p:cNvSpPr>
          <p:nvPr/>
        </p:nvSpPr>
        <p:spPr>
          <a:xfrm>
            <a:off x="8334375" y="5095875"/>
            <a:ext cx="3067050" cy="60007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Registri da 6 a 10 qubit</a:t>
            </a:r>
          </a:p>
          <a:p>
            <a:pPr>
              <a:defRPr sz="1875" b="0">
                <a:solidFill>
                  <a:srgbClr val="203344"/>
                </a:solidFill>
                <a:latin typeface="Arial"/>
                <a:ea typeface="Arial"/>
                <a:cs typeface="Arial"/>
              </a:defRPr>
            </a:pPr>
            <a:r>
              <a:rPr sz="1875" b="0">
                <a:solidFill>
                  <a:srgbClr val="203344"/>
                </a:solidFill>
                <a:latin typeface="Arial"/>
                <a:ea typeface="Arial"/>
                <a:cs typeface="Arial"/>
              </a:rPr>
              <a:t>Benchmark separati</a:t>
            </a:r>
          </a:p>
        </p:txBody>
      </p:sp>
      <p:sp>
        <p:nvSpPr>
          <p:cNvPr id="22" name="Rectangle 21">
            <a:extLst>
              <a:ext uri="{FF2B5EF4-FFF2-40B4-BE49-F238E27FC236}">
                <a16:creationId xmlns:a16="http://schemas.microsoft.com/office/drawing/2014/main" id="{02F8A054-845E-4F54-B8DC-298127502D1B}"/>
              </a:ext>
            </a:extLst>
          </p:cNvPr>
          <p:cNvSpPr>
            <a:spLocks noGrp="1"/>
          </p:cNvSpPr>
          <p:nvPr/>
        </p:nvSpPr>
        <p:spPr>
          <a:xfrm>
            <a:off x="609600" y="6200775"/>
            <a:ext cx="10972800" cy="419100"/>
          </a:xfrm>
          <a:prstGeom prst="rect">
            <a:avLst/>
          </a:prstGeom>
          <a:noFill/>
          <a:ln w="0">
            <a:noFill/>
          </a:ln>
        </p:spPr>
        <p:txBody>
          <a:bodyPr>
            <a:noAutofit/>
          </a:bodyPr>
          <a:lstStyle/>
          <a:p>
            <a:pPr>
              <a:defRPr sz="1500" b="0">
                <a:solidFill>
                  <a:srgbClr val="647487"/>
                </a:solidFill>
                <a:latin typeface="Arial"/>
                <a:ea typeface="Arial"/>
                <a:cs typeface="Arial"/>
              </a:defRPr>
            </a:pPr>
            <a:r>
              <a:rPr sz="1500" b="0">
                <a:solidFill>
                  <a:srgbClr val="647487"/>
                </a:solidFill>
                <a:latin typeface="Arial"/>
                <a:ea typeface="Arial"/>
                <a:cs typeface="Arial"/>
              </a:rPr>
              <a:t>Rumore da FakeSherbrooke, calibrazione offline di una QPU IBM, senza T1/T2 (rilassamento e decoerenza) aggiuntivi. Grado (quante rotazioni omettere) scelto in selection e verificato su dati indipendenti.</a:t>
            </a: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4241800"/>
            <a:ext cx="3305175"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p_g: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8280400" y="3048000"/>
            <a:ext cx="33020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8280400" y="3429000"/>
            <a:ext cx="33020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
        <p:nvSpPr>
          <p:cNvPr id="9" name="Oval 8">
            <a:extLst>
              <a:ext uri="{FF2B5EF4-FFF2-40B4-BE49-F238E27FC236}">
                <a16:creationId xmlns:a16="http://schemas.microsoft.com/office/drawing/2014/main" id="{A1B82161-F858-AE78-DC52-44EC260987AA}"/>
              </a:ext>
            </a:extLst>
          </p:cNvPr>
          <p:cNvSpPr/>
          <p:nvPr/>
        </p:nvSpPr>
        <p:spPr>
          <a:xfrm>
            <a:off x="4711700" y="26797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271D8A1-F398-3B4E-FF48-8CFDC3F5502F}"/>
              </a:ext>
            </a:extLst>
          </p:cNvPr>
          <p:cNvSpPr txBox="1"/>
          <p:nvPr/>
        </p:nvSpPr>
        <p:spPr>
          <a:xfrm>
            <a:off x="711200" y="5511800"/>
            <a:ext cx="7112000" cy="507831"/>
          </a:xfrm>
          <a:prstGeom prst="rect">
            <a:avLst/>
          </a:prstGeom>
          <a:noFill/>
        </p:spPr>
        <p:txBody>
          <a:bodyPr vert="horz" wrap="square" rtlCol="0">
            <a:sp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da sinistra a destra cresce l'errore per porta. La curva parte dal 75% e scende fino alla linea tratteggiata, il livello del caso (24,6%).</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175F99"/>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Iterazioni medie con TOP-4</a:t>
            </a:r>
          </a:p>
          <a:p>
            <a:pPr>
              <a:defRPr sz="2025" b="0">
                <a:solidFill>
                  <a:srgbClr val="203344"/>
                </a:solidFill>
                <a:latin typeface="Arial"/>
                <a:ea typeface="Arial"/>
                <a:cs typeface="Arial"/>
              </a:defRPr>
            </a:pPr>
            <a:r>
              <a:rPr sz="2025" b="0">
                <a:solidFill>
                  <a:srgbClr val="203344"/>
                </a:solidFill>
                <a:latin typeface="Arial"/>
                <a:ea typeface="Arial"/>
                <a:cs typeface="Arial"/>
              </a:rPr>
              <a:t>nei due scenari, 30/30 repliche</a:t>
            </a: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sz="2175" b="0">
                <a:solidFill>
                  <a:srgbClr val="203344"/>
                </a:solidFill>
                <a:latin typeface="Arial"/>
                <a:ea typeface="Arial"/>
                <a:cs typeface="Arial"/>
              </a:rPr>
              <a:t>TOP-1: 1,37 / 1,50</a:t>
            </a:r>
          </a:p>
          <a:p>
            <a:pPr>
              <a:defRPr sz="2175" b="0">
                <a:solidFill>
                  <a:srgbClr val="203344"/>
                </a:solidFill>
                <a:latin typeface="Arial"/>
                <a:ea typeface="Arial"/>
                <a:cs typeface="Arial"/>
              </a:defRPr>
            </a:pPr>
            <a:r>
              <a:rPr sz="2175" b="0">
                <a:solidFill>
                  <a:srgbClr val="203344"/>
                </a:solidFill>
                <a:latin typeface="Arial"/>
                <a:ea typeface="Arial"/>
                <a:cs typeface="Arial"/>
              </a:rPr>
              <a:t>M2: 1,50 / 1,37</a:t>
            </a:r>
          </a:p>
        </p:txBody>
      </p:sp>
      <p:sp>
        <p:nvSpPr>
          <p:cNvPr id="9" name="Rectangle 8">
            <a:extLst>
              <a:ext uri="{FF2B5EF4-FFF2-40B4-BE49-F238E27FC236}">
                <a16:creationId xmlns:a16="http://schemas.microsoft.com/office/drawing/2014/main" id="{07CA9E98-8402-43B7-97FD-2F8054CAC72C}"/>
              </a:ext>
            </a:extLst>
          </p:cNvPr>
          <p:cNvSpPr>
            <a:spLocks noGrp="1"/>
          </p:cNvSpPr>
          <p:nvPr/>
        </p:nvSpPr>
        <p:spPr>
          <a:xfrm>
            <a:off x="609600" y="5676900"/>
            <a:ext cx="10972800" cy="44767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SVM: F1 0,919 / 0,923; AUC 0,965 / 0,958. Capacità predittiva senza beneficio operativo.</a:t>
            </a: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M2: nessun vantaggio significativo su TOP-1. Prestazioni peggiori di TOP-4.</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0D01B0D8-9DFE-4AEC-8A9E-A39E4B265150}"/>
              </a:ext>
            </a:extLst>
          </p:cNvPr>
          <p:cNvSpPr>
            <a:spLocks noGrp="1"/>
          </p:cNvSpPr>
          <p:nvPr/>
        </p:nvSpPr>
        <p:spPr>
          <a:xfrm>
            <a:off x="8743950" y="4010025"/>
            <a:ext cx="2838450" cy="12382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Surface code</a:t>
            </a:r>
          </a:p>
          <a:p>
            <a:pPr>
              <a:defRPr sz="2025" b="0">
                <a:solidFill>
                  <a:srgbClr val="203344"/>
                </a:solidFill>
                <a:latin typeface="Arial"/>
                <a:ea typeface="Arial"/>
                <a:cs typeface="Arial"/>
              </a:defRPr>
            </a:pPr>
            <a:r>
              <a:rPr sz="2025" b="0">
                <a:solidFill>
                  <a:srgbClr val="203344"/>
                </a:solidFill>
                <a:latin typeface="Arial"/>
                <a:ea typeface="Arial"/>
                <a:cs typeface="Arial"/>
              </a:rPr>
              <a:t>MWPM</a:t>
            </a:r>
          </a:p>
          <a:p>
            <a:pPr>
              <a:defRPr sz="2025" b="0">
                <a:solidFill>
                  <a:srgbClr val="203344"/>
                </a:solidFill>
                <a:latin typeface="Arial"/>
                <a:ea typeface="Arial"/>
                <a:cs typeface="Arial"/>
              </a:defRPr>
            </a:pPr>
            <a:r>
              <a:rPr sz="2025" b="0">
                <a:solidFill>
                  <a:srgbClr val="203344"/>
                </a:solidFill>
                <a:latin typeface="Arial"/>
                <a:ea typeface="Arial"/>
                <a:cs typeface="Arial"/>
              </a:rPr>
              <a:t>Rumore circuit-level</a:t>
            </a:r>
          </a:p>
        </p:txBody>
      </p:sp>
      <p:sp>
        <p:nvSpPr>
          <p:cNvPr id="9" name="Rectangle 8">
            <a:extLst>
              <a:ext uri="{FF2B5EF4-FFF2-40B4-BE49-F238E27FC236}">
                <a16:creationId xmlns:a16="http://schemas.microsoft.com/office/drawing/2014/main" id="{2658335A-8795-4816-9E39-083D9B0282FB}"/>
              </a:ext>
            </a:extLst>
          </p:cNvPr>
          <p:cNvSpPr>
            <a:spLocks noGrp="1"/>
          </p:cNvSpPr>
          <p:nvPr/>
        </p:nvSpPr>
        <p:spPr>
          <a:xfrm>
            <a:off x="609600" y="5410200"/>
            <a:ext cx="10972800" cy="6572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Ripetizione: p_L = 3p² − 2p³, con p errore fisico</a:t>
            </a:r>
          </a:p>
          <a:p>
            <a:pPr>
              <a:defRPr sz="1950" b="0">
                <a:solidFill>
                  <a:srgbClr val="203344"/>
                </a:solidFill>
                <a:latin typeface="Arial"/>
                <a:ea typeface="Arial"/>
                <a:cs typeface="Arial"/>
              </a:defRPr>
            </a:pPr>
            <a:r>
              <a:rPr sz="1950" b="0">
                <a:solidFill>
                  <a:srgbClr val="203344"/>
                </a:solidFill>
                <a:latin typeface="Arial"/>
                <a:ea typeface="Arial"/>
                <a:cs typeface="Arial"/>
              </a:rPr>
              <a:t>Steane: pendenza 1,94 e pseudo-soglia ≈ 0,08</a:t>
            </a: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Sotto soglia più distanza riduce p_L. Sopra soglia l’ordine si inverte.</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9" name="Rectangle 8">
            <a:extLst>
              <a:ext uri="{FF2B5EF4-FFF2-40B4-BE49-F238E27FC236}">
                <a16:creationId xmlns:a16="http://schemas.microsoft.com/office/drawing/2014/main" id="{EC44B8B0-E77A-4E91-A8A5-592AE207918F}"/>
              </a:ext>
            </a:extLst>
          </p:cNvPr>
          <p:cNvSpPr>
            <a:spLocks noGrp="1"/>
          </p:cNvSpPr>
          <p:nvPr/>
        </p:nvSpPr>
        <p:spPr>
          <a:xfrm>
            <a:off x="609600" y="5695950"/>
            <a:ext cx="10972800" cy="419100"/>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La rete autonoma non supera MWPM con rumore nominale. Beneficio ridotto a d = 5, non significativo a d = 7.</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Il ML aiuta come correttore residuale. A d = 5, BP+OSD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1270000" cy="381000"/>
          </a:xfrm>
          <a:prstGeom prst="rect">
            <a:avLst/>
          </a:prstGeom>
          <a:noFill/>
        </p:spPr>
        <p:txBody>
          <a:bodyPr vert="horz" wrap="square" rtlCol="0">
            <a:noAutofit/>
          </a:bodyPr>
          <a:lstStyle/>
          <a:p>
            <a:r>
              <a:rPr lang="en-GB" sz="1950" b="1">
                <a:solidFill>
                  <a:srgbClr val="175F99"/>
                </a:solidFill>
                <a:latin typeface="Arial" panose="020B0604020202020204" pitchFamily="34" charset="0"/>
              </a:rPr>
              <a:t>144</a:t>
            </a: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175F99"/>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B925C649-2754-4787-9340-CF13E6F34FBC}"/>
              </a:ext>
            </a:extLst>
          </p:cNvPr>
          <p:cNvSpPr>
            <a:spLocks noGrp="1"/>
          </p:cNvSpPr>
          <p:nvPr/>
        </p:nvSpPr>
        <p:spPr>
          <a:xfrm>
            <a:off x="609600" y="5772150"/>
            <a:ext cx="10972800" cy="390525"/>
          </a:xfrm>
          <a:prstGeom prst="rect">
            <a:avLst/>
          </a:prstGeom>
          <a:noFill/>
          <a:ln w="0">
            <a:noFill/>
          </a:ln>
        </p:spPr>
        <p:txBody>
          <a:bodyPr>
            <a:noAutofit/>
          </a:bodyPr>
          <a:lstStyle/>
          <a:p>
            <a:pPr>
              <a:defRPr sz="1650" b="0">
                <a:solidFill>
                  <a:srgbClr val="647487"/>
                </a:solidFill>
                <a:latin typeface="Arial"/>
                <a:ea typeface="Arial"/>
                <a:cs typeface="Arial"/>
              </a:defRPr>
            </a:pPr>
            <a:r>
              <a:rPr sz="1650" b="0">
                <a:solidFill>
                  <a:srgbClr val="647487"/>
                </a:solidFill>
                <a:latin typeface="Arial"/>
                <a:ea typeface="Arial"/>
                <a:cs typeface="Arial"/>
              </a:rPr>
              <a:t>IC Newcombe 95%: [12,73; 16,99] punti (IC: intervallo di confidenza). ECR: porta a due qubit.</a:t>
            </a:r>
          </a:p>
        </p:txBody>
      </p:sp>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sz="2025" b="1">
                <a:solidFill>
                  <a:srgbClr val="175F99"/>
                </a:solidFill>
                <a:latin typeface="Arial"/>
                <a:ea typeface="Arial"/>
                <a:cs typeface="Arial"/>
              </a:rPr>
              <a:t>−22,9% porte ECR e −15,5% profondità. Istanza favorevole: r = 4.</a:t>
            </a: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3788</Words>
  <Application>Microsoft Office PowerPoint</Application>
  <DocSecurity>0</DocSecurity>
  <PresentationFormat>Widescreen</PresentationFormat>
  <Paragraphs>371</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27</cp:revision>
  <dcterms:created xsi:type="dcterms:W3CDTF">2026-10-04T20:49:31Z</dcterms:created>
  <dcterms:modified xsi:type="dcterms:W3CDTF">2026-10-05T15:56:13Z</dcterms:modified>
</cp:coreProperties>
</file>