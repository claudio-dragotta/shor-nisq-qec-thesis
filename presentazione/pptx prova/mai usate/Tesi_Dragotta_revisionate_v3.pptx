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3a4491a8440b5" /><Relationship Type="http://schemas.openxmlformats.org/officeDocument/2006/relationships/extended-properties" Target="/docProps/app.xml" Id="Rda8ca920a30e4ade" /><Relationship Type="http://schemas.openxmlformats.org/officeDocument/2006/relationships/officeDocument" Target="/ppt/presentation.xml" Id="R5dc1a1176c4b4c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6d1eba91245fa"/>
  </p:sldMasterIdLst>
  <p:notesMasterIdLst>
    <p:notesMasterId xmlns:r="http://schemas.openxmlformats.org/officeDocument/2006/relationships" r:id="Rae1e93b8963548b0"/>
  </p:notesMasterIdLst>
  <p:sldIdLst>
    <p:sldId xmlns:r="http://schemas.openxmlformats.org/officeDocument/2006/relationships" id="256" r:id="Rd6b3ee7c38724135"/>
    <p:sldId xmlns:r="http://schemas.openxmlformats.org/officeDocument/2006/relationships" id="257" r:id="R1e1972ae913149d7"/>
    <p:sldId xmlns:r="http://schemas.openxmlformats.org/officeDocument/2006/relationships" id="258" r:id="R8a9cc016dd364a79"/>
    <p:sldId xmlns:r="http://schemas.openxmlformats.org/officeDocument/2006/relationships" id="259" r:id="R0cacafce3183461c"/>
    <p:sldId xmlns:r="http://schemas.openxmlformats.org/officeDocument/2006/relationships" id="260" r:id="Re4f5dc86467c4a8c"/>
    <p:sldId xmlns:r="http://schemas.openxmlformats.org/officeDocument/2006/relationships" id="261" r:id="R304d581d39a84eb8"/>
    <p:sldId xmlns:r="http://schemas.openxmlformats.org/officeDocument/2006/relationships" id="262" r:id="Rbcba9ea7dd8a436d"/>
    <p:sldId xmlns:r="http://schemas.openxmlformats.org/officeDocument/2006/relationships" id="263" r:id="Re74b24c0ad3344c0"/>
    <p:sldId xmlns:r="http://schemas.openxmlformats.org/officeDocument/2006/relationships" id="264" r:id="Ra2b5236aba7043b9"/>
    <p:sldId xmlns:r="http://schemas.openxmlformats.org/officeDocument/2006/relationships" id="265" r:id="Rb7b59b29881b4da8"/>
    <p:sldId xmlns:r="http://schemas.openxmlformats.org/officeDocument/2006/relationships" id="266" r:id="R1a57e9cc92144f2e"/>
    <p:sldId xmlns:r="http://schemas.openxmlformats.org/officeDocument/2006/relationships" id="267" r:id="R301225be6cd64094"/>
    <p:sldId xmlns:r="http://schemas.openxmlformats.org/officeDocument/2006/relationships" id="268" r:id="R3a417c7fe1074223"/>
    <p:sldId xmlns:r="http://schemas.openxmlformats.org/officeDocument/2006/relationships" id="269" r:id="R4876564cadc54230"/>
    <p:sldId xmlns:r="http://schemas.openxmlformats.org/officeDocument/2006/relationships" id="270" r:id="R4e8519a42ba34fc6"/>
    <p:sldId xmlns:r="http://schemas.openxmlformats.org/officeDocument/2006/relationships" id="271" r:id="Rf6c5d555945a434c"/>
    <p:sldId xmlns:r="http://schemas.openxmlformats.org/officeDocument/2006/relationships" id="272" r:id="R4c8a383b46914317"/>
    <p:sldId xmlns:r="http://schemas.openxmlformats.org/officeDocument/2006/relationships" id="273" r:id="Rec7b82efa1314db7"/>
    <p:sldId xmlns:r="http://schemas.openxmlformats.org/officeDocument/2006/relationships" id="274" r:id="R69efbe58fd094835"/>
    <p:sldId xmlns:r="http://schemas.openxmlformats.org/officeDocument/2006/relationships" id="275" r:id="Re315ac05e3624bb4"/>
    <p:sldId xmlns:r="http://schemas.openxmlformats.org/officeDocument/2006/relationships" id="276" r:id="Rd2232c0ebbde4dc9"/>
    <p:sldId xmlns:r="http://schemas.openxmlformats.org/officeDocument/2006/relationships" id="277" r:id="Rd6e6c6980ea346e6"/>
    <p:sldId xmlns:r="http://schemas.openxmlformats.org/officeDocument/2006/relationships" id="278" r:id="Racc2b4688f134e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1c74ff3714d34" /><Relationship Type="http://schemas.openxmlformats.org/officeDocument/2006/relationships/slideMaster" Target="/ppt/slideMasters/slideMaster1.xml" Id="R23c6d1eba91245fa" /><Relationship Type="http://schemas.openxmlformats.org/officeDocument/2006/relationships/notesMaster" Target="/ppt/notesMasters/notesMaster1.xml" Id="Rae1e93b8963548b0" /><Relationship Type="http://schemas.openxmlformats.org/officeDocument/2006/relationships/presProps" Target="/ppt/presProps.xml" Id="R35ff53c7cc8046a4" /><Relationship Type="http://schemas.openxmlformats.org/officeDocument/2006/relationships/tableStyles" Target="/ppt/tableStyles.xml" Id="R9c44a3b013e54402" /><Relationship Type="http://schemas.openxmlformats.org/officeDocument/2006/relationships/slide" Target="/ppt/slides/slide1.xml" Id="Rd6b3ee7c38724135" /><Relationship Type="http://schemas.openxmlformats.org/officeDocument/2006/relationships/slide" Target="/ppt/slides/slide2.xml" Id="R1e1972ae913149d7" /><Relationship Type="http://schemas.openxmlformats.org/officeDocument/2006/relationships/slide" Target="/ppt/slides/slide3.xml" Id="R8a9cc016dd364a79" /><Relationship Type="http://schemas.openxmlformats.org/officeDocument/2006/relationships/slide" Target="/ppt/slides/slide4.xml" Id="R0cacafce3183461c" /><Relationship Type="http://schemas.openxmlformats.org/officeDocument/2006/relationships/slide" Target="/ppt/slides/slide5.xml" Id="Re4f5dc86467c4a8c" /><Relationship Type="http://schemas.openxmlformats.org/officeDocument/2006/relationships/slide" Target="/ppt/slides/slide6.xml" Id="R304d581d39a84eb8" /><Relationship Type="http://schemas.openxmlformats.org/officeDocument/2006/relationships/slide" Target="/ppt/slides/slide7.xml" Id="Rbcba9ea7dd8a436d" /><Relationship Type="http://schemas.openxmlformats.org/officeDocument/2006/relationships/slide" Target="/ppt/slides/slide8.xml" Id="Re74b24c0ad3344c0" /><Relationship Type="http://schemas.openxmlformats.org/officeDocument/2006/relationships/slide" Target="/ppt/slides/slide9.xml" Id="Ra2b5236aba7043b9" /><Relationship Type="http://schemas.openxmlformats.org/officeDocument/2006/relationships/slide" Target="/ppt/slides/slide10.xml" Id="Rb7b59b29881b4da8" /><Relationship Type="http://schemas.openxmlformats.org/officeDocument/2006/relationships/slide" Target="/ppt/slides/slide11.xml" Id="R1a57e9cc92144f2e" /><Relationship Type="http://schemas.openxmlformats.org/officeDocument/2006/relationships/slide" Target="/ppt/slides/slide12.xml" Id="R301225be6cd64094" /><Relationship Type="http://schemas.openxmlformats.org/officeDocument/2006/relationships/slide" Target="/ppt/slides/slide13.xml" Id="R3a417c7fe1074223" /><Relationship Type="http://schemas.openxmlformats.org/officeDocument/2006/relationships/slide" Target="/ppt/slides/slide14.xml" Id="R4876564cadc54230" /><Relationship Type="http://schemas.openxmlformats.org/officeDocument/2006/relationships/slide" Target="/ppt/slides/slide15.xml" Id="R4e8519a42ba34fc6" /><Relationship Type="http://schemas.openxmlformats.org/officeDocument/2006/relationships/slide" Target="/ppt/slides/slide16.xml" Id="Rf6c5d555945a434c" /><Relationship Type="http://schemas.openxmlformats.org/officeDocument/2006/relationships/slide" Target="/ppt/slides/slide17.xml" Id="R4c8a383b46914317" /><Relationship Type="http://schemas.openxmlformats.org/officeDocument/2006/relationships/slide" Target="/ppt/slides/slide18.xml" Id="Rec7b82efa1314db7" /><Relationship Type="http://schemas.openxmlformats.org/officeDocument/2006/relationships/slide" Target="/ppt/slides/slide19.xml" Id="R69efbe58fd094835" /><Relationship Type="http://schemas.openxmlformats.org/officeDocument/2006/relationships/slide" Target="/ppt/slides/slide20.xml" Id="Re315ac05e3624bb4" /><Relationship Type="http://schemas.openxmlformats.org/officeDocument/2006/relationships/slide" Target="/ppt/slides/slide21.xml" Id="Rd2232c0ebbde4dc9" /><Relationship Type="http://schemas.openxmlformats.org/officeDocument/2006/relationships/slide" Target="/ppt/slides/slide22.xml" Id="Rd6e6c6980ea346e6" /><Relationship Type="http://schemas.openxmlformats.org/officeDocument/2006/relationships/slide" Target="/ppt/slides/slide23.xml" Id="Racc2b4688f13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b0197ac4241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946f8674c4106" /><Relationship Type="http://schemas.openxmlformats.org/officeDocument/2006/relationships/notesMaster" Target="/ppt/notesMasters/notesMaster1.xml" Id="R24babe8a1a27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12e292fa746c5" /><Relationship Type="http://schemas.openxmlformats.org/officeDocument/2006/relationships/notesMaster" Target="/ppt/notesMasters/notesMaster1.xml" Id="R9c26d4b56e99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9629cd48b4a4d" /><Relationship Type="http://schemas.openxmlformats.org/officeDocument/2006/relationships/notesMaster" Target="/ppt/notesMasters/notesMaster1.xml" Id="R3bcabc14b1274f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d2a03953564e53" /><Relationship Type="http://schemas.openxmlformats.org/officeDocument/2006/relationships/notesMaster" Target="/ppt/notesMasters/notesMaster1.xml" Id="R91b71e7d4a704c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0d048df3147f0" /><Relationship Type="http://schemas.openxmlformats.org/officeDocument/2006/relationships/notesMaster" Target="/ppt/notesMasters/notesMaster1.xml" Id="R66111ef5fe4d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988f94f7c49c3" /><Relationship Type="http://schemas.openxmlformats.org/officeDocument/2006/relationships/notesMaster" Target="/ppt/notesMasters/notesMaster1.xml" Id="Rfa1257bf5e42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104f22657e4898" /><Relationship Type="http://schemas.openxmlformats.org/officeDocument/2006/relationships/notesMaster" Target="/ppt/notesMasters/notesMaster1.xml" Id="R8326fe32b4aa4a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6d57b738a84ab3" /><Relationship Type="http://schemas.openxmlformats.org/officeDocument/2006/relationships/notesMaster" Target="/ppt/notesMasters/notesMaster1.xml" Id="R7cb6912fbf8d48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00b294fd7c4b58" /><Relationship Type="http://schemas.openxmlformats.org/officeDocument/2006/relationships/notesMaster" Target="/ppt/notesMasters/notesMaster1.xml" Id="Rd0e64ae644bb40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5f7f44d08747f5" /><Relationship Type="http://schemas.openxmlformats.org/officeDocument/2006/relationships/notesMaster" Target="/ppt/notesMasters/notesMaster1.xml" Id="R886fb9acc22f41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d2b39f9dce4777" /><Relationship Type="http://schemas.openxmlformats.org/officeDocument/2006/relationships/notesMaster" Target="/ppt/notesMasters/notesMaster1.xml" Id="Rcb0877f6076e4b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e6c6cc71104eb3" /><Relationship Type="http://schemas.openxmlformats.org/officeDocument/2006/relationships/notesMaster" Target="/ppt/notesMasters/notesMaster1.xml" Id="Rda9b2481ab7948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c811c432b8419a" /><Relationship Type="http://schemas.openxmlformats.org/officeDocument/2006/relationships/notesMaster" Target="/ppt/notesMasters/notesMaster1.xml" Id="Re65943d838864c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640885afd04532" /><Relationship Type="http://schemas.openxmlformats.org/officeDocument/2006/relationships/notesMaster" Target="/ppt/notesMasters/notesMaster1.xml" Id="R71d4dcdae32845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42cab03c9d4a6f" /><Relationship Type="http://schemas.openxmlformats.org/officeDocument/2006/relationships/notesMaster" Target="/ppt/notesMasters/notesMaster1.xml" Id="R1240f6dee90544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9f2ce13ded4559" /><Relationship Type="http://schemas.openxmlformats.org/officeDocument/2006/relationships/notesMaster" Target="/ppt/notesMasters/notesMaster1.xml" Id="R694165aacb7143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018d2f02744d5d" /><Relationship Type="http://schemas.openxmlformats.org/officeDocument/2006/relationships/notesMaster" Target="/ppt/notesMasters/notesMaster1.xml" Id="R8998354d604745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0c772dda0b4df8" /><Relationship Type="http://schemas.openxmlformats.org/officeDocument/2006/relationships/notesMaster" Target="/ppt/notesMasters/notesMaster1.xml" Id="R7612e19119b740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0883cea2934c74" /><Relationship Type="http://schemas.openxmlformats.org/officeDocument/2006/relationships/notesMaster" Target="/ppt/notesMasters/notesMaster1.xml" Id="R1a7b75f1fa1f4d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45e8e4ef984f5f" /><Relationship Type="http://schemas.openxmlformats.org/officeDocument/2006/relationships/notesMaster" Target="/ppt/notesMasters/notesMaster1.xml" Id="Reb6ebb729cd743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6134652b904953" /><Relationship Type="http://schemas.openxmlformats.org/officeDocument/2006/relationships/notesMaster" Target="/ppt/notesMasters/notesMaster1.xml" Id="Rfb98c5dbbaa146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9bad3f851a467f" /><Relationship Type="http://schemas.openxmlformats.org/officeDocument/2006/relationships/notesMaster" Target="/ppt/notesMasters/notesMaster1.xml" Id="R685ae0ad7fec4a9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b78287305546f4" /><Relationship Type="http://schemas.openxmlformats.org/officeDocument/2006/relationships/notesMaster" Target="/ppt/notesMasters/notesMaster1.xml" Id="Rf1946b721ca4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UNIVERSITÀ CAMPUS BIO-MEDICO DI ROMA</a:t>
            </a:r>
          </a:p>
          <a:p xmlns:a="http://schemas.openxmlformats.org/drawingml/2006/main">
            <a:r>
              <a:t>FACOLTÀ DIPARTIMENTALE DI INGEGNERIA</a:t>
            </a:r>
          </a:p>
          <a:p xmlns:a="http://schemas.openxmlformats.org/drawingml/2006/main">
            <a:r>
              <a:t>CORSO DI LAUREA MAGISTRALE IN INGEGNERIA DEI SISTEMI INTELLIGENTI</a:t>
            </a:r>
          </a:p>
          <a:p xmlns:a="http://schemas.openxmlformats.org/drawingml/2006/main">
            <a:r>
              <a:t>SHOR'S ALGORITHM UNDER NOISE:</a:t>
            </a:r>
          </a:p>
          <a:p xmlns:a="http://schemas.openxmlformats.org/drawingml/2006/main">
            <a:r>
              <a:t>MACHINE-LEARNING ABLATION,</a:t>
            </a:r>
          </a:p>
          <a:p xmlns:a="http://schemas.openxmlformats.org/drawingml/2006/main">
            <a:r>
              <a:t>QUANTUM ERROR CORRECTION,</a:t>
            </a:r>
          </a:p>
          <a:p xmlns:a="http://schemas.openxmlformats.org/drawingml/2006/main">
            <a:r>
              <a:t>AND APPROXIMATE QFT</a:t>
            </a:r>
          </a:p>
          <a:p xmlns:a="http://schemas.openxmlformats.org/drawingml/2006/main">
            <a:r>
              <a:t>Relatore</a:t>
            </a:r>
          </a:p>
          <a:p xmlns:a="http://schemas.openxmlformats.org/drawingml/2006/main">
            <a:r>
              <a:t>Prof. Paolo Soda</a:t>
            </a:r>
          </a:p>
          <a:p xmlns:a="http://schemas.openxmlformats.org/drawingml/2006/main">
            <a:r>
              <a:t>Correlatore</a:t>
            </a:r>
          </a:p>
          <a:p xmlns:a="http://schemas.openxmlformats.org/drawingml/2006/main">
            <a:r>
              <a:t>Prof. Floriano Caprio</a:t>
            </a:r>
          </a:p>
          <a:p xmlns:a="http://schemas.openxmlformats.org/drawingml/2006/main">
            <a:r>
              <a:t>Laureando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A.A. 2025/2026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Indice</a:t>
            </a:r>
          </a:p>
          <a:p xmlns:a="http://schemas.openxmlformats.org/drawingml/2006/main">
            <a:r>
              <a:t>Indice | 2</a:t>
            </a:r>
          </a:p>
          <a:p xmlns:a="http://schemas.openxmlformats.org/drawingml/2006/main">
            <a:r>
              <a:t>Contesto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Obiettivi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Metodo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Risultati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Conclusioni</a:t>
            </a:r>
          </a:p>
          <a:p xmlns:a="http://schemas.openxmlformats.org/drawingml/2006/main">
            <a:r>
              <a:t>da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Dal vantaggio teorico al rumore</a:t>
            </a:r>
          </a:p>
          <a:p xmlns:a="http://schemas.openxmlformats.org/drawingml/2006/main">
            <a:r>
              <a:t>Contesto | 3</a:t>
            </a:r>
          </a:p>
          <a:p xmlns:a="http://schemas.openxmlformats.org/drawingml/2006/main">
            <a:r>
              <a:t>La sicurezza di </a:t>
            </a:r>
          </a:p>
          <a:p xmlns:a="http://schemas.openxmlformats.org/drawingml/2006/main">
            <a:r>
              <a:t>RSA</a:t>
            </a:r>
          </a:p>
          <a:p xmlns:a="http://schemas.openxmlformats.org/drawingml/2006/main">
            <a:r>
              <a:t> si fonda sulla difficoltà di fattorizzare interi di grandi dimensioni.</a:t>
            </a:r>
          </a:p>
          <a:p xmlns:a="http://schemas.openxmlformats.org/drawingml/2006/main">
            <a:r>
              <a:t>Il miglior algoritmo classico generale, il General Number Field Sieve, ha costo 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Nel 1994 Shor mostra che un computer quantistico ideale fattorizza in </a:t>
            </a:r>
          </a:p>
          <a:p xmlns:a="http://schemas.openxmlformats.org/drawingml/2006/main">
            <a:r>
              <a:t>tempo polinomiale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Classico · GNFS</a:t>
            </a:r>
          </a:p>
          <a:p xmlns:a="http://schemas.openxmlformats.org/drawingml/2006/main">
            <a:r>
              <a:t>sub-esponenziale</a:t>
            </a:r>
          </a:p>
          <a:p xmlns:a="http://schemas.openxmlformats.org/drawingml/2006/main">
            <a:r>
              <a:t>Quantistico · Shor</a:t>
            </a:r>
          </a:p>
          <a:p xmlns:a="http://schemas.openxmlformats.org/drawingml/2006/main">
            <a:r>
              <a:t>polinomiale</a:t>
            </a:r>
          </a:p>
          <a:p xmlns:a="http://schemas.openxmlformats.org/drawingml/2006/main">
            <a:r>
              <a:t>Il limite attuale: il rumore</a:t>
            </a:r>
          </a:p>
          <a:p xmlns:a="http://schemas.openxmlformats.org/drawingml/2006/main">
            <a:r>
              <a:t>Errori di gate, decoerenza, readout imperfetto, connettività limitata e crosstalk riducono la profondità dei circuiti eseguibili con affidabilità.</a:t>
            </a:r>
          </a:p>
          <a:p xmlns:a="http://schemas.openxmlformats.org/drawingml/2006/main">
            <a:r>
              <a:t>IBM Quantum System One: al centro il criostato che contiene il chip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L'algoritmo di Shor</a:t>
            </a:r>
          </a:p>
          <a:p xmlns:a="http://schemas.openxmlformats.org/drawingml/2006/main">
            <a:r>
              <a:t>Contesto | 4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Pre-processing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scelta di a, gcd(a, N)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Ricerca</a:t>
            </a:r>
          </a:p>
          <a:p xmlns:a="http://schemas.openxmlformats.org/drawingml/2006/main">
            <a:r>
              <a:t>del periodo</a:t>
            </a:r>
          </a:p>
          <a:p xmlns:a="http://schemas.openxmlformats.org/drawingml/2006/main">
            <a:r>
              <a:t>esponenziazione modulare e QPE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 misura</a:t>
            </a:r>
          </a:p>
          <a:p xmlns:a="http://schemas.openxmlformats.org/drawingml/2006/main">
            <a:r>
              <a:t>esito y, con y / 2^m ≈ s / r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Post-processing</a:t>
            </a:r>
          </a:p>
          <a:p xmlns:a="http://schemas.openxmlformats.org/drawingml/2006/main">
            <a:r>
              <a:t>classico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Per N = 15 e a = 7 la sequenza 7^x mod 15 si ripete ogni 4 valori: </a:t>
            </a:r>
          </a:p>
          <a:p xmlns:a="http://schemas.openxmlformats.org/drawingml/2006/main">
            <a:r>
              <a:t>r = 4</a:t>
            </a:r>
          </a:p>
          <a:p xmlns:a="http://schemas.openxmlformats.org/drawingml/2006/main">
            <a:r>
              <a:t>, da cui </a:t>
            </a:r>
          </a:p>
          <a:p xmlns:a="http://schemas.openxmlformats.org/drawingml/2006/main">
            <a:r>
              <a:t>15 = 3 × 5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Circuito per N = 15: 8 qubit di controllo (C) e 4 di lavoro (T), esponenziazione modulare controllata, QFT inversa e misura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Il problema: il rumore porta Shor al livello casuale</a:t>
            </a:r>
          </a:p>
          <a:p xmlns:a="http://schemas.openxmlformats.org/drawingml/2006/main">
            <a:r>
              <a:t>Contesto | 5</a:t>
            </a:r>
          </a:p>
          <a:p xmlns:a="http://schemas.openxmlformats.org/drawingml/2006/main">
            <a:r>
              <a:t>74,89% → ≈ 24,6%</a:t>
            </a:r>
          </a:p>
          <a:p xmlns:a="http://schemas.openxmlformats.org/drawingml/2006/main">
            <a:r>
              <a:t>probabilità di ricavare i fattori per singola misura, da nessun rumore a rumore elevato; con p_g = 1% è già 56,5%</a:t>
            </a:r>
          </a:p>
          <a:p xmlns:a="http://schemas.openxmlformats.org/drawingml/2006/main">
            <a:r>
              <a:t>Ad alto rumore resta solo il 63/256 che la verifica classica accetterebbe anche da esiti casuali.</a:t>
            </a:r>
          </a:p>
          <a:p xmlns:a="http://schemas.openxmlformats.org/drawingml/2006/main">
            <a:r>
              <a:t>Preparazione</a:t>
            </a:r>
          </a:p>
          <a:p xmlns:a="http://schemas.openxmlformats.org/drawingml/2006/main">
            <a:r>
              <a:t>Errori di preparazione dello stato</a:t>
            </a:r>
          </a:p>
          <a:p xmlns:a="http://schemas.openxmlformats.org/drawingml/2006/main">
            <a:r>
              <a:t>Esponenziazione modulare</a:t>
            </a:r>
          </a:p>
          <a:p xmlns:a="http://schemas.openxmlformats.org/drawingml/2006/main">
            <a:r>
              <a:t>Decoerenza ed errori sulle porte a due qubit</a:t>
            </a:r>
          </a:p>
          <a:p xmlns:a="http://schemas.openxmlformats.org/drawingml/2006/main">
            <a:r>
              <a:t>QFT inversa</a:t>
            </a:r>
          </a:p>
          <a:p xmlns:a="http://schemas.openxmlformats.org/drawingml/2006/main">
            <a:r>
              <a:t>Errori di fase e rumore di gate</a:t>
            </a:r>
          </a:p>
          <a:p xmlns:a="http://schemas.openxmlformats.org/drawingml/2006/main">
            <a:r>
              <a:t>Misura</a:t>
            </a:r>
          </a:p>
          <a:p xmlns:a="http://schemas.openxmlformats.org/drawingml/2006/main">
            <a:r>
              <a:t>Errori di lettura (readout)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Approcci esistenti contro il rumore</a:t>
            </a:r>
          </a:p>
          <a:p xmlns:a="http://schemas.openxmlformats.org/drawingml/2006/main">
            <a:r>
              <a:t>Contesto | 6</a:t>
            </a:r>
          </a:p>
          <a:p xmlns:a="http://schemas.openxmlformats.org/drawingml/2006/main">
            <a:r>
              <a:t>Famiglia</a:t>
            </a:r>
          </a:p>
          <a:p xmlns:a="http://schemas.openxmlformats.org/drawingml/2006/main">
            <a:r>
              <a:t>Promessa</a:t>
            </a:r>
          </a:p>
          <a:p xmlns:a="http://schemas.openxmlformats.org/drawingml/2006/main">
            <a:r>
              <a:t>Rischio da controllare</a:t>
            </a:r>
          </a:p>
          <a:p xmlns:a="http://schemas.openxmlformats.org/drawingml/2006/main">
            <a:r>
              <a:t>Post-processing e ML</a:t>
            </a:r>
          </a:p>
          <a:p xmlns:a="http://schemas.openxmlformats.org/drawingml/2006/main">
            <a:r>
              <a:t>sfruttare l'informazione residua nell'istogramma</a:t>
            </a:r>
          </a:p>
          <a:p xmlns:a="http://schemas.openxmlformats.org/drawingml/2006/main">
            <a:r>
              <a:t>il guadagno viene dai candidati provati, non dal modello</a:t>
            </a:r>
          </a:p>
          <a:p xmlns:a="http://schemas.openxmlformats.org/drawingml/2006/main">
            <a:r>
              <a:t>QEC e decoder appresi</a:t>
            </a:r>
          </a:p>
          <a:p xmlns:a="http://schemas.openxmlformats.org/drawingml/2006/main">
            <a:r>
              <a:t>sopprimere l'errore logico</a:t>
            </a:r>
          </a:p>
          <a:p xmlns:a="http://schemas.openxmlformats.org/drawingml/2006/main">
            <a:r>
              <a:t>baseline analitica debole; soglia valida solo per la memoria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meno porte, meno rumore</a:t>
            </a:r>
          </a:p>
          <a:p xmlns:a="http://schemas.openxmlformats.org/drawingml/2006/main">
            <a:r>
              <a:t>perdita di precisione di fase</a:t>
            </a:r>
          </a:p>
          <a:p xmlns:a="http://schemas.openxmlformats.org/drawingml/2006/main">
            <a:r>
              <a:t>Rimane aperto il problema di valutare ogni tecnica contro la baseline corretta, sulla metrica finale.</a:t>
            </a:r>
          </a:p>
          <a:p xmlns:a="http://schemas.openxmlformats.org/drawingml/2006/main">
            <a:r>
              <a:t>Yang e Markidis 2026 · Bausch et al., Nature 2024 · Roffe et al. 2020 · Bravyi et al., Nature 2024 · Barenco et al. 1996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Fondamenti: QEC e QFT approssimata</a:t>
            </a:r>
          </a:p>
          <a:p xmlns:a="http://schemas.openxmlformats.org/drawingml/2006/main">
            <a:r>
              <a:t>Contesto | 7</a:t>
            </a:r>
          </a:p>
          <a:p xmlns:a="http://schemas.openxmlformats.org/drawingml/2006/main">
            <a:r>
              <a:t>QEC · durante il calcolo</a:t>
            </a:r>
          </a:p>
          <a:p xmlns:a="http://schemas.openxmlformats.org/drawingml/2006/main">
            <a:r>
              <a:t>Protegge l'informazione mentre il calcolo è in corso. Conviene solo sotto soglia: sopra soglia l'overhead amplifica l'errore.</a:t>
            </a:r>
          </a:p>
          <a:p xmlns:a="http://schemas.openxmlformats.org/drawingml/2006/main">
            <a:r>
              <a:t>Codifica</a:t>
            </a:r>
          </a:p>
          <a:p xmlns:a="http://schemas.openxmlformats.org/drawingml/2006/main">
            <a:r>
              <a:t>più qubit fisici formano un qubit logico</a:t>
            </a:r>
          </a:p>
          <a:p xmlns:a="http://schemas.openxmlformats.org/drawingml/2006/main">
            <a:r>
              <a:t>Sindrome</a:t>
            </a:r>
          </a:p>
          <a:p xmlns:a="http://schemas.openxmlformats.org/drawingml/2006/main">
            <a:r>
              <a:t>rivela l'errore senza misurare lo stato logico</a:t>
            </a:r>
          </a:p>
          <a:p xmlns:a="http://schemas.openxmlformats.org/drawingml/2006/main">
            <a:r>
              <a:t>Decoder</a:t>
            </a:r>
          </a:p>
          <a:p xmlns:a="http://schemas.openxmlformats.org/drawingml/2006/main">
            <a:r>
              <a:t>MWPM, BP+OSD o una rete scelgono la correzione</a:t>
            </a:r>
          </a:p>
          <a:p xmlns:a="http://schemas.openxmlformats.org/drawingml/2006/main">
            <a:r>
              <a:t>Soglia</a:t>
            </a:r>
          </a:p>
          <a:p xmlns:a="http://schemas.openxmlformats.org/drawingml/2006/main">
            <a:r>
              <a:t>sotto p_th, più distanza d riduce p_L</a:t>
            </a:r>
          </a:p>
          <a:p xmlns:a="http://schemas.openxmlformats.org/drawingml/2006/main">
            <a:r>
              <a:t>AQFT · nel circuito</a:t>
            </a:r>
          </a:p>
          <a:p xmlns:a="http://schemas.openxmlformats.org/drawingml/2006/main">
            <a:r>
              <a:t>Elimina le rotazioni controllate di piccolo angolo: meno porte e profondità, al prezzo di precisione di fase.</a:t>
            </a:r>
          </a:p>
          <a:p xmlns:a="http://schemas.openxmlformats.org/drawingml/2006/main">
            <a:r>
              <a:t>Complementari: l'AQFT contiene le risorse del circuito, la QEC protegge l'esecuzione dal rumore.</a:t>
            </a:r>
          </a:p>
          <a:p xmlns:a="http://schemas.openxmlformats.org/drawingml/2006/main">
            <a:r>
              <a:t>Notazione: p errore fisico · p_L errore logico dopo la decodifica · p_g proxy di errore per gate applicato a Shor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Obiettivi del lavoro</a:t>
            </a:r>
          </a:p>
          <a:p xmlns:a="http://schemas.openxmlformats.org/drawingml/2006/main">
            <a:r>
              <a:t>Obiettivi | 8</a:t>
            </a:r>
          </a:p>
          <a:p xmlns:a="http://schemas.openxmlformats.org/drawingml/2006/main">
            <a:r>
              <a:t>Punto di partenza: misurare come Shor degrada al crescere del rumore. Poi valutare, </a:t>
            </a:r>
          </a:p>
          <a:p xmlns:a="http://schemas.openxmlformats.org/drawingml/2006/main">
            <a:r>
              <a:t>con baseline esplicite</a:t>
            </a:r>
          </a:p>
          <a:p xmlns:a="http://schemas.openxmlformats.org/drawingml/2006/main">
            <a:r>
              <a:t>, tre livelli di intervento.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A VALLE DELLA MISURA</a:t>
            </a:r>
          </a:p>
          <a:p xmlns:a="http://schemas.openxmlformats.org/drawingml/2006/main">
            <a:r>
              <a:t>Sfruttare l'informazione residua</a:t>
            </a:r>
          </a:p>
          <a:p xmlns:a="http://schemas.openxmlformats.org/drawingml/2006/main">
            <a:r>
              <a:t>Post-processing di Shor: ricerca TOP-K, classificatore ML, confronto con ZNE</a:t>
            </a:r>
          </a:p>
          <a:p xmlns:a="http://schemas.openxmlformats.org/drawingml/2006/main">
            <a:r>
              <a:t>Domanda DR1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DURANTE IL CALCOLO</a:t>
            </a:r>
          </a:p>
          <a:p xmlns:a="http://schemas.openxmlformats.org/drawingml/2006/main">
            <a:r>
              <a:t>Proteggere l'informazione</a:t>
            </a:r>
          </a:p>
          <a:p xmlns:a="http://schemas.openxmlformats.org/drawingml/2006/main">
            <a:r>
              <a:t>QEC: ripetizione, Steane, surface code, Gross code; decoder analitici e appresi</a:t>
            </a:r>
          </a:p>
          <a:p xmlns:a="http://schemas.openxmlformats.org/drawingml/2006/main">
            <a:r>
              <a:t>Domande DR2 e DR3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NEL CIRCUITO</a:t>
            </a:r>
          </a:p>
          <a:p xmlns:a="http://schemas.openxmlformats.org/drawingml/2006/main">
            <a:r>
              <a:t>Ridurre le operazioni esposte al rumore</a:t>
            </a:r>
          </a:p>
          <a:p xmlns:a="http://schemas.openxmlformats.org/drawingml/2006/main">
            <a:r>
              <a:t>QFT approssimata: meno porte e profondità, al prezzo di precisione di fase</a:t>
            </a:r>
          </a:p>
          <a:p xmlns:a="http://schemas.openxmlformats.org/drawingml/2006/main">
            <a:r>
              <a:t>Domanda DR5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Domande di ricerca</a:t>
            </a:r>
          </a:p>
          <a:p xmlns:a="http://schemas.openxmlformats.org/drawingml/2006/main">
            <a:r>
              <a:t>Obiettivi | 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Tema</a:t>
            </a:r>
          </a:p>
          <a:p xmlns:a="http://schemas.openxmlformats.org/drawingml/2006/main">
            <a:r>
              <a:t>Domanda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 e machine learning</a:t>
            </a:r>
          </a:p>
          <a:p xmlns:a="http://schemas.openxmlformats.org/drawingml/2006/main">
            <a:r>
              <a:t>Cercare più candidati riduce le iterazioni? Un classificatore aggiunge valore?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Codici di correzione d'errore</a:t>
            </a:r>
          </a:p>
          <a:p xmlns:a="http://schemas.openxmlformats.org/drawingml/2006/main">
            <a:r>
              <a:t>In quale regime la codifica batte il qubit fisico? Quanto conta la distanza?</a:t>
            </a:r>
          </a:p>
          <a:p xmlns:a="http://schemas.openxmlformats.org/drawingml/2006/main">
            <a:r>
              <a:t>p_L(p, d) e soglia p_th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Decoder analitici, appresi e ibridi</a:t>
            </a:r>
          </a:p>
          <a:p xmlns:a="http://schemas.openxmlformats.org/drawingml/2006/main">
            <a:r>
              <a:t>Un decoder appreso supera quello analitico con rumore correlato?</a:t>
            </a:r>
          </a:p>
          <a:p xmlns:a="http://schemas.openxmlformats.org/drawingml/2006/main">
            <a:r>
              <a:t>differenza di p_L sugli stessi campioni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Sensibilità di Shor al rumore</a:t>
            </a:r>
          </a:p>
          <a:p xmlns:a="http://schemas.openxmlformats.org/drawingml/2006/main">
            <a:r>
              <a:t>Come cala il successo al crescere dell'errore per gate p_g?</a:t>
            </a:r>
          </a:p>
          <a:p xmlns:a="http://schemas.openxmlformats.org/drawingml/2006/main">
            <a:r>
              <a:t>P_succ(p_g) e P cumulativa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QFT approssimata</a:t>
            </a:r>
          </a:p>
          <a:p xmlns:a="http://schemas.openxmlformats.org/drawingml/2006/main">
            <a:r>
              <a:t>Quando meno porte compensano la perdita di precisione di fase?</a:t>
            </a:r>
          </a:p>
          <a:p xmlns:a="http://schemas.openxmlformats.org/drawingml/2006/main">
            <a:r>
              <a:t>P_succ, porte a due qubit, profondità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Perimetro sperimentale e strumenti</a:t>
            </a:r>
          </a:p>
          <a:p xmlns:a="http://schemas.openxmlformats.org/drawingml/2006/main">
            <a:r>
              <a:t>Metodo | 10</a:t>
            </a:r>
          </a:p>
          <a:p xmlns:a="http://schemas.openxmlformats.org/drawingml/2006/main">
            <a:r>
              <a:t>Tutti gli esperimenti sono </a:t>
            </a:r>
          </a:p>
          <a:p xmlns:a="http://schemas.openxmlformats.org/drawingml/2006/main">
            <a:r>
              <a:t>simulazioni classiche</a:t>
            </a:r>
          </a:p>
          <a:p xmlns:a="http://schemas.openxmlformats.org/drawingml/2006/main">
            <a:r>
              <a:t>: nessuna esecuzione su hardware reale, nessuna previsione per moduli di dimensione crittografica.</a:t>
            </a:r>
          </a:p>
          <a:p xmlns:a="http://schemas.openxmlformats.org/drawingml/2006/main">
            <a:r>
              <a:t>Istanze</a:t>
            </a:r>
          </a:p>
          <a:p xmlns:a="http://schemas.openxmlformats.org/drawingml/2006/main">
            <a:r>
              <a:t>N = 15, a = 7, r = 4</a:t>
            </a:r>
          </a:p>
          <a:p xmlns:a="http://schemas.openxmlformats.org/drawingml/2006/main">
            <a:r>
              <a:t>campagna rumorosa principale: 12 qubit, 224 CX, profondità 412</a:t>
            </a:r>
          </a:p>
          <a:p xmlns:a="http://schemas.openxmlformats.org/drawingml/2006/main">
            <a:r>
              <a:t>N = 21, a = 2, r = 6</a:t>
            </a:r>
          </a:p>
          <a:p xmlns:a="http://schemas.openxmlformats.org/drawingml/2006/main">
            <a:r>
              <a:t>validazione ideale e AQFT esplorativa</a:t>
            </a:r>
          </a:p>
          <a:p xmlns:a="http://schemas.openxmlformats.org/drawingml/2006/main">
            <a:r>
              <a:t>N = 35, a = 6, r = 2</a:t>
            </a:r>
          </a:p>
          <a:p xmlns:a="http://schemas.openxmlformats.org/drawingml/2006/main">
            <a:r>
              <a:t>controllo ideale dell'aritmetica</a:t>
            </a:r>
          </a:p>
          <a:p xmlns:a="http://schemas.openxmlformats.org/drawingml/2006/main">
            <a:r>
              <a:t>Strumenti</a:t>
            </a:r>
          </a:p>
          <a:p xmlns:a="http://schemas.openxmlformats.org/drawingml/2006/main">
            <a:r>
              <a:t>Qiskit e Aer</a:t>
            </a:r>
          </a:p>
          <a:p xmlns:a="http://schemas.openxmlformats.org/drawingml/2006/main">
            <a:r>
              <a:t>Shor, modelli di rumore, AQFT</a:t>
            </a:r>
          </a:p>
          <a:p xmlns:a="http://schemas.openxmlformats.org/drawingml/2006/main">
            <a:r>
              <a:t>Stim e PyMatching</a:t>
            </a:r>
          </a:p>
          <a:p xmlns:a="http://schemas.openxmlformats.org/drawingml/2006/main">
            <a:r>
              <a:t>surface code e decoder MWPM</a:t>
            </a:r>
          </a:p>
          <a:p xmlns:a="http://schemas.openxmlformats.org/drawingml/2006/main">
            <a:r>
              <a:t>scikit-learn</a:t>
            </a:r>
          </a:p>
          <a:p xmlns:a="http://schemas.openxmlformats.org/drawingml/2006/main">
            <a:r>
              <a:t>SVM, MLP e correzione residuale</a:t>
            </a:r>
          </a:p>
          <a:p xmlns:a="http://schemas.openxmlformats.org/drawingml/2006/main">
            <a:r>
              <a:t>ldpc (BP+OSD)</a:t>
            </a:r>
          </a:p>
          <a:p xmlns:a="http://schemas.openxmlformats.org/drawingml/2006/main">
            <a:r>
              <a:t>Gross code</a:t>
            </a:r>
          </a:p>
          <a:p xmlns:a="http://schemas.openxmlformats.org/drawingml/2006/main">
            <a:r>
              <a:t>Riproducibilità</a:t>
            </a:r>
          </a:p>
          <a:p xmlns:a="http://schemas.openxmlformats.org/drawingml/2006/main">
            <a:r>
              <a:t>Tracciabilità</a:t>
            </a:r>
          </a:p>
          <a:p xmlns:a="http://schemas.openxmlformats.org/drawingml/2006/main">
            <a:r>
              <a:t>seed, manifest, versioni e hash della netlist</a:t>
            </a:r>
          </a:p>
          <a:p xmlns:a="http://schemas.openxmlformats.org/drawingml/2006/main">
            <a:r>
              <a:t>Dati separati</a:t>
            </a:r>
          </a:p>
          <a:p xmlns:a="http://schemas.openxmlformats.org/drawingml/2006/main">
            <a:r>
              <a:t>partizioni selection / holdout</a:t>
            </a:r>
          </a:p>
          <a:p xmlns:a="http://schemas.openxmlformats.org/drawingml/2006/main">
            <a:r>
              <a:t>Confronti appaiati</a:t>
            </a:r>
          </a:p>
          <a:p xmlns:a="http://schemas.openxmlformats.org/drawingml/2006/main">
            <a:r>
              <a:t>stessi campioni per tutte le strategie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Confronto appaiato e ablazione</a:t>
            </a:r>
          </a:p>
          <a:p xmlns:a="http://schemas.openxmlformats.org/drawingml/2006/main">
            <a:r>
              <a:t>Metodo | 11</a:t>
            </a:r>
          </a:p>
          <a:p xmlns:a="http://schemas.openxmlformats.org/drawingml/2006/main">
            <a:r>
              <a:t>Simulazione</a:t>
            </a:r>
          </a:p>
          <a:p xmlns:a="http://schemas.openxmlformats.org/drawingml/2006/main">
            <a:r>
              <a:t>Shor N = 15</a:t>
            </a:r>
          </a:p>
          <a:p xmlns:a="http://schemas.openxmlformats.org/drawingml/2006/main">
            <a:r>
              <a:t>a = 7, un istogramma da 1024 shot per iterazione</a:t>
            </a:r>
          </a:p>
          <a:p xmlns:a="http://schemas.openxmlformats.org/drawingml/2006/main">
            <a:r>
              <a:t>TOP-1</a:t>
            </a:r>
          </a:p>
          <a:p xmlns:a="http://schemas.openxmlformats.org/drawingml/2006/main">
            <a:r>
              <a:t>solo l'esito più frequente</a:t>
            </a:r>
          </a:p>
          <a:p xmlns:a="http://schemas.openxmlformats.org/drawingml/2006/main">
            <a:r>
              <a:t>TOP-4</a:t>
            </a:r>
          </a:p>
          <a:p xmlns:a="http://schemas.openxmlformats.org/drawingml/2006/main">
            <a:r>
              <a:t>i quattro candidati più frequenti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classificatore ML, poi TOP-4</a:t>
            </a:r>
          </a:p>
          <a:p xmlns:a="http://schemas.openxmlformats.org/drawingml/2006/main">
            <a:r>
              <a:t>Verifica classica</a:t>
            </a:r>
          </a:p>
          <a:p xmlns:a="http://schemas.openxmlformats.org/drawingml/2006/main">
            <a:r>
              <a:t>Frazioni continue e gcd</a:t>
            </a:r>
          </a:p>
          <a:p xmlns:a="http://schemas.openxmlformats.org/drawingml/2006/main">
            <a:r>
              <a:t>stessa regola per tutte</a:t>
            </a:r>
          </a:p>
          <a:p xmlns:a="http://schemas.openxmlformats.org/drawingml/2006/main">
            <a:r>
              <a:t>Metrica</a:t>
            </a:r>
          </a:p>
          <a:p xmlns:a="http://schemas.openxmlformats.org/drawingml/2006/main">
            <a:r>
              <a:t>Iterazioni fino ai fattori</a:t>
            </a:r>
          </a:p>
          <a:p xmlns:a="http://schemas.openxmlformats.org/drawingml/2006/main">
            <a:r>
              <a:t>Wilcoxon-Pratt e correzione di Holm</a:t>
            </a:r>
          </a:p>
          <a:p xmlns:a="http://schemas.openxmlformats.org/drawingml/2006/main">
            <a:r>
              <a:t>Ablazione: M2 contro TOP-4 senza filtro isola il contributo del classificatore.</a:t>
            </a:r>
          </a:p>
          <a:p xmlns:a="http://schemas.openxmlformats.org/drawingml/2006/main">
            <a:r>
              <a:t>Numerosità: 30 repliche appaiate per scenario di rumore, fino a 50 iterazioni; classificatore addestrato su 2000 istogrammi per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DR1 · Post-processing e machine learning</a:t>
            </a:r>
          </a:p>
          <a:p xmlns:a="http://schemas.openxmlformats.org/drawingml/2006/main">
            <a:r>
              <a:t>Risultati | 12</a:t>
            </a:r>
          </a:p>
          <a:p xmlns:a="http://schemas.openxmlformats.org/drawingml/2006/main">
            <a:r>
              <a:t>Iterazioni medie al primo successo nei due scenari di rumore simulati (UC1 moderato, UC2 più severo)</a:t>
            </a:r>
          </a:p>
          <a:p xmlns:a="http://schemas.openxmlformats.org/drawingml/2006/main">
            <a:r>
              <a:t>1,00</a:t>
            </a:r>
          </a:p>
          <a:p xmlns:a="http://schemas.openxmlformats.org/drawingml/2006/main">
            <a:r>
              <a:t>iterazioni medie con TOP-4, in 30 repliche su 30 e in entrambi gli scenari (TOP-1: 1,37 e 1,50)</a:t>
            </a:r>
          </a:p>
          <a:p xmlns:a="http://schemas.openxmlformats.org/drawingml/2006/main">
            <a:r>
              <a:t>Classificatore</a:t>
            </a:r>
          </a:p>
          <a:p xmlns:a="http://schemas.openxmlformats.org/drawingml/2006/main">
            <a:r>
              <a:t>accurato, ma non utile: SVM con F1 0,919 / 0,923 e AUC 0,965 / 0,958</a:t>
            </a:r>
          </a:p>
          <a:p xmlns:a="http://schemas.openxmlformats.org/drawingml/2006/main">
            <a:r>
              <a:t>M2</a:t>
            </a:r>
          </a:p>
          <a:p xmlns:a="http://schemas.openxmlformats.org/drawingml/2006/main">
            <a:r>
              <a:t>1,50 / 1,37 iterazioni: peggiore della propria ablazione TOP-4 (p_Holm 0,0033 e 0,0096)</a:t>
            </a:r>
          </a:p>
          <a:p xmlns:a="http://schemas.openxmlformats.org/drawingml/2006/main">
            <a:r>
              <a:t>Il beneficio viene dalla ricerca multi-candidato, non dal filtro appreso.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DR2 · Correzione d'errore e soglia</a:t>
            </a:r>
          </a:p>
          <a:p xmlns:a="http://schemas.openxmlformats.org/drawingml/2006/main">
            <a:r>
              <a:t>Risultati | 13</a:t>
            </a:r>
          </a:p>
          <a:p xmlns:a="http://schemas.openxmlformats.org/drawingml/2006/main">
            <a:r>
              <a:t>0,86%</a:t>
            </a:r>
          </a:p>
          <a:p xmlns:a="http://schemas.openxmlformats.org/drawingml/2006/main">
            <a:r>
              <a:t>soglia stimata del surface code in base Z (0,81% in base X), dal fit sotto soglia</a:t>
            </a:r>
          </a:p>
          <a:p xmlns:a="http://schemas.openxmlformats.org/drawingml/2006/main">
            <a:r>
              <a:t>Surface code, memorie in base Z e X, rumore circuit-level e decoder MWPM; la linea tratteggiata è l'incrocio visivo delle curve, circa 0,9% in base Z</a:t>
            </a:r>
          </a:p>
          <a:p xmlns:a="http://schemas.openxmlformats.org/drawingml/2006/main">
            <a:r>
              <a:t>Sotto soglia</a:t>
            </a:r>
          </a:p>
          <a:p xmlns:a="http://schemas.openxmlformats.org/drawingml/2006/main">
            <a:r>
              <a:t>a p = 2×10⁻³ in base Z l'errore logico scende da 1,94×10⁻³ a d = 3 fino a 2,01×10⁻⁵ a d = 9</a:t>
            </a:r>
          </a:p>
          <a:p xmlns:a="http://schemas.openxmlformats.org/drawingml/2006/main">
            <a:r>
              <a:t>Sopra soglia</a:t>
            </a:r>
          </a:p>
          <a:p xmlns:a="http://schemas.openxmlformats.org/drawingml/2006/main">
            <a:r>
              <a:t>a p = 10⁻² l'ordine si inverte: circa 3,9% a d = 3 contro 5,6% a d = 9</a:t>
            </a:r>
          </a:p>
          <a:p xmlns:a="http://schemas.openxmlformats.org/drawingml/2006/main">
            <a:r>
              <a:t>Steane [[7,1,3]]</a:t>
            </a:r>
          </a:p>
          <a:p xmlns:a="http://schemas.openxmlformats.org/drawingml/2006/main">
            <a:r>
              <a:t>pendenza 1,94, compatibile con la soppressione quadratica; pseudo-soglia a p ≈ 0,08</a:t>
            </a:r>
          </a:p>
          <a:p xmlns:a="http://schemas.openxmlformats.org/drawingml/2006/main">
            <a:r>
              <a:t>La codifica conviene solo sotto soglia: lì aumentare la distanza sopprime l'errore logico.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DR3 · Decoder analitici, appresi e ibridi</a:t>
            </a:r>
          </a:p>
          <a:p xmlns:a="http://schemas.openxmlformats.org/drawingml/2006/main">
            <a:r>
              <a:t>Risultati | 14</a:t>
            </a:r>
          </a:p>
          <a:p xmlns:a="http://schemas.openxmlformats.org/drawingml/2006/main">
            <a:r>
              <a:t>Rapporto di guadagno rispetto a MWPM: sopra 1 il metodo ha errore logico inferiore</a:t>
            </a:r>
          </a:p>
          <a:p xmlns:a="http://schemas.openxmlformats.org/drawingml/2006/main">
            <a:r>
              <a:t>15,6–17,6%</a:t>
            </a:r>
          </a:p>
          <a:p xmlns:a="http://schemas.openxmlformats.org/drawingml/2006/main">
            <a:r>
              <a:t>riduzione relativa dell'errore logico con il decoder ibrido (MWPM + rete) a d = 3, in presenza di crosstalk</a:t>
            </a:r>
          </a:p>
          <a:p xmlns:a="http://schemas.openxmlformats.org/drawingml/2006/main">
            <a:r>
              <a:t>Rete come sostituto</a:t>
            </a:r>
          </a:p>
          <a:p xmlns:a="http://schemas.openxmlformats.org/drawingml/2006/main">
            <a:r>
              <a:t>a modello corretto non supera MWPM; servono 10⁵–10⁶ campioni solo per pareggiarlo a d = 3</a:t>
            </a:r>
          </a:p>
          <a:p xmlns:a="http://schemas.openxmlformats.org/drawingml/2006/main">
            <a:r>
              <a:t>Con la scala</a:t>
            </a:r>
          </a:p>
          <a:p xmlns:a="http://schemas.openxmlformats.org/drawingml/2006/main">
            <a:r>
              <a:t>il margine cala: 0,5–3,2% a d = 5, non significativo a d = 7</a:t>
            </a:r>
          </a:p>
          <a:p xmlns:a="http://schemas.openxmlformats.org/drawingml/2006/main">
            <a:r>
              <a:t>BP+OSD</a:t>
            </a:r>
          </a:p>
          <a:p xmlns:a="http://schemas.openxmlformats.org/drawingml/2006/main">
            <a:r>
              <a:t>baseline analitica forte: −25,5% a d = 5 senza crosstalk</a:t>
            </a:r>
          </a:p>
          <a:p xmlns:a="http://schemas.openxmlformats.org/drawingml/2006/main">
            <a:r>
              <a:t>Il ML aiuta come correttore residuale, quando il decoder analitico non rappresenta la struttura dell'errore.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DR3 · Gross code e surface code</a:t>
            </a:r>
          </a:p>
          <a:p xmlns:a="http://schemas.openxmlformats.org/drawingml/2006/main">
            <a:r>
              <a:t>Risultati | 15</a:t>
            </a:r>
          </a:p>
          <a:p xmlns:a="http://schemas.openxmlformats.org/drawingml/2006/main">
            <a:r>
              <a:t>Confronto esplorativo nel modello code-capacity: quanti qubit di dato servono per proteggere gli stessi </a:t>
            </a:r>
          </a:p>
          <a:p xmlns:a="http://schemas.openxmlformats.org/drawingml/2006/main">
            <a:r>
              <a:t>12 qubit logici</a:t>
            </a:r>
          </a:p>
          <a:p xmlns:a="http://schemas.openxmlformats.org/drawingml/2006/main">
            <a:r>
              <a:t>?</a:t>
            </a:r>
          </a:p>
          <a:p xmlns:a="http://schemas.openxmlformats.org/drawingml/2006/main">
            <a:r>
              <a:t>Gross code [[144,12,12]]</a:t>
            </a:r>
          </a:p>
          <a:p xmlns:a="http://schemas.openxmlformats.org/drawingml/2006/main">
            <a:r>
              <a:t>144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vs</a:t>
            </a:r>
          </a:p>
          <a:p xmlns:a="http://schemas.openxmlformats.org/drawingml/2006/main">
            <a:r>
              <a:t>12 × surface code, distanza 13</a:t>
            </a:r>
          </a:p>
          <a:p xmlns:a="http://schemas.openxmlformats.org/drawingml/2006/main">
            <a:r>
              <a:t>2028</a:t>
            </a:r>
          </a:p>
          <a:p xmlns:a="http://schemas.openxmlformats.org/drawingml/2006/main">
            <a:r>
              <a:t>qubit di dato</a:t>
            </a:r>
          </a:p>
          <a:p xmlns:a="http://schemas.openxmlformats.org/drawingml/2006/main">
            <a:r>
              <a:t>Con il decoder adeguato</a:t>
            </a:r>
          </a:p>
          <a:p xmlns:a="http://schemas.openxmlformats.org/drawingml/2006/main">
            <a:r>
              <a:t> (BP+OSD a schedulazione seriale) il Gross code protegge meglio per errore fisico ≥ 0,75%, con circa un quattordicesimo dei qubit di dato.</a:t>
            </a:r>
          </a:p>
          <a:p xmlns:a="http://schemas.openxmlformats.org/drawingml/2006/main">
            <a:r>
              <a:t>Il decoder conta quanto il codice:</a:t>
            </a:r>
          </a:p>
          <a:p xmlns:a="http://schemas.openxmlformats.org/drawingml/2006/main">
            <a:r>
              <a:t> da schedulazione parallela a seriale il fallimento a errore 1% scende di circa 100 volte (9,8×10⁻⁵ → 1,0×10⁻⁶).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DR4 · Sensibilità di Shor al rumore</a:t>
            </a:r>
          </a:p>
          <a:p xmlns:a="http://schemas.openxmlformats.org/drawingml/2006/main">
            <a:r>
              <a:t>Risultati | 16</a:t>
            </a:r>
          </a:p>
          <a:p xmlns:a="http://schemas.openxmlformats.org/drawingml/2006/main">
            <a:r>
              <a:t>Shor N = 15, a = 7: successo per singola misura al variare del proxy di errore per gate p_g</a:t>
            </a:r>
          </a:p>
          <a:p xmlns:a="http://schemas.openxmlformats.org/drawingml/2006/main">
            <a:r>
              <a:t>74,89%</a:t>
            </a:r>
          </a:p>
          <a:p xmlns:a="http://schemas.openxmlformats.org/drawingml/2006/main">
            <a:r>
              <a:t>probabilità di ricavare i fattori per singola misura in assenza di rumore</a:t>
            </a:r>
          </a:p>
          <a:p xmlns:a="http://schemas.openxmlformats.org/drawingml/2006/main">
            <a:r>
              <a:t>Degrado regolare</a:t>
            </a:r>
          </a:p>
          <a:p xmlns:a="http://schemas.openxmlformats.org/drawingml/2006/main">
            <a:r>
              <a:t>64,5% a p_g = 0,005, 56,5% a 0,01 e 45,2% a 0,02</a:t>
            </a:r>
          </a:p>
          <a:p xmlns:a="http://schemas.openxmlformats.org/drawingml/2006/main">
            <a:r>
              <a:t>Plateau a circa 24,5%</a:t>
            </a:r>
          </a:p>
          <a:p xmlns:a="http://schemas.openxmlformats.org/drawingml/2006/main">
            <a:r>
              <a:t>da p_g ≈ 0,1: è il pavimento 63/256 della verifica classica, che accetta 63 esiti su 256 anche da una distribuzione uniforme</a:t>
            </a:r>
          </a:p>
          <a:p xmlns:a="http://schemas.openxmlformats.org/drawingml/2006/main">
            <a:r>
              <a:t>Il plateau non indica periodicità residua; p_g è un proxy per gate, non un tasso di errore logico QEC.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DR5 · QFT approssimata su N = 15</a:t>
            </a:r>
          </a:p>
          <a:p xmlns:a="http://schemas.openxmlformats.org/drawingml/2006/main">
            <a:r>
              <a:t>Risultati | 17</a:t>
            </a:r>
          </a:p>
          <a:p xmlns:a="http://schemas.openxmlformats.org/drawingml/2006/main">
            <a:r>
              <a:t>Successo holdout al variare del grado di troncamento della QFT inversa finale; la linea tratteggiata è la QFT piena</a:t>
            </a:r>
          </a:p>
          <a:p xmlns:a="http://schemas.openxmlformats.org/drawingml/2006/main">
            <a:r>
              <a:t>Grandezza</a:t>
            </a:r>
          </a:p>
          <a:p xmlns:a="http://schemas.openxmlformats.org/drawingml/2006/main">
            <a:r>
              <a:t>QFT piena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Variazione</a:t>
            </a:r>
          </a:p>
          <a:p xmlns:a="http://schemas.openxmlformats.org/drawingml/2006/main">
            <a:r>
              <a:t>P_succ holdout</a:t>
            </a:r>
          </a:p>
          <a:p xmlns:a="http://schemas.openxmlformats.org/drawingml/2006/main">
            <a:r>
              <a:t>0,4792</a:t>
            </a:r>
          </a:p>
          <a:p xmlns:a="http://schemas.openxmlformats.org/drawingml/2006/main">
            <a:r>
              <a:t>0,6279</a:t>
            </a:r>
          </a:p>
          <a:p xmlns:a="http://schemas.openxmlformats.org/drawingml/2006/main">
            <a:r>
              <a:t>+14,87 punti</a:t>
            </a:r>
          </a:p>
          <a:p xmlns:a="http://schemas.openxmlformats.org/drawingml/2006/main">
            <a:r>
              <a:t>Porte ECR</a:t>
            </a:r>
          </a:p>
          <a:p xmlns:a="http://schemas.openxmlformats.org/drawingml/2006/main">
            <a:r>
              <a:t>362</a:t>
            </a:r>
          </a:p>
          <a:p xmlns:a="http://schemas.openxmlformats.org/drawingml/2006/main">
            <a:r>
              <a:t>279</a:t>
            </a:r>
          </a:p>
          <a:p xmlns:a="http://schemas.openxmlformats.org/drawingml/2006/main">
            <a:r>
              <a:t>−22,9%</a:t>
            </a:r>
          </a:p>
          <a:p xmlns:a="http://schemas.openxmlformats.org/drawingml/2006/main">
            <a:r>
              <a:t>Profondità</a:t>
            </a:r>
          </a:p>
          <a:p xmlns:a="http://schemas.openxmlformats.org/drawingml/2006/main">
            <a:r>
              <a:t>1351</a:t>
            </a:r>
          </a:p>
          <a:p xmlns:a="http://schemas.openxmlformats.org/drawingml/2006/main">
            <a:r>
              <a:t>1141</a:t>
            </a:r>
          </a:p>
          <a:p xmlns:a="http://schemas.openxmlformats.org/drawingml/2006/main">
            <a:r>
              <a:t>−15,5%</a:t>
            </a:r>
          </a:p>
          <a:p xmlns:a="http://schemas.openxmlformats.org/drawingml/2006/main">
            <a:r>
              <a:t>Grado scelto sui dati di selezione, valutato su holdout disgiunto. IC Newcombe 95% dell'incremento: [12,73; 16,99] punti.</a:t>
            </a:r>
          </a:p>
          <a:p xmlns:a="http://schemas.openxmlformats.org/drawingml/2006/main">
            <a:r>
              <a:t>Istanza favorevole:</a:t>
            </a:r>
          </a:p>
          <a:p xmlns:a="http://schemas.openxmlformats.org/drawingml/2006/main">
            <a:r>
              <a:t> r = 4 produce fasi rappresentabili esattamente con due bit.</a:t>
            </a:r>
          </a:p>
          <a:p xmlns:a="http://schemas.openxmlformats.org/drawingml/2006/main">
            <a:r>
              <a:t>Meno porte danno più informazione utile quando il rumore evitato supera la perdita di precisione di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DR5 · AQFT su N = 21 e QPE isolata</a:t>
            </a:r>
          </a:p>
          <a:p xmlns:a="http://schemas.openxmlformats.org/drawingml/2006/main">
            <a:r>
              <a:t>Risultati | 18</a:t>
            </a:r>
          </a:p>
          <a:p xmlns:a="http://schemas.openxmlformats.org/drawingml/2006/main">
            <a:r>
              <a:t>Shor su N = 21</a:t>
            </a:r>
          </a:p>
          <a:p xmlns:a="http://schemas.openxmlformats.org/drawingml/2006/main">
            <a:r>
              <a:t>Porte ECR:</a:t>
            </a:r>
          </a:p>
          <a:p xmlns:a="http://schemas.openxmlformats.org/drawingml/2006/main">
            <a:r>
              <a:t> 49 661 → 23 178 troncando l'aritmetica</a:t>
            </a:r>
          </a:p>
          <a:p xmlns:a="http://schemas.openxmlformats.org/drawingml/2006/main">
            <a:r>
              <a:t>Successo ideale:</a:t>
            </a:r>
          </a:p>
          <a:p xmlns:a="http://schemas.openxmlformats.org/drawingml/2006/main">
            <a:r>
              <a:t> 0,4667 → 0,4013</a:t>
            </a:r>
          </a:p>
          <a:p xmlns:a="http://schemas.openxmlformats.org/drawingml/2006/main">
            <a:r>
              <a:t>Con rumore</a:t>
            </a:r>
          </a:p>
          <a:p xmlns:a="http://schemas.openxmlformats.org/drawingml/2006/main">
            <a:r>
              <a:t>, a budget ridotto: nessun vantaggio dimostrato</a:t>
            </a:r>
          </a:p>
          <a:p xmlns:a="http://schemas.openxmlformats.org/drawingml/2006/main">
            <a:r>
              <a:t>QPE isolata</a:t>
            </a:r>
          </a:p>
          <a:p xmlns:a="http://schemas.openxmlformats.org/drawingml/2006/main">
            <a:r>
              <a:t>9 stime su 9</a:t>
            </a:r>
          </a:p>
          <a:p xmlns:a="http://schemas.openxmlformats.org/drawingml/2006/main">
            <a:r>
              <a:t> a favore della variante troncata, 6 intervalli su 9 sopra zero; evidenza esplorativa, senza correzione simultanea</a:t>
            </a:r>
          </a:p>
          <a:p xmlns:a="http://schemas.openxmlformats.org/drawingml/2006/main">
            <a:r>
              <a:t>QPE isolata: differenza di successo AQFT − QFT piena su holdout, con IC Newcombe individuali al 95%</a:t>
            </a:r>
          </a:p>
          <a:p xmlns:a="http://schemas.openxmlformats.org/drawingml/2006/main">
            <a:r>
              <a:t>Il grado AQFT va scelto per istanza e per regime di rumore.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Risposte alle domande di ricerca</a:t>
            </a:r>
          </a:p>
          <a:p xmlns:a="http://schemas.openxmlformats.org/drawingml/2006/main">
            <a:r>
              <a:t>Conclusioni | 19</a:t>
            </a:r>
          </a:p>
          <a:p xmlns:a="http://schemas.openxmlformats.org/drawingml/2006/main">
            <a:r>
              <a:t>DR</a:t>
            </a:r>
          </a:p>
          <a:p xmlns:a="http://schemas.openxmlformats.org/drawingml/2006/main">
            <a:r>
              <a:t>Risposta</a:t>
            </a:r>
          </a:p>
          <a:p xmlns:a="http://schemas.openxmlformats.org/drawingml/2006/main">
            <a:r>
              <a:t>Evidenza principale</a:t>
            </a:r>
          </a:p>
          <a:p xmlns:a="http://schemas.openxmlformats.org/drawingml/2006/main">
            <a:r>
              <a:t>DR1</a:t>
            </a:r>
          </a:p>
          <a:p xmlns:a="http://schemas.openxmlformats.org/drawingml/2006/main">
            <a:r>
              <a:t>TOP-K è utile; il filtro ML considerato non aggiunge valore operativo</a:t>
            </a:r>
          </a:p>
          <a:p xmlns:a="http://schemas.openxmlformats.org/drawingml/2006/main">
            <a:r>
              <a:t>TOP-4: 1,00 iterazioni medie nei due scenari; M2 perde contro la propria ablazione</a:t>
            </a:r>
          </a:p>
          <a:p xmlns:a="http://schemas.openxmlformats.org/drawingml/2006/main">
            <a:r>
              <a:t>DR2</a:t>
            </a:r>
          </a:p>
          <a:p xmlns:a="http://schemas.openxmlformats.org/drawingml/2006/main">
            <a:r>
              <a:t>La QEC sopprime l'errore sotto soglia; il beneficio cresce con la distanza</a:t>
            </a:r>
          </a:p>
          <a:p xmlns:a="http://schemas.openxmlformats.org/drawingml/2006/main">
            <a:r>
              <a:t>Steane: pendenza 1,94; surface code: soglia 0,86% (Z) e 0,81% (X)</a:t>
            </a:r>
          </a:p>
          <a:p xmlns:a="http://schemas.openxmlformats.org/drawingml/2006/main">
            <a:r>
              <a:t>DR3</a:t>
            </a:r>
          </a:p>
          <a:p xmlns:a="http://schemas.openxmlformats.org/drawingml/2006/main">
            <a:r>
              <a:t>Il ML è utile come correttore residuale; il decoder conta anche fra codici diversi</a:t>
            </a:r>
          </a:p>
          <a:p xmlns:a="http://schemas.openxmlformats.org/drawingml/2006/main">
            <a:r>
              <a:t>p_L ridotto del 15,6–17,6% a d = 3 con crosstalk; Gross code migliore per p ≥ 0,75%</a:t>
            </a:r>
          </a:p>
          <a:p xmlns:a="http://schemas.openxmlformats.org/drawingml/2006/main">
            <a:r>
              <a:t>DR4</a:t>
            </a:r>
          </a:p>
          <a:p xmlns:a="http://schemas.openxmlformats.org/drawingml/2006/main">
            <a:r>
              <a:t>Il successo di Shor decresce con p_g fino al pavimento del post-processing</a:t>
            </a:r>
          </a:p>
          <a:p xmlns:a="http://schemas.openxmlformats.org/drawingml/2006/main">
            <a:r>
              <a:t>Da 0,7489 senza rumore a circa 0,245 per rumore elevato (63/256)</a:t>
            </a:r>
          </a:p>
          <a:p xmlns:a="http://schemas.openxmlformats.org/drawingml/2006/main">
            <a:r>
              <a:t>DR5</a:t>
            </a:r>
          </a:p>
          <a:p xmlns:a="http://schemas.openxmlformats.org/drawingml/2006/main">
            <a:r>
              <a:t>L'AQFT aiuta quando le porte evitate compensano la perdita di fase</a:t>
            </a:r>
          </a:p>
          <a:p xmlns:a="http://schemas.openxmlformats.org/drawingml/2006/main">
            <a:r>
              <a:t>N = 15: 0,4792 → 0,6279, ECR 362 → 279; beneficio non dimostrato su N =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Conclusione centrale</a:t>
            </a:r>
          </a:p>
          <a:p xmlns:a="http://schemas.openxmlformats.org/drawingml/2006/main">
            <a:r>
              <a:t>Conclusioni | 20</a:t>
            </a:r>
          </a:p>
          <a:p xmlns:a="http://schemas.openxmlformats.org/drawingml/2006/main">
            <a:r>
              <a:t>La complessità aggiuntiva è giustificata solo quando agisce sul collo di bottiglia effettivo e produce un beneficio misurabile rispetto a una baseline adeguata.</a:t>
            </a:r>
          </a:p>
          <a:p xmlns:a="http://schemas.openxmlformats.org/drawingml/2006/main">
            <a:r>
              <a:t>TOP-K</a:t>
            </a:r>
          </a:p>
          <a:p xmlns:a="http://schemas.openxmlformats.org/drawingml/2006/main">
            <a:r>
              <a:t>usa meglio informazione già disponibile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cambia l'ordine dell'errore, ma solo sotto soglia</a:t>
            </a:r>
          </a:p>
          <a:p xmlns:a="http://schemas.openxmlformats.org/drawingml/2006/main">
            <a:r>
              <a:t>Decoder appreso</a:t>
            </a:r>
          </a:p>
          <a:p xmlns:a="http://schemas.openxmlformats.org/drawingml/2006/main">
            <a:r>
              <a:t>recupera struttura assente dal modello analitico</a:t>
            </a:r>
          </a:p>
          <a:p xmlns:a="http://schemas.openxmlformats.org/drawingml/2006/main">
            <a:r>
              <a:t>AQFT</a:t>
            </a:r>
          </a:p>
          <a:p xmlns:a="http://schemas.openxmlformats.org/drawingml/2006/main">
            <a:r>
              <a:t>aiuta se il costo evitato supera la perdita algoritmica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Limiti e sviluppi futuri</a:t>
            </a:r>
          </a:p>
          <a:p xmlns:a="http://schemas.openxmlformats.org/drawingml/2006/main">
            <a:r>
              <a:t>Conclusioni | 21</a:t>
            </a:r>
          </a:p>
          <a:p xmlns:a="http://schemas.openxmlformats.org/drawingml/2006/main">
            <a:r>
              <a:t>Limiti dello studio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campagne simulate; N = 15 con r = 4 è un'istanza favorevole a TOP-K e AQFT</a:t>
            </a:r>
          </a:p>
          <a:p xmlns:a="http://schemas.openxmlformats.org/drawingml/2006/main">
            <a:r>
              <a:t>Rumore</a:t>
            </a:r>
          </a:p>
          <a:p xmlns:a="http://schemas.openxmlformats.org/drawingml/2006/main">
            <a:r>
              <a:t>modello uniforme e stazionario; controlli hardware-aware su snapshot offline, non su QPU live</a:t>
            </a:r>
          </a:p>
          <a:p xmlns:a="http://schemas.openxmlformats.org/drawingml/2006/main">
            <a:r>
              <a:t>QEC</a:t>
            </a:r>
          </a:p>
          <a:p xmlns:a="http://schemas.openxmlformats.org/drawingml/2006/main">
            <a:r>
              <a:t>surface code studiato come memoria, non uno Shor fault-tolerant; decoder appreso MLP denso</a:t>
            </a:r>
          </a:p>
          <a:p xmlns:a="http://schemas.openxmlformats.org/drawingml/2006/main">
            <a:r>
              <a:t>Inferenza</a:t>
            </a:r>
          </a:p>
          <a:p xmlns:a="http://schemas.openxmlformats.org/drawingml/2006/main">
            <a:r>
              <a:t>sweep e benchmark QPE esplorativi, senza correzione simultanea</a:t>
            </a:r>
          </a:p>
          <a:p xmlns:a="http://schemas.openxmlformats.org/drawingml/2006/main">
            <a:r>
              <a:t>Sviluppi futuri, in ordine di priorità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Hardware</a:t>
            </a:r>
          </a:p>
          <a:p xmlns:a="http://schemas.openxmlformats.org/drawingml/2006/main">
            <a:r>
              <a:t>ripetere Shor e AQFT su QPU, con simulazione dalla calibrazione coeva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Scala</a:t>
            </a:r>
          </a:p>
          <a:p xmlns:a="http://schemas.openxmlformats.org/drawingml/2006/main">
            <a:r>
              <a:t>variare separatamente N, ordine r, qubit di conteggio e aritmetica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Fault tolerance</a:t>
            </a:r>
          </a:p>
          <a:p xmlns:a="http://schemas.openxmlformats.org/drawingml/2006/main">
            <a:r>
              <a:t>sostituire p_g con gate logici, cicli QEC e decoder espliciti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Decoder e codici</a:t>
            </a:r>
          </a:p>
          <a:p xmlns:a="http://schemas.openxmlformats.org/drawingml/2006/main">
            <a:r>
              <a:t>modelli strutturali contro BP+OSD; Gross code a livello di circuito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Costo circuitale</a:t>
            </a:r>
          </a:p>
          <a:p xmlns:a="http://schemas.openxmlformats.org/drawingml/2006/main">
            <a:r>
              <a:t>ottimizzare aritmetica modulare e AQFT, verificando il successo finale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Grazie</a:t>
            </a:r>
          </a:p>
          <a:p xmlns:a="http://schemas.openxmlformats.org/drawingml/2006/main">
            <a:r>
              <a:t>per l'attenzione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Post-processing:</a:t>
            </a:r>
          </a:p>
          <a:p xmlns:a="http://schemas.openxmlformats.org/drawingml/2006/main">
            <a:r>
              <a:t> con TOP-4 bastano 1,00 iterazioni medie; il filtro ML non aggiunge valore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QEC e decoder:</a:t>
            </a:r>
          </a:p>
          <a:p xmlns:a="http://schemas.openxmlformats.org/drawingml/2006/main">
            <a:r>
              <a:t> sotto soglia la distanza sopprime l'errore; l'ibrido riduce p_L del 15,6–17,6% a d = 3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AQFT:</a:t>
            </a:r>
          </a:p>
          <a:p xmlns:a="http://schemas.openxmlformats.org/drawingml/2006/main">
            <a:r>
              <a:t> su N = 15 il successo sale da 0,4792 a 0,6279 con 83 porte ECR in meno</a:t>
            </a:r>
          </a:p>
          <a:p xmlns:a="http://schemas.openxmlformats.org/drawingml/2006/main">
            <a:r>
              <a:t>Claudio Dragotta</a:t>
            </a:r>
          </a:p>
          <a:p xmlns:a="http://schemas.openxmlformats.org/drawingml/2006/main">
            <a:r>
              <a:t>Corso di Laurea Magistrale in Ingegneria dei Sistemi Intelligenti · A.A. 2025/2026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completo della slide originale:</a:t>
            </a:r>
          </a:p>
          <a:p xmlns:a="http://schemas.openxmlformats.org/drawingml/2006/main">
            <a:r>
              <a:t>Demo interattiva: Shor con e senza rumore</a:t>
            </a:r>
          </a:p>
          <a:p xmlns:a="http://schemas.openxmlformats.org/drawingml/2006/main">
            <a:r>
              <a:t>Riserva | 23</a:t>
            </a:r>
          </a:p>
          <a:p xmlns:a="http://schemas.openxmlformats.org/drawingml/2006/main">
            <a:r>
              <a:t>Ideale e rumoroso</a:t>
            </a:r>
          </a:p>
          <a:p xmlns:a="http://schemas.openxmlformats.org/drawingml/2006/main">
            <a:r>
              <a:t>Stesso circuito per N = 15, senza rumore e con il preset UC1: le frecce sulle sfere di Bloch si accorciano, lo stato perde coerenza.</a:t>
            </a:r>
          </a:p>
          <a:p xmlns:a="http://schemas.openxmlformats.org/drawingml/2006/main">
            <a:r>
              <a:t>Dove entra il rumore</a:t>
            </a:r>
          </a:p>
          <a:p xmlns:a="http://schemas.openxmlformats.org/drawingml/2006/main">
            <a:r>
              <a:t>70 porte SX, 224 CX, 302 RZ virtuali senza rumore, 8 misure con errore di lettura.</a:t>
            </a:r>
          </a:p>
          <a:p xmlns:a="http://schemas.openxmlformats.org/drawingml/2006/main">
            <a:r>
              <a:t>Demo web illustrativa con modello di rumore uniforme: non è una misura su hardware.</a:t>
            </a:r>
          </a:p>
          <a:p xmlns:a="http://schemas.openxmlformats.org/drawingml/2006/main">
            <a:r>
              <a:t>shor-demo-6knp.onrender.com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5d8c43da346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9e34ce1834d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780d018d940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9fb689bdf45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ebceb3c9940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181763115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59CC39-42C8-48F2-8E1A-AF7CB264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64839A-207C-4355-A862-2790E64E0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EA10B85-F7B8-48E7-A07C-58BE5C1F38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20B7EE0-AAF1-47E1-BF9E-540686C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275FC0-8F8C-4BA7-9256-D464B6763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C2969B-9746-4838-BB10-3F3FBA0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6CE0B4-51FB-4EA9-B325-005EF21955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FD38FEC-AD1F-431C-831B-3B2C32025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6C85E7F-7365-416D-A995-94B40B3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9FF12C-3F10-4C7A-AC98-CC3C2E98A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4485BC-351F-48AC-A5B4-804AF51B94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D92464-1F67-45C4-ACC2-21EE864077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B2A435-6CE1-4279-AF1E-6D60D5FB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6AC114-2190-474D-A10C-6EBA2779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5EF6B-420D-4635-9BB8-D437DCDB9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5f8bcbed043fa" /><Relationship Type="http://schemas.openxmlformats.org/officeDocument/2006/relationships/slideLayout" Target="/ppt/slideLayouts/slideLayout1.xml" Id="R3379f154508d4c95" /><Relationship Type="http://schemas.openxmlformats.org/officeDocument/2006/relationships/slideLayout" Target="/ppt/slideLayouts/slideLayout2.xml" Id="R6166b7066b894cf2" /><Relationship Type="http://schemas.openxmlformats.org/officeDocument/2006/relationships/slideLayout" Target="/ppt/slideLayouts/slideLayout3.xml" Id="R0795787682bb49ca" /><Relationship Type="http://schemas.openxmlformats.org/officeDocument/2006/relationships/slideLayout" Target="/ppt/slideLayouts/slideLayout4.xml" Id="Rcd1e496e3ac34185" /><Relationship Type="http://schemas.openxmlformats.org/officeDocument/2006/relationships/slideLayout" Target="/ppt/slideLayouts/slideLayout5.xml" Id="R7003dcf6d9aa4a7c" /><Relationship Type="http://schemas.openxmlformats.org/officeDocument/2006/relationships/slideLayout" Target="/ppt/slideLayouts/slideLayout6.xml" Id="Rb2b569e49d2f4f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79f154508d4c95"/>
    <p:sldLayoutId xmlns:r="http://schemas.openxmlformats.org/officeDocument/2006/relationships" id="2147483650" r:id="R6166b7066b894cf2"/>
    <p:sldLayoutId xmlns:r="http://schemas.openxmlformats.org/officeDocument/2006/relationships" id="2147483651" r:id="R0795787682bb49ca"/>
    <p:sldLayoutId xmlns:r="http://schemas.openxmlformats.org/officeDocument/2006/relationships" id="2147483652" r:id="Rcd1e496e3ac34185"/>
    <p:sldLayoutId xmlns:r="http://schemas.openxmlformats.org/officeDocument/2006/relationships" id="2147483653" r:id="R7003dcf6d9aa4a7c"/>
    <p:sldLayoutId xmlns:r="http://schemas.openxmlformats.org/officeDocument/2006/relationships" id="2147483654" r:id="Rb2b569e49d2f4f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e5649fda94842" /><Relationship Type="http://schemas.openxmlformats.org/officeDocument/2006/relationships/image" Target="/ppt/media/image.png" Id="R2a4a4f3229d34123" /><Relationship Type="http://schemas.openxmlformats.org/officeDocument/2006/relationships/image" Target="/ppt/media/image2.png" Id="Rf76a025f5c994a44" /><Relationship Type="http://schemas.openxmlformats.org/officeDocument/2006/relationships/notesSlide" Target="/ppt/notesSlides/notesSlide1.xml" Id="R58737bf719df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0f0a05db54cfb" /><Relationship Type="http://schemas.openxmlformats.org/officeDocument/2006/relationships/image" Target="/ppt/media/image3.png" Id="R6180f2811726497d" /><Relationship Type="http://schemas.openxmlformats.org/officeDocument/2006/relationships/notesSlide" Target="/ppt/notesSlides/notesSlide2.xml" Id="Rf14924091f62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4409f98bb49c0" /><Relationship Type="http://schemas.openxmlformats.org/officeDocument/2006/relationships/image" Target="/ppt/media/image4.png" Id="R62598acd09844b71" /><Relationship Type="http://schemas.openxmlformats.org/officeDocument/2006/relationships/image" Target="/ppt/media/image.jpeg" Id="R45b803c37924472f" /><Relationship Type="http://schemas.openxmlformats.org/officeDocument/2006/relationships/notesSlide" Target="/ppt/notesSlides/notesSlide3.xml" Id="Ra05467e1d575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6ca09694245e9" /><Relationship Type="http://schemas.openxmlformats.org/officeDocument/2006/relationships/image" Target="/ppt/media/image5.png" Id="R49eec9c7c42c4acf" /><Relationship Type="http://schemas.openxmlformats.org/officeDocument/2006/relationships/image" Target="/ppt/media/image6.png" Id="Re6d835469e2c439d" /><Relationship Type="http://schemas.openxmlformats.org/officeDocument/2006/relationships/image" Target="/ppt/media/image7.png" Id="Ra1f57396306c4d18" /><Relationship Type="http://schemas.openxmlformats.org/officeDocument/2006/relationships/notesSlide" Target="/ppt/notesSlides/notesSlide4.xml" Id="Rbc70f168c8cb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8ee7b40e74b1a" /><Relationship Type="http://schemas.openxmlformats.org/officeDocument/2006/relationships/image" Target="/ppt/media/image8.png" Id="Rb4d8a1fc1fbb4e9f" /><Relationship Type="http://schemas.openxmlformats.org/officeDocument/2006/relationships/image" Target="/ppt/media/image9.png" Id="Re0470158f45f4519" /><Relationship Type="http://schemas.openxmlformats.org/officeDocument/2006/relationships/notesSlide" Target="/ppt/notesSlides/notesSlide5.xml" Id="R1b3b7277929a43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0683161964f66" /><Relationship Type="http://schemas.openxmlformats.org/officeDocument/2006/relationships/image" Target="/ppt/media/image10.png" Id="R3423429af54a41bb" /><Relationship Type="http://schemas.openxmlformats.org/officeDocument/2006/relationships/notesSlide" Target="/ppt/notesSlides/notesSlide6.xml" Id="Re347d0460b674b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c93133cef449f" /><Relationship Type="http://schemas.openxmlformats.org/officeDocument/2006/relationships/image" Target="/ppt/media/image11.png" Id="Ra144030d844b4f29" /><Relationship Type="http://schemas.openxmlformats.org/officeDocument/2006/relationships/notesSlide" Target="/ppt/notesSlides/notesSlide7.xml" Id="Rba3f840ce23f48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68921b63443aa" /><Relationship Type="http://schemas.openxmlformats.org/officeDocument/2006/relationships/image" Target="/ppt/media/image12.png" Id="R39220041214843e7" /><Relationship Type="http://schemas.openxmlformats.org/officeDocument/2006/relationships/notesSlide" Target="/ppt/notesSlides/notesSlide8.xml" Id="R1913d2443651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180cccdaf42f2" /><Relationship Type="http://schemas.openxmlformats.org/officeDocument/2006/relationships/image" Target="/ppt/media/image13.png" Id="Rd0a69e8817324c29" /><Relationship Type="http://schemas.openxmlformats.org/officeDocument/2006/relationships/notesSlide" Target="/ppt/notesSlides/notesSlide9.xml" Id="Rcd6828d4e18a43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e20e197a046f3" /><Relationship Type="http://schemas.openxmlformats.org/officeDocument/2006/relationships/image" Target="/ppt/media/image14.png" Id="R14bf59342cc948aa" /><Relationship Type="http://schemas.openxmlformats.org/officeDocument/2006/relationships/notesSlide" Target="/ppt/notesSlides/notesSlide10.xml" Id="R1e3fe33b922f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5805a9d4b4482" /><Relationship Type="http://schemas.openxmlformats.org/officeDocument/2006/relationships/image" Target="/ppt/media/image15.png" Id="R7102f021dd5d4424" /><Relationship Type="http://schemas.openxmlformats.org/officeDocument/2006/relationships/notesSlide" Target="/ppt/notesSlides/notesSlide11.xml" Id="R4ebccaf534b945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eede2f6ef4e9f" /><Relationship Type="http://schemas.openxmlformats.org/officeDocument/2006/relationships/image" Target="/ppt/media/image16.png" Id="R7c3088ecd8dd4e5b" /><Relationship Type="http://schemas.openxmlformats.org/officeDocument/2006/relationships/image" Target="/ppt/media/image17.png" Id="Rb1fb29a971aa4883" /><Relationship Type="http://schemas.openxmlformats.org/officeDocument/2006/relationships/notesSlide" Target="/ppt/notesSlides/notesSlide12.xml" Id="R5953225986cf4f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9a65149e74778" /><Relationship Type="http://schemas.openxmlformats.org/officeDocument/2006/relationships/image" Target="/ppt/media/image18.png" Id="Rc5d91e78b8e74ac5" /><Relationship Type="http://schemas.openxmlformats.org/officeDocument/2006/relationships/image" Target="/ppt/media/image19.png" Id="Rc6f1bc8743f44b96" /><Relationship Type="http://schemas.openxmlformats.org/officeDocument/2006/relationships/notesSlide" Target="/ppt/notesSlides/notesSlide13.xml" Id="R3729fc5149754f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d9a966e694dd2" /><Relationship Type="http://schemas.openxmlformats.org/officeDocument/2006/relationships/image" Target="/ppt/media/image20.png" Id="Rd40d2d3d2b9e46bd" /><Relationship Type="http://schemas.openxmlformats.org/officeDocument/2006/relationships/image" Target="/ppt/media/image21.png" Id="R619588b757304131" /><Relationship Type="http://schemas.openxmlformats.org/officeDocument/2006/relationships/notesSlide" Target="/ppt/notesSlides/notesSlide14.xml" Id="R854cb836cf6046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fc10de1cb4f25" /><Relationship Type="http://schemas.openxmlformats.org/officeDocument/2006/relationships/image" Target="/ppt/media/image22.png" Id="Rbf5d4b652dc64249" /><Relationship Type="http://schemas.openxmlformats.org/officeDocument/2006/relationships/notesSlide" Target="/ppt/notesSlides/notesSlide15.xml" Id="Re963f6b9dca54e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9b2913d244321" /><Relationship Type="http://schemas.openxmlformats.org/officeDocument/2006/relationships/image" Target="/ppt/media/image23.png" Id="Rc872d7da19c04d80" /><Relationship Type="http://schemas.openxmlformats.org/officeDocument/2006/relationships/image" Target="/ppt/media/image24.png" Id="Rfc75d51015334362" /><Relationship Type="http://schemas.openxmlformats.org/officeDocument/2006/relationships/notesSlide" Target="/ppt/notesSlides/notesSlide16.xml" Id="Re5281e553aed4c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38ce049084208" /><Relationship Type="http://schemas.openxmlformats.org/officeDocument/2006/relationships/image" Target="/ppt/media/image25.png" Id="R914a5a9537e4451d" /><Relationship Type="http://schemas.openxmlformats.org/officeDocument/2006/relationships/image" Target="/ppt/media/image26.png" Id="Rbe6f9cce03414205" /><Relationship Type="http://schemas.openxmlformats.org/officeDocument/2006/relationships/notesSlide" Target="/ppt/notesSlides/notesSlide17.xml" Id="Rc668546b27854f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459a4ddfa4981" /><Relationship Type="http://schemas.openxmlformats.org/officeDocument/2006/relationships/image" Target="/ppt/media/image27.png" Id="Rc320ae03473d4752" /><Relationship Type="http://schemas.openxmlformats.org/officeDocument/2006/relationships/image" Target="/ppt/media/image28.png" Id="R4690042ef4104ed7" /><Relationship Type="http://schemas.openxmlformats.org/officeDocument/2006/relationships/notesSlide" Target="/ppt/notesSlides/notesSlide18.xml" Id="R27c0d52d583b48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895d6e5b04847" /><Relationship Type="http://schemas.openxmlformats.org/officeDocument/2006/relationships/image" Target="/ppt/media/image29.png" Id="R77b937b281ec48c1" /><Relationship Type="http://schemas.openxmlformats.org/officeDocument/2006/relationships/notesSlide" Target="/ppt/notesSlides/notesSlide19.xml" Id="R727e582b28c745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85f5ae6a54f50" /><Relationship Type="http://schemas.openxmlformats.org/officeDocument/2006/relationships/image" Target="/ppt/media/image30.png" Id="Rf4353dc4980b4b6c" /><Relationship Type="http://schemas.openxmlformats.org/officeDocument/2006/relationships/notesSlide" Target="/ppt/notesSlides/notesSlide20.xml" Id="R29b850fd673f4b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f7ac85b684ef7" /><Relationship Type="http://schemas.openxmlformats.org/officeDocument/2006/relationships/image" Target="/ppt/media/image31.png" Id="Rd2c723a33057440d" /><Relationship Type="http://schemas.openxmlformats.org/officeDocument/2006/relationships/notesSlide" Target="/ppt/notesSlides/notesSlide21.xml" Id="R38612124cb6549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69cfd13ee4db9" /><Relationship Type="http://schemas.openxmlformats.org/officeDocument/2006/relationships/image" Target="/ppt/media/image32.png" Id="Rcac582db9caf41f6" /><Relationship Type="http://schemas.openxmlformats.org/officeDocument/2006/relationships/notesSlide" Target="/ppt/notesSlides/notesSlide22.xml" Id="Re04773a258f744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bc9ee13c64068" /><Relationship Type="http://schemas.openxmlformats.org/officeDocument/2006/relationships/image" Target="/ppt/media/image33.png" Id="Ref6ee9e562924b9d" /><Relationship Type="http://schemas.openxmlformats.org/officeDocument/2006/relationships/image" Target="/ppt/media/image34.png" Id="R543186704c7a46c1" /><Relationship Type="http://schemas.openxmlformats.org/officeDocument/2006/relationships/image" Target="/ppt/media/image35.png" Id="R018cd5bcad514c60" /><Relationship Type="http://schemas.openxmlformats.org/officeDocument/2006/relationships/notesSlide" Target="/ppt/notesSlides/notesSlide23.xml" Id="Rc55e2666744543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a4f3229d34123"/>
          <a:stretch xmlns:a="http://schemas.openxmlformats.org/drawingml/2006/main"/>
        </p:blipFill>
        <p:spPr>
          <a:xfrm xmlns:a="http://schemas.openxmlformats.org/drawingml/2006/main">
            <a:off x="609600" y="441759"/>
            <a:ext cx="933450" cy="77383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C6EEC-02B9-44AB-B0F2-38C955F1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Università Campus Bio-Medico di Roma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ACD73-9344-4BAE-BA7E-81E0C44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4772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Facoltà Dipartimentale di Ingegneria</a:t>
            </a:r>
          </a:p>
          <a:p xmlns:a="http://schemas.openxmlformats.org/drawingml/2006/main">
            <a:pPr>
              <a:defRPr sz="15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 Magistrale in Ingegneria dei Sistemi Intelligenti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56A39-0AE0-4A87-8AD6-294B7584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33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Shor’s algorithm</a:t>
            </a:r>
          </a:p>
          <a:p xmlns:a="http://schemas.openxmlformats.org/drawingml/2006/main">
            <a:pPr>
              <a:defRPr sz="43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under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D1CF7-124B-4DB9-8458-0CB54F3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Machine-learning ablation,</a:t>
            </a:r>
          </a:p>
          <a:p xmlns:a="http://schemas.openxmlformats.org/drawingml/2006/main">
            <a:pPr>
              <a:defRPr sz="24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quantum error correction</a:t>
            </a:r>
          </a:p>
          <a:p xmlns:a="http://schemas.openxmlformats.org/drawingml/2006/main">
            <a:pPr>
              <a:defRPr sz="24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and approximate QFT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a025f5c994a44"/>
          <a:stretch xmlns:a="http://schemas.openxmlformats.org/drawingml/2006/main"/>
        </p:blipFill>
        <p:spPr>
          <a:xfrm xmlns:a="http://schemas.openxmlformats.org/drawingml/2006/main">
            <a:off x="8039100" y="1945461"/>
            <a:ext cx="3476625" cy="32623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DD15C-5F44-453F-9D40-B803976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7C30A-0007-4919-998C-34C31CCE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Laureando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2D7AE-F93D-48B0-80AF-2A111B9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29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Relatore  Prof. Paolo Soda</a:t>
            </a:r>
          </a:p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Correlatore  Prof. Floriano Caprio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BBA06-9D49-4688-9D54-5365A2BF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A.A. 2025/2026</a:t>
            </a:r>
          </a:p>
        </p:txBody>
      </p:sp>
    </p:spTree>
    <p:extLst>
      <p:ext uri="{BB962C8B-B14F-4D97-AF65-F5344CB8AC3E}">
        <p14:creationId xmlns:p14="http://schemas.microsoft.com/office/powerpoint/2010/main" val="400201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8CBE0-556F-4D33-86B7-8A05ABF2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Il percorso della presentazione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0f2811726497d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A49C4-F093-45A0-AB49-BE9B3FAA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40979-085F-4A2E-8BEC-84E7062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40145-82F9-4C1E-9F69-2DA2E87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19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Shor sotto rumore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C3B76-0D99-4665-8028-D9AEDD01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problema, le strategie</a:t>
            </a:r>
          </a:p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 i risultati della 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9E858-F951-4AE3-B840-2DA6A67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Tre interventi a confronto:</a:t>
            </a:r>
          </a:p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post-processing, QEC e AQFT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A748C-BB5F-4C98-B7EF-5D9A6257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811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62A81-1F93-4AA3-AC23-48E1F15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40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FF358-E5F1-4E45-A763-317A69D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526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Perché il rumore limita 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8192E-AE44-4341-A1F0-CFA6C0B9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4573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p.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A0A7C-C124-4F19-AB34-A7CEBB1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AB8BD-8D50-47F2-A5C8-E1DD2463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526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Obiettivi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D0E6F-53E1-47A0-BA1E-C949C8D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955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Quali domande verifichiamo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D965C-7B24-4F16-AA64-41A2468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400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p.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6D972-8C56-4A88-8EEB-C5479A53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670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1E4CE-9A98-4264-9F72-0DE7690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Metodo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ED9AF-1785-49F1-9FE8-EF9E425B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38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Come rendiamo i confronti equi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25693-5FD7-414C-92BD-5CCD2326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3432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p.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78B07-EB6D-4984-8495-7D114DD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47A2C-EECF-461A-9980-C9003CB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38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3AC16-0BF4-4719-BC7A-661B7EF6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815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Quali strategie portano un beneficio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F9049-427C-443A-9035-970B4623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286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p.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FCECA-930B-4E6E-A878-424A0C8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530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5D5F3-DC7D-413E-871F-410A0852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81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EAEE1-E6C9-4DEA-BC9F-8FB2FE4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24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Che cosa abbiamo imparato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97B47-4356-4B47-A7A6-D0834BA6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2292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p. 19</a:t>
            </a:r>
          </a:p>
        </p:txBody>
      </p:sp>
    </p:spTree>
    <p:extLst>
      <p:ext uri="{BB962C8B-B14F-4D97-AF65-F5344CB8AC3E}">
        <p14:creationId xmlns:p14="http://schemas.microsoft.com/office/powerpoint/2010/main" val="1918125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BE3F7-8E8F-42DE-A7F1-E598AA70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Shor promette velocità. Il rumore la limita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98acd09844b71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E67DB-78FE-41E8-9B36-27D450F9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9B-A630-4E7F-A3EB-34A45D3D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36BD0-BC86-484E-85E7-5DBFB43A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RSA si basa sulla difficoltà di fattorizzare numeri molto grandi.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4AAD1-9736-4E8E-A8E0-7537361F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COMPUTER CLASSICO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5989C-611C-451B-BF20-8C399D16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GNFS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DFD94-BBC8-4334-AFF1-A0488A0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Costo sub-esponenziale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C0E55-F80D-4EA5-ABDB-128630BE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COMPUTER QUANTISTICO IDEALE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02264-5C42-48C6-B18F-6546219D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C7B4C-979A-477D-8217-96BFF661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Tempo polinomiale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03c37924472f"/>
          <a:stretch xmlns:a="http://schemas.openxmlformats.org/drawingml/2006/main"/>
        </p:blipFill>
        <p:spPr>
          <a:xfrm xmlns:a="http://schemas.openxmlformats.org/drawingml/2006/main">
            <a:off x="915580" y="4495800"/>
            <a:ext cx="2264589" cy="1571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C6CB0-D3C7-456F-8B63-5E204D1B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482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Nell’esecuzione reale entra il rumore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7315-E206-4758-8D28-813C41BB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Errori di gate, decoerenza e readout riducono</a:t>
            </a:r>
          </a:p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l’affidabilità dei circuiti.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94ECE-D28A-4249-8BC6-E1BE1CB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IBM Quantum System One</a:t>
            </a:r>
          </a:p>
        </p:txBody>
      </p:sp>
    </p:spTree>
    <p:extLst>
      <p:ext uri="{BB962C8B-B14F-4D97-AF65-F5344CB8AC3E}">
        <p14:creationId xmlns:p14="http://schemas.microsoft.com/office/powerpoint/2010/main" val="854623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8E0E8-45BE-48D5-AB81-5E0D87EB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L’algoritmo di Shor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ec9c7c42c4acf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8938C-6765-4870-B42E-960F610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57EA9-EA06-4AEA-8148-4CA3C4B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B1FAF-474E-4F9A-9F4D-3425D4B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75578-D5AF-4A70-9F37-E6C32A3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Pre-processing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BFC7F-DF72-4BED-B130-0A7DFB6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Scelta di a e gcd(a, 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CDAB-672A-4BDF-A194-54D8B098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906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A1B13-A72F-42BB-9748-B03C9EB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Ricerca del periodo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C6EA0-5331-4EC1-828C-5D0E38F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622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Esponenziazione modulare e QPE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B964E-6FDA-41C5-A764-FB66F43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906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16FCD-2EAA-49A5-BD91-C20DBFD7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QFT inversa e misura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20641-78BB-46C4-8763-8501A56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22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y / 2ᵐ ≈ s /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12B26-10B7-4012-A358-66799E5C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906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2E90E-1CE9-4D5E-BAB9-8F512BD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79FD5-DFEE-439A-92F7-600A04B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622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Frazioni continue e gcd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835469e2c439d"/>
          <a:stretch xmlns:a="http://schemas.openxmlformats.org/drawingml/2006/main"/>
        </p:blipFill>
        <p:spPr>
          <a:xfrm xmlns:a="http://schemas.openxmlformats.org/drawingml/2006/main">
            <a:off x="771525" y="3419475"/>
            <a:ext cx="5867400" cy="19050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57396306c4d18"/>
          <a:stretch xmlns:a="http://schemas.openxmlformats.org/drawingml/2006/main"/>
        </p:blipFill>
        <p:spPr>
          <a:xfrm xmlns:a="http://schemas.openxmlformats.org/drawingml/2006/main">
            <a:off x="8385368" y="3343275"/>
            <a:ext cx="2164964" cy="2095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86F97-2FA5-4FF4-8B22-E7A20BF4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N = 15, a = 7: il periodo è r = 4, da cui 15 = 3 × 5</a:t>
            </a:r>
          </a:p>
        </p:txBody>
      </p:sp>
    </p:spTree>
    <p:extLst>
      <p:ext uri="{BB962C8B-B14F-4D97-AF65-F5344CB8AC3E}">
        <p14:creationId xmlns:p14="http://schemas.microsoft.com/office/powerpoint/2010/main" val="1438258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E028-EF71-4BE8-B315-D4AA9323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Il rumore riduce il successo di Shor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8a1fc1fbb4e9f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DE07A-4B20-403C-BFCF-B515AED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DF8BC-0708-44F4-B89E-32A86346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30312-1C88-4B61-9C89-8968BABA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74,89% → 24,6%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6166D-A0CC-4A56-9873-A0D9464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542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per singola misura, dal caso ideale al rumore elevato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9D1FD-8772-4929-9170-BF001C57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Già con p_g = 1% il successo scende al 56,5%.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70158f45f4519"/>
          <a:stretch xmlns:a="http://schemas.openxmlformats.org/drawingml/2006/main"/>
        </p:blipFill>
        <p:spPr>
          <a:xfrm xmlns:a="http://schemas.openxmlformats.org/drawingml/2006/main">
            <a:off x="6324600" y="1547450"/>
            <a:ext cx="5248275" cy="309635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8FC9-05EA-4046-9D3C-1B3FEBB9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interviene nella preparazione, nell’esponenziazione modulare, nella QFT inversa e nella misura.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4A2E-2A4A-421A-BC99-365F16E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Ad alto rumore resta il pavimento della verifica classica: 63/256</a:t>
            </a:r>
          </a:p>
        </p:txBody>
      </p:sp>
    </p:spTree>
    <p:extLst>
      <p:ext uri="{BB962C8B-B14F-4D97-AF65-F5344CB8AC3E}">
        <p14:creationId xmlns:p14="http://schemas.microsoft.com/office/powerpoint/2010/main" val="424530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DCF35-15EB-45C3-9E98-49DA7F67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Approcci esistenti contro il rumore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3429af54a41bb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C09D7-688C-4275-8D55-47616AE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E04E1-EF7A-4AF3-A910-34704A1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924300"/>
                <a:gridCol w="4095750"/>
              </a:tblGrid>
              <a:tr h="8358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Approccio</a:t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Potenziale beneficio</a:t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Confronto da controllare</a:t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Post-processing e ML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Informazione residua nell’istogramma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Più candidati o contributo del modello?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QEC e decoder appresi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Soppressione dell’errore logico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Forza della baseline e validità della soglia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QFT approssimata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Meno porte e profondità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Perdita di precisione di fase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6B8BC-EF6D-423C-A9AC-5A61218E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Ogni tecnica va valutata contro una baseline adeguata, sulla metrica finale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1A966-1615-499B-8D99-0F7FBCA5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Yang e Markidis 2026 · Bausch et al. 2024 · Roffe et al. 2020 · Bravyi et al. 2024 · Barenco et al. 1996</a:t>
            </a:r>
          </a:p>
        </p:txBody>
      </p:sp>
    </p:spTree>
    <p:extLst>
      <p:ext uri="{BB962C8B-B14F-4D97-AF65-F5344CB8AC3E}">
        <p14:creationId xmlns:p14="http://schemas.microsoft.com/office/powerpoint/2010/main" val="304108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33803-42F6-4879-8C04-BB58001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QEC protegge i qubit. AQFT riduce le porte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4030d844b4f29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A72E-961B-44D8-9279-13825F9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Contesto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D7114-BC1C-4BA0-BD81-65279B3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074F-4FD8-42DD-B08E-69F1715A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QEC · correzione degli errori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2B710-E07A-4E30-8963-5EC4311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Protegge l’informazione durante il calcolo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7DDEE-E2D2-4468-BB62-B22F3C1D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571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Qubit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CDC77-A0D2-451F-B500-4C0E723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09900"/>
            <a:ext cx="45720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B9944-12DD-4B50-B5E0-1C4CE8A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33675"/>
            <a:ext cx="2476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Più qubit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fisici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2C56E-D049-4802-AF2B-79182C5E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Sindrome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9D3AD-C325-4D62-ABFF-4EF305F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00525"/>
            <a:ext cx="3333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597D0-CB5C-4094-862F-9F0816B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FF0AD-D2E0-43FD-9C48-9019136D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00525"/>
            <a:ext cx="3333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FFC68-69BA-4D36-BA7C-332B4EF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Correzione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173A9-7997-494A-8E97-65AEB943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524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Sotto soglia: una distanza maggiore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riduce l’errore logico.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9E7FB-FD29-4DC6-9A06-A676E7B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620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AQFT · QFT approssimata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2F8A6-E60E-4DDA-BCDE-6AE885EE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8117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Semplifica la QFT nel circuito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C4A9E-6DF7-4F11-ADC7-5F6CEEB1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33675"/>
            <a:ext cx="21050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Rotazioni di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grande angolo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81F43-DB58-4043-B872-3C8AE12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2343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7"/>
                </a:solidFill>
                <a:latin typeface="Arial"/>
                <a:ea typeface="Arial"/>
                <a:cs typeface="Arial"/>
              </a:rPr>
              <a:t>Rotazioni di</a:t>
            </a:r>
          </a:p>
          <a:p xmlns:a="http://schemas.openxmlformats.org/drawingml/2006/main">
            <a:pPr algn="ctr">
              <a:defRPr sz="2100" b="1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47487"/>
                </a:solidFill>
                <a:latin typeface="Arial"/>
                <a:ea typeface="Arial"/>
                <a:cs typeface="Arial"/>
              </a:rPr>
              <a:t>piccolo angolo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0FCCF-E063-43FA-BDC3-2D022D59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2427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MANTENUTE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FFCC3-BEEA-429A-B87E-63C69C3D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2427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B70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B702B"/>
                </a:solidFill>
                <a:latin typeface="Arial"/>
                <a:ea typeface="Arial"/>
                <a:cs typeface="Arial"/>
              </a:rPr>
              <a:t>OMESSE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82903-4016-4387-9124-B6D0F94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Meno porte e profondità</a:t>
            </a:r>
          </a:p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Minore precisione di fase</a:t>
            </a:r>
          </a:p>
        </p:txBody>
      </p:sp>
    </p:spTree>
    <p:extLst>
      <p:ext uri="{BB962C8B-B14F-4D97-AF65-F5344CB8AC3E}">
        <p14:creationId xmlns:p14="http://schemas.microsoft.com/office/powerpoint/2010/main" val="993554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C123B-7979-466E-AAF8-A5C815E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Tre punti in cui intervenire sul rumore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20041214843e7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D80C6-1663-4D5B-A484-CFDA3314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Obiettivi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62EFF-C074-413D-8CA2-EBFD0D0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71DB-DAE4-4756-9F28-AE895C8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Misurare il degrado di Shor e confrontare tre strategie con baseline esplicite.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8D9B8-A999-4395-921F-0DACB9B5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952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Calcolo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quantistico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18306-7B20-4E6D-9AEF-DDAB0D5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590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E08D-88BF-40EA-B9FE-D47FF2C4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86125"/>
            <a:ext cx="18954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FDEB0-76B1-4D80-9AC5-F3EBA45E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590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CF756-F7FA-4E39-AD4B-DB5DCBAB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86125"/>
            <a:ext cx="3181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9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Post-processing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1CAFD-8C42-4EED-A4EE-DDD8B3A8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AQFT · nel circuito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AD4ED-7E8E-46A1-817C-1E994F2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Ridurre le porte esposte al rumore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8A099-4F1B-41AF-8FBD-05A53A5B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QEC · durante il calcolo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E839-83DE-418F-942C-99FA22A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Proteggere i qubit con codici e decoder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33022-3E64-407B-8083-3696BDF8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767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TOP-K e ML · dopo la misura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F3BA6-BB44-4D33-BB3A-D0D70DA8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76825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Sfruttare gli esiti misurati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per ricavare i fattori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445FC-1326-45E7-B6B3-76467EB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DR5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21F50-0CF2-4173-A37E-2D41690F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DR2–DR3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28F9D-B668-4D8C-ACDB-D0B05CAE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90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DR1</a:t>
            </a:r>
          </a:p>
        </p:txBody>
      </p:sp>
    </p:spTree>
    <p:extLst>
      <p:ext uri="{BB962C8B-B14F-4D97-AF65-F5344CB8AC3E}">
        <p14:creationId xmlns:p14="http://schemas.microsoft.com/office/powerpoint/2010/main" val="939666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9BE40-00D3-4090-AE67-CF675168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Le cinque domande della tesi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69e8817324c29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0295C-B9D6-4DE2-81D9-6937D00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Obiettivi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9A0B1-9F38-4464-8AB5-7182262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F2C9F-C860-4591-B1E6-6957CCE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16E3-6738-4CE1-95B9-B5E40A8F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C6149-FB42-4970-B842-3063E4C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TOP-K aiuta? Il filtro ML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aggiunge un beneficio?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94A75-74D4-4D6E-957E-AD92D3BB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3620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D88C9-34C2-49DC-9318-7C879594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716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Correzione d’errore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DCEF9-D9FF-40C7-8EF2-969C818B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050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Quando la QEC conviene?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Quanto conta la distanza?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B9616-3E35-4920-9EE2-8CD92C83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74E1E-63EA-4B2A-8AFE-F6E45FA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CB896-B91D-4424-AE45-2E99D5B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ML aiuta quando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rumore è correlato?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52B3B-F275-412D-8E09-575507F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9090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C0C9A-37D3-4361-AAE3-6B40FE56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004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Rumore e successo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9D248-C4D9-4E07-925D-E722B2D2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3387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Quanto cala il successo di Shor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al crescere dell’errore per gate?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28682-7DBC-4437-892A-C8CE641E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DR5 · QFT approssimata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CB70E-D930-4F7F-BBD3-EA2CBE1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Quando meno porte compensano la perdita di precisione di fase?</a:t>
            </a:r>
          </a:p>
        </p:txBody>
      </p:sp>
    </p:spTree>
    <p:extLst>
      <p:ext uri="{BB962C8B-B14F-4D97-AF65-F5344CB8AC3E}">
        <p14:creationId xmlns:p14="http://schemas.microsoft.com/office/powerpoint/2010/main" val="1216660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57836-F399-45B2-9A82-2E229B82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Esperimenti: simulazioni su piccole istanze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f59342cc948aa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D9ECA-D92B-493C-B939-2FFC735E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Metodo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91569-7745-41D5-B100-BF76DBB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0DDF-1DAF-4B30-B38C-E422274B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66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CAMPAGNA PRINCIPALE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CDCDA-8229-47F1-99B5-ADCE4B62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381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N =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4DE3-9AC9-4ECA-BC0C-944092F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= 7     r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D7A9E-4F6C-41F7-BA02-7BF6CC9C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12 qubit</a:t>
            </a:r>
          </a:p>
          <a:p xmlns:a="http://schemas.openxmlformats.org/drawingml/2006/main">
            <a:pPr>
              <a:defRPr sz="24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224 porte CX</a:t>
            </a:r>
          </a:p>
          <a:p xmlns:a="http://schemas.openxmlformats.org/drawingml/2006/main">
            <a:pPr>
              <a:defRPr sz="24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Profondità 412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1E059-299A-41F5-9CDB-90740FD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38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CONTROLLI ED ESPLORAZIONE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2BBB6-061B-4BB8-BD5E-045715CA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57400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N = 21 · a = 2 · r =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3E790-43CC-494A-881D-421D7231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81250"/>
            <a:ext cx="48863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Validazione ideale e AQFT esplorativa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DF852-8CC3-4157-B533-E0BFC0F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8612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N = 35 · a = 6 · r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3C058-BE1D-41CD-8824-C47952F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09975"/>
            <a:ext cx="48863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Controllo ideale dell’aritmetica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8EE8D-D433-4EFC-81D4-479591C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67250"/>
            <a:ext cx="4886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B70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B702B"/>
                </a:solidFill>
                <a:latin typeface="Arial"/>
                <a:ea typeface="Arial"/>
                <a:cs typeface="Arial"/>
              </a:rPr>
              <a:t>Nessuna esecuzione su hardware reale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36383-6BD5-4A07-A9C0-AC07313C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STRUMENTI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02C65-C1B8-480B-90CF-ABBF7DB6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Qiskit / Aer: Shor e AQFT     Stim / PyMatching: surface code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scikit-learn: modelli ML     ldpc: decoder BP+OSD</a:t>
            </a:r>
          </a:p>
        </p:txBody>
      </p:sp>
    </p:spTree>
    <p:extLst>
      <p:ext uri="{BB962C8B-B14F-4D97-AF65-F5344CB8AC3E}">
        <p14:creationId xmlns:p14="http://schemas.microsoft.com/office/powerpoint/2010/main" val="641546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D1B5F-9303-48EB-BAE4-BA51844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Confronto appaiato e ablazione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2f021dd5d4424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A662D-8A34-4595-A6F9-EDBD3607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Metodo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56B53-70A0-480F-8DC7-717C0A9D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9318D-3444-4DD4-8296-03D2AA6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Shor N = 15, a = 7: un istogramma da 1024 shot per iterazione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5DD60-CD50-4253-975B-5F80985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109F1-D907-4E11-A3B8-6471494F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Solo l’esito più frequente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B2E4-562F-466E-B94D-2098103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TOP-4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E62BA-9BE5-411A-ABE5-B08244B0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 quattro candidati più frequenti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1FF1A-4F9D-4BE4-BF48-608DE8C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57D47-D92F-43D0-8EBC-A68B4B2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143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Classificatore ML, poi TOP-4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137E-D3B9-49C5-A476-3661339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05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Stessa verifica classica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2D136-8EE0-44C3-B8E6-AEBE0E57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432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Frazioni continue e gcd</a:t>
            </a:r>
          </a:p>
          <a:p xmlns:a="http://schemas.openxmlformats.org/drawingml/2006/main">
            <a:pPr>
              <a:defRPr sz="22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per tutte le strategie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E85BD-B3ED-4B7C-A8B4-4ACD11D9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905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Metrica finale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A07FC-32F1-4503-B928-085ED83B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33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fino ai fattori</a:t>
            </a:r>
          </a:p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Wilcoxon-Pratt e Holm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AE44C-F883-4FB7-8575-EE401A0D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M2 contro TOP-4 senza filtro isola il contributo del classificatore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2EC8E-2BF7-4951-B451-7F96808C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30 repliche appaiate per scenario, massimo 50 iterazioni. Training: 2000 istogrammi per scenario.</a:t>
            </a:r>
          </a:p>
        </p:txBody>
      </p:sp>
    </p:spTree>
    <p:extLst>
      <p:ext uri="{BB962C8B-B14F-4D97-AF65-F5344CB8AC3E}">
        <p14:creationId xmlns:p14="http://schemas.microsoft.com/office/powerpoint/2010/main" val="1216356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B2B9F-8C8F-4F36-AA47-B8E0086E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DR1 · Post-processing e machine learning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088ecd8dd4e5b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56BAB-94B4-40E4-8FC0-0733BDB1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83D3F-7137-4C94-B055-C5EC33D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b29a971aa4883"/>
          <a:stretch xmlns:a="http://schemas.openxmlformats.org/drawingml/2006/main"/>
        </p:blipFill>
        <p:spPr>
          <a:xfrm xmlns:a="http://schemas.openxmlformats.org/drawingml/2006/main">
            <a:off x="949276" y="1381125"/>
            <a:ext cx="5988148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4A77-D24B-4234-89ED-5E40884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1,00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A3B6D-0393-4B85-8CEC-114C1F5D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361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Iterazioni medie con TOP-4 in entrambi gli scenari, 30/30 repliche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4AFF4-C3D2-4529-9363-D5843376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480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TOP-1: 1,37 / 1,50</a:t>
            </a:r>
          </a:p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M2: 1,50 / 1,37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187A8-5D88-4F0A-AD21-892E7F4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SVM: F1 0,919 / 0,923; AUC 0,965 / 0,958</a:t>
            </a:r>
          </a:p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M2 vs TOP-4: p_Holm 0,0033 / 0,0096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C57C7-C758-41A5-BFE5-59256506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Il beneficio viene dalla ricerca multi-candidato. Il filtro ML non aggiunge valore</a:t>
            </a:r>
          </a:p>
        </p:txBody>
      </p:sp>
    </p:spTree>
    <p:extLst>
      <p:ext uri="{BB962C8B-B14F-4D97-AF65-F5344CB8AC3E}">
        <p14:creationId xmlns:p14="http://schemas.microsoft.com/office/powerpoint/2010/main" val="1058721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B06A5-1349-459D-B8DC-E4936A47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DR2 · Correzione d’errore e soglia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91e78b8e74ac5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935E3-C2F0-406F-B419-D21D67C1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3FF5-4072-47CC-81F9-9892D35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1bc8743f44b96"/>
          <a:stretch xmlns:a="http://schemas.openxmlformats.org/drawingml/2006/main"/>
        </p:blipFill>
        <p:spPr>
          <a:xfrm xmlns:a="http://schemas.openxmlformats.org/drawingml/2006/main">
            <a:off x="609600" y="1392946"/>
            <a:ext cx="7667625" cy="35768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4C067-0DEE-4324-9F81-99A5FC6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14475"/>
            <a:ext cx="2809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0,86%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FB853-FD83-4265-915C-83F8C5B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Soglia dal fit in base Z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0,81% in base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7CD4C-6362-46FD-8ECA-3D54DF43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Surface code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Decoder MWPM</a:t>
            </a:r>
          </a:p>
          <a:p xmlns:a="http://schemas.openxmlformats.org/drawingml/2006/main">
            <a:pPr>
              <a:defRPr sz="18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Rumore circuit-level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101D-CA0A-4E6F-88C1-4D5DCDF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Sotto soglia: p_L da 1,94×10⁻³ (d = 3) a 2,01×10⁻⁵ (d = 9), a p = 2×10⁻³.</a:t>
            </a:r>
          </a:p>
          <a:p xmlns:a="http://schemas.openxmlformats.org/drawingml/2006/main">
            <a:pPr>
              <a:defRPr sz="16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Steane [[7,1,3]]: pendenza 1,94, pseudo-soglia p ≈ 0,08.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20061-E53A-4485-BADB-43BEBBEB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Sotto soglia, aumentare la distanza sopprime l’errore logico</a:t>
            </a:r>
          </a:p>
        </p:txBody>
      </p:sp>
    </p:spTree>
    <p:extLst>
      <p:ext uri="{BB962C8B-B14F-4D97-AF65-F5344CB8AC3E}">
        <p14:creationId xmlns:p14="http://schemas.microsoft.com/office/powerpoint/2010/main" val="798485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B5593-88CB-4302-8B7F-149D26F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DR3 · Decoder analitici, appresi e ibridi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d2d3d2b9e46bd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F78EB-8E22-4163-A356-2D231A11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65464-A449-4A1F-8222-067F6187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588b757304131"/>
          <a:stretch xmlns:a="http://schemas.openxmlformats.org/drawingml/2006/main"/>
        </p:blipFill>
        <p:spPr>
          <a:xfrm xmlns:a="http://schemas.openxmlformats.org/drawingml/2006/main">
            <a:off x="655707" y="1381125"/>
            <a:ext cx="6727686" cy="3886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D35C8-C23F-49DB-B421-4DB75597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15,6–17,6%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0E193-8D5B-4785-926C-C7D9BA42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Riduzione relativa di p_L con MWPM + rete, a d = 3 con crosstalk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6619E-7405-40DC-896A-45D5E64D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5: 0,5–3,2%</a:t>
            </a:r>
          </a:p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d = 7: non significativo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16237-23EB-4C19-B32E-004223E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Rete sostitutiva: 10⁵–10⁶ campioni per pareggiare MWPM a d = 3. BP+OSD: −25,5% a d = 5 senza crosstalk.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86B87-8E2C-4748-BBCA-364292C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Il ML aiuta come correttore residuale di una struttura d’errore non modellata</a:t>
            </a:r>
          </a:p>
        </p:txBody>
      </p:sp>
    </p:spTree>
    <p:extLst>
      <p:ext uri="{BB962C8B-B14F-4D97-AF65-F5344CB8AC3E}">
        <p14:creationId xmlns:p14="http://schemas.microsoft.com/office/powerpoint/2010/main" val="4347389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33188-E12D-415C-9866-462D085F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DR3 · Gross code e surface code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d4b652dc64249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9DCE-4608-48AB-887A-DE90B5D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D9AEA-7365-403B-82F0-CB6A04F3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2783C-AB82-4007-994A-87244A8C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Confronto esplorativo code-capacity: proteggere gli stessi 12 qubit logici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1FF8C-6D4D-40C3-8D5C-9547D1E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Gross code [[144,12,12]]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080DC-4875-4465-9867-1AEF50AE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F9A1D-F82E-4564-A06F-7E8925F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766B2-03F8-4EE0-A3DF-4482539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81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12 surface code, distanza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B1181-02AD-4E0D-B145-D9A489E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20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9D6D6-F582-4CED-A858-BC22D42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8140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Qubit di dato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34F46-9CCC-42D1-AC20-7910C3C4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0CB32-79B6-4357-BF0A-A86CB54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Con BP+OSD seriale, il Gross code protegge meglio per p ≥ 0,75%, con circa 1/14 dei qubit di dato.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91F49-DA0A-49D0-91A6-C4248A9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Il decoder conta: a p = 1%, schedulazione seriale riduce il fallimento di circa 100×</a:t>
            </a:r>
          </a:p>
        </p:txBody>
      </p:sp>
    </p:spTree>
    <p:extLst>
      <p:ext uri="{BB962C8B-B14F-4D97-AF65-F5344CB8AC3E}">
        <p14:creationId xmlns:p14="http://schemas.microsoft.com/office/powerpoint/2010/main" val="2921242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AF951-609D-4A34-A84C-394FB46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DR4 · Sensibilità di Shor al rumore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2d7da19c04d80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2FEAE-0714-44F5-AB92-FF17D92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9782F-5C90-4861-AE09-F85FB35C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5d51015334362"/>
          <a:stretch xmlns:a="http://schemas.openxmlformats.org/drawingml/2006/main"/>
        </p:blipFill>
        <p:spPr>
          <a:xfrm xmlns:a="http://schemas.openxmlformats.org/drawingml/2006/main">
            <a:off x="698971" y="1352550"/>
            <a:ext cx="6974534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1AB10-39C0-476F-84BE-9FA749B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74,89%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67979-EF59-4E17-9597-E186905E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per singola misura nel caso ideale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7B04B-D42E-4EC2-AD52-7E63095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64,5% a p_g = 0,005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56,5% a p_g = 0,01</a:t>
            </a:r>
          </a:p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45,2% a p_g = 0,02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8E3A-1A3B-4A49-A045-EE791B0D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Il plateau a circa 24,5% è il pavimento del post-processing: 63/256</a:t>
            </a:r>
          </a:p>
        </p:txBody>
      </p:sp>
    </p:spTree>
    <p:extLst>
      <p:ext uri="{BB962C8B-B14F-4D97-AF65-F5344CB8AC3E}">
        <p14:creationId xmlns:p14="http://schemas.microsoft.com/office/powerpoint/2010/main" val="5859707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6D58A-2EC2-4D89-B889-9A45040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DR5 · QFT approssimata su N = 15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a5a9537e4451d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FE3AD-D34C-4C36-BD27-E9DB388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CE26D-D522-46D3-9F5C-A89D1DB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9cce03414205"/>
          <a:stretch xmlns:a="http://schemas.openxmlformats.org/drawingml/2006/main"/>
        </p:blipFill>
        <p:spPr>
          <a:xfrm xmlns:a="http://schemas.openxmlformats.org/drawingml/2006/main">
            <a:off x="609600" y="1490979"/>
            <a:ext cx="6219825" cy="37331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839F-6747-486B-AC66-10E8652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2005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+14,87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D060B-BD4C-4ECF-AC9E-D476E7EE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47900"/>
            <a:ext cx="42005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Punti percentuali di successo su holdout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381875" y="3400425"/>
          <a:ext xmlns:a="http://schemas.openxmlformats.org/drawingml/2006/main" cx="420052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362075"/>
                <a:gridCol w="1362075"/>
              </a:tblGrid>
              <a:tr h="4643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QFT piena</a:t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AQFT</a:t>
                      </a:r>
                    </a:p>
                  </a:txBody>
                  <a:tcPr marL="91440" marR="91440" marT="45720" marB="45720">
                    <a:solidFill>
                      <a:srgbClr val="145D91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Successo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0,4792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0,6279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Porte ECR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Profondità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1351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344"/>
                          </a:solidFill>
                          <a:latin typeface="Arial"/>
                          <a:ea typeface="Arial"/>
                          <a:cs typeface="Arial"/>
                        </a:rPr>
                        <a:t>1141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D947B-EFDB-4274-85E3-962DDEAA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Grado scelto in selection. Holdout disgiunto. IC 95%: [12,73; 16,99] punti. Istanza favorevole: r = 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BA50-9982-427D-866A-DB03878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−22,9% porte ECR e −15,5% profondità, con maggiore successo finale</a:t>
            </a:r>
          </a:p>
        </p:txBody>
      </p:sp>
    </p:spTree>
    <p:extLst>
      <p:ext uri="{BB962C8B-B14F-4D97-AF65-F5344CB8AC3E}">
        <p14:creationId xmlns:p14="http://schemas.microsoft.com/office/powerpoint/2010/main" val="440930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32B7-BFE0-4DA6-812E-E8427BA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DR5 · AQFT su N = 21 e QPE isolata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0ae03473d4752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BF692-766A-481C-B4C0-213DCBF6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Risultati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278CD-9328-4CA1-AFC5-AD7A8E8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181AC-01BF-4810-93F8-FBB6804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Shor su N =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664AE-B04C-41D5-96A5-6466967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52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Porte ECR: 49 661 → 23 178</a:t>
            </a:r>
          </a:p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Successo ideale: 0,4667 → 0,4013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6EFB-3079-46A7-BA2B-50F7A33C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Con rumore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106E7-778A-4593-93A9-6CB845A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52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A budget ridotto, nessun vantaggio dimostrato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1874-63FD-4932-8003-3C222AFD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QPE isolata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2822A-CD9F-4DF2-8E3D-E26AC85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524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9 stime su 9 favorevoli, 6 IC su 9 sopra zero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0042ef4104ed7"/>
          <a:stretch xmlns:a="http://schemas.openxmlformats.org/drawingml/2006/main"/>
        </p:blipFill>
        <p:spPr>
          <a:xfrm xmlns:a="http://schemas.openxmlformats.org/drawingml/2006/main">
            <a:off x="6905625" y="1742143"/>
            <a:ext cx="4648200" cy="324036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83AD8-143B-403B-A333-08E2CFC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7210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IC Newcombe individuali al 95%. Evidenza esplorativa, senza correzione simultanea.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A4B81-1C08-497C-A790-31F2DB2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Il grado AQFT va scelto per istanza e per regime di rumore</a:t>
            </a:r>
          </a:p>
        </p:txBody>
      </p:sp>
    </p:spTree>
    <p:extLst>
      <p:ext uri="{BB962C8B-B14F-4D97-AF65-F5344CB8AC3E}">
        <p14:creationId xmlns:p14="http://schemas.microsoft.com/office/powerpoint/2010/main" val="14793098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A8CB3-D1E8-450E-A474-06C1B46F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Risposte alle domande di ricerca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937b281ec48c1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980D-7F86-4749-B5BE-10142277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829CE-283C-48EE-8F46-FF8EA125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75ED2-E26C-4AFE-B436-6224117E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BB594-1F5E-4CDF-A166-7C61539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362075"/>
            <a:ext cx="957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TOP-K è utile. Il filtro ML non aggiunge valore operativo.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98B89-62D7-4317-AAAA-5CE561FD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8192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TOP-4: 1,00 iterazioni nei due scenari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793B4-3713-4659-AD9D-8660CA90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E79A0-5583-44D6-B6CC-67CF1E42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276475"/>
            <a:ext cx="957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La QEC sopprime l’errore sotto soglia.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3A32-194C-462F-9BC6-544498F7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7336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Surface code: 0,86% (Z), 0,81% (X)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0D466-0F95-46D6-AE6F-E4EA3AE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28ACB-5798-457D-9CBC-73D7F65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90875"/>
            <a:ext cx="957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ML aiuta come correttore residuale.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34240-AC0D-4E78-B6A8-A85B799E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480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Riduzione di p_L: 15,6–17,6% a d = 3 con crosstalk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7EEC0-53FB-4483-9C67-B466C78B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260BC-EAF3-4B4F-931A-432E83D1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105275"/>
            <a:ext cx="957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successo cala fino al pavimento della verifica classica.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DECCA-B51A-4C8B-9AFB-8DFEBFA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624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74,89% → circa 24,5%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CEBFA-A229-4874-82AC-792272D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DR5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1ECA0-8D35-46F1-90D4-9E01A3FA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19675"/>
            <a:ext cx="957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L’AQFT aiuta se le porte evitate compensano la perdita di fase.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CC725-0A5F-4E39-B55D-0F8B162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4768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N = 15: 0,4792 → 0,6279. Vantaggio non dimostrato su N = 21</a:t>
            </a:r>
          </a:p>
        </p:txBody>
      </p:sp>
    </p:spTree>
    <p:extLst>
      <p:ext uri="{BB962C8B-B14F-4D97-AF65-F5344CB8AC3E}">
        <p14:creationId xmlns:p14="http://schemas.microsoft.com/office/powerpoint/2010/main" val="2635048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FD1E9-E5E2-4450-9A7A-776CD384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Conclusione centrale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53dc4980b4b6c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B1A34-BE08-4C27-A89D-B219E0B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63BCC-D891-4703-B9F3-236F423F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B2D1-8BF9-4DB1-8C63-8BD271EA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58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La complessità aggiuntiva</a:t>
            </a:r>
          </a:p>
          <a:p xmlns:a="http://schemas.openxmlformats.org/drawingml/2006/main">
            <a:pPr>
              <a:defRPr sz="3675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è giustificata quando agisce</a:t>
            </a:r>
          </a:p>
          <a:p xmlns:a="http://schemas.openxmlformats.org/drawingml/2006/main">
            <a:pPr>
              <a:defRPr sz="3675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sul collo di bottiglia effettivo.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0FDBD-C2CD-4C2B-8F3A-91F44DB1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beneficio deve essere misurabile rispetto a una baseline adeguata.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C6A6-A47B-4E2D-ACD9-3A16C1E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5D91"/>
                </a:solidFill>
                <a:latin typeface="Arial"/>
                <a:ea typeface="Arial"/>
                <a:cs typeface="Arial"/>
              </a:rPr>
              <a:t>TOP-K: informazione disponibile    QEC: protezione sotto soglia</a:t>
            </a:r>
          </a:p>
          <a:p xmlns:a="http://schemas.openxmlformats.org/drawingml/2006/main">
            <a:pPr>
              <a:defRPr sz="1875" b="0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5D91"/>
                </a:solidFill>
                <a:latin typeface="Arial"/>
                <a:ea typeface="Arial"/>
                <a:cs typeface="Arial"/>
              </a:rPr>
              <a:t>Decoder appreso: struttura residuale    AQFT: costo e precisione</a:t>
            </a:r>
          </a:p>
        </p:txBody>
      </p:sp>
    </p:spTree>
    <p:extLst>
      <p:ext uri="{BB962C8B-B14F-4D97-AF65-F5344CB8AC3E}">
        <p14:creationId xmlns:p14="http://schemas.microsoft.com/office/powerpoint/2010/main" val="20684406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E7DF3-B27F-4848-8AB7-CBAA027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Limiti e sviluppi futuri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723a33057440d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5C9F-21BB-475A-BFD7-9CBD170B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Conclusioni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5FF93-FDF9-49A6-A509-453DE1A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E790F-5178-4061-A55D-62456BEC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Limiti dello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06C74-A0D7-4327-AD7A-BC270157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Scala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9B3FC-88BD-4C90-8693-7823E892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Simulazioni. N = 15 e r = 4 sono favorevoli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97CC9-5314-4EAF-B29B-F5FDCC6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Rumore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0A2C8-92FD-4CAF-972B-C55BB13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Uniforme e stazionario, senza QPU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1681-CBA5-4D4E-A179-1DCA544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QEC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284C7-135A-46A9-8D91-AEAE613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Memoria, senza Shor fault-tolerant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AF7E0-83B0-4BB8-B361-5354BA49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Inferenza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61F25-AF4F-4621-84CB-684DCE45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Benchmark esplorativi, senza correzione simultanea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395DC-C88B-4D1C-BA0C-CC4E5D42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Sviluppi futuri, per priorità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9A410-E5D9-480A-9B13-D1CA3D78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907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1   Hardware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96FDE-C244-4F9F-91BA-8F2A9EB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1457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QPU e calibrazione coeva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9B954-8532-4394-9B2A-EBEF25EF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81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2   Scala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EE0A9-E698-4A52-A891-4BBBBF59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0515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Variare N, r, conteggio e aritmetica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4E09E-92BD-470A-AF75-CC87488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3   Fault tolerance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2AA72-4D5E-4179-8594-9164633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957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Gate logici e cicli QEC espliciti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E5830-FA1C-4878-BB9E-499FEC8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62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4   Decoder e codici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77FE5-6199-4EAD-BCFF-D32F88FF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863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BP+OSD, modelli strutturali e Gross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045FA-08BD-47EB-A5D0-B0FC463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530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5   Costo circuitale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8AB72-F2DD-474E-8A44-95E4873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7687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Ottimizzare aritmetica e AQFT</a:t>
            </a:r>
          </a:p>
        </p:txBody>
      </p:sp>
    </p:spTree>
    <p:extLst>
      <p:ext uri="{BB962C8B-B14F-4D97-AF65-F5344CB8AC3E}">
        <p14:creationId xmlns:p14="http://schemas.microsoft.com/office/powerpoint/2010/main" val="19389176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1CE45-FC8E-4D03-8D8C-E4BA67A5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477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Grazie</a:t>
            </a:r>
          </a:p>
          <a:p xmlns:a="http://schemas.openxmlformats.org/drawingml/2006/main">
            <a:pPr>
              <a:defRPr sz="570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per l’attenzione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83AE-03B4-4335-923D-DD8B49E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Il valore di una tecnica dipende dall’informazione</a:t>
            </a:r>
          </a:p>
          <a:p xmlns:a="http://schemas.openxmlformats.org/drawingml/2006/main">
            <a:pPr>
              <a:defRPr sz="2625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che sfrutta e dal limite della baseline.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1366C-EF43-4861-B5F4-B464326D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Claudio Dragotta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C79AB-280B-47B8-8ACA-E7EB06F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Ingegneria dei Sistemi Intelligenti · A.A. 2025/2026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582db9caf41f6"/>
          <a:stretch xmlns:a="http://schemas.openxmlformats.org/drawingml/2006/main"/>
        </p:blipFill>
        <p:spPr>
          <a:xfrm xmlns:a="http://schemas.openxmlformats.org/drawingml/2006/main">
            <a:off x="10639425" y="613209"/>
            <a:ext cx="933450" cy="7738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879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E5EF2-5621-4117-A866-B4B5F464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F50"/>
                </a:solidFill>
                <a:latin typeface="Arial"/>
                <a:ea typeface="Arial"/>
                <a:cs typeface="Arial"/>
              </a:rPr>
              <a:t>Demo interattiva: Shor con e senza rumore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ee9e562924b9d"/>
          <a:stretch xmlns:a="http://schemas.openxmlformats.org/drawingml/2006/main"/>
        </p:blipFill>
        <p:spPr>
          <a:xfrm xmlns:a="http://schemas.openxmlformats.org/drawingml/2006/main">
            <a:off x="10896600" y="363435"/>
            <a:ext cx="685800" cy="5685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2850E-3108-4B19-A080-71850C1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Riserva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7697D-AA3E-44D1-9FB5-6EC4246C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186704c7a46c1"/>
          <a:stretch xmlns:a="http://schemas.openxmlformats.org/drawingml/2006/main"/>
        </p:blipFill>
        <p:spPr>
          <a:xfrm xmlns:a="http://schemas.openxmlformats.org/drawingml/2006/main">
            <a:off x="609600" y="1623024"/>
            <a:ext cx="6353175" cy="2192728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cd5bcad514c60"/>
          <a:stretch xmlns:a="http://schemas.openxmlformats.org/drawingml/2006/main"/>
        </p:blipFill>
        <p:spPr>
          <a:xfrm xmlns:a="http://schemas.openxmlformats.org/drawingml/2006/main">
            <a:off x="1646039" y="4333875"/>
            <a:ext cx="4280297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CD5EF-07A5-40C2-9B0E-5F34F9FE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5257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Ideale e rumoroso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08131-BEE2-42CD-85E6-0A66FBCB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76425"/>
            <a:ext cx="3962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Stesso circuito N = 15, caso ideale e preset UC1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B834-D5BF-476F-8F1F-5E9D472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Dove entra il rumore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1D0A1-C26C-40BF-B665-C7E74547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3962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70 SX, 224 CX, 302 RZ virtuali senza rumore e 8 misure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85D6E-7F6F-4D9C-876C-E9E31CE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71925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Demo illustrativa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07543-4CA2-497B-B6E0-5C59985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95775"/>
            <a:ext cx="3962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344"/>
                </a:solidFill>
                <a:latin typeface="Arial"/>
                <a:ea typeface="Arial"/>
                <a:cs typeface="Arial"/>
              </a:rPr>
              <a:t>Modello uniforme, senza misura su 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633D7-6280-44A6-A031-AEF544A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5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5D91"/>
                </a:solidFill>
                <a:latin typeface="Arial"/>
                <a:ea typeface="Arial"/>
                <a:cs typeface="Arial"/>
              </a:rPr>
              <a:t>shor-demo-6knp.onrender.com</a:t>
            </a:r>
          </a:p>
        </p:txBody>
      </p:sp>
    </p:spTree>
    <p:extLst>
      <p:ext uri="{BB962C8B-B14F-4D97-AF65-F5344CB8AC3E}">
        <p14:creationId xmlns:p14="http://schemas.microsoft.com/office/powerpoint/2010/main" val="129990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2026-10-04T20:41:25.7600000Z</dcterms:created>
  <dcterms:modified xsi:type="dcterms:W3CDTF">2026-10-04T20:41:25.7600000Z</dcterms:modified>
</coreProperties>
</file>