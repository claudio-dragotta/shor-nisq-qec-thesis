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09600" y="562620"/>
            <a:ext cx="7874000" cy="37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70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7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09600" y="1244600"/>
            <a:ext cx="10769600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09600" y="562620"/>
            <a:ext cx="7874000" cy="37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70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7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09600" y="1244600"/>
            <a:ext cx="10769600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fera di Bloch con lo stato di un qubit e gli angoli theta e phi">    </p:cNvPr>
          <p:cNvPicPr>
            <a:picLocks noChangeAspect="1"/>
          </p:cNvPicPr>
          <p:nvPr/>
        </p:nvPicPr>
        <p:blipFill>
          <a:blip r:embed="rId1"/>
          <a:srcRect l="-26" r="-26" t="0" b="0"/>
          <a:stretch/>
        </p:blipFill>
        <p:spPr>
          <a:xfrm>
            <a:off x="7493000" y="1498600"/>
            <a:ext cx="4191000" cy="3930650"/>
          </a:xfrm>
          <a:prstGeom prst="rect">
            <a:avLst/>
          </a:prstGeom>
        </p:spPr>
      </p:pic>
      <p:pic>
        <p:nvPicPr>
          <p:cNvPr id="3" name="Image 1" descr="Logo Università Campus Bio-Medico di Roma">    </p:cNvPr>
          <p:cNvPicPr>
            <a:picLocks noChangeAspect="1"/>
          </p:cNvPicPr>
          <p:nvPr/>
        </p:nvPicPr>
        <p:blipFill>
          <a:blip r:embed="rId2"/>
          <a:srcRect l="0" r="0" t="-261" b="-261"/>
          <a:stretch/>
        </p:blipFill>
        <p:spPr>
          <a:xfrm>
            <a:off x="609600" y="355600"/>
            <a:ext cx="1219200" cy="1016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09600" y="1524000"/>
            <a:ext cx="693293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UNIVERSITÀ CAMPUS BIO-MEDICO DI ROMA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609600" y="1790700"/>
            <a:ext cx="6932930" cy="454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FACOLTÀ DIPARTIMENTALE DI INGEGNERIA</a:t>
            </a:r>
            <a:endParaRPr lang="en-US" sz="1300" dirty="0"/>
          </a:p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CORSO DI LAUREA MAGISTRALE IN INGEGNERIA DEI SISTEMI INTELLIGENTI</a:t>
            </a:r>
            <a:endParaRPr lang="en-US" sz="1300" dirty="0"/>
          </a:p>
        </p:txBody>
      </p:sp>
      <p:sp>
        <p:nvSpPr>
          <p:cNvPr id="6" name="Text 2"/>
          <p:cNvSpPr/>
          <p:nvPr>
            <p:ph type="title"/>
          </p:nvPr>
        </p:nvSpPr>
        <p:spPr>
          <a:xfrm>
            <a:off x="609600" y="2489200"/>
            <a:ext cx="7063740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500" b="1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SHOR'S ALGORITHM UNDER NOISE:</a:t>
            </a:r>
            <a:endParaRPr lang="en-US" sz="25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2500" b="1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MACHINE-LEARNING ABLATION,</a:t>
            </a:r>
            <a:endParaRPr lang="en-US" sz="25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2500" b="1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 ERROR CORRECTION,</a:t>
            </a:r>
            <a:endParaRPr lang="en-US" sz="25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2500" b="1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APPROXIMATE QFT</a:t>
            </a:r>
            <a:endParaRPr lang="en-US" sz="2500" dirty="0"/>
          </a:p>
        </p:txBody>
      </p:sp>
      <p:sp>
        <p:nvSpPr>
          <p:cNvPr id="7" name="Text 3"/>
          <p:cNvSpPr/>
          <p:nvPr/>
        </p:nvSpPr>
        <p:spPr>
          <a:xfrm>
            <a:off x="609600" y="4267200"/>
            <a:ext cx="340106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i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Relatore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09600" y="4533900"/>
            <a:ext cx="3401060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i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Paolo Soda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09600" y="5041900"/>
            <a:ext cx="340106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i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Correlatore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609600" y="5308600"/>
            <a:ext cx="3401060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i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Floriano Caprio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445000" y="5041900"/>
            <a:ext cx="274701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i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Laureando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445000" y="5308600"/>
            <a:ext cx="2747010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i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Claudio Dragotta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09600" y="5994400"/>
            <a:ext cx="340106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A.A. 2025/2026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562620"/>
            <a:ext cx="8110220" cy="40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0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53450" y="711200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Indice | 2</a:t>
            </a:r>
            <a:endParaRPr lang="en-US" sz="13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016000"/>
            <a:ext cx="9906000" cy="38100"/>
          </a:xfrm>
          <a:prstGeom prst="rect">
            <a:avLst/>
          </a:prstGeom>
        </p:spPr>
      </p:pic>
      <p:pic>
        <p:nvPicPr>
          <p:cNvPr id="5" name="Image 1" descr="Logo Università Campus Bio-Medico di Roma">    </p:cNvPr>
          <p:cNvPicPr>
            <a:picLocks noChangeAspect="1"/>
          </p:cNvPicPr>
          <p:nvPr/>
        </p:nvPicPr>
        <p:blipFill>
          <a:blip r:embed="rId2"/>
          <a:srcRect l="0" r="0" t="-261" b="-261"/>
          <a:stretch/>
        </p:blipFill>
        <p:spPr>
          <a:xfrm>
            <a:off x="10795000" y="152400"/>
            <a:ext cx="990600" cy="825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9600" y="1813570"/>
            <a:ext cx="4064000" cy="690860"/>
          </a:xfrm>
          <a:prstGeom prst="roundRect">
            <a:avLst>
              <a:gd name="adj" fmla="val 14706"/>
            </a:avLst>
          </a:prstGeom>
          <a:solidFill>
            <a:srgbClr val="3F73B0"/>
          </a:solidFill>
          <a:ln/>
        </p:spPr>
        <p:txBody>
          <a:bodyPr wrap="square" lIns="170902" tIns="148042" rIns="170902" bIns="122642" rtlCol="0" anchor="t">
            <a:normAutofit/>
          </a:bodyPr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Contesto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4851400" y="1803400"/>
            <a:ext cx="711200" cy="711200"/>
          </a:xfrm>
          <a:prstGeom prst="roundRect">
            <a:avLst>
              <a:gd name="adj" fmla="val 50000"/>
            </a:avLst>
          </a:prstGeom>
          <a:solidFill>
            <a:srgbClr val="0B2F5B"/>
          </a:solidFill>
          <a:ln/>
        </p:spPr>
        <p:txBody>
          <a:bodyPr wrap="square" lIns="127127" tIns="0" rIns="127177" bIns="0" rtlCol="0" anchor="ctr">
            <a:normAutofit/>
          </a:bodyPr>
          <a:lstStyle/>
          <a:p>
            <a:pPr algn="ctr"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</a:t>
            </a:r>
            <a:endParaRPr lang="en-US" sz="1400" dirty="0"/>
          </a:p>
          <a:p>
            <a:pPr algn="ctr"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609600" y="2677170"/>
            <a:ext cx="4064000" cy="690860"/>
          </a:xfrm>
          <a:prstGeom prst="roundRect">
            <a:avLst>
              <a:gd name="adj" fmla="val 14706"/>
            </a:avLst>
          </a:prstGeom>
          <a:solidFill>
            <a:srgbClr val="125C97"/>
          </a:solidFill>
          <a:ln/>
        </p:spPr>
        <p:txBody>
          <a:bodyPr wrap="square" lIns="170902" tIns="148042" rIns="170902" bIns="122642" rtlCol="0" anchor="t">
            <a:normAutofit/>
          </a:bodyPr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Obiettivi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4851400" y="2667000"/>
            <a:ext cx="711200" cy="711200"/>
          </a:xfrm>
          <a:prstGeom prst="roundRect">
            <a:avLst>
              <a:gd name="adj" fmla="val 50000"/>
            </a:avLst>
          </a:prstGeom>
          <a:solidFill>
            <a:srgbClr val="0B2F5B"/>
          </a:solidFill>
          <a:ln/>
        </p:spPr>
        <p:txBody>
          <a:bodyPr wrap="square" lIns="127127" tIns="0" rIns="127177" bIns="0" rtlCol="0" anchor="ctr">
            <a:normAutofit/>
          </a:bodyPr>
          <a:lstStyle/>
          <a:p>
            <a:pPr algn="ctr"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</a:t>
            </a:r>
            <a:endParaRPr lang="en-US" sz="1400" dirty="0"/>
          </a:p>
          <a:p>
            <a:pPr algn="ctr"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09600" y="3540770"/>
            <a:ext cx="4064000" cy="690860"/>
          </a:xfrm>
          <a:prstGeom prst="roundRect">
            <a:avLst>
              <a:gd name="adj" fmla="val 14706"/>
            </a:avLst>
          </a:prstGeom>
          <a:solidFill>
            <a:srgbClr val="3F73B0"/>
          </a:solidFill>
          <a:ln/>
        </p:spPr>
        <p:txBody>
          <a:bodyPr wrap="square" lIns="170902" tIns="148042" rIns="170902" bIns="122642" rtlCol="0" anchor="t">
            <a:normAutofit/>
          </a:bodyPr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4851400" y="3530600"/>
            <a:ext cx="711200" cy="711200"/>
          </a:xfrm>
          <a:prstGeom prst="roundRect">
            <a:avLst>
              <a:gd name="adj" fmla="val 50000"/>
            </a:avLst>
          </a:prstGeom>
          <a:solidFill>
            <a:srgbClr val="0B2F5B"/>
          </a:solidFill>
          <a:ln/>
        </p:spPr>
        <p:txBody>
          <a:bodyPr wrap="square" lIns="127127" tIns="0" rIns="127177" bIns="0" rtlCol="0" anchor="ctr">
            <a:normAutofit/>
          </a:bodyPr>
          <a:lstStyle/>
          <a:p>
            <a:pPr algn="ctr"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</a:t>
            </a:r>
            <a:endParaRPr lang="en-US" sz="1400" dirty="0"/>
          </a:p>
          <a:p>
            <a:pPr algn="ctr"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09600" y="4404370"/>
            <a:ext cx="4064000" cy="690860"/>
          </a:xfrm>
          <a:prstGeom prst="roundRect">
            <a:avLst>
              <a:gd name="adj" fmla="val 14706"/>
            </a:avLst>
          </a:prstGeom>
          <a:solidFill>
            <a:srgbClr val="125C97"/>
          </a:solidFill>
          <a:ln/>
        </p:spPr>
        <p:txBody>
          <a:bodyPr wrap="square" lIns="170902" tIns="148042" rIns="170902" bIns="122642" rtlCol="0" anchor="t">
            <a:normAutofit/>
          </a:bodyPr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Risultati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4851400" y="4394200"/>
            <a:ext cx="711200" cy="711200"/>
          </a:xfrm>
          <a:prstGeom prst="roundRect">
            <a:avLst>
              <a:gd name="adj" fmla="val 50000"/>
            </a:avLst>
          </a:prstGeom>
          <a:solidFill>
            <a:srgbClr val="0B2F5B"/>
          </a:solidFill>
          <a:ln/>
        </p:spPr>
        <p:txBody>
          <a:bodyPr wrap="square" lIns="127127" tIns="0" rIns="127177" bIns="0" rtlCol="0" anchor="ctr">
            <a:normAutofit/>
          </a:bodyPr>
          <a:lstStyle/>
          <a:p>
            <a:pPr algn="ctr"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</a:t>
            </a:r>
            <a:endParaRPr lang="en-US" sz="1400" dirty="0"/>
          </a:p>
          <a:p>
            <a:pPr algn="ctr"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09600" y="5267970"/>
            <a:ext cx="4064000" cy="690860"/>
          </a:xfrm>
          <a:prstGeom prst="roundRect">
            <a:avLst>
              <a:gd name="adj" fmla="val 14706"/>
            </a:avLst>
          </a:prstGeom>
          <a:solidFill>
            <a:srgbClr val="3F73B0"/>
          </a:solidFill>
          <a:ln/>
        </p:spPr>
        <p:txBody>
          <a:bodyPr wrap="square" lIns="170902" tIns="148042" rIns="170902" bIns="122642" rtlCol="0" anchor="t">
            <a:normAutofit/>
          </a:bodyPr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Conclusioni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4851400" y="5257800"/>
            <a:ext cx="711200" cy="711200"/>
          </a:xfrm>
          <a:prstGeom prst="roundRect">
            <a:avLst>
              <a:gd name="adj" fmla="val 50000"/>
            </a:avLst>
          </a:prstGeom>
          <a:solidFill>
            <a:srgbClr val="0B2F5B"/>
          </a:solidFill>
          <a:ln/>
        </p:spPr>
        <p:txBody>
          <a:bodyPr wrap="square" lIns="127127" tIns="0" rIns="127177" bIns="0" rtlCol="0" anchor="ctr">
            <a:normAutofit/>
          </a:bodyPr>
          <a:lstStyle/>
          <a:p>
            <a:pPr algn="ctr"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</a:t>
            </a:r>
            <a:endParaRPr lang="en-US" sz="1400" dirty="0"/>
          </a:p>
          <a:p>
            <a:pPr algn="ctr"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562620"/>
            <a:ext cx="8110220" cy="40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0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 vantaggio teorico al rumore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53450" y="711200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Contesto | 3</a:t>
            </a:r>
            <a:endParaRPr lang="en-US" sz="13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016000"/>
            <a:ext cx="9906000" cy="38100"/>
          </a:xfrm>
          <a:prstGeom prst="rect">
            <a:avLst/>
          </a:prstGeom>
        </p:spPr>
      </p:pic>
      <p:pic>
        <p:nvPicPr>
          <p:cNvPr id="5" name="Image 1" descr="Logo Università Campus Bio-Medico di Roma">    </p:cNvPr>
          <p:cNvPicPr>
            <a:picLocks noChangeAspect="1"/>
          </p:cNvPicPr>
          <p:nvPr/>
        </p:nvPicPr>
        <p:blipFill>
          <a:blip r:embed="rId2"/>
          <a:srcRect l="0" r="0" t="-261" b="-261"/>
          <a:stretch/>
        </p:blipFill>
        <p:spPr>
          <a:xfrm>
            <a:off x="10795000" y="152400"/>
            <a:ext cx="990600" cy="825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9600" y="1320800"/>
            <a:ext cx="53632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sicurezza di </a:t>
            </a: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RSA</a:t>
            </a: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 fonda sulla difficoltà di fattorizzare interi di grandi dimensioni.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609600" y="2146300"/>
            <a:ext cx="536321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miglior algoritmo classico generale, il General Number Field Sieve, ha costo </a:t>
            </a: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sub-esponenziale</a:t>
            </a: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609600" y="3302000"/>
            <a:ext cx="536321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Nel 1994 Shor mostra che un computer quantistico ideale fattorizza in </a:t>
            </a: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polinomiale</a:t>
            </a: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619125" y="4467225"/>
            <a:ext cx="2508250" cy="902940"/>
          </a:xfrm>
          <a:prstGeom prst="roundRect">
            <a:avLst>
              <a:gd name="adj" fmla="val 15823"/>
            </a:avLst>
          </a:prstGeom>
          <a:solidFill>
            <a:srgbClr val="FFFFFF"/>
          </a:solidFill>
          <a:ln w="19050">
            <a:solidFill>
              <a:srgbClr val="125C9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28650" y="4476750"/>
            <a:ext cx="2489200" cy="383530"/>
          </a:xfrm>
          <a:custGeom>
            <a:avLst/>
            <a:gdLst/>
            <a:ahLst/>
            <a:cxnLst/>
            <a:rect l="l" t="t" r="r" b="b"/>
            <a:pathLst>
              <a:path w="2489200" h="383530">
                <a:moveTo>
                  <a:pt x="0" y="133350"/>
                </a:moveTo>
                <a:arcTo hR="133350" wR="133350" stAng="10800000" swAng="5400000"/>
                <a:lnTo>
                  <a:pt x="2355850" y="0"/>
                </a:lnTo>
                <a:arcTo hR="133350" wR="133350" stAng="16200000" swAng="5400000"/>
                <a:lnTo>
                  <a:pt x="2489200" y="383530"/>
                </a:lnTo>
                <a:lnTo>
                  <a:pt x="0" y="383530"/>
                </a:lnTo>
                <a:close/>
              </a:path>
            </a:pathLst>
          </a:custGeom>
          <a:solidFill>
            <a:srgbClr val="125C97"/>
          </a:solidFill>
          <a:ln/>
        </p:spPr>
        <p:txBody>
          <a:bodyPr wrap="square" lIns="67310" tIns="76200" rIns="67310" bIns="5080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Classico · GNFS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69798" y="4961880"/>
            <a:ext cx="2406904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sub-esponenziale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3298825" y="4467225"/>
            <a:ext cx="2508250" cy="902940"/>
          </a:xfrm>
          <a:prstGeom prst="roundRect">
            <a:avLst>
              <a:gd name="adj" fmla="val 15823"/>
            </a:avLst>
          </a:prstGeom>
          <a:solidFill>
            <a:srgbClr val="FFFFFF"/>
          </a:solidFill>
          <a:ln w="19050">
            <a:solidFill>
              <a:srgbClr val="125C9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308350" y="4476750"/>
            <a:ext cx="2489200" cy="383530"/>
          </a:xfrm>
          <a:custGeom>
            <a:avLst/>
            <a:gdLst/>
            <a:ahLst/>
            <a:cxnLst/>
            <a:rect l="l" t="t" r="r" b="b"/>
            <a:pathLst>
              <a:path w="2489200" h="383530">
                <a:moveTo>
                  <a:pt x="0" y="133350"/>
                </a:moveTo>
                <a:arcTo hR="133350" wR="133350" stAng="10800000" swAng="5400000"/>
                <a:lnTo>
                  <a:pt x="2355850" y="0"/>
                </a:lnTo>
                <a:arcTo hR="133350" wR="133350" stAng="16200000" swAng="5400000"/>
                <a:lnTo>
                  <a:pt x="2489200" y="383530"/>
                </a:lnTo>
                <a:lnTo>
                  <a:pt x="0" y="383530"/>
                </a:lnTo>
                <a:close/>
              </a:path>
            </a:pathLst>
          </a:custGeom>
          <a:solidFill>
            <a:srgbClr val="125C97"/>
          </a:solidFill>
          <a:ln/>
        </p:spPr>
        <p:txBody>
          <a:bodyPr wrap="square" lIns="67310" tIns="76200" rIns="67310" bIns="5080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Quantistico · Shor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349498" y="4961880"/>
            <a:ext cx="2406904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polinomiale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6121400" y="1320800"/>
            <a:ext cx="19050" cy="4658320"/>
          </a:xfrm>
          <a:prstGeom prst="rect">
            <a:avLst/>
          </a:prstGeom>
          <a:solidFill>
            <a:srgbClr val="3F73B0"/>
          </a:solidFill>
          <a:ln/>
        </p:spPr>
      </p:sp>
      <p:sp>
        <p:nvSpPr>
          <p:cNvPr id="16" name="Text 12"/>
          <p:cNvSpPr/>
          <p:nvPr/>
        </p:nvSpPr>
        <p:spPr>
          <a:xfrm>
            <a:off x="6445250" y="1320800"/>
            <a:ext cx="5291265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limite attuale: il rumore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6445250" y="1783060"/>
            <a:ext cx="5291265" cy="134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Errori di gate, decoerenza, readout imperfetto, connettività limitata e crosstalk riducono la profondità dei circuiti eseguibili con affidabilità.</a:t>
            </a:r>
            <a:endParaRPr lang="en-US" sz="2000" dirty="0"/>
          </a:p>
        </p:txBody>
      </p:sp>
      <p:pic>
        <p:nvPicPr>
          <p:cNvPr id="18" name="Image 2" descr="IBM Quantum System One">    </p:cNvPr>
          <p:cNvPicPr>
            <a:picLocks noChangeAspect="1"/>
          </p:cNvPicPr>
          <p:nvPr/>
        </p:nvPicPr>
        <p:blipFill>
          <a:blip r:embed="rId3"/>
          <a:srcRect l="0" r="0" t="2893" b="2893"/>
          <a:stretch/>
        </p:blipFill>
        <p:spPr>
          <a:xfrm>
            <a:off x="6445250" y="3230860"/>
            <a:ext cx="3302000" cy="2159000"/>
          </a:xfrm>
          <a:prstGeom prst="roundRect">
            <a:avLst>
              <a:gd name="adj" fmla="val 4706"/>
            </a:avLst>
          </a:prstGeom>
        </p:spPr>
      </p:pic>
      <p:sp>
        <p:nvSpPr>
          <p:cNvPr id="19" name="Text 14"/>
          <p:cNvSpPr/>
          <p:nvPr/>
        </p:nvSpPr>
        <p:spPr>
          <a:xfrm>
            <a:off x="6445250" y="5516860"/>
            <a:ext cx="5291265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Quantum System One: al centro il criostato che contiene il chip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562620"/>
            <a:ext cx="8110220" cy="40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0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L'algoritmo di Shor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53450" y="711200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Contesto | 4</a:t>
            </a:r>
            <a:endParaRPr lang="en-US" sz="13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016000"/>
            <a:ext cx="9906000" cy="38100"/>
          </a:xfrm>
          <a:prstGeom prst="rect">
            <a:avLst/>
          </a:prstGeom>
        </p:spPr>
      </p:pic>
      <p:pic>
        <p:nvPicPr>
          <p:cNvPr id="5" name="Image 1" descr="Logo Università Campus Bio-Medico di Roma">    </p:cNvPr>
          <p:cNvPicPr>
            <a:picLocks noChangeAspect="1"/>
          </p:cNvPicPr>
          <p:nvPr/>
        </p:nvPicPr>
        <p:blipFill>
          <a:blip r:embed="rId2"/>
          <a:srcRect l="0" r="0" t="-261" b="-261"/>
          <a:stretch/>
        </p:blipFill>
        <p:spPr>
          <a:xfrm>
            <a:off x="10795000" y="152400"/>
            <a:ext cx="990600" cy="8255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09600" y="1320800"/>
            <a:ext cx="2419350" cy="1757660"/>
          </a:xfrm>
          <a:prstGeom prst="roundRect">
            <a:avLst>
              <a:gd name="adj" fmla="val 7226"/>
            </a:avLst>
          </a:prstGeom>
          <a:solidFill>
            <a:srgbClr val="3F73B0"/>
          </a:solidFill>
          <a:ln/>
        </p:spPr>
      </p:sp>
      <p:sp>
        <p:nvSpPr>
          <p:cNvPr id="7" name="Text 3"/>
          <p:cNvSpPr/>
          <p:nvPr/>
        </p:nvSpPr>
        <p:spPr>
          <a:xfrm>
            <a:off x="711200" y="143510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711200" y="1841500"/>
            <a:ext cx="2282635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Pre-processing</a:t>
            </a:r>
            <a:endParaRPr lang="en-US" sz="20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classico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711200" y="2501900"/>
            <a:ext cx="228263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scelta di a, gcd(a, N)</a:t>
            </a:r>
            <a:endParaRPr lang="en-US" sz="1400" dirty="0"/>
          </a:p>
        </p:txBody>
      </p:sp>
      <p:pic>
        <p:nvPicPr>
          <p:cNvPr id="10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105150" y="2110730"/>
            <a:ext cx="279400" cy="1778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3460750" y="1320800"/>
            <a:ext cx="2419350" cy="1757660"/>
          </a:xfrm>
          <a:prstGeom prst="roundRect">
            <a:avLst>
              <a:gd name="adj" fmla="val 7226"/>
            </a:avLst>
          </a:prstGeom>
          <a:solidFill>
            <a:srgbClr val="125C97"/>
          </a:solidFill>
          <a:ln/>
        </p:spPr>
      </p:sp>
      <p:sp>
        <p:nvSpPr>
          <p:cNvPr id="12" name="Text 7"/>
          <p:cNvSpPr/>
          <p:nvPr/>
        </p:nvSpPr>
        <p:spPr>
          <a:xfrm>
            <a:off x="3562350" y="143510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3562350" y="1841500"/>
            <a:ext cx="2282635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Ricerca</a:t>
            </a:r>
            <a:endParaRPr lang="en-US" sz="20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periodo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3562350" y="2501900"/>
            <a:ext cx="2282635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esponenziazione modulare e QPE</a:t>
            </a:r>
            <a:endParaRPr lang="en-US" sz="1400" dirty="0"/>
          </a:p>
        </p:txBody>
      </p:sp>
      <p:pic>
        <p:nvPicPr>
          <p:cNvPr id="15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956300" y="2110730"/>
            <a:ext cx="279400" cy="17780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311900" y="1320800"/>
            <a:ext cx="2419350" cy="1757660"/>
          </a:xfrm>
          <a:prstGeom prst="roundRect">
            <a:avLst>
              <a:gd name="adj" fmla="val 7226"/>
            </a:avLst>
          </a:prstGeom>
          <a:solidFill>
            <a:srgbClr val="3F73B0"/>
          </a:solidFill>
          <a:ln/>
        </p:spPr>
      </p:sp>
      <p:sp>
        <p:nvSpPr>
          <p:cNvPr id="17" name="Text 11"/>
          <p:cNvSpPr/>
          <p:nvPr/>
        </p:nvSpPr>
        <p:spPr>
          <a:xfrm>
            <a:off x="6413500" y="143510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6413500" y="1841500"/>
            <a:ext cx="2282635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QFT inversa</a:t>
            </a:r>
            <a:endParaRPr lang="en-US" sz="20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misura</a:t>
            </a:r>
            <a:endParaRPr lang="en-US" sz="2000" dirty="0"/>
          </a:p>
        </p:txBody>
      </p:sp>
      <p:sp>
        <p:nvSpPr>
          <p:cNvPr id="19" name="Text 13"/>
          <p:cNvSpPr/>
          <p:nvPr/>
        </p:nvSpPr>
        <p:spPr>
          <a:xfrm>
            <a:off x="6413500" y="2501900"/>
            <a:ext cx="228263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esito y, con y / 2^m ≈ s / r</a:t>
            </a:r>
            <a:endParaRPr lang="en-US" sz="1400" dirty="0"/>
          </a:p>
        </p:txBody>
      </p:sp>
      <p:pic>
        <p:nvPicPr>
          <p:cNvPr id="20" name="Image 4" descr="arrow-right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807450" y="2110730"/>
            <a:ext cx="279400" cy="177800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9163050" y="1320800"/>
            <a:ext cx="2419350" cy="1757660"/>
          </a:xfrm>
          <a:prstGeom prst="roundRect">
            <a:avLst>
              <a:gd name="adj" fmla="val 7226"/>
            </a:avLst>
          </a:prstGeom>
          <a:solidFill>
            <a:srgbClr val="125C97"/>
          </a:solidFill>
          <a:ln/>
        </p:spPr>
      </p:sp>
      <p:sp>
        <p:nvSpPr>
          <p:cNvPr id="22" name="Text 15"/>
          <p:cNvSpPr/>
          <p:nvPr/>
        </p:nvSpPr>
        <p:spPr>
          <a:xfrm>
            <a:off x="9264650" y="143510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16"/>
          <p:cNvSpPr/>
          <p:nvPr/>
        </p:nvSpPr>
        <p:spPr>
          <a:xfrm>
            <a:off x="9264650" y="1841500"/>
            <a:ext cx="2282635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Post-processing</a:t>
            </a:r>
            <a:endParaRPr lang="en-US" sz="20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classico</a:t>
            </a:r>
            <a:endParaRPr lang="en-US" sz="2000" dirty="0"/>
          </a:p>
        </p:txBody>
      </p:sp>
      <p:sp>
        <p:nvSpPr>
          <p:cNvPr id="24" name="Text 17"/>
          <p:cNvSpPr/>
          <p:nvPr/>
        </p:nvSpPr>
        <p:spPr>
          <a:xfrm>
            <a:off x="9264650" y="2501900"/>
            <a:ext cx="228263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frazioni continue e gcd</a:t>
            </a:r>
            <a:endParaRPr lang="en-US" sz="1400" dirty="0"/>
          </a:p>
        </p:txBody>
      </p:sp>
      <p:pic>
        <p:nvPicPr>
          <p:cNvPr id="25" name="Image 5" descr="Grafico di 7^x mod 15 per x da 0 a 11: la sequenza 1, 7, 4, 13 si ripete ogni quattro valori">    </p:cNvPr>
          <p:cNvPicPr>
            <a:picLocks noChangeAspect="1"/>
          </p:cNvPicPr>
          <p:nvPr/>
        </p:nvPicPr>
        <p:blipFill>
          <a:blip r:embed="rId6"/>
          <a:srcRect l="0" r="0" t="-50" b="-50"/>
          <a:stretch/>
        </p:blipFill>
        <p:spPr>
          <a:xfrm>
            <a:off x="609600" y="3256260"/>
            <a:ext cx="6604000" cy="21463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09600" y="5529560"/>
            <a:ext cx="6802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N = 15 e a = 7 la sequenza 7^x mod 15 si ripete ogni 4 valori: </a:t>
            </a: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4</a:t>
            </a: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da cui </a:t>
            </a: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= 3 × 5</a:t>
            </a: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00" dirty="0"/>
          </a:p>
        </p:txBody>
      </p:sp>
      <p:pic>
        <p:nvPicPr>
          <p:cNvPr id="27" name="Image 6" descr="Circuito di Shor per N = 15: otto qubit di controllo con Hadamard, moltiplicazioni modulari controllate sul registro di lavoro, QFT inversa e misura">    </p:cNvPr>
          <p:cNvPicPr>
            <a:picLocks noChangeAspect="1"/>
          </p:cNvPicPr>
          <p:nvPr/>
        </p:nvPicPr>
        <p:blipFill>
          <a:blip r:embed="rId7"/>
          <a:srcRect l="-18" r="-18" t="0" b="0"/>
          <a:stretch/>
        </p:blipFill>
        <p:spPr>
          <a:xfrm>
            <a:off x="8375650" y="3256260"/>
            <a:ext cx="2349500" cy="227330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518400" y="5605760"/>
            <a:ext cx="4185920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Circuito per N = 15: 8 qubit di controllo (C) e 4 di lavoro (T), esponenziazione modulare controllata, QFT inversa e misura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562620"/>
            <a:ext cx="8110220" cy="40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0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problema: il rumore porta Shor al livello casuale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53450" y="711200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Contesto | 5</a:t>
            </a:r>
            <a:endParaRPr lang="en-US" sz="13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016000"/>
            <a:ext cx="9906000" cy="38100"/>
          </a:xfrm>
          <a:prstGeom prst="rect">
            <a:avLst/>
          </a:prstGeom>
        </p:spPr>
      </p:pic>
      <p:pic>
        <p:nvPicPr>
          <p:cNvPr id="5" name="Image 1" descr="Logo Università Campus Bio-Medico di Roma">    </p:cNvPr>
          <p:cNvPicPr>
            <a:picLocks noChangeAspect="1"/>
          </p:cNvPicPr>
          <p:nvPr/>
        </p:nvPicPr>
        <p:blipFill>
          <a:blip r:embed="rId2"/>
          <a:srcRect l="0" r="0" t="-261" b="-261"/>
          <a:stretch/>
        </p:blipFill>
        <p:spPr>
          <a:xfrm>
            <a:off x="10795000" y="152400"/>
            <a:ext cx="990600" cy="825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9600" y="1320800"/>
            <a:ext cx="575564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74,89% → ≈ 24,6%</a:t>
            </a:r>
            <a:endParaRPr lang="en-US" sz="4400" dirty="0"/>
          </a:p>
        </p:txBody>
      </p:sp>
      <p:sp>
        <p:nvSpPr>
          <p:cNvPr id="7" name="Text 3"/>
          <p:cNvSpPr/>
          <p:nvPr/>
        </p:nvSpPr>
        <p:spPr>
          <a:xfrm>
            <a:off x="609600" y="1930400"/>
            <a:ext cx="575564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probabilità di ricavare i fattori per singola misura, da nessun rumore a rumore elevato; con p_g = 1% è già 56,5%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609600" y="3060700"/>
            <a:ext cx="5588000" cy="1219200"/>
          </a:xfrm>
          <a:prstGeom prst="roundRect">
            <a:avLst>
              <a:gd name="adj" fmla="val 10417"/>
            </a:avLst>
          </a:prstGeom>
          <a:solidFill>
            <a:srgbClr val="0B2F5B"/>
          </a:solidFill>
          <a:ln/>
        </p:spPr>
        <p:txBody>
          <a:bodyPr wrap="square" lIns="166003" tIns="77103" rIns="10555" bIns="51703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alto rumore resta solo il 63/256 che la verifica classica accetterebbe anche da esiti casuali.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2300" y="4432300"/>
          <a:ext cx="5575300" cy="1917700"/>
        </p:xfrm>
        <a:graphic>
          <a:graphicData uri="http://schemas.openxmlformats.org/drawingml/2006/table">
            <a:tbl>
              <a:tblPr/>
              <a:tblGrid>
                <a:gridCol w="2230120"/>
                <a:gridCol w="3345180"/>
              </a:tblGrid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Preparazione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Errori di preparazione dello stato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</a:tr>
              <a:tr h="6794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Esponenziazione modulare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Decoerenza ed errori sulle porte a due qubit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QFT inversa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Errori di fase e rumore di gate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Misura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Errori di lettura (readout)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0" name="Image 2" descr="Probabilità di fattorizzazione per singola misura in funzione del proxy di errore Pauli per gate: da circa 0,75 scende a 0,565 a 0,01, a 0,295 a 0,05, fino al pavimento uniforme 63/256, circa 0,246">    </p:cNvPr>
          <p:cNvPicPr>
            <a:picLocks noChangeAspect="1"/>
          </p:cNvPicPr>
          <p:nvPr/>
        </p:nvPicPr>
        <p:blipFill>
          <a:blip r:embed="rId3"/>
          <a:srcRect l="0" r="0" t="-2" b="-2"/>
          <a:stretch/>
        </p:blipFill>
        <p:spPr>
          <a:xfrm>
            <a:off x="6502400" y="1320800"/>
            <a:ext cx="5080000" cy="29972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502400" y="4394200"/>
            <a:ext cx="523240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 N = 15, a = 7: successo per singola misura al variare del proxy di errore per gate p_g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562620"/>
            <a:ext cx="8110220" cy="40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0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Approcci esistenti contro il rumore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53450" y="711200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Contesto | 6</a:t>
            </a:r>
            <a:endParaRPr lang="en-US" sz="13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016000"/>
            <a:ext cx="9906000" cy="38100"/>
          </a:xfrm>
          <a:prstGeom prst="rect">
            <a:avLst/>
          </a:prstGeom>
        </p:spPr>
      </p:pic>
      <p:pic>
        <p:nvPicPr>
          <p:cNvPr id="5" name="Image 1" descr="Logo Università Campus Bio-Medico di Roma">    </p:cNvPr>
          <p:cNvPicPr>
            <a:picLocks noChangeAspect="1"/>
          </p:cNvPicPr>
          <p:nvPr/>
        </p:nvPicPr>
        <p:blipFill>
          <a:blip r:embed="rId2"/>
          <a:srcRect l="0" r="0" t="-261" b="-261"/>
          <a:stretch/>
        </p:blipFill>
        <p:spPr>
          <a:xfrm>
            <a:off x="10795000" y="152400"/>
            <a:ext cx="990600" cy="825500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2300" y="1333500"/>
          <a:ext cx="10960100" cy="2753023"/>
        </p:xfrm>
        <a:graphic>
          <a:graphicData uri="http://schemas.openxmlformats.org/drawingml/2006/table">
            <a:tbl>
              <a:tblPr/>
              <a:tblGrid>
                <a:gridCol w="2849626"/>
                <a:gridCol w="3726434"/>
                <a:gridCol w="4384040"/>
              </a:tblGrid>
              <a:tr h="519361">
                <a:tc>
                  <a:txBody>
                    <a:bodyPr/>
                    <a:lstStyle/>
                    <a:p>
                      <a:pPr indent="0" marL="0">
                        <a:lnSpc>
                          <a:spcPts val="2660"/>
                        </a:lnSpc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Famiglia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455" marR="84455" marT="84455" marB="8445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C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660"/>
                        </a:lnSpc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Promessa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455" marR="84455" marT="84455" marB="84455" anchor="t">
                    <a:lnL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C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660"/>
                        </a:lnSpc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Rischio da controllare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455" marR="84455" marT="84455" marB="84455" anchor="t">
                    <a:lnL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C97"/>
                    </a:solidFill>
                  </a:tcPr>
                </a:tc>
              </a:tr>
              <a:tr h="857151">
                <a:tc>
                  <a:txBody>
                    <a:bodyPr/>
                    <a:lstStyle/>
                    <a:p>
                      <a:pPr indent="0" marL="0">
                        <a:lnSpc>
                          <a:spcPts val="2660"/>
                        </a:lnSpc>
                        <a:buNone/>
                      </a:pPr>
                      <a:r>
                        <a:rPr lang="en-US" sz="19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Post-processing e ML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455" marR="84455" marT="84455" marB="8445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660"/>
                        </a:lnSpc>
                        <a:buNone/>
                      </a:pPr>
                      <a:r>
                        <a:rPr lang="en-US" sz="19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sfruttare l'informazione residua nell'istogramma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455" marR="84455" marT="84455" marB="8445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660"/>
                        </a:lnSpc>
                        <a:buNone/>
                      </a:pPr>
                      <a:r>
                        <a:rPr lang="en-US" sz="19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il guadagno viene dai candidati provati, non dal modello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455" marR="84455" marT="84455" marB="8445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7151">
                <a:tc>
                  <a:txBody>
                    <a:bodyPr/>
                    <a:lstStyle/>
                    <a:p>
                      <a:pPr indent="0" marL="0">
                        <a:lnSpc>
                          <a:spcPts val="2660"/>
                        </a:lnSpc>
                        <a:buNone/>
                      </a:pPr>
                      <a:r>
                        <a:rPr lang="en-US" sz="19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QEC e decoder appresi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455" marR="84455" marT="84455" marB="8445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660"/>
                        </a:lnSpc>
                        <a:buNone/>
                      </a:pPr>
                      <a:r>
                        <a:rPr lang="en-US" sz="19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sopprimere l'errore logico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455" marR="84455" marT="84455" marB="84455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660"/>
                        </a:lnSpc>
                        <a:buNone/>
                      </a:pPr>
                      <a:r>
                        <a:rPr lang="en-US" sz="19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 analitica debole; soglia valida solo per la memoria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455" marR="84455" marT="84455" marB="84455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</a:tr>
              <a:tr h="519361">
                <a:tc>
                  <a:txBody>
                    <a:bodyPr/>
                    <a:lstStyle/>
                    <a:p>
                      <a:pPr indent="0" marL="0">
                        <a:lnSpc>
                          <a:spcPts val="2660"/>
                        </a:lnSpc>
                        <a:buNone/>
                      </a:pPr>
                      <a:r>
                        <a:rPr lang="en-US" sz="19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QFT approssimata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455" marR="84455" marT="84455" marB="8445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660"/>
                        </a:lnSpc>
                        <a:buNone/>
                      </a:pPr>
                      <a:r>
                        <a:rPr lang="en-US" sz="19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meno porte, meno rumore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455" marR="84455" marT="84455" marB="8445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660"/>
                        </a:lnSpc>
                        <a:buNone/>
                      </a:pPr>
                      <a:r>
                        <a:rPr lang="en-US" sz="19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perdita di precisione di fase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455" marR="84455" marT="84455" marB="8445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2"/>
          <p:cNvSpPr/>
          <p:nvPr/>
        </p:nvSpPr>
        <p:spPr>
          <a:xfrm>
            <a:off x="609600" y="4315123"/>
            <a:ext cx="10972800" cy="939800"/>
          </a:xfrm>
          <a:prstGeom prst="roundRect">
            <a:avLst>
              <a:gd name="adj" fmla="val 13514"/>
            </a:avLst>
          </a:prstGeom>
          <a:solidFill>
            <a:srgbClr val="0B2F5B"/>
          </a:solidFill>
          <a:ln/>
        </p:spPr>
        <p:txBody>
          <a:bodyPr wrap="square" lIns="191403" tIns="102503" rIns="0" bIns="77103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Rimane aperto il problema di valutare ogni tecnica contro la baseline corretta, sulla metrica finale.</a:t>
            </a:r>
            <a:endParaRPr lang="en-US" sz="2000" dirty="0"/>
          </a:p>
        </p:txBody>
      </p:sp>
      <p:sp>
        <p:nvSpPr>
          <p:cNvPr id="8" name="Text 3"/>
          <p:cNvSpPr/>
          <p:nvPr/>
        </p:nvSpPr>
        <p:spPr>
          <a:xfrm>
            <a:off x="609600" y="5483523"/>
            <a:ext cx="1130198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 e Markidis 2026 · Bausch et al., Nature 2024 · Roffe et al. 2020 · Bravyi et al., Nature 2024 · Barenco et al. 1996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562620"/>
            <a:ext cx="8110220" cy="40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0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Fondamenti: QEC e QFT approssimata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53450" y="711200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Contesto | 7</a:t>
            </a:r>
            <a:endParaRPr lang="en-US" sz="13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016000"/>
            <a:ext cx="9906000" cy="38100"/>
          </a:xfrm>
          <a:prstGeom prst="rect">
            <a:avLst/>
          </a:prstGeom>
        </p:spPr>
      </p:pic>
      <p:pic>
        <p:nvPicPr>
          <p:cNvPr id="5" name="Image 1" descr="Logo Università Campus Bio-Medico di Roma">    </p:cNvPr>
          <p:cNvPicPr>
            <a:picLocks noChangeAspect="1"/>
          </p:cNvPicPr>
          <p:nvPr/>
        </p:nvPicPr>
        <p:blipFill>
          <a:blip r:embed="rId2"/>
          <a:srcRect l="0" r="0" t="-261" b="-261"/>
          <a:stretch/>
        </p:blipFill>
        <p:spPr>
          <a:xfrm>
            <a:off x="10795000" y="152400"/>
            <a:ext cx="990600" cy="8255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19125" y="1330325"/>
            <a:ext cx="6584950" cy="3450580"/>
          </a:xfrm>
          <a:prstGeom prst="roundRect">
            <a:avLst>
              <a:gd name="adj" fmla="val 4141"/>
            </a:avLst>
          </a:prstGeom>
          <a:solidFill>
            <a:srgbClr val="FFFFFF"/>
          </a:solidFill>
          <a:ln w="19050">
            <a:solidFill>
              <a:srgbClr val="125C97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28650" y="1339850"/>
            <a:ext cx="6565900" cy="383530"/>
          </a:xfrm>
          <a:custGeom>
            <a:avLst/>
            <a:gdLst/>
            <a:ahLst/>
            <a:cxnLst/>
            <a:rect l="l" t="t" r="r" b="b"/>
            <a:pathLst>
              <a:path w="6565900" h="383530">
                <a:moveTo>
                  <a:pt x="0" y="133350"/>
                </a:moveTo>
                <a:arcTo hR="133350" wR="133350" stAng="10800000" swAng="5400000"/>
                <a:lnTo>
                  <a:pt x="6432550" y="0"/>
                </a:lnTo>
                <a:arcTo hR="133350" wR="133350" stAng="16200000" swAng="5400000"/>
                <a:lnTo>
                  <a:pt x="6565900" y="383530"/>
                </a:lnTo>
                <a:lnTo>
                  <a:pt x="0" y="383530"/>
                </a:lnTo>
                <a:close/>
              </a:path>
            </a:pathLst>
          </a:custGeom>
          <a:solidFill>
            <a:srgbClr val="125C97"/>
          </a:solidFill>
          <a:ln/>
        </p:spPr>
        <p:txBody>
          <a:bodyPr wrap="square" lIns="32322" tIns="76200" rIns="32322" bIns="5080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QEC · durante il calcolo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806450" y="1863080"/>
            <a:ext cx="6396609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Protegge l'informazione mentre il calcolo è in corso. Conviene solo sotto soglia: sopra soglia l'overhead amplifica l'errore.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9150" y="2980680"/>
          <a:ext cx="6197600" cy="1651000"/>
        </p:xfrm>
        <a:graphic>
          <a:graphicData uri="http://schemas.openxmlformats.org/drawingml/2006/table">
            <a:tbl>
              <a:tblPr/>
              <a:tblGrid>
                <a:gridCol w="1487424"/>
                <a:gridCol w="4710176"/>
              </a:tblGrid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Codifica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più qubit fisici formano un qubit logico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Sindrome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rivela l'errore senza misurare lo stato logico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Decoder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MWPM, BP+OSD o una rete scelgono la correzione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Soglia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sotto p_th, più distanza d riduce p_L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7426325" y="1330325"/>
            <a:ext cx="4146550" cy="3450580"/>
          </a:xfrm>
          <a:prstGeom prst="roundRect">
            <a:avLst>
              <a:gd name="adj" fmla="val 4141"/>
            </a:avLst>
          </a:prstGeom>
          <a:solidFill>
            <a:srgbClr val="FFFFFF"/>
          </a:solidFill>
          <a:ln w="19050">
            <a:solidFill>
              <a:srgbClr val="125C97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7435850" y="1339850"/>
            <a:ext cx="4127500" cy="383530"/>
          </a:xfrm>
          <a:custGeom>
            <a:avLst/>
            <a:gdLst/>
            <a:ahLst/>
            <a:cxnLst/>
            <a:rect l="l" t="t" r="r" b="b"/>
            <a:pathLst>
              <a:path w="4127500" h="383530">
                <a:moveTo>
                  <a:pt x="0" y="133350"/>
                </a:moveTo>
                <a:arcTo hR="133350" wR="133350" stAng="10800000" swAng="5400000"/>
                <a:lnTo>
                  <a:pt x="3994150" y="0"/>
                </a:lnTo>
                <a:arcTo hR="133350" wR="133350" stAng="16200000" swAng="5400000"/>
                <a:lnTo>
                  <a:pt x="4127500" y="383530"/>
                </a:lnTo>
                <a:lnTo>
                  <a:pt x="0" y="383530"/>
                </a:lnTo>
                <a:close/>
              </a:path>
            </a:pathLst>
          </a:custGeom>
          <a:solidFill>
            <a:srgbClr val="125C97"/>
          </a:solidFill>
          <a:ln/>
        </p:spPr>
        <p:txBody>
          <a:bodyPr wrap="square" lIns="68898" tIns="76200" rIns="68898" bIns="5080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AQFT · nel circuito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7613650" y="1863080"/>
            <a:ext cx="3885057" cy="134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 le rotazioni controllate di piccolo angolo: meno porte e profondità, al prezzo di precisione di fase.</a:t>
            </a:r>
            <a:endParaRPr lang="en-US" sz="2000" dirty="0"/>
          </a:p>
        </p:txBody>
      </p:sp>
      <p:sp>
        <p:nvSpPr>
          <p:cNvPr id="13" name="Text 8"/>
          <p:cNvSpPr/>
          <p:nvPr/>
        </p:nvSpPr>
        <p:spPr>
          <a:xfrm>
            <a:off x="609600" y="4942830"/>
            <a:ext cx="10972800" cy="889000"/>
          </a:xfrm>
          <a:prstGeom prst="roundRect">
            <a:avLst>
              <a:gd name="adj" fmla="val 14286"/>
            </a:avLst>
          </a:prstGeom>
          <a:solidFill>
            <a:srgbClr val="0B2F5B"/>
          </a:solidFill>
          <a:ln/>
        </p:spPr>
        <p:txBody>
          <a:bodyPr wrap="square" lIns="191403" tIns="77103" rIns="0" bIns="51703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Complementari: l'AQFT contiene le risorse del circuito, la QEC protegge l'esecuzione dal rumore.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609600" y="5984230"/>
            <a:ext cx="1130198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Notazione: p errore fisico · p_L errore logico dopo la decodifica · p_g proxy di errore per gate applicato a Shor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562620"/>
            <a:ext cx="8110220" cy="40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0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Obiettivi del lavoro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53450" y="711200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Obiettivi | 8</a:t>
            </a:r>
            <a:endParaRPr lang="en-US" sz="13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016000"/>
            <a:ext cx="9906000" cy="38100"/>
          </a:xfrm>
          <a:prstGeom prst="rect">
            <a:avLst/>
          </a:prstGeom>
        </p:spPr>
      </p:pic>
      <p:pic>
        <p:nvPicPr>
          <p:cNvPr id="5" name="Image 1" descr="Logo Università Campus Bio-Medico di Roma">    </p:cNvPr>
          <p:cNvPicPr>
            <a:picLocks noChangeAspect="1"/>
          </p:cNvPicPr>
          <p:nvPr/>
        </p:nvPicPr>
        <p:blipFill>
          <a:blip r:embed="rId2"/>
          <a:srcRect l="0" r="0" t="-261" b="-261"/>
          <a:stretch/>
        </p:blipFill>
        <p:spPr>
          <a:xfrm>
            <a:off x="10795000" y="152400"/>
            <a:ext cx="990600" cy="825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9600" y="1320800"/>
            <a:ext cx="11301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 di partenza: misurare come Shor degrada al crescere del rumore. Poi valutare, </a:t>
            </a: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baseline esplicite</a:t>
            </a: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tre livelli di intervento.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619125" y="2168525"/>
            <a:ext cx="3519984" cy="3628380"/>
          </a:xfrm>
          <a:prstGeom prst="roundRect">
            <a:avLst>
              <a:gd name="adj" fmla="val 4059"/>
            </a:avLst>
          </a:prstGeom>
          <a:solidFill>
            <a:srgbClr val="FFFFFF"/>
          </a:solidFill>
          <a:ln w="19050">
            <a:solidFill>
              <a:srgbClr val="125C9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19150" y="2368550"/>
            <a:ext cx="558800" cy="558800"/>
          </a:xfrm>
          <a:prstGeom prst="roundRect">
            <a:avLst>
              <a:gd name="adj" fmla="val 50000"/>
            </a:avLst>
          </a:prstGeom>
          <a:solidFill>
            <a:srgbClr val="0B2F5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1492250" y="2536825"/>
            <a:ext cx="252023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spc="50" kern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VALLE DELLA MISURA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19150" y="3028950"/>
            <a:ext cx="3213532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Sfruttare l'informazione residua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819150" y="3740150"/>
            <a:ext cx="3213532" cy="134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Post-processing di Shor: ricerca TOP-K, classificatore ML, confronto con ZNE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819150" y="5264150"/>
            <a:ext cx="1519982" cy="332730"/>
          </a:xfrm>
          <a:prstGeom prst="roundRect">
            <a:avLst>
              <a:gd name="adj" fmla="val 50000"/>
            </a:avLst>
          </a:prstGeom>
          <a:solidFill>
            <a:srgbClr val="E8EFF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Domanda DR1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335959" y="2168525"/>
            <a:ext cx="3520033" cy="3628380"/>
          </a:xfrm>
          <a:prstGeom prst="roundRect">
            <a:avLst>
              <a:gd name="adj" fmla="val 4059"/>
            </a:avLst>
          </a:prstGeom>
          <a:solidFill>
            <a:srgbClr val="FFFFFF"/>
          </a:solidFill>
          <a:ln w="19050">
            <a:solidFill>
              <a:srgbClr val="125C9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35984" y="2368550"/>
            <a:ext cx="558800" cy="558800"/>
          </a:xfrm>
          <a:prstGeom prst="roundRect">
            <a:avLst>
              <a:gd name="adj" fmla="val 50000"/>
            </a:avLst>
          </a:prstGeom>
          <a:solidFill>
            <a:srgbClr val="0B2F5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5209084" y="2536825"/>
            <a:ext cx="252029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spc="50" kern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DURANTE IL CALCOLO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535984" y="3028950"/>
            <a:ext cx="321358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Proteggere l'informazione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4535984" y="3740150"/>
            <a:ext cx="3213583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QEC: ripetizione, Steane, surface code, Gross code; decoder analitici e appresi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4535984" y="5264150"/>
            <a:ext cx="2073374" cy="332730"/>
          </a:xfrm>
          <a:prstGeom prst="roundRect">
            <a:avLst>
              <a:gd name="adj" fmla="val 50000"/>
            </a:avLst>
          </a:prstGeom>
          <a:solidFill>
            <a:srgbClr val="E8EFF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Domande DR2 e DR3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8052842" y="2168525"/>
            <a:ext cx="3519984" cy="3628380"/>
          </a:xfrm>
          <a:prstGeom prst="roundRect">
            <a:avLst>
              <a:gd name="adj" fmla="val 4059"/>
            </a:avLst>
          </a:prstGeom>
          <a:solidFill>
            <a:srgbClr val="FFFFFF"/>
          </a:solidFill>
          <a:ln w="19050">
            <a:solidFill>
              <a:srgbClr val="125C9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252867" y="2368550"/>
            <a:ext cx="558800" cy="558800"/>
          </a:xfrm>
          <a:prstGeom prst="roundRect">
            <a:avLst>
              <a:gd name="adj" fmla="val 50000"/>
            </a:avLst>
          </a:prstGeom>
          <a:solidFill>
            <a:srgbClr val="0B2F5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7"/>
          <p:cNvSpPr/>
          <p:nvPr/>
        </p:nvSpPr>
        <p:spPr>
          <a:xfrm>
            <a:off x="8925967" y="2536825"/>
            <a:ext cx="252023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spc="50" kern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NEL CIRCUITO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8252867" y="3028950"/>
            <a:ext cx="3213532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Ridurre le operazioni esposte al rumore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8252867" y="3740150"/>
            <a:ext cx="3213532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QFT approssimata: meno porte e profondità, al prezzo di precisione di fase</a:t>
            </a:r>
            <a:endParaRPr lang="en-US" sz="2000" dirty="0"/>
          </a:p>
        </p:txBody>
      </p:sp>
      <p:sp>
        <p:nvSpPr>
          <p:cNvPr id="24" name="Text 20"/>
          <p:cNvSpPr/>
          <p:nvPr/>
        </p:nvSpPr>
        <p:spPr>
          <a:xfrm>
            <a:off x="8252867" y="5264150"/>
            <a:ext cx="1519982" cy="332730"/>
          </a:xfrm>
          <a:prstGeom prst="roundRect">
            <a:avLst>
              <a:gd name="adj" fmla="val 50000"/>
            </a:avLst>
          </a:prstGeom>
          <a:solidFill>
            <a:srgbClr val="E8EFF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Domanda DR5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562620"/>
            <a:ext cx="8110220" cy="40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0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Domande di ricerca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53450" y="711200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Obiettivi | 9</a:t>
            </a:r>
            <a:endParaRPr lang="en-US" sz="13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016000"/>
            <a:ext cx="9906000" cy="38100"/>
          </a:xfrm>
          <a:prstGeom prst="rect">
            <a:avLst/>
          </a:prstGeom>
        </p:spPr>
      </p:pic>
      <p:pic>
        <p:nvPicPr>
          <p:cNvPr id="5" name="Image 1" descr="Logo Università Campus Bio-Medico di Roma">    </p:cNvPr>
          <p:cNvPicPr>
            <a:picLocks noChangeAspect="1"/>
          </p:cNvPicPr>
          <p:nvPr/>
        </p:nvPicPr>
        <p:blipFill>
          <a:blip r:embed="rId2"/>
          <a:srcRect l="0" r="0" t="-261" b="-261"/>
          <a:stretch/>
        </p:blipFill>
        <p:spPr>
          <a:xfrm>
            <a:off x="10795000" y="152400"/>
            <a:ext cx="990600" cy="825500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2300" y="1333500"/>
          <a:ext cx="10960100" cy="4556175"/>
        </p:xfrm>
        <a:graphic>
          <a:graphicData uri="http://schemas.openxmlformats.org/drawingml/2006/table">
            <a:tbl>
              <a:tblPr/>
              <a:tblGrid>
                <a:gridCol w="767207"/>
                <a:gridCol w="2520823"/>
                <a:gridCol w="4712843"/>
                <a:gridCol w="2959227"/>
              </a:tblGrid>
              <a:tr h="492671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C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Tema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C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Domanda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C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C97"/>
                    </a:solidFill>
                  </a:tcPr>
                </a:tc>
              </a:tr>
              <a:tr h="812701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Post-processing e machine learning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Cercare più candidati riduce le iterazioni? Un classificatore aggiunge valore?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iterazioni fino ai fattori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2701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Codici di correzione d'errore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quale regime la codifica batte il qubit fisico? Quanto conta la distanza?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p_L(p, d) e soglia p_th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</a:tr>
              <a:tr h="812701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Decoder analitici, appresi e ibridi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 decoder appreso supera quello analitico con rumore correlato?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differenza di p_L sugli stessi campioni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2701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Sensibilità di Shor al rumore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Come cala il successo al crescere dell'errore per gate p_g?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P_succ(p_g) e P cumulativa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</a:tr>
              <a:tr h="812701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QFT approssimata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Quando meno porte compensano la perdita di precisione di fase?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P_succ, porte a due qubit, profondità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562620"/>
            <a:ext cx="8110220" cy="40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0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Perimetro sperimentale e strumenti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53450" y="711200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 | 10</a:t>
            </a:r>
            <a:endParaRPr lang="en-US" sz="13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016000"/>
            <a:ext cx="9906000" cy="38100"/>
          </a:xfrm>
          <a:prstGeom prst="rect">
            <a:avLst/>
          </a:prstGeom>
        </p:spPr>
      </p:pic>
      <p:pic>
        <p:nvPicPr>
          <p:cNvPr id="5" name="Image 1" descr="Logo Università Campus Bio-Medico di Roma">    </p:cNvPr>
          <p:cNvPicPr>
            <a:picLocks noChangeAspect="1"/>
          </p:cNvPicPr>
          <p:nvPr/>
        </p:nvPicPr>
        <p:blipFill>
          <a:blip r:embed="rId2"/>
          <a:srcRect l="0" r="0" t="-261" b="-261"/>
          <a:stretch/>
        </p:blipFill>
        <p:spPr>
          <a:xfrm>
            <a:off x="10795000" y="152400"/>
            <a:ext cx="990600" cy="825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9600" y="1320800"/>
            <a:ext cx="11301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Tutti gli esperimenti sono </a:t>
            </a: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simulazioni classiche</a:t>
            </a: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nessuna esecuzione su hardware reale, nessuna previsione per moduli di dimensione crittografica.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619125" y="2168525"/>
            <a:ext cx="3519984" cy="3270200"/>
          </a:xfrm>
          <a:prstGeom prst="roundRect">
            <a:avLst>
              <a:gd name="adj" fmla="val 4369"/>
            </a:avLst>
          </a:prstGeom>
          <a:solidFill>
            <a:srgbClr val="FFFFFF"/>
          </a:solidFill>
          <a:ln w="19050">
            <a:solidFill>
              <a:srgbClr val="125C9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28650" y="2178050"/>
            <a:ext cx="3500934" cy="383530"/>
          </a:xfrm>
          <a:custGeom>
            <a:avLst/>
            <a:gdLst/>
            <a:ahLst/>
            <a:cxnLst/>
            <a:rect l="l" t="t" r="r" b="b"/>
            <a:pathLst>
              <a:path w="3500934" h="383530">
                <a:moveTo>
                  <a:pt x="0" y="133350"/>
                </a:moveTo>
                <a:arcTo hR="133350" wR="133350" stAng="10800000" swAng="5400000"/>
                <a:lnTo>
                  <a:pt x="3367584" y="0"/>
                </a:lnTo>
                <a:arcTo hR="133350" wR="133350" stAng="16200000" swAng="5400000"/>
                <a:lnTo>
                  <a:pt x="3500934" y="383530"/>
                </a:lnTo>
                <a:lnTo>
                  <a:pt x="0" y="383530"/>
                </a:lnTo>
                <a:close/>
              </a:path>
            </a:pathLst>
          </a:custGeom>
          <a:solidFill>
            <a:srgbClr val="125C97"/>
          </a:solidFill>
          <a:ln/>
        </p:spPr>
        <p:txBody>
          <a:bodyPr wrap="square" lIns="78296" tIns="76200" rIns="78296" bIns="5080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Istanze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06450" y="2701280"/>
            <a:ext cx="323969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15, a = 7, r = 4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806450" y="3031480"/>
            <a:ext cx="3239694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campagna rumorosa principale: 12 qubit, 224 CX, profondità 412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806450" y="3608040"/>
            <a:ext cx="323969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21, a = 2, r = 6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806450" y="3938240"/>
            <a:ext cx="323969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validazione ideale e AQFT esplorativa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806450" y="4283670"/>
            <a:ext cx="323969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35, a = 6, r = 2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806450" y="4613870"/>
            <a:ext cx="323969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controllo ideale dell'aritmetica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335959" y="2168525"/>
            <a:ext cx="3520033" cy="3270200"/>
          </a:xfrm>
          <a:prstGeom prst="roundRect">
            <a:avLst>
              <a:gd name="adj" fmla="val 4369"/>
            </a:avLst>
          </a:prstGeom>
          <a:solidFill>
            <a:srgbClr val="FFFFFF"/>
          </a:solidFill>
          <a:ln w="19050">
            <a:solidFill>
              <a:srgbClr val="125C9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345484" y="2178050"/>
            <a:ext cx="3500983" cy="383530"/>
          </a:xfrm>
          <a:custGeom>
            <a:avLst/>
            <a:gdLst/>
            <a:ahLst/>
            <a:cxnLst/>
            <a:rect l="l" t="t" r="r" b="b"/>
            <a:pathLst>
              <a:path w="3500983" h="383530">
                <a:moveTo>
                  <a:pt x="0" y="133350"/>
                </a:moveTo>
                <a:arcTo hR="133350" wR="133350" stAng="10800000" swAng="5400000"/>
                <a:lnTo>
                  <a:pt x="3367633" y="0"/>
                </a:lnTo>
                <a:arcTo hR="133350" wR="133350" stAng="16200000" swAng="5400000"/>
                <a:lnTo>
                  <a:pt x="3500983" y="383530"/>
                </a:lnTo>
                <a:lnTo>
                  <a:pt x="0" y="383530"/>
                </a:lnTo>
                <a:close/>
              </a:path>
            </a:pathLst>
          </a:custGeom>
          <a:solidFill>
            <a:srgbClr val="125C97"/>
          </a:solidFill>
          <a:ln/>
        </p:spPr>
        <p:txBody>
          <a:bodyPr wrap="square" lIns="78295" tIns="76200" rIns="78295" bIns="5080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Strumenti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523284" y="2701280"/>
            <a:ext cx="323974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Qiskit e Aer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4523284" y="3031480"/>
            <a:ext cx="323974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Shor, modelli di rumore, AQFT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523284" y="3376910"/>
            <a:ext cx="323974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Stim e PyMatching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4523284" y="3707110"/>
            <a:ext cx="323974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code e decoder MWPM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4523284" y="4052540"/>
            <a:ext cx="323974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4523284" y="4382740"/>
            <a:ext cx="323974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SVM, MLP e correzione residuale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4523284" y="4728170"/>
            <a:ext cx="323974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ldpc (BP+OSD)</a:t>
            </a:r>
            <a:endParaRPr lang="en-US" sz="2000" dirty="0"/>
          </a:p>
        </p:txBody>
      </p:sp>
      <p:sp>
        <p:nvSpPr>
          <p:cNvPr id="24" name="Text 20"/>
          <p:cNvSpPr/>
          <p:nvPr/>
        </p:nvSpPr>
        <p:spPr>
          <a:xfrm>
            <a:off x="4523284" y="5058370"/>
            <a:ext cx="323974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code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8052842" y="2168525"/>
            <a:ext cx="3520033" cy="3270200"/>
          </a:xfrm>
          <a:prstGeom prst="roundRect">
            <a:avLst>
              <a:gd name="adj" fmla="val 4369"/>
            </a:avLst>
          </a:prstGeom>
          <a:solidFill>
            <a:srgbClr val="FFFFFF"/>
          </a:solidFill>
          <a:ln w="19050">
            <a:solidFill>
              <a:srgbClr val="125C97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8062367" y="2178050"/>
            <a:ext cx="3500983" cy="383530"/>
          </a:xfrm>
          <a:custGeom>
            <a:avLst/>
            <a:gdLst/>
            <a:ahLst/>
            <a:cxnLst/>
            <a:rect l="l" t="t" r="r" b="b"/>
            <a:pathLst>
              <a:path w="3500983" h="383530">
                <a:moveTo>
                  <a:pt x="0" y="133350"/>
                </a:moveTo>
                <a:arcTo hR="133350" wR="133350" stAng="10800000" swAng="5400000"/>
                <a:lnTo>
                  <a:pt x="3367633" y="0"/>
                </a:lnTo>
                <a:arcTo hR="133350" wR="133350" stAng="16200000" swAng="5400000"/>
                <a:lnTo>
                  <a:pt x="3500983" y="383530"/>
                </a:lnTo>
                <a:lnTo>
                  <a:pt x="0" y="383530"/>
                </a:lnTo>
                <a:close/>
              </a:path>
            </a:pathLst>
          </a:custGeom>
          <a:solidFill>
            <a:srgbClr val="125C97"/>
          </a:solidFill>
          <a:ln/>
        </p:spPr>
        <p:txBody>
          <a:bodyPr wrap="square" lIns="78295" tIns="76200" rIns="78295" bIns="5080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Riproducibilità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8240167" y="2701280"/>
            <a:ext cx="323974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Tracciabilità</a:t>
            </a:r>
            <a:endParaRPr lang="en-US" sz="2000" dirty="0"/>
          </a:p>
        </p:txBody>
      </p:sp>
      <p:sp>
        <p:nvSpPr>
          <p:cNvPr id="28" name="Text 24"/>
          <p:cNvSpPr/>
          <p:nvPr/>
        </p:nvSpPr>
        <p:spPr>
          <a:xfrm>
            <a:off x="8240167" y="3031480"/>
            <a:ext cx="3239745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seed, manifest, versioni e hash della netlist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8240167" y="3608040"/>
            <a:ext cx="323974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Dati separati</a:t>
            </a:r>
            <a:endParaRPr lang="en-US" sz="2000" dirty="0"/>
          </a:p>
        </p:txBody>
      </p:sp>
      <p:sp>
        <p:nvSpPr>
          <p:cNvPr id="30" name="Text 26"/>
          <p:cNvSpPr/>
          <p:nvPr/>
        </p:nvSpPr>
        <p:spPr>
          <a:xfrm>
            <a:off x="8240167" y="3938240"/>
            <a:ext cx="323974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partizioni selection / holdout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8240167" y="4283670"/>
            <a:ext cx="323974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Confronti appaiati</a:t>
            </a:r>
            <a:endParaRPr lang="en-US" sz="2000" dirty="0"/>
          </a:p>
        </p:txBody>
      </p:sp>
      <p:sp>
        <p:nvSpPr>
          <p:cNvPr id="32" name="Text 28"/>
          <p:cNvSpPr/>
          <p:nvPr/>
        </p:nvSpPr>
        <p:spPr>
          <a:xfrm>
            <a:off x="8240167" y="4613870"/>
            <a:ext cx="323974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stessi campioni per tutte le strategie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562620"/>
            <a:ext cx="8110220" cy="40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0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Confronto appaiato e ablazione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53450" y="711200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 | 11</a:t>
            </a:r>
            <a:endParaRPr lang="en-US" sz="13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016000"/>
            <a:ext cx="9906000" cy="38100"/>
          </a:xfrm>
          <a:prstGeom prst="rect">
            <a:avLst/>
          </a:prstGeom>
        </p:spPr>
      </p:pic>
      <p:pic>
        <p:nvPicPr>
          <p:cNvPr id="5" name="Image 1" descr="Logo Università Campus Bio-Medico di Roma">    </p:cNvPr>
          <p:cNvPicPr>
            <a:picLocks noChangeAspect="1"/>
          </p:cNvPicPr>
          <p:nvPr/>
        </p:nvPicPr>
        <p:blipFill>
          <a:blip r:embed="rId2"/>
          <a:srcRect l="0" r="0" t="-261" b="-261"/>
          <a:stretch/>
        </p:blipFill>
        <p:spPr>
          <a:xfrm>
            <a:off x="10795000" y="152400"/>
            <a:ext cx="990600" cy="8255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19125" y="1703685"/>
            <a:ext cx="2139950" cy="1692870"/>
          </a:xfrm>
          <a:prstGeom prst="roundRect">
            <a:avLst>
              <a:gd name="adj" fmla="val 8440"/>
            </a:avLst>
          </a:prstGeom>
          <a:solidFill>
            <a:srgbClr val="FFFFFF"/>
          </a:solidFill>
          <a:ln w="19050">
            <a:solidFill>
              <a:srgbClr val="125C97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28650" y="1713210"/>
            <a:ext cx="2120900" cy="383530"/>
          </a:xfrm>
          <a:custGeom>
            <a:avLst/>
            <a:gdLst/>
            <a:ahLst/>
            <a:cxnLst/>
            <a:rect l="l" t="t" r="r" b="b"/>
            <a:pathLst>
              <a:path w="2120900" h="383530">
                <a:moveTo>
                  <a:pt x="0" y="133350"/>
                </a:moveTo>
                <a:arcTo hR="133350" wR="133350" stAng="10800000" swAng="5400000"/>
                <a:lnTo>
                  <a:pt x="1987550" y="0"/>
                </a:lnTo>
                <a:arcTo hR="133350" wR="133350" stAng="16200000" swAng="5400000"/>
                <a:lnTo>
                  <a:pt x="2120900" y="383530"/>
                </a:lnTo>
                <a:lnTo>
                  <a:pt x="0" y="383530"/>
                </a:lnTo>
                <a:close/>
              </a:path>
            </a:pathLst>
          </a:custGeom>
          <a:solidFill>
            <a:srgbClr val="125C97"/>
          </a:solidFill>
          <a:ln/>
        </p:spPr>
        <p:txBody>
          <a:bodyPr wrap="square" lIns="72835" tIns="76200" rIns="72835" bIns="5080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Simulazione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768350" y="2223740"/>
            <a:ext cx="189674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 N = 15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768350" y="2566640"/>
            <a:ext cx="1896745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= 7, un istogramma da 1024 shot per iterazione</a:t>
            </a:r>
            <a:endParaRPr lang="en-US" sz="1400" dirty="0"/>
          </a:p>
        </p:txBody>
      </p:sp>
      <p:pic>
        <p:nvPicPr>
          <p:cNvPr id="10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895600" y="2448520"/>
            <a:ext cx="330200" cy="2032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3352800" y="1320800"/>
            <a:ext cx="2794000" cy="751830"/>
          </a:xfrm>
          <a:prstGeom prst="roundRect">
            <a:avLst>
              <a:gd name="adj" fmla="val 16892"/>
            </a:avLst>
          </a:prstGeom>
          <a:solidFill>
            <a:srgbClr val="3F73B0"/>
          </a:solidFill>
          <a:ln/>
        </p:spPr>
      </p:sp>
      <p:sp>
        <p:nvSpPr>
          <p:cNvPr id="12" name="Text 7"/>
          <p:cNvSpPr/>
          <p:nvPr/>
        </p:nvSpPr>
        <p:spPr>
          <a:xfrm>
            <a:off x="3517900" y="1422400"/>
            <a:ext cx="253771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TOP-1</a:t>
            </a:r>
            <a:endParaRPr lang="en-US" sz="2000" dirty="0"/>
          </a:p>
        </p:txBody>
      </p:sp>
      <p:sp>
        <p:nvSpPr>
          <p:cNvPr id="13" name="Text 8"/>
          <p:cNvSpPr/>
          <p:nvPr/>
        </p:nvSpPr>
        <p:spPr>
          <a:xfrm>
            <a:off x="3517900" y="1739900"/>
            <a:ext cx="253771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l'esito più frequente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3352800" y="2174230"/>
            <a:ext cx="2794000" cy="751830"/>
          </a:xfrm>
          <a:prstGeom prst="roundRect">
            <a:avLst>
              <a:gd name="adj" fmla="val 16892"/>
            </a:avLst>
          </a:prstGeom>
          <a:solidFill>
            <a:srgbClr val="125C97"/>
          </a:solidFill>
          <a:ln/>
        </p:spPr>
      </p:sp>
      <p:sp>
        <p:nvSpPr>
          <p:cNvPr id="15" name="Text 10"/>
          <p:cNvSpPr/>
          <p:nvPr/>
        </p:nvSpPr>
        <p:spPr>
          <a:xfrm>
            <a:off x="3517900" y="2275830"/>
            <a:ext cx="253771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TOP-4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3517900" y="2593330"/>
            <a:ext cx="26289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quattro candidati più frequenti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3352800" y="3027660"/>
            <a:ext cx="2794000" cy="751830"/>
          </a:xfrm>
          <a:prstGeom prst="roundRect">
            <a:avLst>
              <a:gd name="adj" fmla="val 16892"/>
            </a:avLst>
          </a:prstGeom>
          <a:solidFill>
            <a:srgbClr val="0B2F5B"/>
          </a:solidFill>
          <a:ln/>
        </p:spPr>
      </p:sp>
      <p:sp>
        <p:nvSpPr>
          <p:cNvPr id="18" name="Text 13"/>
          <p:cNvSpPr/>
          <p:nvPr/>
        </p:nvSpPr>
        <p:spPr>
          <a:xfrm>
            <a:off x="3517900" y="3129260"/>
            <a:ext cx="253771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3517900" y="3446760"/>
            <a:ext cx="253771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classificatore ML, poi TOP-4</a:t>
            </a:r>
            <a:endParaRPr lang="en-US" sz="1400" dirty="0"/>
          </a:p>
        </p:txBody>
      </p:sp>
      <p:pic>
        <p:nvPicPr>
          <p:cNvPr id="20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273800" y="2448520"/>
            <a:ext cx="330200" cy="20320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6740525" y="1782415"/>
            <a:ext cx="2139950" cy="1535410"/>
          </a:xfrm>
          <a:prstGeom prst="roundRect">
            <a:avLst>
              <a:gd name="adj" fmla="val 9305"/>
            </a:avLst>
          </a:prstGeom>
          <a:solidFill>
            <a:srgbClr val="FFFFFF"/>
          </a:solidFill>
          <a:ln w="19050">
            <a:solidFill>
              <a:srgbClr val="125C97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6750050" y="1791940"/>
            <a:ext cx="2120900" cy="383530"/>
          </a:xfrm>
          <a:custGeom>
            <a:avLst/>
            <a:gdLst/>
            <a:ahLst/>
            <a:cxnLst/>
            <a:rect l="l" t="t" r="r" b="b"/>
            <a:pathLst>
              <a:path w="2120900" h="383530">
                <a:moveTo>
                  <a:pt x="0" y="133350"/>
                </a:moveTo>
                <a:arcTo hR="133350" wR="133350" stAng="10800000" swAng="5400000"/>
                <a:lnTo>
                  <a:pt x="1987550" y="0"/>
                </a:lnTo>
                <a:arcTo hR="133350" wR="133350" stAng="16200000" swAng="5400000"/>
                <a:lnTo>
                  <a:pt x="2120900" y="383530"/>
                </a:lnTo>
                <a:lnTo>
                  <a:pt x="0" y="383530"/>
                </a:lnTo>
                <a:close/>
              </a:path>
            </a:pathLst>
          </a:custGeom>
          <a:solidFill>
            <a:srgbClr val="125C97"/>
          </a:solidFill>
          <a:ln/>
        </p:spPr>
        <p:txBody>
          <a:bodyPr wrap="square" lIns="72835" tIns="76200" rIns="72835" bIns="5080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 classica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889750" y="2302470"/>
            <a:ext cx="1896745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Frazioni continue e gcd</a:t>
            </a:r>
            <a:endParaRPr lang="en-US" sz="2000" dirty="0"/>
          </a:p>
        </p:txBody>
      </p:sp>
      <p:sp>
        <p:nvSpPr>
          <p:cNvPr id="24" name="Text 18"/>
          <p:cNvSpPr/>
          <p:nvPr/>
        </p:nvSpPr>
        <p:spPr>
          <a:xfrm>
            <a:off x="6889750" y="2950170"/>
            <a:ext cx="189674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stessa regola per tutte</a:t>
            </a:r>
            <a:endParaRPr lang="en-US" sz="1400" dirty="0"/>
          </a:p>
        </p:txBody>
      </p:sp>
      <p:pic>
        <p:nvPicPr>
          <p:cNvPr id="25" name="Image 4" descr="arrow-right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017000" y="2448520"/>
            <a:ext cx="330200" cy="20320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9483725" y="1666875"/>
            <a:ext cx="2089150" cy="1766540"/>
          </a:xfrm>
          <a:prstGeom prst="roundRect">
            <a:avLst>
              <a:gd name="adj" fmla="val 8088"/>
            </a:avLst>
          </a:prstGeom>
          <a:solidFill>
            <a:srgbClr val="FFFFFF"/>
          </a:solidFill>
          <a:ln w="19050">
            <a:solidFill>
              <a:srgbClr val="125C97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9493250" y="1676400"/>
            <a:ext cx="2070100" cy="383530"/>
          </a:xfrm>
          <a:custGeom>
            <a:avLst/>
            <a:gdLst/>
            <a:ahLst/>
            <a:cxnLst/>
            <a:rect l="l" t="t" r="r" b="b"/>
            <a:pathLst>
              <a:path w="2070100" h="383530">
                <a:moveTo>
                  <a:pt x="0" y="133350"/>
                </a:moveTo>
                <a:arcTo hR="133350" wR="133350" stAng="10800000" swAng="5400000"/>
                <a:lnTo>
                  <a:pt x="1936750" y="0"/>
                </a:lnTo>
                <a:arcTo hR="133350" wR="133350" stAng="16200000" swAng="5400000"/>
                <a:lnTo>
                  <a:pt x="2070100" y="383530"/>
                </a:lnTo>
                <a:lnTo>
                  <a:pt x="0" y="383530"/>
                </a:lnTo>
                <a:close/>
              </a:path>
            </a:pathLst>
          </a:custGeom>
          <a:solidFill>
            <a:srgbClr val="125C97"/>
          </a:solidFill>
          <a:ln/>
        </p:spPr>
        <p:txBody>
          <a:bodyPr wrap="square" lIns="73597" tIns="76200" rIns="73597" bIns="5080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Metrica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9632950" y="2186930"/>
            <a:ext cx="1844421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Iterazioni fino ai fattori</a:t>
            </a:r>
            <a:endParaRPr lang="en-US" sz="2000" dirty="0"/>
          </a:p>
        </p:txBody>
      </p:sp>
      <p:sp>
        <p:nvSpPr>
          <p:cNvPr id="29" name="Text 22"/>
          <p:cNvSpPr/>
          <p:nvPr/>
        </p:nvSpPr>
        <p:spPr>
          <a:xfrm>
            <a:off x="9632950" y="2834630"/>
            <a:ext cx="1844421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Wilcoxon-Pratt e correzione di Holm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609600" y="3957290"/>
            <a:ext cx="10972800" cy="558800"/>
          </a:xfrm>
          <a:prstGeom prst="roundRect">
            <a:avLst>
              <a:gd name="adj" fmla="val 22727"/>
            </a:avLst>
          </a:prstGeom>
          <a:solidFill>
            <a:srgbClr val="0B2F5B"/>
          </a:solidFill>
          <a:ln/>
        </p:spPr>
        <p:txBody>
          <a:bodyPr wrap="square" lIns="191403" tIns="77103" rIns="0" bIns="51703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Ablazione: M2 contro TOP-4 senza filtro isola il contributo del classificatore.</a:t>
            </a:r>
            <a:endParaRPr lang="en-US" sz="2000" dirty="0"/>
          </a:p>
        </p:txBody>
      </p:sp>
      <p:sp>
        <p:nvSpPr>
          <p:cNvPr id="31" name="Text 24"/>
          <p:cNvSpPr/>
          <p:nvPr/>
        </p:nvSpPr>
        <p:spPr>
          <a:xfrm>
            <a:off x="609600" y="4693890"/>
            <a:ext cx="115824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Numerosità: 30 repliche appaiate per scenario di rumore, fino a 50 iterazioni; classificatore addestrato su 2000 istogrammi per scenario.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562620"/>
            <a:ext cx="8110220" cy="40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0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DR1 · Post-processing e machine learning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53450" y="711200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Risultati | 12</a:t>
            </a:r>
            <a:endParaRPr lang="en-US" sz="13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016000"/>
            <a:ext cx="9906000" cy="38100"/>
          </a:xfrm>
          <a:prstGeom prst="rect">
            <a:avLst/>
          </a:prstGeom>
        </p:spPr>
      </p:pic>
      <p:pic>
        <p:nvPicPr>
          <p:cNvPr id="5" name="Image 1" descr="Logo Università Campus Bio-Medico di Roma">    </p:cNvPr>
          <p:cNvPicPr>
            <a:picLocks noChangeAspect="1"/>
          </p:cNvPicPr>
          <p:nvPr/>
        </p:nvPicPr>
        <p:blipFill>
          <a:blip r:embed="rId2"/>
          <a:srcRect l="0" r="0" t="-261" b="-261"/>
          <a:stretch/>
        </p:blipFill>
        <p:spPr>
          <a:xfrm>
            <a:off x="10795000" y="152400"/>
            <a:ext cx="990600" cy="825500"/>
          </a:xfrm>
          <a:prstGeom prst="rect">
            <a:avLst/>
          </a:prstGeom>
        </p:spPr>
      </p:pic>
      <p:pic>
        <p:nvPicPr>
          <p:cNvPr id="6" name="Image 2" descr="Iterazioni medie al primo successo: TOP-1 1,37 e 1,50; TOP-4 1,00 e 1,00; M2 (ML + TOP-4) 1,50 e 1,37, negli scenari UC1 e UC2">    </p:cNvPr>
          <p:cNvPicPr>
            <a:picLocks noChangeAspect="1"/>
          </p:cNvPicPr>
          <p:nvPr/>
        </p:nvPicPr>
        <p:blipFill>
          <a:blip r:embed="rId3"/>
          <a:srcRect l="-32" r="-32" t="0" b="0"/>
          <a:stretch/>
        </p:blipFill>
        <p:spPr>
          <a:xfrm>
            <a:off x="609600" y="1320800"/>
            <a:ext cx="5207000" cy="33274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09600" y="4724400"/>
            <a:ext cx="536321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Iterazioni medie al primo successo nei due scenari di rumore simulati (UC1 moderato, UC2 più severo)</a:t>
            </a:r>
            <a:endParaRPr lang="en-US" sz="1400" dirty="0"/>
          </a:p>
        </p:txBody>
      </p:sp>
      <p:sp>
        <p:nvSpPr>
          <p:cNvPr id="8" name="Text 3"/>
          <p:cNvSpPr/>
          <p:nvPr/>
        </p:nvSpPr>
        <p:spPr>
          <a:xfrm>
            <a:off x="6121400" y="1320800"/>
            <a:ext cx="562483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</a:t>
            </a:r>
            <a:endParaRPr lang="en-US" sz="4800" dirty="0"/>
          </a:p>
        </p:txBody>
      </p:sp>
      <p:sp>
        <p:nvSpPr>
          <p:cNvPr id="9" name="Text 4"/>
          <p:cNvSpPr/>
          <p:nvPr/>
        </p:nvSpPr>
        <p:spPr>
          <a:xfrm>
            <a:off x="6121400" y="1981200"/>
            <a:ext cx="562483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iterazioni medie con TOP-4, in 30 repliche su 30 e in entrambi gli scenari (TOP-1: 1,37 e 1,50)</a:t>
            </a:r>
            <a:endParaRPr lang="en-US" sz="2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34100" y="2781300"/>
          <a:ext cx="5448300" cy="1625600"/>
        </p:xfrm>
        <a:graphic>
          <a:graphicData uri="http://schemas.openxmlformats.org/drawingml/2006/table">
            <a:tbl>
              <a:tblPr/>
              <a:tblGrid>
                <a:gridCol w="1634490"/>
                <a:gridCol w="3813810"/>
              </a:tblGrid>
              <a:tr h="6794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Classificatore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accurato, ma non utile: SVM con F1 0,919 / 0,923 e AUC 0,965 / 0,958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</a:tr>
              <a:tr h="9461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1,50 / 1,37 iterazioni: peggiore della propria ablazione TOP-4 (p_Holm 0,0033 e 0,0096)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5"/>
          <p:cNvSpPr/>
          <p:nvPr/>
        </p:nvSpPr>
        <p:spPr>
          <a:xfrm>
            <a:off x="609600" y="5339060"/>
            <a:ext cx="10972800" cy="558800"/>
          </a:xfrm>
          <a:prstGeom prst="roundRect">
            <a:avLst>
              <a:gd name="adj" fmla="val 22727"/>
            </a:avLst>
          </a:prstGeom>
          <a:solidFill>
            <a:srgbClr val="0B2F5B"/>
          </a:solidFill>
          <a:ln/>
        </p:spPr>
        <p:txBody>
          <a:bodyPr wrap="square" lIns="191403" tIns="77103" rIns="0" bIns="51703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beneficio viene dalla ricerca multi-candidato, non dal filtro appreso.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562620"/>
            <a:ext cx="8110220" cy="40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0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DR2 · Correzione d'errore e soglia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53450" y="711200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Risultati | 13</a:t>
            </a:r>
            <a:endParaRPr lang="en-US" sz="13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016000"/>
            <a:ext cx="9906000" cy="38100"/>
          </a:xfrm>
          <a:prstGeom prst="rect">
            <a:avLst/>
          </a:prstGeom>
        </p:spPr>
      </p:pic>
      <p:pic>
        <p:nvPicPr>
          <p:cNvPr id="5" name="Image 1" descr="Logo Università Campus Bio-Medico di Roma">    </p:cNvPr>
          <p:cNvPicPr>
            <a:picLocks noChangeAspect="1"/>
          </p:cNvPicPr>
          <p:nvPr/>
        </p:nvPicPr>
        <p:blipFill>
          <a:blip r:embed="rId2"/>
          <a:srcRect l="0" r="0" t="-261" b="-261"/>
          <a:stretch/>
        </p:blipFill>
        <p:spPr>
          <a:xfrm>
            <a:off x="10795000" y="152400"/>
            <a:ext cx="990600" cy="825500"/>
          </a:xfrm>
          <a:prstGeom prst="rect">
            <a:avLst/>
          </a:prstGeom>
        </p:spPr>
      </p:pic>
      <p:pic>
        <p:nvPicPr>
          <p:cNvPr id="6" name="Image 2" descr="Errore logico del surface code in funzione dell'errore fisico per distanze 3, 5, 7 e 9, nelle basi Z e X: sotto soglia le curve a distanza maggiore sono più basse, sopra soglia l'ordine si inverte">    </p:cNvPr>
          <p:cNvPicPr>
            <a:picLocks noChangeAspect="1"/>
          </p:cNvPicPr>
          <p:nvPr/>
        </p:nvPicPr>
        <p:blipFill>
          <a:blip r:embed="rId3"/>
          <a:srcRect l="0" r="0" t="-20" b="-20"/>
          <a:stretch/>
        </p:blipFill>
        <p:spPr>
          <a:xfrm>
            <a:off x="609600" y="1320800"/>
            <a:ext cx="5715000" cy="26670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629400" y="1609080"/>
            <a:ext cx="510159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0,86%</a:t>
            </a:r>
            <a:endParaRPr lang="en-US" sz="4800" dirty="0"/>
          </a:p>
        </p:txBody>
      </p:sp>
      <p:sp>
        <p:nvSpPr>
          <p:cNvPr id="8" name="Text 3"/>
          <p:cNvSpPr/>
          <p:nvPr/>
        </p:nvSpPr>
        <p:spPr>
          <a:xfrm>
            <a:off x="6629400" y="2282180"/>
            <a:ext cx="51015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soglia stimata del surface code in base Z (0,81% in base X), dal fit sotto soglia</a:t>
            </a:r>
            <a:endParaRPr lang="en-US" sz="2000" dirty="0"/>
          </a:p>
        </p:txBody>
      </p:sp>
      <p:sp>
        <p:nvSpPr>
          <p:cNvPr id="9" name="Text 4"/>
          <p:cNvSpPr/>
          <p:nvPr/>
        </p:nvSpPr>
        <p:spPr>
          <a:xfrm>
            <a:off x="6629400" y="3006080"/>
            <a:ext cx="5101590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code, memorie in base Z e X, rumore circuit-level e decoder MWPM; la linea tratteggiata è l'incrocio visivo delle curve, circa 0,9% in base Z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2300" y="4140200"/>
          <a:ext cx="10960100" cy="1238250"/>
        </p:xfrm>
        <a:graphic>
          <a:graphicData uri="http://schemas.openxmlformats.org/drawingml/2006/table">
            <a:tbl>
              <a:tblPr/>
              <a:tblGrid>
                <a:gridCol w="1972818"/>
                <a:gridCol w="8987282"/>
              </a:tblGrid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Sotto soglia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p = 2×10⁻³ in base Z l'errore logico scende da 1,94×10⁻³ a d = 3 fino a 2,01×10⁻⁵ a d = 9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Sopra soglia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p = 10⁻² l'ordine si inverte: circa 3,9% a d = 3 contro 5,6% a d = 9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Steane [[7,1,3]]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pendenza 1,94, compatibile con la soppressione quadratica; pseudo-soglia a p ≈ 0,08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</a:tr>
            </a:tbl>
          </a:graphicData>
        </a:graphic>
      </p:graphicFrame>
      <p:sp>
        <p:nvSpPr>
          <p:cNvPr id="11" name="Text 5"/>
          <p:cNvSpPr/>
          <p:nvPr/>
        </p:nvSpPr>
        <p:spPr>
          <a:xfrm>
            <a:off x="609600" y="5518150"/>
            <a:ext cx="10972800" cy="838200"/>
          </a:xfrm>
          <a:prstGeom prst="roundRect">
            <a:avLst>
              <a:gd name="adj" fmla="val 15152"/>
            </a:avLst>
          </a:prstGeom>
          <a:solidFill>
            <a:srgbClr val="0B2F5B"/>
          </a:solidFill>
          <a:ln/>
        </p:spPr>
        <p:txBody>
          <a:bodyPr wrap="square" lIns="191403" tIns="51703" rIns="0" bIns="26303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codifica conviene solo sotto soglia: lì aumentare la distanza sopprime l'errore logico.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562620"/>
            <a:ext cx="8110220" cy="40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0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DR3 · Decoder analitici, appresi e ibridi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53450" y="711200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Risultati | 14</a:t>
            </a:r>
            <a:endParaRPr lang="en-US" sz="13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016000"/>
            <a:ext cx="9906000" cy="38100"/>
          </a:xfrm>
          <a:prstGeom prst="rect">
            <a:avLst/>
          </a:prstGeom>
        </p:spPr>
      </p:pic>
      <p:pic>
        <p:nvPicPr>
          <p:cNvPr id="5" name="Image 1" descr="Logo Università Campus Bio-Medico di Roma">    </p:cNvPr>
          <p:cNvPicPr>
            <a:picLocks noChangeAspect="1"/>
          </p:cNvPicPr>
          <p:nvPr/>
        </p:nvPicPr>
        <p:blipFill>
          <a:blip r:embed="rId2"/>
          <a:srcRect l="0" r="0" t="-261" b="-261"/>
          <a:stretch/>
        </p:blipFill>
        <p:spPr>
          <a:xfrm>
            <a:off x="10795000" y="152400"/>
            <a:ext cx="990600" cy="825500"/>
          </a:xfrm>
          <a:prstGeom prst="rect">
            <a:avLst/>
          </a:prstGeom>
        </p:spPr>
      </p:pic>
      <p:pic>
        <p:nvPicPr>
          <p:cNvPr id="6" name="Image 2" descr="Guadagno rispetto a MWPM al variare dell'intensità del crosstalk simulato: l'ibrido a d = 3 sale a circa 1,2 con crosstalk; BP+OSD a d = 5 parte da 1,34 senza crosstalk e scende verso 1">    </p:cNvPr>
          <p:cNvPicPr>
            <a:picLocks noChangeAspect="1"/>
          </p:cNvPicPr>
          <p:nvPr/>
        </p:nvPicPr>
        <p:blipFill>
          <a:blip r:embed="rId3"/>
          <a:srcRect l="0" r="0" t="-35" b="-35"/>
          <a:stretch/>
        </p:blipFill>
        <p:spPr>
          <a:xfrm>
            <a:off x="609600" y="1320800"/>
            <a:ext cx="5207000" cy="30099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09600" y="4406900"/>
            <a:ext cx="536321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Rapporto di guadagno rispetto a MWPM: sopra 1 il metodo ha errore logico inferiore</a:t>
            </a:r>
            <a:endParaRPr lang="en-US" sz="1400" dirty="0"/>
          </a:p>
        </p:txBody>
      </p:sp>
      <p:sp>
        <p:nvSpPr>
          <p:cNvPr id="8" name="Text 3"/>
          <p:cNvSpPr/>
          <p:nvPr/>
        </p:nvSpPr>
        <p:spPr>
          <a:xfrm>
            <a:off x="6121400" y="1320800"/>
            <a:ext cx="562483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15,6–17,6%</a:t>
            </a:r>
            <a:endParaRPr lang="en-US" sz="4800" dirty="0"/>
          </a:p>
        </p:txBody>
      </p:sp>
      <p:sp>
        <p:nvSpPr>
          <p:cNvPr id="9" name="Text 4"/>
          <p:cNvSpPr/>
          <p:nvPr/>
        </p:nvSpPr>
        <p:spPr>
          <a:xfrm>
            <a:off x="6121400" y="1981200"/>
            <a:ext cx="562483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riduzione relativa dell'errore logico con il decoder ibrido (MWPM + rete) a d = 3, in presenza di crosstalk</a:t>
            </a:r>
            <a:endParaRPr lang="en-US" sz="2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34100" y="3098800"/>
          <a:ext cx="5448300" cy="2305050"/>
        </p:xfrm>
        <a:graphic>
          <a:graphicData uri="http://schemas.openxmlformats.org/drawingml/2006/table">
            <a:tbl>
              <a:tblPr/>
              <a:tblGrid>
                <a:gridCol w="1634490"/>
                <a:gridCol w="3813810"/>
              </a:tblGrid>
              <a:tr h="9461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Rete come sostituto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modello corretto non supera MWPM; servono 10⁵–10⁶ campioni solo per pareggiarlo a d = 3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</a:tr>
              <a:tr h="6794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 la scala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il margine cala: 0,5–3,2% a d = 5, non significativo a d = 7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94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BP+OSD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 analitica forte: −25,5% a d = 5 senza crosstalk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</a:tr>
            </a:tbl>
          </a:graphicData>
        </a:graphic>
      </p:graphicFrame>
      <p:sp>
        <p:nvSpPr>
          <p:cNvPr id="11" name="Text 5"/>
          <p:cNvSpPr/>
          <p:nvPr/>
        </p:nvSpPr>
        <p:spPr>
          <a:xfrm>
            <a:off x="609600" y="5556250"/>
            <a:ext cx="10972800" cy="838200"/>
          </a:xfrm>
          <a:prstGeom prst="roundRect">
            <a:avLst>
              <a:gd name="adj" fmla="val 15152"/>
            </a:avLst>
          </a:prstGeom>
          <a:solidFill>
            <a:srgbClr val="0B2F5B"/>
          </a:solidFill>
          <a:ln/>
        </p:spPr>
        <p:txBody>
          <a:bodyPr wrap="square" lIns="191403" tIns="51703" rIns="0" bIns="26303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ML aiuta come correttore residuale, quando il decoder analitico non rappresenta la struttura dell'errore.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562620"/>
            <a:ext cx="8110220" cy="40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0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DR3 · Gross code e surface code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53450" y="711200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Risultati | 15</a:t>
            </a:r>
            <a:endParaRPr lang="en-US" sz="13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016000"/>
            <a:ext cx="9906000" cy="38100"/>
          </a:xfrm>
          <a:prstGeom prst="rect">
            <a:avLst/>
          </a:prstGeom>
        </p:spPr>
      </p:pic>
      <p:pic>
        <p:nvPicPr>
          <p:cNvPr id="5" name="Image 1" descr="Logo Università Campus Bio-Medico di Roma">    </p:cNvPr>
          <p:cNvPicPr>
            <a:picLocks noChangeAspect="1"/>
          </p:cNvPicPr>
          <p:nvPr/>
        </p:nvPicPr>
        <p:blipFill>
          <a:blip r:embed="rId2"/>
          <a:srcRect l="0" r="0" t="-261" b="-261"/>
          <a:stretch/>
        </p:blipFill>
        <p:spPr>
          <a:xfrm>
            <a:off x="10795000" y="152400"/>
            <a:ext cx="990600" cy="825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9600" y="1320800"/>
            <a:ext cx="11301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Confronto esplorativo nel modello code-capacity: quanti qubit di dato servono per proteggere gli stessi </a:t>
            </a: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qubit logici</a:t>
            </a: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2060575" y="2155825"/>
            <a:ext cx="3282950" cy="1215380"/>
          </a:xfrm>
          <a:prstGeom prst="roundRect">
            <a:avLst>
              <a:gd name="adj" fmla="val 11756"/>
            </a:avLst>
          </a:prstGeom>
          <a:solidFill>
            <a:srgbClr val="FFFFFF"/>
          </a:solidFill>
          <a:ln w="19050">
            <a:solidFill>
              <a:srgbClr val="0B2F5B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070100" y="2165350"/>
            <a:ext cx="3263900" cy="383530"/>
          </a:xfrm>
          <a:custGeom>
            <a:avLst/>
            <a:gdLst/>
            <a:ahLst/>
            <a:cxnLst/>
            <a:rect l="l" t="t" r="r" b="b"/>
            <a:pathLst>
              <a:path w="3263900" h="383530">
                <a:moveTo>
                  <a:pt x="0" y="133350"/>
                </a:moveTo>
                <a:arcTo hR="133350" wR="133350" stAng="10800000" swAng="5400000"/>
                <a:lnTo>
                  <a:pt x="3130550" y="0"/>
                </a:lnTo>
                <a:arcTo hR="133350" wR="133350" stAng="16200000" swAng="5400000"/>
                <a:lnTo>
                  <a:pt x="3263900" y="383530"/>
                </a:lnTo>
                <a:lnTo>
                  <a:pt x="0" y="383530"/>
                </a:lnTo>
                <a:close/>
              </a:path>
            </a:pathLst>
          </a:custGeom>
          <a:solidFill>
            <a:srgbClr val="0B2F5B"/>
          </a:solidFill>
          <a:ln/>
        </p:spPr>
        <p:txBody>
          <a:bodyPr wrap="square" lIns="55690" tIns="76200" rIns="55690" bIns="5080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code [[144,12,12]]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2438003" y="2650480"/>
            <a:ext cx="1144091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0B2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</a:t>
            </a:r>
            <a:endParaRPr lang="en-US" sz="4800" dirty="0"/>
          </a:p>
        </p:txBody>
      </p:sp>
      <p:sp>
        <p:nvSpPr>
          <p:cNvPr id="10" name="Text 6"/>
          <p:cNvSpPr/>
          <p:nvPr/>
        </p:nvSpPr>
        <p:spPr>
          <a:xfrm>
            <a:off x="3582095" y="2926705"/>
            <a:ext cx="166080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qubit di dato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5607050" y="2592040"/>
            <a:ext cx="41148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2700" dirty="0"/>
          </a:p>
        </p:txBody>
      </p:sp>
      <p:sp>
        <p:nvSpPr>
          <p:cNvPr id="12" name="Shape 8"/>
          <p:cNvSpPr/>
          <p:nvPr/>
        </p:nvSpPr>
        <p:spPr>
          <a:xfrm>
            <a:off x="6213475" y="2155825"/>
            <a:ext cx="3917950" cy="1215380"/>
          </a:xfrm>
          <a:prstGeom prst="roundRect">
            <a:avLst>
              <a:gd name="adj" fmla="val 11756"/>
            </a:avLst>
          </a:prstGeom>
          <a:solidFill>
            <a:srgbClr val="FFFFFF"/>
          </a:solidFill>
          <a:ln w="19050">
            <a:solidFill>
              <a:srgbClr val="3F73B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223000" y="2165350"/>
            <a:ext cx="3898900" cy="383530"/>
          </a:xfrm>
          <a:custGeom>
            <a:avLst/>
            <a:gdLst/>
            <a:ahLst/>
            <a:cxnLst/>
            <a:rect l="l" t="t" r="r" b="b"/>
            <a:pathLst>
              <a:path w="3898900" h="383530">
                <a:moveTo>
                  <a:pt x="0" y="133350"/>
                </a:moveTo>
                <a:arcTo hR="133350" wR="133350" stAng="10800000" swAng="5400000"/>
                <a:lnTo>
                  <a:pt x="3765550" y="0"/>
                </a:lnTo>
                <a:arcTo hR="133350" wR="133350" stAng="16200000" swAng="5400000"/>
                <a:lnTo>
                  <a:pt x="3898900" y="383530"/>
                </a:lnTo>
                <a:lnTo>
                  <a:pt x="0" y="383530"/>
                </a:lnTo>
                <a:close/>
              </a:path>
            </a:pathLst>
          </a:custGeom>
          <a:solidFill>
            <a:srgbClr val="3F73B0"/>
          </a:solidFill>
          <a:ln/>
        </p:spPr>
        <p:txBody>
          <a:bodyPr wrap="square" lIns="46165" tIns="76200" rIns="46165" bIns="5080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× surface code, distanza 13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738888" y="2650480"/>
            <a:ext cx="1483122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3F7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4800" dirty="0"/>
          </a:p>
        </p:txBody>
      </p:sp>
      <p:sp>
        <p:nvSpPr>
          <p:cNvPr id="15" name="Text 11"/>
          <p:cNvSpPr/>
          <p:nvPr/>
        </p:nvSpPr>
        <p:spPr>
          <a:xfrm>
            <a:off x="8222010" y="2926705"/>
            <a:ext cx="166080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qubit di dato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609600" y="3545830"/>
            <a:ext cx="5397500" cy="1930400"/>
          </a:xfrm>
          <a:prstGeom prst="roundRect">
            <a:avLst>
              <a:gd name="adj" fmla="val 6579"/>
            </a:avLst>
          </a:prstGeom>
          <a:solidFill>
            <a:srgbClr val="E8EFF6"/>
          </a:solidFill>
          <a:ln/>
        </p:spPr>
        <p:txBody>
          <a:bodyPr wrap="square" lIns="153303" tIns="102503" rIns="2808" bIns="77103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il decoder adeguato</a:t>
            </a: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(BP+OSD a schedulazione seriale) il Gross code protegge meglio per errore fisico ≥ 0,75%, con circa un quattordicesimo dei qubit di dato.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6184900" y="3545830"/>
            <a:ext cx="5397500" cy="1930400"/>
          </a:xfrm>
          <a:prstGeom prst="roundRect">
            <a:avLst>
              <a:gd name="adj" fmla="val 6579"/>
            </a:avLst>
          </a:prstGeom>
          <a:solidFill>
            <a:srgbClr val="E8EFF6"/>
          </a:solidFill>
          <a:ln/>
        </p:spPr>
        <p:txBody>
          <a:bodyPr wrap="square" lIns="153303" tIns="102503" rIns="2808" bIns="77103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decoder conta quanto il codice:</a:t>
            </a: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 schedulazione parallela a seriale il fallimento a errore 1% scende di circa 100 volte (9,8×10⁻⁵ → 1,0×10⁻⁶).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562620"/>
            <a:ext cx="8110220" cy="40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0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DR4 · Sensibilità di Shor al rumore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53450" y="711200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Risultati | 16</a:t>
            </a:r>
            <a:endParaRPr lang="en-US" sz="13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016000"/>
            <a:ext cx="9906000" cy="38100"/>
          </a:xfrm>
          <a:prstGeom prst="rect">
            <a:avLst/>
          </a:prstGeom>
        </p:spPr>
      </p:pic>
      <p:pic>
        <p:nvPicPr>
          <p:cNvPr id="5" name="Image 1" descr="Logo Università Campus Bio-Medico di Roma">    </p:cNvPr>
          <p:cNvPicPr>
            <a:picLocks noChangeAspect="1"/>
          </p:cNvPicPr>
          <p:nvPr/>
        </p:nvPicPr>
        <p:blipFill>
          <a:blip r:embed="rId2"/>
          <a:srcRect l="0" r="0" t="-261" b="-261"/>
          <a:stretch/>
        </p:blipFill>
        <p:spPr>
          <a:xfrm>
            <a:off x="10795000" y="152400"/>
            <a:ext cx="990600" cy="825500"/>
          </a:xfrm>
          <a:prstGeom prst="rect">
            <a:avLst/>
          </a:prstGeom>
        </p:spPr>
      </p:pic>
      <p:pic>
        <p:nvPicPr>
          <p:cNvPr id="6" name="Image 2" descr="Probabilità di fattorizzazione per singola misura in funzione del proxy di errore Pauli per gate: da circa 0,75 scende a 0,565 a 0,01, a 0,295 a 0,05, fino al pavimento uniforme 63/256, circa 0,246">    </p:cNvPr>
          <p:cNvPicPr>
            <a:picLocks noChangeAspect="1"/>
          </p:cNvPicPr>
          <p:nvPr/>
        </p:nvPicPr>
        <p:blipFill>
          <a:blip r:embed="rId3"/>
          <a:srcRect l="0" r="0" t="-23" b="-23"/>
          <a:stretch/>
        </p:blipFill>
        <p:spPr>
          <a:xfrm>
            <a:off x="609600" y="1320800"/>
            <a:ext cx="5207000" cy="30734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09600" y="4470400"/>
            <a:ext cx="536321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 N = 15, a = 7: successo per singola misura al variare del proxy di errore per gate p_g</a:t>
            </a:r>
            <a:endParaRPr lang="en-US" sz="1400" dirty="0"/>
          </a:p>
        </p:txBody>
      </p:sp>
      <p:sp>
        <p:nvSpPr>
          <p:cNvPr id="8" name="Text 3"/>
          <p:cNvSpPr/>
          <p:nvPr/>
        </p:nvSpPr>
        <p:spPr>
          <a:xfrm>
            <a:off x="6121400" y="1320800"/>
            <a:ext cx="562483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74,89%</a:t>
            </a:r>
            <a:endParaRPr lang="en-US" sz="4800" dirty="0"/>
          </a:p>
        </p:txBody>
      </p:sp>
      <p:sp>
        <p:nvSpPr>
          <p:cNvPr id="9" name="Text 4"/>
          <p:cNvSpPr/>
          <p:nvPr/>
        </p:nvSpPr>
        <p:spPr>
          <a:xfrm>
            <a:off x="6121400" y="1981200"/>
            <a:ext cx="562483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probabilità di ricavare i fattori per singola misura in assenza di rumore</a:t>
            </a:r>
            <a:endParaRPr lang="en-US" sz="2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34100" y="2768600"/>
          <a:ext cx="5448300" cy="1625600"/>
        </p:xfrm>
        <a:graphic>
          <a:graphicData uri="http://schemas.openxmlformats.org/drawingml/2006/table">
            <a:tbl>
              <a:tblPr/>
              <a:tblGrid>
                <a:gridCol w="1634490"/>
                <a:gridCol w="3813810"/>
              </a:tblGrid>
              <a:tr h="6794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Degrado regolare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64,5% a p_g = 0,005, 56,5% a 0,01 e 45,2% a 0,02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</a:tr>
              <a:tr h="9461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Plateau a circa 24,5%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 p_g ≈ 0,1: è il pavimento 63/256 della verifica classica, che accetta 63 esiti su 256 anche da una distribuzione uniforme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5"/>
          <p:cNvSpPr/>
          <p:nvPr/>
        </p:nvSpPr>
        <p:spPr>
          <a:xfrm>
            <a:off x="609600" y="5085060"/>
            <a:ext cx="10972800" cy="838200"/>
          </a:xfrm>
          <a:prstGeom prst="roundRect">
            <a:avLst>
              <a:gd name="adj" fmla="val 15152"/>
            </a:avLst>
          </a:prstGeom>
          <a:solidFill>
            <a:srgbClr val="0B2F5B"/>
          </a:solidFill>
          <a:ln/>
        </p:spPr>
        <p:txBody>
          <a:bodyPr wrap="square" lIns="191403" tIns="51703" rIns="0" bIns="26303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plateau non indica periodicità residua; p_g è un proxy per gate, non un tasso di errore logico QEC.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562620"/>
            <a:ext cx="8110220" cy="40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0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DR5 · QFT approssimata su N = 15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53450" y="711200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Risultati | 17</a:t>
            </a:r>
            <a:endParaRPr lang="en-US" sz="13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016000"/>
            <a:ext cx="9906000" cy="38100"/>
          </a:xfrm>
          <a:prstGeom prst="rect">
            <a:avLst/>
          </a:prstGeom>
        </p:spPr>
      </p:pic>
      <p:pic>
        <p:nvPicPr>
          <p:cNvPr id="5" name="Image 1" descr="Logo Università Campus Bio-Medico di Roma">    </p:cNvPr>
          <p:cNvPicPr>
            <a:picLocks noChangeAspect="1"/>
          </p:cNvPicPr>
          <p:nvPr/>
        </p:nvPicPr>
        <p:blipFill>
          <a:blip r:embed="rId2"/>
          <a:srcRect l="0" r="0" t="-261" b="-261"/>
          <a:stretch/>
        </p:blipFill>
        <p:spPr>
          <a:xfrm>
            <a:off x="10795000" y="152400"/>
            <a:ext cx="990600" cy="825500"/>
          </a:xfrm>
          <a:prstGeom prst="rect">
            <a:avLst/>
          </a:prstGeom>
        </p:spPr>
      </p:pic>
      <p:pic>
        <p:nvPicPr>
          <p:cNvPr id="6" name="Image 2" descr="Successo su holdout al variare del grado di troncamento: 0,628 con k = 1 scelto in selezione, in calo fino a 0,479 con la QFT piena a k = 7">    </p:cNvPr>
          <p:cNvPicPr>
            <a:picLocks noChangeAspect="1"/>
          </p:cNvPicPr>
          <p:nvPr/>
        </p:nvPicPr>
        <p:blipFill>
          <a:blip r:embed="rId3"/>
          <a:srcRect l="-17" r="-17" t="0" b="0"/>
          <a:stretch/>
        </p:blipFill>
        <p:spPr>
          <a:xfrm>
            <a:off x="609600" y="1320800"/>
            <a:ext cx="5080000" cy="30480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09600" y="4445000"/>
            <a:ext cx="523240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Successo holdout al variare del grado di troncamento della QFT inversa finale; la linea tratteggiata è la QFT piena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07100" y="1333500"/>
          <a:ext cx="5575300" cy="2041823"/>
        </p:xfrm>
        <a:graphic>
          <a:graphicData uri="http://schemas.openxmlformats.org/drawingml/2006/table">
            <a:tbl>
              <a:tblPr/>
              <a:tblGrid>
                <a:gridCol w="1728343"/>
                <a:gridCol w="1170813"/>
                <a:gridCol w="1059307"/>
                <a:gridCol w="1616837"/>
              </a:tblGrid>
              <a:tr h="72380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Grandezza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C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QFT piena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C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AQFT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C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Variazione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C97"/>
                    </a:solidFill>
                  </a:tcPr>
                </a:tc>
              </a:tr>
              <a:tr h="4393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P_succ holdout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0,4792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0,6279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+14,87 punti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3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Porte ECR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279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−22,9%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</a:tr>
              <a:tr h="4393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Profondità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−15,5%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3"/>
          <p:cNvSpPr/>
          <p:nvPr/>
        </p:nvSpPr>
        <p:spPr>
          <a:xfrm>
            <a:off x="5994400" y="3502323"/>
            <a:ext cx="575564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Grado scelto sui dati di selezione, valutato su holdout disgiunto. IC Newcombe 95% dell'incremento: [12,73; 16,99] punti.</a:t>
            </a:r>
            <a:endParaRPr lang="en-US" sz="2000" dirty="0"/>
          </a:p>
        </p:txBody>
      </p:sp>
      <p:sp>
        <p:nvSpPr>
          <p:cNvPr id="10" name="Text 4"/>
          <p:cNvSpPr/>
          <p:nvPr/>
        </p:nvSpPr>
        <p:spPr>
          <a:xfrm>
            <a:off x="5994400" y="4619923"/>
            <a:ext cx="5755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Istanza favorevole:</a:t>
            </a: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 = 4 produce fasi rappresentabili esattamente con due bit.</a:t>
            </a:r>
            <a:endParaRPr lang="en-US" sz="2000" dirty="0"/>
          </a:p>
        </p:txBody>
      </p:sp>
      <p:sp>
        <p:nvSpPr>
          <p:cNvPr id="11" name="Text 5"/>
          <p:cNvSpPr/>
          <p:nvPr/>
        </p:nvSpPr>
        <p:spPr>
          <a:xfrm>
            <a:off x="609600" y="5432723"/>
            <a:ext cx="10972800" cy="838200"/>
          </a:xfrm>
          <a:prstGeom prst="roundRect">
            <a:avLst>
              <a:gd name="adj" fmla="val 15152"/>
            </a:avLst>
          </a:prstGeom>
          <a:solidFill>
            <a:srgbClr val="0B2F5B"/>
          </a:solidFill>
          <a:ln/>
        </p:spPr>
        <p:txBody>
          <a:bodyPr wrap="square" lIns="191403" tIns="51703" rIns="0" bIns="26303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 porte danno più informazione utile quando il rumore evitato supera la perdita di precisione di fase.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562620"/>
            <a:ext cx="8110220" cy="40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0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DR5 · AQFT su N = 21 e QPE isolata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53450" y="711200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Risultati | 18</a:t>
            </a:r>
            <a:endParaRPr lang="en-US" sz="13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016000"/>
            <a:ext cx="9906000" cy="38100"/>
          </a:xfrm>
          <a:prstGeom prst="rect">
            <a:avLst/>
          </a:prstGeom>
        </p:spPr>
      </p:pic>
      <p:pic>
        <p:nvPicPr>
          <p:cNvPr id="5" name="Image 1" descr="Logo Università Campus Bio-Medico di Roma">    </p:cNvPr>
          <p:cNvPicPr>
            <a:picLocks noChangeAspect="1"/>
          </p:cNvPicPr>
          <p:nvPr/>
        </p:nvPicPr>
        <p:blipFill>
          <a:blip r:embed="rId2"/>
          <a:srcRect l="0" r="0" t="-261" b="-261"/>
          <a:stretch/>
        </p:blipFill>
        <p:spPr>
          <a:xfrm>
            <a:off x="10795000" y="152400"/>
            <a:ext cx="990600" cy="8255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19125" y="1330325"/>
            <a:ext cx="5949950" cy="2434580"/>
          </a:xfrm>
          <a:prstGeom prst="roundRect">
            <a:avLst>
              <a:gd name="adj" fmla="val 5869"/>
            </a:avLst>
          </a:prstGeom>
          <a:solidFill>
            <a:srgbClr val="FFFFFF"/>
          </a:solidFill>
          <a:ln w="19050">
            <a:solidFill>
              <a:srgbClr val="125C97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28650" y="1339850"/>
            <a:ext cx="5930900" cy="383530"/>
          </a:xfrm>
          <a:custGeom>
            <a:avLst/>
            <a:gdLst/>
            <a:ahLst/>
            <a:cxnLst/>
            <a:rect l="l" t="t" r="r" b="b"/>
            <a:pathLst>
              <a:path w="5930900" h="383530">
                <a:moveTo>
                  <a:pt x="0" y="133350"/>
                </a:moveTo>
                <a:arcTo hR="133350" wR="133350" stAng="10800000" swAng="5400000"/>
                <a:lnTo>
                  <a:pt x="5797550" y="0"/>
                </a:lnTo>
                <a:arcTo hR="133350" wR="133350" stAng="16200000" swAng="5400000"/>
                <a:lnTo>
                  <a:pt x="5930900" y="383530"/>
                </a:lnTo>
                <a:lnTo>
                  <a:pt x="0" y="383530"/>
                </a:lnTo>
                <a:close/>
              </a:path>
            </a:pathLst>
          </a:custGeom>
          <a:solidFill>
            <a:srgbClr val="125C97"/>
          </a:solidFill>
          <a:ln/>
        </p:spPr>
        <p:txBody>
          <a:bodyPr wrap="square" lIns="41847" tIns="76200" rIns="41847" bIns="5080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 su N = 21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806450" y="1850380"/>
            <a:ext cx="57425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Porte ECR:</a:t>
            </a: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49 661 → 23 178 troncando l'aritmetica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806450" y="2574280"/>
            <a:ext cx="5742559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Successo ideale:</a:t>
            </a: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0,4667 → 0,4013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806450" y="2967980"/>
            <a:ext cx="57425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rumore</a:t>
            </a: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 budget ridotto: nessun vantaggio dimostrato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619125" y="3910955"/>
            <a:ext cx="5949950" cy="1647180"/>
          </a:xfrm>
          <a:prstGeom prst="roundRect">
            <a:avLst>
              <a:gd name="adj" fmla="val 8674"/>
            </a:avLst>
          </a:prstGeom>
          <a:solidFill>
            <a:srgbClr val="FFFFFF"/>
          </a:solidFill>
          <a:ln w="19050">
            <a:solidFill>
              <a:srgbClr val="125C9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28650" y="3920480"/>
            <a:ext cx="5930900" cy="383530"/>
          </a:xfrm>
          <a:custGeom>
            <a:avLst/>
            <a:gdLst/>
            <a:ahLst/>
            <a:cxnLst/>
            <a:rect l="l" t="t" r="r" b="b"/>
            <a:pathLst>
              <a:path w="5930900" h="383530">
                <a:moveTo>
                  <a:pt x="0" y="133350"/>
                </a:moveTo>
                <a:arcTo hR="133350" wR="133350" stAng="10800000" swAng="5400000"/>
                <a:lnTo>
                  <a:pt x="5797550" y="0"/>
                </a:lnTo>
                <a:arcTo hR="133350" wR="133350" stAng="16200000" swAng="5400000"/>
                <a:lnTo>
                  <a:pt x="5930900" y="383530"/>
                </a:lnTo>
                <a:lnTo>
                  <a:pt x="0" y="383530"/>
                </a:lnTo>
                <a:close/>
              </a:path>
            </a:pathLst>
          </a:custGeom>
          <a:solidFill>
            <a:srgbClr val="125C97"/>
          </a:solidFill>
          <a:ln/>
        </p:spPr>
        <p:txBody>
          <a:bodyPr wrap="square" lIns="41847" tIns="76200" rIns="41847" bIns="5080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QPE isolata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806450" y="4431010"/>
            <a:ext cx="5742559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stime su 9</a:t>
            </a: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favore della variante troncata, 6 intervalli su 9 sopra zero; evidenza esplorativa, senza correzione simultanea</a:t>
            </a:r>
            <a:endParaRPr lang="en-US" sz="2000" dirty="0"/>
          </a:p>
        </p:txBody>
      </p:sp>
      <p:pic>
        <p:nvPicPr>
          <p:cNvPr id="14" name="Image 2" descr="Differenza di successo tra AQFT e QFT piena nei nove benchmark QPE con intervalli di confidenza: tutte le stime sono positive, la maggiore è circa 0,125 sul registro a dieci qubit">    </p:cNvPr>
          <p:cNvPicPr>
            <a:picLocks noChangeAspect="1"/>
          </p:cNvPicPr>
          <p:nvPr/>
        </p:nvPicPr>
        <p:blipFill>
          <a:blip r:embed="rId3"/>
          <a:srcRect l="0" r="0" t="-13" b="-13"/>
          <a:stretch/>
        </p:blipFill>
        <p:spPr>
          <a:xfrm>
            <a:off x="6883400" y="1320800"/>
            <a:ext cx="4699000" cy="3276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883400" y="4673600"/>
            <a:ext cx="483997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QPE isolata: differenza di successo AQFT − QFT piena su holdout, con IC Newcombe individuali al 95%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09600" y="5707360"/>
            <a:ext cx="10972800" cy="508000"/>
          </a:xfrm>
          <a:prstGeom prst="roundRect">
            <a:avLst>
              <a:gd name="adj" fmla="val 25000"/>
            </a:avLst>
          </a:prstGeom>
          <a:solidFill>
            <a:srgbClr val="0B2F5B"/>
          </a:solidFill>
          <a:ln/>
        </p:spPr>
        <p:txBody>
          <a:bodyPr wrap="square" lIns="191403" tIns="51703" rIns="0" bIns="26303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grado AQFT va scelto per istanza e per regime di rumore.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562620"/>
            <a:ext cx="8110220" cy="40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0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Risposte alle domande di ricerca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53450" y="711200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Conclusioni | 19</a:t>
            </a:r>
            <a:endParaRPr lang="en-US" sz="13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016000"/>
            <a:ext cx="9906000" cy="38100"/>
          </a:xfrm>
          <a:prstGeom prst="rect">
            <a:avLst/>
          </a:prstGeom>
        </p:spPr>
      </p:pic>
      <p:pic>
        <p:nvPicPr>
          <p:cNvPr id="5" name="Image 1" descr="Logo Università Campus Bio-Medico di Roma">    </p:cNvPr>
          <p:cNvPicPr>
            <a:picLocks noChangeAspect="1"/>
          </p:cNvPicPr>
          <p:nvPr/>
        </p:nvPicPr>
        <p:blipFill>
          <a:blip r:embed="rId2"/>
          <a:srcRect l="0" r="0" t="-261" b="-261"/>
          <a:stretch/>
        </p:blipFill>
        <p:spPr>
          <a:xfrm>
            <a:off x="10795000" y="152400"/>
            <a:ext cx="990600" cy="825500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2300" y="1333500"/>
          <a:ext cx="10960100" cy="4307284"/>
        </p:xfrm>
        <a:graphic>
          <a:graphicData uri="http://schemas.openxmlformats.org/drawingml/2006/table">
            <a:tbl>
              <a:tblPr/>
              <a:tblGrid>
                <a:gridCol w="876808"/>
                <a:gridCol w="4822444"/>
                <a:gridCol w="5260848"/>
              </a:tblGrid>
              <a:tr h="466030"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C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Risposta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C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Evidenza principale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C97"/>
                    </a:solidFill>
                  </a:tcPr>
                </a:tc>
              </a:tr>
              <a:tr h="768251"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DR1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TOP-K è utile; il filtro ML considerato non aggiunge valore operativo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TOP-4: 1,00 iterazioni medie nei due scenari; M2 perde contro la propria ablazione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8251"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DR2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QEC sopprime l'errore sotto soglia; il beneficio cresce con la distanza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Steane: pendenza 1,94; surface code: soglia 0,86% (Z) e 0,81% (X)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</a:tr>
              <a:tr h="768251"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DR3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Il ML è utile come correttore residuale; il decoder conta anche fra codici diversi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p_L ridotto del 15,6–17,6% a d = 3 con crosstalk; Gross code migliore per p ≥ 0,75%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8251"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DR4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Il successo di Shor decresce con p_g fino al pavimento del post-processing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 0,7489 senza rumore a circa 0,245 per rumore elevato (63/256)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</a:tr>
              <a:tr h="768251"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DR5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L'AQFT aiuta quando le porte evitate compensano la perdita di fase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 = 15: 0,4792 → 0,6279, ECR 362 → 279; beneficio non dimostrato su N = 21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562620"/>
            <a:ext cx="8110220" cy="40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0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 centrale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53450" y="711200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Conclusioni | 20</a:t>
            </a:r>
            <a:endParaRPr lang="en-US" sz="13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016000"/>
            <a:ext cx="9906000" cy="38100"/>
          </a:xfrm>
          <a:prstGeom prst="rect">
            <a:avLst/>
          </a:prstGeom>
        </p:spPr>
      </p:pic>
      <p:pic>
        <p:nvPicPr>
          <p:cNvPr id="5" name="Image 1" descr="Logo Università Campus Bio-Medico di Roma">    </p:cNvPr>
          <p:cNvPicPr>
            <a:picLocks noChangeAspect="1"/>
          </p:cNvPicPr>
          <p:nvPr/>
        </p:nvPicPr>
        <p:blipFill>
          <a:blip r:embed="rId2"/>
          <a:srcRect l="0" r="0" t="-261" b="-261"/>
          <a:stretch/>
        </p:blipFill>
        <p:spPr>
          <a:xfrm>
            <a:off x="10795000" y="152400"/>
            <a:ext cx="990600" cy="825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9600" y="1320800"/>
            <a:ext cx="10972800" cy="1843980"/>
          </a:xfrm>
          <a:prstGeom prst="roundRect">
            <a:avLst>
              <a:gd name="adj" fmla="val 11020"/>
            </a:avLst>
          </a:prstGeom>
          <a:solidFill>
            <a:srgbClr val="0B2F5B"/>
          </a:solidFill>
          <a:ln/>
        </p:spPr>
        <p:txBody>
          <a:bodyPr wrap="square" lIns="346885" tIns="245285" rIns="42085" bIns="219885" rtlCol="0" anchor="t">
            <a:norm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complessità aggiuntiva è giustificata solo quando agisce sul collo di bottiglia effettivo e produce un beneficio misurabile rispetto a una baseline adeguata.</a:t>
            </a:r>
            <a:endParaRPr lang="en-US" sz="2700" dirty="0"/>
          </a:p>
        </p:txBody>
      </p:sp>
      <p:sp>
        <p:nvSpPr>
          <p:cNvPr id="7" name="Shape 3"/>
          <p:cNvSpPr/>
          <p:nvPr/>
        </p:nvSpPr>
        <p:spPr>
          <a:xfrm>
            <a:off x="619125" y="3402905"/>
            <a:ext cx="2609850" cy="1647180"/>
          </a:xfrm>
          <a:prstGeom prst="roundRect">
            <a:avLst>
              <a:gd name="adj" fmla="val 8674"/>
            </a:avLst>
          </a:prstGeom>
          <a:solidFill>
            <a:srgbClr val="FFFFFF"/>
          </a:solidFill>
          <a:ln w="19050">
            <a:solidFill>
              <a:srgbClr val="125C9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28650" y="3412430"/>
            <a:ext cx="2590800" cy="383530"/>
          </a:xfrm>
          <a:custGeom>
            <a:avLst/>
            <a:gdLst/>
            <a:ahLst/>
            <a:cxnLst/>
            <a:rect l="l" t="t" r="r" b="b"/>
            <a:pathLst>
              <a:path w="2590800" h="383530">
                <a:moveTo>
                  <a:pt x="0" y="133350"/>
                </a:moveTo>
                <a:arcTo hR="133350" wR="133350" stAng="10800000" swAng="5400000"/>
                <a:lnTo>
                  <a:pt x="2457450" y="0"/>
                </a:lnTo>
                <a:arcTo hR="133350" wR="133350" stAng="16200000" swAng="5400000"/>
                <a:lnTo>
                  <a:pt x="2590800" y="383530"/>
                </a:lnTo>
                <a:lnTo>
                  <a:pt x="0" y="383530"/>
                </a:lnTo>
                <a:close/>
              </a:path>
            </a:pathLst>
          </a:custGeom>
          <a:solidFill>
            <a:srgbClr val="125C97"/>
          </a:solidFill>
          <a:ln/>
        </p:spPr>
        <p:txBody>
          <a:bodyPr wrap="square" lIns="65786" tIns="76200" rIns="65786" bIns="5080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TOP-K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33679" y="3922961"/>
            <a:ext cx="2380742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meglio informazione già disponibile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3400425" y="3402905"/>
            <a:ext cx="2609850" cy="1647180"/>
          </a:xfrm>
          <a:prstGeom prst="roundRect">
            <a:avLst>
              <a:gd name="adj" fmla="val 8674"/>
            </a:avLst>
          </a:prstGeom>
          <a:solidFill>
            <a:srgbClr val="FFFFFF"/>
          </a:solidFill>
          <a:ln w="19050">
            <a:solidFill>
              <a:srgbClr val="125C97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409950" y="3412430"/>
            <a:ext cx="2590800" cy="383530"/>
          </a:xfrm>
          <a:custGeom>
            <a:avLst/>
            <a:gdLst/>
            <a:ahLst/>
            <a:cxnLst/>
            <a:rect l="l" t="t" r="r" b="b"/>
            <a:pathLst>
              <a:path w="2590800" h="383530">
                <a:moveTo>
                  <a:pt x="0" y="133350"/>
                </a:moveTo>
                <a:arcTo hR="133350" wR="133350" stAng="10800000" swAng="5400000"/>
                <a:lnTo>
                  <a:pt x="2457450" y="0"/>
                </a:lnTo>
                <a:arcTo hR="133350" wR="133350" stAng="16200000" swAng="5400000"/>
                <a:lnTo>
                  <a:pt x="2590800" y="383530"/>
                </a:lnTo>
                <a:lnTo>
                  <a:pt x="0" y="383530"/>
                </a:lnTo>
                <a:close/>
              </a:path>
            </a:pathLst>
          </a:custGeom>
          <a:solidFill>
            <a:srgbClr val="125C97"/>
          </a:solidFill>
          <a:ln/>
        </p:spPr>
        <p:txBody>
          <a:bodyPr wrap="square" lIns="65786" tIns="76200" rIns="65786" bIns="5080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QEC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514979" y="3922961"/>
            <a:ext cx="2380742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 l'ordine dell'errore, ma solo sotto soglia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6181725" y="3402905"/>
            <a:ext cx="2609850" cy="1647180"/>
          </a:xfrm>
          <a:prstGeom prst="roundRect">
            <a:avLst>
              <a:gd name="adj" fmla="val 8674"/>
            </a:avLst>
          </a:prstGeom>
          <a:solidFill>
            <a:srgbClr val="FFFFFF"/>
          </a:solidFill>
          <a:ln w="19050">
            <a:solidFill>
              <a:srgbClr val="125C9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191250" y="3412430"/>
            <a:ext cx="2590800" cy="383530"/>
          </a:xfrm>
          <a:custGeom>
            <a:avLst/>
            <a:gdLst/>
            <a:ahLst/>
            <a:cxnLst/>
            <a:rect l="l" t="t" r="r" b="b"/>
            <a:pathLst>
              <a:path w="2590800" h="383530">
                <a:moveTo>
                  <a:pt x="0" y="133350"/>
                </a:moveTo>
                <a:arcTo hR="133350" wR="133350" stAng="10800000" swAng="5400000"/>
                <a:lnTo>
                  <a:pt x="2457450" y="0"/>
                </a:lnTo>
                <a:arcTo hR="133350" wR="133350" stAng="16200000" swAng="5400000"/>
                <a:lnTo>
                  <a:pt x="2590800" y="383530"/>
                </a:lnTo>
                <a:lnTo>
                  <a:pt x="0" y="383530"/>
                </a:lnTo>
                <a:close/>
              </a:path>
            </a:pathLst>
          </a:custGeom>
          <a:solidFill>
            <a:srgbClr val="125C97"/>
          </a:solidFill>
          <a:ln/>
        </p:spPr>
        <p:txBody>
          <a:bodyPr wrap="square" lIns="65786" tIns="76200" rIns="65786" bIns="5080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 appreso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296279" y="3922961"/>
            <a:ext cx="2380742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recupera struttura assente dal modello analitico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8963025" y="3402905"/>
            <a:ext cx="2609850" cy="1647180"/>
          </a:xfrm>
          <a:prstGeom prst="roundRect">
            <a:avLst>
              <a:gd name="adj" fmla="val 8674"/>
            </a:avLst>
          </a:prstGeom>
          <a:solidFill>
            <a:srgbClr val="FFFFFF"/>
          </a:solidFill>
          <a:ln w="19050">
            <a:solidFill>
              <a:srgbClr val="125C9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972550" y="3412430"/>
            <a:ext cx="2590800" cy="383530"/>
          </a:xfrm>
          <a:custGeom>
            <a:avLst/>
            <a:gdLst/>
            <a:ahLst/>
            <a:cxnLst/>
            <a:rect l="l" t="t" r="r" b="b"/>
            <a:pathLst>
              <a:path w="2590800" h="383530">
                <a:moveTo>
                  <a:pt x="0" y="133350"/>
                </a:moveTo>
                <a:arcTo hR="133350" wR="133350" stAng="10800000" swAng="5400000"/>
                <a:lnTo>
                  <a:pt x="2457450" y="0"/>
                </a:lnTo>
                <a:arcTo hR="133350" wR="133350" stAng="16200000" swAng="5400000"/>
                <a:lnTo>
                  <a:pt x="2590800" y="383530"/>
                </a:lnTo>
                <a:lnTo>
                  <a:pt x="0" y="383530"/>
                </a:lnTo>
                <a:close/>
              </a:path>
            </a:pathLst>
          </a:custGeom>
          <a:solidFill>
            <a:srgbClr val="125C97"/>
          </a:solidFill>
          <a:ln/>
        </p:spPr>
        <p:txBody>
          <a:bodyPr wrap="square" lIns="65786" tIns="76200" rIns="65786" bIns="5080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AQFT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9077579" y="3922961"/>
            <a:ext cx="2380742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aiuta se il costo evitato supera la perdita algoritmica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562620"/>
            <a:ext cx="8110220" cy="40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0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Limiti e sviluppi futuri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53450" y="711200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Conclusioni | 21</a:t>
            </a:r>
            <a:endParaRPr lang="en-US" sz="13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016000"/>
            <a:ext cx="9906000" cy="38100"/>
          </a:xfrm>
          <a:prstGeom prst="rect">
            <a:avLst/>
          </a:prstGeom>
        </p:spPr>
      </p:pic>
      <p:pic>
        <p:nvPicPr>
          <p:cNvPr id="5" name="Image 1" descr="Logo Università Campus Bio-Medico di Roma">    </p:cNvPr>
          <p:cNvPicPr>
            <a:picLocks noChangeAspect="1"/>
          </p:cNvPicPr>
          <p:nvPr/>
        </p:nvPicPr>
        <p:blipFill>
          <a:blip r:embed="rId2"/>
          <a:srcRect l="0" r="0" t="-261" b="-261"/>
          <a:stretch/>
        </p:blipFill>
        <p:spPr>
          <a:xfrm>
            <a:off x="10795000" y="152400"/>
            <a:ext cx="990600" cy="8255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19125" y="1330325"/>
            <a:ext cx="4679950" cy="4522391"/>
          </a:xfrm>
          <a:prstGeom prst="roundRect">
            <a:avLst>
              <a:gd name="adj" fmla="val 3159"/>
            </a:avLst>
          </a:prstGeom>
          <a:solidFill>
            <a:srgbClr val="FFFFFF"/>
          </a:solidFill>
          <a:ln w="19050">
            <a:solidFill>
              <a:srgbClr val="125C97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28650" y="1339850"/>
            <a:ext cx="4660900" cy="383530"/>
          </a:xfrm>
          <a:custGeom>
            <a:avLst/>
            <a:gdLst/>
            <a:ahLst/>
            <a:cxnLst/>
            <a:rect l="l" t="t" r="r" b="b"/>
            <a:pathLst>
              <a:path w="4660900" h="383530">
                <a:moveTo>
                  <a:pt x="0" y="133350"/>
                </a:moveTo>
                <a:arcTo hR="133350" wR="133350" stAng="10800000" swAng="5400000"/>
                <a:lnTo>
                  <a:pt x="4527550" y="0"/>
                </a:lnTo>
                <a:arcTo hR="133350" wR="133350" stAng="16200000" swAng="5400000"/>
                <a:lnTo>
                  <a:pt x="4660900" y="383530"/>
                </a:lnTo>
                <a:lnTo>
                  <a:pt x="0" y="383530"/>
                </a:lnTo>
                <a:close/>
              </a:path>
            </a:pathLst>
          </a:custGeom>
          <a:solidFill>
            <a:srgbClr val="125C97"/>
          </a:solidFill>
          <a:ln/>
        </p:spPr>
        <p:txBody>
          <a:bodyPr wrap="square" lIns="60897" tIns="76200" rIns="60897" bIns="5080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Limiti dello studio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806450" y="1850380"/>
            <a:ext cx="443445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806450" y="2167880"/>
            <a:ext cx="4434459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campagne simulate; N = 15 con r = 4 è un'istanza favorevole a TOP-K e AQFT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06450" y="2719040"/>
            <a:ext cx="443445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Rumore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806450" y="3036540"/>
            <a:ext cx="4434459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modello uniforme e stazionario; controlli hardware-aware su snapshot offline, non su QPU live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806450" y="3587700"/>
            <a:ext cx="443445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QEC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806450" y="3905200"/>
            <a:ext cx="4434459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code studiato come memoria, non uno Shor fault-tolerant; decoder appreso MLP denso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806450" y="4456361"/>
            <a:ext cx="443445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Inferenza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806450" y="4773861"/>
            <a:ext cx="4434459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sweep e benchmark QPE esplorativi, senza correzione simultanea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562600" y="1320800"/>
            <a:ext cx="6019800" cy="383530"/>
          </a:xfrm>
          <a:prstGeom prst="roundRect">
            <a:avLst>
              <a:gd name="adj" fmla="val 39736"/>
            </a:avLst>
          </a:prstGeom>
          <a:solidFill>
            <a:srgbClr val="125C97"/>
          </a:solidFill>
          <a:ln/>
        </p:spPr>
        <p:txBody>
          <a:bodyPr wrap="square" lIns="0" tIns="31564" rIns="0" bIns="6164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Sviluppi futuri, in ordine di priorità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562600" y="1767830"/>
            <a:ext cx="482600" cy="906760"/>
          </a:xfrm>
          <a:custGeom>
            <a:avLst/>
            <a:gdLst/>
            <a:ahLst/>
            <a:cxnLst/>
            <a:rect l="l" t="t" r="r" b="b"/>
            <a:pathLst>
              <a:path w="482600" h="906760">
                <a:moveTo>
                  <a:pt x="76200" y="0"/>
                </a:moveTo>
                <a:lnTo>
                  <a:pt x="482600" y="0"/>
                </a:lnTo>
                <a:lnTo>
                  <a:pt x="482600" y="906760"/>
                </a:lnTo>
                <a:lnTo>
                  <a:pt x="76200" y="90676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close/>
              </a:path>
            </a:pathLst>
          </a:custGeom>
          <a:solidFill>
            <a:srgbClr val="0B2F5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6096000" y="1767830"/>
            <a:ext cx="5486400" cy="906760"/>
          </a:xfrm>
          <a:custGeom>
            <a:avLst/>
            <a:gdLst/>
            <a:ahLst/>
            <a:cxnLst/>
            <a:rect l="l" t="t" r="r" b="b"/>
            <a:pathLst>
              <a:path w="5486400" h="906760">
                <a:moveTo>
                  <a:pt x="0" y="0"/>
                </a:moveTo>
                <a:lnTo>
                  <a:pt x="5410200" y="0"/>
                </a:lnTo>
                <a:arcTo hR="76200" wR="76200" stAng="16200000" swAng="5400000"/>
                <a:lnTo>
                  <a:pt x="5486400" y="830560"/>
                </a:lnTo>
                <a:arcTo hR="76200" wR="76200" stAng="0" swAng="5400000"/>
                <a:lnTo>
                  <a:pt x="0" y="906760"/>
                </a:lnTo>
                <a:lnTo>
                  <a:pt x="0" y="0"/>
                </a:lnTo>
                <a:close/>
              </a:path>
            </a:pathLst>
          </a:custGeom>
          <a:solidFill>
            <a:srgbClr val="E8EFF6"/>
          </a:solidFill>
          <a:ln/>
        </p:spPr>
      </p:sp>
      <p:sp>
        <p:nvSpPr>
          <p:cNvPr id="19" name="Text 15"/>
          <p:cNvSpPr/>
          <p:nvPr/>
        </p:nvSpPr>
        <p:spPr>
          <a:xfrm>
            <a:off x="6235700" y="1831330"/>
            <a:ext cx="536321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6235700" y="2148830"/>
            <a:ext cx="536321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ripetere Shor e AQFT su QPU, con simulazione dalla calibrazione coeva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5562600" y="2738090"/>
            <a:ext cx="482600" cy="675630"/>
          </a:xfrm>
          <a:custGeom>
            <a:avLst/>
            <a:gdLst/>
            <a:ahLst/>
            <a:cxnLst/>
            <a:rect l="l" t="t" r="r" b="b"/>
            <a:pathLst>
              <a:path w="482600" h="675630">
                <a:moveTo>
                  <a:pt x="76200" y="0"/>
                </a:moveTo>
                <a:lnTo>
                  <a:pt x="482600" y="0"/>
                </a:lnTo>
                <a:lnTo>
                  <a:pt x="482600" y="675630"/>
                </a:lnTo>
                <a:lnTo>
                  <a:pt x="76200" y="67563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close/>
              </a:path>
            </a:pathLst>
          </a:custGeom>
          <a:solidFill>
            <a:srgbClr val="0B2F5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hape 18"/>
          <p:cNvSpPr/>
          <p:nvPr/>
        </p:nvSpPr>
        <p:spPr>
          <a:xfrm>
            <a:off x="6096000" y="2738090"/>
            <a:ext cx="5486400" cy="675630"/>
          </a:xfrm>
          <a:custGeom>
            <a:avLst/>
            <a:gdLst/>
            <a:ahLst/>
            <a:cxnLst/>
            <a:rect l="l" t="t" r="r" b="b"/>
            <a:pathLst>
              <a:path w="5486400" h="675630">
                <a:moveTo>
                  <a:pt x="0" y="0"/>
                </a:moveTo>
                <a:lnTo>
                  <a:pt x="5410200" y="0"/>
                </a:lnTo>
                <a:arcTo hR="76200" wR="76200" stAng="16200000" swAng="5400000"/>
                <a:lnTo>
                  <a:pt x="5486400" y="599430"/>
                </a:lnTo>
                <a:arcTo hR="76200" wR="76200" stAng="0" swAng="5400000"/>
                <a:lnTo>
                  <a:pt x="0" y="675630"/>
                </a:lnTo>
                <a:lnTo>
                  <a:pt x="0" y="0"/>
                </a:lnTo>
                <a:close/>
              </a:path>
            </a:pathLst>
          </a:custGeom>
          <a:solidFill>
            <a:srgbClr val="E8EFF6"/>
          </a:solidFill>
          <a:ln/>
        </p:spPr>
      </p:sp>
      <p:sp>
        <p:nvSpPr>
          <p:cNvPr id="23" name="Text 19"/>
          <p:cNvSpPr/>
          <p:nvPr/>
        </p:nvSpPr>
        <p:spPr>
          <a:xfrm>
            <a:off x="6235700" y="2801590"/>
            <a:ext cx="536321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</a:t>
            </a:r>
            <a:endParaRPr lang="en-US" sz="2000" dirty="0"/>
          </a:p>
        </p:txBody>
      </p:sp>
      <p:sp>
        <p:nvSpPr>
          <p:cNvPr id="24" name="Text 20"/>
          <p:cNvSpPr/>
          <p:nvPr/>
        </p:nvSpPr>
        <p:spPr>
          <a:xfrm>
            <a:off x="6235700" y="3119090"/>
            <a:ext cx="53632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variare separatamente N, ordine r, qubit di conteggio e aritmetica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5562600" y="3477220"/>
            <a:ext cx="482600" cy="675630"/>
          </a:xfrm>
          <a:custGeom>
            <a:avLst/>
            <a:gdLst/>
            <a:ahLst/>
            <a:cxnLst/>
            <a:rect l="l" t="t" r="r" b="b"/>
            <a:pathLst>
              <a:path w="482600" h="675630">
                <a:moveTo>
                  <a:pt x="76200" y="0"/>
                </a:moveTo>
                <a:lnTo>
                  <a:pt x="482600" y="0"/>
                </a:lnTo>
                <a:lnTo>
                  <a:pt x="482600" y="675630"/>
                </a:lnTo>
                <a:lnTo>
                  <a:pt x="76200" y="67563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close/>
              </a:path>
            </a:pathLst>
          </a:custGeom>
          <a:solidFill>
            <a:srgbClr val="0B2F5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6" name="Shape 22"/>
          <p:cNvSpPr/>
          <p:nvPr/>
        </p:nvSpPr>
        <p:spPr>
          <a:xfrm>
            <a:off x="6096000" y="3477220"/>
            <a:ext cx="5486400" cy="675630"/>
          </a:xfrm>
          <a:custGeom>
            <a:avLst/>
            <a:gdLst/>
            <a:ahLst/>
            <a:cxnLst/>
            <a:rect l="l" t="t" r="r" b="b"/>
            <a:pathLst>
              <a:path w="5486400" h="675630">
                <a:moveTo>
                  <a:pt x="0" y="0"/>
                </a:moveTo>
                <a:lnTo>
                  <a:pt x="5410200" y="0"/>
                </a:lnTo>
                <a:arcTo hR="76200" wR="76200" stAng="16200000" swAng="5400000"/>
                <a:lnTo>
                  <a:pt x="5486400" y="599430"/>
                </a:lnTo>
                <a:arcTo hR="76200" wR="76200" stAng="0" swAng="5400000"/>
                <a:lnTo>
                  <a:pt x="0" y="675630"/>
                </a:lnTo>
                <a:lnTo>
                  <a:pt x="0" y="0"/>
                </a:lnTo>
                <a:close/>
              </a:path>
            </a:pathLst>
          </a:custGeom>
          <a:solidFill>
            <a:srgbClr val="E8EFF6"/>
          </a:solidFill>
          <a:ln/>
        </p:spPr>
      </p:sp>
      <p:sp>
        <p:nvSpPr>
          <p:cNvPr id="27" name="Text 23"/>
          <p:cNvSpPr/>
          <p:nvPr/>
        </p:nvSpPr>
        <p:spPr>
          <a:xfrm>
            <a:off x="6235700" y="3540720"/>
            <a:ext cx="536321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 tolerance</a:t>
            </a:r>
            <a:endParaRPr lang="en-US" sz="2000" dirty="0"/>
          </a:p>
        </p:txBody>
      </p:sp>
      <p:sp>
        <p:nvSpPr>
          <p:cNvPr id="28" name="Text 24"/>
          <p:cNvSpPr/>
          <p:nvPr/>
        </p:nvSpPr>
        <p:spPr>
          <a:xfrm>
            <a:off x="6235700" y="3858220"/>
            <a:ext cx="53632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sostituire p_g con gate logici, cicli QEC e decoder espliciti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5562600" y="4216350"/>
            <a:ext cx="482600" cy="675630"/>
          </a:xfrm>
          <a:custGeom>
            <a:avLst/>
            <a:gdLst/>
            <a:ahLst/>
            <a:cxnLst/>
            <a:rect l="l" t="t" r="r" b="b"/>
            <a:pathLst>
              <a:path w="482600" h="675630">
                <a:moveTo>
                  <a:pt x="76200" y="0"/>
                </a:moveTo>
                <a:lnTo>
                  <a:pt x="482600" y="0"/>
                </a:lnTo>
                <a:lnTo>
                  <a:pt x="482600" y="675630"/>
                </a:lnTo>
                <a:lnTo>
                  <a:pt x="76200" y="67563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close/>
              </a:path>
            </a:pathLst>
          </a:custGeom>
          <a:solidFill>
            <a:srgbClr val="0B2F5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30" name="Shape 26"/>
          <p:cNvSpPr/>
          <p:nvPr/>
        </p:nvSpPr>
        <p:spPr>
          <a:xfrm>
            <a:off x="6096000" y="4216350"/>
            <a:ext cx="5486400" cy="675630"/>
          </a:xfrm>
          <a:custGeom>
            <a:avLst/>
            <a:gdLst/>
            <a:ahLst/>
            <a:cxnLst/>
            <a:rect l="l" t="t" r="r" b="b"/>
            <a:pathLst>
              <a:path w="5486400" h="675630">
                <a:moveTo>
                  <a:pt x="0" y="0"/>
                </a:moveTo>
                <a:lnTo>
                  <a:pt x="5410200" y="0"/>
                </a:lnTo>
                <a:arcTo hR="76200" wR="76200" stAng="16200000" swAng="5400000"/>
                <a:lnTo>
                  <a:pt x="5486400" y="599430"/>
                </a:lnTo>
                <a:arcTo hR="76200" wR="76200" stAng="0" swAng="5400000"/>
                <a:lnTo>
                  <a:pt x="0" y="675630"/>
                </a:lnTo>
                <a:lnTo>
                  <a:pt x="0" y="0"/>
                </a:lnTo>
                <a:close/>
              </a:path>
            </a:pathLst>
          </a:custGeom>
          <a:solidFill>
            <a:srgbClr val="E8EFF6"/>
          </a:solidFill>
          <a:ln/>
        </p:spPr>
      </p:sp>
      <p:sp>
        <p:nvSpPr>
          <p:cNvPr id="31" name="Text 27"/>
          <p:cNvSpPr/>
          <p:nvPr/>
        </p:nvSpPr>
        <p:spPr>
          <a:xfrm>
            <a:off x="6235700" y="4279850"/>
            <a:ext cx="536321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 e codici</a:t>
            </a:r>
            <a:endParaRPr lang="en-US" sz="2000" dirty="0"/>
          </a:p>
        </p:txBody>
      </p:sp>
      <p:sp>
        <p:nvSpPr>
          <p:cNvPr id="32" name="Text 28"/>
          <p:cNvSpPr/>
          <p:nvPr/>
        </p:nvSpPr>
        <p:spPr>
          <a:xfrm>
            <a:off x="6235700" y="4597350"/>
            <a:ext cx="53632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modelli strutturali contro BP+OSD; Gross code a livello di circuito</a:t>
            </a:r>
            <a:endParaRPr lang="en-US" sz="1400" dirty="0"/>
          </a:p>
        </p:txBody>
      </p:sp>
      <p:sp>
        <p:nvSpPr>
          <p:cNvPr id="33" name="Text 29"/>
          <p:cNvSpPr/>
          <p:nvPr/>
        </p:nvSpPr>
        <p:spPr>
          <a:xfrm>
            <a:off x="5562600" y="4955480"/>
            <a:ext cx="482600" cy="906760"/>
          </a:xfrm>
          <a:custGeom>
            <a:avLst/>
            <a:gdLst/>
            <a:ahLst/>
            <a:cxnLst/>
            <a:rect l="l" t="t" r="r" b="b"/>
            <a:pathLst>
              <a:path w="482600" h="906760">
                <a:moveTo>
                  <a:pt x="76200" y="0"/>
                </a:moveTo>
                <a:lnTo>
                  <a:pt x="482600" y="0"/>
                </a:lnTo>
                <a:lnTo>
                  <a:pt x="482600" y="906760"/>
                </a:lnTo>
                <a:lnTo>
                  <a:pt x="76200" y="90676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close/>
              </a:path>
            </a:pathLst>
          </a:custGeom>
          <a:solidFill>
            <a:srgbClr val="0B2F5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34" name="Shape 30"/>
          <p:cNvSpPr/>
          <p:nvPr/>
        </p:nvSpPr>
        <p:spPr>
          <a:xfrm>
            <a:off x="6096000" y="4955480"/>
            <a:ext cx="5486400" cy="906760"/>
          </a:xfrm>
          <a:custGeom>
            <a:avLst/>
            <a:gdLst/>
            <a:ahLst/>
            <a:cxnLst/>
            <a:rect l="l" t="t" r="r" b="b"/>
            <a:pathLst>
              <a:path w="5486400" h="906760">
                <a:moveTo>
                  <a:pt x="0" y="0"/>
                </a:moveTo>
                <a:lnTo>
                  <a:pt x="5410200" y="0"/>
                </a:lnTo>
                <a:arcTo hR="76200" wR="76200" stAng="16200000" swAng="5400000"/>
                <a:lnTo>
                  <a:pt x="5486400" y="830560"/>
                </a:lnTo>
                <a:arcTo hR="76200" wR="76200" stAng="0" swAng="5400000"/>
                <a:lnTo>
                  <a:pt x="0" y="906760"/>
                </a:lnTo>
                <a:lnTo>
                  <a:pt x="0" y="0"/>
                </a:lnTo>
                <a:close/>
              </a:path>
            </a:pathLst>
          </a:custGeom>
          <a:solidFill>
            <a:srgbClr val="E8EFF6"/>
          </a:solidFill>
          <a:ln/>
        </p:spPr>
      </p:sp>
      <p:sp>
        <p:nvSpPr>
          <p:cNvPr id="35" name="Text 31"/>
          <p:cNvSpPr/>
          <p:nvPr/>
        </p:nvSpPr>
        <p:spPr>
          <a:xfrm>
            <a:off x="6235700" y="5018980"/>
            <a:ext cx="536321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circuitale</a:t>
            </a:r>
            <a:endParaRPr lang="en-US" sz="2000" dirty="0"/>
          </a:p>
        </p:txBody>
      </p:sp>
      <p:sp>
        <p:nvSpPr>
          <p:cNvPr id="36" name="Text 32"/>
          <p:cNvSpPr/>
          <p:nvPr/>
        </p:nvSpPr>
        <p:spPr>
          <a:xfrm>
            <a:off x="6235700" y="5336480"/>
            <a:ext cx="536321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ottimizzare aritmetica modulare e AQFT, verificando il successo finale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1059160"/>
            <a:ext cx="745617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0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Grazie</a:t>
            </a:r>
            <a:endParaRPr lang="en-US" sz="4000" dirty="0"/>
          </a:p>
          <a:p>
            <a:pPr algn="l" indent="0" marL="0">
              <a:lnSpc>
                <a:spcPts val="4400"/>
              </a:lnSpc>
              <a:buNone/>
            </a:pPr>
            <a:r>
              <a:rPr lang="en-US" sz="4000" b="0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l'attenzione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09600" y="2367260"/>
            <a:ext cx="482600" cy="838200"/>
          </a:xfrm>
          <a:custGeom>
            <a:avLst/>
            <a:gdLst/>
            <a:ahLst/>
            <a:cxnLst/>
            <a:rect l="l" t="t" r="r" b="b"/>
            <a:pathLst>
              <a:path w="482600" h="838200">
                <a:moveTo>
                  <a:pt x="76200" y="0"/>
                </a:moveTo>
                <a:lnTo>
                  <a:pt x="482600" y="0"/>
                </a:lnTo>
                <a:lnTo>
                  <a:pt x="482600" y="838200"/>
                </a:lnTo>
                <a:lnTo>
                  <a:pt x="76200" y="83820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close/>
              </a:path>
            </a:pathLst>
          </a:custGeom>
          <a:solidFill>
            <a:srgbClr val="0B2F5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" y="2367260"/>
            <a:ext cx="6705600" cy="838200"/>
          </a:xfrm>
          <a:custGeom>
            <a:avLst/>
            <a:gdLst/>
            <a:ahLst/>
            <a:cxnLst/>
            <a:rect l="l" t="t" r="r" b="b"/>
            <a:pathLst>
              <a:path w="6705600" h="838200">
                <a:moveTo>
                  <a:pt x="0" y="0"/>
                </a:moveTo>
                <a:lnTo>
                  <a:pt x="6629400" y="0"/>
                </a:lnTo>
                <a:arcTo hR="76200" wR="76200" stAng="16200000" swAng="5400000"/>
                <a:lnTo>
                  <a:pt x="6705600" y="762000"/>
                </a:lnTo>
                <a:arcTo hR="76200" wR="76200" stAng="0" swAng="5400000"/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E8EFF6"/>
          </a:solidFill>
          <a:ln/>
        </p:spPr>
        <p:txBody>
          <a:bodyPr wrap="square" lIns="152400" tIns="88900" rIns="0" bIns="6350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Post-processing:</a:t>
            </a: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 TOP-4 bastano 1,00 iterazioni medie; il filtro ML non aggiunge valore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09600" y="3281660"/>
            <a:ext cx="482600" cy="838200"/>
          </a:xfrm>
          <a:custGeom>
            <a:avLst/>
            <a:gdLst/>
            <a:ahLst/>
            <a:cxnLst/>
            <a:rect l="l" t="t" r="r" b="b"/>
            <a:pathLst>
              <a:path w="482600" h="838200">
                <a:moveTo>
                  <a:pt x="76200" y="0"/>
                </a:moveTo>
                <a:lnTo>
                  <a:pt x="482600" y="0"/>
                </a:lnTo>
                <a:lnTo>
                  <a:pt x="482600" y="838200"/>
                </a:lnTo>
                <a:lnTo>
                  <a:pt x="76200" y="83820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close/>
              </a:path>
            </a:pathLst>
          </a:custGeom>
          <a:solidFill>
            <a:srgbClr val="0B2F5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3000" y="3281660"/>
            <a:ext cx="6705600" cy="838200"/>
          </a:xfrm>
          <a:custGeom>
            <a:avLst/>
            <a:gdLst/>
            <a:ahLst/>
            <a:cxnLst/>
            <a:rect l="l" t="t" r="r" b="b"/>
            <a:pathLst>
              <a:path w="6705600" h="838200">
                <a:moveTo>
                  <a:pt x="0" y="0"/>
                </a:moveTo>
                <a:lnTo>
                  <a:pt x="6629400" y="0"/>
                </a:lnTo>
                <a:arcTo hR="76200" wR="76200" stAng="16200000" swAng="5400000"/>
                <a:lnTo>
                  <a:pt x="6705600" y="762000"/>
                </a:lnTo>
                <a:arcTo hR="76200" wR="76200" stAng="0" swAng="5400000"/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E8EFF6"/>
          </a:solidFill>
          <a:ln/>
        </p:spPr>
        <p:txBody>
          <a:bodyPr wrap="square" lIns="152400" tIns="88900" rIns="0" bIns="6350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QEC e decoder:</a:t>
            </a: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sotto soglia la distanza sopprime l'errore; l'ibrido riduce p_L del 15,6–17,6% a d = 3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9600" y="4196060"/>
            <a:ext cx="482600" cy="838200"/>
          </a:xfrm>
          <a:custGeom>
            <a:avLst/>
            <a:gdLst/>
            <a:ahLst/>
            <a:cxnLst/>
            <a:rect l="l" t="t" r="r" b="b"/>
            <a:pathLst>
              <a:path w="482600" h="838200">
                <a:moveTo>
                  <a:pt x="76200" y="0"/>
                </a:moveTo>
                <a:lnTo>
                  <a:pt x="482600" y="0"/>
                </a:lnTo>
                <a:lnTo>
                  <a:pt x="482600" y="838200"/>
                </a:lnTo>
                <a:lnTo>
                  <a:pt x="76200" y="83820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close/>
              </a:path>
            </a:pathLst>
          </a:custGeom>
          <a:solidFill>
            <a:srgbClr val="0B2F5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3000" y="4196060"/>
            <a:ext cx="6705600" cy="838200"/>
          </a:xfrm>
          <a:custGeom>
            <a:avLst/>
            <a:gdLst/>
            <a:ahLst/>
            <a:cxnLst/>
            <a:rect l="l" t="t" r="r" b="b"/>
            <a:pathLst>
              <a:path w="6705600" h="838200">
                <a:moveTo>
                  <a:pt x="0" y="0"/>
                </a:moveTo>
                <a:lnTo>
                  <a:pt x="6629400" y="0"/>
                </a:lnTo>
                <a:arcTo hR="76200" wR="76200" stAng="16200000" swAng="5400000"/>
                <a:lnTo>
                  <a:pt x="6705600" y="762000"/>
                </a:lnTo>
                <a:arcTo hR="76200" wR="76200" stAng="0" swAng="5400000"/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E8EFF6"/>
          </a:solidFill>
          <a:ln/>
        </p:spPr>
        <p:txBody>
          <a:bodyPr wrap="square" lIns="152400" tIns="88900" rIns="0" bIns="6350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AQFT:</a:t>
            </a: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 N = 15 il successo sale da 0,4792 a 0,6279 con 83 porte ECR in meno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09600" y="5224760"/>
            <a:ext cx="745617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Claudio Dragotta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9600" y="5567660"/>
            <a:ext cx="745617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Corso di Laurea Magistrale in Ingegneria dei Sistemi Intelligenti · A.A. 2025/2026</a:t>
            </a:r>
            <a:endParaRPr lang="en-US" sz="1400" dirty="0"/>
          </a:p>
        </p:txBody>
      </p:sp>
      <p:pic>
        <p:nvPicPr>
          <p:cNvPr id="11" name="Image 0" descr="Sfera di Bloch con lo stato di un qubit e gli angoli theta e phi">    </p:cNvPr>
          <p:cNvPicPr>
            <a:picLocks noChangeAspect="1"/>
          </p:cNvPicPr>
          <p:nvPr/>
        </p:nvPicPr>
        <p:blipFill>
          <a:blip r:embed="rId1"/>
          <a:srcRect l="-21" r="-21" t="0" b="0"/>
          <a:stretch/>
        </p:blipFill>
        <p:spPr>
          <a:xfrm>
            <a:off x="8204200" y="1844675"/>
            <a:ext cx="3378200" cy="31686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562620"/>
            <a:ext cx="8110220" cy="40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0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interattiva: Shor con e senza rumore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53450" y="711200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Riserva | 23</a:t>
            </a:r>
            <a:endParaRPr lang="en-US" sz="13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016000"/>
            <a:ext cx="9906000" cy="38100"/>
          </a:xfrm>
          <a:prstGeom prst="rect">
            <a:avLst/>
          </a:prstGeom>
        </p:spPr>
      </p:pic>
      <p:pic>
        <p:nvPicPr>
          <p:cNvPr id="5" name="Image 1" descr="Logo Università Campus Bio-Medico di Roma">    </p:cNvPr>
          <p:cNvPicPr>
            <a:picLocks noChangeAspect="1"/>
          </p:cNvPicPr>
          <p:nvPr/>
        </p:nvPicPr>
        <p:blipFill>
          <a:blip r:embed="rId2"/>
          <a:srcRect l="0" r="0" t="-261" b="-261"/>
          <a:stretch/>
        </p:blipFill>
        <p:spPr>
          <a:xfrm>
            <a:off x="10795000" y="152400"/>
            <a:ext cx="990600" cy="825500"/>
          </a:xfrm>
          <a:prstGeom prst="rect">
            <a:avLst/>
          </a:prstGeom>
        </p:spPr>
      </p:pic>
      <p:pic>
        <p:nvPicPr>
          <p:cNvPr id="6" name="Image 2" descr="Schermata della demo: circuito di Shor per N = 15 affiancato senza rumore e sotto rumore, con le frecce di Bloch dei qubit di conteggio">    </p:cNvPr>
          <p:cNvPicPr>
            <a:picLocks noChangeAspect="1"/>
          </p:cNvPicPr>
          <p:nvPr/>
        </p:nvPicPr>
        <p:blipFill>
          <a:blip r:embed="rId3"/>
          <a:srcRect l="-20" r="-20" t="0" b="0"/>
          <a:stretch/>
        </p:blipFill>
        <p:spPr>
          <a:xfrm>
            <a:off x="609600" y="1320800"/>
            <a:ext cx="6350000" cy="2190750"/>
          </a:xfrm>
          <a:prstGeom prst="rect">
            <a:avLst/>
          </a:prstGeom>
        </p:spPr>
      </p:pic>
      <p:pic>
        <p:nvPicPr>
          <p:cNvPr id="7" name="Image 3" descr="Schermata della demo: dove entra il rumore, con 70 porte SX, 224 porte CX, 302 porte RZ senza rumore e 8 bit misurati">    </p:cNvPr>
          <p:cNvPicPr>
            <a:picLocks noChangeAspect="1"/>
          </p:cNvPicPr>
          <p:nvPr/>
        </p:nvPicPr>
        <p:blipFill>
          <a:blip r:embed="rId4"/>
          <a:srcRect l="-373" r="-373" t="0" b="0"/>
          <a:stretch/>
        </p:blipFill>
        <p:spPr>
          <a:xfrm>
            <a:off x="622300" y="3651250"/>
            <a:ext cx="6324600" cy="2095500"/>
          </a:xfrm>
          <a:prstGeom prst="roundRect">
            <a:avLst>
              <a:gd name="adj" fmla="val 4242"/>
            </a:avLst>
          </a:prstGeom>
        </p:spPr>
      </p:pic>
      <p:sp>
        <p:nvSpPr>
          <p:cNvPr id="8" name="Shape 2"/>
          <p:cNvSpPr/>
          <p:nvPr/>
        </p:nvSpPr>
        <p:spPr>
          <a:xfrm>
            <a:off x="615950" y="3644900"/>
            <a:ext cx="6337300" cy="2108200"/>
          </a:xfrm>
          <a:prstGeom prst="roundRect">
            <a:avLst>
              <a:gd name="adj" fmla="val 4518"/>
            </a:avLst>
          </a:prstGeom>
          <a:noFill/>
          <a:ln w="12700">
            <a:solidFill>
              <a:srgbClr val="D5DCE5"/>
            </a:solidFill>
            <a:prstDash val="solid"/>
          </a:ln>
        </p:spPr>
      </p:sp>
      <p:sp>
        <p:nvSpPr>
          <p:cNvPr id="9" name="Text 3"/>
          <p:cNvSpPr/>
          <p:nvPr/>
        </p:nvSpPr>
        <p:spPr>
          <a:xfrm>
            <a:off x="7239000" y="1320800"/>
            <a:ext cx="447370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Ideale e rumoroso</a:t>
            </a:r>
            <a:endParaRPr lang="en-US" sz="2000" dirty="0"/>
          </a:p>
        </p:txBody>
      </p:sp>
      <p:sp>
        <p:nvSpPr>
          <p:cNvPr id="10" name="Text 4"/>
          <p:cNvSpPr/>
          <p:nvPr/>
        </p:nvSpPr>
        <p:spPr>
          <a:xfrm>
            <a:off x="7239000" y="1663700"/>
            <a:ext cx="4473702" cy="134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Stesso circuito per N = 15, senza rumore e con il preset UC1: le frecce sulle sfere di Bloch si accorciano, lo stato perde coerenza.</a:t>
            </a:r>
            <a:endParaRPr lang="en-US" sz="2000" dirty="0"/>
          </a:p>
        </p:txBody>
      </p:sp>
      <p:sp>
        <p:nvSpPr>
          <p:cNvPr id="11" name="Text 5"/>
          <p:cNvSpPr/>
          <p:nvPr/>
        </p:nvSpPr>
        <p:spPr>
          <a:xfrm>
            <a:off x="7239000" y="3098800"/>
            <a:ext cx="447370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Dove entra il rumore</a:t>
            </a: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7239000" y="3441700"/>
            <a:ext cx="4473702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porte SX, 224 CX, 302 RZ virtuali senza rumore, 8 misure con errore di lettura.</a:t>
            </a:r>
            <a:endParaRPr lang="en-US" sz="2000" dirty="0"/>
          </a:p>
        </p:txBody>
      </p:sp>
      <p:sp>
        <p:nvSpPr>
          <p:cNvPr id="13" name="Text 7"/>
          <p:cNvSpPr/>
          <p:nvPr/>
        </p:nvSpPr>
        <p:spPr>
          <a:xfrm>
            <a:off x="7239000" y="4546600"/>
            <a:ext cx="4473702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web illustrativa con modello di rumore uniforme: non è una misura su hardware.</a:t>
            </a:r>
            <a:endParaRPr lang="en-US" sz="1400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shor-demo-6knp.onrender.com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si Dragotta · Shor's Algorithm under Noise">
  <a:themeElements>
    <a:clrScheme name="Tesi Dragotta · Shor's Algorithm under Noise">
      <a:dk1>
        <a:srgbClr val="125C97"/>
      </a:dk1>
      <a:lt1>
        <a:srgbClr val="FFFFFF"/>
      </a:lt1>
      <a:dk2>
        <a:srgbClr val="4D85B1"/>
      </a:dk2>
      <a:lt2>
        <a:srgbClr val="E7EFF5"/>
      </a:lt2>
      <a:accent1>
        <a:srgbClr val="0B2F5B"/>
      </a:accent1>
      <a:accent2>
        <a:srgbClr val="3F73B0"/>
      </a:accent2>
      <a:accent3>
        <a:srgbClr val="1F2933"/>
      </a:accent3>
      <a:accent4>
        <a:srgbClr val="5B6573"/>
      </a:accent4>
      <a:accent5>
        <a:srgbClr val="9AA0A6"/>
      </a:accent5>
      <a:accent6>
        <a:srgbClr val="719DC1"/>
      </a:accent6>
      <a:hlink>
        <a:srgbClr val="0563C1"/>
      </a:hlink>
      <a:folHlink>
        <a:srgbClr val="954F72"/>
      </a:folHlink>
    </a:clrScheme>
    <a:fontScheme name="Tesi Dragotta · Shor's Algorithm under Nois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Tesi Dragotta · Shor's Algorithm under Noise</dc:title>
  <dc:subject/>
  <dc:creator/>
  <cp:lastModifiedBy/>
  <cp:revision>1</cp:revision>
  <dcterms:created xsi:type="dcterms:W3CDTF">2026-10-04T20:24:49Z</dcterms:created>
  <dcterms:modified xsi:type="dcterms:W3CDTF">2026-10-04T20:24:49Z</dcterms:modified>
</cp:coreProperties>
</file>