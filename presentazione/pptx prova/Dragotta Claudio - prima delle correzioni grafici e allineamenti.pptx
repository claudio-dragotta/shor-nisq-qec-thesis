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86" r:id="rId3"/>
    <p:sldId id="257" r:id="rId4"/>
    <p:sldId id="258" r:id="rId5"/>
    <p:sldId id="279" r:id="rId6"/>
    <p:sldId id="259" r:id="rId7"/>
    <p:sldId id="287" r:id="rId8"/>
    <p:sldId id="288" r:id="rId9"/>
    <p:sldId id="261" r:id="rId10"/>
    <p:sldId id="263" r:id="rId11"/>
    <p:sldId id="265" r:id="rId12"/>
    <p:sldId id="266" r:id="rId13"/>
    <p:sldId id="267" r:id="rId14"/>
    <p:sldId id="268" r:id="rId15"/>
    <p:sldId id="269" r:id="rId16"/>
    <p:sldId id="270" r:id="rId17"/>
    <p:sldId id="271" r:id="rId18"/>
    <p:sldId id="272" r:id="rId19"/>
    <p:sldId id="275" r:id="rId20"/>
    <p:sldId id="276" r:id="rId21"/>
    <p:sldId id="289" r:id="rId22"/>
    <p:sldId id="277" r:id="rId2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423"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Buongiorno. Ringrazio il presidente e tutta la commissione per la parola. Sono Claudio Dragotta e vi presento la mia tesi, che ho svolto con il professor Soda e l'ingegner Caprio.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Parto da un dato oggettivo. I computer quantistici lavorano sugli stati quantistici della materia, che sono fragilissimi: basta una minima perturbazione per alterarli. Per questo un computer quantistico non è mai preciso al cento per cento, e anche le macchine future dovranno convivere con gli errori.</a:t>
            </a:r>
          </a:p>
          <a:p>
            <a:r>
              <a:rPr lang="it-IT" sz="1400">
                <a:latin typeface="Arial" panose="020B0604020202020204" pitchFamily="34" charset="0"/>
              </a:rPr>
              <a:t>Lo scopo della mia tesi è stato analizzare l'algoritmo di Shor proprio in queste condizioni, e capire quali strategie gli permettono di dare comunque buoni risultati: il machine learning sui risultati, la correzione degli errori e la riduzione delle porte. Tutte e tre possono aiutare, ma ognuna solo in condizioni precise.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percorso è questo: il contesto e gli obiettivi, i metodi, i risultati e infine le conclusioni.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Partiamo dal perché. La sicurezza di RSA, che protegge buona parte delle nostre comunicazioni, si basa sul fatto che fattorizzare un numero molto grande è difficilissimo per un computer classico. Shor ha dimostrato che un computer quantistico ideale lo farebbe in tempo polinomiale.</a:t>
            </a:r>
          </a:p>
          <a:p>
            <a:r>
              <a:rPr lang="it-IT" sz="1400">
                <a:latin typeface="Arial" panose="020B0604020202020204" pitchFamily="34" charset="0"/>
              </a:rPr>
              <a:t>Ma sulle macchine reali il rumore altera proprio l'informazione da cui Shor ricava la soluzione.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Vediamo come funziona, in modo rigoroso. Abbiamo N, il numero da fattorizzare, e un parametro a, la base, che non ha divisori in comune con N. La funzione a alla x modulo N è periodica, e il compito del computer quantistico è trovarne il periodo r.</a:t>
            </a:r>
          </a:p>
          <a:p>
            <a:r>
              <a:rPr lang="it-IT" sz="1400">
                <a:latin typeface="Arial" panose="020B0604020202020204" pitchFamily="34" charset="0"/>
              </a:rPr>
              <a:t>Nel mio esempio N è 15 e a è 7: nel grafico i valori si ripetono ogni quattro passi, quindi r è 4. Da r un calcolo classico ricava un fattore, 3, e quindi anche l'altro, 5.</a:t>
            </a:r>
          </a:p>
          <a:p>
            <a:r>
              <a:rPr lang="it-IT" sz="1400">
                <a:latin typeface="Arial" panose="020B0604020202020204" pitchFamily="34" charset="0"/>
              </a:rPr>
              <a:t>Il circuito usa 8 qubit di controllo e 4 di lavoro: 12 qubit in tutto.</a:t>
            </a:r>
          </a:p>
          <a:p>
            <a:endParaRPr lang="it-IT" sz="1400">
              <a:latin typeface="Arial" panose="020B0604020202020204" pitchFamily="34" charset="0"/>
            </a:endParaRPr>
          </a:p>
          <a:p>
            <a:r>
              <a:rPr lang="it-IT" sz="1400">
                <a:latin typeface="Arial" panose="020B0604020202020204" pitchFamily="34" charset="0"/>
              </a:rPr>
              <a:t>▶ CAMBIA SLIDE</a:t>
            </a:r>
            <a:endParaRPr lang="en-US" sz="1400"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660572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La letteratura propone tre strade contro il rumore: ripulire i risultati dopo la misura, proteggere i qubit con la correzione degli errori, o semplificare il circuito. Raramente però vengono confrontate con un riferimento adeguato.</a:t>
            </a:r>
          </a:p>
          <a:p>
            <a:r>
              <a:rPr lang="it-IT" sz="1400">
                <a:latin typeface="Arial" panose="020B0604020202020204" pitchFamily="34" charset="0"/>
              </a:rPr>
              <a:t>Da qui i miei tre obiettivi, ognuno con il suo riferimento: capire se il machine learning migliora davvero la lettura dei risultati, confrontare codici di correzione degli errori e verificare se togliere porte migliora il risultato finale.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Questo schema riassume dove ho lavorato. In giallo c'è l'algoritmo di Shor, con i suoi passi: scelta di a, esponenziazione modulare, QFT inversa e misura. In viola ci sono i miei interventi.</a:t>
            </a:r>
          </a:p>
          <a:p>
            <a:r>
              <a:rPr lang="it-IT" sz="1400">
                <a:latin typeface="Arial" panose="020B0604020202020204" pitchFamily="34" charset="0"/>
              </a:rPr>
              <a:t>La QFT approssimata agisce sulla QFT inversa, per ridurre le porte. Il post-processing agisce dopo la misura, ed è lì che ho usato il machine learning. La correzione degli errori, invece, serve a proteggere i qubit durante il calcolo vero e proprio, cioè nell'esponenziazione e nella QFT. Preciso che questa parte l'ho studiata in esperimenti separati, non dentro il circuito di Shor.</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Prima di vedere i risultati, bisogna sapere come leggerli. Nel caso ideale Shor trova i fattori nel 75% dei casi.</a:t>
            </a:r>
          </a:p>
          <a:p>
            <a:r>
              <a:rPr lang="it-IT" sz="1400">
                <a:latin typeface="Arial" panose="020B0604020202020204" pitchFamily="34" charset="0"/>
              </a:rPr>
              <a:t>Ma c'è un secondo valore da tenere presente, il 24,61%: è la percentuale che otterremmo anche con risultati completamente casuali, perché la verifica finale accetta 63 esiti su 256, circa un quarto. Quindi un risultato vicino a questo valore non significa che Shor stia funzionando: tutto va letto tra questi due estremi.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Ho lavorato su due casi. Il principale è N uguale a 15, con 12 qubit, su cui ho fatto tutte le prove con rumore.</a:t>
            </a:r>
          </a:p>
          <a:p>
            <a:r>
              <a:rPr lang="it-IT" sz="1400">
                <a:latin typeface="Arial" panose="020B0604020202020204" pitchFamily="34" charset="0"/>
              </a:rPr>
              <a:t>Il secondo è N uguale a 21, che richiede 20 qubit: 8 di controllo, 5 di lavoro, perché 21 si scrive con 5 bit, e 7 ausiliari per i calcoli modulari. Su questo ho verificato il circuito e fatto alcune prove sulla QFT approssimata. Tutto è simulato al calcolatore, con strumenti open source.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primo metodo agisce dopo la misura. Ogni esecuzione di Shor dà un istogramma di risultati, e bisogna decidere quali verificare.</a:t>
            </a:r>
          </a:p>
          <a:p>
            <a:r>
              <a:rPr lang="it-IT" sz="1400">
                <a:latin typeface="Arial" panose="020B0604020202020204" pitchFamily="34" charset="0"/>
              </a:rPr>
              <a:t>TOP-1 verifica solo il più frequente. TOP-4 verifica, uno alla volta, i quattro più frequenti, finché trova i fattori. Il Metodo 2 applica TOP-4 solo se un classificatore di machine learning lo approva. La verifica finale è sempre la stessa, un calcolo classico.</a:t>
            </a:r>
          </a:p>
          <a:p>
            <a:r>
              <a:rPr lang="it-IT" sz="1400">
                <a:latin typeface="Arial" panose="020B0604020202020204" pitchFamily="34" charset="0"/>
              </a:rPr>
              <a:t>In letteratura il machine learning è stato proposto proprio per filtrare questi risultati; il rischio è dargli un merito che viene invece dal provare più candidati. Per questo il confronto decisivo è tra il Metodo 2 e TOP-4.</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secondo metodo è la correzione quantistica degli errori: più qubit fisici proteggono un solo qubit logico, i controlli segnalano dove c'è un errore e un decoder decide come correggerlo.</a:t>
            </a:r>
          </a:p>
          <a:p>
            <a:r>
              <a:rPr lang="it-IT" sz="1400">
                <a:latin typeface="Arial" panose="020B0604020202020204" pitchFamily="34" charset="0"/>
              </a:rPr>
              <a:t>Ho usato due codici. Il surface code è il riferimento, robusto ma costoso: per 12 qubit logici servono circa 2000 qubit di dato. Su questo ho confrontato i decoder: quello classico, MWPM, una rete neurale, un ibrido e BP+OSD.</a:t>
            </a:r>
          </a:p>
          <a:p>
            <a:r>
              <a:rPr lang="it-IT" sz="1400">
                <a:latin typeface="Arial" panose="020B0604020202020204" pitchFamily="34" charset="0"/>
              </a:rPr>
              <a:t>Il Gross code, proposto da IBM, promette una protezione simile con circa 14 volte meno qubit. Confrontarli dice quanto si può risparmiare. Sul Gross code ho simulato gli errori come sequenze di 144 bit, non lo stato di 144 qubit.</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terzo metodo nasce da un'osservazione semplice: gli errori vengono dalle porte, quindi meno porte significa meno errori.</a:t>
            </a:r>
          </a:p>
          <a:p>
            <a:r>
              <a:rPr lang="it-IT" sz="1400">
                <a:latin typeface="Arial" panose="020B0604020202020204" pitchFamily="34" charset="0"/>
              </a:rPr>
              <a:t>Nella QFT ci sono rotazioni sempre più piccole, che spostano la fase quasi di nulla ma costano porte. Nella versione approssimata le tolgo; per N uguale a 15 bastano quelle tra qubit vicini. Funziona perché Shor non ha bisogno della fase esatta: basta un valore abbastanza vicino perché il calcolo classico ritrovi il periodo.</a:t>
            </a:r>
          </a:p>
          <a:p>
            <a:r>
              <a:rPr lang="it-IT" sz="1400">
                <a:latin typeface="Arial" panose="020B0604020202020204" pitchFamily="34" charset="0"/>
              </a:rPr>
              <a:t>L'ho provato su N uguale a 15, su N uguale a 21 e su test di stima di fase, con il rumore di un computer IBM reale.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Passiamo ai risultati. Per simulare il rumore, dopo ogni porta inserisco con una certa probabilità un operatore di Pauli casuale, cioè un'inversione del bit, della fase o di entrambi.</a:t>
            </a:r>
          </a:p>
          <a:p>
            <a:r>
              <a:rPr lang="it-IT" sz="1400">
                <a:latin typeface="Arial" panose="020B0604020202020204" pitchFamily="34" charset="0"/>
              </a:rPr>
              <a:t>Nel grafico, andando da sinistra a destra cresce l'errore per porta; in alto c'è il 75% ideale, in basso la linea tratteggiata del caso. Senza rumore il successo è del 74,89%, come previsto. Basta l'1% di errore per porta, il punto cerchiato, per scendere al 56%, e oltre il 10% la curva si appiattisce sulla linea del caso: lì Shor non funziona più.</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primo risultato riguarda il machine learning. Nel grafico, barre più basse significano meno tentativi per trovare i fattori. Guardate il riquadro arancione: TOP-4 trova i fattori sempre al primo tentativo, in tutte le 30 repliche.</a:t>
            </a:r>
          </a:p>
          <a:p>
            <a:r>
              <a:rPr lang="it-IT" sz="1400">
                <a:latin typeface="Arial" panose="020B0604020202020204" pitchFamily="34" charset="0"/>
              </a:rPr>
              <a:t>Il classificatore è molto accurato, eppure il Metodo 2 non abbassa le barre, anzi fa peggio di TOP-4, perché a volte scarta proprio i risultati buoni.</a:t>
            </a:r>
          </a:p>
          <a:p>
            <a:r>
              <a:rPr lang="it-IT" sz="1400">
                <a:latin typeface="Arial" panose="020B0604020202020204" pitchFamily="34" charset="0"/>
              </a:rPr>
              <a:t>Quindi il vantaggio viene dal provare più candidati, non dal machine learning.</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secondo risultato riguarda la correzione degli errori. Ogni colore è un codice più grande. Nella zona verde, sotto soglia, le curve dei codici grandi stanno più in basso: fanno meno errori. Nella zona rossa l'ordine si inverte e aggiungere qubit peggiora le cose.</a:t>
            </a:r>
          </a:p>
          <a:p>
            <a:r>
              <a:rPr lang="it-IT" sz="1400">
                <a:latin typeface="Arial" panose="020B0604020202020204" pitchFamily="34" charset="0"/>
              </a:rPr>
              <a:t>La soglia è il punto in cui le curve si incrociano, nei cerchi arancioni: l'ho stimata tra lo 0,8 e lo 0,9% di errore. Anche i codici più semplici, a ripetizione e di Steane, si comportano come prevede la teoria.</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Qui il machine learning trova invece un ruolo. Nel grafico, sopra la linea dell'1 il decoder sbaglia meno di quello classico. Da sola la rete non lo batte; ma quando c'è crosstalk, cioè errori correlati tra qubit vicini, il decoder ibrido, la linea arancione continua, resta sopra: nel punto cerchiato gli errori scendono del 16,8%.</a:t>
            </a:r>
          </a:p>
          <a:p>
            <a:r>
              <a:rPr lang="it-IT" sz="1400">
                <a:latin typeface="Arial" panose="020B0604020202020204" pitchFamily="34" charset="0"/>
              </a:rPr>
              <a:t>Sui codici più grandi, le linee tratteggiate, il vantaggio quasi sparisce. Quindi il machine learning aiuta come correttore del decoder classico, non come sostituto.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E il confronto tra i due codici. Per proteggere 12 qubit logici il Gross code, la barra arancione, usa 144 qubit, circa 14 volte meno del surface code.</a:t>
            </a:r>
          </a:p>
          <a:p>
            <a:r>
              <a:rPr lang="it-IT" sz="1400">
                <a:latin typeface="Arial" panose="020B0604020202020204" pitchFamily="34" charset="0"/>
              </a:rPr>
              <a:t>Nel modello semplificato che ho usato, con un errore fisico dallo 0,75% in su, protegge anche meglio. E anche qui il decoder è decisivo: scegliendo la versione giusta, gli errori scendono di circa cento volte.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terzo risultato è sulla QFT approssimata. Nel grafico, a destra c'è la QFT piena, a sinistra si tolgono sempre più rotazioni. Il grado scelto, quello cerchiato, sta ben sopra la QFT piena: il successo passa dal 48 al 63%, con quasi il 23% di porte in meno.</a:t>
            </a:r>
          </a:p>
          <a:p>
            <a:r>
              <a:rPr lang="it-IT" sz="1400">
                <a:latin typeface="Arial" panose="020B0604020202020204" pitchFamily="34" charset="0"/>
              </a:rPr>
              <a:t>Va detto però che 15 è un caso favorevole. Su N uguale a 21 le porte si dimezzano, ma il vantaggio non è dimostrato: l'approssimazione va scelta caso per caso.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Per concludere: una tecnica vale quanto l'informazione che riesce a sfruttare, e va sempre confrontata con un riferimento adeguato.</a:t>
            </a:r>
          </a:p>
          <a:p>
            <a:r>
              <a:rPr lang="it-IT" sz="1400">
                <a:latin typeface="Arial" panose="020B0604020202020204" pitchFamily="34" charset="0"/>
              </a:rPr>
              <a:t>Il post-processing aiuta grazie ai candidati in più, non grazie al machine learning; la correzione degli errori funziona solo sotto soglia; la QFT approssimata aiuta, ma non sempre.</a:t>
            </a:r>
          </a:p>
          <a:p>
            <a:r>
              <a:rPr lang="it-IT" sz="1400">
                <a:latin typeface="Arial" panose="020B0604020202020204" pitchFamily="34" charset="0"/>
              </a:rPr>
              <a:t>Il mio contributo è stato costruire e verificare i circuiti per N uguale a 15 e 21, progettare confronti corretti e rendere tutto riproducibile.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 limiti sono chiari: ho lavorato in simulazione, su pochi casi, e senza un'esecuzione completamente protetta dagli errori. Il passo successivo è ridurre ancora il costo dei circuiti e poi unirlo alla correzione degli errori.</a:t>
            </a:r>
          </a:p>
          <a:p>
            <a:r>
              <a:rPr lang="it-IT" sz="1400">
                <a:latin typeface="Arial" panose="020B0604020202020204" pitchFamily="34" charset="0"/>
              </a:rPr>
              <a:t>Prima di chiudere, vi mostro in due minuti una demo che ho sviluppato, che riassume visivamente tutto il percorso.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video parte da solo e dura 2 minuti. Parla sopra il video, seguendo le scritte in basso; i tempi tra parentesi sono quelli del video.]</a:t>
            </a:r>
          </a:p>
          <a:p>
            <a:r>
              <a:rPr lang="it-IT" sz="1400">
                <a:latin typeface="Arial" panose="020B0604020202020204" pitchFamily="34" charset="0"/>
              </a:rPr>
              <a:t>[0:00] La demo segue Shor passo per passo, prima senza errori e poi con il rumore.</a:t>
            </a:r>
          </a:p>
          <a:p>
            <a:r>
              <a:rPr lang="it-IT" sz="1400">
                <a:latin typeface="Arial" panose="020B0604020202020204" pitchFamily="34" charset="0"/>
              </a:rPr>
              <a:t>[0:06] Il caso è quello della tesi: N uguale a 15, base 7. Ogni riga è un qubit, e a destra c'è la sua sfera di Bloch, che mostra lo stato del qubit con una freccia.</a:t>
            </a:r>
          </a:p>
          <a:p>
            <a:r>
              <a:rPr lang="it-IT" sz="1400">
                <a:latin typeface="Arial" panose="020B0604020202020204" pitchFamily="34" charset="0"/>
              </a:rPr>
              <a:t>[0:17] Le porte di Hadamard mettono i qubit in sovrapposizione. Poi le moltiplicazioni per 7 modulo 15 scrivono il periodo nelle fasi; le frecce si accorciano, ma qui non è un errore: è entanglement.</a:t>
            </a:r>
          </a:p>
          <a:p>
            <a:r>
              <a:rPr lang="it-IT" sz="1400">
                <a:latin typeface="Arial" panose="020B0604020202020204" pitchFamily="34" charset="0"/>
              </a:rPr>
              <a:t>[0:30] La QFT inversa trasforma il periodo in quattro picchi, e alla misura il calcolo classico ricava 15 uguale 3 per 5. Riesce tre volte su quattro, altrimenti si ripete.</a:t>
            </a:r>
          </a:p>
          <a:p>
            <a:r>
              <a:rPr lang="it-IT" sz="1400">
                <a:latin typeface="Arial" panose="020B0604020202020204" pitchFamily="34" charset="0"/>
              </a:rPr>
              <a:t>[0:48] Ora lo stesso circuito con il rumore. Guardate le sfere: le frecce che prima restavano intere si accorciano, lo stato perde coerenza. La demo lo misura: la lunghezza media scende da 1 a 0,81.</a:t>
            </a:r>
          </a:p>
          <a:p>
            <a:r>
              <a:rPr lang="it-IT" sz="1400">
                <a:latin typeface="Arial" panose="020B0604020202020204" pitchFamily="34" charset="0"/>
              </a:rPr>
              <a:t>[1:08] Qui si vede dove entra il rumore: ogni porta ha il suo errore, le porte a due qubit sono le più fragili e la misura può sbagliare il bit.</a:t>
            </a:r>
          </a:p>
          <a:p>
            <a:r>
              <a:rPr lang="it-IT" sz="1400">
                <a:latin typeface="Arial" panose="020B0604020202020204" pitchFamily="34" charset="0"/>
              </a:rPr>
              <a:t>[1:15] Facendo girare il circuito 512 volte con e senza rumore, nella demo i fattori si trovano nel 74% dei casi senza rumore e nel 56% con il rumore; tirando a caso si otterrebbe il 25%. Le misure si spargono su tutti gli esiti e i picchi si abbassano.</a:t>
            </a:r>
          </a:p>
          <a:p>
            <a:r>
              <a:rPr lang="it-IT" sz="1400">
                <a:latin typeface="Arial" panose="020B0604020202020204" pitchFamily="34" charset="0"/>
              </a:rPr>
              <a:t>[1:33] Questa è informazione persa, che dopo non si recupera. La correzione degli errori aiuta solo sotto soglia, e Shor resta sensibile all'errore che rimane.</a:t>
            </a:r>
          </a:p>
          <a:p>
            <a:r>
              <a:rPr lang="it-IT" sz="1400">
                <a:latin typeface="Arial" panose="020B0604020202020204" pitchFamily="34" charset="0"/>
              </a:rPr>
              <a:t>[1:53] Il messaggio della demo è lo stesso della tesi: il rumore va affrontato durante il calcolo, perché dopo la misura l'informazione distrutta non si ricostruisce.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Vi ringrazio per l'attenzione. Sono a disposizione per le vostre domande.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1858EE6-424E-4AB1-810E-A806DCA5570B}"/>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514CB97-FAF0-4732-BC5E-17B6727A783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4CED97E8-227E-4885-98D6-50556E9F5B7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A663DF4A-4087-4F6D-82DA-23E9FEC04352}"/>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8B9A1AEB-1337-4FDB-8590-1B3D0E21C09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39FE0B0-283F-4103-BB99-25BC8D69CC94}"/>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04BBB57-2B77-4FAD-BE78-CF62A299E5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5F216316-52A7-4631-BF49-70DCCADAA9C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B633D398-86D8-4430-87C4-A0D518D99350}"/>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D36752AA-9A66-4626-854C-9FDD2D07F05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693C91F2-5F98-444D-9840-B7EF3D7398D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0DD29D6C-3E54-4ED2-A05F-EB92359B733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28F2ADC-7267-455D-82A7-8F988504DFC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D1E56D0-BA82-4CC2-9BED-8D28510295F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2CB2DCDA-14F3-4D6A-993C-E6E4DB69649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62620"/>
            <a:ext cx="7874000" cy="377180"/>
          </a:xfrm>
          <a:prstGeom prst="rect">
            <a:avLst/>
          </a:prstGeom>
          <a:noFill/>
          <a:ln/>
        </p:spPr>
        <p:txBody>
          <a:bodyPr wrap="square" lIns="0" tIns="0" rIns="0" bIns="0" rtlCol="0" anchor="t"/>
          <a:lstStyle>
            <a:lvl1pPr marL="0" indent="0" algn="l">
              <a:lnSpc>
                <a:spcPct val="115000"/>
              </a:lnSpc>
              <a:buNone/>
              <a:defRPr lang="en-US" sz="2700" dirty="0">
                <a:solidFill>
                  <a:srgbClr val="125C97"/>
                </a:solidFill>
                <a:latin typeface="Arial" pitchFamily="34" charset="0"/>
                <a:ea typeface="Arial" pitchFamily="34" charset="-122"/>
                <a:cs typeface="Arial" pitchFamily="34" charset="-120"/>
              </a:defRPr>
            </a:lvl1pPr>
          </a:lstStyle>
          <a:p>
            <a:pPr marL="0" indent="0" algn="l">
              <a:lnSpc>
                <a:spcPct val="115000"/>
              </a:lnSpc>
              <a:buNone/>
            </a:pPr>
            <a:endParaRPr lang="en-US" sz="2700" dirty="0"/>
          </a:p>
        </p:txBody>
      </p:sp>
      <p:sp>
        <p:nvSpPr>
          <p:cNvPr id="3" name="Text Placeholder 2"/>
          <p:cNvSpPr>
            <a:spLocks noGrp="1"/>
          </p:cNvSpPr>
          <p:nvPr>
            <p:ph type="body" idx="101"/>
          </p:nvPr>
        </p:nvSpPr>
        <p:spPr>
          <a:xfrm>
            <a:off x="609600" y="1244600"/>
            <a:ext cx="10769600" cy="4800600"/>
          </a:xfrm>
          <a:prstGeom prst="rect">
            <a:avLst/>
          </a:prstGeom>
          <a:noFill/>
          <a:ln/>
        </p:spPr>
        <p:txBody>
          <a:bodyPr wrap="square" lIns="0" tIns="0" rIns="0" bIns="0" rtlCol="0" anchor="t"/>
          <a:lstStyle>
            <a:lvl1pPr marL="0" indent="0" algn="l">
              <a:lnSpc>
                <a:spcPct val="140000"/>
              </a:lnSpc>
              <a:buNone/>
              <a:defRPr lang="en-US" sz="1600" dirty="0">
                <a:solidFill>
                  <a:srgbClr val="125C97"/>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177736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609600" y="405288"/>
            <a:ext cx="952500" cy="789624"/>
          </a:xfrm>
          <a:prstGeom prst="rect">
            <a:avLst/>
          </a:prstGeom>
        </p:spPr>
      </p:pic>
      <p:sp>
        <p:nvSpPr>
          <p:cNvPr id="2" name="Rectangle 1">
            <a:extLst>
              <a:ext uri="{FF2B5EF4-FFF2-40B4-BE49-F238E27FC236}">
                <a16:creationId xmlns:a16="http://schemas.microsoft.com/office/drawing/2014/main" id="{3C9F48EF-C541-4AB5-9D04-99775057D874}"/>
              </a:ext>
            </a:extLst>
          </p:cNvPr>
          <p:cNvSpPr>
            <a:spLocks noGrp="1"/>
          </p:cNvSpPr>
          <p:nvPr/>
        </p:nvSpPr>
        <p:spPr>
          <a:xfrm>
            <a:off x="1752600" y="438150"/>
            <a:ext cx="923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Università Campus Bio-Medico di Roma</a:t>
            </a:r>
          </a:p>
        </p:txBody>
      </p:sp>
      <p:sp>
        <p:nvSpPr>
          <p:cNvPr id="3" name="Rectangle 2">
            <a:extLst>
              <a:ext uri="{FF2B5EF4-FFF2-40B4-BE49-F238E27FC236}">
                <a16:creationId xmlns:a16="http://schemas.microsoft.com/office/drawing/2014/main" id="{85D2D7C9-2F27-45C3-B3DC-01B26E0CA917}"/>
              </a:ext>
            </a:extLst>
          </p:cNvPr>
          <p:cNvSpPr>
            <a:spLocks noGrp="1"/>
          </p:cNvSpPr>
          <p:nvPr/>
        </p:nvSpPr>
        <p:spPr>
          <a:xfrm>
            <a:off x="1752600" y="809625"/>
            <a:ext cx="8858250" cy="647700"/>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Facoltà Dipartimentale di Ingegneria</a:t>
            </a:r>
          </a:p>
          <a:p>
            <a:pPr>
              <a:defRPr sz="1575" b="0">
                <a:solidFill>
                  <a:srgbClr val="203344"/>
                </a:solidFill>
                <a:latin typeface="Arial"/>
                <a:ea typeface="Arial"/>
                <a:cs typeface="Arial"/>
              </a:defRPr>
            </a:pPr>
            <a:r>
              <a:rPr sz="1575" b="0">
                <a:solidFill>
                  <a:srgbClr val="203344"/>
                </a:solidFill>
                <a:latin typeface="Arial"/>
                <a:ea typeface="Arial"/>
                <a:cs typeface="Arial"/>
              </a:rPr>
              <a:t>Laurea Magistrale in Ingegneria dei Sistemi Intelligenti</a:t>
            </a:r>
          </a:p>
        </p:txBody>
      </p:sp>
      <p:sp>
        <p:nvSpPr>
          <p:cNvPr id="4" name="Rectangle 3">
            <a:extLst>
              <a:ext uri="{FF2B5EF4-FFF2-40B4-BE49-F238E27FC236}">
                <a16:creationId xmlns:a16="http://schemas.microsoft.com/office/drawing/2014/main" id="{23642B9C-F891-4E0A-A9AD-6E326DDD4410}"/>
              </a:ext>
            </a:extLst>
          </p:cNvPr>
          <p:cNvSpPr>
            <a:spLocks noGrp="1"/>
          </p:cNvSpPr>
          <p:nvPr/>
        </p:nvSpPr>
        <p:spPr>
          <a:xfrm>
            <a:off x="609600" y="1990725"/>
            <a:ext cx="7334250" cy="1371600"/>
          </a:xfrm>
          <a:prstGeom prst="rect">
            <a:avLst/>
          </a:prstGeom>
          <a:noFill/>
          <a:ln w="0">
            <a:noFill/>
          </a:ln>
        </p:spPr>
        <p:txBody>
          <a:bodyPr>
            <a:noAutofit/>
          </a:bodyPr>
          <a:lstStyle/>
          <a:p>
            <a:pPr>
              <a:defRPr sz="4275" b="1">
                <a:solidFill>
                  <a:srgbClr val="003366"/>
                </a:solidFill>
                <a:latin typeface="Arial"/>
                <a:ea typeface="Arial"/>
                <a:cs typeface="Arial"/>
              </a:defRPr>
            </a:pPr>
            <a:r>
              <a:rPr sz="4275" b="1">
                <a:solidFill>
                  <a:srgbClr val="003366"/>
                </a:solidFill>
                <a:latin typeface="Arial"/>
                <a:ea typeface="Arial"/>
                <a:cs typeface="Arial"/>
              </a:rPr>
              <a:t>Shor’s algorithm</a:t>
            </a:r>
          </a:p>
          <a:p>
            <a:pPr>
              <a:defRPr sz="4275" b="1">
                <a:solidFill>
                  <a:srgbClr val="003366"/>
                </a:solidFill>
                <a:latin typeface="Arial"/>
                <a:ea typeface="Arial"/>
                <a:cs typeface="Arial"/>
              </a:defRPr>
            </a:pPr>
            <a:r>
              <a:rPr sz="4275" b="1">
                <a:solidFill>
                  <a:srgbClr val="003366"/>
                </a:solidFill>
                <a:latin typeface="Arial"/>
                <a:ea typeface="Arial"/>
                <a:cs typeface="Arial"/>
              </a:rPr>
              <a:t>under noise</a:t>
            </a:r>
          </a:p>
        </p:txBody>
      </p:sp>
      <p:sp>
        <p:nvSpPr>
          <p:cNvPr id="5" name="Rectangle 4">
            <a:extLst>
              <a:ext uri="{FF2B5EF4-FFF2-40B4-BE49-F238E27FC236}">
                <a16:creationId xmlns:a16="http://schemas.microsoft.com/office/drawing/2014/main" id="{F6A9A1EC-12DD-49BB-B82C-D1D7C02BC5F9}"/>
              </a:ext>
            </a:extLst>
          </p:cNvPr>
          <p:cNvSpPr>
            <a:spLocks noGrp="1"/>
          </p:cNvSpPr>
          <p:nvPr/>
        </p:nvSpPr>
        <p:spPr>
          <a:xfrm>
            <a:off x="609600" y="3581400"/>
            <a:ext cx="7067550" cy="12763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Machine-learning ablation,</a:t>
            </a:r>
          </a:p>
          <a:p>
            <a:pPr>
              <a:defRPr sz="2325" b="0">
                <a:solidFill>
                  <a:srgbClr val="203344"/>
                </a:solidFill>
                <a:latin typeface="Arial"/>
                <a:ea typeface="Arial"/>
                <a:cs typeface="Arial"/>
              </a:defRPr>
            </a:pPr>
            <a:r>
              <a:rPr sz="2325" b="0">
                <a:solidFill>
                  <a:srgbClr val="203344"/>
                </a:solidFill>
                <a:latin typeface="Arial"/>
                <a:ea typeface="Arial"/>
                <a:cs typeface="Arial"/>
              </a:rPr>
              <a:t>quantum error correction</a:t>
            </a:r>
          </a:p>
          <a:p>
            <a:pPr>
              <a:defRPr sz="2325" b="0">
                <a:solidFill>
                  <a:srgbClr val="203344"/>
                </a:solidFill>
                <a:latin typeface="Arial"/>
                <a:ea typeface="Arial"/>
                <a:cs typeface="Arial"/>
              </a:defRPr>
            </a:pPr>
            <a:r>
              <a:rPr sz="2325" b="0">
                <a:solidFill>
                  <a:srgbClr val="203344"/>
                </a:solidFill>
                <a:latin typeface="Arial"/>
                <a:ea typeface="Arial"/>
                <a:cs typeface="Arial"/>
              </a:rPr>
              <a:t>and approximate QFT</a:t>
            </a:r>
          </a:p>
        </p:txBody>
      </p:sp>
      <p:pic>
        <p:nvPicPr>
          <p:cNvPr id="16" name="Picture 15"/>
          <p:cNvPicPr>
            <a:picLocks noChangeAspect="1"/>
          </p:cNvPicPr>
          <p:nvPr/>
        </p:nvPicPr>
        <p:blipFill>
          <a:blip r:embed="rId4"/>
          <a:stretch/>
        </p:blipFill>
        <p:spPr>
          <a:xfrm>
            <a:off x="7829550" y="1990312"/>
            <a:ext cx="3695700" cy="3467927"/>
          </a:xfrm>
          <a:prstGeom prst="rect">
            <a:avLst/>
          </a:prstGeom>
        </p:spPr>
      </p:pic>
      <p:sp>
        <p:nvSpPr>
          <p:cNvPr id="7" name="Rectangle 6">
            <a:extLst>
              <a:ext uri="{FF2B5EF4-FFF2-40B4-BE49-F238E27FC236}">
                <a16:creationId xmlns:a16="http://schemas.microsoft.com/office/drawing/2014/main" id="{B3D49A18-4070-4177-B7DF-7692A24022DE}"/>
              </a:ext>
            </a:extLst>
          </p:cNvPr>
          <p:cNvSpPr>
            <a:spLocks noGrp="1"/>
          </p:cNvSpPr>
          <p:nvPr/>
        </p:nvSpPr>
        <p:spPr>
          <a:xfrm>
            <a:off x="609600" y="5457825"/>
            <a:ext cx="43815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8" name="Rectangle 7">
            <a:extLst>
              <a:ext uri="{FF2B5EF4-FFF2-40B4-BE49-F238E27FC236}">
                <a16:creationId xmlns:a16="http://schemas.microsoft.com/office/drawing/2014/main" id="{F97B7AF3-F65D-47FE-AD63-B30D3BE685FA}"/>
              </a:ext>
            </a:extLst>
          </p:cNvPr>
          <p:cNvSpPr>
            <a:spLocks noGrp="1"/>
          </p:cNvSpPr>
          <p:nvPr/>
        </p:nvSpPr>
        <p:spPr>
          <a:xfrm>
            <a:off x="609600" y="5829300"/>
            <a:ext cx="3143250" cy="314325"/>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Laureando</a:t>
            </a:r>
          </a:p>
        </p:txBody>
      </p:sp>
      <p:sp>
        <p:nvSpPr>
          <p:cNvPr id="9" name="Rectangle 8">
            <a:extLst>
              <a:ext uri="{FF2B5EF4-FFF2-40B4-BE49-F238E27FC236}">
                <a16:creationId xmlns:a16="http://schemas.microsoft.com/office/drawing/2014/main" id="{B617E2E1-2F16-4949-80F2-901CB2C1A95D}"/>
              </a:ext>
            </a:extLst>
          </p:cNvPr>
          <p:cNvSpPr>
            <a:spLocks noGrp="1"/>
          </p:cNvSpPr>
          <p:nvPr/>
        </p:nvSpPr>
        <p:spPr>
          <a:xfrm>
            <a:off x="5172075" y="5457825"/>
            <a:ext cx="6286500" cy="733425"/>
          </a:xfrm>
          <a:prstGeom prst="rect">
            <a:avLst/>
          </a:prstGeom>
          <a:noFill/>
          <a:ln w="0">
            <a:noFill/>
          </a:ln>
        </p:spPr>
        <p:txBody>
          <a:bodyPr>
            <a:noAutofit/>
          </a:bodyPr>
          <a:lstStyle/>
          <a:p>
            <a:pPr>
              <a:defRPr sz="1725" b="0">
                <a:solidFill>
                  <a:srgbClr val="203344"/>
                </a:solidFill>
                <a:latin typeface="Arial"/>
                <a:ea typeface="Arial"/>
                <a:cs typeface="Arial"/>
              </a:defRPr>
            </a:pPr>
            <a:r>
              <a:rPr sz="1725" b="0">
                <a:solidFill>
                  <a:srgbClr val="203344"/>
                </a:solidFill>
                <a:latin typeface="Arial"/>
                <a:ea typeface="Arial"/>
                <a:cs typeface="Arial"/>
              </a:rPr>
              <a:t>Relatore  Prof. Paolo Soda</a:t>
            </a:r>
          </a:p>
          <a:p>
            <a:pPr>
              <a:defRPr sz="1725" b="0">
                <a:solidFill>
                  <a:srgbClr val="203344"/>
                </a:solidFill>
                <a:latin typeface="Arial"/>
                <a:ea typeface="Arial"/>
                <a:cs typeface="Arial"/>
              </a:defRPr>
            </a:pPr>
            <a:r>
              <a:rPr sz="1725" b="0">
                <a:solidFill>
                  <a:srgbClr val="203344"/>
                </a:solidFill>
                <a:latin typeface="Arial"/>
                <a:ea typeface="Arial"/>
                <a:cs typeface="Arial"/>
              </a:rPr>
              <a:t>Correlatore  Ing. Floriano Caprio</a:t>
            </a:r>
          </a:p>
        </p:txBody>
      </p:sp>
      <p:sp>
        <p:nvSpPr>
          <p:cNvPr id="10" name="Rectangle 9">
            <a:extLst>
              <a:ext uri="{FF2B5EF4-FFF2-40B4-BE49-F238E27FC236}">
                <a16:creationId xmlns:a16="http://schemas.microsoft.com/office/drawing/2014/main" id="{05208FE7-C760-4EA1-9A0B-58579754F642}"/>
              </a:ext>
            </a:extLst>
          </p:cNvPr>
          <p:cNvSpPr>
            <a:spLocks noGrp="1"/>
          </p:cNvSpPr>
          <p:nvPr/>
        </p:nvSpPr>
        <p:spPr>
          <a:xfrm>
            <a:off x="609600" y="6410325"/>
            <a:ext cx="5810250" cy="228600"/>
          </a:xfrm>
          <a:prstGeom prst="rect">
            <a:avLst/>
          </a:prstGeom>
          <a:noFill/>
          <a:ln w="0">
            <a:noFill/>
          </a:ln>
        </p:spPr>
        <p:txBody>
          <a:bodyPr>
            <a:noAutofit/>
          </a:bodyPr>
          <a:lstStyle/>
          <a:p>
            <a:pPr>
              <a:defRPr sz="1350" b="0">
                <a:solidFill>
                  <a:srgbClr val="647487"/>
                </a:solidFill>
                <a:latin typeface="Arial"/>
                <a:ea typeface="Arial"/>
                <a:cs typeface="Arial"/>
              </a:defRPr>
            </a:pPr>
            <a:r>
              <a:rPr sz="1350" b="0">
                <a:solidFill>
                  <a:srgbClr val="647487"/>
                </a:solidFill>
                <a:latin typeface="Arial"/>
                <a:ea typeface="Arial"/>
                <a:cs typeface="Arial"/>
              </a:rPr>
              <a:t>A.A. 2025/2026</a:t>
            </a:r>
          </a:p>
        </p:txBody>
      </p:sp>
    </p:spTree>
    <p:extLst>
      <p:ext uri="{BB962C8B-B14F-4D97-AF65-F5344CB8AC3E}">
        <p14:creationId xmlns:p14="http://schemas.microsoft.com/office/powerpoint/2010/main" val="1277548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La tesi in sintesi</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Sommario | 2</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F157E4D6-593B-F797-437E-0DB411060B6B}"/>
              </a:ext>
            </a:extLst>
          </p:cNvPr>
          <p:cNvSpPr txBox="1"/>
          <p:nvPr/>
        </p:nvSpPr>
        <p:spPr>
          <a:xfrm>
            <a:off x="609600" y="1320800"/>
            <a:ext cx="10972800" cy="369332"/>
          </a:xfrm>
          <a:prstGeom prst="rect">
            <a:avLst/>
          </a:prstGeom>
          <a:noFill/>
        </p:spPr>
        <p:txBody>
          <a:bodyPr vert="horz" wrap="square" rtlCol="0">
            <a:noAutofit/>
          </a:bodyPr>
          <a:lstStyle/>
          <a:p>
            <a:r>
              <a:rPr lang="it-IT" sz="2100">
                <a:solidFill>
                  <a:srgbClr val="203344"/>
                </a:solidFill>
                <a:latin typeface="Arial" panose="020B0604020202020204" pitchFamily="34" charset="0"/>
              </a:rPr>
              <a:t>Quanto il rumore degrada Shor, e che cosa serve davvero per contenerlo</a:t>
            </a:r>
            <a:endParaRPr lang="en-GB" sz="2100">
              <a:solidFill>
                <a:srgbClr val="203344"/>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38666E43-9709-96E7-2343-4CD0DE161345}"/>
              </a:ext>
            </a:extLst>
          </p:cNvPr>
          <p:cNvSpPr/>
          <p:nvPr/>
        </p:nvSpPr>
        <p:spPr>
          <a:xfrm>
            <a:off x="6096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ED59C2EA-1B0E-4539-4F9E-DD553E4CBF9C}"/>
              </a:ext>
            </a:extLst>
          </p:cNvPr>
          <p:cNvSpPr/>
          <p:nvPr/>
        </p:nvSpPr>
        <p:spPr>
          <a:xfrm>
            <a:off x="8128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1</a:t>
            </a:r>
          </a:p>
        </p:txBody>
      </p:sp>
      <p:sp>
        <p:nvSpPr>
          <p:cNvPr id="22" name="TextBox 21">
            <a:extLst>
              <a:ext uri="{FF2B5EF4-FFF2-40B4-BE49-F238E27FC236}">
                <a16:creationId xmlns:a16="http://schemas.microsoft.com/office/drawing/2014/main" id="{EC775805-E19D-BF97-56E7-7A6F48267843}"/>
              </a:ext>
            </a:extLst>
          </p:cNvPr>
          <p:cNvSpPr txBox="1"/>
          <p:nvPr/>
        </p:nvSpPr>
        <p:spPr>
          <a:xfrm>
            <a:off x="14224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Problema</a:t>
            </a:r>
          </a:p>
        </p:txBody>
      </p:sp>
      <p:sp>
        <p:nvSpPr>
          <p:cNvPr id="23" name="TextBox 22">
            <a:extLst>
              <a:ext uri="{FF2B5EF4-FFF2-40B4-BE49-F238E27FC236}">
                <a16:creationId xmlns:a16="http://schemas.microsoft.com/office/drawing/2014/main" id="{BD49DC3A-4222-7AA8-818D-DCCAFB52C39D}"/>
              </a:ext>
            </a:extLst>
          </p:cNvPr>
          <p:cNvSpPr txBox="1"/>
          <p:nvPr/>
        </p:nvSpPr>
        <p:spPr>
          <a:xfrm>
            <a:off x="7620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Il rumore distrugge l'informazione sul periodo r.</a:t>
            </a:r>
          </a:p>
          <a:p>
            <a:pPr>
              <a:spcAft>
                <a:spcPts val="800"/>
              </a:spcAft>
            </a:pPr>
            <a:r>
              <a:rPr lang="it-IT" sz="1725">
                <a:solidFill>
                  <a:srgbClr val="203344"/>
                </a:solidFill>
                <a:latin typeface="Arial" panose="020B0604020202020204" pitchFamily="34" charset="0"/>
              </a:rPr>
              <a:t>Con p_g = 5% il successo per misura scende dal 75% al 29,5%.</a:t>
            </a:r>
            <a:endParaRPr lang="en-GB" sz="1725">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555842E6-6C5D-B868-4612-2978F031FC3A}"/>
              </a:ext>
            </a:extLst>
          </p:cNvPr>
          <p:cNvSpPr/>
          <p:nvPr/>
        </p:nvSpPr>
        <p:spPr>
          <a:xfrm>
            <a:off x="43815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460D08D6-D801-4D22-47C5-343B22786BFD}"/>
              </a:ext>
            </a:extLst>
          </p:cNvPr>
          <p:cNvSpPr/>
          <p:nvPr/>
        </p:nvSpPr>
        <p:spPr>
          <a:xfrm>
            <a:off x="45847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2</a:t>
            </a:r>
          </a:p>
        </p:txBody>
      </p:sp>
      <p:sp>
        <p:nvSpPr>
          <p:cNvPr id="26" name="TextBox 25">
            <a:extLst>
              <a:ext uri="{FF2B5EF4-FFF2-40B4-BE49-F238E27FC236}">
                <a16:creationId xmlns:a16="http://schemas.microsoft.com/office/drawing/2014/main" id="{C4BD2BFF-53E9-C722-0C64-F7443124A63F}"/>
              </a:ext>
            </a:extLst>
          </p:cNvPr>
          <p:cNvSpPr txBox="1"/>
          <p:nvPr/>
        </p:nvSpPr>
        <p:spPr>
          <a:xfrm>
            <a:off x="51943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Approccio</a:t>
            </a:r>
          </a:p>
        </p:txBody>
      </p:sp>
      <p:sp>
        <p:nvSpPr>
          <p:cNvPr id="27" name="TextBox 26">
            <a:extLst>
              <a:ext uri="{FF2B5EF4-FFF2-40B4-BE49-F238E27FC236}">
                <a16:creationId xmlns:a16="http://schemas.microsoft.com/office/drawing/2014/main" id="{F33042A1-D440-C8AD-9BB5-A4BC2AD200EE}"/>
              </a:ext>
            </a:extLst>
          </p:cNvPr>
          <p:cNvSpPr txBox="1"/>
          <p:nvPr/>
        </p:nvSpPr>
        <p:spPr>
          <a:xfrm>
            <a:off x="45339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Tre strategie su livelli diversi, ognuna contro la propria baseline:</a:t>
            </a:r>
          </a:p>
          <a:p>
            <a:pPr>
              <a:spcAft>
                <a:spcPts val="800"/>
              </a:spcAft>
            </a:pPr>
            <a:r>
              <a:rPr lang="it-IT" sz="1725">
                <a:solidFill>
                  <a:srgbClr val="203344"/>
                </a:solidFill>
                <a:latin typeface="Arial" panose="020B0604020202020204" pitchFamily="34" charset="0"/>
              </a:rPr>
              <a:t>post-processing con ablazione ML, QEC con surface code e Gross code, QFT approssimata.</a:t>
            </a:r>
            <a:endParaRPr lang="en-GB" sz="1725">
              <a:solidFill>
                <a:srgbClr val="203344"/>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759CAFCD-0A2D-3C97-1661-0E8BF22ABE49}"/>
              </a:ext>
            </a:extLst>
          </p:cNvPr>
          <p:cNvSpPr/>
          <p:nvPr/>
        </p:nvSpPr>
        <p:spPr>
          <a:xfrm>
            <a:off x="81534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D71E0B23-3FE9-DD0B-917B-2FA502E64EB1}"/>
              </a:ext>
            </a:extLst>
          </p:cNvPr>
          <p:cNvSpPr/>
          <p:nvPr/>
        </p:nvSpPr>
        <p:spPr>
          <a:xfrm>
            <a:off x="83566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3</a:t>
            </a:r>
          </a:p>
        </p:txBody>
      </p:sp>
      <p:sp>
        <p:nvSpPr>
          <p:cNvPr id="30" name="TextBox 29">
            <a:extLst>
              <a:ext uri="{FF2B5EF4-FFF2-40B4-BE49-F238E27FC236}">
                <a16:creationId xmlns:a16="http://schemas.microsoft.com/office/drawing/2014/main" id="{2E190D6B-F540-5CB0-9FE8-22255D524DB2}"/>
              </a:ext>
            </a:extLst>
          </p:cNvPr>
          <p:cNvSpPr txBox="1"/>
          <p:nvPr/>
        </p:nvSpPr>
        <p:spPr>
          <a:xfrm>
            <a:off x="89662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Evidenza</a:t>
            </a:r>
          </a:p>
        </p:txBody>
      </p:sp>
      <p:sp>
        <p:nvSpPr>
          <p:cNvPr id="31" name="TextBox 30">
            <a:extLst>
              <a:ext uri="{FF2B5EF4-FFF2-40B4-BE49-F238E27FC236}">
                <a16:creationId xmlns:a16="http://schemas.microsoft.com/office/drawing/2014/main" id="{C7069C3B-6869-DCBD-86CB-A65A3CECA421}"/>
              </a:ext>
            </a:extLst>
          </p:cNvPr>
          <p:cNvSpPr txBox="1"/>
          <p:nvPr/>
        </p:nvSpPr>
        <p:spPr>
          <a:xfrm>
            <a:off x="83058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TOP-4: fattori alla prima iterazione; il ML non aiuta.</a:t>
            </a:r>
          </a:p>
          <a:p>
            <a:pPr>
              <a:spcAft>
                <a:spcPts val="800"/>
              </a:spcAft>
            </a:pPr>
            <a:r>
              <a:rPr lang="it-IT" sz="1725">
                <a:solidFill>
                  <a:srgbClr val="203344"/>
                </a:solidFill>
                <a:latin typeface="Arial" panose="020B0604020202020204" pitchFamily="34" charset="0"/>
              </a:rPr>
              <a:t>Decoder ibrido: −16,8% di p_L con crosstalk.</a:t>
            </a:r>
          </a:p>
          <a:p>
            <a:pPr>
              <a:spcAft>
                <a:spcPts val="800"/>
              </a:spcAft>
            </a:pPr>
            <a:r>
              <a:rPr lang="it-IT" sz="1725">
                <a:solidFill>
                  <a:srgbClr val="203344"/>
                </a:solidFill>
                <a:latin typeface="Arial" panose="020B0604020202020204" pitchFamily="34" charset="0"/>
              </a:rPr>
              <a:t>AQFT: +14,87 punti su N = 15.</a:t>
            </a:r>
            <a:endParaRPr lang="en-GB" sz="1725">
              <a:solidFill>
                <a:srgbClr val="203344"/>
              </a:solidFill>
              <a:latin typeface="Arial" panose="020B0604020202020204" pitchFamily="34" charset="0"/>
            </a:endParaRPr>
          </a:p>
        </p:txBody>
      </p:sp>
      <p:sp>
        <p:nvSpPr>
          <p:cNvPr id="32" name="TextBox 31">
            <a:extLst>
              <a:ext uri="{FF2B5EF4-FFF2-40B4-BE49-F238E27FC236}">
                <a16:creationId xmlns:a16="http://schemas.microsoft.com/office/drawing/2014/main" id="{74F896F5-2254-1EF9-F5BE-1DC859F7343F}"/>
              </a:ext>
            </a:extLst>
          </p:cNvPr>
          <p:cNvSpPr txBox="1"/>
          <p:nvPr/>
        </p:nvSpPr>
        <p:spPr>
          <a:xfrm>
            <a:off x="609600" y="6070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 benefici sono reali, ma dipendono dal livello d'intervento, dal rumore e dall'istanza.</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90261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B58B711-8751-4263-88A9-A6E7B3BF2316}"/>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sz="2700" b="0">
                <a:solidFill>
                  <a:srgbClr val="003366"/>
                </a:solidFill>
                <a:latin typeface="Arial"/>
                <a:ea typeface="Arial"/>
                <a:cs typeface="Arial"/>
              </a:rPr>
              <a:t>Indice</a:t>
            </a:r>
          </a:p>
        </p:txBody>
      </p:sp>
      <p:pic>
        <p:nvPicPr>
          <p:cNvPr id="14" name="Picture 1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9921B19-9BA3-4172-A77A-1D31BC4096FA}"/>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720CB09-CFAB-4AA0-A1E8-A5650E1C7F0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Indice | 3</a:t>
            </a:r>
            <a:endParaRPr sz="1200" b="0">
              <a:solidFill>
                <a:srgbClr val="203344"/>
              </a:solidFill>
              <a:latin typeface="Arial"/>
              <a:ea typeface="Arial"/>
              <a:cs typeface="Arial"/>
            </a:endParaRPr>
          </a:p>
        </p:txBody>
      </p:sp>
      <p:sp>
        <p:nvSpPr>
          <p:cNvPr id="5" name="Arrow: Chevron 4">
            <a:extLst>
              <a:ext uri="{FF2B5EF4-FFF2-40B4-BE49-F238E27FC236}">
                <a16:creationId xmlns:a16="http://schemas.microsoft.com/office/drawing/2014/main" id="{EA7C1E98-4321-4D2F-9EBB-CF7F4B136913}"/>
              </a:ext>
            </a:extLst>
          </p:cNvPr>
          <p:cNvSpPr>
            <a:spLocks noGrp="1"/>
          </p:cNvSpPr>
          <p:nvPr/>
        </p:nvSpPr>
        <p:spPr>
          <a:xfrm>
            <a:off x="1476375" y="1628775"/>
            <a:ext cx="5000625" cy="904875"/>
          </a:xfrm>
          <a:prstGeom prst="chevron">
            <a:avLst/>
          </a:prstGeom>
          <a:solidFill>
            <a:srgbClr val="5084BF"/>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Introduzione e obiettivi</a:t>
            </a:r>
          </a:p>
        </p:txBody>
      </p:sp>
      <p:sp>
        <p:nvSpPr>
          <p:cNvPr id="6" name="Rectangle 5">
            <a:extLst>
              <a:ext uri="{FF2B5EF4-FFF2-40B4-BE49-F238E27FC236}">
                <a16:creationId xmlns:a16="http://schemas.microsoft.com/office/drawing/2014/main" id="{62663AE9-415C-4725-A831-2DA910FBCA2C}"/>
              </a:ext>
            </a:extLst>
          </p:cNvPr>
          <p:cNvSpPr>
            <a:spLocks noGrp="1"/>
          </p:cNvSpPr>
          <p:nvPr/>
        </p:nvSpPr>
        <p:spPr>
          <a:xfrm>
            <a:off x="6715125" y="1714500"/>
            <a:ext cx="723900" cy="72390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4</a:t>
            </a:r>
            <a:endParaRPr sz="2100" b="1">
              <a:solidFill>
                <a:srgbClr val="FFFFFF"/>
              </a:solidFill>
              <a:latin typeface="Arial"/>
              <a:ea typeface="Arial"/>
              <a:cs typeface="Arial"/>
            </a:endParaRPr>
          </a:p>
        </p:txBody>
      </p:sp>
      <p:sp>
        <p:nvSpPr>
          <p:cNvPr id="7" name="Arrow: Chevron 6">
            <a:extLst>
              <a:ext uri="{FF2B5EF4-FFF2-40B4-BE49-F238E27FC236}">
                <a16:creationId xmlns:a16="http://schemas.microsoft.com/office/drawing/2014/main" id="{AD67FF1B-DABB-4B54-8C4E-6D77B6C199AA}"/>
              </a:ext>
            </a:extLst>
          </p:cNvPr>
          <p:cNvSpPr>
            <a:spLocks noGrp="1"/>
          </p:cNvSpPr>
          <p:nvPr/>
        </p:nvSpPr>
        <p:spPr>
          <a:xfrm>
            <a:off x="2743200" y="2705100"/>
            <a:ext cx="5000625" cy="904875"/>
          </a:xfrm>
          <a:prstGeom prst="chevron">
            <a:avLst/>
          </a:prstGeom>
          <a:solidFill>
            <a:srgbClr val="175F99"/>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Materiali e metodi</a:t>
            </a:r>
          </a:p>
        </p:txBody>
      </p:sp>
      <p:sp>
        <p:nvSpPr>
          <p:cNvPr id="8" name="Rectangle 7">
            <a:extLst>
              <a:ext uri="{FF2B5EF4-FFF2-40B4-BE49-F238E27FC236}">
                <a16:creationId xmlns:a16="http://schemas.microsoft.com/office/drawing/2014/main" id="{35F4CCA4-7F51-43D4-BC4D-8759CB634639}"/>
              </a:ext>
            </a:extLst>
          </p:cNvPr>
          <p:cNvSpPr>
            <a:spLocks noGrp="1"/>
          </p:cNvSpPr>
          <p:nvPr/>
        </p:nvSpPr>
        <p:spPr>
          <a:xfrm>
            <a:off x="7981950" y="2790825"/>
            <a:ext cx="723900" cy="7239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7</a:t>
            </a:r>
            <a:endParaRPr sz="2100" b="1">
              <a:solidFill>
                <a:srgbClr val="FFFFFF"/>
              </a:solidFill>
              <a:latin typeface="Arial"/>
              <a:ea typeface="Arial"/>
              <a:cs typeface="Arial"/>
            </a:endParaRPr>
          </a:p>
        </p:txBody>
      </p:sp>
      <p:sp>
        <p:nvSpPr>
          <p:cNvPr id="9" name="Arrow: Chevron 8">
            <a:extLst>
              <a:ext uri="{FF2B5EF4-FFF2-40B4-BE49-F238E27FC236}">
                <a16:creationId xmlns:a16="http://schemas.microsoft.com/office/drawing/2014/main" id="{63BDF1A8-64B9-4ABC-BA64-551AF993D375}"/>
              </a:ext>
            </a:extLst>
          </p:cNvPr>
          <p:cNvSpPr>
            <a:spLocks noGrp="1"/>
          </p:cNvSpPr>
          <p:nvPr/>
        </p:nvSpPr>
        <p:spPr>
          <a:xfrm>
            <a:off x="4010025" y="3781425"/>
            <a:ext cx="5000625" cy="904875"/>
          </a:xfrm>
          <a:prstGeom prst="chevron">
            <a:avLst/>
          </a:prstGeom>
          <a:solidFill>
            <a:srgbClr val="5084BF"/>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Risultati</a:t>
            </a:r>
          </a:p>
        </p:txBody>
      </p:sp>
      <p:sp>
        <p:nvSpPr>
          <p:cNvPr id="10" name="Rectangle 9">
            <a:extLst>
              <a:ext uri="{FF2B5EF4-FFF2-40B4-BE49-F238E27FC236}">
                <a16:creationId xmlns:a16="http://schemas.microsoft.com/office/drawing/2014/main" id="{D320FC43-B6D1-49A6-9742-A7B000A86105}"/>
              </a:ext>
            </a:extLst>
          </p:cNvPr>
          <p:cNvSpPr>
            <a:spLocks noGrp="1"/>
          </p:cNvSpPr>
          <p:nvPr/>
        </p:nvSpPr>
        <p:spPr>
          <a:xfrm>
            <a:off x="9248775" y="3867150"/>
            <a:ext cx="723900" cy="72390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13</a:t>
            </a:r>
            <a:endParaRPr sz="2100" b="1">
              <a:solidFill>
                <a:srgbClr val="FFFFFF"/>
              </a:solidFill>
              <a:latin typeface="Arial"/>
              <a:ea typeface="Arial"/>
              <a:cs typeface="Arial"/>
            </a:endParaRPr>
          </a:p>
        </p:txBody>
      </p:sp>
      <p:sp>
        <p:nvSpPr>
          <p:cNvPr id="11" name="Arrow: Chevron 10">
            <a:extLst>
              <a:ext uri="{FF2B5EF4-FFF2-40B4-BE49-F238E27FC236}">
                <a16:creationId xmlns:a16="http://schemas.microsoft.com/office/drawing/2014/main" id="{9923D6BC-D2B0-43C9-9E16-9B835415FC54}"/>
              </a:ext>
            </a:extLst>
          </p:cNvPr>
          <p:cNvSpPr>
            <a:spLocks noGrp="1"/>
          </p:cNvSpPr>
          <p:nvPr/>
        </p:nvSpPr>
        <p:spPr>
          <a:xfrm>
            <a:off x="5276850" y="4857750"/>
            <a:ext cx="5000625" cy="904875"/>
          </a:xfrm>
          <a:prstGeom prst="chevron">
            <a:avLst/>
          </a:prstGeom>
          <a:solidFill>
            <a:srgbClr val="175F99"/>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Discussione e conclusioni</a:t>
            </a:r>
          </a:p>
        </p:txBody>
      </p:sp>
      <p:sp>
        <p:nvSpPr>
          <p:cNvPr id="12" name="Rectangle 11">
            <a:extLst>
              <a:ext uri="{FF2B5EF4-FFF2-40B4-BE49-F238E27FC236}">
                <a16:creationId xmlns:a16="http://schemas.microsoft.com/office/drawing/2014/main" id="{8D3ACCEE-7D5E-49AE-B974-9EB44B64A034}"/>
              </a:ext>
            </a:extLst>
          </p:cNvPr>
          <p:cNvSpPr>
            <a:spLocks noGrp="1"/>
          </p:cNvSpPr>
          <p:nvPr/>
        </p:nvSpPr>
        <p:spPr>
          <a:xfrm>
            <a:off x="10515600" y="4943475"/>
            <a:ext cx="723900" cy="7239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19</a:t>
            </a:r>
            <a:endParaRPr sz="2100" b="1">
              <a:solidFill>
                <a:srgbClr val="FFFFFF"/>
              </a:solidFill>
              <a:latin typeface="Arial"/>
              <a:ea typeface="Arial"/>
              <a:cs typeface="Arial"/>
            </a:endParaRPr>
          </a:p>
        </p:txBody>
      </p:sp>
    </p:spTree>
    <p:extLst>
      <p:ext uri="{BB962C8B-B14F-4D97-AF65-F5344CB8AC3E}">
        <p14:creationId xmlns:p14="http://schemas.microsoft.com/office/powerpoint/2010/main" val="1177453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59060CE-ECD2-4A7A-9090-80F9390237C2}"/>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Il problema: il rumore mette in crisi Shor</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D23F0015-1C9C-4BFF-AD0E-1F98D7E0AF2E}"/>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79CC3B5B-7093-40F1-8B4A-4831C1C3379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4</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28F5FD8-1939-4CC8-B7AF-FF8BB0B137D4}"/>
              </a:ext>
            </a:extLst>
          </p:cNvPr>
          <p:cNvSpPr>
            <a:spLocks noGrp="1"/>
          </p:cNvSpPr>
          <p:nvPr/>
        </p:nvSpPr>
        <p:spPr>
          <a:xfrm>
            <a:off x="609600" y="1409700"/>
            <a:ext cx="10972800" cy="666750"/>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RSA si fonda sulla difficoltà di fattorizzare numeri molto grandi.</a:t>
            </a:r>
          </a:p>
        </p:txBody>
      </p:sp>
      <p:sp>
        <p:nvSpPr>
          <p:cNvPr id="6" name="Rectangle: Rounded Corners 5">
            <a:extLst>
              <a:ext uri="{FF2B5EF4-FFF2-40B4-BE49-F238E27FC236}">
                <a16:creationId xmlns:a16="http://schemas.microsoft.com/office/drawing/2014/main" id="{80A98FDF-A936-4DBF-BEC7-908273BD1AB3}"/>
              </a:ext>
            </a:extLst>
          </p:cNvPr>
          <p:cNvSpPr>
            <a:spLocks noGrp="1"/>
          </p:cNvSpPr>
          <p:nvPr/>
        </p:nvSpPr>
        <p:spPr>
          <a:xfrm>
            <a:off x="609600" y="2371725"/>
            <a:ext cx="5048250" cy="1628775"/>
          </a:xfrm>
          <a:prstGeom prst="roundRect">
            <a:avLst>
              <a:gd name="adj" fmla="val 5848"/>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E0A86DAE-54F5-4C63-8C22-F53A4F8FB061}"/>
              </a:ext>
            </a:extLst>
          </p:cNvPr>
          <p:cNvSpPr>
            <a:spLocks noGrp="1"/>
          </p:cNvSpPr>
          <p:nvPr/>
        </p:nvSpPr>
        <p:spPr>
          <a:xfrm>
            <a:off x="790575" y="2562225"/>
            <a:ext cx="4686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Classico · GNFS</a:t>
            </a:r>
          </a:p>
        </p:txBody>
      </p:sp>
      <p:sp>
        <p:nvSpPr>
          <p:cNvPr id="8" name="Rectangle 7">
            <a:extLst>
              <a:ext uri="{FF2B5EF4-FFF2-40B4-BE49-F238E27FC236}">
                <a16:creationId xmlns:a16="http://schemas.microsoft.com/office/drawing/2014/main" id="{61E472CC-6B37-45F8-A851-218074ED7342}"/>
              </a:ext>
            </a:extLst>
          </p:cNvPr>
          <p:cNvSpPr>
            <a:spLocks noGrp="1"/>
          </p:cNvSpPr>
          <p:nvPr/>
        </p:nvSpPr>
        <p:spPr>
          <a:xfrm>
            <a:off x="790575" y="3171825"/>
            <a:ext cx="4686300" cy="7334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Costo sub-esponenziale</a:t>
            </a:r>
          </a:p>
        </p:txBody>
      </p:sp>
      <p:sp>
        <p:nvSpPr>
          <p:cNvPr id="9" name="Rectangle: Rounded Corners 8">
            <a:extLst>
              <a:ext uri="{FF2B5EF4-FFF2-40B4-BE49-F238E27FC236}">
                <a16:creationId xmlns:a16="http://schemas.microsoft.com/office/drawing/2014/main" id="{2A2396F6-9FA2-4A80-8E1D-261913A3AE4E}"/>
              </a:ext>
            </a:extLst>
          </p:cNvPr>
          <p:cNvSpPr>
            <a:spLocks noGrp="1"/>
          </p:cNvSpPr>
          <p:nvPr/>
        </p:nvSpPr>
        <p:spPr>
          <a:xfrm>
            <a:off x="6534150" y="2371725"/>
            <a:ext cx="5048250" cy="1628775"/>
          </a:xfrm>
          <a:prstGeom prst="roundRect">
            <a:avLst>
              <a:gd name="adj" fmla="val 5848"/>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7418ABF2-68F4-4507-910D-675A2F524C68}"/>
              </a:ext>
            </a:extLst>
          </p:cNvPr>
          <p:cNvSpPr>
            <a:spLocks noGrp="1"/>
          </p:cNvSpPr>
          <p:nvPr/>
        </p:nvSpPr>
        <p:spPr>
          <a:xfrm>
            <a:off x="6715125" y="2562225"/>
            <a:ext cx="4686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Quantistico · Shor</a:t>
            </a:r>
          </a:p>
        </p:txBody>
      </p:sp>
      <p:sp>
        <p:nvSpPr>
          <p:cNvPr id="11" name="Rectangle 10">
            <a:extLst>
              <a:ext uri="{FF2B5EF4-FFF2-40B4-BE49-F238E27FC236}">
                <a16:creationId xmlns:a16="http://schemas.microsoft.com/office/drawing/2014/main" id="{AB3F97FF-CB13-44FF-9438-62C2DC1FAD3F}"/>
              </a:ext>
            </a:extLst>
          </p:cNvPr>
          <p:cNvSpPr>
            <a:spLocks noGrp="1"/>
          </p:cNvSpPr>
          <p:nvPr/>
        </p:nvSpPr>
        <p:spPr>
          <a:xfrm>
            <a:off x="6715125" y="3171825"/>
            <a:ext cx="4686300" cy="7334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Tempo polinomiale su un computer ideale</a:t>
            </a:r>
          </a:p>
        </p:txBody>
      </p:sp>
      <p:pic>
        <p:nvPicPr>
          <p:cNvPr id="27" name="Picture 26"/>
          <p:cNvPicPr>
            <a:picLocks noChangeAspect="1"/>
          </p:cNvPicPr>
          <p:nvPr/>
        </p:nvPicPr>
        <p:blipFill>
          <a:blip r:embed="rId4"/>
          <a:stretch/>
        </p:blipFill>
        <p:spPr>
          <a:xfrm>
            <a:off x="937183" y="4305300"/>
            <a:ext cx="2621434" cy="1819275"/>
          </a:xfrm>
          <a:prstGeom prst="rect">
            <a:avLst/>
          </a:prstGeom>
        </p:spPr>
      </p:pic>
      <p:sp>
        <p:nvSpPr>
          <p:cNvPr id="13" name="Rectangle 12">
            <a:extLst>
              <a:ext uri="{FF2B5EF4-FFF2-40B4-BE49-F238E27FC236}">
                <a16:creationId xmlns:a16="http://schemas.microsoft.com/office/drawing/2014/main" id="{D6C90D73-8FBD-42C1-B1B5-04BDF8AFF596}"/>
              </a:ext>
            </a:extLst>
          </p:cNvPr>
          <p:cNvSpPr>
            <a:spLocks noGrp="1"/>
          </p:cNvSpPr>
          <p:nvPr/>
        </p:nvSpPr>
        <p:spPr>
          <a:xfrm>
            <a:off x="4495800" y="4448175"/>
            <a:ext cx="6953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Errori, decoerenza e readout</a:t>
            </a:r>
          </a:p>
        </p:txBody>
      </p:sp>
      <p:sp>
        <p:nvSpPr>
          <p:cNvPr id="14" name="Rectangle 13">
            <a:extLst>
              <a:ext uri="{FF2B5EF4-FFF2-40B4-BE49-F238E27FC236}">
                <a16:creationId xmlns:a16="http://schemas.microsoft.com/office/drawing/2014/main" id="{FC4F982F-3693-4FBB-A25C-5CD1285EE608}"/>
              </a:ext>
            </a:extLst>
          </p:cNvPr>
          <p:cNvSpPr>
            <a:spLocks noGrp="1"/>
          </p:cNvSpPr>
          <p:nvPr/>
        </p:nvSpPr>
        <p:spPr>
          <a:xfrm>
            <a:off x="4495800" y="4924425"/>
            <a:ext cx="6934200" cy="10096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Il rumore compromette l’informazione</a:t>
            </a:r>
          </a:p>
          <a:p>
            <a:pPr>
              <a:defRPr sz="2325" b="0">
                <a:solidFill>
                  <a:srgbClr val="203344"/>
                </a:solidFill>
                <a:latin typeface="Arial"/>
                <a:ea typeface="Arial"/>
                <a:cs typeface="Arial"/>
              </a:defRPr>
            </a:pPr>
            <a:r>
              <a:rPr sz="2325" b="0">
                <a:solidFill>
                  <a:srgbClr val="203344"/>
                </a:solidFill>
                <a:latin typeface="Arial"/>
                <a:ea typeface="Arial"/>
                <a:cs typeface="Arial"/>
              </a:rPr>
              <a:t>necessaria alla ricerca del periodo.</a:t>
            </a:r>
          </a:p>
        </p:txBody>
      </p:sp>
      <p:sp>
        <p:nvSpPr>
          <p:cNvPr id="15" name="Rectangle 14">
            <a:extLst>
              <a:ext uri="{FF2B5EF4-FFF2-40B4-BE49-F238E27FC236}">
                <a16:creationId xmlns:a16="http://schemas.microsoft.com/office/drawing/2014/main" id="{0BF60FA3-5FF6-4688-AFC0-67D432E87079}"/>
              </a:ext>
            </a:extLst>
          </p:cNvPr>
          <p:cNvSpPr>
            <a:spLocks noGrp="1"/>
          </p:cNvSpPr>
          <p:nvPr/>
        </p:nvSpPr>
        <p:spPr>
          <a:xfrm>
            <a:off x="609600" y="6210300"/>
            <a:ext cx="4286250" cy="238125"/>
          </a:xfrm>
          <a:prstGeom prst="rect">
            <a:avLst/>
          </a:prstGeom>
          <a:noFill/>
          <a:ln w="0">
            <a:noFill/>
          </a:ln>
        </p:spPr>
        <p:txBody>
          <a:bodyPr>
            <a:noAutofit/>
          </a:bodyPr>
          <a:lstStyle/>
          <a:p>
            <a:pPr>
              <a:defRPr sz="1275" b="0">
                <a:solidFill>
                  <a:srgbClr val="647487"/>
                </a:solidFill>
                <a:latin typeface="Arial"/>
                <a:ea typeface="Arial"/>
                <a:cs typeface="Arial"/>
              </a:defRPr>
            </a:pPr>
            <a:r>
              <a:rPr sz="1275" b="0">
                <a:solidFill>
                  <a:srgbClr val="647487"/>
                </a:solidFill>
                <a:latin typeface="Arial"/>
                <a:ea typeface="Arial"/>
                <a:cs typeface="Arial"/>
              </a:rPr>
              <a:t>IBM Quantum System One</a:t>
            </a:r>
          </a:p>
        </p:txBody>
      </p:sp>
    </p:spTree>
    <p:extLst>
      <p:ext uri="{BB962C8B-B14F-4D97-AF65-F5344CB8AC3E}">
        <p14:creationId xmlns:p14="http://schemas.microsoft.com/office/powerpoint/2010/main" val="848221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
          <p:cNvSpPr/>
          <p:nvPr/>
        </p:nvSpPr>
        <p:spPr>
          <a:xfrm>
            <a:off x="609600" y="1422400"/>
            <a:ext cx="2419350" cy="1757660"/>
          </a:xfrm>
          <a:prstGeom prst="roundRect">
            <a:avLst>
              <a:gd name="adj" fmla="val 7226"/>
            </a:avLst>
          </a:prstGeom>
          <a:solidFill>
            <a:srgbClr val="3F73B0"/>
          </a:solidFill>
          <a:ln/>
        </p:spPr>
        <p:txBody>
          <a:bodyPr/>
          <a:lstStyle/>
          <a:p>
            <a:endParaRPr lang="en-GB"/>
          </a:p>
        </p:txBody>
      </p:sp>
      <p:sp>
        <p:nvSpPr>
          <p:cNvPr id="7" name="Text 3"/>
          <p:cNvSpPr/>
          <p:nvPr/>
        </p:nvSpPr>
        <p:spPr>
          <a:xfrm>
            <a:off x="7112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1</a:t>
            </a:r>
            <a:endParaRPr lang="en-US" sz="1800" dirty="0"/>
          </a:p>
        </p:txBody>
      </p:sp>
      <p:sp>
        <p:nvSpPr>
          <p:cNvPr id="8" name="Text 4"/>
          <p:cNvSpPr/>
          <p:nvPr/>
        </p:nvSpPr>
        <p:spPr>
          <a:xfrm>
            <a:off x="7112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Pre-processing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9" name="Text 5"/>
          <p:cNvSpPr/>
          <p:nvPr/>
        </p:nvSpPr>
        <p:spPr>
          <a:xfrm>
            <a:off x="71120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base a con MCD(a, N) = 1</a:t>
            </a:r>
            <a:endParaRPr lang="en-US" sz="1300" dirty="0"/>
          </a:p>
        </p:txBody>
      </p:sp>
      <p:pic>
        <p:nvPicPr>
          <p:cNvPr id="10" name="Image 2" descr="arrow-right"/>
          <p:cNvPicPr>
            <a:picLocks noChangeAspect="1"/>
          </p:cNvPicPr>
          <p:nvPr/>
        </p:nvPicPr>
        <p:blipFill>
          <a:blip r:embed="rId3"/>
          <a:srcRect/>
          <a:stretch/>
        </p:blipFill>
        <p:spPr>
          <a:xfrm>
            <a:off x="3105150" y="2212330"/>
            <a:ext cx="279400" cy="177800"/>
          </a:xfrm>
          <a:prstGeom prst="rect">
            <a:avLst/>
          </a:prstGeom>
        </p:spPr>
      </p:pic>
      <p:sp>
        <p:nvSpPr>
          <p:cNvPr id="11" name="Shape 6"/>
          <p:cNvSpPr/>
          <p:nvPr/>
        </p:nvSpPr>
        <p:spPr>
          <a:xfrm>
            <a:off x="3460750" y="1422400"/>
            <a:ext cx="2419350" cy="1757660"/>
          </a:xfrm>
          <a:prstGeom prst="roundRect">
            <a:avLst>
              <a:gd name="adj" fmla="val 7226"/>
            </a:avLst>
          </a:prstGeom>
          <a:solidFill>
            <a:srgbClr val="125C97"/>
          </a:solidFill>
          <a:ln/>
        </p:spPr>
        <p:txBody>
          <a:bodyPr/>
          <a:lstStyle/>
          <a:p>
            <a:endParaRPr lang="en-GB"/>
          </a:p>
        </p:txBody>
      </p:sp>
      <p:sp>
        <p:nvSpPr>
          <p:cNvPr id="12" name="Text 7"/>
          <p:cNvSpPr/>
          <p:nvPr/>
        </p:nvSpPr>
        <p:spPr>
          <a:xfrm>
            <a:off x="35623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2</a:t>
            </a:r>
            <a:endParaRPr lang="en-US" sz="1800" dirty="0"/>
          </a:p>
        </p:txBody>
      </p:sp>
      <p:sp>
        <p:nvSpPr>
          <p:cNvPr id="13" name="Text 8"/>
          <p:cNvSpPr/>
          <p:nvPr/>
        </p:nvSpPr>
        <p:spPr>
          <a:xfrm>
            <a:off x="35623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Ricerca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del periodo</a:t>
            </a:r>
            <a:endParaRPr lang="en-US" sz="2000" dirty="0"/>
          </a:p>
        </p:txBody>
      </p:sp>
      <p:sp>
        <p:nvSpPr>
          <p:cNvPr id="14" name="Text 9"/>
          <p:cNvSpPr/>
          <p:nvPr/>
        </p:nvSpPr>
        <p:spPr>
          <a:xfrm>
            <a:off x="356235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esponenziazione modulare e QPE (stima di fase)</a:t>
            </a:r>
            <a:endParaRPr lang="en-US" sz="1300" dirty="0"/>
          </a:p>
        </p:txBody>
      </p:sp>
      <p:pic>
        <p:nvPicPr>
          <p:cNvPr id="15" name="Image 3" descr="arrow-right"/>
          <p:cNvPicPr>
            <a:picLocks noChangeAspect="1"/>
          </p:cNvPicPr>
          <p:nvPr/>
        </p:nvPicPr>
        <p:blipFill>
          <a:blip r:embed="rId3"/>
          <a:srcRect/>
          <a:stretch/>
        </p:blipFill>
        <p:spPr>
          <a:xfrm>
            <a:off x="5956300" y="2212330"/>
            <a:ext cx="279400" cy="177800"/>
          </a:xfrm>
          <a:prstGeom prst="rect">
            <a:avLst/>
          </a:prstGeom>
        </p:spPr>
      </p:pic>
      <p:sp>
        <p:nvSpPr>
          <p:cNvPr id="16" name="Shape 10"/>
          <p:cNvSpPr/>
          <p:nvPr/>
        </p:nvSpPr>
        <p:spPr>
          <a:xfrm>
            <a:off x="6311900" y="1422400"/>
            <a:ext cx="2419350" cy="1757660"/>
          </a:xfrm>
          <a:prstGeom prst="roundRect">
            <a:avLst>
              <a:gd name="adj" fmla="val 7226"/>
            </a:avLst>
          </a:prstGeom>
          <a:solidFill>
            <a:srgbClr val="3F73B0"/>
          </a:solidFill>
          <a:ln/>
        </p:spPr>
        <p:txBody>
          <a:bodyPr/>
          <a:lstStyle/>
          <a:p>
            <a:endParaRPr lang="en-GB"/>
          </a:p>
        </p:txBody>
      </p:sp>
      <p:sp>
        <p:nvSpPr>
          <p:cNvPr id="17" name="Text 11"/>
          <p:cNvSpPr/>
          <p:nvPr/>
        </p:nvSpPr>
        <p:spPr>
          <a:xfrm>
            <a:off x="64135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3</a:t>
            </a:r>
            <a:endParaRPr lang="en-US" sz="1800" dirty="0"/>
          </a:p>
        </p:txBody>
      </p:sp>
      <p:sp>
        <p:nvSpPr>
          <p:cNvPr id="18" name="Text 12"/>
          <p:cNvSpPr/>
          <p:nvPr/>
        </p:nvSpPr>
        <p:spPr>
          <a:xfrm>
            <a:off x="64135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QFT inversa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e misura</a:t>
            </a:r>
            <a:endParaRPr lang="en-US" sz="2000" dirty="0"/>
          </a:p>
        </p:txBody>
      </p:sp>
      <p:sp>
        <p:nvSpPr>
          <p:cNvPr id="19" name="Text 13"/>
          <p:cNvSpPr/>
          <p:nvPr/>
        </p:nvSpPr>
        <p:spPr>
          <a:xfrm>
            <a:off x="6413500" y="2603500"/>
            <a:ext cx="2282635" cy="508000"/>
          </a:xfrm>
          <a:prstGeom prst="rect">
            <a:avLst/>
          </a:prstGeom>
          <a:noFill/>
          <a:ln/>
        </p:spPr>
        <p:txBody>
          <a:bodyPr wrap="square" lIns="0" tIns="0" rIns="0" bIns="0" rtlCol="0" anchor="t">
            <a:noAutofit/>
          </a:bodyPr>
          <a:lstStyle/>
          <a:p>
            <a:pPr marL="0" indent="0" algn="l">
              <a:lnSpc>
                <a:spcPts val="1820"/>
              </a:lnSpc>
              <a:buNone/>
            </a:pPr>
            <a:r>
              <a:rPr lang="es-ES" sz="1300">
                <a:solidFill>
                  <a:srgbClr val="FFFFFF"/>
                </a:solidFill>
                <a:latin typeface="Arial" pitchFamily="34" charset="0"/>
                <a:ea typeface="Arial" pitchFamily="34" charset="-122"/>
                <a:cs typeface="Arial" pitchFamily="34" charset="-120"/>
              </a:rPr>
              <a:t>esito y: y / 2^m ≈ s / r</a:t>
            </a:r>
            <a:endParaRPr lang="en-US" sz="1300" dirty="0"/>
          </a:p>
        </p:txBody>
      </p:sp>
      <p:pic>
        <p:nvPicPr>
          <p:cNvPr id="20" name="Image 4" descr="arrow-right"/>
          <p:cNvPicPr>
            <a:picLocks noChangeAspect="1"/>
          </p:cNvPicPr>
          <p:nvPr/>
        </p:nvPicPr>
        <p:blipFill>
          <a:blip r:embed="rId3"/>
          <a:srcRect/>
          <a:stretch/>
        </p:blipFill>
        <p:spPr>
          <a:xfrm>
            <a:off x="8807450" y="2212330"/>
            <a:ext cx="279400" cy="177800"/>
          </a:xfrm>
          <a:prstGeom prst="rect">
            <a:avLst/>
          </a:prstGeom>
        </p:spPr>
      </p:pic>
      <p:sp>
        <p:nvSpPr>
          <p:cNvPr id="21" name="Shape 14"/>
          <p:cNvSpPr/>
          <p:nvPr/>
        </p:nvSpPr>
        <p:spPr>
          <a:xfrm>
            <a:off x="9163050" y="1422400"/>
            <a:ext cx="2419350" cy="1757660"/>
          </a:xfrm>
          <a:prstGeom prst="roundRect">
            <a:avLst>
              <a:gd name="adj" fmla="val 7226"/>
            </a:avLst>
          </a:prstGeom>
          <a:solidFill>
            <a:srgbClr val="125C97"/>
          </a:solidFill>
          <a:ln/>
        </p:spPr>
        <p:txBody>
          <a:bodyPr/>
          <a:lstStyle/>
          <a:p>
            <a:endParaRPr lang="en-GB"/>
          </a:p>
        </p:txBody>
      </p:sp>
      <p:sp>
        <p:nvSpPr>
          <p:cNvPr id="22" name="Text 15"/>
          <p:cNvSpPr/>
          <p:nvPr/>
        </p:nvSpPr>
        <p:spPr>
          <a:xfrm>
            <a:off x="92646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4</a:t>
            </a:r>
            <a:endParaRPr lang="en-US" sz="1800" dirty="0"/>
          </a:p>
        </p:txBody>
      </p:sp>
      <p:sp>
        <p:nvSpPr>
          <p:cNvPr id="23" name="Text 16"/>
          <p:cNvSpPr/>
          <p:nvPr/>
        </p:nvSpPr>
        <p:spPr>
          <a:xfrm>
            <a:off x="92646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Post-processing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24" name="Text 17"/>
          <p:cNvSpPr/>
          <p:nvPr/>
        </p:nvSpPr>
        <p:spPr>
          <a:xfrm>
            <a:off x="926465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a:solidFill>
                  <a:srgbClr val="FFFFFF"/>
                </a:solidFill>
                <a:latin typeface="Arial" pitchFamily="34" charset="0"/>
                <a:ea typeface="Arial" pitchFamily="34" charset="-122"/>
                <a:cs typeface="Arial" pitchFamily="34" charset="-120"/>
              </a:rPr>
              <a:t>frazioni continue e MCD</a:t>
            </a:r>
            <a:endParaRPr lang="en-US" sz="1300" dirty="0"/>
          </a:p>
        </p:txBody>
      </p:sp>
      <p:pic>
        <p:nvPicPr>
          <p:cNvPr id="25" name="Image 5" descr="Grafico di 7^x mod 15 per x da 0 a 11: la sequenza 1, 7, 4, 13 si ripete ogni quattro valori"/>
          <p:cNvPicPr>
            <a:picLocks noChangeAspect="1"/>
          </p:cNvPicPr>
          <p:nvPr/>
        </p:nvPicPr>
        <p:blipFill>
          <a:blip r:embed="rId4"/>
          <a:srcRect t="-50" b="-50"/>
          <a:stretch/>
        </p:blipFill>
        <p:spPr>
          <a:xfrm>
            <a:off x="609600" y="3357860"/>
            <a:ext cx="6604000" cy="2146300"/>
          </a:xfrm>
          <a:prstGeom prst="rect">
            <a:avLst/>
          </a:prstGeom>
        </p:spPr>
      </p:pic>
      <p:sp>
        <p:nvSpPr>
          <p:cNvPr id="26" name="Text 18"/>
          <p:cNvSpPr/>
          <p:nvPr/>
        </p:nvSpPr>
        <p:spPr>
          <a:xfrm>
            <a:off x="609600" y="5631160"/>
            <a:ext cx="6802120" cy="685800"/>
          </a:xfrm>
          <a:prstGeom prst="rect">
            <a:avLst/>
          </a:prstGeom>
          <a:noFill/>
          <a:ln/>
        </p:spPr>
        <p:txBody>
          <a:bodyPr wrap="square" lIns="0" tIns="0" rIns="0" bIns="0" rtlCol="0" anchor="t">
            <a:normAutofit fontScale="77500" lnSpcReduction="20000"/>
          </a:bodyPr>
          <a:lstStyle/>
          <a:p>
            <a:pPr marL="0" indent="0" algn="l">
              <a:lnSpc>
                <a:spcPts val="2600"/>
              </a:lnSpc>
              <a:buNone/>
            </a:pPr>
            <a:r>
              <a:rPr lang="en-US" sz="2000" dirty="0">
                <a:solidFill>
                  <a:srgbClr val="1F2933"/>
                </a:solidFill>
                <a:latin typeface="Arial" pitchFamily="34" charset="0"/>
                <a:ea typeface="Arial" pitchFamily="34" charset="-122"/>
                <a:cs typeface="Arial" pitchFamily="34" charset="-120"/>
              </a:rPr>
              <a:t>N da fattorizzare, a base coprima con N, r periodo di a^x mod N. Con N = 15 e a = 7, 7^x mod 15 si ripete ogni 4 valori: </a:t>
            </a:r>
            <a:r>
              <a:rPr lang="en-US" sz="2000" b="1" dirty="0">
                <a:solidFill>
                  <a:srgbClr val="1F2933"/>
                </a:solidFill>
                <a:latin typeface="Arial" pitchFamily="34" charset="0"/>
                <a:ea typeface="Arial" pitchFamily="34" charset="-122"/>
                <a:cs typeface="Arial" pitchFamily="34" charset="-120"/>
              </a:rPr>
              <a:t>r = 4</a:t>
            </a:r>
            <a:r>
              <a:rPr lang="en-US" sz="2000" dirty="0">
                <a:solidFill>
                  <a:srgbClr val="1F2933"/>
                </a:solidFill>
                <a:latin typeface="Arial" pitchFamily="34" charset="0"/>
                <a:ea typeface="Arial" pitchFamily="34" charset="-122"/>
                <a:cs typeface="Arial" pitchFamily="34" charset="-120"/>
              </a:rPr>
              <a:t>, da cui </a:t>
            </a:r>
            <a:r>
              <a:rPr lang="en-US" sz="2000" b="1" dirty="0">
                <a:solidFill>
                  <a:srgbClr val="1F2933"/>
                </a:solidFill>
                <a:latin typeface="Arial" pitchFamily="34" charset="0"/>
                <a:ea typeface="Arial" pitchFamily="34" charset="-122"/>
                <a:cs typeface="Arial" pitchFamily="34" charset="-120"/>
              </a:rPr>
              <a:t>15 = 3 × 5</a:t>
            </a:r>
            <a:r>
              <a:rPr lang="en-US" sz="2000" dirty="0">
                <a:solidFill>
                  <a:srgbClr val="1F2933"/>
                </a:solidFill>
                <a:latin typeface="Arial" pitchFamily="34" charset="0"/>
                <a:ea typeface="Arial" pitchFamily="34" charset="-122"/>
                <a:cs typeface="Arial" pitchFamily="34" charset="-120"/>
              </a:rPr>
              <a:t>.</a:t>
            </a:r>
            <a:endParaRPr lang="en-US" sz="2000" dirty="0"/>
          </a:p>
        </p:txBody>
      </p:sp>
      <p:pic>
        <p:nvPicPr>
          <p:cNvPr id="27" name="Image 6" descr="Circuito di Shor per N = 15: otto qubit di controllo con Hadamard, moltiplicazioni modulari controllate sul registro di lavoro, QFT inversa e misura"/>
          <p:cNvPicPr>
            <a:picLocks noChangeAspect="1"/>
          </p:cNvPicPr>
          <p:nvPr/>
        </p:nvPicPr>
        <p:blipFill>
          <a:blip r:embed="rId5"/>
          <a:srcRect l="-18" r="-18"/>
          <a:stretch/>
        </p:blipFill>
        <p:spPr>
          <a:xfrm>
            <a:off x="8375650" y="3357860"/>
            <a:ext cx="2349500" cy="2273300"/>
          </a:xfrm>
          <a:prstGeom prst="rect">
            <a:avLst/>
          </a:prstGeom>
        </p:spPr>
      </p:pic>
      <p:sp>
        <p:nvSpPr>
          <p:cNvPr id="28" name="Text 19"/>
          <p:cNvSpPr/>
          <p:nvPr/>
        </p:nvSpPr>
        <p:spPr>
          <a:xfrm>
            <a:off x="7518400" y="5707360"/>
            <a:ext cx="4185920" cy="71879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B6573"/>
                </a:solidFill>
                <a:latin typeface="Arial" pitchFamily="34" charset="0"/>
                <a:ea typeface="Arial" pitchFamily="34" charset="-122"/>
                <a:cs typeface="Arial" pitchFamily="34" charset="-120"/>
              </a:rPr>
              <a:t>Circuito per N = 15: 8 qubit di controllo (C) e 4 di lavoro (T), esponenziazione modulare controllata, QFT inversa e misura</a:t>
            </a:r>
            <a:endParaRPr lang="en-US" sz="1400" dirty="0"/>
          </a:p>
        </p:txBody>
      </p:sp>
      <p:sp>
        <p:nvSpPr>
          <p:cNvPr id="31" name="Rectangle 30">
            <a:extLst>
              <a:ext uri="{FF2B5EF4-FFF2-40B4-BE49-F238E27FC236}">
                <a16:creationId xmlns:a16="http://schemas.microsoft.com/office/drawing/2014/main" id="{8936EAE4-D3F4-CE9C-7102-79F539B5E879}"/>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funziona l'algoritmo di Shor</a:t>
            </a:r>
            <a:endParaRPr sz="2700" b="0">
              <a:solidFill>
                <a:srgbClr val="003366"/>
              </a:solidFill>
              <a:latin typeface="Arial"/>
              <a:ea typeface="Arial"/>
              <a:cs typeface="Arial"/>
            </a:endParaRPr>
          </a:p>
        </p:txBody>
      </p:sp>
      <p:pic>
        <p:nvPicPr>
          <p:cNvPr id="32" name="Picture 31">
            <a:extLst>
              <a:ext uri="{FF2B5EF4-FFF2-40B4-BE49-F238E27FC236}">
                <a16:creationId xmlns:a16="http://schemas.microsoft.com/office/drawing/2014/main" id="{51215FA5-569D-E798-EB49-460B98022349}"/>
              </a:ext>
            </a:extLst>
          </p:cNvPr>
          <p:cNvPicPr>
            <a:picLocks noChangeAspect="1"/>
          </p:cNvPicPr>
          <p:nvPr/>
        </p:nvPicPr>
        <p:blipFill>
          <a:blip r:embed="rId6"/>
          <a:stretch/>
        </p:blipFill>
        <p:spPr>
          <a:xfrm>
            <a:off x="10896600" y="243116"/>
            <a:ext cx="838200" cy="694869"/>
          </a:xfrm>
          <a:prstGeom prst="rect">
            <a:avLst/>
          </a:prstGeom>
        </p:spPr>
      </p:pic>
      <p:sp>
        <p:nvSpPr>
          <p:cNvPr id="33" name="Rectangle 32">
            <a:extLst>
              <a:ext uri="{FF2B5EF4-FFF2-40B4-BE49-F238E27FC236}">
                <a16:creationId xmlns:a16="http://schemas.microsoft.com/office/drawing/2014/main" id="{13330CE6-81CE-3B3E-6A94-7253F8038753}"/>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34" name="Rectangle 33">
            <a:extLst>
              <a:ext uri="{FF2B5EF4-FFF2-40B4-BE49-F238E27FC236}">
                <a16:creationId xmlns:a16="http://schemas.microsoft.com/office/drawing/2014/main" id="{5D040118-4907-CF50-04A9-BED2E35E427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5</a:t>
            </a:r>
            <a:endParaRPr sz="1200" b="0">
              <a:solidFill>
                <a:srgbClr val="203344"/>
              </a:solidFill>
              <a:latin typeface="Arial"/>
              <a:ea typeface="Arial"/>
              <a:cs typeface="Arial"/>
            </a:endParaRPr>
          </a:p>
        </p:txBody>
      </p:sp>
    </p:spTree>
    <p:extLst>
      <p:ext uri="{BB962C8B-B14F-4D97-AF65-F5344CB8AC3E}">
        <p14:creationId xmlns:p14="http://schemas.microsoft.com/office/powerpoint/2010/main" val="413659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CBE55B9-0BF3-4ED3-94B7-89985EB4C9DF}"/>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Obiettivi: tre livelli di intervento</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57CE2B40-AB4D-4979-A415-E01B0545C07E}"/>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CE360A6F-4367-422B-AEF8-30EFFA8D3F0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6</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50934A3F-BEB0-47B2-BE56-FBB3CB1E0DE9}"/>
              </a:ext>
            </a:extLst>
          </p:cNvPr>
          <p:cNvSpPr>
            <a:spLocks noGrp="1"/>
          </p:cNvSpPr>
          <p:nvPr/>
        </p:nvSpPr>
        <p:spPr>
          <a:xfrm>
            <a:off x="609600" y="1371600"/>
            <a:ext cx="10972800" cy="619125"/>
          </a:xfrm>
          <a:prstGeom prst="rect">
            <a:avLst/>
          </a:prstGeom>
          <a:noFill/>
          <a:ln w="0">
            <a:noFill/>
          </a:ln>
        </p:spPr>
        <p:txBody>
          <a:bodyPr>
            <a:noAutofit/>
          </a:bodyPr>
          <a:lstStyle/>
          <a:p>
            <a:pPr>
              <a:defRPr sz="2250" b="0">
                <a:solidFill>
                  <a:srgbClr val="203344"/>
                </a:solidFill>
                <a:latin typeface="Arial"/>
                <a:ea typeface="Arial"/>
                <a:cs typeface="Arial"/>
              </a:defRPr>
            </a:pPr>
            <a:r>
              <a:rPr lang="it-IT" sz="1950" b="0">
                <a:solidFill>
                  <a:srgbClr val="203344"/>
                </a:solidFill>
                <a:latin typeface="Arial"/>
                <a:ea typeface="Arial"/>
                <a:cs typeface="Arial"/>
              </a:rPr>
              <a:t>In letteratura le tecniche anti-rumore raramente sono confrontate con la baseline corretta: per questo ognuna ha il suo riferimento.</a:t>
            </a:r>
            <a:endParaRPr sz="195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48937A4B-E62D-43EB-9D19-E457997D6ABD}"/>
              </a:ext>
            </a:extLst>
          </p:cNvPr>
          <p:cNvSpPr>
            <a:spLocks noGrp="1"/>
          </p:cNvSpPr>
          <p:nvPr/>
        </p:nvSpPr>
        <p:spPr>
          <a:xfrm>
            <a:off x="1095375" y="229552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BC777D03-6AAE-481E-97F2-580D13ADB657}"/>
              </a:ext>
            </a:extLst>
          </p:cNvPr>
          <p:cNvSpPr>
            <a:spLocks noGrp="1"/>
          </p:cNvSpPr>
          <p:nvPr/>
        </p:nvSpPr>
        <p:spPr>
          <a:xfrm>
            <a:off x="2009775" y="2295525"/>
            <a:ext cx="908685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Post-processing e machine learning</a:t>
            </a:r>
          </a:p>
        </p:txBody>
      </p:sp>
      <p:sp>
        <p:nvSpPr>
          <p:cNvPr id="8" name="Rectangle 7">
            <a:extLst>
              <a:ext uri="{FF2B5EF4-FFF2-40B4-BE49-F238E27FC236}">
                <a16:creationId xmlns:a16="http://schemas.microsoft.com/office/drawing/2014/main" id="{6C4B7239-FB1A-4B97-A268-4FAA69DE0159}"/>
              </a:ext>
            </a:extLst>
          </p:cNvPr>
          <p:cNvSpPr>
            <a:spLocks noGrp="1"/>
          </p:cNvSpPr>
          <p:nvPr/>
        </p:nvSpPr>
        <p:spPr>
          <a:xfrm>
            <a:off x="2228850" y="2838450"/>
            <a:ext cx="8763000"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Sfruttare gli esiti misurati e isolare il contributo del classificatore</a:t>
            </a:r>
          </a:p>
        </p:txBody>
      </p:sp>
      <p:sp>
        <p:nvSpPr>
          <p:cNvPr id="9" name="Rectangle 8">
            <a:extLst>
              <a:ext uri="{FF2B5EF4-FFF2-40B4-BE49-F238E27FC236}">
                <a16:creationId xmlns:a16="http://schemas.microsoft.com/office/drawing/2014/main" id="{506C6132-88F9-48AB-8CBC-D7F2CEE1B9F3}"/>
              </a:ext>
            </a:extLst>
          </p:cNvPr>
          <p:cNvSpPr>
            <a:spLocks noGrp="1"/>
          </p:cNvSpPr>
          <p:nvPr/>
        </p:nvSpPr>
        <p:spPr>
          <a:xfrm>
            <a:off x="1095375" y="353377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EC68111B-EFD4-4929-B3C1-5C45623EF4CD}"/>
              </a:ext>
            </a:extLst>
          </p:cNvPr>
          <p:cNvSpPr>
            <a:spLocks noGrp="1"/>
          </p:cNvSpPr>
          <p:nvPr/>
        </p:nvSpPr>
        <p:spPr>
          <a:xfrm>
            <a:off x="2009775" y="3533775"/>
            <a:ext cx="908685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Correzione quantistica degli errori</a:t>
            </a:r>
          </a:p>
        </p:txBody>
      </p:sp>
      <p:sp>
        <p:nvSpPr>
          <p:cNvPr id="11" name="Rectangle 10">
            <a:extLst>
              <a:ext uri="{FF2B5EF4-FFF2-40B4-BE49-F238E27FC236}">
                <a16:creationId xmlns:a16="http://schemas.microsoft.com/office/drawing/2014/main" id="{D6A6BC79-BC15-4FB5-97CA-39F448DF41B1}"/>
              </a:ext>
            </a:extLst>
          </p:cNvPr>
          <p:cNvSpPr>
            <a:spLocks noGrp="1"/>
          </p:cNvSpPr>
          <p:nvPr/>
        </p:nvSpPr>
        <p:spPr>
          <a:xfrm>
            <a:off x="2228850" y="4076700"/>
            <a:ext cx="8763000"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Confrontare codici e decoder in esperimenti di memoria</a:t>
            </a:r>
          </a:p>
        </p:txBody>
      </p:sp>
      <p:sp>
        <p:nvSpPr>
          <p:cNvPr id="12" name="Rectangle 11">
            <a:extLst>
              <a:ext uri="{FF2B5EF4-FFF2-40B4-BE49-F238E27FC236}">
                <a16:creationId xmlns:a16="http://schemas.microsoft.com/office/drawing/2014/main" id="{162EFA4D-092A-455C-8BB9-A0D3EB766AFD}"/>
              </a:ext>
            </a:extLst>
          </p:cNvPr>
          <p:cNvSpPr>
            <a:spLocks noGrp="1"/>
          </p:cNvSpPr>
          <p:nvPr/>
        </p:nvSpPr>
        <p:spPr>
          <a:xfrm>
            <a:off x="1095375" y="477202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1AA6CD67-FDC1-4122-AEFB-1701EC54A34C}"/>
              </a:ext>
            </a:extLst>
          </p:cNvPr>
          <p:cNvSpPr>
            <a:spLocks noGrp="1"/>
          </p:cNvSpPr>
          <p:nvPr/>
        </p:nvSpPr>
        <p:spPr>
          <a:xfrm>
            <a:off x="2009775" y="4772025"/>
            <a:ext cx="908685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QFT approssimata</a:t>
            </a:r>
          </a:p>
        </p:txBody>
      </p:sp>
      <p:sp>
        <p:nvSpPr>
          <p:cNvPr id="14" name="Rectangle 13">
            <a:extLst>
              <a:ext uri="{FF2B5EF4-FFF2-40B4-BE49-F238E27FC236}">
                <a16:creationId xmlns:a16="http://schemas.microsoft.com/office/drawing/2014/main" id="{1BF968E9-87C9-425C-A65B-1573E27D71E9}"/>
              </a:ext>
            </a:extLst>
          </p:cNvPr>
          <p:cNvSpPr>
            <a:spLocks noGrp="1"/>
          </p:cNvSpPr>
          <p:nvPr/>
        </p:nvSpPr>
        <p:spPr>
          <a:xfrm>
            <a:off x="2228850" y="5314950"/>
            <a:ext cx="8763000"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Ridurre le porte e verificare il successo finale</a:t>
            </a:r>
          </a:p>
        </p:txBody>
      </p:sp>
      <p:sp>
        <p:nvSpPr>
          <p:cNvPr id="15" name="Rectangle 14">
            <a:extLst>
              <a:ext uri="{FF2B5EF4-FFF2-40B4-BE49-F238E27FC236}">
                <a16:creationId xmlns:a16="http://schemas.microsoft.com/office/drawing/2014/main" id="{815905EF-C67D-487C-AE2F-E1461E4776A6}"/>
              </a:ext>
            </a:extLst>
          </p:cNvPr>
          <p:cNvSpPr>
            <a:spLocks noGrp="1"/>
          </p:cNvSpPr>
          <p:nvPr/>
        </p:nvSpPr>
        <p:spPr>
          <a:xfrm>
            <a:off x="1095375" y="6096000"/>
            <a:ext cx="10382250" cy="333375"/>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Campagne separate: la QEC non è integrata nell’intero algoritmo di Shor.</a:t>
            </a:r>
          </a:p>
        </p:txBody>
      </p:sp>
    </p:spTree>
    <p:extLst>
      <p:ext uri="{BB962C8B-B14F-4D97-AF65-F5344CB8AC3E}">
        <p14:creationId xmlns:p14="http://schemas.microsoft.com/office/powerpoint/2010/main" val="331867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CDE1CEA5-D38D-13AD-8C1D-B082F56983AE}"/>
              </a:ext>
            </a:extLst>
          </p:cNvPr>
          <p:cNvCxnSpPr/>
          <p:nvPr/>
        </p:nvCxnSpPr>
        <p:spPr>
          <a:xfrm>
            <a:off x="10096500" y="3937000"/>
            <a:ext cx="0" cy="254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FB078F3-1E38-1156-C358-FBCEF54B21FD}"/>
              </a:ext>
            </a:extLst>
          </p:cNvPr>
          <p:cNvCxnSpPr/>
          <p:nvPr/>
        </p:nvCxnSpPr>
        <p:spPr>
          <a:xfrm>
            <a:off x="100965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DFDC7D-D9C4-A354-277B-AC1BD6237B5B}"/>
              </a:ext>
            </a:extLst>
          </p:cNvPr>
          <p:cNvCxnSpPr/>
          <p:nvPr/>
        </p:nvCxnSpPr>
        <p:spPr>
          <a:xfrm>
            <a:off x="7404100" y="2616200"/>
            <a:ext cx="0" cy="15748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7C54456-225C-9E0A-3038-DD3974C96199}"/>
              </a:ext>
            </a:extLst>
          </p:cNvPr>
          <p:cNvCxnSpPr/>
          <p:nvPr/>
        </p:nvCxnSpPr>
        <p:spPr>
          <a:xfrm>
            <a:off x="47117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Dove interviene ciascuna strategia</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7</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1A406BA-430E-F9F0-8B64-5BEFA86E6FCC}"/>
              </a:ext>
            </a:extLst>
          </p:cNvPr>
          <p:cNvSpPr/>
          <p:nvPr/>
        </p:nvSpPr>
        <p:spPr>
          <a:xfrm>
            <a:off x="609600" y="1270000"/>
            <a:ext cx="10972800" cy="1498600"/>
          </a:xfrm>
          <a:prstGeom prst="roundRect">
            <a:avLst>
              <a:gd name="adj" fmla="val 8000"/>
            </a:avLst>
          </a:prstGeom>
          <a:solidFill>
            <a:srgbClr val="F7EDCB"/>
          </a:solidFill>
          <a:ln w="19050">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B203B3D3-C539-C346-D1CF-D1F6ACEB3D39}"/>
              </a:ext>
            </a:extLst>
          </p:cNvPr>
          <p:cNvSpPr txBox="1"/>
          <p:nvPr/>
        </p:nvSpPr>
        <p:spPr>
          <a:xfrm>
            <a:off x="762000" y="1320800"/>
            <a:ext cx="5080000" cy="369332"/>
          </a:xfrm>
          <a:prstGeom prst="rect">
            <a:avLst/>
          </a:prstGeom>
          <a:noFill/>
        </p:spPr>
        <p:txBody>
          <a:bodyPr vert="horz" wrap="square" rtlCol="0">
            <a:noAutofit/>
          </a:bodyPr>
          <a:lstStyle/>
          <a:p>
            <a:r>
              <a:rPr lang="en-GB" sz="1500" b="1">
                <a:solidFill>
                  <a:srgbClr val="7A5C12"/>
                </a:solidFill>
                <a:latin typeface="Arial" panose="020B0604020202020204" pitchFamily="34" charset="0"/>
              </a:rPr>
              <a:t>Algoritmo di Shor</a:t>
            </a:r>
          </a:p>
        </p:txBody>
      </p:sp>
      <p:sp>
        <p:nvSpPr>
          <p:cNvPr id="7" name="Rectangle: Rounded Corners 6">
            <a:extLst>
              <a:ext uri="{FF2B5EF4-FFF2-40B4-BE49-F238E27FC236}">
                <a16:creationId xmlns:a16="http://schemas.microsoft.com/office/drawing/2014/main" id="{BD9FE72F-AB6F-CE56-3C1B-0CE1FF3977B9}"/>
              </a:ext>
            </a:extLst>
          </p:cNvPr>
          <p:cNvSpPr/>
          <p:nvPr/>
        </p:nvSpPr>
        <p:spPr>
          <a:xfrm>
            <a:off x="7874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379D2604-111F-A13D-FD56-97652F0186E6}"/>
              </a:ext>
            </a:extLst>
          </p:cNvPr>
          <p:cNvSpPr txBox="1"/>
          <p:nvPr/>
        </p:nvSpPr>
        <p:spPr>
          <a:xfrm>
            <a:off x="869499"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Scelta di a</a:t>
            </a:r>
          </a:p>
        </p:txBody>
      </p:sp>
      <p:sp>
        <p:nvSpPr>
          <p:cNvPr id="9" name="TextBox 8">
            <a:extLst>
              <a:ext uri="{FF2B5EF4-FFF2-40B4-BE49-F238E27FC236}">
                <a16:creationId xmlns:a16="http://schemas.microsoft.com/office/drawing/2014/main" id="{7F8CE3D5-7F36-50F1-4688-D82C9F52A02A}"/>
              </a:ext>
            </a:extLst>
          </p:cNvPr>
          <p:cNvSpPr txBox="1"/>
          <p:nvPr/>
        </p:nvSpPr>
        <p:spPr>
          <a:xfrm>
            <a:off x="8636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MCD(a, N) = 1</a:t>
            </a:r>
          </a:p>
        </p:txBody>
      </p:sp>
      <p:sp>
        <p:nvSpPr>
          <p:cNvPr id="10" name="Arrow: Right 9">
            <a:extLst>
              <a:ext uri="{FF2B5EF4-FFF2-40B4-BE49-F238E27FC236}">
                <a16:creationId xmlns:a16="http://schemas.microsoft.com/office/drawing/2014/main" id="{4FA152F5-7E2E-B567-3239-3CB985534EAA}"/>
              </a:ext>
            </a:extLst>
          </p:cNvPr>
          <p:cNvSpPr/>
          <p:nvPr/>
        </p:nvSpPr>
        <p:spPr>
          <a:xfrm>
            <a:off x="32766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B2F76A79-3800-1435-88FB-8FB9609CB385}"/>
              </a:ext>
            </a:extLst>
          </p:cNvPr>
          <p:cNvSpPr/>
          <p:nvPr/>
        </p:nvSpPr>
        <p:spPr>
          <a:xfrm>
            <a:off x="34798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F43BCDA-4513-C925-0E03-AEBDB0987056}"/>
              </a:ext>
            </a:extLst>
          </p:cNvPr>
          <p:cNvSpPr txBox="1"/>
          <p:nvPr/>
        </p:nvSpPr>
        <p:spPr>
          <a:xfrm>
            <a:off x="35560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Esponenziazione modulare</a:t>
            </a:r>
          </a:p>
        </p:txBody>
      </p:sp>
      <p:sp>
        <p:nvSpPr>
          <p:cNvPr id="13" name="TextBox 12">
            <a:extLst>
              <a:ext uri="{FF2B5EF4-FFF2-40B4-BE49-F238E27FC236}">
                <a16:creationId xmlns:a16="http://schemas.microsoft.com/office/drawing/2014/main" id="{64378A2F-F034-45ED-9900-8392E8A977BA}"/>
              </a:ext>
            </a:extLst>
          </p:cNvPr>
          <p:cNvSpPr txBox="1"/>
          <p:nvPr/>
        </p:nvSpPr>
        <p:spPr>
          <a:xfrm>
            <a:off x="35560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stima di fase (QPE)</a:t>
            </a:r>
          </a:p>
        </p:txBody>
      </p:sp>
      <p:sp>
        <p:nvSpPr>
          <p:cNvPr id="14" name="Arrow: Right 13">
            <a:extLst>
              <a:ext uri="{FF2B5EF4-FFF2-40B4-BE49-F238E27FC236}">
                <a16:creationId xmlns:a16="http://schemas.microsoft.com/office/drawing/2014/main" id="{FAD6E5CD-208C-6E07-9B48-CABEB14C5734}"/>
              </a:ext>
            </a:extLst>
          </p:cNvPr>
          <p:cNvSpPr/>
          <p:nvPr/>
        </p:nvSpPr>
        <p:spPr>
          <a:xfrm>
            <a:off x="59690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C91D1915-4C4B-71BF-1D11-C89B7D8B7222}"/>
              </a:ext>
            </a:extLst>
          </p:cNvPr>
          <p:cNvSpPr/>
          <p:nvPr/>
        </p:nvSpPr>
        <p:spPr>
          <a:xfrm>
            <a:off x="61722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10BC7FA2-A5A5-149C-EABE-EA68AB38DC09}"/>
              </a:ext>
            </a:extLst>
          </p:cNvPr>
          <p:cNvSpPr txBox="1"/>
          <p:nvPr/>
        </p:nvSpPr>
        <p:spPr>
          <a:xfrm>
            <a:off x="62484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QFT inversa</a:t>
            </a:r>
          </a:p>
        </p:txBody>
      </p:sp>
      <p:sp>
        <p:nvSpPr>
          <p:cNvPr id="17" name="TextBox 16">
            <a:extLst>
              <a:ext uri="{FF2B5EF4-FFF2-40B4-BE49-F238E27FC236}">
                <a16:creationId xmlns:a16="http://schemas.microsoft.com/office/drawing/2014/main" id="{3B513393-831B-C90D-5BCD-591EB8FE277A}"/>
              </a:ext>
            </a:extLst>
          </p:cNvPr>
          <p:cNvSpPr txBox="1"/>
          <p:nvPr/>
        </p:nvSpPr>
        <p:spPr>
          <a:xfrm>
            <a:off x="62484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rotazioni controllate</a:t>
            </a:r>
          </a:p>
        </p:txBody>
      </p:sp>
      <p:sp>
        <p:nvSpPr>
          <p:cNvPr id="50" name="Arrow: Right 49">
            <a:extLst>
              <a:ext uri="{FF2B5EF4-FFF2-40B4-BE49-F238E27FC236}">
                <a16:creationId xmlns:a16="http://schemas.microsoft.com/office/drawing/2014/main" id="{29DEC9FE-10C7-271F-ABEB-4B97B4321FCD}"/>
              </a:ext>
            </a:extLst>
          </p:cNvPr>
          <p:cNvSpPr/>
          <p:nvPr/>
        </p:nvSpPr>
        <p:spPr>
          <a:xfrm>
            <a:off x="86614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Rounded Corners 50">
            <a:extLst>
              <a:ext uri="{FF2B5EF4-FFF2-40B4-BE49-F238E27FC236}">
                <a16:creationId xmlns:a16="http://schemas.microsoft.com/office/drawing/2014/main" id="{5804AC16-C84A-4973-1E3A-33EF6EF0CE42}"/>
              </a:ext>
            </a:extLst>
          </p:cNvPr>
          <p:cNvSpPr/>
          <p:nvPr/>
        </p:nvSpPr>
        <p:spPr>
          <a:xfrm>
            <a:off x="88646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646B5660-21FE-82E2-FF02-0E010D013066}"/>
              </a:ext>
            </a:extLst>
          </p:cNvPr>
          <p:cNvSpPr txBox="1"/>
          <p:nvPr/>
        </p:nvSpPr>
        <p:spPr>
          <a:xfrm>
            <a:off x="89408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Misura</a:t>
            </a:r>
          </a:p>
        </p:txBody>
      </p:sp>
      <p:sp>
        <p:nvSpPr>
          <p:cNvPr id="53" name="TextBox 52">
            <a:extLst>
              <a:ext uri="{FF2B5EF4-FFF2-40B4-BE49-F238E27FC236}">
                <a16:creationId xmlns:a16="http://schemas.microsoft.com/office/drawing/2014/main" id="{1A21D735-A996-BECE-47BE-974260D6411D}"/>
              </a:ext>
            </a:extLst>
          </p:cNvPr>
          <p:cNvSpPr txBox="1"/>
          <p:nvPr/>
        </p:nvSpPr>
        <p:spPr>
          <a:xfrm>
            <a:off x="89408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istogramma degli esiti</a:t>
            </a:r>
          </a:p>
        </p:txBody>
      </p:sp>
      <p:sp>
        <p:nvSpPr>
          <p:cNvPr id="56" name="Rectangle: Rounded Corners 55">
            <a:extLst>
              <a:ext uri="{FF2B5EF4-FFF2-40B4-BE49-F238E27FC236}">
                <a16:creationId xmlns:a16="http://schemas.microsoft.com/office/drawing/2014/main" id="{F8702F06-AC41-A784-75A6-8A63F848BF2E}"/>
              </a:ext>
            </a:extLst>
          </p:cNvPr>
          <p:cNvSpPr/>
          <p:nvPr/>
        </p:nvSpPr>
        <p:spPr>
          <a:xfrm>
            <a:off x="6172200" y="41910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86D805D8-D26E-2153-32FC-2D467B951E73}"/>
              </a:ext>
            </a:extLst>
          </p:cNvPr>
          <p:cNvSpPr txBox="1"/>
          <p:nvPr/>
        </p:nvSpPr>
        <p:spPr>
          <a:xfrm>
            <a:off x="62992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QFT approssimata</a:t>
            </a:r>
            <a:endParaRPr lang="en-GB" sz="1500" b="1" dirty="0">
              <a:solidFill>
                <a:srgbClr val="4B2E83"/>
              </a:solidFill>
              <a:latin typeface="Arial" panose="020B0604020202020204" pitchFamily="34" charset="0"/>
            </a:endParaRPr>
          </a:p>
        </p:txBody>
      </p:sp>
      <p:sp>
        <p:nvSpPr>
          <p:cNvPr id="58" name="TextBox 57">
            <a:extLst>
              <a:ext uri="{FF2B5EF4-FFF2-40B4-BE49-F238E27FC236}">
                <a16:creationId xmlns:a16="http://schemas.microsoft.com/office/drawing/2014/main" id="{70E09711-6032-D441-5BEC-D255762B5C0F}"/>
              </a:ext>
            </a:extLst>
          </p:cNvPr>
          <p:cNvSpPr txBox="1"/>
          <p:nvPr/>
        </p:nvSpPr>
        <p:spPr>
          <a:xfrm>
            <a:off x="6299200" y="4572000"/>
            <a:ext cx="2209800" cy="369332"/>
          </a:xfrm>
          <a:prstGeom prst="rect">
            <a:avLst/>
          </a:prstGeom>
          <a:noFill/>
        </p:spPr>
        <p:txBody>
          <a:bodyPr vert="horz" wrap="square" rtlCol="0">
            <a:noAutofit/>
          </a:bodyPr>
          <a:lstStyle/>
          <a:p>
            <a:r>
              <a:rPr lang="it-IT" sz="1275" dirty="0">
                <a:solidFill>
                  <a:srgbClr val="203344"/>
                </a:solidFill>
                <a:latin typeface="Arial" panose="020B0604020202020204" pitchFamily="34" charset="0"/>
              </a:rPr>
              <a:t>toglie le rotazioni di piccolo angolo</a:t>
            </a:r>
            <a:endParaRPr lang="en-GB" sz="1275" dirty="0">
              <a:solidFill>
                <a:srgbClr val="203344"/>
              </a:solidFill>
              <a:latin typeface="Arial" panose="020B0604020202020204" pitchFamily="34" charset="0"/>
            </a:endParaRPr>
          </a:p>
        </p:txBody>
      </p:sp>
      <p:sp>
        <p:nvSpPr>
          <p:cNvPr id="59" name="Rectangle: Rounded Corners 58">
            <a:extLst>
              <a:ext uri="{FF2B5EF4-FFF2-40B4-BE49-F238E27FC236}">
                <a16:creationId xmlns:a16="http://schemas.microsoft.com/office/drawing/2014/main" id="{7D7FE52C-2C69-C699-AE2B-42253A1D7671}"/>
              </a:ext>
            </a:extLst>
          </p:cNvPr>
          <p:cNvSpPr/>
          <p:nvPr/>
        </p:nvSpPr>
        <p:spPr>
          <a:xfrm>
            <a:off x="8864600" y="29972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TextBox 59">
            <a:extLst>
              <a:ext uri="{FF2B5EF4-FFF2-40B4-BE49-F238E27FC236}">
                <a16:creationId xmlns:a16="http://schemas.microsoft.com/office/drawing/2014/main" id="{DD1271B2-1BD1-2C08-298C-BB17D381E5F9}"/>
              </a:ext>
            </a:extLst>
          </p:cNvPr>
          <p:cNvSpPr txBox="1"/>
          <p:nvPr/>
        </p:nvSpPr>
        <p:spPr>
          <a:xfrm>
            <a:off x="8991600" y="30607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Post-processing</a:t>
            </a:r>
          </a:p>
        </p:txBody>
      </p:sp>
      <p:sp>
        <p:nvSpPr>
          <p:cNvPr id="61" name="TextBox 60">
            <a:extLst>
              <a:ext uri="{FF2B5EF4-FFF2-40B4-BE49-F238E27FC236}">
                <a16:creationId xmlns:a16="http://schemas.microsoft.com/office/drawing/2014/main" id="{B32AF17F-33DD-27A1-2503-DFC2B928164A}"/>
              </a:ext>
            </a:extLst>
          </p:cNvPr>
          <p:cNvSpPr txBox="1"/>
          <p:nvPr/>
        </p:nvSpPr>
        <p:spPr>
          <a:xfrm>
            <a:off x="8991600" y="33782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verifica classica degli esiti misurati</a:t>
            </a:r>
            <a:endParaRPr lang="en-GB" sz="1275">
              <a:solidFill>
                <a:srgbClr val="203344"/>
              </a:solidFill>
              <a:latin typeface="Arial" panose="020B0604020202020204" pitchFamily="34" charset="0"/>
            </a:endParaRPr>
          </a:p>
        </p:txBody>
      </p:sp>
      <p:sp>
        <p:nvSpPr>
          <p:cNvPr id="63" name="Rectangle: Rounded Corners 62">
            <a:extLst>
              <a:ext uri="{FF2B5EF4-FFF2-40B4-BE49-F238E27FC236}">
                <a16:creationId xmlns:a16="http://schemas.microsoft.com/office/drawing/2014/main" id="{899DB2B1-FCD0-8D4F-AE5F-917B564E2B10}"/>
              </a:ext>
            </a:extLst>
          </p:cNvPr>
          <p:cNvSpPr/>
          <p:nvPr/>
        </p:nvSpPr>
        <p:spPr>
          <a:xfrm>
            <a:off x="8864600" y="4191000"/>
            <a:ext cx="2463800" cy="939800"/>
          </a:xfrm>
          <a:prstGeom prst="roundRect">
            <a:avLst>
              <a:gd name="adj" fmla="val 8000"/>
            </a:avLst>
          </a:prstGeom>
          <a:solidFill>
            <a:srgbClr val="EEE7F7"/>
          </a:solidFill>
          <a:ln w="15875">
            <a:solidFill>
              <a:srgbClr val="6B4F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a:extLst>
              <a:ext uri="{FF2B5EF4-FFF2-40B4-BE49-F238E27FC236}">
                <a16:creationId xmlns:a16="http://schemas.microsoft.com/office/drawing/2014/main" id="{326F084D-93F3-CFB3-2AEF-0176AA102007}"/>
              </a:ext>
            </a:extLst>
          </p:cNvPr>
          <p:cNvSpPr txBox="1"/>
          <p:nvPr/>
        </p:nvSpPr>
        <p:spPr>
          <a:xfrm>
            <a:off x="89916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TOP-K e ML</a:t>
            </a:r>
          </a:p>
        </p:txBody>
      </p:sp>
      <p:sp>
        <p:nvSpPr>
          <p:cNvPr id="65" name="TextBox 64">
            <a:extLst>
              <a:ext uri="{FF2B5EF4-FFF2-40B4-BE49-F238E27FC236}">
                <a16:creationId xmlns:a16="http://schemas.microsoft.com/office/drawing/2014/main" id="{273609B0-B17D-A477-1EAC-F52183F7EA23}"/>
              </a:ext>
            </a:extLst>
          </p:cNvPr>
          <p:cNvSpPr txBox="1"/>
          <p:nvPr/>
        </p:nvSpPr>
        <p:spPr>
          <a:xfrm>
            <a:off x="8991600" y="45720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TOP-1, TOP-4, Metodo 2: quali esiti verificare</a:t>
            </a:r>
            <a:endParaRPr lang="en-GB" sz="1275">
              <a:solidFill>
                <a:srgbClr val="203344"/>
              </a:solidFill>
              <a:latin typeface="Arial" panose="020B0604020202020204" pitchFamily="34" charset="0"/>
            </a:endParaRPr>
          </a:p>
        </p:txBody>
      </p:sp>
      <p:sp>
        <p:nvSpPr>
          <p:cNvPr id="72" name="TextBox 71">
            <a:extLst>
              <a:ext uri="{FF2B5EF4-FFF2-40B4-BE49-F238E27FC236}">
                <a16:creationId xmlns:a16="http://schemas.microsoft.com/office/drawing/2014/main" id="{EB047577-9F9F-1D1C-C350-FB9AAE01B31A}"/>
              </a:ext>
            </a:extLst>
          </p:cNvPr>
          <p:cNvSpPr txBox="1"/>
          <p:nvPr/>
        </p:nvSpPr>
        <p:spPr>
          <a:xfrm>
            <a:off x="609600" y="60452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In giallo l'algoritmo di Shor, in viola i punti in cui ho lavorato.</a:t>
            </a:r>
            <a:endParaRPr lang="en-GB" sz="1950" b="1">
              <a:solidFill>
                <a:srgbClr val="175F99"/>
              </a:solidFill>
              <a:latin typeface="Arial" panose="020B0604020202020204" pitchFamily="34" charset="0"/>
            </a:endParaRPr>
          </a:p>
        </p:txBody>
      </p:sp>
      <p:sp>
        <p:nvSpPr>
          <p:cNvPr id="68" name="Rectangle: Rounded Corners 67">
            <a:extLst>
              <a:ext uri="{FF2B5EF4-FFF2-40B4-BE49-F238E27FC236}">
                <a16:creationId xmlns:a16="http://schemas.microsoft.com/office/drawing/2014/main" id="{591DD65E-84D6-869C-A834-5BCCD873E3BA}"/>
              </a:ext>
            </a:extLst>
          </p:cNvPr>
          <p:cNvSpPr/>
          <p:nvPr/>
        </p:nvSpPr>
        <p:spPr>
          <a:xfrm>
            <a:off x="3479800" y="2997200"/>
            <a:ext cx="51562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TextBox 68">
            <a:extLst>
              <a:ext uri="{FF2B5EF4-FFF2-40B4-BE49-F238E27FC236}">
                <a16:creationId xmlns:a16="http://schemas.microsoft.com/office/drawing/2014/main" id="{C97455E7-7CCA-BE6A-D77C-5C64732A886B}"/>
              </a:ext>
            </a:extLst>
          </p:cNvPr>
          <p:cNvSpPr txBox="1"/>
          <p:nvPr/>
        </p:nvSpPr>
        <p:spPr>
          <a:xfrm>
            <a:off x="3606800" y="3060700"/>
            <a:ext cx="49022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Correzione degli errori (QEC)</a:t>
            </a:r>
          </a:p>
        </p:txBody>
      </p:sp>
      <p:sp>
        <p:nvSpPr>
          <p:cNvPr id="70" name="TextBox 69">
            <a:extLst>
              <a:ext uri="{FF2B5EF4-FFF2-40B4-BE49-F238E27FC236}">
                <a16:creationId xmlns:a16="http://schemas.microsoft.com/office/drawing/2014/main" id="{09239A3F-A0D9-B54E-B6EB-603D0B37DEC0}"/>
              </a:ext>
            </a:extLst>
          </p:cNvPr>
          <p:cNvSpPr txBox="1"/>
          <p:nvPr/>
        </p:nvSpPr>
        <p:spPr>
          <a:xfrm>
            <a:off x="3606800" y="3378200"/>
            <a:ext cx="4902200" cy="369332"/>
          </a:xfrm>
          <a:prstGeom prst="rect">
            <a:avLst/>
          </a:prstGeom>
          <a:noFill/>
        </p:spPr>
        <p:txBody>
          <a:bodyPr vert="horz" wrap="square" rtlCol="0">
            <a:noAutofit/>
          </a:bodyPr>
          <a:lstStyle/>
          <a:p>
            <a:r>
              <a:rPr lang="it-IT" sz="1275" dirty="0" err="1">
                <a:solidFill>
                  <a:srgbClr val="203344"/>
                </a:solidFill>
                <a:latin typeface="Arial" panose="020B0604020202020204" pitchFamily="34" charset="0"/>
              </a:rPr>
              <a:t>surface</a:t>
            </a:r>
            <a:r>
              <a:rPr lang="it-IT" sz="1275" dirty="0">
                <a:solidFill>
                  <a:srgbClr val="203344"/>
                </a:solidFill>
                <a:latin typeface="Arial" panose="020B0604020202020204" pitchFamily="34" charset="0"/>
              </a:rPr>
              <a:t> code e Gross code di IBM: proteggono i qubit durante il calcolo (</a:t>
            </a:r>
            <a:r>
              <a:rPr lang="it-IT" sz="1275" dirty="0" err="1">
                <a:solidFill>
                  <a:srgbClr val="203344"/>
                </a:solidFill>
                <a:latin typeface="Arial" panose="020B0604020202020204" pitchFamily="34" charset="0"/>
              </a:rPr>
              <a:t>esponenziazione</a:t>
            </a:r>
            <a:r>
              <a:rPr lang="it-IT" sz="1275" dirty="0">
                <a:solidFill>
                  <a:srgbClr val="203344"/>
                </a:solidFill>
                <a:latin typeface="Arial" panose="020B0604020202020204" pitchFamily="34" charset="0"/>
              </a:rPr>
              <a:t> e QFT)</a:t>
            </a:r>
            <a:endParaRPr lang="en-GB" sz="1275" dirty="0">
              <a:solidFill>
                <a:srgbClr val="203344"/>
              </a:solidFill>
              <a:latin typeface="Arial" panose="020B0604020202020204" pitchFamily="34" charset="0"/>
            </a:endParaRPr>
          </a:p>
        </p:txBody>
      </p:sp>
    </p:spTree>
    <p:extLst>
      <p:ext uri="{BB962C8B-B14F-4D97-AF65-F5344CB8AC3E}">
        <p14:creationId xmlns:p14="http://schemas.microsoft.com/office/powerpoint/2010/main" val="2417219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si misura il successo di Shor</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8</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11C460D-B10D-C161-F06A-4237E2387A18}"/>
              </a:ext>
            </a:extLst>
          </p:cNvPr>
          <p:cNvSpPr txBox="1"/>
          <p:nvPr/>
        </p:nvSpPr>
        <p:spPr>
          <a:xfrm>
            <a:off x="609600" y="1320800"/>
            <a:ext cx="10972800" cy="369332"/>
          </a:xfrm>
          <a:prstGeom prst="rect">
            <a:avLst/>
          </a:prstGeom>
          <a:noFill/>
        </p:spPr>
        <p:txBody>
          <a:bodyPr vert="horz" wrap="square" rtlCol="0">
            <a:noAutofit/>
          </a:bodyPr>
          <a:lstStyle/>
          <a:p>
            <a:r>
              <a:rPr lang="it-IT" sz="2100">
                <a:solidFill>
                  <a:srgbClr val="203344"/>
                </a:solidFill>
                <a:latin typeface="Arial" panose="020B0604020202020204" pitchFamily="34" charset="0"/>
              </a:rPr>
              <a:t>Successo = fattori non banali ottenuti da una singola misura</a:t>
            </a:r>
            <a:endParaRPr lang="en-GB" sz="2100">
              <a:solidFill>
                <a:srgbClr val="203344"/>
              </a:solidFill>
              <a:latin typeface="Arial" panose="020B0604020202020204" pitchFamily="34" charset="0"/>
            </a:endParaRPr>
          </a:p>
        </p:txBody>
      </p:sp>
      <p:sp>
        <p:nvSpPr>
          <p:cNvPr id="20" name="TextBox 19">
            <a:extLst>
              <a:ext uri="{FF2B5EF4-FFF2-40B4-BE49-F238E27FC236}">
                <a16:creationId xmlns:a16="http://schemas.microsoft.com/office/drawing/2014/main" id="{BADE54F5-D458-64F7-69A6-EA10F02D5813}"/>
              </a:ext>
            </a:extLst>
          </p:cNvPr>
          <p:cNvSpPr txBox="1"/>
          <p:nvPr/>
        </p:nvSpPr>
        <p:spPr>
          <a:xfrm>
            <a:off x="609600" y="2222500"/>
            <a:ext cx="5080000" cy="369332"/>
          </a:xfrm>
          <a:prstGeom prst="rect">
            <a:avLst/>
          </a:prstGeom>
          <a:noFill/>
        </p:spPr>
        <p:txBody>
          <a:bodyPr vert="horz" wrap="square" rtlCol="0">
            <a:noAutofit/>
          </a:bodyPr>
          <a:lstStyle/>
          <a:p>
            <a:r>
              <a:rPr lang="en-GB" sz="5250" b="1">
                <a:solidFill>
                  <a:srgbClr val="175F99"/>
                </a:solidFill>
                <a:latin typeface="Arial" panose="020B0604020202020204" pitchFamily="34" charset="0"/>
              </a:rPr>
              <a:t>75%</a:t>
            </a:r>
          </a:p>
        </p:txBody>
      </p:sp>
      <p:sp>
        <p:nvSpPr>
          <p:cNvPr id="21" name="TextBox 20">
            <a:extLst>
              <a:ext uri="{FF2B5EF4-FFF2-40B4-BE49-F238E27FC236}">
                <a16:creationId xmlns:a16="http://schemas.microsoft.com/office/drawing/2014/main" id="{ADAA89B4-CE96-0D99-10CE-03C6CD0FA7B5}"/>
              </a:ext>
            </a:extLst>
          </p:cNvPr>
          <p:cNvSpPr txBox="1"/>
          <p:nvPr/>
        </p:nvSpPr>
        <p:spPr>
          <a:xfrm>
            <a:off x="609600" y="3238500"/>
            <a:ext cx="5080000" cy="369332"/>
          </a:xfrm>
          <a:prstGeom prst="rect">
            <a:avLst/>
          </a:prstGeom>
          <a:noFill/>
        </p:spPr>
        <p:txBody>
          <a:bodyPr vert="horz" wrap="square" rtlCol="0">
            <a:noAutofit/>
          </a:bodyPr>
          <a:lstStyle/>
          <a:p>
            <a:r>
              <a:rPr lang="it-IT">
                <a:solidFill>
                  <a:srgbClr val="203344"/>
                </a:solidFill>
                <a:latin typeface="Arial" panose="020B0604020202020204" pitchFamily="34" charset="0"/>
              </a:rPr>
              <a:t>successo ideale: 3 dei 4 picchi (0, 64, 128, 192) portano ai fattori</a:t>
            </a:r>
            <a:endParaRPr lang="en-GB">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E31FB8D5-5C8F-B7EA-8779-6C4DF4CAC998}"/>
              </a:ext>
            </a:extLst>
          </p:cNvPr>
          <p:cNvSpPr txBox="1"/>
          <p:nvPr/>
        </p:nvSpPr>
        <p:spPr>
          <a:xfrm>
            <a:off x="6502400" y="2222500"/>
            <a:ext cx="5080000" cy="369332"/>
          </a:xfrm>
          <a:prstGeom prst="rect">
            <a:avLst/>
          </a:prstGeom>
          <a:noFill/>
        </p:spPr>
        <p:txBody>
          <a:bodyPr vert="horz" wrap="square" rtlCol="0">
            <a:noAutofit/>
          </a:bodyPr>
          <a:lstStyle/>
          <a:p>
            <a:r>
              <a:rPr lang="en-GB" sz="5250" b="1">
                <a:solidFill>
                  <a:srgbClr val="175F99"/>
                </a:solidFill>
                <a:latin typeface="Arial" panose="020B0604020202020204" pitchFamily="34" charset="0"/>
              </a:rPr>
              <a:t>24,61%</a:t>
            </a:r>
          </a:p>
        </p:txBody>
      </p:sp>
      <p:sp>
        <p:nvSpPr>
          <p:cNvPr id="23" name="TextBox 22">
            <a:extLst>
              <a:ext uri="{FF2B5EF4-FFF2-40B4-BE49-F238E27FC236}">
                <a16:creationId xmlns:a16="http://schemas.microsoft.com/office/drawing/2014/main" id="{0290DE17-8B52-9909-2756-52CAB7266D50}"/>
              </a:ext>
            </a:extLst>
          </p:cNvPr>
          <p:cNvSpPr txBox="1"/>
          <p:nvPr/>
        </p:nvSpPr>
        <p:spPr>
          <a:xfrm>
            <a:off x="6502400" y="3238500"/>
            <a:ext cx="5080000" cy="369332"/>
          </a:xfrm>
          <a:prstGeom prst="rect">
            <a:avLst/>
          </a:prstGeom>
          <a:noFill/>
        </p:spPr>
        <p:txBody>
          <a:bodyPr vert="horz" wrap="square" rtlCol="0">
            <a:noAutofit/>
          </a:bodyPr>
          <a:lstStyle/>
          <a:p>
            <a:r>
              <a:rPr lang="it-IT">
                <a:solidFill>
                  <a:srgbClr val="203344"/>
                </a:solidFill>
                <a:latin typeface="Arial" panose="020B0604020202020204" pitchFamily="34" charset="0"/>
              </a:rPr>
              <a:t>riferimento uniforme: la verifica classica accetta 63 esiti su 256, anche se casuali</a:t>
            </a:r>
            <a:endParaRPr lang="en-GB">
              <a:solidFill>
                <a:srgbClr val="203344"/>
              </a:solidFill>
              <a:latin typeface="Arial" panose="020B0604020202020204" pitchFamily="34" charset="0"/>
            </a:endParaRPr>
          </a:p>
        </p:txBody>
      </p:sp>
      <p:sp>
        <p:nvSpPr>
          <p:cNvPr id="27" name="TextBox 26">
            <a:extLst>
              <a:ext uri="{FF2B5EF4-FFF2-40B4-BE49-F238E27FC236}">
                <a16:creationId xmlns:a16="http://schemas.microsoft.com/office/drawing/2014/main" id="{DAFAC622-5304-1DFD-C83D-99AB68691B2B}"/>
              </a:ext>
            </a:extLst>
          </p:cNvPr>
          <p:cNvSpPr txBox="1"/>
          <p:nvPr/>
        </p:nvSpPr>
        <p:spPr>
          <a:xfrm>
            <a:off x="609600" y="6070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Ogni risultato su Shor va letto tra questi due valori: 75% ideale, 24,61% casuale.</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2649277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Istanze, validazione e strumenti</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9</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A033642A-39D7-436F-9CFC-7676A57C1D14}"/>
              </a:ext>
            </a:extLst>
          </p:cNvPr>
          <p:cNvSpPr>
            <a:spLocks noGrp="1"/>
          </p:cNvSpPr>
          <p:nvPr/>
        </p:nvSpPr>
        <p:spPr>
          <a:xfrm>
            <a:off x="609600" y="1581150"/>
            <a:ext cx="5334000" cy="2724150"/>
          </a:xfrm>
          <a:prstGeom prst="roundRect">
            <a:avLst>
              <a:gd name="adj" fmla="val 3497"/>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1FD7BAFB-51F3-4B90-8C13-B49FD97090D5}"/>
              </a:ext>
            </a:extLst>
          </p:cNvPr>
          <p:cNvSpPr>
            <a:spLocks noGrp="1"/>
          </p:cNvSpPr>
          <p:nvPr/>
        </p:nvSpPr>
        <p:spPr>
          <a:xfrm>
            <a:off x="790575" y="1771650"/>
            <a:ext cx="49784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15 · a = 7 · r = 4</a:t>
            </a:r>
          </a:p>
        </p:txBody>
      </p:sp>
      <p:sp>
        <p:nvSpPr>
          <p:cNvPr id="7" name="Rectangle 6">
            <a:extLst>
              <a:ext uri="{FF2B5EF4-FFF2-40B4-BE49-F238E27FC236}">
                <a16:creationId xmlns:a16="http://schemas.microsoft.com/office/drawing/2014/main" id="{3D9F781E-93AE-4604-A42A-BFB97D2DBD78}"/>
              </a:ext>
            </a:extLst>
          </p:cNvPr>
          <p:cNvSpPr>
            <a:spLocks noGrp="1"/>
          </p:cNvSpPr>
          <p:nvPr/>
        </p:nvSpPr>
        <p:spPr>
          <a:xfrm>
            <a:off x="790575" y="2381250"/>
            <a:ext cx="4978400" cy="18288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Campagna principale con rumore</a:t>
            </a:r>
          </a:p>
          <a:p>
            <a:pPr>
              <a:defRPr sz="1875" b="0">
                <a:solidFill>
                  <a:srgbClr val="203344"/>
                </a:solidFill>
                <a:latin typeface="Arial"/>
                <a:ea typeface="Arial"/>
                <a:cs typeface="Arial"/>
              </a:defRPr>
            </a:pPr>
            <a:r>
              <a:rPr lang="it-IT" sz="1875" b="0">
                <a:solidFill>
                  <a:srgbClr val="203344"/>
                </a:solidFill>
                <a:latin typeface="Arial"/>
                <a:ea typeface="Arial"/>
                <a:cs typeface="Arial"/>
              </a:rPr>
              <a:t>8 qubit di controllo + 4 di lavoro = 12 qubit</a:t>
            </a:r>
          </a:p>
          <a:p>
            <a:pPr>
              <a:defRPr sz="1875" b="0">
                <a:solidFill>
                  <a:srgbClr val="203344"/>
                </a:solidFill>
                <a:latin typeface="Arial"/>
                <a:ea typeface="Arial"/>
                <a:cs typeface="Arial"/>
              </a:defRPr>
            </a:pPr>
            <a:r>
              <a:rPr lang="it-IT" sz="1875" b="0">
                <a:solidFill>
                  <a:srgbClr val="203344"/>
                </a:solidFill>
                <a:latin typeface="Arial"/>
                <a:ea typeface="Arial"/>
                <a:cs typeface="Arial"/>
              </a:rPr>
              <a:t>224 CX, profondità 412</a:t>
            </a:r>
            <a:endParaRPr sz="1875" b="0">
              <a:solidFill>
                <a:srgbClr val="203344"/>
              </a:solidFill>
              <a:latin typeface="Arial"/>
              <a:ea typeface="Arial"/>
              <a:cs typeface="Arial"/>
            </a:endParaRPr>
          </a:p>
        </p:txBody>
      </p:sp>
      <p:sp>
        <p:nvSpPr>
          <p:cNvPr id="8" name="Rectangle: Rounded Corners 7">
            <a:extLst>
              <a:ext uri="{FF2B5EF4-FFF2-40B4-BE49-F238E27FC236}">
                <a16:creationId xmlns:a16="http://schemas.microsoft.com/office/drawing/2014/main" id="{19E303C5-C77D-4CD7-8589-35179D94E254}"/>
              </a:ext>
            </a:extLst>
          </p:cNvPr>
          <p:cNvSpPr>
            <a:spLocks noGrp="1"/>
          </p:cNvSpPr>
          <p:nvPr/>
        </p:nvSpPr>
        <p:spPr>
          <a:xfrm>
            <a:off x="6248400" y="1581150"/>
            <a:ext cx="5334000" cy="2724150"/>
          </a:xfrm>
          <a:prstGeom prst="roundRect">
            <a:avLst>
              <a:gd name="adj" fmla="val 3497"/>
            </a:avLst>
          </a:prstGeom>
          <a:solidFill>
            <a:srgbClr val="EEF4F8"/>
          </a:solidFill>
          <a:ln w="14288">
            <a:solidFill>
              <a:srgbClr val="5084BF"/>
            </a:solidFill>
          </a:ln>
        </p:spPr>
        <p:txBody>
          <a:bodyPr/>
          <a:lstStyle/>
          <a:p>
            <a:endParaRPr lang="en-GB"/>
          </a:p>
        </p:txBody>
      </p:sp>
      <p:sp>
        <p:nvSpPr>
          <p:cNvPr id="9" name="Rectangle 8">
            <a:extLst>
              <a:ext uri="{FF2B5EF4-FFF2-40B4-BE49-F238E27FC236}">
                <a16:creationId xmlns:a16="http://schemas.microsoft.com/office/drawing/2014/main" id="{2298CA64-5647-4279-A352-DBCAFAF5BCD5}"/>
              </a:ext>
            </a:extLst>
          </p:cNvPr>
          <p:cNvSpPr>
            <a:spLocks noGrp="1"/>
          </p:cNvSpPr>
          <p:nvPr/>
        </p:nvSpPr>
        <p:spPr>
          <a:xfrm>
            <a:off x="6426200" y="1771650"/>
            <a:ext cx="49784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21 · a = 2 · r = 6</a:t>
            </a:r>
          </a:p>
        </p:txBody>
      </p:sp>
      <p:sp>
        <p:nvSpPr>
          <p:cNvPr id="10" name="Rectangle 9">
            <a:extLst>
              <a:ext uri="{FF2B5EF4-FFF2-40B4-BE49-F238E27FC236}">
                <a16:creationId xmlns:a16="http://schemas.microsoft.com/office/drawing/2014/main" id="{C691EBEE-3FEF-4FFB-A50C-33B92BE18974}"/>
              </a:ext>
            </a:extLst>
          </p:cNvPr>
          <p:cNvSpPr>
            <a:spLocks noGrp="1"/>
          </p:cNvSpPr>
          <p:nvPr/>
        </p:nvSpPr>
        <p:spPr>
          <a:xfrm>
            <a:off x="6426200" y="2381250"/>
            <a:ext cx="4978400" cy="18288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Validazione ideale e prove AQFT con rumore</a:t>
            </a:r>
          </a:p>
          <a:p>
            <a:pPr>
              <a:defRPr sz="1875" b="0">
                <a:solidFill>
                  <a:srgbClr val="203344"/>
                </a:solidFill>
                <a:latin typeface="Arial"/>
                <a:ea typeface="Arial"/>
                <a:cs typeface="Arial"/>
              </a:defRPr>
            </a:pPr>
            <a:r>
              <a:rPr lang="it-IT" sz="1875" b="0">
                <a:solidFill>
                  <a:srgbClr val="203344"/>
                </a:solidFill>
                <a:latin typeface="Arial"/>
                <a:ea typeface="Arial"/>
                <a:cs typeface="Arial"/>
              </a:rPr>
              <a:t>8 qubit di controllo + 5 di lavoro + 7 ausiliari = 20 qubit</a:t>
            </a:r>
            <a:endParaRPr sz="187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8747E5A2-28A4-4167-AA8E-522F16E60F41}"/>
              </a:ext>
            </a:extLst>
          </p:cNvPr>
          <p:cNvSpPr>
            <a:spLocks noGrp="1"/>
          </p:cNvSpPr>
          <p:nvPr/>
        </p:nvSpPr>
        <p:spPr>
          <a:xfrm>
            <a:off x="609600" y="4686300"/>
            <a:ext cx="38100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Validazione</a:t>
            </a:r>
          </a:p>
        </p:txBody>
      </p:sp>
      <p:sp>
        <p:nvSpPr>
          <p:cNvPr id="15" name="Rectangle 14">
            <a:extLst>
              <a:ext uri="{FF2B5EF4-FFF2-40B4-BE49-F238E27FC236}">
                <a16:creationId xmlns:a16="http://schemas.microsoft.com/office/drawing/2014/main" id="{ADB81CB8-0217-4419-B2A1-6F17AAC4D972}"/>
              </a:ext>
            </a:extLst>
          </p:cNvPr>
          <p:cNvSpPr>
            <a:spLocks noGrp="1"/>
          </p:cNvSpPr>
          <p:nvPr/>
        </p:nvSpPr>
        <p:spPr>
          <a:xfrm>
            <a:off x="609600" y="5086350"/>
            <a:ext cx="10972800" cy="60007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Operatori modulari, ripristino degli ausiliari e distribuzioni teoriche</a:t>
            </a:r>
          </a:p>
        </p:txBody>
      </p:sp>
      <p:sp>
        <p:nvSpPr>
          <p:cNvPr id="16" name="Rectangle 15">
            <a:extLst>
              <a:ext uri="{FF2B5EF4-FFF2-40B4-BE49-F238E27FC236}">
                <a16:creationId xmlns:a16="http://schemas.microsoft.com/office/drawing/2014/main" id="{2DB60C3F-8703-4B2A-AC1D-C3D75FCE2DE3}"/>
              </a:ext>
            </a:extLst>
          </p:cNvPr>
          <p:cNvSpPr>
            <a:spLocks noGrp="1"/>
          </p:cNvSpPr>
          <p:nvPr/>
        </p:nvSpPr>
        <p:spPr>
          <a:xfrm>
            <a:off x="609600" y="58864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Qiskit/Aer · scikit-learn · Stim · PyMatching · ldpc</a:t>
            </a:r>
          </a:p>
        </p:txBody>
      </p:sp>
      <p:sp>
        <p:nvSpPr>
          <p:cNvPr id="17" name="Rectangle 16">
            <a:extLst>
              <a:ext uri="{FF2B5EF4-FFF2-40B4-BE49-F238E27FC236}">
                <a16:creationId xmlns:a16="http://schemas.microsoft.com/office/drawing/2014/main" id="{3D2C6B38-1794-4BE5-936B-10259E5FD499}"/>
              </a:ext>
            </a:extLst>
          </p:cNvPr>
          <p:cNvSpPr>
            <a:spLocks noGrp="1"/>
          </p:cNvSpPr>
          <p:nvPr/>
        </p:nvSpPr>
        <p:spPr>
          <a:xfrm>
            <a:off x="609600" y="6381750"/>
            <a:ext cx="10972800" cy="238125"/>
          </a:xfrm>
          <a:prstGeom prst="rect">
            <a:avLst/>
          </a:prstGeom>
          <a:noFill/>
          <a:ln w="0">
            <a:noFill/>
          </a:ln>
        </p:spPr>
        <p:txBody>
          <a:bodyPr>
            <a:noAutofit/>
          </a:bodyPr>
          <a:lstStyle/>
          <a:p>
            <a:pPr>
              <a:defRPr sz="1425" b="0">
                <a:solidFill>
                  <a:srgbClr val="647487"/>
                </a:solidFill>
                <a:latin typeface="Arial"/>
                <a:ea typeface="Arial"/>
                <a:cs typeface="Arial"/>
              </a:defRPr>
            </a:pPr>
            <a:r>
              <a:rPr sz="1425" b="0">
                <a:solidFill>
                  <a:srgbClr val="647487"/>
                </a:solidFill>
                <a:latin typeface="Arial"/>
                <a:ea typeface="Arial"/>
                <a:cs typeface="Arial"/>
              </a:rPr>
              <a:t>Versioni, parametri, seed e identificativi circuitali registrati. Simulazioni classiche.</a:t>
            </a:r>
          </a:p>
        </p:txBody>
      </p:sp>
    </p:spTree>
    <p:extLst>
      <p:ext uri="{BB962C8B-B14F-4D97-AF65-F5344CB8AC3E}">
        <p14:creationId xmlns:p14="http://schemas.microsoft.com/office/powerpoint/2010/main" val="1216408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1: post-processing e ablazione ML</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478C359-BEA8-4AFD-944F-9175CC4F4295}"/>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8134F752-5082-496F-BC77-8A8C1F34CF2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10</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CC35D492-ABDB-46BA-AE16-026C7410C362}"/>
              </a:ext>
            </a:extLst>
          </p:cNvPr>
          <p:cNvSpPr>
            <a:spLocks noGrp="1"/>
          </p:cNvSpPr>
          <p:nvPr/>
        </p:nvSpPr>
        <p:spPr>
          <a:xfrm>
            <a:off x="609600" y="1371600"/>
            <a:ext cx="10972800" cy="5080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Istogramma degli esiti misurati (1024 esecuzioni)</a:t>
            </a:r>
            <a:endParaRPr sz="2100" b="1">
              <a:solidFill>
                <a:srgbClr val="FFFFFF"/>
              </a:solidFill>
              <a:latin typeface="Arial"/>
              <a:ea typeface="Arial"/>
              <a:cs typeface="Arial"/>
            </a:endParaRPr>
          </a:p>
        </p:txBody>
      </p:sp>
      <p:sp>
        <p:nvSpPr>
          <p:cNvPr id="6" name="Rectangle: Rounded Corners 5">
            <a:extLst>
              <a:ext uri="{FF2B5EF4-FFF2-40B4-BE49-F238E27FC236}">
                <a16:creationId xmlns:a16="http://schemas.microsoft.com/office/drawing/2014/main" id="{6C6B2847-EFC1-4D02-B73B-9163FA7FF42D}"/>
              </a:ext>
            </a:extLst>
          </p:cNvPr>
          <p:cNvSpPr>
            <a:spLocks noGrp="1"/>
          </p:cNvSpPr>
          <p:nvPr/>
        </p:nvSpPr>
        <p:spPr>
          <a:xfrm>
            <a:off x="60960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50207F82-D486-4618-9019-4A9B6B896244}"/>
              </a:ext>
            </a:extLst>
          </p:cNvPr>
          <p:cNvSpPr>
            <a:spLocks noGrp="1"/>
          </p:cNvSpPr>
          <p:nvPr/>
        </p:nvSpPr>
        <p:spPr>
          <a:xfrm>
            <a:off x="79057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TOP-1</a:t>
            </a:r>
            <a:endParaRPr sz="2175" b="1">
              <a:solidFill>
                <a:srgbClr val="003366"/>
              </a:solidFill>
              <a:latin typeface="Arial"/>
              <a:ea typeface="Arial"/>
              <a:cs typeface="Arial"/>
            </a:endParaRPr>
          </a:p>
        </p:txBody>
      </p:sp>
      <p:sp>
        <p:nvSpPr>
          <p:cNvPr id="8" name="Rectangle 7">
            <a:extLst>
              <a:ext uri="{FF2B5EF4-FFF2-40B4-BE49-F238E27FC236}">
                <a16:creationId xmlns:a16="http://schemas.microsoft.com/office/drawing/2014/main" id="{448DCFE9-33F7-45E1-A769-1CD6F8ABDA24}"/>
              </a:ext>
            </a:extLst>
          </p:cNvPr>
          <p:cNvSpPr>
            <a:spLocks noGrp="1"/>
          </p:cNvSpPr>
          <p:nvPr/>
        </p:nvSpPr>
        <p:spPr>
          <a:xfrm>
            <a:off x="79057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solo l'esito più frequente</a:t>
            </a:r>
            <a:endParaRPr sz="1875" b="0">
              <a:solidFill>
                <a:srgbClr val="203344"/>
              </a:solidFill>
              <a:latin typeface="Arial"/>
              <a:ea typeface="Arial"/>
              <a:cs typeface="Arial"/>
            </a:endParaRPr>
          </a:p>
        </p:txBody>
      </p:sp>
      <p:sp>
        <p:nvSpPr>
          <p:cNvPr id="9" name="Rectangle: Rounded Corners 8">
            <a:extLst>
              <a:ext uri="{FF2B5EF4-FFF2-40B4-BE49-F238E27FC236}">
                <a16:creationId xmlns:a16="http://schemas.microsoft.com/office/drawing/2014/main" id="{A7ED80C4-3A04-48D9-8600-16713139334D}"/>
              </a:ext>
            </a:extLst>
          </p:cNvPr>
          <p:cNvSpPr>
            <a:spLocks noGrp="1"/>
          </p:cNvSpPr>
          <p:nvPr/>
        </p:nvSpPr>
        <p:spPr>
          <a:xfrm>
            <a:off x="4524375"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B7718673-DDE6-4B0E-80B1-2DEB783CDC31}"/>
              </a:ext>
            </a:extLst>
          </p:cNvPr>
          <p:cNvSpPr>
            <a:spLocks noGrp="1"/>
          </p:cNvSpPr>
          <p:nvPr/>
        </p:nvSpPr>
        <p:spPr>
          <a:xfrm>
            <a:off x="4705350"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TOP-4</a:t>
            </a:r>
            <a:endParaRPr sz="2175" b="1">
              <a:solidFill>
                <a:srgbClr val="003366"/>
              </a:solidFill>
              <a:latin typeface="Arial"/>
              <a:ea typeface="Arial"/>
              <a:cs typeface="Arial"/>
            </a:endParaRPr>
          </a:p>
        </p:txBody>
      </p:sp>
      <p:sp>
        <p:nvSpPr>
          <p:cNvPr id="11" name="Rectangle 10">
            <a:extLst>
              <a:ext uri="{FF2B5EF4-FFF2-40B4-BE49-F238E27FC236}">
                <a16:creationId xmlns:a16="http://schemas.microsoft.com/office/drawing/2014/main" id="{428CE012-A819-412F-A649-3EAB47BC23F5}"/>
              </a:ext>
            </a:extLst>
          </p:cNvPr>
          <p:cNvSpPr>
            <a:spLocks noGrp="1"/>
          </p:cNvSpPr>
          <p:nvPr/>
        </p:nvSpPr>
        <p:spPr>
          <a:xfrm>
            <a:off x="4705350"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i quattro esiti più frequenti, uno alla volta, finché trova i fattori</a:t>
            </a:r>
            <a:endParaRPr sz="1875" b="0">
              <a:solidFill>
                <a:srgbClr val="203344"/>
              </a:solidFill>
              <a:latin typeface="Arial"/>
              <a:ea typeface="Arial"/>
              <a:cs typeface="Arial"/>
            </a:endParaRPr>
          </a:p>
        </p:txBody>
      </p:sp>
      <p:sp>
        <p:nvSpPr>
          <p:cNvPr id="12" name="Rectangle: Rounded Corners 11">
            <a:extLst>
              <a:ext uri="{FF2B5EF4-FFF2-40B4-BE49-F238E27FC236}">
                <a16:creationId xmlns:a16="http://schemas.microsoft.com/office/drawing/2014/main" id="{8E8D58EB-1F29-489F-84AA-EE5A27A893AB}"/>
              </a:ext>
            </a:extLst>
          </p:cNvPr>
          <p:cNvSpPr>
            <a:spLocks noGrp="1"/>
          </p:cNvSpPr>
          <p:nvPr/>
        </p:nvSpPr>
        <p:spPr>
          <a:xfrm>
            <a:off x="843915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3" name="Rectangle 12">
            <a:extLst>
              <a:ext uri="{FF2B5EF4-FFF2-40B4-BE49-F238E27FC236}">
                <a16:creationId xmlns:a16="http://schemas.microsoft.com/office/drawing/2014/main" id="{530CC7E4-D9E5-44BA-A967-3C00C77DC3EC}"/>
              </a:ext>
            </a:extLst>
          </p:cNvPr>
          <p:cNvSpPr>
            <a:spLocks noGrp="1"/>
          </p:cNvSpPr>
          <p:nvPr/>
        </p:nvSpPr>
        <p:spPr>
          <a:xfrm>
            <a:off x="862012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Metodo 2</a:t>
            </a:r>
            <a:endParaRPr sz="2175" b="1">
              <a:solidFill>
                <a:srgbClr val="003366"/>
              </a:solidFill>
              <a:latin typeface="Arial"/>
              <a:ea typeface="Arial"/>
              <a:cs typeface="Arial"/>
            </a:endParaRPr>
          </a:p>
        </p:txBody>
      </p:sp>
      <p:sp>
        <p:nvSpPr>
          <p:cNvPr id="14" name="Rectangle 13">
            <a:extLst>
              <a:ext uri="{FF2B5EF4-FFF2-40B4-BE49-F238E27FC236}">
                <a16:creationId xmlns:a16="http://schemas.microsoft.com/office/drawing/2014/main" id="{247C1F09-0415-4CBC-9397-423247F26ABF}"/>
              </a:ext>
            </a:extLst>
          </p:cNvPr>
          <p:cNvSpPr>
            <a:spLocks noGrp="1"/>
          </p:cNvSpPr>
          <p:nvPr/>
        </p:nvSpPr>
        <p:spPr>
          <a:xfrm>
            <a:off x="862012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Applica TOP-4 solo se un classificatore ML lo approva</a:t>
            </a:r>
            <a:endParaRPr sz="1875" b="0">
              <a:solidFill>
                <a:srgbClr val="203344"/>
              </a:solidFill>
              <a:latin typeface="Arial"/>
              <a:ea typeface="Arial"/>
              <a:cs typeface="Arial"/>
            </a:endParaRPr>
          </a:p>
        </p:txBody>
      </p:sp>
      <p:sp>
        <p:nvSpPr>
          <p:cNvPr id="20" name="Arrow: Down 19">
            <a:extLst>
              <a:ext uri="{FF2B5EF4-FFF2-40B4-BE49-F238E27FC236}">
                <a16:creationId xmlns:a16="http://schemas.microsoft.com/office/drawing/2014/main" id="{88239EA8-D62F-53F3-64AE-80BC965C28FE}"/>
              </a:ext>
            </a:extLst>
          </p:cNvPr>
          <p:cNvSpPr/>
          <p:nvPr/>
        </p:nvSpPr>
        <p:spPr>
          <a:xfrm>
            <a:off x="206692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Arrow: Down 20">
            <a:extLst>
              <a:ext uri="{FF2B5EF4-FFF2-40B4-BE49-F238E27FC236}">
                <a16:creationId xmlns:a16="http://schemas.microsoft.com/office/drawing/2014/main" id="{3D70808E-B7B3-BDB5-55B7-351033EBED55}"/>
              </a:ext>
            </a:extLst>
          </p:cNvPr>
          <p:cNvSpPr/>
          <p:nvPr/>
        </p:nvSpPr>
        <p:spPr>
          <a:xfrm>
            <a:off x="206692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Down 21">
            <a:extLst>
              <a:ext uri="{FF2B5EF4-FFF2-40B4-BE49-F238E27FC236}">
                <a16:creationId xmlns:a16="http://schemas.microsoft.com/office/drawing/2014/main" id="{D423980A-B534-E5EC-5903-37B0C4136F54}"/>
              </a:ext>
            </a:extLst>
          </p:cNvPr>
          <p:cNvSpPr/>
          <p:nvPr/>
        </p:nvSpPr>
        <p:spPr>
          <a:xfrm>
            <a:off x="5981700"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Arrow: Down 22">
            <a:extLst>
              <a:ext uri="{FF2B5EF4-FFF2-40B4-BE49-F238E27FC236}">
                <a16:creationId xmlns:a16="http://schemas.microsoft.com/office/drawing/2014/main" id="{C6B68448-7E61-3309-F0A1-DE27F018B49C}"/>
              </a:ext>
            </a:extLst>
          </p:cNvPr>
          <p:cNvSpPr/>
          <p:nvPr/>
        </p:nvSpPr>
        <p:spPr>
          <a:xfrm>
            <a:off x="5981700"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Arrow: Down 23">
            <a:extLst>
              <a:ext uri="{FF2B5EF4-FFF2-40B4-BE49-F238E27FC236}">
                <a16:creationId xmlns:a16="http://schemas.microsoft.com/office/drawing/2014/main" id="{FDD4F7C2-3C29-B429-391D-8209019EE7DB}"/>
              </a:ext>
            </a:extLst>
          </p:cNvPr>
          <p:cNvSpPr/>
          <p:nvPr/>
        </p:nvSpPr>
        <p:spPr>
          <a:xfrm>
            <a:off x="989647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Arrow: Down 24">
            <a:extLst>
              <a:ext uri="{FF2B5EF4-FFF2-40B4-BE49-F238E27FC236}">
                <a16:creationId xmlns:a16="http://schemas.microsoft.com/office/drawing/2014/main" id="{EBBA9AE0-D3D5-3C10-C16D-089BDBF025D6}"/>
              </a:ext>
            </a:extLst>
          </p:cNvPr>
          <p:cNvSpPr/>
          <p:nvPr/>
        </p:nvSpPr>
        <p:spPr>
          <a:xfrm>
            <a:off x="989647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B611238E-C082-6AF6-60EE-43C467FDADAA}"/>
              </a:ext>
            </a:extLst>
          </p:cNvPr>
          <p:cNvSpPr/>
          <p:nvPr/>
        </p:nvSpPr>
        <p:spPr>
          <a:xfrm>
            <a:off x="609600" y="4622800"/>
            <a:ext cx="10972800" cy="508000"/>
          </a:xfrm>
          <a:prstGeom prst="rect">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a:solidFill>
                  <a:srgbClr val="003366"/>
                </a:solidFill>
                <a:latin typeface="Arial" panose="020B0604020202020204" pitchFamily="34" charset="0"/>
              </a:rPr>
              <a:t>Verifica classica (frazioni continue e MCD) → fattori di N</a:t>
            </a:r>
            <a:endParaRPr lang="en-GB" b="1">
              <a:solidFill>
                <a:srgbClr val="003366"/>
              </a:solidFill>
              <a:latin typeface="Arial" panose="020B0604020202020204" pitchFamily="34" charset="0"/>
            </a:endParaRPr>
          </a:p>
        </p:txBody>
      </p:sp>
      <p:sp>
        <p:nvSpPr>
          <p:cNvPr id="28" name="TextBox 27">
            <a:extLst>
              <a:ext uri="{FF2B5EF4-FFF2-40B4-BE49-F238E27FC236}">
                <a16:creationId xmlns:a16="http://schemas.microsoft.com/office/drawing/2014/main" id="{A0E657BA-EE5E-C3DF-BEE0-723210ECF337}"/>
              </a:ext>
            </a:extLst>
          </p:cNvPr>
          <p:cNvSpPr txBox="1"/>
          <p:nvPr/>
        </p:nvSpPr>
        <p:spPr>
          <a:xfrm>
            <a:off x="609600" y="5588000"/>
            <a:ext cx="10972800" cy="369332"/>
          </a:xfrm>
          <a:prstGeom prst="rect">
            <a:avLst/>
          </a:prstGeom>
          <a:noFill/>
        </p:spPr>
        <p:txBody>
          <a:bodyPr vert="horz" wrap="square" rtlCol="0">
            <a:noAutofit/>
          </a:bodyPr>
          <a:lstStyle/>
          <a:p>
            <a:r>
              <a:rPr lang="it-IT" sz="2025" b="1">
                <a:solidFill>
                  <a:srgbClr val="175F99"/>
                </a:solidFill>
                <a:latin typeface="Arial" panose="020B0604020202020204" pitchFamily="34" charset="0"/>
              </a:rPr>
              <a:t>Confronto chiave: Metodo 2 contro TOP-4.</a:t>
            </a:r>
          </a:p>
          <a:p>
            <a:r>
              <a:rPr lang="it-IT" sz="2025" b="1">
                <a:solidFill>
                  <a:srgbClr val="175F99"/>
                </a:solidFill>
                <a:latin typeface="Arial" panose="020B0604020202020204" pitchFamily="34" charset="0"/>
              </a:rPr>
              <a:t>Così si vede quanto conta davvero il machine learning.</a:t>
            </a:r>
            <a:endParaRPr lang="en-GB" sz="2025" b="1">
              <a:solidFill>
                <a:srgbClr val="175F99"/>
              </a:solidFill>
              <a:latin typeface="Arial" panose="020B0604020202020204" pitchFamily="34" charset="0"/>
            </a:endParaRPr>
          </a:p>
        </p:txBody>
      </p:sp>
    </p:spTree>
    <p:extLst>
      <p:ext uri="{BB962C8B-B14F-4D97-AF65-F5344CB8AC3E}">
        <p14:creationId xmlns:p14="http://schemas.microsoft.com/office/powerpoint/2010/main" val="187774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2: correzione quantistica degli errori</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C63BB1C7-E1F5-4EAD-96B7-5E2DB8BF621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CD7F7CC-AA63-4989-8F76-D977A27FE48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11</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02CC2BCD-8065-AF14-A761-223B420003D9}"/>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Idea comune: più qubit fisici proteggono un qubit logico; un decoder legge le sindromi (i segnali d'errore) e sceglie la correzione.</a:t>
            </a:r>
            <a:endParaRPr lang="en-GB" sz="1725">
              <a:solidFill>
                <a:srgbClr val="203344"/>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AC9DEF35-39AA-F617-3B4C-E858BF45BBB0}"/>
              </a:ext>
            </a:extLst>
          </p:cNvPr>
          <p:cNvSpPr/>
          <p:nvPr/>
        </p:nvSpPr>
        <p:spPr>
          <a:xfrm>
            <a:off x="6096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95661C65-2684-3063-6807-9D8EF5ABDD01}"/>
              </a:ext>
            </a:extLst>
          </p:cNvPr>
          <p:cNvSpPr/>
          <p:nvPr/>
        </p:nvSpPr>
        <p:spPr>
          <a:xfrm>
            <a:off x="62484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869506C8-FC11-2811-D894-827E70F8AA96}"/>
              </a:ext>
            </a:extLst>
          </p:cNvPr>
          <p:cNvSpPr txBox="1"/>
          <p:nvPr/>
        </p:nvSpPr>
        <p:spPr>
          <a:xfrm>
            <a:off x="787400" y="2032000"/>
            <a:ext cx="49784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Surface code · il riferimento</a:t>
            </a:r>
          </a:p>
        </p:txBody>
      </p:sp>
      <p:sp>
        <p:nvSpPr>
          <p:cNvPr id="21" name="TextBox 20">
            <a:extLst>
              <a:ext uri="{FF2B5EF4-FFF2-40B4-BE49-F238E27FC236}">
                <a16:creationId xmlns:a16="http://schemas.microsoft.com/office/drawing/2014/main" id="{857FD32E-EA8E-B329-B336-DE0EE6795F38}"/>
              </a:ext>
            </a:extLst>
          </p:cNvPr>
          <p:cNvSpPr txBox="1"/>
          <p:nvPr/>
        </p:nvSpPr>
        <p:spPr>
          <a:xfrm>
            <a:off x="7874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Il codice più studiato e robusto, ma costoso: per 12 qubit logici servono circa 2000 qubit di dato.</a:t>
            </a:r>
          </a:p>
          <a:p>
            <a:pPr>
              <a:spcAft>
                <a:spcPts val="600"/>
              </a:spcAft>
            </a:pPr>
            <a:r>
              <a:rPr lang="it-IT" sz="1575">
                <a:solidFill>
                  <a:srgbClr val="203344"/>
                </a:solidFill>
                <a:latin typeface="Arial" panose="020B0604020202020204" pitchFamily="34" charset="0"/>
              </a:rPr>
              <a:t>Qui ho confrontato i decoder: MWPM (classico), rete neurale, ibrido e BP+OSD.</a:t>
            </a:r>
          </a:p>
          <a:p>
            <a:pPr>
              <a:spcAft>
                <a:spcPts val="600"/>
              </a:spcAft>
            </a:pPr>
            <a:r>
              <a:rPr lang="it-IT" sz="1575">
                <a:solidFill>
                  <a:srgbClr val="203344"/>
                </a:solidFill>
                <a:latin typeface="Arial" panose="020B0604020202020204" pitchFamily="34" charset="0"/>
              </a:rPr>
              <a:t>Rumore su porte e misure, anche crosstalk.</a:t>
            </a:r>
            <a:endParaRPr lang="en-GB" sz="1575">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8846A3DB-8C7A-059A-3406-00678FBF6068}"/>
              </a:ext>
            </a:extLst>
          </p:cNvPr>
          <p:cNvSpPr txBox="1"/>
          <p:nvPr/>
        </p:nvSpPr>
        <p:spPr>
          <a:xfrm>
            <a:off x="6426200" y="2032000"/>
            <a:ext cx="4978400" cy="369332"/>
          </a:xfrm>
          <a:prstGeom prst="rect">
            <a:avLst/>
          </a:prstGeom>
          <a:noFill/>
        </p:spPr>
        <p:txBody>
          <a:bodyPr vert="horz" wrap="square" rtlCol="0">
            <a:noAutofit/>
          </a:bodyPr>
          <a:lstStyle/>
          <a:p>
            <a:r>
              <a:rPr lang="it-IT" sz="2025" b="1">
                <a:solidFill>
                  <a:srgbClr val="003366"/>
                </a:solidFill>
                <a:latin typeface="Arial" panose="020B0604020202020204" pitchFamily="34" charset="0"/>
              </a:rPr>
              <a:t>Gross code · l'alternativa di IBM</a:t>
            </a:r>
            <a:endParaRPr lang="en-GB" sz="2025" b="1">
              <a:solidFill>
                <a:srgbClr val="003366"/>
              </a:solidFill>
              <a:latin typeface="Arial" panose="020B0604020202020204" pitchFamily="34" charset="0"/>
            </a:endParaRPr>
          </a:p>
        </p:txBody>
      </p:sp>
      <p:sp>
        <p:nvSpPr>
          <p:cNvPr id="23" name="TextBox 22">
            <a:extLst>
              <a:ext uri="{FF2B5EF4-FFF2-40B4-BE49-F238E27FC236}">
                <a16:creationId xmlns:a16="http://schemas.microsoft.com/office/drawing/2014/main" id="{D67C5876-F2AC-D4AC-554A-2845DA338BE9}"/>
              </a:ext>
            </a:extLst>
          </p:cNvPr>
          <p:cNvSpPr txBox="1"/>
          <p:nvPr/>
        </p:nvSpPr>
        <p:spPr>
          <a:xfrm>
            <a:off x="64262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Codice qLDPC proposto da IBM: protegge gli stessi 12 qubit logici con 144 qubit di dato.</a:t>
            </a:r>
          </a:p>
          <a:p>
            <a:pPr>
              <a:spcAft>
                <a:spcPts val="600"/>
              </a:spcAft>
            </a:pPr>
            <a:r>
              <a:rPr lang="it-IT" sz="1575">
                <a:solidFill>
                  <a:srgbClr val="203344"/>
                </a:solidFill>
                <a:latin typeface="Arial" panose="020B0604020202020204" pitchFamily="34" charset="0"/>
              </a:rPr>
              <a:t>Decoder BP+OSD.</a:t>
            </a:r>
          </a:p>
          <a:p>
            <a:pPr>
              <a:spcAft>
                <a:spcPts val="600"/>
              </a:spcAft>
            </a:pPr>
            <a:r>
              <a:rPr lang="it-IT" sz="1575">
                <a:solidFill>
                  <a:srgbClr val="203344"/>
                </a:solidFill>
                <a:latin typeface="Arial" panose="020B0604020202020204" pitchFamily="34" charset="0"/>
              </a:rPr>
              <a:t>Simulo gli errori come sequenze di 144 bit, non lo stato quantistico.</a:t>
            </a:r>
            <a:endParaRPr lang="en-GB" sz="1575">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A433B95-FA57-CBF7-76F8-A6D5100B633C}"/>
              </a:ext>
            </a:extLst>
          </p:cNvPr>
          <p:cNvSpPr/>
          <p:nvPr/>
        </p:nvSpPr>
        <p:spPr>
          <a:xfrm>
            <a:off x="609600" y="4775200"/>
            <a:ext cx="10972800" cy="9652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CE9970CF-B93F-E493-A038-3F9BE7D46CE6}"/>
              </a:ext>
            </a:extLst>
          </p:cNvPr>
          <p:cNvSpPr txBox="1"/>
          <p:nvPr/>
        </p:nvSpPr>
        <p:spPr>
          <a:xfrm>
            <a:off x="787400" y="48260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due codici?</a:t>
            </a:r>
          </a:p>
          <a:p>
            <a:r>
              <a:rPr lang="it-IT" sz="1575">
                <a:solidFill>
                  <a:srgbClr val="203344"/>
                </a:solidFill>
                <a:latin typeface="Arial" panose="020B0604020202020204" pitchFamily="34" charset="0"/>
              </a:rPr>
              <a:t>Il surface code è lo standard ma richiede molti qubit; il Gross code promette una protezione simile con circa 14 volte meno qubit. Confrontarli dice quanto si può risparmiare.</a:t>
            </a:r>
            <a:endParaRPr lang="en-GB" sz="1575">
              <a:solidFill>
                <a:srgbClr val="203344"/>
              </a:solidFill>
              <a:latin typeface="Arial" panose="020B0604020202020204" pitchFamily="34" charset="0"/>
            </a:endParaRPr>
          </a:p>
        </p:txBody>
      </p:sp>
      <p:sp>
        <p:nvSpPr>
          <p:cNvPr id="26" name="TextBox 25">
            <a:extLst>
              <a:ext uri="{FF2B5EF4-FFF2-40B4-BE49-F238E27FC236}">
                <a16:creationId xmlns:a16="http://schemas.microsoft.com/office/drawing/2014/main" id="{7A8B7BF9-EBFF-23BB-8494-C317E06E5D5B}"/>
              </a:ext>
            </a:extLst>
          </p:cNvPr>
          <p:cNvSpPr txBox="1"/>
          <p:nvPr/>
        </p:nvSpPr>
        <p:spPr>
          <a:xfrm>
            <a:off x="609600" y="58166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Simulazioni con Stim e PyMatching (surface code) e ldpc (Gross code). La correzione degli errori è studiata separatamente da Shor.</a:t>
            </a:r>
            <a:endParaRPr lang="en-GB" sz="1275">
              <a:solidFill>
                <a:srgbClr val="647487"/>
              </a:solidFill>
              <a:latin typeface="Arial" panose="020B0604020202020204" pitchFamily="34" charset="0"/>
            </a:endParaRPr>
          </a:p>
        </p:txBody>
      </p:sp>
      <p:sp>
        <p:nvSpPr>
          <p:cNvPr id="27" name="TextBox 26">
            <a:extLst>
              <a:ext uri="{FF2B5EF4-FFF2-40B4-BE49-F238E27FC236}">
                <a16:creationId xmlns:a16="http://schemas.microsoft.com/office/drawing/2014/main" id="{F0CC65BC-FC56-74B3-8292-99AF6B487F00}"/>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Stessa idea, due compromessi diversi tra protezione e numero di qubit.</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384824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C934D66-A19F-4F45-A910-9FC2198DE6D8}"/>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3: QFT approssimata (AQFT)</a:t>
            </a:r>
            <a:endParaRPr sz="2700" b="0">
              <a:solidFill>
                <a:srgbClr val="003366"/>
              </a:solidFill>
              <a:latin typeface="Arial"/>
              <a:ea typeface="Arial"/>
              <a:cs typeface="Arial"/>
            </a:endParaRPr>
          </a:p>
        </p:txBody>
      </p:sp>
      <p:pic>
        <p:nvPicPr>
          <p:cNvPr id="24" name="Picture 2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B7D945B-C75B-4179-BF6C-020587B974A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0A8CD84-FE44-4433-9B90-AFC6409EC098}"/>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12</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5352E57-B61F-C999-5D37-1F4387D07242}"/>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Più porte significa più errori. Nella QFT molte rotazioni sono piccolissime: spostano la fase quasi di nulla, ma costano porte.</a:t>
            </a:r>
            <a:endParaRPr lang="en-GB" sz="1725">
              <a:solidFill>
                <a:srgbClr val="203344"/>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7E78E41E-B49D-5A5D-871D-DECD7957C390}"/>
              </a:ext>
            </a:extLst>
          </p:cNvPr>
          <p:cNvSpPr/>
          <p:nvPr/>
        </p:nvSpPr>
        <p:spPr>
          <a:xfrm>
            <a:off x="6096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Rounded Corners 25">
            <a:extLst>
              <a:ext uri="{FF2B5EF4-FFF2-40B4-BE49-F238E27FC236}">
                <a16:creationId xmlns:a16="http://schemas.microsoft.com/office/drawing/2014/main" id="{361EE528-3606-AEF0-EBBD-B53CA48C9C2C}"/>
              </a:ext>
            </a:extLst>
          </p:cNvPr>
          <p:cNvSpPr/>
          <p:nvPr/>
        </p:nvSpPr>
        <p:spPr>
          <a:xfrm>
            <a:off x="65532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0FE43342-5019-9F0B-BE0F-51B5406A711A}"/>
              </a:ext>
            </a:extLst>
          </p:cNvPr>
          <p:cNvSpPr txBox="1"/>
          <p:nvPr/>
        </p:nvSpPr>
        <p:spPr>
          <a:xfrm>
            <a:off x="7874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piena</a:t>
            </a:r>
          </a:p>
        </p:txBody>
      </p:sp>
      <p:sp>
        <p:nvSpPr>
          <p:cNvPr id="28" name="TextBox 27">
            <a:extLst>
              <a:ext uri="{FF2B5EF4-FFF2-40B4-BE49-F238E27FC236}">
                <a16:creationId xmlns:a16="http://schemas.microsoft.com/office/drawing/2014/main" id="{1DC0A524-1F7B-2CF3-21D7-9DA6710C8688}"/>
              </a:ext>
            </a:extLst>
          </p:cNvPr>
          <p:cNvSpPr txBox="1"/>
          <p:nvPr/>
        </p:nvSpPr>
        <p:spPr>
          <a:xfrm>
            <a:off x="7874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tutte le rotazioni, dalle più grandi alle più piccole (π/2, π/4, …, π/128)</a:t>
            </a:r>
            <a:endParaRPr lang="en-GB" sz="1575">
              <a:solidFill>
                <a:srgbClr val="203344"/>
              </a:solidFill>
              <a:latin typeface="Arial" panose="020B0604020202020204" pitchFamily="34" charset="0"/>
            </a:endParaRPr>
          </a:p>
        </p:txBody>
      </p:sp>
      <p:sp>
        <p:nvSpPr>
          <p:cNvPr id="29" name="Arrow: Right 28">
            <a:extLst>
              <a:ext uri="{FF2B5EF4-FFF2-40B4-BE49-F238E27FC236}">
                <a16:creationId xmlns:a16="http://schemas.microsoft.com/office/drawing/2014/main" id="{D7385B42-C672-37F0-EA93-7736BBCDC002}"/>
              </a:ext>
            </a:extLst>
          </p:cNvPr>
          <p:cNvSpPr/>
          <p:nvPr/>
        </p:nvSpPr>
        <p:spPr>
          <a:xfrm>
            <a:off x="5791200" y="2540000"/>
            <a:ext cx="609600" cy="304800"/>
          </a:xfrm>
          <a:prstGeom prst="right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5E1B3776-88E2-3E55-98D8-03693B4B2752}"/>
              </a:ext>
            </a:extLst>
          </p:cNvPr>
          <p:cNvSpPr txBox="1"/>
          <p:nvPr/>
        </p:nvSpPr>
        <p:spPr>
          <a:xfrm>
            <a:off x="67310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approssimata</a:t>
            </a:r>
          </a:p>
        </p:txBody>
      </p:sp>
      <p:sp>
        <p:nvSpPr>
          <p:cNvPr id="31" name="TextBox 30">
            <a:extLst>
              <a:ext uri="{FF2B5EF4-FFF2-40B4-BE49-F238E27FC236}">
                <a16:creationId xmlns:a16="http://schemas.microsoft.com/office/drawing/2014/main" id="{8F43277F-E401-37CE-EE39-DC997F9BEE96}"/>
              </a:ext>
            </a:extLst>
          </p:cNvPr>
          <p:cNvSpPr txBox="1"/>
          <p:nvPr/>
        </p:nvSpPr>
        <p:spPr>
          <a:xfrm>
            <a:off x="67310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tolgo le rotazioni più piccole; per N = 15 bastano quelle tra qubit vicini</a:t>
            </a:r>
            <a:endParaRPr lang="en-GB" sz="1575">
              <a:solidFill>
                <a:srgbClr val="203344"/>
              </a:solidFill>
              <a:latin typeface="Arial" panose="020B0604020202020204" pitchFamily="34" charset="0"/>
            </a:endParaRPr>
          </a:p>
        </p:txBody>
      </p:sp>
      <p:sp>
        <p:nvSpPr>
          <p:cNvPr id="32" name="Rectangle: Rounded Corners 31">
            <a:extLst>
              <a:ext uri="{FF2B5EF4-FFF2-40B4-BE49-F238E27FC236}">
                <a16:creationId xmlns:a16="http://schemas.microsoft.com/office/drawing/2014/main" id="{03BFD759-0FC9-8A52-32DE-7BD3B2BCFD97}"/>
              </a:ext>
            </a:extLst>
          </p:cNvPr>
          <p:cNvSpPr/>
          <p:nvPr/>
        </p:nvSpPr>
        <p:spPr>
          <a:xfrm>
            <a:off x="609600" y="3556000"/>
            <a:ext cx="10972800" cy="812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413C35CB-ACBA-D28E-971E-1FB45EA81156}"/>
              </a:ext>
            </a:extLst>
          </p:cNvPr>
          <p:cNvSpPr txBox="1"/>
          <p:nvPr/>
        </p:nvSpPr>
        <p:spPr>
          <a:xfrm>
            <a:off x="787400" y="36068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funziona</a:t>
            </a:r>
          </a:p>
          <a:p>
            <a:r>
              <a:rPr lang="it-IT" sz="1575">
                <a:solidFill>
                  <a:srgbClr val="203344"/>
                </a:solidFill>
                <a:latin typeface="Arial" panose="020B0604020202020204" pitchFamily="34" charset="0"/>
              </a:rPr>
              <a:t>Shor non ha bisogno della fase esatta: basta un valore abbastanza vicino perché il calcolo classico ritrovi il periodo.</a:t>
            </a:r>
            <a:endParaRPr lang="en-GB" sz="1575">
              <a:solidFill>
                <a:srgbClr val="203344"/>
              </a:solidFill>
              <a:latin typeface="Arial" panose="020B0604020202020204" pitchFamily="34" charset="0"/>
            </a:endParaRPr>
          </a:p>
        </p:txBody>
      </p:sp>
      <p:sp>
        <p:nvSpPr>
          <p:cNvPr id="34" name="Rectangle: Rounded Corners 33">
            <a:extLst>
              <a:ext uri="{FF2B5EF4-FFF2-40B4-BE49-F238E27FC236}">
                <a16:creationId xmlns:a16="http://schemas.microsoft.com/office/drawing/2014/main" id="{CA553507-CEF1-40FD-A606-FDC486F98C68}"/>
              </a:ext>
            </a:extLst>
          </p:cNvPr>
          <p:cNvSpPr/>
          <p:nvPr/>
        </p:nvSpPr>
        <p:spPr>
          <a:xfrm>
            <a:off x="6096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EBECDAA2-08BE-E059-2ECE-6596D3F633D6}"/>
              </a:ext>
            </a:extLst>
          </p:cNvPr>
          <p:cNvSpPr txBox="1"/>
          <p:nvPr/>
        </p:nvSpPr>
        <p:spPr>
          <a:xfrm>
            <a:off x="7620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15</a:t>
            </a:r>
          </a:p>
        </p:txBody>
      </p:sp>
      <p:sp>
        <p:nvSpPr>
          <p:cNvPr id="36" name="TextBox 35">
            <a:extLst>
              <a:ext uri="{FF2B5EF4-FFF2-40B4-BE49-F238E27FC236}">
                <a16:creationId xmlns:a16="http://schemas.microsoft.com/office/drawing/2014/main" id="{1F36D963-9E38-4E37-D144-3DAF38058D13}"/>
              </a:ext>
            </a:extLst>
          </p:cNvPr>
          <p:cNvSpPr txBox="1"/>
          <p:nvPr/>
        </p:nvSpPr>
        <p:spPr>
          <a:xfrm>
            <a:off x="7620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finale di Shor</a:t>
            </a:r>
          </a:p>
        </p:txBody>
      </p:sp>
      <p:sp>
        <p:nvSpPr>
          <p:cNvPr id="37" name="Rectangle: Rounded Corners 36">
            <a:extLst>
              <a:ext uri="{FF2B5EF4-FFF2-40B4-BE49-F238E27FC236}">
                <a16:creationId xmlns:a16="http://schemas.microsoft.com/office/drawing/2014/main" id="{FEA8EC40-EBE1-A508-E7A5-7753600D410D}"/>
              </a:ext>
            </a:extLst>
          </p:cNvPr>
          <p:cNvSpPr/>
          <p:nvPr/>
        </p:nvSpPr>
        <p:spPr>
          <a:xfrm>
            <a:off x="43815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0BF72B91-2111-8551-D1D4-C5F9DA973716}"/>
              </a:ext>
            </a:extLst>
          </p:cNvPr>
          <p:cNvSpPr txBox="1"/>
          <p:nvPr/>
        </p:nvSpPr>
        <p:spPr>
          <a:xfrm>
            <a:off x="45339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21</a:t>
            </a:r>
          </a:p>
        </p:txBody>
      </p:sp>
      <p:sp>
        <p:nvSpPr>
          <p:cNvPr id="39" name="TextBox 38">
            <a:extLst>
              <a:ext uri="{FF2B5EF4-FFF2-40B4-BE49-F238E27FC236}">
                <a16:creationId xmlns:a16="http://schemas.microsoft.com/office/drawing/2014/main" id="{7EF81A7D-9F96-01F4-85FC-8048116D2579}"/>
              </a:ext>
            </a:extLst>
          </p:cNvPr>
          <p:cNvSpPr txBox="1"/>
          <p:nvPr/>
        </p:nvSpPr>
        <p:spPr>
          <a:xfrm>
            <a:off x="45339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dentro l'aritmetica modulare</a:t>
            </a:r>
          </a:p>
        </p:txBody>
      </p:sp>
      <p:sp>
        <p:nvSpPr>
          <p:cNvPr id="40" name="Rectangle: Rounded Corners 39">
            <a:extLst>
              <a:ext uri="{FF2B5EF4-FFF2-40B4-BE49-F238E27FC236}">
                <a16:creationId xmlns:a16="http://schemas.microsoft.com/office/drawing/2014/main" id="{402282E1-3BCE-89B1-37F7-AC59C0D67CC2}"/>
              </a:ext>
            </a:extLst>
          </p:cNvPr>
          <p:cNvSpPr/>
          <p:nvPr/>
        </p:nvSpPr>
        <p:spPr>
          <a:xfrm>
            <a:off x="81534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E567FCEB-699E-E744-BC31-A3A44CFB6874}"/>
              </a:ext>
            </a:extLst>
          </p:cNvPr>
          <p:cNvSpPr txBox="1"/>
          <p:nvPr/>
        </p:nvSpPr>
        <p:spPr>
          <a:xfrm>
            <a:off x="83058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Stima di fase</a:t>
            </a:r>
          </a:p>
        </p:txBody>
      </p:sp>
      <p:sp>
        <p:nvSpPr>
          <p:cNvPr id="42" name="TextBox 41">
            <a:extLst>
              <a:ext uri="{FF2B5EF4-FFF2-40B4-BE49-F238E27FC236}">
                <a16:creationId xmlns:a16="http://schemas.microsoft.com/office/drawing/2014/main" id="{530C2E88-3EAA-8914-54A2-8F43E9C06BEF}"/>
              </a:ext>
            </a:extLst>
          </p:cNvPr>
          <p:cNvSpPr txBox="1"/>
          <p:nvPr/>
        </p:nvSpPr>
        <p:spPr>
          <a:xfrm>
            <a:off x="8305800" y="4978400"/>
            <a:ext cx="3124200" cy="369332"/>
          </a:xfrm>
          <a:prstGeom prst="rect">
            <a:avLst/>
          </a:prstGeom>
          <a:noFill/>
        </p:spPr>
        <p:txBody>
          <a:bodyPr vert="horz" wrap="square" rtlCol="0">
            <a:noAutofit/>
          </a:bodyPr>
          <a:lstStyle/>
          <a:p>
            <a:r>
              <a:rPr lang="it-IT" sz="1425">
                <a:solidFill>
                  <a:srgbClr val="203344"/>
                </a:solidFill>
                <a:latin typeface="Arial" panose="020B0604020202020204" pitchFamily="34" charset="0"/>
              </a:rPr>
              <a:t>test isolati, da 6 a 10 qubit</a:t>
            </a:r>
            <a:endParaRPr lang="en-GB" sz="1425">
              <a:solidFill>
                <a:srgbClr val="203344"/>
              </a:solidFill>
              <a:latin typeface="Arial" panose="020B0604020202020204" pitchFamily="34" charset="0"/>
            </a:endParaRPr>
          </a:p>
        </p:txBody>
      </p:sp>
      <p:sp>
        <p:nvSpPr>
          <p:cNvPr id="43" name="TextBox 42">
            <a:extLst>
              <a:ext uri="{FF2B5EF4-FFF2-40B4-BE49-F238E27FC236}">
                <a16:creationId xmlns:a16="http://schemas.microsoft.com/office/drawing/2014/main" id="{4CD43F7A-C369-C032-DFB0-39F88B6B42C6}"/>
              </a:ext>
            </a:extLst>
          </p:cNvPr>
          <p:cNvSpPr txBox="1"/>
          <p:nvPr/>
        </p:nvSpPr>
        <p:spPr>
          <a:xfrm>
            <a:off x="609600" y="55880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Rumore preso dalla calibrazione di un computer IBM (FakeSherbrooke). Il grado di approssimazione è scelto su metà dei dati e verificato sull'altra metà.</a:t>
            </a:r>
            <a:endParaRPr lang="en-GB" sz="1275">
              <a:solidFill>
                <a:srgbClr val="647487"/>
              </a:solidFill>
              <a:latin typeface="Arial" panose="020B0604020202020204" pitchFamily="34" charset="0"/>
            </a:endParaRPr>
          </a:p>
        </p:txBody>
      </p:sp>
      <p:sp>
        <p:nvSpPr>
          <p:cNvPr id="44" name="TextBox 43">
            <a:extLst>
              <a:ext uri="{FF2B5EF4-FFF2-40B4-BE49-F238E27FC236}">
                <a16:creationId xmlns:a16="http://schemas.microsoft.com/office/drawing/2014/main" id="{9A9E8929-75B6-6913-46FA-CDC4A629F0C9}"/>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Meno rotazioni = meno porte e meno rumore, al prezzo di un po' di precisione.</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490796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5D582BE-7568-4FB4-B778-5A7052E72D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Quanto il rumore degrada Shor</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72EB8E-9FDE-438D-AF6C-38E0FD3CD7C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D9783EE-F232-40C0-B3E7-031F6A8D5DC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13</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711806" y="1371600"/>
            <a:ext cx="6958389" cy="4105275"/>
          </a:xfrm>
          <a:prstGeom prst="rect">
            <a:avLst/>
          </a:prstGeom>
        </p:spPr>
      </p:pic>
      <p:sp>
        <p:nvSpPr>
          <p:cNvPr id="6" name="Rectangle 5">
            <a:extLst>
              <a:ext uri="{FF2B5EF4-FFF2-40B4-BE49-F238E27FC236}">
                <a16:creationId xmlns:a16="http://schemas.microsoft.com/office/drawing/2014/main" id="{697603FF-05F2-4F40-B8B9-3DC8702E9642}"/>
              </a:ext>
            </a:extLst>
          </p:cNvPr>
          <p:cNvSpPr>
            <a:spLocks noGrp="1"/>
          </p:cNvSpPr>
          <p:nvPr/>
        </p:nvSpPr>
        <p:spPr>
          <a:xfrm>
            <a:off x="8277225" y="1609725"/>
            <a:ext cx="3305175" cy="800100"/>
          </a:xfrm>
          <a:prstGeom prst="rect">
            <a:avLst/>
          </a:prstGeom>
          <a:noFill/>
          <a:ln w="0">
            <a:noFill/>
          </a:ln>
        </p:spPr>
        <p:txBody>
          <a:bodyPr>
            <a:noAutofit/>
          </a:bodyPr>
          <a:lstStyle/>
          <a:p>
            <a:pPr>
              <a:defRPr sz="4500" b="1">
                <a:solidFill>
                  <a:srgbClr val="175F99"/>
                </a:solidFill>
                <a:latin typeface="Arial"/>
                <a:ea typeface="Arial"/>
                <a:cs typeface="Arial"/>
              </a:defRPr>
            </a:pPr>
            <a:r>
              <a:rPr sz="4500" b="1">
                <a:solidFill>
                  <a:srgbClr val="175F99"/>
                </a:solidFill>
                <a:latin typeface="Arial"/>
                <a:ea typeface="Arial"/>
                <a:cs typeface="Arial"/>
              </a:rPr>
              <a:t>74,89%</a:t>
            </a:r>
          </a:p>
        </p:txBody>
      </p:sp>
      <p:sp>
        <p:nvSpPr>
          <p:cNvPr id="7" name="Rectangle 6">
            <a:extLst>
              <a:ext uri="{FF2B5EF4-FFF2-40B4-BE49-F238E27FC236}">
                <a16:creationId xmlns:a16="http://schemas.microsoft.com/office/drawing/2014/main" id="{6B6831B9-EAF8-4F40-BE26-87795B4AE723}"/>
              </a:ext>
            </a:extLst>
          </p:cNvPr>
          <p:cNvSpPr>
            <a:spLocks noGrp="1"/>
          </p:cNvSpPr>
          <p:nvPr/>
        </p:nvSpPr>
        <p:spPr>
          <a:xfrm>
            <a:off x="8324420" y="2321027"/>
            <a:ext cx="3305175" cy="63500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Successo senza rumore</a:t>
            </a:r>
          </a:p>
          <a:p>
            <a:pPr>
              <a:defRPr sz="2025" b="0">
                <a:solidFill>
                  <a:srgbClr val="203344"/>
                </a:solidFill>
                <a:latin typeface="Arial"/>
                <a:ea typeface="Arial"/>
                <a:cs typeface="Arial"/>
              </a:defRPr>
            </a:pPr>
            <a:r>
              <a:rPr sz="2025" b="0">
                <a:solidFill>
                  <a:srgbClr val="203344"/>
                </a:solidFill>
                <a:latin typeface="Arial"/>
                <a:ea typeface="Arial"/>
                <a:cs typeface="Arial"/>
              </a:rPr>
              <a:t>Atteso: 75%</a:t>
            </a:r>
          </a:p>
        </p:txBody>
      </p:sp>
      <p:sp>
        <p:nvSpPr>
          <p:cNvPr id="8" name="Rectangle 7">
            <a:extLst>
              <a:ext uri="{FF2B5EF4-FFF2-40B4-BE49-F238E27FC236}">
                <a16:creationId xmlns:a16="http://schemas.microsoft.com/office/drawing/2014/main" id="{698F4480-43E8-4C7A-BA5E-A533E7D9990E}"/>
              </a:ext>
            </a:extLst>
          </p:cNvPr>
          <p:cNvSpPr>
            <a:spLocks noGrp="1"/>
          </p:cNvSpPr>
          <p:nvPr/>
        </p:nvSpPr>
        <p:spPr>
          <a:xfrm>
            <a:off x="8277225" y="4241800"/>
            <a:ext cx="3305175" cy="1270000"/>
          </a:xfrm>
          <a:prstGeom prst="rect">
            <a:avLst/>
          </a:prstGeom>
          <a:noFill/>
          <a:ln w="0">
            <a:noFill/>
          </a:ln>
        </p:spPr>
        <p:txBody>
          <a:bodyPr>
            <a:noAutofit/>
          </a:bodyPr>
          <a:lstStyle/>
          <a:p>
            <a:pPr>
              <a:defRPr sz="2100" b="0">
                <a:solidFill>
                  <a:srgbClr val="203344"/>
                </a:solidFill>
                <a:latin typeface="Arial"/>
                <a:ea typeface="Arial"/>
                <a:cs typeface="Arial"/>
              </a:defRPr>
            </a:pPr>
            <a:r>
              <a:rPr lang="it-IT">
                <a:solidFill>
                  <a:srgbClr val="203344"/>
                </a:solidFill>
                <a:latin typeface="Arial" panose="020B0604020202020204" pitchFamily="34" charset="0"/>
                <a:ea typeface="Arial"/>
                <a:cs typeface="Arial"/>
              </a:rPr>
              <a:t>45,2% con il 2%</a:t>
            </a:r>
          </a:p>
          <a:p>
            <a:pPr>
              <a:defRPr sz="2100" b="0">
                <a:solidFill>
                  <a:srgbClr val="203344"/>
                </a:solidFill>
                <a:latin typeface="Arial"/>
                <a:ea typeface="Arial"/>
                <a:cs typeface="Arial"/>
              </a:defRPr>
            </a:pPr>
            <a:r>
              <a:rPr lang="it-IT">
                <a:solidFill>
                  <a:srgbClr val="203344"/>
                </a:solidFill>
                <a:latin typeface="Arial" panose="020B0604020202020204" pitchFamily="34" charset="0"/>
                <a:ea typeface="Arial"/>
                <a:cs typeface="Arial"/>
              </a:rPr>
              <a:t>29,5% con il 5%</a:t>
            </a:r>
          </a:p>
          <a:p>
            <a:pPr>
              <a:defRPr sz="2100" b="0">
                <a:solidFill>
                  <a:srgbClr val="203344"/>
                </a:solidFill>
                <a:latin typeface="Arial"/>
                <a:ea typeface="Arial"/>
                <a:cs typeface="Arial"/>
              </a:defRPr>
            </a:pPr>
            <a:r>
              <a:rPr lang="it-IT" sz="1275">
                <a:solidFill>
                  <a:srgbClr val="647487"/>
                </a:solidFill>
                <a:latin typeface="Arial" panose="020B0604020202020204" pitchFamily="34" charset="0"/>
                <a:ea typeface="Arial"/>
                <a:cs typeface="Arial"/>
              </a:rPr>
              <a:t>p_g: probabilità di un operatore di Pauli casuale (X, Y, Z) dopo ogni porta</a:t>
            </a:r>
            <a:endParaRPr sz="1275" dirty="0">
              <a:solidFill>
                <a:srgbClr val="647487"/>
              </a:solidFill>
              <a:latin typeface="Arial" panose="020B0604020202020204" pitchFamily="34" charset="0"/>
              <a:ea typeface="Arial"/>
              <a:cs typeface="Arial"/>
            </a:endParaRPr>
          </a:p>
        </p:txBody>
      </p:sp>
      <p:sp>
        <p:nvSpPr>
          <p:cNvPr id="10" name="Rectangle 9">
            <a:extLst>
              <a:ext uri="{FF2B5EF4-FFF2-40B4-BE49-F238E27FC236}">
                <a16:creationId xmlns:a16="http://schemas.microsoft.com/office/drawing/2014/main" id="{B0380CDB-EE66-43E3-A612-0B55A00F0C4D}"/>
              </a:ext>
            </a:extLst>
          </p:cNvPr>
          <p:cNvSpPr>
            <a:spLocks noGrp="1"/>
          </p:cNvSpPr>
          <p:nvPr/>
        </p:nvSpPr>
        <p:spPr>
          <a:xfrm>
            <a:off x="609600" y="6223000"/>
            <a:ext cx="10972800" cy="5334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Oltre il 10% di errore per porta, Shor è al livello del caso.</a:t>
            </a:r>
            <a:endParaRPr sz="1950" b="1">
              <a:solidFill>
                <a:srgbClr val="175F99"/>
              </a:solidFill>
              <a:latin typeface="Arial"/>
              <a:ea typeface="Arial"/>
              <a:cs typeface="Arial"/>
            </a:endParaRPr>
          </a:p>
        </p:txBody>
      </p:sp>
      <p:sp>
        <p:nvSpPr>
          <p:cNvPr id="2" name="TextBox 1">
            <a:extLst>
              <a:ext uri="{FF2B5EF4-FFF2-40B4-BE49-F238E27FC236}">
                <a16:creationId xmlns:a16="http://schemas.microsoft.com/office/drawing/2014/main" id="{301B95E6-8F6E-174E-84E7-F52380DAC9A1}"/>
              </a:ext>
            </a:extLst>
          </p:cNvPr>
          <p:cNvSpPr txBox="1"/>
          <p:nvPr/>
        </p:nvSpPr>
        <p:spPr>
          <a:xfrm>
            <a:off x="8280400" y="3048000"/>
            <a:ext cx="3302000" cy="369332"/>
          </a:xfrm>
          <a:prstGeom prst="rect">
            <a:avLst/>
          </a:prstGeom>
          <a:noFill/>
        </p:spPr>
        <p:txBody>
          <a:bodyPr vert="horz" rtlCol="0">
            <a:spAutoFit/>
          </a:bodyPr>
          <a:lstStyle/>
          <a:p>
            <a:r>
              <a:rPr lang="en-GB" sz="1725" b="1">
                <a:solidFill>
                  <a:srgbClr val="175F99"/>
                </a:solidFill>
                <a:latin typeface="Arial" panose="020B0604020202020204" pitchFamily="34" charset="0"/>
              </a:rPr>
              <a:t>Con rumore</a:t>
            </a:r>
          </a:p>
        </p:txBody>
      </p:sp>
      <p:sp>
        <p:nvSpPr>
          <p:cNvPr id="5" name="Rectangle: Rounded Corners 4">
            <a:extLst>
              <a:ext uri="{FF2B5EF4-FFF2-40B4-BE49-F238E27FC236}">
                <a16:creationId xmlns:a16="http://schemas.microsoft.com/office/drawing/2014/main" id="{68AF8C5D-BA12-A0D3-9003-1497B334212A}"/>
              </a:ext>
            </a:extLst>
          </p:cNvPr>
          <p:cNvSpPr/>
          <p:nvPr/>
        </p:nvSpPr>
        <p:spPr>
          <a:xfrm>
            <a:off x="8280400" y="3429000"/>
            <a:ext cx="3302000" cy="736600"/>
          </a:xfrm>
          <a:prstGeom prst="roundRect">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lIns="127000" tIns="25400" bIns="25400" rtlCol="0" anchor="ctr"/>
          <a:lstStyle/>
          <a:p>
            <a:r>
              <a:rPr lang="it-IT" sz="2600" b="1">
                <a:solidFill>
                  <a:srgbClr val="B5641A"/>
                </a:solidFill>
                <a:latin typeface="Arial" panose="020B0604020202020204" pitchFamily="34" charset="0"/>
              </a:rPr>
              <a:t>56,5%</a:t>
            </a:r>
          </a:p>
          <a:p>
            <a:r>
              <a:rPr lang="it-IT" sz="1500">
                <a:solidFill>
                  <a:srgbClr val="203344"/>
                </a:solidFill>
                <a:latin typeface="Arial" panose="020B0604020202020204" pitchFamily="34" charset="0"/>
              </a:rPr>
              <a:t>già con l'1% di errore per porta</a:t>
            </a:r>
            <a:endParaRPr lang="en-GB" sz="1500">
              <a:solidFill>
                <a:srgbClr val="203344"/>
              </a:solidFill>
              <a:latin typeface="Arial" panose="020B0604020202020204" pitchFamily="34" charset="0"/>
            </a:endParaRPr>
          </a:p>
        </p:txBody>
      </p:sp>
      <p:sp>
        <p:nvSpPr>
          <p:cNvPr id="9" name="Oval 8">
            <a:extLst>
              <a:ext uri="{FF2B5EF4-FFF2-40B4-BE49-F238E27FC236}">
                <a16:creationId xmlns:a16="http://schemas.microsoft.com/office/drawing/2014/main" id="{A1B82161-F858-AE78-DC52-44EC260987AA}"/>
              </a:ext>
            </a:extLst>
          </p:cNvPr>
          <p:cNvSpPr/>
          <p:nvPr/>
        </p:nvSpPr>
        <p:spPr>
          <a:xfrm>
            <a:off x="4711700" y="2679700"/>
            <a:ext cx="279400" cy="279400"/>
          </a:xfrm>
          <a:prstGeom prst="ellipse">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71501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E95F82B-CDE8-448E-B6D8-A3E05F218E0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1: il beneficio viene da TOP-4</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441F74C-BA89-458E-AB53-0F4F7EFF5A4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ABD41A47-49F1-4096-92F6-B4B9DFAA222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14</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904484" y="1476375"/>
            <a:ext cx="6315858" cy="4038600"/>
          </a:xfrm>
          <a:prstGeom prst="rect">
            <a:avLst/>
          </a:prstGeom>
        </p:spPr>
      </p:pic>
      <p:sp>
        <p:nvSpPr>
          <p:cNvPr id="6" name="Rectangle 5">
            <a:extLst>
              <a:ext uri="{FF2B5EF4-FFF2-40B4-BE49-F238E27FC236}">
                <a16:creationId xmlns:a16="http://schemas.microsoft.com/office/drawing/2014/main" id="{37BF5463-337E-49AE-80CA-06E347012199}"/>
              </a:ext>
            </a:extLst>
          </p:cNvPr>
          <p:cNvSpPr>
            <a:spLocks noGrp="1"/>
          </p:cNvSpPr>
          <p:nvPr/>
        </p:nvSpPr>
        <p:spPr>
          <a:xfrm>
            <a:off x="8010525" y="1628775"/>
            <a:ext cx="3571875" cy="800100"/>
          </a:xfrm>
          <a:prstGeom prst="rect">
            <a:avLst/>
          </a:prstGeom>
          <a:noFill/>
          <a:ln w="0">
            <a:noFill/>
          </a:ln>
        </p:spPr>
        <p:txBody>
          <a:bodyPr>
            <a:noAutofit/>
          </a:bodyPr>
          <a:lstStyle/>
          <a:p>
            <a:pPr>
              <a:defRPr sz="5250" b="1">
                <a:solidFill>
                  <a:srgbClr val="175F99"/>
                </a:solidFill>
                <a:latin typeface="Arial"/>
                <a:ea typeface="Arial"/>
                <a:cs typeface="Arial"/>
              </a:defRPr>
            </a:pPr>
            <a:r>
              <a:rPr sz="5250" b="1">
                <a:solidFill>
                  <a:srgbClr val="B5641A"/>
                </a:solidFill>
                <a:latin typeface="Arial"/>
                <a:ea typeface="Arial"/>
                <a:cs typeface="Arial"/>
              </a:rPr>
              <a:t>1,00</a:t>
            </a:r>
          </a:p>
        </p:txBody>
      </p:sp>
      <p:sp>
        <p:nvSpPr>
          <p:cNvPr id="7" name="Rectangle 6">
            <a:extLst>
              <a:ext uri="{FF2B5EF4-FFF2-40B4-BE49-F238E27FC236}">
                <a16:creationId xmlns:a16="http://schemas.microsoft.com/office/drawing/2014/main" id="{BFC548CF-E898-4D0E-BA1B-8F970B902EDF}"/>
              </a:ext>
            </a:extLst>
          </p:cNvPr>
          <p:cNvSpPr>
            <a:spLocks noGrp="1"/>
          </p:cNvSpPr>
          <p:nvPr/>
        </p:nvSpPr>
        <p:spPr>
          <a:xfrm>
            <a:off x="8010525" y="2466975"/>
            <a:ext cx="3571875"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tentativi medi con TOP-4</a:t>
            </a:r>
          </a:p>
          <a:p>
            <a:pPr>
              <a:defRPr sz="2025" b="0">
                <a:solidFill>
                  <a:srgbClr val="203344"/>
                </a:solidFill>
                <a:latin typeface="Arial"/>
                <a:ea typeface="Arial"/>
                <a:cs typeface="Arial"/>
              </a:defRPr>
            </a:pPr>
            <a:r>
              <a:rPr lang="it-IT" sz="2025" b="0">
                <a:solidFill>
                  <a:srgbClr val="203344"/>
                </a:solidFill>
                <a:latin typeface="Arial"/>
                <a:ea typeface="Arial"/>
                <a:cs typeface="Arial"/>
              </a:rPr>
              <a:t>(30 repliche su 30)</a:t>
            </a:r>
            <a:endParaRPr sz="2025" b="0">
              <a:solidFill>
                <a:srgbClr val="203344"/>
              </a:solidFill>
              <a:latin typeface="Arial"/>
              <a:ea typeface="Arial"/>
              <a:cs typeface="Arial"/>
            </a:endParaRPr>
          </a:p>
        </p:txBody>
      </p:sp>
      <p:sp>
        <p:nvSpPr>
          <p:cNvPr id="8" name="Rectangle 7">
            <a:extLst>
              <a:ext uri="{FF2B5EF4-FFF2-40B4-BE49-F238E27FC236}">
                <a16:creationId xmlns:a16="http://schemas.microsoft.com/office/drawing/2014/main" id="{1C2AA07C-8300-40A1-AF46-782A9117948E}"/>
              </a:ext>
            </a:extLst>
          </p:cNvPr>
          <p:cNvSpPr>
            <a:spLocks noGrp="1"/>
          </p:cNvSpPr>
          <p:nvPr/>
        </p:nvSpPr>
        <p:spPr>
          <a:xfrm>
            <a:off x="8010525" y="4019550"/>
            <a:ext cx="3571875" cy="942975"/>
          </a:xfrm>
          <a:prstGeom prst="rect">
            <a:avLst/>
          </a:prstGeom>
          <a:noFill/>
          <a:ln w="0">
            <a:noFill/>
          </a:ln>
        </p:spPr>
        <p:txBody>
          <a:bodyPr>
            <a:noAutofit/>
          </a:bodyPr>
          <a:lstStyle/>
          <a:p>
            <a:pPr>
              <a:defRPr sz="2175" b="0">
                <a:solidFill>
                  <a:srgbClr val="203344"/>
                </a:solidFill>
                <a:latin typeface="Arial"/>
                <a:ea typeface="Arial"/>
                <a:cs typeface="Arial"/>
              </a:defRPr>
            </a:pPr>
            <a:r>
              <a:rPr lang="it-IT" sz="1725" b="1">
                <a:solidFill>
                  <a:srgbClr val="175F99"/>
                </a:solidFill>
                <a:latin typeface="Arial"/>
                <a:ea typeface="Arial"/>
                <a:cs typeface="Arial"/>
              </a:rPr>
              <a:t>Gli altri metodi</a:t>
            </a:r>
          </a:p>
          <a:p>
            <a:pPr>
              <a:defRPr sz="2175" b="0">
                <a:solidFill>
                  <a:srgbClr val="203344"/>
                </a:solidFill>
                <a:latin typeface="Arial"/>
                <a:ea typeface="Arial"/>
                <a:cs typeface="Arial"/>
              </a:defRPr>
            </a:pPr>
            <a:r>
              <a:rPr lang="it-IT">
                <a:solidFill>
                  <a:srgbClr val="203344"/>
                </a:solidFill>
                <a:latin typeface="Arial"/>
                <a:ea typeface="Arial"/>
                <a:cs typeface="Arial"/>
              </a:rPr>
              <a:t>TOP-1: 1,37 e 1,50</a:t>
            </a:r>
          </a:p>
          <a:p>
            <a:pPr>
              <a:defRPr sz="2175" b="0">
                <a:solidFill>
                  <a:srgbClr val="203344"/>
                </a:solidFill>
                <a:latin typeface="Arial"/>
                <a:ea typeface="Arial"/>
                <a:cs typeface="Arial"/>
              </a:defRPr>
            </a:pPr>
            <a:r>
              <a:rPr lang="it-IT">
                <a:solidFill>
                  <a:srgbClr val="203344"/>
                </a:solidFill>
                <a:latin typeface="Arial"/>
                <a:ea typeface="Arial"/>
                <a:cs typeface="Arial"/>
              </a:rPr>
              <a:t>Metodo 2: 1,50 e 1,37</a:t>
            </a:r>
            <a:endParaRPr>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A7AC68A4-E2EE-4085-845B-47EDAAA6D577}"/>
              </a:ext>
            </a:extLst>
          </p:cNvPr>
          <p:cNvSpPr>
            <a:spLocks noGrp="1"/>
          </p:cNvSpPr>
          <p:nvPr/>
        </p:nvSpPr>
        <p:spPr>
          <a:xfrm>
            <a:off x="609600" y="6229350"/>
            <a:ext cx="10972800" cy="4953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Il vantaggio viene dai candidati in più, non dal machine learning.</a:t>
            </a:r>
            <a:endParaRPr sz="1950" b="1">
              <a:solidFill>
                <a:srgbClr val="175F99"/>
              </a:solidFill>
              <a:latin typeface="Arial"/>
              <a:ea typeface="Arial"/>
              <a:cs typeface="Arial"/>
            </a:endParaRPr>
          </a:p>
        </p:txBody>
      </p:sp>
      <p:sp>
        <p:nvSpPr>
          <p:cNvPr id="2" name="Rectangle: Rounded Corners 1">
            <a:extLst>
              <a:ext uri="{FF2B5EF4-FFF2-40B4-BE49-F238E27FC236}">
                <a16:creationId xmlns:a16="http://schemas.microsoft.com/office/drawing/2014/main" id="{BC4CCAA4-17E6-A8AE-29D1-801EB6194ACD}"/>
              </a:ext>
            </a:extLst>
          </p:cNvPr>
          <p:cNvSpPr/>
          <p:nvPr/>
        </p:nvSpPr>
        <p:spPr>
          <a:xfrm>
            <a:off x="3606800" y="2946400"/>
            <a:ext cx="1498600" cy="1981200"/>
          </a:xfrm>
          <a:prstGeom prst="roundRect">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27115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A26051-CE9A-44FC-98B2-DC8331178E9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la QEC aiuta sotto soglia</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65D6DAB-35C4-44C3-BE25-5179AEC9B4B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DF278FCC-CAE1-457F-906A-2CA805A50B3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15</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609600" y="1559634"/>
            <a:ext cx="7667625" cy="3576807"/>
          </a:xfrm>
          <a:prstGeom prst="rect">
            <a:avLst/>
          </a:prstGeom>
        </p:spPr>
      </p:pic>
      <p:sp>
        <p:nvSpPr>
          <p:cNvPr id="6" name="Rectangle 5">
            <a:extLst>
              <a:ext uri="{FF2B5EF4-FFF2-40B4-BE49-F238E27FC236}">
                <a16:creationId xmlns:a16="http://schemas.microsoft.com/office/drawing/2014/main" id="{0C456B77-8485-4875-A49F-280A5006DBAD}"/>
              </a:ext>
            </a:extLst>
          </p:cNvPr>
          <p:cNvSpPr>
            <a:spLocks noGrp="1"/>
          </p:cNvSpPr>
          <p:nvPr/>
        </p:nvSpPr>
        <p:spPr>
          <a:xfrm>
            <a:off x="8743950" y="1704975"/>
            <a:ext cx="283845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175F99"/>
                </a:solidFill>
                <a:latin typeface="Arial"/>
                <a:ea typeface="Arial"/>
                <a:cs typeface="Arial"/>
              </a:rPr>
              <a:t>0,86%</a:t>
            </a:r>
          </a:p>
        </p:txBody>
      </p:sp>
      <p:sp>
        <p:nvSpPr>
          <p:cNvPr id="7" name="Rectangle 6">
            <a:extLst>
              <a:ext uri="{FF2B5EF4-FFF2-40B4-BE49-F238E27FC236}">
                <a16:creationId xmlns:a16="http://schemas.microsoft.com/office/drawing/2014/main" id="{84BFCB9A-D13F-41D2-8F42-9C9249466A06}"/>
              </a:ext>
            </a:extLst>
          </p:cNvPr>
          <p:cNvSpPr>
            <a:spLocks noGrp="1"/>
          </p:cNvSpPr>
          <p:nvPr/>
        </p:nvSpPr>
        <p:spPr>
          <a:xfrm>
            <a:off x="8743950" y="2543175"/>
            <a:ext cx="283845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Soglia in base Z</a:t>
            </a:r>
          </a:p>
          <a:p>
            <a:pPr>
              <a:defRPr sz="2025" b="0">
                <a:solidFill>
                  <a:srgbClr val="203344"/>
                </a:solidFill>
                <a:latin typeface="Arial"/>
                <a:ea typeface="Arial"/>
                <a:cs typeface="Arial"/>
              </a:defRPr>
            </a:pPr>
            <a:r>
              <a:rPr lang="it-IT" sz="2025" b="0">
                <a:solidFill>
                  <a:srgbClr val="203344"/>
                </a:solidFill>
                <a:latin typeface="Arial"/>
                <a:ea typeface="Arial"/>
                <a:cs typeface="Arial"/>
              </a:rPr>
              <a:t>0,81% in base X</a:t>
            </a:r>
            <a:endParaRPr sz="2025" b="0">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DB181A39-D107-484D-8C5C-DA919F356FAC}"/>
              </a:ext>
            </a:extLst>
          </p:cNvPr>
          <p:cNvSpPr>
            <a:spLocks noGrp="1"/>
          </p:cNvSpPr>
          <p:nvPr/>
        </p:nvSpPr>
        <p:spPr>
          <a:xfrm>
            <a:off x="609600" y="6286500"/>
            <a:ext cx="10972800" cy="419100"/>
          </a:xfrm>
          <a:prstGeom prst="rect">
            <a:avLst/>
          </a:prstGeom>
          <a:noFill/>
          <a:ln w="0">
            <a:noFill/>
          </a:ln>
        </p:spPr>
        <p:txBody>
          <a:bodyPr>
            <a:noAutofit/>
          </a:bodyPr>
          <a:lstStyle/>
          <a:p>
            <a:pPr>
              <a:defRPr sz="2025" b="1">
                <a:solidFill>
                  <a:srgbClr val="175F99"/>
                </a:solidFill>
                <a:latin typeface="Arial"/>
                <a:ea typeface="Arial"/>
                <a:cs typeface="Arial"/>
              </a:defRPr>
            </a:pPr>
            <a:r>
              <a:rPr lang="it-IT" sz="2025" b="1">
                <a:solidFill>
                  <a:srgbClr val="175F99"/>
                </a:solidFill>
                <a:latin typeface="Arial"/>
                <a:ea typeface="Arial"/>
                <a:cs typeface="Arial"/>
              </a:rPr>
              <a:t>Sotto soglia, codici più grandi correggono meglio; sopra soglia peggiorano.</a:t>
            </a:r>
            <a:endParaRPr sz="2025" b="1">
              <a:solidFill>
                <a:srgbClr val="175F99"/>
              </a:solidFill>
              <a:latin typeface="Arial"/>
              <a:ea typeface="Arial"/>
              <a:cs typeface="Arial"/>
            </a:endParaRPr>
          </a:p>
        </p:txBody>
      </p:sp>
      <p:sp>
        <p:nvSpPr>
          <p:cNvPr id="2" name="Oval 1">
            <a:extLst>
              <a:ext uri="{FF2B5EF4-FFF2-40B4-BE49-F238E27FC236}">
                <a16:creationId xmlns:a16="http://schemas.microsoft.com/office/drawing/2014/main" id="{232E36AE-4962-41DA-0CA2-29BEA1D4DFE6}"/>
              </a:ext>
            </a:extLst>
          </p:cNvPr>
          <p:cNvSpPr/>
          <p:nvPr/>
        </p:nvSpPr>
        <p:spPr>
          <a:xfrm>
            <a:off x="3619500" y="2197100"/>
            <a:ext cx="381000" cy="381000"/>
          </a:xfrm>
          <a:prstGeom prst="ellipse">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FAD3F9E0-7743-7CA3-F354-10A40C271DBD}"/>
              </a:ext>
            </a:extLst>
          </p:cNvPr>
          <p:cNvSpPr/>
          <p:nvPr/>
        </p:nvSpPr>
        <p:spPr>
          <a:xfrm>
            <a:off x="7277100" y="2222500"/>
            <a:ext cx="381000" cy="381000"/>
          </a:xfrm>
          <a:prstGeom prst="ellipse">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Rounded Corners 12">
            <a:extLst>
              <a:ext uri="{FF2B5EF4-FFF2-40B4-BE49-F238E27FC236}">
                <a16:creationId xmlns:a16="http://schemas.microsoft.com/office/drawing/2014/main" id="{F5174091-E7B1-4C19-3F79-348B7BFCFDB0}"/>
              </a:ext>
            </a:extLst>
          </p:cNvPr>
          <p:cNvSpPr/>
          <p:nvPr/>
        </p:nvSpPr>
        <p:spPr>
          <a:xfrm>
            <a:off x="8737600" y="3810000"/>
            <a:ext cx="2844800" cy="1320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882D396C-6EB7-5831-1F5F-F7D23910526B}"/>
              </a:ext>
            </a:extLst>
          </p:cNvPr>
          <p:cNvSpPr txBox="1"/>
          <p:nvPr/>
        </p:nvSpPr>
        <p:spPr>
          <a:xfrm>
            <a:off x="8864600" y="3886200"/>
            <a:ext cx="2616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La soglia</a:t>
            </a:r>
          </a:p>
          <a:p>
            <a:r>
              <a:rPr lang="it-IT" sz="1575">
                <a:solidFill>
                  <a:srgbClr val="203344"/>
                </a:solidFill>
                <a:latin typeface="Arial" panose="020B0604020202020204" pitchFamily="34" charset="0"/>
              </a:rPr>
              <a:t>è il punto in cui le curve si incrociano (cerchi arancioni)</a:t>
            </a:r>
            <a:endParaRPr lang="en-GB" sz="1575">
              <a:solidFill>
                <a:srgbClr val="203344"/>
              </a:solidFill>
              <a:latin typeface="Arial" panose="020B0604020202020204" pitchFamily="34" charset="0"/>
            </a:endParaRPr>
          </a:p>
        </p:txBody>
      </p:sp>
    </p:spTree>
    <p:extLst>
      <p:ext uri="{BB962C8B-B14F-4D97-AF65-F5344CB8AC3E}">
        <p14:creationId xmlns:p14="http://schemas.microsoft.com/office/powerpoint/2010/main" val="1581526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02FDD2B-0B15-4559-A78F-7510806E9E7B}"/>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decoder ibrido con crosstalk</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AED080-374B-49B1-8F03-8E6FD7F6D0AB}"/>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9383A908-0877-4618-A927-9F701AE6012C}"/>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16</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641778" y="1485900"/>
            <a:ext cx="6793644" cy="3924300"/>
          </a:xfrm>
          <a:prstGeom prst="rect">
            <a:avLst/>
          </a:prstGeom>
        </p:spPr>
      </p:pic>
      <p:sp>
        <p:nvSpPr>
          <p:cNvPr id="6" name="Rectangle 5">
            <a:extLst>
              <a:ext uri="{FF2B5EF4-FFF2-40B4-BE49-F238E27FC236}">
                <a16:creationId xmlns:a16="http://schemas.microsoft.com/office/drawing/2014/main" id="{B20ABF44-F325-4D36-BD1F-ABAF3859847D}"/>
              </a:ext>
            </a:extLst>
          </p:cNvPr>
          <p:cNvSpPr>
            <a:spLocks noGrp="1"/>
          </p:cNvSpPr>
          <p:nvPr/>
        </p:nvSpPr>
        <p:spPr>
          <a:xfrm>
            <a:off x="8020050" y="1638300"/>
            <a:ext cx="356235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B5641A"/>
                </a:solidFill>
                <a:latin typeface="Arial"/>
                <a:ea typeface="Arial"/>
                <a:cs typeface="Arial"/>
              </a:rPr>
              <a:t>−16,8%</a:t>
            </a:r>
          </a:p>
        </p:txBody>
      </p:sp>
      <p:sp>
        <p:nvSpPr>
          <p:cNvPr id="7" name="Rectangle 6">
            <a:extLst>
              <a:ext uri="{FF2B5EF4-FFF2-40B4-BE49-F238E27FC236}">
                <a16:creationId xmlns:a16="http://schemas.microsoft.com/office/drawing/2014/main" id="{337B76D2-161E-4AC3-85EB-CBF789DC78E0}"/>
              </a:ext>
            </a:extLst>
          </p:cNvPr>
          <p:cNvSpPr>
            <a:spLocks noGrp="1"/>
          </p:cNvSpPr>
          <p:nvPr/>
        </p:nvSpPr>
        <p:spPr>
          <a:xfrm>
            <a:off x="8020050" y="2476500"/>
            <a:ext cx="356235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Riduzione relativa di p_L</a:t>
            </a:r>
          </a:p>
          <a:p>
            <a:pPr>
              <a:defRPr sz="2025" b="0">
                <a:solidFill>
                  <a:srgbClr val="203344"/>
                </a:solidFill>
                <a:latin typeface="Arial"/>
                <a:ea typeface="Arial"/>
                <a:cs typeface="Arial"/>
              </a:defRPr>
            </a:pPr>
            <a:r>
              <a:rPr sz="2025" b="0">
                <a:solidFill>
                  <a:srgbClr val="203344"/>
                </a:solidFill>
                <a:latin typeface="Arial"/>
                <a:ea typeface="Arial"/>
                <a:cs typeface="Arial"/>
              </a:rPr>
              <a:t>a d = 3, p = 0,003</a:t>
            </a:r>
          </a:p>
          <a:p>
            <a:pPr>
              <a:defRPr sz="2025" b="0">
                <a:solidFill>
                  <a:srgbClr val="203344"/>
                </a:solidFill>
                <a:latin typeface="Arial"/>
                <a:ea typeface="Arial"/>
                <a:cs typeface="Arial"/>
              </a:defRPr>
            </a:pPr>
            <a:r>
              <a:rPr sz="2025" b="0">
                <a:solidFill>
                  <a:srgbClr val="203344"/>
                </a:solidFill>
                <a:latin typeface="Arial"/>
                <a:ea typeface="Arial"/>
                <a:cs typeface="Arial"/>
              </a:rPr>
              <a:t>e crosstalk = 0,01</a:t>
            </a:r>
          </a:p>
        </p:txBody>
      </p:sp>
      <p:sp>
        <p:nvSpPr>
          <p:cNvPr id="8" name="Rectangle 7">
            <a:extLst>
              <a:ext uri="{FF2B5EF4-FFF2-40B4-BE49-F238E27FC236}">
                <a16:creationId xmlns:a16="http://schemas.microsoft.com/office/drawing/2014/main" id="{EBDE56B1-67CD-4776-88F0-9542C55C4473}"/>
              </a:ext>
            </a:extLst>
          </p:cNvPr>
          <p:cNvSpPr>
            <a:spLocks noGrp="1"/>
          </p:cNvSpPr>
          <p:nvPr/>
        </p:nvSpPr>
        <p:spPr>
          <a:xfrm>
            <a:off x="8020050" y="4286250"/>
            <a:ext cx="3562350" cy="117157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0,05829 → 0,04851</a:t>
            </a:r>
          </a:p>
          <a:p>
            <a:pPr>
              <a:defRPr sz="1950" b="0">
                <a:solidFill>
                  <a:srgbClr val="203344"/>
                </a:solidFill>
                <a:latin typeface="Arial"/>
                <a:ea typeface="Arial"/>
                <a:cs typeface="Arial"/>
              </a:defRPr>
            </a:pPr>
            <a:r>
              <a:rPr sz="1950" b="0">
                <a:solidFill>
                  <a:srgbClr val="203344"/>
                </a:solidFill>
                <a:latin typeface="Arial"/>
                <a:ea typeface="Arial"/>
                <a:cs typeface="Arial"/>
              </a:rPr>
              <a:t>Test appaiato di McNemar:</a:t>
            </a:r>
          </a:p>
          <a:p>
            <a:pPr>
              <a:defRPr sz="1950" b="0">
                <a:solidFill>
                  <a:srgbClr val="203344"/>
                </a:solidFill>
                <a:latin typeface="Arial"/>
                <a:ea typeface="Arial"/>
                <a:cs typeface="Arial"/>
              </a:defRPr>
            </a:pPr>
            <a:r>
              <a:rPr sz="1950" b="0">
                <a:solidFill>
                  <a:srgbClr val="203344"/>
                </a:solidFill>
                <a:latin typeface="Arial"/>
                <a:ea typeface="Arial"/>
                <a:cs typeface="Arial"/>
              </a:rPr>
              <a:t>beneficio significativo</a:t>
            </a:r>
          </a:p>
        </p:txBody>
      </p:sp>
      <p:sp>
        <p:nvSpPr>
          <p:cNvPr id="10" name="Rectangle 9">
            <a:extLst>
              <a:ext uri="{FF2B5EF4-FFF2-40B4-BE49-F238E27FC236}">
                <a16:creationId xmlns:a16="http://schemas.microsoft.com/office/drawing/2014/main" id="{EE85C313-4101-4A13-8229-69A60076480D}"/>
              </a:ext>
            </a:extLst>
          </p:cNvPr>
          <p:cNvSpPr>
            <a:spLocks noGrp="1"/>
          </p:cNvSpPr>
          <p:nvPr/>
        </p:nvSpPr>
        <p:spPr>
          <a:xfrm>
            <a:off x="609600" y="63055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lang="it-IT" b="1">
                <a:solidFill>
                  <a:srgbClr val="175F99"/>
                </a:solidFill>
                <a:latin typeface="Arial"/>
                <a:ea typeface="Arial"/>
                <a:cs typeface="Arial"/>
              </a:rPr>
              <a:t>Il ML aiuta come correttore di MWPM; il vantaggio cala sui codici più grandi.</a:t>
            </a:r>
            <a:endParaRPr b="1">
              <a:solidFill>
                <a:srgbClr val="175F99"/>
              </a:solidFill>
              <a:latin typeface="Arial"/>
              <a:ea typeface="Arial"/>
              <a:cs typeface="Arial"/>
            </a:endParaRPr>
          </a:p>
        </p:txBody>
      </p:sp>
      <p:sp>
        <p:nvSpPr>
          <p:cNvPr id="2" name="Oval 1">
            <a:extLst>
              <a:ext uri="{FF2B5EF4-FFF2-40B4-BE49-F238E27FC236}">
                <a16:creationId xmlns:a16="http://schemas.microsoft.com/office/drawing/2014/main" id="{FA1BB508-5552-8A81-EB3E-4696BB866A09}"/>
              </a:ext>
            </a:extLst>
          </p:cNvPr>
          <p:cNvSpPr/>
          <p:nvPr/>
        </p:nvSpPr>
        <p:spPr>
          <a:xfrm>
            <a:off x="2971800" y="2654300"/>
            <a:ext cx="279400" cy="279400"/>
          </a:xfrm>
          <a:prstGeom prst="ellipse">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22446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DD45B49-2B11-4DFB-98C7-25966E63F34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Gross code e numero di qubit</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81DA0D9-D748-4F9F-9C08-BE658E4E996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E3FE9E0-BFDE-43C4-92FF-F134608A13C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17</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3B59E607-563C-497F-860E-6DBFA2201FC9}"/>
              </a:ext>
            </a:extLst>
          </p:cNvPr>
          <p:cNvSpPr>
            <a:spLocks noGrp="1"/>
          </p:cNvSpPr>
          <p:nvPr/>
        </p:nvSpPr>
        <p:spPr>
          <a:xfrm>
            <a:off x="609600" y="1447800"/>
            <a:ext cx="10972800" cy="666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2175" b="0">
                <a:solidFill>
                  <a:srgbClr val="203344"/>
                </a:solidFill>
                <a:latin typeface="Arial"/>
                <a:ea typeface="Arial"/>
                <a:cs typeface="Arial"/>
              </a:rPr>
              <a:t>Qubit di dato per proteggere 12 qubit logici · modello code-capacity</a:t>
            </a:r>
            <a:endParaRPr sz="2175" b="0">
              <a:solidFill>
                <a:srgbClr val="203344"/>
              </a:solidFill>
              <a:latin typeface="Arial"/>
              <a:ea typeface="Arial"/>
              <a:cs typeface="Arial"/>
            </a:endParaRPr>
          </a:p>
        </p:txBody>
      </p:sp>
      <p:sp>
        <p:nvSpPr>
          <p:cNvPr id="13" name="Rectangle 12">
            <a:extLst>
              <a:ext uri="{FF2B5EF4-FFF2-40B4-BE49-F238E27FC236}">
                <a16:creationId xmlns:a16="http://schemas.microsoft.com/office/drawing/2014/main" id="{FA2DE5DE-DFF9-4E56-AB42-5BD84A6327AC}"/>
              </a:ext>
            </a:extLst>
          </p:cNvPr>
          <p:cNvSpPr>
            <a:spLocks noGrp="1"/>
          </p:cNvSpPr>
          <p:nvPr/>
        </p:nvSpPr>
        <p:spPr>
          <a:xfrm>
            <a:off x="609600" y="5057775"/>
            <a:ext cx="10972800" cy="781050"/>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Gross code migliore delle patch d = 11 a ogni livello studiato e delle patch d = 13 per p ≥ 0,75%. A p = 1%: 1,0×10⁻⁶ contro 1,6×10⁻⁶.</a:t>
            </a:r>
            <a:endParaRPr sz="202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56FACC26-75FB-4DAA-A0AD-6154F7148699}"/>
              </a:ext>
            </a:extLst>
          </p:cNvPr>
          <p:cNvSpPr>
            <a:spLocks noGrp="1"/>
          </p:cNvSpPr>
          <p:nvPr/>
        </p:nvSpPr>
        <p:spPr>
          <a:xfrm>
            <a:off x="609600" y="6124575"/>
            <a:ext cx="10972800" cy="561975"/>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BP+OSD seriale riduce il fallimento di circa 100× rispetto all’aggiornamento parallelo.</a:t>
            </a:r>
          </a:p>
        </p:txBody>
      </p:sp>
      <p:sp>
        <p:nvSpPr>
          <p:cNvPr id="40" name="Nota simulazione"/>
          <p:cNvSpPr>
            <a:spLocks noGrp="1"/>
          </p:cNvSpPr>
          <p:nvPr/>
        </p:nvSpPr>
        <p:spPr>
          <a:xfrm>
            <a:off x="609600" y="4290000"/>
            <a:ext cx="10972800" cy="560000"/>
          </a:xfrm>
          <a:prstGeom prst="rect">
            <a:avLst/>
          </a:prstGeom>
          <a:noFill/>
          <a:ln w="0">
            <a:noFill/>
          </a:ln>
        </p:spPr>
        <p:txBody>
          <a:bodyPr>
            <a:noAutofit/>
          </a:bodyPr>
          <a:lstStyle/>
          <a:p>
            <a:pPr>
              <a:defRPr sz="1500" b="0">
                <a:solidFill>
                  <a:srgbClr val="5A6B7B"/>
                </a:solidFill>
                <a:latin typeface="Arial"/>
                <a:ea typeface="Arial"/>
                <a:cs typeface="Arial"/>
              </a:defRPr>
            </a:pPr>
            <a:r>
              <a:rPr lang="it-IT" sz="1500" b="0">
                <a:solidFill>
                  <a:srgbClr val="5A6B7B"/>
                </a:solidFill>
                <a:latin typeface="Arial"/>
                <a:ea typeface="Arial"/>
                <a:cs typeface="Arial"/>
              </a:rPr>
              <a:t>Simulazione classica degli errori: sequenze di 144 bit, sindrome e decodifica. Lo stato quantistico di 144 qubit non viene simulato.</a:t>
            </a:r>
            <a:endParaRPr sz="1500" b="0">
              <a:solidFill>
                <a:srgbClr val="5A6B7B"/>
              </a:solidFill>
              <a:latin typeface="Arial"/>
              <a:ea typeface="Arial"/>
              <a:cs typeface="Arial"/>
            </a:endParaRPr>
          </a:p>
        </p:txBody>
      </p:sp>
      <p:sp>
        <p:nvSpPr>
          <p:cNvPr id="2" name="TextBox 1">
            <a:extLst>
              <a:ext uri="{FF2B5EF4-FFF2-40B4-BE49-F238E27FC236}">
                <a16:creationId xmlns:a16="http://schemas.microsoft.com/office/drawing/2014/main" id="{6CC69F4F-C1C0-F662-B4B2-B110AEC17965}"/>
              </a:ext>
            </a:extLst>
          </p:cNvPr>
          <p:cNvSpPr txBox="1"/>
          <p:nvPr/>
        </p:nvSpPr>
        <p:spPr>
          <a:xfrm>
            <a:off x="609600" y="2260600"/>
            <a:ext cx="3556000" cy="381000"/>
          </a:xfrm>
          <a:prstGeom prst="rect">
            <a:avLst/>
          </a:prstGeom>
          <a:noFill/>
        </p:spPr>
        <p:txBody>
          <a:bodyPr vert="horz" wrap="square" rtlCol="0">
            <a:noAutofit/>
          </a:bodyPr>
          <a:lstStyle/>
          <a:p>
            <a:r>
              <a:rPr lang="en-GB" sz="1725" b="1">
                <a:solidFill>
                  <a:srgbClr val="203344"/>
                </a:solidFill>
                <a:latin typeface="Arial" panose="020B0604020202020204" pitchFamily="34" charset="0"/>
              </a:rPr>
              <a:t>Gross code [[144,12,12]]</a:t>
            </a:r>
          </a:p>
        </p:txBody>
      </p:sp>
      <p:sp>
        <p:nvSpPr>
          <p:cNvPr id="17" name="Rectangle 16">
            <a:extLst>
              <a:ext uri="{FF2B5EF4-FFF2-40B4-BE49-F238E27FC236}">
                <a16:creationId xmlns:a16="http://schemas.microsoft.com/office/drawing/2014/main" id="{9148C583-5F91-EA23-2FB5-8EE6E27AC3C5}"/>
              </a:ext>
            </a:extLst>
          </p:cNvPr>
          <p:cNvSpPr/>
          <p:nvPr/>
        </p:nvSpPr>
        <p:spPr>
          <a:xfrm>
            <a:off x="4191000" y="2286000"/>
            <a:ext cx="419100" cy="330200"/>
          </a:xfrm>
          <a:prstGeom prst="rect">
            <a:avLst/>
          </a:prstGeom>
          <a:solidFill>
            <a:srgbClr val="D9822B"/>
          </a:solidFill>
          <a:ln w="19050">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7BF7674F-7718-D766-7EEB-A9A243251484}"/>
              </a:ext>
            </a:extLst>
          </p:cNvPr>
          <p:cNvSpPr txBox="1"/>
          <p:nvPr/>
        </p:nvSpPr>
        <p:spPr>
          <a:xfrm>
            <a:off x="4686300" y="2247900"/>
            <a:ext cx="5334000" cy="381000"/>
          </a:xfrm>
          <a:prstGeom prst="rect">
            <a:avLst/>
          </a:prstGeom>
          <a:noFill/>
        </p:spPr>
        <p:txBody>
          <a:bodyPr vert="horz" wrap="square" rtlCol="0">
            <a:noAutofit/>
          </a:bodyPr>
          <a:lstStyle/>
          <a:p>
            <a:r>
              <a:rPr lang="it-IT" sz="1950" b="1">
                <a:solidFill>
                  <a:srgbClr val="B5641A"/>
                </a:solidFill>
                <a:latin typeface="Arial" panose="020B0604020202020204" pitchFamily="34" charset="0"/>
              </a:rPr>
              <a:t>144  ·  circa 14 volte meno qubit</a:t>
            </a:r>
            <a:endParaRPr lang="en-GB" sz="1950" b="1">
              <a:solidFill>
                <a:srgbClr val="B5641A"/>
              </a:solidFill>
              <a:latin typeface="Arial" panose="020B0604020202020204" pitchFamily="34" charset="0"/>
            </a:endParaRPr>
          </a:p>
        </p:txBody>
      </p:sp>
      <p:sp>
        <p:nvSpPr>
          <p:cNvPr id="19" name="TextBox 18">
            <a:extLst>
              <a:ext uri="{FF2B5EF4-FFF2-40B4-BE49-F238E27FC236}">
                <a16:creationId xmlns:a16="http://schemas.microsoft.com/office/drawing/2014/main" id="{FBADE274-5C8A-78BC-573F-8D208A4B8336}"/>
              </a:ext>
            </a:extLst>
          </p:cNvPr>
          <p:cNvSpPr txBox="1"/>
          <p:nvPr/>
        </p:nvSpPr>
        <p:spPr>
          <a:xfrm>
            <a:off x="609600" y="28448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11</a:t>
            </a:r>
            <a:endParaRPr lang="en-GB" sz="1725">
              <a:solidFill>
                <a:srgbClr val="203344"/>
              </a:solidFill>
              <a:latin typeface="Arial" panose="020B0604020202020204" pitchFamily="34" charset="0"/>
            </a:endParaRPr>
          </a:p>
        </p:txBody>
      </p:sp>
      <p:sp>
        <p:nvSpPr>
          <p:cNvPr id="20" name="Rectangle 19">
            <a:extLst>
              <a:ext uri="{FF2B5EF4-FFF2-40B4-BE49-F238E27FC236}">
                <a16:creationId xmlns:a16="http://schemas.microsoft.com/office/drawing/2014/main" id="{17EEBA82-F5DD-FBA4-53C0-D669891ED9C6}"/>
              </a:ext>
            </a:extLst>
          </p:cNvPr>
          <p:cNvSpPr/>
          <p:nvPr/>
        </p:nvSpPr>
        <p:spPr>
          <a:xfrm>
            <a:off x="4191000" y="2870200"/>
            <a:ext cx="4279900"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985FA1F8-8FD8-D08F-6193-F42B82486A22}"/>
              </a:ext>
            </a:extLst>
          </p:cNvPr>
          <p:cNvSpPr txBox="1"/>
          <p:nvPr/>
        </p:nvSpPr>
        <p:spPr>
          <a:xfrm>
            <a:off x="8547100" y="2832100"/>
            <a:ext cx="12700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1 452</a:t>
            </a:r>
          </a:p>
        </p:txBody>
      </p:sp>
      <p:sp>
        <p:nvSpPr>
          <p:cNvPr id="22" name="TextBox 21">
            <a:extLst>
              <a:ext uri="{FF2B5EF4-FFF2-40B4-BE49-F238E27FC236}">
                <a16:creationId xmlns:a16="http://schemas.microsoft.com/office/drawing/2014/main" id="{07F3761C-CB28-DF95-8288-1CF2A85D3EB3}"/>
              </a:ext>
            </a:extLst>
          </p:cNvPr>
          <p:cNvSpPr txBox="1"/>
          <p:nvPr/>
        </p:nvSpPr>
        <p:spPr>
          <a:xfrm>
            <a:off x="609600" y="34290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13</a:t>
            </a:r>
            <a:endParaRPr lang="en-GB" sz="1725">
              <a:solidFill>
                <a:srgbClr val="203344"/>
              </a:solidFill>
              <a:latin typeface="Arial" panose="020B0604020202020204" pitchFamily="34" charset="0"/>
            </a:endParaRPr>
          </a:p>
        </p:txBody>
      </p:sp>
      <p:sp>
        <p:nvSpPr>
          <p:cNvPr id="23" name="Rectangle 22">
            <a:extLst>
              <a:ext uri="{FF2B5EF4-FFF2-40B4-BE49-F238E27FC236}">
                <a16:creationId xmlns:a16="http://schemas.microsoft.com/office/drawing/2014/main" id="{BA0EF537-C669-94C1-3B0E-710E8987E75F}"/>
              </a:ext>
            </a:extLst>
          </p:cNvPr>
          <p:cNvSpPr/>
          <p:nvPr/>
        </p:nvSpPr>
        <p:spPr>
          <a:xfrm>
            <a:off x="4191000" y="3454400"/>
            <a:ext cx="5969000"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F9CCD019-9513-713C-464B-129DFFF0690F}"/>
              </a:ext>
            </a:extLst>
          </p:cNvPr>
          <p:cNvSpPr txBox="1"/>
          <p:nvPr/>
        </p:nvSpPr>
        <p:spPr>
          <a:xfrm>
            <a:off x="10236200" y="3416300"/>
            <a:ext cx="12700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2 028</a:t>
            </a:r>
          </a:p>
        </p:txBody>
      </p:sp>
    </p:spTree>
    <p:extLst>
      <p:ext uri="{BB962C8B-B14F-4D97-AF65-F5344CB8AC3E}">
        <p14:creationId xmlns:p14="http://schemas.microsoft.com/office/powerpoint/2010/main" val="498351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A715D2C-BFF8-4F44-9B9C-E1B9D835B317}"/>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3: AQFT su N = 15</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A2291F3-B2FD-49F3-B6D2-121D3BDBF3CD}"/>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2F908A8-B2EF-405D-A77D-5756ADD4C77A}"/>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18</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609600" y="1547175"/>
            <a:ext cx="6238875" cy="3744601"/>
          </a:xfrm>
          <a:prstGeom prst="rect">
            <a:avLst/>
          </a:prstGeom>
        </p:spPr>
      </p:pic>
      <p:sp>
        <p:nvSpPr>
          <p:cNvPr id="6" name="Rectangle 5">
            <a:extLst>
              <a:ext uri="{FF2B5EF4-FFF2-40B4-BE49-F238E27FC236}">
                <a16:creationId xmlns:a16="http://schemas.microsoft.com/office/drawing/2014/main" id="{68AFD0C9-328E-4D63-A4D9-E371C130FD82}"/>
              </a:ext>
            </a:extLst>
          </p:cNvPr>
          <p:cNvSpPr>
            <a:spLocks noGrp="1"/>
          </p:cNvSpPr>
          <p:nvPr/>
        </p:nvSpPr>
        <p:spPr>
          <a:xfrm>
            <a:off x="7391400" y="1609725"/>
            <a:ext cx="4191000" cy="800100"/>
          </a:xfrm>
          <a:prstGeom prst="rect">
            <a:avLst/>
          </a:prstGeom>
          <a:noFill/>
          <a:ln w="0">
            <a:noFill/>
          </a:ln>
        </p:spPr>
        <p:txBody>
          <a:bodyPr>
            <a:noAutofit/>
          </a:bodyPr>
          <a:lstStyle/>
          <a:p>
            <a:pPr>
              <a:defRPr sz="4725" b="1">
                <a:solidFill>
                  <a:srgbClr val="175F99"/>
                </a:solidFill>
                <a:latin typeface="Arial"/>
                <a:ea typeface="Arial"/>
                <a:cs typeface="Arial"/>
              </a:defRPr>
            </a:pPr>
            <a:r>
              <a:rPr sz="4725" b="1">
                <a:solidFill>
                  <a:srgbClr val="B5641A"/>
                </a:solidFill>
                <a:latin typeface="Arial"/>
                <a:ea typeface="Arial"/>
                <a:cs typeface="Arial"/>
              </a:rPr>
              <a:t>+14,87</a:t>
            </a:r>
          </a:p>
        </p:txBody>
      </p:sp>
      <p:sp>
        <p:nvSpPr>
          <p:cNvPr id="7" name="Rectangle 6">
            <a:extLst>
              <a:ext uri="{FF2B5EF4-FFF2-40B4-BE49-F238E27FC236}">
                <a16:creationId xmlns:a16="http://schemas.microsoft.com/office/drawing/2014/main" id="{A3C5E1FC-DBD5-48E4-A049-97253916A7E3}"/>
              </a:ext>
            </a:extLst>
          </p:cNvPr>
          <p:cNvSpPr>
            <a:spLocks noGrp="1"/>
          </p:cNvSpPr>
          <p:nvPr/>
        </p:nvSpPr>
        <p:spPr>
          <a:xfrm>
            <a:off x="7391400" y="2447925"/>
            <a:ext cx="41910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Punti percentuali di successo</a:t>
            </a:r>
          </a:p>
          <a:p>
            <a:pPr>
              <a:defRPr sz="2025" b="0">
                <a:solidFill>
                  <a:srgbClr val="203344"/>
                </a:solidFill>
                <a:latin typeface="Arial"/>
                <a:ea typeface="Arial"/>
                <a:cs typeface="Arial"/>
              </a:defRPr>
            </a:pPr>
            <a:r>
              <a:rPr sz="2025" b="0">
                <a:solidFill>
                  <a:srgbClr val="203344"/>
                </a:solidFill>
                <a:latin typeface="Arial"/>
                <a:ea typeface="Arial"/>
                <a:cs typeface="Arial"/>
              </a:rPr>
              <a:t>su dati di verifica</a:t>
            </a:r>
          </a:p>
        </p:txBody>
      </p:sp>
      <p:graphicFrame>
        <p:nvGraphicFramePr>
          <p:cNvPr id="18" name="Table 17"/>
          <p:cNvGraphicFramePr/>
          <p:nvPr/>
        </p:nvGraphicFramePr>
        <p:xfrm>
          <a:off x="7391400" y="3629025"/>
          <a:ext cx="4191000" cy="1895476"/>
        </p:xfrm>
        <a:graphic>
          <a:graphicData uri="http://schemas.openxmlformats.org/drawingml/2006/table">
            <a:tbl>
              <a:tblPr/>
              <a:tblGrid>
                <a:gridCol w="1428750">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381125">
                  <a:extLst>
                    <a:ext uri="{9D8B030D-6E8A-4147-A177-3AD203B41FA5}">
                      <a16:colId xmlns:a16="http://schemas.microsoft.com/office/drawing/2014/main" val="20002"/>
                    </a:ext>
                  </a:extLst>
                </a:gridCol>
              </a:tblGrid>
              <a:tr h="473869">
                <a:tc>
                  <a:txBody>
                    <a:bodyPr/>
                    <a:lstStyle/>
                    <a:p>
                      <a:endParaRPr/>
                    </a:p>
                  </a:txBody>
                  <a:tcPr>
                    <a:solidFill>
                      <a:srgbClr val="175F99"/>
                    </a:solidFill>
                  </a:tcPr>
                </a:tc>
                <a:tc>
                  <a:txBody>
                    <a:bodyPr/>
                    <a:lstStyle/>
                    <a:p>
                      <a:r>
                        <a:rPr sz="1725" b="1">
                          <a:solidFill>
                            <a:srgbClr val="FFFFFF"/>
                          </a:solidFill>
                          <a:latin typeface="Arial"/>
                          <a:ea typeface="Arial"/>
                          <a:cs typeface="Arial"/>
                        </a:rPr>
                        <a:t>QFT piena</a:t>
                      </a:r>
                    </a:p>
                  </a:txBody>
                  <a:tcPr>
                    <a:solidFill>
                      <a:srgbClr val="175F99"/>
                    </a:solidFill>
                  </a:tcPr>
                </a:tc>
                <a:tc>
                  <a:txBody>
                    <a:bodyPr/>
                    <a:lstStyle/>
                    <a:p>
                      <a:r>
                        <a:rPr sz="1725" b="1">
                          <a:solidFill>
                            <a:srgbClr val="FFFFFF"/>
                          </a:solidFill>
                          <a:latin typeface="Arial"/>
                          <a:ea typeface="Arial"/>
                          <a:cs typeface="Arial"/>
                        </a:rPr>
                        <a:t>AQFT</a:t>
                      </a:r>
                    </a:p>
                  </a:txBody>
                  <a:tcPr>
                    <a:solidFill>
                      <a:srgbClr val="175F99"/>
                    </a:solidFill>
                  </a:tcPr>
                </a:tc>
                <a:extLst>
                  <a:ext uri="{0D108BD9-81ED-4DB2-BD59-A6C34878D82A}">
                    <a16:rowId xmlns:a16="http://schemas.microsoft.com/office/drawing/2014/main" val="10000"/>
                  </a:ext>
                </a:extLst>
              </a:tr>
              <a:tr h="473869">
                <a:tc>
                  <a:txBody>
                    <a:bodyPr/>
                    <a:lstStyle/>
                    <a:p>
                      <a:r>
                        <a:rPr sz="1725" b="0">
                          <a:solidFill>
                            <a:srgbClr val="203344"/>
                          </a:solidFill>
                          <a:latin typeface="Arial"/>
                          <a:ea typeface="Arial"/>
                          <a:cs typeface="Arial"/>
                        </a:rPr>
                        <a:t>Successo</a:t>
                      </a:r>
                    </a:p>
                  </a:txBody>
                  <a:tcPr>
                    <a:solidFill>
                      <a:srgbClr val="EEF4F8"/>
                    </a:solidFill>
                  </a:tcPr>
                </a:tc>
                <a:tc>
                  <a:txBody>
                    <a:bodyPr/>
                    <a:lstStyle/>
                    <a:p>
                      <a:r>
                        <a:rPr sz="1725" b="0">
                          <a:solidFill>
                            <a:srgbClr val="203344"/>
                          </a:solidFill>
                          <a:latin typeface="Arial"/>
                          <a:ea typeface="Arial"/>
                          <a:cs typeface="Arial"/>
                        </a:rPr>
                        <a:t>47,92%</a:t>
                      </a:r>
                    </a:p>
                  </a:txBody>
                  <a:tcPr>
                    <a:solidFill>
                      <a:srgbClr val="EEF4F8"/>
                    </a:solidFill>
                  </a:tcPr>
                </a:tc>
                <a:tc>
                  <a:txBody>
                    <a:bodyPr/>
                    <a:lstStyle/>
                    <a:p>
                      <a:r>
                        <a:rPr sz="1725" b="0">
                          <a:solidFill>
                            <a:srgbClr val="203344"/>
                          </a:solidFill>
                          <a:latin typeface="Arial"/>
                          <a:ea typeface="Arial"/>
                          <a:cs typeface="Arial"/>
                        </a:rPr>
                        <a:t>62,79%</a:t>
                      </a:r>
                    </a:p>
                  </a:txBody>
                  <a:tcPr>
                    <a:solidFill>
                      <a:srgbClr val="EEF4F8"/>
                    </a:solidFill>
                  </a:tcPr>
                </a:tc>
                <a:extLst>
                  <a:ext uri="{0D108BD9-81ED-4DB2-BD59-A6C34878D82A}">
                    <a16:rowId xmlns:a16="http://schemas.microsoft.com/office/drawing/2014/main" val="10001"/>
                  </a:ext>
                </a:extLst>
              </a:tr>
              <a:tr h="473869">
                <a:tc>
                  <a:txBody>
                    <a:bodyPr/>
                    <a:lstStyle/>
                    <a:p>
                      <a:r>
                        <a:rPr sz="1725" b="0">
                          <a:solidFill>
                            <a:srgbClr val="203344"/>
                          </a:solidFill>
                          <a:latin typeface="Arial"/>
                          <a:ea typeface="Arial"/>
                          <a:cs typeface="Arial"/>
                        </a:rPr>
                        <a:t>Porte ECR</a:t>
                      </a:r>
                    </a:p>
                  </a:txBody>
                  <a:tcPr>
                    <a:solidFill>
                      <a:srgbClr val="FFFFFF"/>
                    </a:solidFill>
                  </a:tcPr>
                </a:tc>
                <a:tc>
                  <a:txBody>
                    <a:bodyPr/>
                    <a:lstStyle/>
                    <a:p>
                      <a:r>
                        <a:rPr sz="1725" b="0">
                          <a:solidFill>
                            <a:srgbClr val="203344"/>
                          </a:solidFill>
                          <a:latin typeface="Arial"/>
                          <a:ea typeface="Arial"/>
                          <a:cs typeface="Arial"/>
                        </a:rPr>
                        <a:t>362</a:t>
                      </a:r>
                    </a:p>
                  </a:txBody>
                  <a:tcPr>
                    <a:solidFill>
                      <a:srgbClr val="FFFFFF"/>
                    </a:solidFill>
                  </a:tcPr>
                </a:tc>
                <a:tc>
                  <a:txBody>
                    <a:bodyPr/>
                    <a:lstStyle/>
                    <a:p>
                      <a:r>
                        <a:rPr sz="1725" b="0">
                          <a:solidFill>
                            <a:srgbClr val="203344"/>
                          </a:solidFill>
                          <a:latin typeface="Arial"/>
                          <a:ea typeface="Arial"/>
                          <a:cs typeface="Arial"/>
                        </a:rPr>
                        <a:t>279</a:t>
                      </a:r>
                    </a:p>
                  </a:txBody>
                  <a:tcPr>
                    <a:solidFill>
                      <a:srgbClr val="FFFFFF"/>
                    </a:solidFill>
                  </a:tcPr>
                </a:tc>
                <a:extLst>
                  <a:ext uri="{0D108BD9-81ED-4DB2-BD59-A6C34878D82A}">
                    <a16:rowId xmlns:a16="http://schemas.microsoft.com/office/drawing/2014/main" val="10002"/>
                  </a:ext>
                </a:extLst>
              </a:tr>
              <a:tr h="473869">
                <a:tc>
                  <a:txBody>
                    <a:bodyPr/>
                    <a:lstStyle/>
                    <a:p>
                      <a:r>
                        <a:rPr sz="1725" b="0">
                          <a:solidFill>
                            <a:srgbClr val="203344"/>
                          </a:solidFill>
                          <a:latin typeface="Arial"/>
                          <a:ea typeface="Arial"/>
                          <a:cs typeface="Arial"/>
                        </a:rPr>
                        <a:t>Profondità</a:t>
                      </a:r>
                    </a:p>
                  </a:txBody>
                  <a:tcPr>
                    <a:solidFill>
                      <a:srgbClr val="EEF4F8"/>
                    </a:solidFill>
                  </a:tcPr>
                </a:tc>
                <a:tc>
                  <a:txBody>
                    <a:bodyPr/>
                    <a:lstStyle/>
                    <a:p>
                      <a:r>
                        <a:rPr sz="1725" b="0">
                          <a:solidFill>
                            <a:srgbClr val="203344"/>
                          </a:solidFill>
                          <a:latin typeface="Arial"/>
                          <a:ea typeface="Arial"/>
                          <a:cs typeface="Arial"/>
                        </a:rPr>
                        <a:t>1351</a:t>
                      </a:r>
                    </a:p>
                  </a:txBody>
                  <a:tcPr>
                    <a:solidFill>
                      <a:srgbClr val="EEF4F8"/>
                    </a:solidFill>
                  </a:tcPr>
                </a:tc>
                <a:tc>
                  <a:txBody>
                    <a:bodyPr/>
                    <a:lstStyle/>
                    <a:p>
                      <a:r>
                        <a:rPr sz="1725" b="0">
                          <a:solidFill>
                            <a:srgbClr val="203344"/>
                          </a:solidFill>
                          <a:latin typeface="Arial"/>
                          <a:ea typeface="Arial"/>
                          <a:cs typeface="Arial"/>
                        </a:rPr>
                        <a:t>1141</a:t>
                      </a:r>
                    </a:p>
                  </a:txBody>
                  <a:tcPr>
                    <a:solidFill>
                      <a:srgbClr val="EEF4F8"/>
                    </a:solidFill>
                  </a:tcPr>
                </a:tc>
                <a:extLst>
                  <a:ext uri="{0D108BD9-81ED-4DB2-BD59-A6C34878D82A}">
                    <a16:rowId xmlns:a16="http://schemas.microsoft.com/office/drawing/2014/main" val="10003"/>
                  </a:ext>
                </a:extLst>
              </a:tr>
            </a:tbl>
          </a:graphicData>
        </a:graphic>
      </p:graphicFrame>
      <p:sp>
        <p:nvSpPr>
          <p:cNvPr id="10" name="Rectangle 9">
            <a:extLst>
              <a:ext uri="{FF2B5EF4-FFF2-40B4-BE49-F238E27FC236}">
                <a16:creationId xmlns:a16="http://schemas.microsoft.com/office/drawing/2014/main" id="{CD681458-516B-464A-8A55-982CD3E3B7A1}"/>
              </a:ext>
            </a:extLst>
          </p:cNvPr>
          <p:cNvSpPr>
            <a:spLocks noGrp="1"/>
          </p:cNvSpPr>
          <p:nvPr/>
        </p:nvSpPr>
        <p:spPr>
          <a:xfrm>
            <a:off x="609600" y="6296025"/>
            <a:ext cx="10972800" cy="409575"/>
          </a:xfrm>
          <a:prstGeom prst="rect">
            <a:avLst/>
          </a:prstGeom>
          <a:noFill/>
          <a:ln w="0">
            <a:noFill/>
          </a:ln>
        </p:spPr>
        <p:txBody>
          <a:bodyPr>
            <a:noAutofit/>
          </a:bodyPr>
          <a:lstStyle/>
          <a:p>
            <a:pPr>
              <a:defRPr sz="2025" b="1">
                <a:solidFill>
                  <a:srgbClr val="175F99"/>
                </a:solidFill>
                <a:latin typeface="Arial"/>
                <a:ea typeface="Arial"/>
                <a:cs typeface="Arial"/>
              </a:defRPr>
            </a:pPr>
            <a:r>
              <a:rPr lang="it-IT" b="1">
                <a:solidFill>
                  <a:srgbClr val="175F99"/>
                </a:solidFill>
                <a:latin typeface="Arial"/>
                <a:ea typeface="Arial"/>
                <a:cs typeface="Arial"/>
              </a:rPr>
              <a:t>Su N = 15: più successo con il 22,9% di porte in meno; caso favorevole.</a:t>
            </a:r>
            <a:endParaRPr b="1">
              <a:solidFill>
                <a:srgbClr val="175F99"/>
              </a:solidFill>
              <a:latin typeface="Arial"/>
              <a:ea typeface="Arial"/>
              <a:cs typeface="Arial"/>
            </a:endParaRPr>
          </a:p>
        </p:txBody>
      </p:sp>
      <p:sp>
        <p:nvSpPr>
          <p:cNvPr id="2" name="Oval 1">
            <a:extLst>
              <a:ext uri="{FF2B5EF4-FFF2-40B4-BE49-F238E27FC236}">
                <a16:creationId xmlns:a16="http://schemas.microsoft.com/office/drawing/2014/main" id="{249B0271-B841-B4FA-1585-4BB5AD209980}"/>
              </a:ext>
            </a:extLst>
          </p:cNvPr>
          <p:cNvSpPr/>
          <p:nvPr/>
        </p:nvSpPr>
        <p:spPr>
          <a:xfrm>
            <a:off x="1447800" y="1854200"/>
            <a:ext cx="279400" cy="279400"/>
          </a:xfrm>
          <a:prstGeom prst="ellipse">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2393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D44FC83-C70B-46CD-8C70-92D7C3D9C2A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Conclusioni e contributo personale</a:t>
            </a:r>
            <a:endParaRPr sz="2700" b="0">
              <a:solidFill>
                <a:srgbClr val="003366"/>
              </a:solidFill>
              <a:latin typeface="Arial"/>
              <a:ea typeface="Arial"/>
              <a:cs typeface="Arial"/>
            </a:endParaRPr>
          </a:p>
        </p:txBody>
      </p:sp>
      <p:pic>
        <p:nvPicPr>
          <p:cNvPr id="13" name="Picture 12"/>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20B7C71E-845D-4B6E-BAC4-41119EECCBA9}"/>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1EF0B45-22BD-40BF-B86A-74F48577473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19</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9FD045C-2318-472B-9B26-08CDB5EF9595}"/>
              </a:ext>
            </a:extLst>
          </p:cNvPr>
          <p:cNvSpPr>
            <a:spLocks noGrp="1"/>
          </p:cNvSpPr>
          <p:nvPr/>
        </p:nvSpPr>
        <p:spPr>
          <a:xfrm>
            <a:off x="609600" y="1346200"/>
            <a:ext cx="10972800" cy="1016000"/>
          </a:xfrm>
          <a:prstGeom prst="rect">
            <a:avLst/>
          </a:prstGeom>
          <a:noFill/>
          <a:ln w="0">
            <a:noFill/>
          </a:ln>
        </p:spPr>
        <p:txBody>
          <a:bodyPr>
            <a:noAutofit/>
          </a:bodyPr>
          <a:lstStyle/>
          <a:p>
            <a:pPr>
              <a:defRPr sz="3450" b="1">
                <a:solidFill>
                  <a:srgbClr val="003366"/>
                </a:solidFill>
                <a:latin typeface="Arial"/>
                <a:ea typeface="Arial"/>
                <a:cs typeface="Arial"/>
              </a:defRPr>
            </a:pPr>
            <a:r>
              <a:rPr lang="it-IT" sz="2600" b="1">
                <a:solidFill>
                  <a:srgbClr val="003366"/>
                </a:solidFill>
                <a:latin typeface="Arial"/>
                <a:ea typeface="Arial"/>
                <a:cs typeface="Arial"/>
              </a:rPr>
              <a:t>Il valore di una tecnica dipende dall'informazione che sfrutta e dalla forza della baseline.</a:t>
            </a:r>
            <a:endParaRPr sz="2600" b="1">
              <a:solidFill>
                <a:srgbClr val="003366"/>
              </a:solidFill>
              <a:latin typeface="Arial"/>
              <a:ea typeface="Arial"/>
              <a:cs typeface="Arial"/>
            </a:endParaRPr>
          </a:p>
        </p:txBody>
      </p:sp>
      <p:sp>
        <p:nvSpPr>
          <p:cNvPr id="2" name="Rectangle: Rounded Corners 1">
            <a:extLst>
              <a:ext uri="{FF2B5EF4-FFF2-40B4-BE49-F238E27FC236}">
                <a16:creationId xmlns:a16="http://schemas.microsoft.com/office/drawing/2014/main" id="{79DE2815-21B7-682F-A426-5F90BFDD3396}"/>
              </a:ext>
            </a:extLst>
          </p:cNvPr>
          <p:cNvSpPr/>
          <p:nvPr/>
        </p:nvSpPr>
        <p:spPr>
          <a:xfrm>
            <a:off x="6096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A1C020A3-720D-427F-D9DE-ECE06638CA52}"/>
              </a:ext>
            </a:extLst>
          </p:cNvPr>
          <p:cNvSpPr/>
          <p:nvPr/>
        </p:nvSpPr>
        <p:spPr>
          <a:xfrm>
            <a:off x="62484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F5790D89-B65C-CB3A-B26D-A612DB8546D8}"/>
              </a:ext>
            </a:extLst>
          </p:cNvPr>
          <p:cNvSpPr txBox="1"/>
          <p:nvPr/>
        </p:nvSpPr>
        <p:spPr>
          <a:xfrm>
            <a:off x="8128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Cosa ho mostrato</a:t>
            </a:r>
          </a:p>
        </p:txBody>
      </p:sp>
      <p:sp>
        <p:nvSpPr>
          <p:cNvPr id="16" name="TextBox 15">
            <a:extLst>
              <a:ext uri="{FF2B5EF4-FFF2-40B4-BE49-F238E27FC236}">
                <a16:creationId xmlns:a16="http://schemas.microsoft.com/office/drawing/2014/main" id="{0B6CF6D8-7978-90DC-1925-74FEA6FB9763}"/>
              </a:ext>
            </a:extLst>
          </p:cNvPr>
          <p:cNvSpPr txBox="1"/>
          <p:nvPr/>
        </p:nvSpPr>
        <p:spPr>
          <a:xfrm>
            <a:off x="64516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Contributo personale</a:t>
            </a:r>
          </a:p>
        </p:txBody>
      </p:sp>
      <p:sp>
        <p:nvSpPr>
          <p:cNvPr id="17" name="TextBox 16">
            <a:extLst>
              <a:ext uri="{FF2B5EF4-FFF2-40B4-BE49-F238E27FC236}">
                <a16:creationId xmlns:a16="http://schemas.microsoft.com/office/drawing/2014/main" id="{BE5014B6-44D1-DC9B-7BB9-F99AF83A1D2A}"/>
              </a:ext>
            </a:extLst>
          </p:cNvPr>
          <p:cNvSpPr txBox="1"/>
          <p:nvPr/>
        </p:nvSpPr>
        <p:spPr>
          <a:xfrm>
            <a:off x="8128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Più candidati, non il ML, riducono le iterazioni.</a:t>
            </a:r>
          </a:p>
          <a:p>
            <a:pPr>
              <a:spcAft>
                <a:spcPts val="1000"/>
              </a:spcAft>
            </a:pPr>
            <a:r>
              <a:rPr lang="it-IT" sz="1725">
                <a:solidFill>
                  <a:srgbClr val="203344"/>
                </a:solidFill>
                <a:latin typeface="Arial" panose="020B0604020202020204" pitchFamily="34" charset="0"/>
              </a:rPr>
              <a:t>La QEC aiuta solo sotto soglia; decoder e codice contano insieme.</a:t>
            </a:r>
          </a:p>
          <a:p>
            <a:pPr>
              <a:spcAft>
                <a:spcPts val="1000"/>
              </a:spcAft>
            </a:pPr>
            <a:r>
              <a:rPr lang="it-IT" sz="1725">
                <a:solidFill>
                  <a:srgbClr val="203344"/>
                </a:solidFill>
                <a:latin typeface="Arial" panose="020B0604020202020204" pitchFamily="34" charset="0"/>
              </a:rPr>
              <a:t>L'AQFT dà +14,87 punti su N = 15; su N = 21 il beneficio non è dimostrato.</a:t>
            </a:r>
            <a:endParaRPr lang="en-GB" sz="1725">
              <a:solidFill>
                <a:srgbClr val="203344"/>
              </a:solidFill>
              <a:latin typeface="Arial" panose="020B0604020202020204" pitchFamily="34" charset="0"/>
            </a:endParaRPr>
          </a:p>
        </p:txBody>
      </p:sp>
      <p:sp>
        <p:nvSpPr>
          <p:cNvPr id="18" name="TextBox 17">
            <a:extLst>
              <a:ext uri="{FF2B5EF4-FFF2-40B4-BE49-F238E27FC236}">
                <a16:creationId xmlns:a16="http://schemas.microsoft.com/office/drawing/2014/main" id="{3F45B240-B8AE-8BB8-DDD9-8B7D9D18CA56}"/>
              </a:ext>
            </a:extLst>
          </p:cNvPr>
          <p:cNvSpPr txBox="1"/>
          <p:nvPr/>
        </p:nvSpPr>
        <p:spPr>
          <a:xfrm>
            <a:off x="64516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Implementazione e validazione dei circuiti per N = 15 e 21.</a:t>
            </a:r>
          </a:p>
          <a:p>
            <a:pPr>
              <a:spcAft>
                <a:spcPts val="1000"/>
              </a:spcAft>
            </a:pPr>
            <a:r>
              <a:rPr lang="it-IT" sz="1725">
                <a:solidFill>
                  <a:srgbClr val="203344"/>
                </a:solidFill>
                <a:latin typeface="Arial" panose="020B0604020202020204" pitchFamily="34" charset="0"/>
              </a:rPr>
              <a:t>Progetto delle campagne con baseline esplicite e confronti appaiati.</a:t>
            </a:r>
          </a:p>
          <a:p>
            <a:pPr>
              <a:spcAft>
                <a:spcPts val="1000"/>
              </a:spcAft>
            </a:pPr>
            <a:r>
              <a:rPr lang="it-IT" sz="1725">
                <a:solidFill>
                  <a:srgbClr val="203344"/>
                </a:solidFill>
                <a:latin typeface="Arial" panose="020B0604020202020204" pitchFamily="34" charset="0"/>
              </a:rPr>
              <a:t>Pipeline riproducibile: versioni, parametri e seed registrati.</a:t>
            </a:r>
            <a:endParaRPr lang="en-GB" sz="1725">
              <a:solidFill>
                <a:srgbClr val="203344"/>
              </a:solidFill>
              <a:latin typeface="Arial" panose="020B0604020202020204" pitchFamily="34" charset="0"/>
            </a:endParaRPr>
          </a:p>
        </p:txBody>
      </p:sp>
      <p:sp>
        <p:nvSpPr>
          <p:cNvPr id="19" name="TextBox 18">
            <a:extLst>
              <a:ext uri="{FF2B5EF4-FFF2-40B4-BE49-F238E27FC236}">
                <a16:creationId xmlns:a16="http://schemas.microsoft.com/office/drawing/2014/main" id="{007C03F3-6ECC-0A57-515F-008B8206761D}"/>
              </a:ext>
            </a:extLst>
          </p:cNvPr>
          <p:cNvSpPr txBox="1"/>
          <p:nvPr/>
        </p:nvSpPr>
        <p:spPr>
          <a:xfrm>
            <a:off x="609600" y="6096000"/>
            <a:ext cx="10972800" cy="369332"/>
          </a:xfrm>
          <a:prstGeom prst="rect">
            <a:avLst/>
          </a:prstGeom>
          <a:noFill/>
        </p:spPr>
        <p:txBody>
          <a:bodyPr vert="horz" wrap="square" rtlCol="0">
            <a:noAutofit/>
          </a:bodyPr>
          <a:lstStyle/>
          <a:p>
            <a:r>
              <a:rPr lang="it-IT" sz="1725" b="1">
                <a:solidFill>
                  <a:srgbClr val="175F99"/>
                </a:solidFill>
                <a:latin typeface="Arial" panose="020B0604020202020204" pitchFamily="34" charset="0"/>
              </a:rPr>
              <a:t>Ottimizzazione del circuito e QEC sono complementari: la prima contiene le risorse, la seconda protegge l'esecuzione.</a:t>
            </a:r>
            <a:endParaRPr lang="en-GB" sz="1725" b="1">
              <a:solidFill>
                <a:srgbClr val="175F99"/>
              </a:solidFill>
              <a:latin typeface="Arial" panose="020B0604020202020204" pitchFamily="34" charset="0"/>
            </a:endParaRPr>
          </a:p>
        </p:txBody>
      </p:sp>
    </p:spTree>
    <p:extLst>
      <p:ext uri="{BB962C8B-B14F-4D97-AF65-F5344CB8AC3E}">
        <p14:creationId xmlns:p14="http://schemas.microsoft.com/office/powerpoint/2010/main" val="1540469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Limiti e sviluppi futuri</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20</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736809C-4DF7-437C-890C-B6373A80A43D}"/>
              </a:ext>
            </a:extLst>
          </p:cNvPr>
          <p:cNvSpPr>
            <a:spLocks noGrp="1"/>
          </p:cNvSpPr>
          <p:nvPr/>
        </p:nvSpPr>
        <p:spPr>
          <a:xfrm>
            <a:off x="609600" y="1609725"/>
            <a:ext cx="4857750" cy="3695700"/>
          </a:xfrm>
          <a:prstGeom prst="roundRect">
            <a:avLst>
              <a:gd name="adj" fmla="val 2577"/>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2F25D6F7-BB18-443C-A940-C65D30D526E9}"/>
              </a:ext>
            </a:extLst>
          </p:cNvPr>
          <p:cNvSpPr>
            <a:spLocks noGrp="1"/>
          </p:cNvSpPr>
          <p:nvPr/>
        </p:nvSpPr>
        <p:spPr>
          <a:xfrm>
            <a:off x="790575" y="1800225"/>
            <a:ext cx="44958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Limiti</a:t>
            </a:r>
          </a:p>
        </p:txBody>
      </p:sp>
      <p:sp>
        <p:nvSpPr>
          <p:cNvPr id="7" name="Rectangle 6">
            <a:extLst>
              <a:ext uri="{FF2B5EF4-FFF2-40B4-BE49-F238E27FC236}">
                <a16:creationId xmlns:a16="http://schemas.microsoft.com/office/drawing/2014/main" id="{A42D3E0F-7F73-4A21-9D50-356F712E2E64}"/>
              </a:ext>
            </a:extLst>
          </p:cNvPr>
          <p:cNvSpPr>
            <a:spLocks noGrp="1"/>
          </p:cNvSpPr>
          <p:nvPr/>
        </p:nvSpPr>
        <p:spPr>
          <a:xfrm>
            <a:off x="790575" y="2409825"/>
            <a:ext cx="4495800" cy="2800350"/>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Simulazioni su poche istanze</a:t>
            </a:r>
          </a:p>
          <a:p>
            <a:pPr>
              <a:defRPr sz="1875" b="0">
                <a:solidFill>
                  <a:srgbClr val="203344"/>
                </a:solidFill>
                <a:latin typeface="Arial"/>
                <a:ea typeface="Arial"/>
                <a:cs typeface="Arial"/>
              </a:defRPr>
            </a:pPr>
            <a:r>
              <a:rPr sz="1875" b="0">
                <a:solidFill>
                  <a:srgbClr val="203344"/>
                </a:solidFill>
                <a:latin typeface="Arial"/>
                <a:ea typeface="Arial"/>
                <a:cs typeface="Arial"/>
              </a:rPr>
              <a:t>QEC su memorie separate</a:t>
            </a:r>
          </a:p>
          <a:p>
            <a:pPr>
              <a:defRPr sz="1875" b="0">
                <a:solidFill>
                  <a:srgbClr val="203344"/>
                </a:solidFill>
                <a:latin typeface="Arial"/>
                <a:ea typeface="Arial"/>
                <a:cs typeface="Arial"/>
              </a:defRPr>
            </a:pPr>
            <a:r>
              <a:rPr sz="1875" b="0">
                <a:solidFill>
                  <a:srgbClr val="203344"/>
                </a:solidFill>
                <a:latin typeface="Arial"/>
                <a:ea typeface="Arial"/>
                <a:cs typeface="Arial"/>
              </a:rPr>
              <a:t>Gross code in code-capacity</a:t>
            </a:r>
          </a:p>
          <a:p>
            <a:pPr>
              <a:defRPr sz="1875" b="0">
                <a:solidFill>
                  <a:srgbClr val="203344"/>
                </a:solidFill>
                <a:latin typeface="Arial"/>
                <a:ea typeface="Arial"/>
                <a:cs typeface="Arial"/>
              </a:defRPr>
            </a:pPr>
            <a:r>
              <a:rPr sz="1875" b="0">
                <a:solidFill>
                  <a:srgbClr val="203344"/>
                </a:solidFill>
                <a:latin typeface="Arial"/>
                <a:ea typeface="Arial"/>
                <a:cs typeface="Arial"/>
              </a:rPr>
              <a:t>Calibrazione hardware offline</a:t>
            </a:r>
          </a:p>
          <a:p>
            <a:pPr>
              <a:defRPr sz="1875" b="0">
                <a:solidFill>
                  <a:srgbClr val="203344"/>
                </a:solidFill>
                <a:latin typeface="Arial"/>
                <a:ea typeface="Arial"/>
                <a:cs typeface="Arial"/>
              </a:defRPr>
            </a:pPr>
            <a:r>
              <a:rPr sz="1875" b="0">
                <a:solidFill>
                  <a:srgbClr val="203344"/>
                </a:solidFill>
                <a:latin typeface="Arial"/>
                <a:ea typeface="Arial"/>
                <a:cs typeface="Arial"/>
              </a:rPr>
              <a:t>Nessuno Shor fault-tolerant</a:t>
            </a:r>
          </a:p>
        </p:txBody>
      </p:sp>
      <p:sp>
        <p:nvSpPr>
          <p:cNvPr id="8" name="Rectangle 7">
            <a:extLst>
              <a:ext uri="{FF2B5EF4-FFF2-40B4-BE49-F238E27FC236}">
                <a16:creationId xmlns:a16="http://schemas.microsoft.com/office/drawing/2014/main" id="{07FCCE78-1995-4A6E-B503-C0FB8B2CE55C}"/>
              </a:ext>
            </a:extLst>
          </p:cNvPr>
          <p:cNvSpPr>
            <a:spLocks noGrp="1"/>
          </p:cNvSpPr>
          <p:nvPr/>
        </p:nvSpPr>
        <p:spPr>
          <a:xfrm>
            <a:off x="6143625" y="1685925"/>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Priorità: costo circuitale</a:t>
            </a:r>
          </a:p>
        </p:txBody>
      </p:sp>
      <p:sp>
        <p:nvSpPr>
          <p:cNvPr id="9" name="Rectangle 8">
            <a:extLst>
              <a:ext uri="{FF2B5EF4-FFF2-40B4-BE49-F238E27FC236}">
                <a16:creationId xmlns:a16="http://schemas.microsoft.com/office/drawing/2014/main" id="{03E7F75E-8090-4D8C-A3C0-14E197BC6225}"/>
              </a:ext>
            </a:extLst>
          </p:cNvPr>
          <p:cNvSpPr>
            <a:spLocks noGrp="1"/>
          </p:cNvSpPr>
          <p:nvPr/>
        </p:nvSpPr>
        <p:spPr>
          <a:xfrm>
            <a:off x="6143625" y="2133600"/>
            <a:ext cx="5429250" cy="828675"/>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AQFT, aritmetica modulare</a:t>
            </a:r>
          </a:p>
          <a:p>
            <a:pPr>
              <a:defRPr sz="2250" b="0">
                <a:solidFill>
                  <a:srgbClr val="203344"/>
                </a:solidFill>
                <a:latin typeface="Arial"/>
                <a:ea typeface="Arial"/>
                <a:cs typeface="Arial"/>
              </a:defRPr>
            </a:pPr>
            <a:r>
              <a:rPr sz="2250" b="0">
                <a:solidFill>
                  <a:srgbClr val="203344"/>
                </a:solidFill>
                <a:latin typeface="Arial"/>
                <a:ea typeface="Arial"/>
                <a:cs typeface="Arial"/>
              </a:rPr>
              <a:t>e sintesi delle operazioni</a:t>
            </a:r>
          </a:p>
        </p:txBody>
      </p:sp>
      <p:sp>
        <p:nvSpPr>
          <p:cNvPr id="10" name="Rectangle 9">
            <a:extLst>
              <a:ext uri="{FF2B5EF4-FFF2-40B4-BE49-F238E27FC236}">
                <a16:creationId xmlns:a16="http://schemas.microsoft.com/office/drawing/2014/main" id="{BC509B3C-7ABF-488B-B403-FCA84D5CCA49}"/>
              </a:ext>
            </a:extLst>
          </p:cNvPr>
          <p:cNvSpPr>
            <a:spLocks noGrp="1"/>
          </p:cNvSpPr>
          <p:nvPr/>
        </p:nvSpPr>
        <p:spPr>
          <a:xfrm>
            <a:off x="6143625" y="335280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Verifica sulla metrica finale</a:t>
            </a:r>
          </a:p>
        </p:txBody>
      </p:sp>
      <p:sp>
        <p:nvSpPr>
          <p:cNvPr id="11" name="Rectangle 10">
            <a:extLst>
              <a:ext uri="{FF2B5EF4-FFF2-40B4-BE49-F238E27FC236}">
                <a16:creationId xmlns:a16="http://schemas.microsoft.com/office/drawing/2014/main" id="{25F31C1B-0262-481F-9574-1CCEAD53F4BB}"/>
              </a:ext>
            </a:extLst>
          </p:cNvPr>
          <p:cNvSpPr>
            <a:spLocks noGrp="1"/>
          </p:cNvSpPr>
          <p:nvPr/>
        </p:nvSpPr>
        <p:spPr>
          <a:xfrm>
            <a:off x="6143625" y="3800475"/>
            <a:ext cx="5429250" cy="84772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Accuratezza della stima di fase</a:t>
            </a:r>
          </a:p>
          <a:p>
            <a:pPr>
              <a:defRPr sz="2100" b="0">
                <a:solidFill>
                  <a:srgbClr val="203344"/>
                </a:solidFill>
                <a:latin typeface="Arial"/>
                <a:ea typeface="Arial"/>
                <a:cs typeface="Arial"/>
              </a:defRPr>
            </a:pPr>
            <a:r>
              <a:rPr sz="2100" b="0">
                <a:solidFill>
                  <a:srgbClr val="203344"/>
                </a:solidFill>
                <a:latin typeface="Arial"/>
                <a:ea typeface="Arial"/>
                <a:cs typeface="Arial"/>
              </a:rPr>
              <a:t>e successo della fattorizzazione</a:t>
            </a:r>
          </a:p>
        </p:txBody>
      </p:sp>
      <p:sp>
        <p:nvSpPr>
          <p:cNvPr id="12" name="Rectangle 11">
            <a:extLst>
              <a:ext uri="{FF2B5EF4-FFF2-40B4-BE49-F238E27FC236}">
                <a16:creationId xmlns:a16="http://schemas.microsoft.com/office/drawing/2014/main" id="{9A548C9A-350D-48B4-AF3D-7F83C636A3E2}"/>
              </a:ext>
            </a:extLst>
          </p:cNvPr>
          <p:cNvSpPr>
            <a:spLocks noGrp="1"/>
          </p:cNvSpPr>
          <p:nvPr/>
        </p:nvSpPr>
        <p:spPr>
          <a:xfrm>
            <a:off x="6143625" y="504825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Integrare la fault tolerance</a:t>
            </a:r>
          </a:p>
        </p:txBody>
      </p:sp>
      <p:sp>
        <p:nvSpPr>
          <p:cNvPr id="13" name="Rectangle 12">
            <a:extLst>
              <a:ext uri="{FF2B5EF4-FFF2-40B4-BE49-F238E27FC236}">
                <a16:creationId xmlns:a16="http://schemas.microsoft.com/office/drawing/2014/main" id="{36A4558C-B64F-48E3-8CDD-700821146101}"/>
              </a:ext>
            </a:extLst>
          </p:cNvPr>
          <p:cNvSpPr>
            <a:spLocks noGrp="1"/>
          </p:cNvSpPr>
          <p:nvPr/>
        </p:nvSpPr>
        <p:spPr>
          <a:xfrm>
            <a:off x="6143625" y="5495925"/>
            <a:ext cx="5429250" cy="63817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Qubit logici e operazioni protette</a:t>
            </a:r>
          </a:p>
        </p:txBody>
      </p:sp>
      <p:sp>
        <p:nvSpPr>
          <p:cNvPr id="14" name="Rectangle 13">
            <a:extLst>
              <a:ext uri="{FF2B5EF4-FFF2-40B4-BE49-F238E27FC236}">
                <a16:creationId xmlns:a16="http://schemas.microsoft.com/office/drawing/2014/main" id="{CA76611A-A935-4D91-8214-290481870DC1}"/>
              </a:ext>
            </a:extLst>
          </p:cNvPr>
          <p:cNvSpPr>
            <a:spLocks noGrp="1"/>
          </p:cNvSpPr>
          <p:nvPr/>
        </p:nvSpPr>
        <p:spPr>
          <a:xfrm>
            <a:off x="609600" y="6324600"/>
            <a:ext cx="10972800" cy="342900"/>
          </a:xfrm>
          <a:prstGeom prst="rect">
            <a:avLst/>
          </a:prstGeom>
          <a:noFill/>
          <a:ln w="0">
            <a:noFill/>
          </a:ln>
        </p:spPr>
        <p:txBody>
          <a:bodyPr>
            <a:noAutofit/>
          </a:bodyPr>
          <a:lstStyle/>
          <a:p>
            <a:pPr>
              <a:defRPr sz="1650" b="1">
                <a:solidFill>
                  <a:srgbClr val="175F99"/>
                </a:solidFill>
                <a:latin typeface="Arial"/>
                <a:ea typeface="Arial"/>
                <a:cs typeface="Arial"/>
              </a:defRPr>
            </a:pPr>
            <a:r>
              <a:rPr sz="1650" b="1">
                <a:solidFill>
                  <a:srgbClr val="175F99"/>
                </a:solidFill>
                <a:latin typeface="Arial"/>
                <a:ea typeface="Arial"/>
                <a:cs typeface="Arial"/>
              </a:rPr>
              <a:t>Ottimizzazione e QEC sono complementari. Nessuna modifica della complessità asintotica dimostrata.</a:t>
            </a:r>
          </a:p>
        </p:txBody>
      </p:sp>
    </p:spTree>
    <p:extLst>
      <p:ext uri="{BB962C8B-B14F-4D97-AF65-F5344CB8AC3E}">
        <p14:creationId xmlns:p14="http://schemas.microsoft.com/office/powerpoint/2010/main" val="1626746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Demo: Shor passo per passo, con e senza rumore</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5"/>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21</a:t>
            </a:r>
            <a:endParaRPr sz="1200" b="0">
              <a:solidFill>
                <a:srgbClr val="203344"/>
              </a:solidFill>
              <a:latin typeface="Arial"/>
              <a:ea typeface="Arial"/>
              <a:cs typeface="Arial"/>
            </a:endParaRPr>
          </a:p>
        </p:txBody>
      </p:sp>
      <p:pic>
        <p:nvPicPr>
          <p:cNvPr id="2" name="Video demo">
            <a:hlinkClick r:id="" action="ppaction://media"/>
            <a:extLst>
              <a:ext uri="{FF2B5EF4-FFF2-40B4-BE49-F238E27FC236}">
                <a16:creationId xmlns:a16="http://schemas.microsoft.com/office/drawing/2014/main" id="{3D85B229-0E24-4FE6-B0E9-3A912C1EAE9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625600" y="1270000"/>
            <a:ext cx="8940800" cy="5029200"/>
          </a:xfrm>
          <a:prstGeom prst="rect">
            <a:avLst/>
          </a:prstGeom>
        </p:spPr>
      </p:pic>
      <p:sp>
        <p:nvSpPr>
          <p:cNvPr id="17" name="TextBox 16">
            <a:extLst>
              <a:ext uri="{FF2B5EF4-FFF2-40B4-BE49-F238E27FC236}">
                <a16:creationId xmlns:a16="http://schemas.microsoft.com/office/drawing/2014/main" id="{B9C09EE8-FAE3-DE90-B529-415FBD4F7A44}"/>
              </a:ext>
            </a:extLst>
          </p:cNvPr>
          <p:cNvSpPr txBox="1"/>
          <p:nvPr/>
        </p:nvSpPr>
        <p:spPr>
          <a:xfrm>
            <a:off x="609600" y="6451600"/>
            <a:ext cx="10972800" cy="288541"/>
          </a:xfrm>
          <a:prstGeom prst="rect">
            <a:avLst/>
          </a:prstGeom>
          <a:noFill/>
        </p:spPr>
        <p:txBody>
          <a:bodyPr vert="horz" wrap="square" rtlCol="0">
            <a:spAutoFit/>
          </a:bodyPr>
          <a:lstStyle/>
          <a:p>
            <a:pPr algn="ctr"/>
            <a:r>
              <a:rPr lang="it-IT" sz="1275">
                <a:solidFill>
                  <a:srgbClr val="647487"/>
                </a:solidFill>
                <a:latin typeface="Arial" panose="020B0604020202020204" pitchFamily="34" charset="0"/>
              </a:rPr>
              <a:t>Demo web illustrativa: modello di rumore uniforme (preset UC1). I numeri della demo non sono risultati della tesi.</a:t>
            </a:r>
            <a:endParaRPr lang="en-GB" sz="1275">
              <a:solidFill>
                <a:srgbClr val="647487"/>
              </a:solidFill>
              <a:latin typeface="Arial" panose="020B0604020202020204" pitchFamily="34" charset="0"/>
            </a:endParaRPr>
          </a:p>
        </p:txBody>
      </p:sp>
    </p:spTree>
    <p:extLst>
      <p:ext uri="{BB962C8B-B14F-4D97-AF65-F5344CB8AC3E}">
        <p14:creationId xmlns:p14="http://schemas.microsoft.com/office/powerpoint/2010/main" val="3378603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93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FCB8C3-6EF2-4D5C-830F-D31C57913E1A}"/>
              </a:ext>
            </a:extLst>
          </p:cNvPr>
          <p:cNvSpPr>
            <a:spLocks noGrp="1"/>
          </p:cNvSpPr>
          <p:nvPr/>
        </p:nvSpPr>
        <p:spPr>
          <a:xfrm>
            <a:off x="609600" y="1847850"/>
            <a:ext cx="7581900" cy="1828800"/>
          </a:xfrm>
          <a:prstGeom prst="rect">
            <a:avLst/>
          </a:prstGeom>
          <a:noFill/>
          <a:ln w="0">
            <a:noFill/>
          </a:ln>
        </p:spPr>
        <p:txBody>
          <a:bodyPr>
            <a:noAutofit/>
          </a:bodyPr>
          <a:lstStyle/>
          <a:p>
            <a:pPr>
              <a:defRPr sz="5250" b="0">
                <a:solidFill>
                  <a:srgbClr val="003366"/>
                </a:solidFill>
                <a:latin typeface="Arial"/>
                <a:ea typeface="Arial"/>
                <a:cs typeface="Arial"/>
              </a:defRPr>
            </a:pPr>
            <a:r>
              <a:rPr sz="5250" b="0">
                <a:solidFill>
                  <a:srgbClr val="003366"/>
                </a:solidFill>
                <a:latin typeface="Arial"/>
                <a:ea typeface="Arial"/>
                <a:cs typeface="Arial"/>
              </a:rPr>
              <a:t>Grazie</a:t>
            </a:r>
          </a:p>
          <a:p>
            <a:pPr>
              <a:defRPr sz="5250" b="0">
                <a:solidFill>
                  <a:srgbClr val="003366"/>
                </a:solidFill>
                <a:latin typeface="Arial"/>
                <a:ea typeface="Arial"/>
                <a:cs typeface="Arial"/>
              </a:defRPr>
            </a:pPr>
            <a:r>
              <a:rPr sz="5250" b="0">
                <a:solidFill>
                  <a:srgbClr val="003366"/>
                </a:solidFill>
                <a:latin typeface="Arial"/>
                <a:ea typeface="Arial"/>
                <a:cs typeface="Arial"/>
              </a:rPr>
              <a:t>per l’attenzione</a:t>
            </a:r>
          </a:p>
        </p:txBody>
      </p:sp>
      <p:pic>
        <p:nvPicPr>
          <p:cNvPr id="7" name="Picture 6"/>
          <p:cNvPicPr>
            <a:picLocks noChangeAspect="1"/>
          </p:cNvPicPr>
          <p:nvPr/>
        </p:nvPicPr>
        <p:blipFill>
          <a:blip r:embed="rId3"/>
          <a:stretch/>
        </p:blipFill>
        <p:spPr>
          <a:xfrm>
            <a:off x="7810500" y="1753654"/>
            <a:ext cx="3743325" cy="3512617"/>
          </a:xfrm>
          <a:prstGeom prst="rect">
            <a:avLst/>
          </a:prstGeom>
        </p:spPr>
      </p:pic>
      <p:sp>
        <p:nvSpPr>
          <p:cNvPr id="3" name="Rectangle 2">
            <a:extLst>
              <a:ext uri="{FF2B5EF4-FFF2-40B4-BE49-F238E27FC236}">
                <a16:creationId xmlns:a16="http://schemas.microsoft.com/office/drawing/2014/main" id="{85C0F97C-7D70-493D-8ABF-F3E5206AB52F}"/>
              </a:ext>
            </a:extLst>
          </p:cNvPr>
          <p:cNvSpPr>
            <a:spLocks noGrp="1"/>
          </p:cNvSpPr>
          <p:nvPr/>
        </p:nvSpPr>
        <p:spPr>
          <a:xfrm>
            <a:off x="609600" y="4886325"/>
            <a:ext cx="6810375"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4" name="Rectangle 3">
            <a:extLst>
              <a:ext uri="{FF2B5EF4-FFF2-40B4-BE49-F238E27FC236}">
                <a16:creationId xmlns:a16="http://schemas.microsoft.com/office/drawing/2014/main" id="{BF3BF28B-851A-43E0-9AB9-72CF4D3F664A}"/>
              </a:ext>
            </a:extLst>
          </p:cNvPr>
          <p:cNvSpPr>
            <a:spLocks noGrp="1"/>
          </p:cNvSpPr>
          <p:nvPr/>
        </p:nvSpPr>
        <p:spPr>
          <a:xfrm>
            <a:off x="609600" y="5381625"/>
            <a:ext cx="6953250" cy="81915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Ingegneria dei Sistemi Intelligenti</a:t>
            </a:r>
          </a:p>
          <a:p>
            <a:pPr>
              <a:defRPr sz="2025" b="0">
                <a:solidFill>
                  <a:srgbClr val="203344"/>
                </a:solidFill>
                <a:latin typeface="Arial"/>
                <a:ea typeface="Arial"/>
                <a:cs typeface="Arial"/>
              </a:defRPr>
            </a:pPr>
            <a:r>
              <a:rPr sz="2025" b="0">
                <a:solidFill>
                  <a:srgbClr val="203344"/>
                </a:solidFill>
                <a:latin typeface="Arial"/>
                <a:ea typeface="Arial"/>
                <a:cs typeface="Arial"/>
              </a:rPr>
              <a:t>A.A. 2025/2026</a:t>
            </a:r>
          </a:p>
        </p:txBody>
      </p:sp>
      <p:pic>
        <p:nvPicPr>
          <p:cNvPr id="10" name="Picture 9"/>
          <p:cNvPicPr>
            <a:picLocks noChangeAspect="1"/>
          </p:cNvPicPr>
          <p:nvPr/>
        </p:nvPicPr>
        <p:blipFill>
          <a:blip r:embed="rId4"/>
          <a:stretch/>
        </p:blipFill>
        <p:spPr>
          <a:xfrm>
            <a:off x="619125" y="515764"/>
            <a:ext cx="1019175" cy="844897"/>
          </a:xfrm>
          <a:prstGeom prst="rect">
            <a:avLst/>
          </a:prstGeom>
        </p:spPr>
      </p:pic>
    </p:spTree>
    <p:extLst>
      <p:ext uri="{BB962C8B-B14F-4D97-AF65-F5344CB8AC3E}">
        <p14:creationId xmlns:p14="http://schemas.microsoft.com/office/powerpoint/2010/main" val="110143589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4111</Words>
  <Application>Microsoft Office PowerPoint</Application>
  <DocSecurity>0</DocSecurity>
  <PresentationFormat>Widescreen</PresentationFormat>
  <Paragraphs>372</Paragraphs>
  <Slides>22</Slides>
  <Notes>22</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claudio dragotta</cp:lastModifiedBy>
  <cp:revision>35</cp:revision>
  <dcterms:created xsi:type="dcterms:W3CDTF">2026-10-04T20:49:31Z</dcterms:created>
  <dcterms:modified xsi:type="dcterms:W3CDTF">2026-10-06T13:07:13Z</dcterms:modified>
</cp:coreProperties>
</file>