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86" r:id="rId3"/>
    <p:sldId id="257" r:id="rId4"/>
    <p:sldId id="258" r:id="rId5"/>
    <p:sldId id="279" r:id="rId6"/>
    <p:sldId id="280" r:id="rId7"/>
    <p:sldId id="259" r:id="rId8"/>
    <p:sldId id="287" r:id="rId9"/>
    <p:sldId id="288" r:id="rId10"/>
    <p:sldId id="261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5" r:id="rId21"/>
    <p:sldId id="276" r:id="rId22"/>
    <p:sldId id="277" r:id="rId23"/>
    <p:sldId id="264" r:id="rId24"/>
    <p:sldId id="273" r:id="rId25"/>
    <p:sldId id="274" r:id="rId26"/>
    <p:sldId id="283" r:id="rId27"/>
    <p:sldId id="284" r:id="rId28"/>
    <p:sldId id="278" r:id="rId2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57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30 secondi]</a:t>
            </a:r>
          </a:p>
          <a:p>
            <a:r>
              <a:rPr lang="it-IT">
                <a:latin typeface="Arial" panose="020B0604020202020204" pitchFamily="34" charset="0"/>
              </a:rPr>
              <a:t>Buongiorno. Sono Claudio Dragotta e presento la mia tesi magistrale, "Shor's Algorithm under Noise", svolta con il relatore Prof. Paolo Soda e il correlatore Ing. Floriano Caprio.</a:t>
            </a:r>
          </a:p>
          <a:p>
            <a:r>
              <a:rPr lang="it-IT">
                <a:latin typeface="Arial" panose="020B0604020202020204" pitchFamily="34" charset="0"/>
              </a:rPr>
              <a:t>L'idea in una frase: l'algoritmo di Shor, sui computer quantistici di oggi, è messo in crisi dal rumore. Ho misurato quanto, e ho valutato tre strategie per contenerlo, ognuna confrontata con un riferimento esplicito.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40 secondi]</a:t>
            </a:r>
          </a:p>
          <a:p>
            <a:r>
              <a:rPr lang="it-IT">
                <a:latin typeface="Arial" panose="020B0604020202020204" pitchFamily="34" charset="0"/>
              </a:rPr>
              <a:t>In una slide, la tesi.</a:t>
            </a:r>
          </a:p>
          <a:p>
            <a:r>
              <a:rPr lang="it-IT">
                <a:latin typeface="Arial" panose="020B0604020202020204" pitchFamily="34" charset="0"/>
              </a:rPr>
              <a:t>Il problema: il rumore distrugge l'informazione sul periodo, che è ciò di cui Shor ha bisogno. Già con un errore per porta del 5% il successo per misura scende dal 75 al 29,5%.</a:t>
            </a:r>
          </a:p>
          <a:p>
            <a:r>
              <a:rPr lang="it-IT">
                <a:latin typeface="Arial" panose="020B0604020202020204" pitchFamily="34" charset="0"/>
              </a:rPr>
              <a:t>L'approccio: tre strategie che agiscono su livelli diversi, ognuna confrontata con la propria baseline.</a:t>
            </a:r>
          </a:p>
          <a:p>
            <a:r>
              <a:rPr lang="it-IT">
                <a:latin typeface="Arial" panose="020B0604020202020204" pitchFamily="34" charset="0"/>
              </a:rPr>
              <a:t>L'evidenza: TOP-4 trova i fattori alla prima iterazione mentre il machine learning non aiuta; il decoder ibrido riduce l'errore logico del 16,8% con crosstalk; l'AQFT guadagna quasi 15 punti su N = 15.</a:t>
            </a:r>
          </a:p>
          <a:p>
            <a:r>
              <a:rPr lang="it-IT">
                <a:latin typeface="Arial" panose="020B0604020202020204" pitchFamily="34" charset="0"/>
              </a:rPr>
              <a:t>Il messaggio: i benefici sono reali, ma dipendono dal livello, dal rumore e dall'istanza.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15 secondi]</a:t>
            </a:r>
          </a:p>
          <a:p>
            <a:r>
              <a:rPr lang="it-IT">
                <a:latin typeface="Arial" panose="020B0604020202020204" pitchFamily="34" charset="0"/>
              </a:rPr>
              <a:t>La presentazione segue quattro parti: introduzione e obiettivi, materiali e metodi, risultati, e infine discussione e conclusioni.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Partiamo dal perché. La sicurezza di RSA si basa sul fatto che fattorizzare numeri molto grandi è difficile.</a:t>
            </a:r>
          </a:p>
          <a:p>
            <a:r>
              <a:rPr lang="it-IT">
                <a:latin typeface="Arial" panose="020B0604020202020204" pitchFamily="34" charset="0"/>
              </a:rPr>
              <a:t>Il miglior algoritmo classico, il General Number Field Sieve, ha un costo sub-esponenziale. Nel 1994 Shor ha mostrato che un computer quantistico ideale fattorizza in tempo polinomiale.</a:t>
            </a:r>
          </a:p>
          <a:p>
            <a:r>
              <a:rPr lang="it-IT">
                <a:latin typeface="Arial" panose="020B0604020202020204" pitchFamily="34" charset="0"/>
              </a:rPr>
              <a:t>La parola chiave è "ideale". I computer reali, come questo IBM, hanno errori sulle porte, decoerenza ed errori di lettura. Questo rumore distrugge proprio l'informazione che serve a Shor, cioè il periodo. Da qui nasce la tesi.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75 secondi]</a:t>
            </a:r>
          </a:p>
          <a:p>
            <a:r>
              <a:rPr lang="it-IT">
                <a:latin typeface="Arial" panose="020B0604020202020204" pitchFamily="34" charset="0"/>
              </a:rPr>
              <a:t>Vediamo come funziona Shor. Ci sono tre simboli: N è il numero da fattorizzare, a è una base scelta coprima con N, e r è il periodo della funzione a alla x modulo N.</a:t>
            </a:r>
          </a:p>
          <a:p>
            <a:r>
              <a:rPr lang="it-IT">
                <a:latin typeface="Arial" panose="020B0604020202020204" pitchFamily="34" charset="0"/>
              </a:rPr>
              <a:t>Il punto 1 è classico: si sceglie a. Il punto 2 è la parte quantistica: l'esponenziazione modulare e la stima di fase, la QPE, che codifica il periodo nella fase. Al punto 3 la QFT inversa trasforma la fase in un numero y, che si legge misurando gli m qubit di controllo. Al punto 4, di nuovo classico, le frazioni continue e il massimo comune divisore ricavano i fattori.</a:t>
            </a:r>
          </a:p>
          <a:p>
            <a:r>
              <a:rPr lang="it-IT">
                <a:latin typeface="Arial" panose="020B0604020202020204" pitchFamily="34" charset="0"/>
              </a:rPr>
              <a:t>Il mio esempio principale è N = 15 con a = 7. Nel grafico si vede che 7 alla x modulo 15 si ripete ogni 4 valori: il periodo è 4, e da qui si ottiene 15 = 3 × 5. Il circuito usa 8 qubit di controllo e 4 di lavoro.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72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50 secondi]</a:t>
            </a:r>
          </a:p>
          <a:p>
            <a:r>
              <a:rPr lang="it-IT">
                <a:latin typeface="Arial" panose="020B0604020202020204" pitchFamily="34" charset="0"/>
              </a:rPr>
              <a:t>In letteratura ci sono tre famiglie di approcci contro il rumore.</a:t>
            </a:r>
          </a:p>
          <a:p>
            <a:r>
              <a:rPr lang="it-IT">
                <a:latin typeface="Arial" panose="020B0604020202020204" pitchFamily="34" charset="0"/>
              </a:rPr>
              <a:t>Il post-processing, anche con machine learning, sfrutta l'informazione rimasta nell'istogramma; il rischio è attribuire al modello un guadagno che viene in realtà dal provare più candidati.</a:t>
            </a:r>
          </a:p>
          <a:p>
            <a:r>
              <a:rPr lang="it-IT">
                <a:latin typeface="Arial" panose="020B0604020202020204" pitchFamily="34" charset="0"/>
              </a:rPr>
              <a:t>La correzione quantistica degli errori, o QEC, e i decoder appresi promettono di abbassare l'errore logico, ma vanno confrontati con decoder analitici forti, e la soglia vale per esperimenti di memoria.</a:t>
            </a:r>
          </a:p>
          <a:p>
            <a:r>
              <a:rPr lang="it-IT">
                <a:latin typeface="Arial" panose="020B0604020202020204" pitchFamily="34" charset="0"/>
              </a:rPr>
              <a:t>La QFT approssimata riduce le porte, ma perde precisione di fase.</a:t>
            </a:r>
          </a:p>
          <a:p>
            <a:r>
              <a:rPr lang="it-IT">
                <a:latin typeface="Arial" panose="020B0604020202020204" pitchFamily="34" charset="0"/>
              </a:rPr>
              <a:t>Il problema aperto è valutare ogni tecnica contro la baseline giusta e sulla metrica finale. È quello che ho fatto.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9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Gli obiettivi sono tre, su tre livelli diversi.</a:t>
            </a:r>
          </a:p>
          <a:p>
            <a:r>
              <a:rPr lang="it-IT">
                <a:latin typeface="Arial" panose="020B0604020202020204" pitchFamily="34" charset="0"/>
              </a:rPr>
              <a:t>Primo, il post-processing: sfruttare gli esiti misurati e capire quanto conta davvero il classificatore.</a:t>
            </a:r>
          </a:p>
          <a:p>
            <a:r>
              <a:rPr lang="it-IT">
                <a:latin typeface="Arial" panose="020B0604020202020204" pitchFamily="34" charset="0"/>
              </a:rPr>
              <a:t>Secondo, la correzione quantistica degli errori: confrontare codici e decoder in esperimenti di memoria.</a:t>
            </a:r>
          </a:p>
          <a:p>
            <a:r>
              <a:rPr lang="it-IT">
                <a:latin typeface="Arial" panose="020B0604020202020204" pitchFamily="34" charset="0"/>
              </a:rPr>
              <a:t>Terzo, la QFT approssimata: ridurre le porte e verificare se il successo finale migliora.</a:t>
            </a:r>
          </a:p>
          <a:p>
            <a:r>
              <a:rPr lang="it-IT">
                <a:latin typeface="Arial" panose="020B0604020202020204" pitchFamily="34" charset="0"/>
              </a:rPr>
              <a:t>Una precisazione importante: le campagne sono separate. La QEC non è integrata dentro l'algoritmo di Shor completo.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Questa slide mostra dove agisce ciascuna strategia lungo Shor.</a:t>
            </a:r>
          </a:p>
          <a:p>
            <a:r>
              <a:rPr lang="it-IT">
                <a:latin typeface="Arial" panose="020B0604020202020204" pitchFamily="34" charset="0"/>
              </a:rPr>
              <a:t>I cinque passi sono quelli visti prima: scelta di a, esponenziazione modulare con stima di fase, QFT inversa, misura e post-processing.</a:t>
            </a:r>
          </a:p>
          <a:p>
            <a:r>
              <a:rPr lang="it-IT">
                <a:latin typeface="Arial" panose="020B0604020202020204" pitchFamily="34" charset="0"/>
              </a:rPr>
              <a:t>L'AQFT interviene sulla QFT inversa, togliendo le rotazioni di piccolo angolo. TOP-K e machine learning intervengono alla fine, decidendo quali esiti verificare.</a:t>
            </a:r>
          </a:p>
          <a:p>
            <a:r>
              <a:rPr lang="it-IT">
                <a:latin typeface="Arial" panose="020B0604020202020204" pitchFamily="34" charset="0"/>
              </a:rPr>
              <a:t>La QEC, invece, è a parte: surface code e Gross code sono studiati in esperimenti di memoria e non sono inseriti dentro Shor.</a:t>
            </a:r>
          </a:p>
          <a:p>
            <a:r>
              <a:rPr lang="it-IT">
                <a:latin typeface="Arial" panose="020B0604020202020204" pitchFamily="34" charset="0"/>
              </a:rPr>
              <a:t>Per questo ogni strategia ha la propria baseline e la propria metrica.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40 secondi]</a:t>
            </a:r>
          </a:p>
          <a:p>
            <a:r>
              <a:rPr lang="it-IT">
                <a:latin typeface="Arial" panose="020B0604020202020204" pitchFamily="34" charset="0"/>
              </a:rPr>
              <a:t>Prima dei risultati serve sapere come si legge il successo. Successo significa ottenere fattori non banali da una singola misura.</a:t>
            </a:r>
          </a:p>
          <a:p>
            <a:r>
              <a:rPr lang="it-IT">
                <a:latin typeface="Arial" panose="020B0604020202020204" pitchFamily="34" charset="0"/>
              </a:rPr>
              <a:t>Nel caso ideale vale 75%: dei quattro picchi 0, 64, 128 e 192, tre portano ai fattori.</a:t>
            </a:r>
          </a:p>
          <a:p>
            <a:r>
              <a:rPr lang="it-IT">
                <a:latin typeface="Arial" panose="020B0604020202020204" pitchFamily="34" charset="0"/>
              </a:rPr>
              <a:t>Il riferimento in basso è 24,61%: la verifica classica accetta 63 esiti su 256, quindi anche esiti completamente casuali darebbero circa un quarto di successi.</a:t>
            </a:r>
          </a:p>
          <a:p>
            <a:r>
              <a:rPr lang="it-IT">
                <a:latin typeface="Arial" panose="020B0604020202020204" pitchFamily="34" charset="0"/>
              </a:rPr>
              <a:t>Quindi un risultato vicino al 24,61% non dimostra che resti informazione quantistica. Ogni risultato su Shor va letto tra questi due valori.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50 secondi]</a:t>
            </a:r>
          </a:p>
          <a:p>
            <a:r>
              <a:rPr lang="it-IT">
                <a:latin typeface="Arial" panose="020B0604020202020204" pitchFamily="34" charset="0"/>
              </a:rPr>
              <a:t>Tutti gli esperimenti sono simulazioni classiche: nessuna esecuzione su hardware reale.</a:t>
            </a:r>
          </a:p>
          <a:p>
            <a:r>
              <a:rPr lang="it-IT">
                <a:latin typeface="Arial" panose="020B0604020202020204" pitchFamily="34" charset="0"/>
              </a:rPr>
              <a:t>L'istanza principale è N = 15: 12 qubit, 224 porte CNOT e profondità 412 dopo la compilazione.</a:t>
            </a:r>
          </a:p>
          <a:p>
            <a:r>
              <a:rPr lang="it-IT">
                <a:latin typeface="Arial" panose="020B0604020202020204" pitchFamily="34" charset="0"/>
              </a:rPr>
              <a:t>N = 21 e N = 35 li ho implementati con l'aritmetica di Beauregard e validati nel caso ideale. Solo N = 21 entra in alcune prove rumorose esplorative sull'AQFT, perché simularlo con rumore è molto costoso.</a:t>
            </a:r>
          </a:p>
          <a:p>
            <a:r>
              <a:rPr lang="it-IT">
                <a:latin typeface="Arial" panose="020B0604020202020204" pitchFamily="34" charset="0"/>
              </a:rPr>
              <a:t>Ho validato separatamente gli operatori modulari, il ripristino degli ausiliari e le distribuzioni teoriche.</a:t>
            </a:r>
          </a:p>
          <a:p>
            <a:r>
              <a:rPr lang="it-IT">
                <a:latin typeface="Arial" panose="020B0604020202020204" pitchFamily="34" charset="0"/>
              </a:rPr>
              <a:t>Strumenti: Qiskit e Aer per Shor, scikit-learn per il machine learning, Stim e PyMatching per il surface code, ldpc per il decoder BP+OSD. Seed, versioni e parametri sono tutti registrati.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Primo livello: il post-processing. Ogni esecuzione produce un istogramma da 1024 shot, e su quello stesso istogramma confronto tre criteri.</a:t>
            </a:r>
          </a:p>
          <a:p>
            <a:r>
              <a:rPr lang="it-IT">
                <a:latin typeface="Arial" panose="020B0604020202020204" pitchFamily="34" charset="0"/>
              </a:rPr>
              <a:t>TOP-1 verifica solo l'esito più frequente.</a:t>
            </a:r>
          </a:p>
          <a:p>
            <a:r>
              <a:rPr lang="it-IT">
                <a:latin typeface="Arial" panose="020B0604020202020204" pitchFamily="34" charset="0"/>
              </a:rPr>
              <a:t>TOP-4 verifica uno per uno, in ordine di frequenza, fino a quattro esiti, e si ferma al primo che dà i fattori. Non fa medie.</a:t>
            </a:r>
          </a:p>
          <a:p>
            <a:r>
              <a:rPr lang="it-IT">
                <a:latin typeface="Arial" panose="020B0604020202020204" pitchFamily="34" charset="0"/>
              </a:rPr>
              <a:t>Il Metodo 2 usa un classificatore: applica TOP-4 solo se il modello predice che il candidato dominante porta al successo.</a:t>
            </a:r>
          </a:p>
          <a:p>
            <a:r>
              <a:rPr lang="it-IT">
                <a:latin typeface="Arial" panose="020B0604020202020204" pitchFamily="34" charset="0"/>
              </a:rPr>
              <a:t>La chiave è l'ablazione: confrontando il Metodo 2 con TOP-4 senza filtro, isolo il contributo del classificatore dal semplice fatto di provare più candidati.</a:t>
            </a:r>
          </a:p>
          <a:p>
            <a:r>
              <a:rPr lang="it-IT">
                <a:latin typeface="Arial" panose="020B0604020202020204" pitchFamily="34" charset="0"/>
              </a:rPr>
              <a:t>Il classificatore è addestrato su 2000 istogrammi per scenario, con split 60/20/20. Il confronto usa 30 repliche appaiate e al massimo 50 iterazioni.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Secondo livello, la correzione quantistica degli errori. L'idea è distribuire un qubit logico su più qubit fisici: la sindrome segnala gli errori senza misurare lo stato, e il decoder sceglie la correzione. La QEC costa qubit in più, e conviene solo sotto una soglia di errore.</a:t>
            </a:r>
          </a:p>
          <a:p>
            <a:r>
              <a:rPr lang="it-IT">
                <a:latin typeface="Arial" panose="020B0604020202020204" pitchFamily="34" charset="0"/>
              </a:rPr>
              <a:t>Ho studiato il surface code a distanza d crescente. d è la distanza del codice, cioè quanti errori riesce a correggere, non la distanza fisica tra i qubit. Il rumore è a livello di circuito, con crosstalk in alcune prove.</a:t>
            </a:r>
          </a:p>
          <a:p>
            <a:r>
              <a:rPr lang="it-IT">
                <a:latin typeface="Arial" panose="020B0604020202020204" pitchFamily="34" charset="0"/>
              </a:rPr>
              <a:t>Il Gross code di IBM è un codice qLDPC che protegge 12 qubit logici con 144 qubit di dato. Lo studio nel modello code-capacity, con errori X sui soli qubit di dato e sindrome perfetta: simulo gli errori, non lo stato quantistico.</a:t>
            </a:r>
          </a:p>
          <a:p>
            <a:r>
              <a:rPr lang="it-IT">
                <a:latin typeface="Arial" panose="020B0604020202020204" pitchFamily="34" charset="0"/>
              </a:rPr>
              <a:t>Per il surface code confronto MWPM con una rete neurale autonoma, un decoder ibrido e BP+OSD; per il Gross code uso BP+OSD con aggiornamento parallelo o seriale.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Terzo livello: la QFT approssimata, o AQFT. La QFT piena usa rotazioni controllate di ogni angolo; l'AQFT omette quelle di angolo piccolo. Si ottengono meno porte e meno profondità, ma si perde precisione di fase.</a:t>
            </a:r>
          </a:p>
          <a:p>
            <a:r>
              <a:rPr lang="it-IT">
                <a:latin typeface="Arial" panose="020B0604020202020204" pitchFamily="34" charset="0"/>
              </a:rPr>
              <a:t>La applico alla QFT finale di Shor per N = 15, alle QFT interne all'aritmetica per N = 21, e a benchmark di stima di fase isolati, da 6 a 10 qubit.</a:t>
            </a:r>
          </a:p>
          <a:p>
            <a:r>
              <a:rPr lang="it-IT">
                <a:latin typeface="Arial" panose="020B0604020202020204" pitchFamily="34" charset="0"/>
              </a:rPr>
              <a:t>Il rumore viene dalla calibrazione salvata di un dispositivo IBM, FakeSherbrooke. Il grado di approssimazione lo scelgo su dati di selezione e lo verifico su dati indipendenti.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55 secondi]</a:t>
            </a:r>
          </a:p>
          <a:p>
            <a:r>
              <a:rPr lang="it-IT">
                <a:latin typeface="Arial" panose="020B0604020202020204" pitchFamily="34" charset="0"/>
              </a:rPr>
              <a:t>Primo risultato, DR4: quanto il rumore degrada Shor. Inserisco errori di Pauli dopo ogni porta con probabilità p_g.</a:t>
            </a:r>
          </a:p>
          <a:p>
            <a:r>
              <a:rPr lang="it-IT">
                <a:latin typeface="Arial" panose="020B0604020202020204" pitchFamily="34" charset="0"/>
              </a:rPr>
              <a:t>Senza rumore il successo per singola misura è 74,89%, coerente con il 75% teorico. Con p_g all'1% scende a 56,5%, al 2% a 45,2% e al 5% a 29,5%. Con 294 porte esposte, un p_g dell'1% significa circa tre errori per esecuzione.</a:t>
            </a:r>
          </a:p>
          <a:p>
            <a:r>
              <a:rPr lang="it-IT">
                <a:latin typeface="Arial" panose="020B0604020202020204" pitchFamily="34" charset="0"/>
              </a:rPr>
              <a:t>Oltre il 10% la curva si appiattisce intorno al 24,6%: è il riferimento uniforme che abbiamo visto, non informazione residua.</a:t>
            </a:r>
          </a:p>
          <a:p>
            <a:r>
              <a:rPr lang="it-IT">
                <a:latin typeface="Arial" panose="020B0604020202020204" pitchFamily="34" charset="0"/>
              </a:rPr>
              <a:t>In basso, la validazione ideale: i circuiti per N = 21 e 35 coincidono con la distribuzione teorica.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DR1, il post-processing. TOP-4 trova i fattori alla prima iterazione in tutte le 30 repliche e in entrambi gli scenari di rumore: la media è 1,00. TOP-1 ne richiede 1,37 e 1,50.</a:t>
            </a:r>
          </a:p>
          <a:p>
            <a:r>
              <a:rPr lang="it-IT">
                <a:latin typeface="Arial" panose="020B0604020202020204" pitchFamily="34" charset="0"/>
              </a:rPr>
              <a:t>Il classificatore, una SVM, è accurato: F1 di 0,92 e AUC di 0,96. Eppure il Metodo 2 richiede 1,50 e 1,37 iterazioni: non migliora significativamente TOP-1 ed è peggiore di TOP-4.</a:t>
            </a:r>
          </a:p>
          <a:p>
            <a:r>
              <a:rPr lang="it-IT">
                <a:latin typeface="Arial" panose="020B0604020202020204" pitchFamily="34" charset="0"/>
              </a:rPr>
              <a:t>Il motivo è che il filtro scarta istogrammi in cui il candidato più frequente è sbagliato, ma uno dei quattro avrebbe dato i fattori.</a:t>
            </a:r>
          </a:p>
          <a:p>
            <a:r>
              <a:rPr lang="it-IT">
                <a:latin typeface="Arial" panose="020B0604020202020204" pitchFamily="34" charset="0"/>
              </a:rPr>
              <a:t>Il messaggio è che un buon classificatore non garantisce un costo minore. Il beneficio viene dai candidati in più, non dal machine learning.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DR2, la soglia. Il grafico mostra il surface code in base Z e in base X, con distanze 3, 5, 7 e 9.</a:t>
            </a:r>
          </a:p>
          <a:p>
            <a:r>
              <a:rPr lang="it-IT">
                <a:latin typeface="Arial" panose="020B0604020202020204" pitchFamily="34" charset="0"/>
              </a:rPr>
              <a:t>Nella zona verde, sotto soglia, le curve con d più grande stanno più in basso: aumentare la distanza riduce l'errore logico. Per esempio, a p = 0,2% l'errore logico in base Z scende da 1,94 per mille a d = 3 fino a 2 su centomila a d = 9.</a:t>
            </a:r>
          </a:p>
          <a:p>
            <a:r>
              <a:rPr lang="it-IT">
                <a:latin typeface="Arial" panose="020B0604020202020204" pitchFamily="34" charset="0"/>
              </a:rPr>
              <a:t>Nella zona rossa, sopra soglia, l'ordine si inverte: più distanza peggiora le cose.</a:t>
            </a:r>
          </a:p>
          <a:p>
            <a:r>
              <a:rPr lang="it-IT">
                <a:latin typeface="Arial" panose="020B0604020202020204" pitchFamily="34" charset="0"/>
              </a:rPr>
              <a:t>Dal fit la soglia stimata è 0,86% in base Z e 0,81% in base X. Anche i codici più semplici si comportano come previsto: il repetition code segue la formula teorica e Steane mostra la soppressione quadratica, con pendenza 1,94.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DR3, i decoder. Una rete neurale da sola, con rumore nominale, non batte MWPM.</a:t>
            </a:r>
          </a:p>
          <a:p>
            <a:r>
              <a:rPr lang="it-IT">
                <a:latin typeface="Arial" panose="020B0604020202020204" pitchFamily="34" charset="0"/>
              </a:rPr>
              <a:t>Quando aggiungo crosstalk, cioè errori correlati tra qubit vicini che MWPM non modella, il decoder ibrido diventa utile: la rete decide quando correggere la scelta di MWPM. A d = 3, con p = 0,3% e crosstalk 0,01, l'errore logico passa da 0,0583 a 0,0485: meno 16,8%, significativo al test di McNemar. Sulle quattro intensità di crosstalk la riduzione va dal 15,6 al 17,6%.</a:t>
            </a:r>
          </a:p>
          <a:p>
            <a:r>
              <a:rPr lang="it-IT">
                <a:latin typeface="Arial" panose="020B0604020202020204" pitchFamily="34" charset="0"/>
              </a:rPr>
              <a:t>Ma il vantaggio cala con la distanza: è piccolo a d = 5, dove BP+OSD fa meglio dell'ibrido, e non è significativo a d = 7.</a:t>
            </a:r>
          </a:p>
          <a:p>
            <a:r>
              <a:rPr lang="it-IT">
                <a:latin typeface="Arial" panose="020B0604020202020204" pitchFamily="34" charset="0"/>
              </a:rPr>
              <a:t>Quindi il machine learning aiuta come correttore residuale, non come sostituto.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Sempre DR3, ma confrontando codici diversi. Per proteggere 12 qubit logici, il Gross code usa 144 qubit di dato; 12 patch di surface code ne usano 1452 a distanza 11 e 2028 a distanza 13, circa quattordici volte di più.</a:t>
            </a:r>
          </a:p>
          <a:p>
            <a:r>
              <a:rPr lang="it-IT">
                <a:latin typeface="Arial" panose="020B0604020202020204" pitchFamily="34" charset="0"/>
              </a:rPr>
              <a:t>Nel modello code-capacity il Gross code fa meglio delle patch a distanza 11 a ogni livello di rumore studiato, e di quelle a distanza 13 dallo 0,75% in su. All'1% fallisce con probabilità 1,0 per milione, contro 1,6 per milione.</a:t>
            </a:r>
          </a:p>
          <a:p>
            <a:r>
              <a:rPr lang="it-IT">
                <a:latin typeface="Arial" panose="020B0604020202020204" pitchFamily="34" charset="0"/>
              </a:rPr>
              <a:t>Conta anche il decoder: con l'aggiornamento seriale di BP+OSD l'errore è circa cento volte più basso che con quello parallelo.</a:t>
            </a:r>
          </a:p>
          <a:p>
            <a:r>
              <a:rPr lang="it-IT">
                <a:latin typeface="Arial" panose="020B0604020202020204" pitchFamily="34" charset="0"/>
              </a:rPr>
              <a:t>Preciso come è simulato: non ho simulato lo stato di 144 qubit, che sarebbe impossibile. Ogni prova è un vettore di 144 bit che dice dove sono gli errori, di cui calcolo la sindrome e la decodifica. È algebra binaria su un computer normale.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DR5, la QFT approssimata su N = 15. Il grafico mostra il successo sui dati di verifica al variare del grado di troncamento; la linea tratteggiata è la QFT piena.</a:t>
            </a:r>
          </a:p>
          <a:p>
            <a:r>
              <a:rPr lang="it-IT">
                <a:latin typeface="Arial" panose="020B0604020202020204" pitchFamily="34" charset="0"/>
              </a:rPr>
              <a:t>Con il grado scelto in selezione, il successo sale dal 47,92% al 62,79%: più 14,87 punti percentuali, con intervallo di confidenza al 95% tra 12,7 e 17. Le porte a due qubit ECR scendono da 362 a 279, meno 22,9%.</a:t>
            </a:r>
          </a:p>
          <a:p>
            <a:r>
              <a:rPr lang="it-IT">
                <a:latin typeface="Arial" panose="020B0604020202020204" pitchFamily="34" charset="0"/>
              </a:rPr>
              <a:t>N = 15 però è un caso favorevole: con r = 4 le fasi si rappresentano esattamente con due bit.</a:t>
            </a:r>
          </a:p>
          <a:p>
            <a:r>
              <a:rPr lang="it-IT">
                <a:latin typeface="Arial" panose="020B0604020202020204" pitchFamily="34" charset="0"/>
              </a:rPr>
              <a:t>Su N = 21 il quadro cambia: le porte si dimezzano, ma il successo ideale scende e con rumore il beneficio non è dimostrato. Il grado di approssimazione va quindi scelto per istanza e per rumore.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Il messaggio complessivo è che il valore di una tecnica dipende dall'informazione che sfrutta e dalla forza della baseline con cui la confronto.</a:t>
            </a:r>
          </a:p>
          <a:p>
            <a:r>
              <a:rPr lang="it-IT">
                <a:latin typeface="Arial" panose="020B0604020202020204" pitchFamily="34" charset="0"/>
              </a:rPr>
              <a:t>Ho mostrato tre cose: sono i candidati in più, non il machine learning, a ridurre le iterazioni; la QEC aiuta solo sotto soglia, e decoder e codice contano insieme; l'AQFT guadagna quasi 15 punti su N = 15, ma su N = 21 il beneficio non è dimostrato.</a:t>
            </a:r>
          </a:p>
          <a:p>
            <a:r>
              <a:rPr lang="it-IT">
                <a:latin typeface="Arial" panose="020B0604020202020204" pitchFamily="34" charset="0"/>
              </a:rPr>
              <a:t>Il mio contributo personale: ho implementato e validato i circuiti per N = 15, 21 e 35, progettato le campagne con baseline esplicite e confronti appaiati, e costruito una pipeline riproducibile.</a:t>
            </a:r>
          </a:p>
          <a:p>
            <a:r>
              <a:rPr lang="it-IT">
                <a:latin typeface="Arial" panose="020B0604020202020204" pitchFamily="34" charset="0"/>
              </a:rPr>
              <a:t>Ottimizzazione del circuito e QEC sono complementari: la prima contiene le risorse, la seconda protegge l'esecuzione.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40 secondi]</a:t>
            </a:r>
          </a:p>
          <a:p>
            <a:r>
              <a:rPr lang="it-IT">
                <a:latin typeface="Arial" panose="020B0604020202020204" pitchFamily="34" charset="0"/>
              </a:rPr>
              <a:t>I limiti sono chiari. Le simulazioni riguardano poche istanze. La QEC è studiata su memorie separate da Shor, e il Gross code solo nel modello code-capacity. La calibrazione hardware è offline, e non realizzo uno Shor fault-tolerant.</a:t>
            </a:r>
          </a:p>
          <a:p>
            <a:r>
              <a:rPr lang="it-IT">
                <a:latin typeface="Arial" panose="020B0604020202020204" pitchFamily="34" charset="0"/>
              </a:rPr>
              <a:t>Per gli sviluppi futuri darei priorità alla riduzione del costo circuitale, cioè AQFT, aritmetica modulare e sintesi delle operazioni, verificata sulla stima di fase e sul successo della fattorizzazione. Poi l'integrazione con la fault tolerance, su qubit logici e operazioni protette.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10 secondi]</a:t>
            </a:r>
          </a:p>
          <a:p>
            <a:r>
              <a:rPr lang="it-IT">
                <a:latin typeface="Arial" panose="020B0604020202020204" pitchFamily="34" charset="0"/>
              </a:rPr>
              <a:t>Grazie per l'attenzione. Sono a disposizione per le domande.</a:t>
            </a:r>
          </a:p>
          <a:p>
            <a:r>
              <a:rPr lang="it-IT">
                <a:latin typeface="Arial" panose="020B0604020202020204" pitchFamily="34" charset="0"/>
              </a:rPr>
              <a:t>(Le slide di riserva R1–R7 servono per rispondere: QEC di base, AQFT su N = 21, Gross code, limiti, demo, glossario.)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R1 · QEC: codifica, sindrome e correzione.</a:t>
            </a:r>
          </a:p>
          <a:p>
            <a:r>
              <a:rPr lang="it-IT">
                <a:latin typeface="Arial" panose="020B0604020202020204" pitchFamily="34" charset="0"/>
              </a:rPr>
              <a:t>Domanda probabile: "Come funziona la correzione degli errori?"</a:t>
            </a:r>
          </a:p>
          <a:p>
            <a:r>
              <a:rPr lang="it-IT">
                <a:latin typeface="Arial" panose="020B0604020202020204" pitchFamily="34" charset="0"/>
              </a:rPr>
              <a:t>Risposta: l'informazione di un qubit logico è distribuita su più qubit fisici. Le misure di sindrome segnalano gli errori senza misurare lo stato logico; il decoder interpreta la sindrome e sceglie la correzione; la correzione ripristina lo stato. La metrica è p_L, misurata in esperimenti di memoria. Attenzione: più qubit FISICI formano un qubit LOGICO, e la QEC costa qubit in più.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R2 · AQFT su N = 21 e stima di fase isolata.</a:t>
            </a:r>
          </a:p>
          <a:p>
            <a:r>
              <a:rPr lang="it-IT">
                <a:latin typeface="Arial" panose="020B0604020202020204" pitchFamily="34" charset="0"/>
              </a:rPr>
              <a:t>Domanda probabile: "E su N = 21?"</a:t>
            </a:r>
          </a:p>
          <a:p>
            <a:r>
              <a:rPr lang="it-IT">
                <a:latin typeface="Arial" panose="020B0604020202020204" pitchFamily="34" charset="0"/>
              </a:rPr>
              <a:t>Risposta: troncando l'aritmetica le porte ECR passano da 49 661 a 23 178 (−53,3%), ma il successo ideale scende da 46,67 a 40,13%. Nei tre confronti con rumore, con 128 shot di verifica per variante, gli intervalli comprendono lo zero: il beneficio non è dimostrato. Nella stima di fase isolata tutte e nove le differenze favoriscono l'AQFT, fino a +12,55 punti, ma è un'evidenza esplorativa, senza correzione simultanea.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R3 · Discussione su tre livelli.</a:t>
            </a:r>
          </a:p>
          <a:p>
            <a:r>
              <a:rPr lang="it-IT">
                <a:latin typeface="Arial" panose="020B0604020202020204" pitchFamily="34" charset="0"/>
              </a:rPr>
              <a:t>Da usare se chiedono "come si collegano le tre strategie?".</a:t>
            </a:r>
          </a:p>
          <a:p>
            <a:r>
              <a:rPr lang="it-IT">
                <a:latin typeface="Arial" panose="020B0604020202020204" pitchFamily="34" charset="0"/>
              </a:rPr>
              <a:t>Risposta: agiscono su livelli diversi. Il post-processing lavora sugli esiti già misurati e non modifica lo stato quantistico. La QEC protegge memorie separate e non misura un miglioramento di Shor. L'AQFT riduce le occasioni di errore nel circuito, ma il beneficio dipende dall'istanza: su N = 15 con r = 4 le fasi sono esatte su due bit, su N = 21 con r = 6 no.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R4 · Gross code: come è simulato.</a:t>
            </a:r>
          </a:p>
          <a:p>
            <a:r>
              <a:rPr lang="it-IT">
                <a:latin typeface="Arial" panose="020B0604020202020204" pitchFamily="34" charset="0"/>
              </a:rPr>
              <a:t>Domanda probabile: "Come hai simulato 144 qubit?"</a:t>
            </a:r>
          </a:p>
          <a:p>
            <a:r>
              <a:rPr lang="it-IT">
                <a:latin typeface="Arial" panose="020B0604020202020204" pitchFamily="34" charset="0"/>
              </a:rPr>
              <a:t>Risposta: "Non ho simulato lo stato quantistico di 144 qubit: servirebbero circa 10^44 byte, ed è impossibile. Ho simulato il codice nel modello code-capacity. Estraggo un vettore di 144 bit, dove 1 significa un errore X su quel qubit di dato. Calcolo la sindrome come prodotto matrice-vettore modulo 2 e la decodifico con BP+OSD. Poi controllo se l'errore residuo cambia un operatore logico. È algebra lineare binaria su un PC: per questo posso arrivare a 144 qubit, e anche a 2028 per le patch di surface code."</a:t>
            </a:r>
          </a:p>
          <a:p>
            <a:r>
              <a:rPr lang="it-IT">
                <a:latin typeface="Arial" panose="020B0604020202020204" pitchFamily="34" charset="0"/>
              </a:rPr>
              <a:t>Se chiedono se è confrontabile con IBM: no. Conto i soli qubit di dato (con le ancille sarebbero 288 contro 4044), la sindrome è perfetta e il modello non è circuit-level.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331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R5 · Limiti e sviluppi in dettaglio.</a:t>
            </a:r>
          </a:p>
          <a:p>
            <a:r>
              <a:rPr lang="it-IT">
                <a:latin typeface="Arial" panose="020B0604020202020204" pitchFamily="34" charset="0"/>
              </a:rPr>
              <a:t>Scala: poche istanze, e N = 15 con r = 4 è favorevole a TOP-K e AQFT.</a:t>
            </a:r>
          </a:p>
          <a:p>
            <a:r>
              <a:rPr lang="it-IT">
                <a:latin typeface="Arial" panose="020B0604020202020204" pitchFamily="34" charset="0"/>
              </a:rPr>
              <a:t>Rumore: modello uniforme e stazionario, controlli hardware-aware su una calibrazione offline, non su una QPU live.</a:t>
            </a:r>
          </a:p>
          <a:p>
            <a:r>
              <a:rPr lang="it-IT">
                <a:latin typeface="Arial" panose="020B0604020202020204" pitchFamily="34" charset="0"/>
              </a:rPr>
              <a:t>QEC: il surface code è studiato come memoria, non come Shor fault-tolerant, e il decoder appreso è un MLP denso.</a:t>
            </a:r>
          </a:p>
          <a:p>
            <a:r>
              <a:rPr lang="it-IT">
                <a:latin typeface="Arial" panose="020B0604020202020204" pitchFamily="34" charset="0"/>
              </a:rPr>
              <a:t>Inferenza: sweep e benchmark QPE esplorativi, senza correzione simultanea.</a:t>
            </a:r>
          </a:p>
          <a:p>
            <a:r>
              <a:rPr lang="it-IT">
                <a:latin typeface="Arial" panose="020B0604020202020204" pitchFamily="34" charset="0"/>
              </a:rPr>
              <a:t>Sviluppi, in ordine: hardware con calibrazione coeva; variare N e r separatamente; sostituire p_g con gate logici e cicli QEC espliciti; decoder strutturali e Gross code a livello di circuito; ridurre il costo circuitale.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17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R6 · Demo.</a:t>
            </a:r>
          </a:p>
          <a:p>
            <a:r>
              <a:rPr lang="it-IT">
                <a:latin typeface="Arial" panose="020B0604020202020204" pitchFamily="34" charset="0"/>
              </a:rPr>
              <a:t>La demo web mostra lo stesso circuito per N = 15, senza rumore e con il preset UC1. Le frecce sulle sfere di Bloch si accorciano: lo stato perde coerenza.</a:t>
            </a:r>
          </a:p>
          <a:p>
            <a:r>
              <a:rPr lang="it-IT">
                <a:latin typeface="Arial" panose="020B0604020202020204" pitchFamily="34" charset="0"/>
              </a:rPr>
              <a:t>Attenzione: è una demo illustrativa con modello di rumore uniforme. I numeri della demo non sono risultati della tesi e non sono misure su hardware.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1858EE6-424E-4AB1-810E-A806DCA5570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514CB97-FAF0-4732-BC5E-17B6727A7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CED97E8-227E-4885-98D6-50556E9F5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A663DF4A-4087-4F6D-82DA-23E9FEC04352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B9A1AEB-1337-4FDB-8590-1B3D0E21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39FE0B0-283F-4103-BB99-25BC8D69CC9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04BBB57-2B77-4FAD-BE78-CF62A299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5F216316-52A7-4631-BF49-70DCCADAA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B633D398-86D8-4430-87C4-A0D518D9935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36752AA-9A66-4626-854C-9FDD2D07F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693C91F2-5F98-444D-9840-B7EF3D739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DD29D6C-3E54-4ED2-A05F-EB92359B7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28F2ADC-7267-455D-82A7-8F988504DFC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1E56D0-BA82-4CC2-9BED-8D285102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2CB2DCDA-14F3-4D6A-993C-E6E4DB69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2620"/>
            <a:ext cx="7874000" cy="37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244600"/>
            <a:ext cx="10769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7773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405288"/>
            <a:ext cx="952500" cy="78962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C9F48EF-C541-4AB5-9D04-99775057D874}"/>
              </a:ext>
            </a:extLst>
          </p:cNvPr>
          <p:cNvSpPr>
            <a:spLocks noGrp="1"/>
          </p:cNvSpPr>
          <p:nvPr/>
        </p:nvSpPr>
        <p:spPr>
          <a:xfrm>
            <a:off x="1752600" y="438150"/>
            <a:ext cx="923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Università Campus Bio-Medico di Roma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D2D7C9-2F27-45C3-B3DC-01B26E0CA917}"/>
              </a:ext>
            </a:extLst>
          </p:cNvPr>
          <p:cNvSpPr>
            <a:spLocks noGrp="1"/>
          </p:cNvSpPr>
          <p:nvPr/>
        </p:nvSpPr>
        <p:spPr>
          <a:xfrm>
            <a:off x="1752600" y="809625"/>
            <a:ext cx="8858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Facoltà Dipartimentale di Ingegneria</a:t>
            </a:r>
          </a:p>
          <a:p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 Magistrale in Ingegneria dei Sistemi Intelligenti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642B9C-F891-4E0A-A9AD-6E326DDD4410}"/>
              </a:ext>
            </a:extLst>
          </p:cNvPr>
          <p:cNvSpPr>
            <a:spLocks noGrp="1"/>
          </p:cNvSpPr>
          <p:nvPr/>
        </p:nvSpPr>
        <p:spPr>
          <a:xfrm>
            <a:off x="609600" y="1990725"/>
            <a:ext cx="733425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Shor’s algorithm</a:t>
            </a:r>
          </a:p>
          <a:p>
            <a:pPr>
              <a:defRPr sz="42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under noise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A9A1EC-12DD-49BB-B82C-D1D7C02BC5F9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7067550" cy="1276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Machine-learning ablation,</a:t>
            </a:r>
          </a:p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quantum error correction</a:t>
            </a:r>
          </a:p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and approximate QFT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29550" y="1990312"/>
            <a:ext cx="3695700" cy="34679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D49A18-4070-4177-B7DF-7692A24022DE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4381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B7AF3-F65D-47FE-AD63-B30D3BE685FA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3143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Laureando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17E2E1-2F16-4949-80F2-901CB2C1A95D}"/>
              </a:ext>
            </a:extLst>
          </p:cNvPr>
          <p:cNvSpPr>
            <a:spLocks noGrp="1"/>
          </p:cNvSpPr>
          <p:nvPr/>
        </p:nvSpPr>
        <p:spPr>
          <a:xfrm>
            <a:off x="5172075" y="5457825"/>
            <a:ext cx="62865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Relatore  Prof. Paolo Soda</a:t>
            </a:r>
          </a:p>
          <a:p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Correlatore  Ing. Floriano Caprio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08FE7-C760-4EA1-9A0B-58579754F642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A.A. 2025/2026</a:t>
            </a:r>
          </a:p>
        </p:txBody>
      </p:sp>
    </p:spTree>
    <p:extLst>
      <p:ext uri="{BB962C8B-B14F-4D97-AF65-F5344CB8AC3E}">
        <p14:creationId xmlns:p14="http://schemas.microsoft.com/office/powerpoint/2010/main" val="1277548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93C3B39-6012-409D-8C55-2E1E804828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La tesi in sintesi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2AFE8A-0115-4407-BDA2-396C170A082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900CC-09C6-4AFF-B224-9EC736B42A9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Sommario | 2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57E4D6-593B-F797-437E-0DB411060B6B}"/>
              </a:ext>
            </a:extLst>
          </p:cNvPr>
          <p:cNvSpPr txBox="1"/>
          <p:nvPr/>
        </p:nvSpPr>
        <p:spPr>
          <a:xfrm>
            <a:off x="609600" y="13208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2100">
                <a:solidFill>
                  <a:srgbClr val="203344"/>
                </a:solidFill>
                <a:latin typeface="Arial" panose="020B0604020202020204" pitchFamily="34" charset="0"/>
              </a:rPr>
              <a:t>Quanto il rumore degrada Shor, e che cosa serve davvero per contenerlo</a:t>
            </a:r>
            <a:endParaRPr lang="en-GB" sz="2100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666E43-9709-96E7-2343-4CD0DE161345}"/>
              </a:ext>
            </a:extLst>
          </p:cNvPr>
          <p:cNvSpPr/>
          <p:nvPr/>
        </p:nvSpPr>
        <p:spPr>
          <a:xfrm>
            <a:off x="609600" y="1905000"/>
            <a:ext cx="3429000" cy="3937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59C2EA-1B0E-4539-4F9E-DD553E4CBF9C}"/>
              </a:ext>
            </a:extLst>
          </p:cNvPr>
          <p:cNvSpPr/>
          <p:nvPr/>
        </p:nvSpPr>
        <p:spPr>
          <a:xfrm>
            <a:off x="812800" y="2108200"/>
            <a:ext cx="508000" cy="508000"/>
          </a:xfrm>
          <a:prstGeom prst="rect">
            <a:avLst/>
          </a:prstGeom>
          <a:solidFill>
            <a:srgbClr val="17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775805-E19D-BF97-56E7-7A6F48267843}"/>
              </a:ext>
            </a:extLst>
          </p:cNvPr>
          <p:cNvSpPr txBox="1"/>
          <p:nvPr/>
        </p:nvSpPr>
        <p:spPr>
          <a:xfrm>
            <a:off x="1422400" y="21590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Problema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49DC3A-4222-7AA8-818D-DCCAFB52C39D}"/>
              </a:ext>
            </a:extLst>
          </p:cNvPr>
          <p:cNvSpPr txBox="1"/>
          <p:nvPr/>
        </p:nvSpPr>
        <p:spPr>
          <a:xfrm>
            <a:off x="762000" y="27940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Il rumore distrugge l'informazione sul periodo r.</a:t>
            </a:r>
          </a:p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Con p_g = 5% il successo per misura scende dal 75% al 29,5%.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5842E6-6C5D-B868-4612-2978F031FC3A}"/>
              </a:ext>
            </a:extLst>
          </p:cNvPr>
          <p:cNvSpPr/>
          <p:nvPr/>
        </p:nvSpPr>
        <p:spPr>
          <a:xfrm>
            <a:off x="4381500" y="1905000"/>
            <a:ext cx="3429000" cy="3937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0D08D6-D801-4D22-47C5-343B22786BFD}"/>
              </a:ext>
            </a:extLst>
          </p:cNvPr>
          <p:cNvSpPr/>
          <p:nvPr/>
        </p:nvSpPr>
        <p:spPr>
          <a:xfrm>
            <a:off x="4584700" y="2108200"/>
            <a:ext cx="508000" cy="508000"/>
          </a:xfrm>
          <a:prstGeom prst="rect">
            <a:avLst/>
          </a:prstGeom>
          <a:solidFill>
            <a:srgbClr val="17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BD2BFF-53E9-C722-0C64-F7443124A63F}"/>
              </a:ext>
            </a:extLst>
          </p:cNvPr>
          <p:cNvSpPr txBox="1"/>
          <p:nvPr/>
        </p:nvSpPr>
        <p:spPr>
          <a:xfrm>
            <a:off x="5194300" y="21590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Approccio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042A1-D440-C8AD-9BB5-A4BC2AD200EE}"/>
              </a:ext>
            </a:extLst>
          </p:cNvPr>
          <p:cNvSpPr txBox="1"/>
          <p:nvPr/>
        </p:nvSpPr>
        <p:spPr>
          <a:xfrm>
            <a:off x="4533900" y="27940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Tre strategie su livelli diversi, ognuna contro la propria baseline:</a:t>
            </a:r>
          </a:p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post-processing con ablazione ML, QEC con surface code e Gross code, QFT approssimata.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59CAFCD-0A2D-3C97-1661-0E8BF22ABE49}"/>
              </a:ext>
            </a:extLst>
          </p:cNvPr>
          <p:cNvSpPr/>
          <p:nvPr/>
        </p:nvSpPr>
        <p:spPr>
          <a:xfrm>
            <a:off x="8153400" y="1905000"/>
            <a:ext cx="3429000" cy="3937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1E0B23-3FE9-DD0B-917B-2FA502E64EB1}"/>
              </a:ext>
            </a:extLst>
          </p:cNvPr>
          <p:cNvSpPr/>
          <p:nvPr/>
        </p:nvSpPr>
        <p:spPr>
          <a:xfrm>
            <a:off x="8356600" y="2108200"/>
            <a:ext cx="508000" cy="508000"/>
          </a:xfrm>
          <a:prstGeom prst="rect">
            <a:avLst/>
          </a:prstGeom>
          <a:solidFill>
            <a:srgbClr val="17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190D6B-F540-5CB0-9FE8-22255D524DB2}"/>
              </a:ext>
            </a:extLst>
          </p:cNvPr>
          <p:cNvSpPr txBox="1"/>
          <p:nvPr/>
        </p:nvSpPr>
        <p:spPr>
          <a:xfrm>
            <a:off x="8966200" y="21590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Evidenza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069C3B-6869-DCBD-86CB-A65A3CECA421}"/>
              </a:ext>
            </a:extLst>
          </p:cNvPr>
          <p:cNvSpPr txBox="1"/>
          <p:nvPr/>
        </p:nvSpPr>
        <p:spPr>
          <a:xfrm>
            <a:off x="8305800" y="27940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TOP-4: fattori alla prima iterazione; il ML non aiuta.</a:t>
            </a:r>
          </a:p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Decoder ibrido: −16,8% di p_L con crosstalk.</a:t>
            </a:r>
          </a:p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AQFT: +14,87 punti su N = 15.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F896F5-2254-1EF9-F5BE-1DC859F7343F}"/>
              </a:ext>
            </a:extLst>
          </p:cNvPr>
          <p:cNvSpPr txBox="1"/>
          <p:nvPr/>
        </p:nvSpPr>
        <p:spPr>
          <a:xfrm>
            <a:off x="609600" y="60706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950" b="1">
                <a:solidFill>
                  <a:srgbClr val="175F99"/>
                </a:solidFill>
                <a:latin typeface="Arial" panose="020B0604020202020204" pitchFamily="34" charset="0"/>
              </a:rPr>
              <a:t>I benefici sono reali, ma dipendono dal livello d'intervento, dal rumore e dall'istanza.</a:t>
            </a:r>
            <a:endParaRPr lang="en-GB" sz="1950" b="1">
              <a:solidFill>
                <a:srgbClr val="175F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61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58B711-8751-4263-88A9-A6E7B3BF231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Indice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921B19-9BA3-4172-A77A-1D31BC4096FA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20CB09-CFAB-4AA0-A1E8-A5650E1C7F0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Indice | 3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EA7C1E98-4321-4D2F-9EBB-CF7F4B136913}"/>
              </a:ext>
            </a:extLst>
          </p:cNvPr>
          <p:cNvSpPr>
            <a:spLocks noGrp="1"/>
          </p:cNvSpPr>
          <p:nvPr/>
        </p:nvSpPr>
        <p:spPr>
          <a:xfrm>
            <a:off x="1476375" y="1628775"/>
            <a:ext cx="5000625" cy="904875"/>
          </a:xfrm>
          <a:prstGeom prst="chevron">
            <a:avLst/>
          </a:prstGeom>
          <a:solidFill>
            <a:srgbClr val="5084BF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Introduzione e obiettivi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663AE9-415C-4725-A831-2DA910FBCA2C}"/>
              </a:ext>
            </a:extLst>
          </p:cNvPr>
          <p:cNvSpPr>
            <a:spLocks noGrp="1"/>
          </p:cNvSpPr>
          <p:nvPr/>
        </p:nvSpPr>
        <p:spPr>
          <a:xfrm>
            <a:off x="6715125" y="1714500"/>
            <a:ext cx="723900" cy="72390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D67FF1B-DABB-4B54-8C4E-6D77B6C199AA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5000625" cy="904875"/>
          </a:xfrm>
          <a:prstGeom prst="chevron">
            <a:avLst/>
          </a:prstGeom>
          <a:solidFill>
            <a:srgbClr val="175F99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Materiali e metodi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4CCA4-7F51-43D4-BC4D-8759CB634639}"/>
              </a:ext>
            </a:extLst>
          </p:cNvPr>
          <p:cNvSpPr>
            <a:spLocks noGrp="1"/>
          </p:cNvSpPr>
          <p:nvPr/>
        </p:nvSpPr>
        <p:spPr>
          <a:xfrm>
            <a:off x="7981950" y="2790825"/>
            <a:ext cx="723900" cy="72390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63BDF1A8-64B9-4ABC-BA64-551AF993D375}"/>
              </a:ext>
            </a:extLst>
          </p:cNvPr>
          <p:cNvSpPr>
            <a:spLocks noGrp="1"/>
          </p:cNvSpPr>
          <p:nvPr/>
        </p:nvSpPr>
        <p:spPr>
          <a:xfrm>
            <a:off x="4010025" y="3781425"/>
            <a:ext cx="5000625" cy="904875"/>
          </a:xfrm>
          <a:prstGeom prst="chevron">
            <a:avLst/>
          </a:prstGeom>
          <a:solidFill>
            <a:srgbClr val="5084BF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20FC43-B6D1-49A6-9742-A7B000A86105}"/>
              </a:ext>
            </a:extLst>
          </p:cNvPr>
          <p:cNvSpPr>
            <a:spLocks noGrp="1"/>
          </p:cNvSpPr>
          <p:nvPr/>
        </p:nvSpPr>
        <p:spPr>
          <a:xfrm>
            <a:off x="9248775" y="3867150"/>
            <a:ext cx="723900" cy="72390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9923D6BC-D2B0-43C9-9E16-9B835415FC54}"/>
              </a:ext>
            </a:extLst>
          </p:cNvPr>
          <p:cNvSpPr>
            <a:spLocks noGrp="1"/>
          </p:cNvSpPr>
          <p:nvPr/>
        </p:nvSpPr>
        <p:spPr>
          <a:xfrm>
            <a:off x="5276850" y="4857750"/>
            <a:ext cx="5000625" cy="904875"/>
          </a:xfrm>
          <a:prstGeom prst="chevron">
            <a:avLst/>
          </a:prstGeom>
          <a:solidFill>
            <a:srgbClr val="175F99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Discussione e conclusioni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ACCEE-7D5E-49AE-B974-9EB44B64A034}"/>
              </a:ext>
            </a:extLst>
          </p:cNvPr>
          <p:cNvSpPr>
            <a:spLocks noGrp="1"/>
          </p:cNvSpPr>
          <p:nvPr/>
        </p:nvSpPr>
        <p:spPr>
          <a:xfrm>
            <a:off x="10515600" y="4943475"/>
            <a:ext cx="723900" cy="72390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745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59060CE-ECD2-4A7A-9090-80F9390237C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 e il limite del rumore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3F0015-1C9C-4BFF-AD0E-1F98D7E0AF2E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CC3B5B-7093-40F1-8B4A-4831C1C3379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4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8F5FD8-1939-4CC8-B7AF-FF8BB0B137D4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RSA si fonda sulla difficoltà di fattorizzare numeri molto grandi.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A98FDF-A936-4DBF-BEC7-908273BD1AB3}"/>
              </a:ext>
            </a:extLst>
          </p:cNvPr>
          <p:cNvSpPr>
            <a:spLocks noGrp="1"/>
          </p:cNvSpPr>
          <p:nvPr/>
        </p:nvSpPr>
        <p:spPr>
          <a:xfrm>
            <a:off x="609600" y="2371725"/>
            <a:ext cx="5048250" cy="1628775"/>
          </a:xfrm>
          <a:prstGeom prst="roundRect">
            <a:avLst>
              <a:gd name="adj" fmla="val 5848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A86DAE-54F5-4C63-8C22-F53A4F8FB061}"/>
              </a:ext>
            </a:extLst>
          </p:cNvPr>
          <p:cNvSpPr>
            <a:spLocks noGrp="1"/>
          </p:cNvSpPr>
          <p:nvPr/>
        </p:nvSpPr>
        <p:spPr>
          <a:xfrm>
            <a:off x="790575" y="2562225"/>
            <a:ext cx="4686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Classico · GNFS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E472CC-6B37-45F8-A851-218074ED7342}"/>
              </a:ext>
            </a:extLst>
          </p:cNvPr>
          <p:cNvSpPr>
            <a:spLocks noGrp="1"/>
          </p:cNvSpPr>
          <p:nvPr/>
        </p:nvSpPr>
        <p:spPr>
          <a:xfrm>
            <a:off x="790575" y="3171825"/>
            <a:ext cx="46863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Costo sub-esponenziale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2396F6-9FA2-4A80-8E1D-261913A3AE4E}"/>
              </a:ext>
            </a:extLst>
          </p:cNvPr>
          <p:cNvSpPr>
            <a:spLocks noGrp="1"/>
          </p:cNvSpPr>
          <p:nvPr/>
        </p:nvSpPr>
        <p:spPr>
          <a:xfrm>
            <a:off x="6534150" y="2371725"/>
            <a:ext cx="5048250" cy="1628775"/>
          </a:xfrm>
          <a:prstGeom prst="roundRect">
            <a:avLst>
              <a:gd name="adj" fmla="val 5848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18ABF2-68F4-4507-910D-675A2F524C68}"/>
              </a:ext>
            </a:extLst>
          </p:cNvPr>
          <p:cNvSpPr>
            <a:spLocks noGrp="1"/>
          </p:cNvSpPr>
          <p:nvPr/>
        </p:nvSpPr>
        <p:spPr>
          <a:xfrm>
            <a:off x="6715125" y="2562225"/>
            <a:ext cx="4686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Quantistico · Shor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3F97FF-CB13-44FF-9438-62C2DC1FAD3F}"/>
              </a:ext>
            </a:extLst>
          </p:cNvPr>
          <p:cNvSpPr>
            <a:spLocks noGrp="1"/>
          </p:cNvSpPr>
          <p:nvPr/>
        </p:nvSpPr>
        <p:spPr>
          <a:xfrm>
            <a:off x="6715125" y="3171825"/>
            <a:ext cx="46863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Tempo polinomiale su un computer ideale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7183" y="4305300"/>
            <a:ext cx="2621434" cy="18192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C90D73-8FBD-42C1-B1B5-04BDF8AFF596}"/>
              </a:ext>
            </a:extLst>
          </p:cNvPr>
          <p:cNvSpPr>
            <a:spLocks noGrp="1"/>
          </p:cNvSpPr>
          <p:nvPr/>
        </p:nvSpPr>
        <p:spPr>
          <a:xfrm>
            <a:off x="4495800" y="4448175"/>
            <a:ext cx="6953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Errori, decoerenza e readout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4F982F-3693-4FBB-A25C-5CD1285EE608}"/>
              </a:ext>
            </a:extLst>
          </p:cNvPr>
          <p:cNvSpPr>
            <a:spLocks noGrp="1"/>
          </p:cNvSpPr>
          <p:nvPr/>
        </p:nvSpPr>
        <p:spPr>
          <a:xfrm>
            <a:off x="4495800" y="4924425"/>
            <a:ext cx="6934200" cy="1009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rumore compromette l’informazione</a:t>
            </a:r>
          </a:p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necessaria alla ricerca del periodo.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F60FA3-5FF6-4688-AFC0-67D432E87079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IBM Quantum System One</a:t>
            </a:r>
          </a:p>
        </p:txBody>
      </p:sp>
    </p:spTree>
    <p:extLst>
      <p:ext uri="{BB962C8B-B14F-4D97-AF65-F5344CB8AC3E}">
        <p14:creationId xmlns:p14="http://schemas.microsoft.com/office/powerpoint/2010/main" val="84822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0960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/>
          <p:nvPr/>
        </p:nvSpPr>
        <p:spPr>
          <a:xfrm>
            <a:off x="71120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1120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11200" y="26035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 con MCD(a, N) = 1</a:t>
            </a:r>
            <a:endParaRPr lang="en-US" sz="1400" dirty="0"/>
          </a:p>
        </p:txBody>
      </p:sp>
      <p:pic>
        <p:nvPicPr>
          <p:cNvPr id="10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05150" y="2212330"/>
            <a:ext cx="279400" cy="177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46075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7"/>
          <p:cNvSpPr/>
          <p:nvPr/>
        </p:nvSpPr>
        <p:spPr>
          <a:xfrm>
            <a:off x="356235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56235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Ricerca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periodo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562350" y="2603500"/>
            <a:ext cx="228263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esponenziazione modulare e QPE (stima di fase)</a:t>
            </a:r>
            <a:endParaRPr lang="en-US" sz="140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56300" y="2212330"/>
            <a:ext cx="2794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1190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1"/>
          <p:cNvSpPr/>
          <p:nvPr/>
        </p:nvSpPr>
        <p:spPr>
          <a:xfrm>
            <a:off x="641350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41350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QFT inversa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misura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413500" y="26035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esito y su m qubit: y / 2^m ≈ s / r, s intero</a:t>
            </a:r>
            <a:endParaRPr lang="en-US" sz="1400" dirty="0"/>
          </a:p>
        </p:txBody>
      </p:sp>
      <p:pic>
        <p:nvPicPr>
          <p:cNvPr id="20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07450" y="2212330"/>
            <a:ext cx="279400" cy="1778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16305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5"/>
          <p:cNvSpPr/>
          <p:nvPr/>
        </p:nvSpPr>
        <p:spPr>
          <a:xfrm>
            <a:off x="926465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926465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9264650" y="26035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frazioni continue e MCD (massimo comune divisore)</a:t>
            </a:r>
            <a:endParaRPr lang="en-US" sz="1400" dirty="0"/>
          </a:p>
        </p:txBody>
      </p:sp>
      <p:pic>
        <p:nvPicPr>
          <p:cNvPr id="25" name="Image 5" descr="Grafico di 7^x mod 15 per x da 0 a 11: la sequenza 1, 7, 4, 13 si ripete ogni quattro valori"/>
          <p:cNvPicPr>
            <a:picLocks noChangeAspect="1"/>
          </p:cNvPicPr>
          <p:nvPr/>
        </p:nvPicPr>
        <p:blipFill>
          <a:blip r:embed="rId4"/>
          <a:srcRect t="-50" b="-50"/>
          <a:stretch/>
        </p:blipFill>
        <p:spPr>
          <a:xfrm>
            <a:off x="609600" y="3357860"/>
            <a:ext cx="6604000" cy="21463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9600" y="5631160"/>
            <a:ext cx="680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da fattorizzare, a base coprima con N, r periodo di a^x mod N. Con N = 15 e a = 7, 7^x mod 15 si ripete ogni 4 valori: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4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 cui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= 3 × 5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pic>
        <p:nvPicPr>
          <p:cNvPr id="27" name="Image 6" descr="Circuito di Shor per N = 15: otto qubit di controllo con Hadamard, moltiplicazioni modulari controllate sul registro di lavoro, QFT inversa e misura"/>
          <p:cNvPicPr>
            <a:picLocks noChangeAspect="1"/>
          </p:cNvPicPr>
          <p:nvPr/>
        </p:nvPicPr>
        <p:blipFill>
          <a:blip r:embed="rId5"/>
          <a:srcRect l="-18" r="-18"/>
          <a:stretch/>
        </p:blipFill>
        <p:spPr>
          <a:xfrm>
            <a:off x="8375650" y="3357860"/>
            <a:ext cx="2349500" cy="22733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518400" y="5707360"/>
            <a:ext cx="418592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per N = 15: 8 qubit di controllo (C) e 4 di lavoro (T), esponenziazione modulare controllata, QFT inversa e misura</a:t>
            </a:r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36EAE4-D3F4-CE9C-7102-79F539B5E87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L'algoritmo di Shor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1215FA5-569D-E798-EB49-460B98022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3330CE6-81CE-3B3E-6A94-7253F8038753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040118-4907-CF50-04A9-BED2E35E4273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5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59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004794"/>
              </p:ext>
            </p:extLst>
          </p:nvPr>
        </p:nvGraphicFramePr>
        <p:xfrm>
          <a:off x="622300" y="1422400"/>
          <a:ext cx="10960100" cy="2753024"/>
        </p:xfrm>
        <a:graphic>
          <a:graphicData uri="http://schemas.openxmlformats.org/drawingml/2006/table">
            <a:tbl>
              <a:tblPr/>
              <a:tblGrid>
                <a:gridCol w="2849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6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36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Famiglia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Promessa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Rischio da controllare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15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 e ML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sfruttare l'informazione residua nell'istogramma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guadagno viene dai candidati provati, non dal modello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15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QEC e decoder appresi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sopprimere l'errore logico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analitica debole; soglia valida solo per la memoria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36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approssimata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 porte, meno rumore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perdita di precisione di fase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609600" y="4404023"/>
            <a:ext cx="10972800" cy="939800"/>
          </a:xfrm>
          <a:prstGeom prst="roundRect">
            <a:avLst>
              <a:gd name="adj" fmla="val 13514"/>
            </a:avLst>
          </a:prstGeom>
          <a:solidFill>
            <a:srgbClr val="0B2F5B"/>
          </a:solidFill>
          <a:ln/>
        </p:spPr>
        <p:txBody>
          <a:bodyPr wrap="square" lIns="191403" tIns="102503" rIns="0" bIns="77103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Rimane aperto il problema di valutare ogni tecnica contro la baseline corretta, sulla metrica finale.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609600" y="5572423"/>
            <a:ext cx="1130198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e Markidis 2026 · Bausch et al., Nature 2024 · Roffe et al. 2020 · Bravyi et al., Nature 2024 · Barenco et al. 1996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2A844-880B-D5D8-2DAF-9D7D2F73F18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Approcci esistenti contro il rumore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DEC694-1618-A694-C954-F79ED09F6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158A4F8-C416-CF1E-2155-68CFA66DE8C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43DB0E-9B40-440F-746D-A2E078DA9AB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6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2153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CBE55B9-0BF3-4ED3-94B7-89985EB4C9D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Obiettivi del lavoro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CE2B40-AB4D-4979-A415-E01B0545C07E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60A6F-4367-422B-AEF8-30EFFA8D3F03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7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934A3F-BEB0-47B2-BE56-FBB3CB1E0DE9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Studiare la sensibilità di Shor al rumore e valutare tre strategie.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937A4B-E62D-43EB-9D19-E457997D6ABD}"/>
              </a:ext>
            </a:extLst>
          </p:cNvPr>
          <p:cNvSpPr>
            <a:spLocks noGrp="1"/>
          </p:cNvSpPr>
          <p:nvPr/>
        </p:nvSpPr>
        <p:spPr>
          <a:xfrm>
            <a:off x="1095375" y="229552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777D03-6AAE-481E-97F2-580D13ADB657}"/>
              </a:ext>
            </a:extLst>
          </p:cNvPr>
          <p:cNvSpPr>
            <a:spLocks noGrp="1"/>
          </p:cNvSpPr>
          <p:nvPr/>
        </p:nvSpPr>
        <p:spPr>
          <a:xfrm>
            <a:off x="2009775" y="229552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Post-processing e machine learning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4B7239-FB1A-4B97-A268-4FAA69DE0159}"/>
              </a:ext>
            </a:extLst>
          </p:cNvPr>
          <p:cNvSpPr>
            <a:spLocks noGrp="1"/>
          </p:cNvSpPr>
          <p:nvPr/>
        </p:nvSpPr>
        <p:spPr>
          <a:xfrm>
            <a:off x="2228850" y="283845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Sfruttare gli esiti misurati e isolare il contributo del classificatore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6C6132-88F9-48AB-8CBC-D7F2CEE1B9F3}"/>
              </a:ext>
            </a:extLst>
          </p:cNvPr>
          <p:cNvSpPr>
            <a:spLocks noGrp="1"/>
          </p:cNvSpPr>
          <p:nvPr/>
        </p:nvSpPr>
        <p:spPr>
          <a:xfrm>
            <a:off x="1095375" y="353377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68111B-EFD4-4929-B3C1-5C45623EF4CD}"/>
              </a:ext>
            </a:extLst>
          </p:cNvPr>
          <p:cNvSpPr>
            <a:spLocks noGrp="1"/>
          </p:cNvSpPr>
          <p:nvPr/>
        </p:nvSpPr>
        <p:spPr>
          <a:xfrm>
            <a:off x="2009775" y="353377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Correzione quantistica degli errori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A6BC79-BC15-4FB5-97CA-39F448DF41B1}"/>
              </a:ext>
            </a:extLst>
          </p:cNvPr>
          <p:cNvSpPr>
            <a:spLocks noGrp="1"/>
          </p:cNvSpPr>
          <p:nvPr/>
        </p:nvSpPr>
        <p:spPr>
          <a:xfrm>
            <a:off x="2228850" y="407670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Confrontare codici e decoder in esperimenti di memoria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2EFA4D-092A-455C-8BB9-A0D3EB766AFD}"/>
              </a:ext>
            </a:extLst>
          </p:cNvPr>
          <p:cNvSpPr>
            <a:spLocks noGrp="1"/>
          </p:cNvSpPr>
          <p:nvPr/>
        </p:nvSpPr>
        <p:spPr>
          <a:xfrm>
            <a:off x="1095375" y="477202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A6CD67-FDC1-4122-AEFB-1701EC54A34C}"/>
              </a:ext>
            </a:extLst>
          </p:cNvPr>
          <p:cNvSpPr>
            <a:spLocks noGrp="1"/>
          </p:cNvSpPr>
          <p:nvPr/>
        </p:nvSpPr>
        <p:spPr>
          <a:xfrm>
            <a:off x="2009775" y="477202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QFT approssimata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F968E9-87C9-425C-A65B-1573E27D71E9}"/>
              </a:ext>
            </a:extLst>
          </p:cNvPr>
          <p:cNvSpPr>
            <a:spLocks noGrp="1"/>
          </p:cNvSpPr>
          <p:nvPr/>
        </p:nvSpPr>
        <p:spPr>
          <a:xfrm>
            <a:off x="2228850" y="531495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Ridurre le porte e verificare il successo finale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5905EF-C67D-487C-AE2F-E1461E4776A6}"/>
              </a:ext>
            </a:extLst>
          </p:cNvPr>
          <p:cNvSpPr>
            <a:spLocks noGrp="1"/>
          </p:cNvSpPr>
          <p:nvPr/>
        </p:nvSpPr>
        <p:spPr>
          <a:xfrm>
            <a:off x="1095375" y="6096000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Campagne separate: la QEC non è integrata nell’intero algoritmo di Shor.</a:t>
            </a:r>
          </a:p>
        </p:txBody>
      </p:sp>
    </p:spTree>
    <p:extLst>
      <p:ext uri="{BB962C8B-B14F-4D97-AF65-F5344CB8AC3E}">
        <p14:creationId xmlns:p14="http://schemas.microsoft.com/office/powerpoint/2010/main" val="331867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93C3B39-6012-409D-8C55-2E1E804828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Dove intervengono le tre strategie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2AFE8A-0115-4407-BDA2-396C170A082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900CC-09C6-4AFF-B224-9EC736B42A9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9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CF3BB1-9624-2DDD-CB86-48022F9B0E34}"/>
              </a:ext>
            </a:extLst>
          </p:cNvPr>
          <p:cNvSpPr/>
          <p:nvPr/>
        </p:nvSpPr>
        <p:spPr>
          <a:xfrm>
            <a:off x="609600" y="1498600"/>
            <a:ext cx="1981200" cy="1168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2318B4-50D5-433F-EED6-FFBA9E819E33}"/>
              </a:ext>
            </a:extLst>
          </p:cNvPr>
          <p:cNvSpPr txBox="1"/>
          <p:nvPr/>
        </p:nvSpPr>
        <p:spPr>
          <a:xfrm>
            <a:off x="685800" y="15748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650" b="1">
                <a:solidFill>
                  <a:srgbClr val="003366"/>
                </a:solidFill>
                <a:latin typeface="Arial" panose="020B0604020202020204" pitchFamily="34" charset="0"/>
              </a:rPr>
              <a:t>Scelta di 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F5AD94-939E-6A1E-6477-CF90C6D1C257}"/>
              </a:ext>
            </a:extLst>
          </p:cNvPr>
          <p:cNvSpPr txBox="1"/>
          <p:nvPr/>
        </p:nvSpPr>
        <p:spPr>
          <a:xfrm>
            <a:off x="685800" y="21082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350">
                <a:solidFill>
                  <a:srgbClr val="203344"/>
                </a:solidFill>
                <a:latin typeface="Arial" panose="020B0604020202020204" pitchFamily="34" charset="0"/>
              </a:rPr>
              <a:t>MCD(a, N) = 1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98618CF-F092-E0AE-E2DF-652250A9684D}"/>
              </a:ext>
            </a:extLst>
          </p:cNvPr>
          <p:cNvSpPr/>
          <p:nvPr/>
        </p:nvSpPr>
        <p:spPr>
          <a:xfrm>
            <a:off x="2616200" y="2006600"/>
            <a:ext cx="228600" cy="177800"/>
          </a:xfrm>
          <a:prstGeom prst="rightArrow">
            <a:avLst/>
          </a:prstGeom>
          <a:solidFill>
            <a:srgbClr val="64748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9F06F1E-25C9-6610-E9A2-96283E7F1293}"/>
              </a:ext>
            </a:extLst>
          </p:cNvPr>
          <p:cNvSpPr/>
          <p:nvPr/>
        </p:nvSpPr>
        <p:spPr>
          <a:xfrm>
            <a:off x="2870200" y="1498600"/>
            <a:ext cx="1981200" cy="1168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2B9D00-E3E1-81F8-B187-7EFF0A714C97}"/>
              </a:ext>
            </a:extLst>
          </p:cNvPr>
          <p:cNvSpPr txBox="1"/>
          <p:nvPr/>
        </p:nvSpPr>
        <p:spPr>
          <a:xfrm>
            <a:off x="2946400" y="15748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425" b="1">
                <a:solidFill>
                  <a:srgbClr val="003366"/>
                </a:solidFill>
                <a:latin typeface="Arial" panose="020B0604020202020204" pitchFamily="34" charset="0"/>
              </a:rPr>
              <a:t>Esponenziazione modulare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85B274-849D-0B89-F405-F98F6E293EC6}"/>
              </a:ext>
            </a:extLst>
          </p:cNvPr>
          <p:cNvSpPr txBox="1"/>
          <p:nvPr/>
        </p:nvSpPr>
        <p:spPr>
          <a:xfrm>
            <a:off x="2946400" y="21082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350">
                <a:solidFill>
                  <a:srgbClr val="203344"/>
                </a:solidFill>
                <a:latin typeface="Arial" panose="020B0604020202020204" pitchFamily="34" charset="0"/>
              </a:rPr>
              <a:t>stima di fase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D914703-F917-FA77-76D6-ABC4A44F41EB}"/>
              </a:ext>
            </a:extLst>
          </p:cNvPr>
          <p:cNvSpPr/>
          <p:nvPr/>
        </p:nvSpPr>
        <p:spPr>
          <a:xfrm>
            <a:off x="4876800" y="2006600"/>
            <a:ext cx="228600" cy="177800"/>
          </a:xfrm>
          <a:prstGeom prst="rightArrow">
            <a:avLst/>
          </a:prstGeom>
          <a:solidFill>
            <a:srgbClr val="64748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779F99B-CFBF-803A-F058-C3CC46E253B5}"/>
              </a:ext>
            </a:extLst>
          </p:cNvPr>
          <p:cNvSpPr/>
          <p:nvPr/>
        </p:nvSpPr>
        <p:spPr>
          <a:xfrm>
            <a:off x="5130800" y="1498600"/>
            <a:ext cx="1981200" cy="1168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28575">
            <a:solidFill>
              <a:srgbClr val="175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B02D7B-B046-4432-FC36-0B79BF56AD9D}"/>
              </a:ext>
            </a:extLst>
          </p:cNvPr>
          <p:cNvSpPr txBox="1"/>
          <p:nvPr/>
        </p:nvSpPr>
        <p:spPr>
          <a:xfrm>
            <a:off x="5207000" y="15748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650" b="1">
                <a:solidFill>
                  <a:srgbClr val="003366"/>
                </a:solidFill>
                <a:latin typeface="Arial" panose="020B0604020202020204" pitchFamily="34" charset="0"/>
              </a:rPr>
              <a:t>QFT inversa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2BFD3A-942F-3C1B-346B-5ED5C25DB54A}"/>
              </a:ext>
            </a:extLst>
          </p:cNvPr>
          <p:cNvSpPr txBox="1"/>
          <p:nvPr/>
        </p:nvSpPr>
        <p:spPr>
          <a:xfrm>
            <a:off x="5207000" y="21082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350">
                <a:solidFill>
                  <a:srgbClr val="203344"/>
                </a:solidFill>
                <a:latin typeface="Arial" panose="020B0604020202020204" pitchFamily="34" charset="0"/>
              </a:rPr>
              <a:t>rotazioni controllate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182442CE-F34A-0C88-E934-C74AC1DDAB85}"/>
              </a:ext>
            </a:extLst>
          </p:cNvPr>
          <p:cNvSpPr/>
          <p:nvPr/>
        </p:nvSpPr>
        <p:spPr>
          <a:xfrm>
            <a:off x="7137400" y="2006600"/>
            <a:ext cx="228600" cy="177800"/>
          </a:xfrm>
          <a:prstGeom prst="rightArrow">
            <a:avLst/>
          </a:prstGeom>
          <a:solidFill>
            <a:srgbClr val="64748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D2900E5-0DDD-BA44-2749-1556FA504313}"/>
              </a:ext>
            </a:extLst>
          </p:cNvPr>
          <p:cNvSpPr/>
          <p:nvPr/>
        </p:nvSpPr>
        <p:spPr>
          <a:xfrm>
            <a:off x="7391400" y="1498600"/>
            <a:ext cx="1981200" cy="1168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DDF09F-7E9A-EE71-5A83-D25EA9F2A860}"/>
              </a:ext>
            </a:extLst>
          </p:cNvPr>
          <p:cNvSpPr txBox="1"/>
          <p:nvPr/>
        </p:nvSpPr>
        <p:spPr>
          <a:xfrm>
            <a:off x="7467600" y="15748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650" b="1">
                <a:solidFill>
                  <a:srgbClr val="003366"/>
                </a:solidFill>
                <a:latin typeface="Arial" panose="020B0604020202020204" pitchFamily="34" charset="0"/>
              </a:rPr>
              <a:t>Misura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6B4619-F4EC-AA91-292E-D7A7A13A9CED}"/>
              </a:ext>
            </a:extLst>
          </p:cNvPr>
          <p:cNvSpPr txBox="1"/>
          <p:nvPr/>
        </p:nvSpPr>
        <p:spPr>
          <a:xfrm>
            <a:off x="7467600" y="21082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350">
                <a:solidFill>
                  <a:srgbClr val="203344"/>
                </a:solidFill>
                <a:latin typeface="Arial" panose="020B0604020202020204" pitchFamily="34" charset="0"/>
              </a:rPr>
              <a:t>istogramma di shot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3677C96B-E4F3-BB0D-596E-AB59A94A645A}"/>
              </a:ext>
            </a:extLst>
          </p:cNvPr>
          <p:cNvSpPr/>
          <p:nvPr/>
        </p:nvSpPr>
        <p:spPr>
          <a:xfrm>
            <a:off x="9398000" y="2006600"/>
            <a:ext cx="228600" cy="177800"/>
          </a:xfrm>
          <a:prstGeom prst="rightArrow">
            <a:avLst/>
          </a:prstGeom>
          <a:solidFill>
            <a:srgbClr val="64748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B6D5880-9BC7-173F-6600-3CC4EAF9D398}"/>
              </a:ext>
            </a:extLst>
          </p:cNvPr>
          <p:cNvSpPr/>
          <p:nvPr/>
        </p:nvSpPr>
        <p:spPr>
          <a:xfrm>
            <a:off x="9652000" y="1498600"/>
            <a:ext cx="1981200" cy="1168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28575">
            <a:solidFill>
              <a:srgbClr val="175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C263FA-E9B8-67CC-DE13-AFE3DA1C5D72}"/>
              </a:ext>
            </a:extLst>
          </p:cNvPr>
          <p:cNvSpPr txBox="1"/>
          <p:nvPr/>
        </p:nvSpPr>
        <p:spPr>
          <a:xfrm>
            <a:off x="9728200" y="15748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650" b="1">
                <a:solidFill>
                  <a:srgbClr val="003366"/>
                </a:solidFill>
                <a:latin typeface="Arial" panose="020B0604020202020204" pitchFamily="34" charset="0"/>
              </a:rPr>
              <a:t>Post-processing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B93823-D21A-3AD2-4060-A7B00D49450B}"/>
              </a:ext>
            </a:extLst>
          </p:cNvPr>
          <p:cNvSpPr txBox="1"/>
          <p:nvPr/>
        </p:nvSpPr>
        <p:spPr>
          <a:xfrm>
            <a:off x="9728200" y="21082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350">
                <a:solidFill>
                  <a:srgbClr val="203344"/>
                </a:solidFill>
                <a:latin typeface="Arial" panose="020B0604020202020204" pitchFamily="34" charset="0"/>
              </a:rPr>
              <a:t>frazioni continue, MCD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5F48E6F-2C6C-64C0-3849-E9D925D2AFCB}"/>
              </a:ext>
            </a:extLst>
          </p:cNvPr>
          <p:cNvCxnSpPr/>
          <p:nvPr/>
        </p:nvCxnSpPr>
        <p:spPr>
          <a:xfrm>
            <a:off x="5842000" y="2667000"/>
            <a:ext cx="0" cy="533400"/>
          </a:xfrm>
          <a:prstGeom prst="line">
            <a:avLst/>
          </a:prstGeom>
          <a:ln w="25400">
            <a:solidFill>
              <a:srgbClr val="175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C7AB85-5364-7B1F-FE93-8BF062883800}"/>
              </a:ext>
            </a:extLst>
          </p:cNvPr>
          <p:cNvCxnSpPr/>
          <p:nvPr/>
        </p:nvCxnSpPr>
        <p:spPr>
          <a:xfrm>
            <a:off x="10363200" y="2667000"/>
            <a:ext cx="0" cy="533400"/>
          </a:xfrm>
          <a:prstGeom prst="line">
            <a:avLst/>
          </a:prstGeom>
          <a:ln w="25400">
            <a:solidFill>
              <a:srgbClr val="175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E390000-7E79-6326-C1C6-DCF6ABFB35F0}"/>
              </a:ext>
            </a:extLst>
          </p:cNvPr>
          <p:cNvSpPr/>
          <p:nvPr/>
        </p:nvSpPr>
        <p:spPr>
          <a:xfrm>
            <a:off x="4254500" y="3200400"/>
            <a:ext cx="3175000" cy="1320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400FC2-2430-4A01-5500-B718C255C663}"/>
              </a:ext>
            </a:extLst>
          </p:cNvPr>
          <p:cNvSpPr txBox="1"/>
          <p:nvPr/>
        </p:nvSpPr>
        <p:spPr>
          <a:xfrm>
            <a:off x="4406900" y="3302000"/>
            <a:ext cx="287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175F99"/>
                </a:solidFill>
                <a:latin typeface="Arial" panose="020B0604020202020204" pitchFamily="34" charset="0"/>
              </a:rPr>
              <a:t>AQFT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112627-8BAB-66AA-673E-183A5F4BD7EB}"/>
              </a:ext>
            </a:extLst>
          </p:cNvPr>
          <p:cNvSpPr txBox="1"/>
          <p:nvPr/>
        </p:nvSpPr>
        <p:spPr>
          <a:xfrm>
            <a:off x="4406900" y="3683000"/>
            <a:ext cx="287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500">
                <a:solidFill>
                  <a:srgbClr val="203344"/>
                </a:solidFill>
                <a:latin typeface="Arial" panose="020B0604020202020204" pitchFamily="34" charset="0"/>
              </a:rPr>
              <a:t>omette le rotazioni di piccolo angolo: meno porte, meno precisione di fase</a:t>
            </a:r>
            <a:endParaRPr lang="en-GB" sz="1500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8386264-E7A0-FE82-7DD5-52B5A676C1D3}"/>
              </a:ext>
            </a:extLst>
          </p:cNvPr>
          <p:cNvSpPr/>
          <p:nvPr/>
        </p:nvSpPr>
        <p:spPr>
          <a:xfrm>
            <a:off x="8407400" y="3200400"/>
            <a:ext cx="3175000" cy="1320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2FF334-5961-DA01-D994-A56544ACBEA2}"/>
              </a:ext>
            </a:extLst>
          </p:cNvPr>
          <p:cNvSpPr txBox="1"/>
          <p:nvPr/>
        </p:nvSpPr>
        <p:spPr>
          <a:xfrm>
            <a:off x="8559800" y="3302000"/>
            <a:ext cx="287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175F99"/>
                </a:solidFill>
                <a:latin typeface="Arial" panose="020B0604020202020204" pitchFamily="34" charset="0"/>
              </a:rPr>
              <a:t>TOP-K e ML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AC47A3-9AF1-2293-DC98-8483C9CA743E}"/>
              </a:ext>
            </a:extLst>
          </p:cNvPr>
          <p:cNvSpPr txBox="1"/>
          <p:nvPr/>
        </p:nvSpPr>
        <p:spPr>
          <a:xfrm>
            <a:off x="8559800" y="3683000"/>
            <a:ext cx="287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500">
                <a:solidFill>
                  <a:srgbClr val="203344"/>
                </a:solidFill>
                <a:latin typeface="Arial" panose="020B0604020202020204" pitchFamily="34" charset="0"/>
              </a:rPr>
              <a:t>TOP-1, TOP-4 e Metodo 2 scelgono quali esiti verificare</a:t>
            </a:r>
            <a:endParaRPr lang="en-GB" sz="1500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1248280-0FE5-1BEF-17A1-81A669A24F94}"/>
              </a:ext>
            </a:extLst>
          </p:cNvPr>
          <p:cNvSpPr/>
          <p:nvPr/>
        </p:nvSpPr>
        <p:spPr>
          <a:xfrm>
            <a:off x="609600" y="4826000"/>
            <a:ext cx="10972800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5084B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4B8C54-B0A7-DDBE-6DEB-5312EAF98F37}"/>
              </a:ext>
            </a:extLst>
          </p:cNvPr>
          <p:cNvSpPr txBox="1"/>
          <p:nvPr/>
        </p:nvSpPr>
        <p:spPr>
          <a:xfrm>
            <a:off x="787400" y="49276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175F99"/>
                </a:solidFill>
                <a:latin typeface="Arial" panose="020B0604020202020204" pitchFamily="34" charset="0"/>
              </a:rPr>
              <a:t>QEC su memorie separate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29BFCA-5DF3-C235-E60B-5671C4D39BD7}"/>
              </a:ext>
            </a:extLst>
          </p:cNvPr>
          <p:cNvSpPr txBox="1"/>
          <p:nvPr/>
        </p:nvSpPr>
        <p:spPr>
          <a:xfrm>
            <a:off x="787400" y="53086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500">
                <a:solidFill>
                  <a:srgbClr val="203344"/>
                </a:solidFill>
                <a:latin typeface="Arial" panose="020B0604020202020204" pitchFamily="34" charset="0"/>
              </a:rPr>
              <a:t>Surface code e Gross code sono studiati in esperimenti di memoria: proteggono uno stato nel tempo, non vengono inseriti dentro l'algoritmo di Shor.</a:t>
            </a:r>
            <a:endParaRPr lang="en-GB" sz="1500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8FFD2B-8E36-DA08-E41A-7B05C2492FA8}"/>
              </a:ext>
            </a:extLst>
          </p:cNvPr>
          <p:cNvSpPr txBox="1"/>
          <p:nvPr/>
        </p:nvSpPr>
        <p:spPr>
          <a:xfrm>
            <a:off x="609600" y="60706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950" b="1">
                <a:solidFill>
                  <a:srgbClr val="175F99"/>
                </a:solidFill>
                <a:latin typeface="Arial" panose="020B0604020202020204" pitchFamily="34" charset="0"/>
              </a:rPr>
              <a:t>Ogni strategia agisce in un punto diverso: per questo ognuna ha la propria baseline.</a:t>
            </a:r>
            <a:endParaRPr lang="en-GB" sz="1950" b="1">
              <a:solidFill>
                <a:srgbClr val="175F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219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93C3B39-6012-409D-8C55-2E1E804828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Il successo si legge tra 75% e 24,61%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2AFE8A-0115-4407-BDA2-396C170A082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900CC-09C6-4AFF-B224-9EC736B42A9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10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1C460D-B10D-C161-F06A-4237E2387A18}"/>
              </a:ext>
            </a:extLst>
          </p:cNvPr>
          <p:cNvSpPr txBox="1"/>
          <p:nvPr/>
        </p:nvSpPr>
        <p:spPr>
          <a:xfrm>
            <a:off x="609600" y="13208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2100">
                <a:solidFill>
                  <a:srgbClr val="203344"/>
                </a:solidFill>
                <a:latin typeface="Arial" panose="020B0604020202020204" pitchFamily="34" charset="0"/>
              </a:rPr>
              <a:t>Successo = fattori non banali ottenuti da una singola misura</a:t>
            </a:r>
            <a:endParaRPr lang="en-GB" sz="2100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DE54F5-D458-64F7-69A6-EA10F02D5813}"/>
              </a:ext>
            </a:extLst>
          </p:cNvPr>
          <p:cNvSpPr txBox="1"/>
          <p:nvPr/>
        </p:nvSpPr>
        <p:spPr>
          <a:xfrm>
            <a:off x="609600" y="1905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5250" b="1">
                <a:solidFill>
                  <a:srgbClr val="175F99"/>
                </a:solidFill>
                <a:latin typeface="Arial" panose="020B0604020202020204" pitchFamily="34" charset="0"/>
              </a:rPr>
              <a:t>75%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AA89B4-CE96-0D99-10CE-03C6CD0FA7B5}"/>
              </a:ext>
            </a:extLst>
          </p:cNvPr>
          <p:cNvSpPr txBox="1"/>
          <p:nvPr/>
        </p:nvSpPr>
        <p:spPr>
          <a:xfrm>
            <a:off x="609600" y="27686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>
                <a:solidFill>
                  <a:srgbClr val="203344"/>
                </a:solidFill>
                <a:latin typeface="Arial" panose="020B0604020202020204" pitchFamily="34" charset="0"/>
              </a:rPr>
              <a:t>successo ideale: 3 dei 4 picchi (0, 64, 128, 192) portano ai fattori</a:t>
            </a:r>
            <a:endParaRPr lang="en-GB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1FB8D5-5C8F-B7EA-8779-6C4DF4CAC998}"/>
              </a:ext>
            </a:extLst>
          </p:cNvPr>
          <p:cNvSpPr txBox="1"/>
          <p:nvPr/>
        </p:nvSpPr>
        <p:spPr>
          <a:xfrm>
            <a:off x="609600" y="3810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5250" b="1">
                <a:solidFill>
                  <a:srgbClr val="175F99"/>
                </a:solidFill>
                <a:latin typeface="Arial" panose="020B0604020202020204" pitchFamily="34" charset="0"/>
              </a:rPr>
              <a:t>24,61%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90DE17-8B52-9909-2756-52CAB7266D50}"/>
              </a:ext>
            </a:extLst>
          </p:cNvPr>
          <p:cNvSpPr txBox="1"/>
          <p:nvPr/>
        </p:nvSpPr>
        <p:spPr>
          <a:xfrm>
            <a:off x="609600" y="46736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>
                <a:solidFill>
                  <a:srgbClr val="203344"/>
                </a:solidFill>
                <a:latin typeface="Arial" panose="020B0604020202020204" pitchFamily="34" charset="0"/>
              </a:rPr>
              <a:t>riferimento uniforme: la verifica classica accetta 63 esiti su 256, anche se casuali</a:t>
            </a:r>
            <a:endParaRPr lang="en-GB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550C7F5-9DB6-C4FB-160F-0DA86CD67156}"/>
              </a:ext>
            </a:extLst>
          </p:cNvPr>
          <p:cNvSpPr/>
          <p:nvPr/>
        </p:nvSpPr>
        <p:spPr>
          <a:xfrm>
            <a:off x="6248400" y="2032000"/>
            <a:ext cx="5334000" cy="355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852183-35E7-C8A1-0AA0-89A6A18EB24B}"/>
              </a:ext>
            </a:extLst>
          </p:cNvPr>
          <p:cNvSpPr txBox="1"/>
          <p:nvPr/>
        </p:nvSpPr>
        <p:spPr>
          <a:xfrm>
            <a:off x="6451600" y="2184400"/>
            <a:ext cx="495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Come si legge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938EC5-FB1B-258A-338B-32D7C62322AB}"/>
              </a:ext>
            </a:extLst>
          </p:cNvPr>
          <p:cNvSpPr txBox="1"/>
          <p:nvPr/>
        </p:nvSpPr>
        <p:spPr>
          <a:xfrm>
            <a:off x="6451600" y="26924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Un successo vicino al 24,61% non dimostra che resti informazione quantistica.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Il riferimento dipende dall'istanza e dalla verifica classica, non dalla fedeltà dello stato.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Lo stesso criterio vale per tutte le strategie confrontate.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FAC622-5304-1DFD-C83D-99AB68691B2B}"/>
              </a:ext>
            </a:extLst>
          </p:cNvPr>
          <p:cNvSpPr txBox="1"/>
          <p:nvPr/>
        </p:nvSpPr>
        <p:spPr>
          <a:xfrm>
            <a:off x="609600" y="60706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950" b="1">
                <a:solidFill>
                  <a:srgbClr val="175F99"/>
                </a:solidFill>
                <a:latin typeface="Arial" panose="020B0604020202020204" pitchFamily="34" charset="0"/>
              </a:rPr>
              <a:t>Ogni risultato su Shor va letto tra questi due valori: 75% ideale, 24,61% casuale.</a:t>
            </a:r>
            <a:endParaRPr lang="en-GB" sz="1950" b="1">
              <a:solidFill>
                <a:srgbClr val="175F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2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93C3B39-6012-409D-8C55-2E1E804828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Istanze, validazione e strumenti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2AFE8A-0115-4407-BDA2-396C170A082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900CC-09C6-4AFF-B224-9EC736B42A9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11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33642A-39D7-436F-9CFC-7676A57C1D14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3429000" cy="2724150"/>
          </a:xfrm>
          <a:prstGeom prst="roundRect">
            <a:avLst>
              <a:gd name="adj" fmla="val 349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D7BAFB-51F3-4B90-8C13-B49FD97090D5}"/>
              </a:ext>
            </a:extLst>
          </p:cNvPr>
          <p:cNvSpPr>
            <a:spLocks noGrp="1"/>
          </p:cNvSpPr>
          <p:nvPr/>
        </p:nvSpPr>
        <p:spPr>
          <a:xfrm>
            <a:off x="790575" y="1771650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15 · a = 7 · r =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9F781E-93AE-4604-A42A-BFB97D2DBD78}"/>
              </a:ext>
            </a:extLst>
          </p:cNvPr>
          <p:cNvSpPr>
            <a:spLocks noGrp="1"/>
          </p:cNvSpPr>
          <p:nvPr/>
        </p:nvSpPr>
        <p:spPr>
          <a:xfrm>
            <a:off x="790575" y="2381250"/>
            <a:ext cx="306705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Campagna principale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 qubit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224 CX, profondità 412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E303C5-C77D-4CD7-8589-35179D94E254}"/>
              </a:ext>
            </a:extLst>
          </p:cNvPr>
          <p:cNvSpPr>
            <a:spLocks noGrp="1"/>
          </p:cNvSpPr>
          <p:nvPr/>
        </p:nvSpPr>
        <p:spPr>
          <a:xfrm>
            <a:off x="4381500" y="1581150"/>
            <a:ext cx="3429000" cy="2724150"/>
          </a:xfrm>
          <a:prstGeom prst="roundRect">
            <a:avLst>
              <a:gd name="adj" fmla="val 349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98CA64-5647-4279-A352-DBCAFAF5BCD5}"/>
              </a:ext>
            </a:extLst>
          </p:cNvPr>
          <p:cNvSpPr>
            <a:spLocks noGrp="1"/>
          </p:cNvSpPr>
          <p:nvPr/>
        </p:nvSpPr>
        <p:spPr>
          <a:xfrm>
            <a:off x="4562475" y="1771650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21 · a = 2 · r = 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91EBEE-3FEF-4FFB-A50C-33B92BE18974}"/>
              </a:ext>
            </a:extLst>
          </p:cNvPr>
          <p:cNvSpPr>
            <a:spLocks noGrp="1"/>
          </p:cNvSpPr>
          <p:nvPr/>
        </p:nvSpPr>
        <p:spPr>
          <a:xfrm>
            <a:off x="4562475" y="2381250"/>
            <a:ext cx="306705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Validazione ideale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AQFT e rumore: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prove esplorative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643701-3156-4C02-B64C-F7DE8F7DB778}"/>
              </a:ext>
            </a:extLst>
          </p:cNvPr>
          <p:cNvSpPr>
            <a:spLocks noGrp="1"/>
          </p:cNvSpPr>
          <p:nvPr/>
        </p:nvSpPr>
        <p:spPr>
          <a:xfrm>
            <a:off x="8153400" y="1581150"/>
            <a:ext cx="3429000" cy="2724150"/>
          </a:xfrm>
          <a:prstGeom prst="roundRect">
            <a:avLst>
              <a:gd name="adj" fmla="val 349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6F2A79-96B2-402D-9676-34666FE36A8F}"/>
              </a:ext>
            </a:extLst>
          </p:cNvPr>
          <p:cNvSpPr>
            <a:spLocks noGrp="1"/>
          </p:cNvSpPr>
          <p:nvPr/>
        </p:nvSpPr>
        <p:spPr>
          <a:xfrm>
            <a:off x="8334375" y="1771650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35 · a = 6 · r =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E97D12-38D0-40E6-82B6-AE2CD9CCD8C9}"/>
              </a:ext>
            </a:extLst>
          </p:cNvPr>
          <p:cNvSpPr>
            <a:spLocks noGrp="1"/>
          </p:cNvSpPr>
          <p:nvPr/>
        </p:nvSpPr>
        <p:spPr>
          <a:xfrm>
            <a:off x="8334375" y="2381250"/>
            <a:ext cx="306705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Validazione ideale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Controllo dell’aritmetica reversibile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7E5A2-28A4-4167-AA8E-522F16E60F41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Validazione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B81CB8-0217-4419-B2A1-6F17AAC4D972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Operatori modulari, ripristino degli ausiliari e distribuzioni teoriche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B60C3F-8703-4B2A-AC1D-C3D75FCE2DE3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Qiskit/Aer · scikit-learn · Stim · PyMatching · ldpc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2C6B38-1794-4BE5-936B-10259E5FD49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Versioni, parametri, seed e identificativi circuitali registrati. Simulazioni classiche.</a:t>
            </a:r>
          </a:p>
        </p:txBody>
      </p:sp>
    </p:spTree>
    <p:extLst>
      <p:ext uri="{BB962C8B-B14F-4D97-AF65-F5344CB8AC3E}">
        <p14:creationId xmlns:p14="http://schemas.microsoft.com/office/powerpoint/2010/main" val="1216408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63F5E73-50EB-4DE5-A1E1-7932B59E91B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Post-processing e ablazione del ML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78C359-BEA8-4AFD-944F-9175CC4F4295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34F752-5082-496F-BC77-8A8C1F34CF2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12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35D492-ABDB-46BA-AE16-026C7410C36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59055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Istogramma · 1024 shot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6B2847-EFC1-4D02-B73B-9163FA7FF42D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3143250" cy="1552575"/>
          </a:xfrm>
          <a:prstGeom prst="roundRect">
            <a:avLst>
              <a:gd name="adj" fmla="val 6135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207F82-D486-4618-9019-4A9B6B896244}"/>
              </a:ext>
            </a:extLst>
          </p:cNvPr>
          <p:cNvSpPr>
            <a:spLocks noGrp="1"/>
          </p:cNvSpPr>
          <p:nvPr/>
        </p:nvSpPr>
        <p:spPr>
          <a:xfrm>
            <a:off x="790575" y="2828925"/>
            <a:ext cx="2781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TOP-1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8DCFE9-33F7-45E1-A769-1CD6F8ABDA24}"/>
              </a:ext>
            </a:extLst>
          </p:cNvPr>
          <p:cNvSpPr>
            <a:spLocks noGrp="1"/>
          </p:cNvSpPr>
          <p:nvPr/>
        </p:nvSpPr>
        <p:spPr>
          <a:xfrm>
            <a:off x="790575" y="3438525"/>
            <a:ext cx="27813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Verifica l’esito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più frequente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ED80C4-3A04-48D9-8600-16713139334D}"/>
              </a:ext>
            </a:extLst>
          </p:cNvPr>
          <p:cNvSpPr>
            <a:spLocks noGrp="1"/>
          </p:cNvSpPr>
          <p:nvPr/>
        </p:nvSpPr>
        <p:spPr>
          <a:xfrm>
            <a:off x="4524375" y="2638425"/>
            <a:ext cx="3143250" cy="1552575"/>
          </a:xfrm>
          <a:prstGeom prst="roundRect">
            <a:avLst>
              <a:gd name="adj" fmla="val 6135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18673-DDE6-4B0E-80B1-2DEB783CDC31}"/>
              </a:ext>
            </a:extLst>
          </p:cNvPr>
          <p:cNvSpPr>
            <a:spLocks noGrp="1"/>
          </p:cNvSpPr>
          <p:nvPr/>
        </p:nvSpPr>
        <p:spPr>
          <a:xfrm>
            <a:off x="4705350" y="2828925"/>
            <a:ext cx="2781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TOP-4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8CE012-A819-412F-A649-3EAB47BC23F5}"/>
              </a:ext>
            </a:extLst>
          </p:cNvPr>
          <p:cNvSpPr>
            <a:spLocks noGrp="1"/>
          </p:cNvSpPr>
          <p:nvPr/>
        </p:nvSpPr>
        <p:spPr>
          <a:xfrm>
            <a:off x="4705350" y="3438525"/>
            <a:ext cx="27813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Verifica fino a quattro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esiti per frequenza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8D58EB-1F29-489F-84AA-EE5A27A893AB}"/>
              </a:ext>
            </a:extLst>
          </p:cNvPr>
          <p:cNvSpPr>
            <a:spLocks noGrp="1"/>
          </p:cNvSpPr>
          <p:nvPr/>
        </p:nvSpPr>
        <p:spPr>
          <a:xfrm>
            <a:off x="8439150" y="2638425"/>
            <a:ext cx="3143250" cy="1552575"/>
          </a:xfrm>
          <a:prstGeom prst="roundRect">
            <a:avLst>
              <a:gd name="adj" fmla="val 6135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0CC7E4-D9E5-44BA-A967-3C00C77DC3EC}"/>
              </a:ext>
            </a:extLst>
          </p:cNvPr>
          <p:cNvSpPr>
            <a:spLocks noGrp="1"/>
          </p:cNvSpPr>
          <p:nvPr/>
        </p:nvSpPr>
        <p:spPr>
          <a:xfrm>
            <a:off x="8620125" y="2828925"/>
            <a:ext cx="2781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Metodo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7C1F09-0415-4CBC-9397-423247F26ABF}"/>
              </a:ext>
            </a:extLst>
          </p:cNvPr>
          <p:cNvSpPr>
            <a:spLocks noGrp="1"/>
          </p:cNvSpPr>
          <p:nvPr/>
        </p:nvSpPr>
        <p:spPr>
          <a:xfrm>
            <a:off x="8620125" y="3438525"/>
            <a:ext cx="27813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classificatore abilita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 verifica TOP-4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E0F861-41D6-4EE9-B337-234D929EFD39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Stesso estrattore dei fattori, gestione dei pareggi e campioni appaiati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F4CA97-488D-4622-BB3D-0F96D4BD7897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M2 contro TOP-4 senza filtro isola il valore aggiunto del classificatore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4A24A2-8CD6-4D0C-8C4C-D0EB94BC141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2000 istogrammi per scenario: split 60/20/20, test indipendente di 400. 30 repliche, massimo 50 iterazioni.</a:t>
            </a:r>
          </a:p>
        </p:txBody>
      </p:sp>
    </p:spTree>
    <p:extLst>
      <p:ext uri="{BB962C8B-B14F-4D97-AF65-F5344CB8AC3E}">
        <p14:creationId xmlns:p14="http://schemas.microsoft.com/office/powerpoint/2010/main" val="187774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1A0FE10-7D08-45A5-9369-B8A8D92211C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Surface code, decoder e Gross code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3BB1C7-E1F5-4EAD-96B7-5E2DB8BF621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7F7CC-AA63-4989-8F76-D977A27FE48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13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F2E4C9-BB39-4768-A1B2-18244192C53B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5286375" cy="2171700"/>
          </a:xfrm>
          <a:prstGeom prst="roundRect">
            <a:avLst>
              <a:gd name="adj" fmla="val 4386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003BE-DB8A-4399-8840-03FD9DD07018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4924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Surface 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D25F89-0FF5-4EB4-BA59-ACC9CA4B4236}"/>
              </a:ext>
            </a:extLst>
          </p:cNvPr>
          <p:cNvSpPr>
            <a:spLocks noGrp="1"/>
          </p:cNvSpPr>
          <p:nvPr/>
        </p:nvSpPr>
        <p:spPr>
          <a:xfrm>
            <a:off x="790575" y="2428875"/>
            <a:ext cx="4924425" cy="1276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Distanza d crescente: più errori correggibili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Rumore su operazioni e misure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Crosstalk in alcune prove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8409B5-A61E-4F89-AD54-5C9EDA42E889}"/>
              </a:ext>
            </a:extLst>
          </p:cNvPr>
          <p:cNvSpPr>
            <a:spLocks noGrp="1"/>
          </p:cNvSpPr>
          <p:nvPr/>
        </p:nvSpPr>
        <p:spPr>
          <a:xfrm>
            <a:off x="6296025" y="1628775"/>
            <a:ext cx="5286375" cy="2171700"/>
          </a:xfrm>
          <a:prstGeom prst="roundRect">
            <a:avLst>
              <a:gd name="adj" fmla="val 4386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700CA6-33ED-4182-8866-CF9CC2122E50}"/>
              </a:ext>
            </a:extLst>
          </p:cNvPr>
          <p:cNvSpPr>
            <a:spLocks noGrp="1"/>
          </p:cNvSpPr>
          <p:nvPr/>
        </p:nvSpPr>
        <p:spPr>
          <a:xfrm>
            <a:off x="6477000" y="1819275"/>
            <a:ext cx="4924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Gross code · qLDPC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0A12A4-1521-4159-B26C-A2BE5C987FE5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4924425" cy="1276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 qubit logici, 144 qubit di dato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Code-capacity: errori X sui soli dati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Sindrome perfetta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Simulati gli errori, non lo stato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3E351-A636-475D-8DAB-9B4D6F769E51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Decoder sul surface 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C9B132-A3A6-4943-9896-1ED79428894F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5286375" cy="1343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MWPM (matching a peso minimo)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Rete autonoma e decoder ibrido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BP+OSD come ulteriore baseline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089704-8A2A-4442-A7D6-C7B2EFF5A87C}"/>
              </a:ext>
            </a:extLst>
          </p:cNvPr>
          <p:cNvSpPr>
            <a:spLocks noGrp="1"/>
          </p:cNvSpPr>
          <p:nvPr/>
        </p:nvSpPr>
        <p:spPr>
          <a:xfrm>
            <a:off x="6296025" y="42957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Decoder sul Gross code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F169C8-4EDE-4FA1-A0C4-AF14F251477B}"/>
              </a:ext>
            </a:extLst>
          </p:cNvPr>
          <p:cNvSpPr>
            <a:spLocks noGrp="1"/>
          </p:cNvSpPr>
          <p:nvPr/>
        </p:nvSpPr>
        <p:spPr>
          <a:xfrm>
            <a:off x="6296025" y="4724400"/>
            <a:ext cx="5286375" cy="1343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BP+OSD (belief propagation + OSD)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Aggiornamenti paralleli o seriali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Confronto con patch surface code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E0AF76-6F62-4BCD-A0B3-87F7983A2B6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Stim campiona le sindromi del surface code. Training, selezione e test separati. La QEC resta distinta da Shor.</a:t>
            </a:r>
          </a:p>
        </p:txBody>
      </p:sp>
    </p:spTree>
    <p:extLst>
      <p:ext uri="{BB962C8B-B14F-4D97-AF65-F5344CB8AC3E}">
        <p14:creationId xmlns:p14="http://schemas.microsoft.com/office/powerpoint/2010/main" val="384824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C934D66-A19F-4F45-A910-9FC2198DE6D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AQFT: ridurre il costo del circuito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7D945B-C75B-4179-BF6C-020587B974A1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A8CD84-FE44-4433-9B90-AFC6409EC098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14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B02F1E-42B0-4215-A32B-407191EEB248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5057775" cy="1685925"/>
          </a:xfrm>
          <a:prstGeom prst="roundRect">
            <a:avLst>
              <a:gd name="adj" fmla="val 565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34D500-3518-41DE-B4F5-8EE1598E98B0}"/>
              </a:ext>
            </a:extLst>
          </p:cNvPr>
          <p:cNvSpPr>
            <a:spLocks noGrp="1"/>
          </p:cNvSpPr>
          <p:nvPr/>
        </p:nvSpPr>
        <p:spPr>
          <a:xfrm>
            <a:off x="790575" y="1704975"/>
            <a:ext cx="46958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QFT piena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408B65-40AE-4F22-ACE4-857881372EB6}"/>
              </a:ext>
            </a:extLst>
          </p:cNvPr>
          <p:cNvSpPr>
            <a:spLocks noGrp="1"/>
          </p:cNvSpPr>
          <p:nvPr/>
        </p:nvSpPr>
        <p:spPr>
          <a:xfrm>
            <a:off x="790575" y="2314575"/>
            <a:ext cx="46958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Rotazioni controllate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 grande e piccolo angolo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4308519-41A0-4A6A-981E-EE7016A5A95F}"/>
              </a:ext>
            </a:extLst>
          </p:cNvPr>
          <p:cNvSpPr>
            <a:spLocks noGrp="1"/>
          </p:cNvSpPr>
          <p:nvPr/>
        </p:nvSpPr>
        <p:spPr>
          <a:xfrm>
            <a:off x="5819775" y="2133600"/>
            <a:ext cx="542925" cy="29527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33D295-FC5A-4B11-9247-935CD5405A3E}"/>
              </a:ext>
            </a:extLst>
          </p:cNvPr>
          <p:cNvSpPr>
            <a:spLocks noGrp="1"/>
          </p:cNvSpPr>
          <p:nvPr/>
        </p:nvSpPr>
        <p:spPr>
          <a:xfrm>
            <a:off x="6524625" y="1514475"/>
            <a:ext cx="5057775" cy="1685925"/>
          </a:xfrm>
          <a:prstGeom prst="roundRect">
            <a:avLst>
              <a:gd name="adj" fmla="val 565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8AB232-6DB1-4560-BDA1-394CCD1D4E69}"/>
              </a:ext>
            </a:extLst>
          </p:cNvPr>
          <p:cNvSpPr>
            <a:spLocks noGrp="1"/>
          </p:cNvSpPr>
          <p:nvPr/>
        </p:nvSpPr>
        <p:spPr>
          <a:xfrm>
            <a:off x="6705600" y="1704975"/>
            <a:ext cx="46958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QFT approssimata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DBD92D-BC16-4B3C-BB50-513E87A5286A}"/>
              </a:ext>
            </a:extLst>
          </p:cNvPr>
          <p:cNvSpPr>
            <a:spLocks noGrp="1"/>
          </p:cNvSpPr>
          <p:nvPr/>
        </p:nvSpPr>
        <p:spPr>
          <a:xfrm>
            <a:off x="6705600" y="2314575"/>
            <a:ext cx="46958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Omette le rotazioni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 piccolo angolo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92E19-B2BF-4423-8A89-6DA7F3B162F7}"/>
              </a:ext>
            </a:extLst>
          </p:cNvPr>
          <p:cNvSpPr>
            <a:spLocks noGrp="1"/>
          </p:cNvSpPr>
          <p:nvPr/>
        </p:nvSpPr>
        <p:spPr>
          <a:xfrm>
            <a:off x="609600" y="35337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Meno porte e profondità, al prezzo della precisione di fase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01608B-8A7B-493F-BC3F-E70EFEB6F72E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3381375" cy="1495425"/>
          </a:xfrm>
          <a:prstGeom prst="roundRect">
            <a:avLst>
              <a:gd name="adj" fmla="val 6369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C6FBF2-BD39-44EA-A940-B35847E78555}"/>
              </a:ext>
            </a:extLst>
          </p:cNvPr>
          <p:cNvSpPr>
            <a:spLocks noGrp="1"/>
          </p:cNvSpPr>
          <p:nvPr/>
        </p:nvSpPr>
        <p:spPr>
          <a:xfrm>
            <a:off x="790575" y="4486275"/>
            <a:ext cx="3019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15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CEE40-E2B0-4908-8DA0-2A430C69B8D4}"/>
              </a:ext>
            </a:extLst>
          </p:cNvPr>
          <p:cNvSpPr>
            <a:spLocks noGrp="1"/>
          </p:cNvSpPr>
          <p:nvPr/>
        </p:nvSpPr>
        <p:spPr>
          <a:xfrm>
            <a:off x="790575" y="5095875"/>
            <a:ext cx="3019425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QFT inversa finale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8192 shot nel pilota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BF0FCF-4420-4916-A2EB-08E9DA30D679}"/>
              </a:ext>
            </a:extLst>
          </p:cNvPr>
          <p:cNvSpPr>
            <a:spLocks noGrp="1"/>
          </p:cNvSpPr>
          <p:nvPr/>
        </p:nvSpPr>
        <p:spPr>
          <a:xfrm>
            <a:off x="4381500" y="4295775"/>
            <a:ext cx="3381375" cy="1495425"/>
          </a:xfrm>
          <a:prstGeom prst="roundRect">
            <a:avLst>
              <a:gd name="adj" fmla="val 6369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BE5384-2BEF-4D2D-A3D4-07F219471525}"/>
              </a:ext>
            </a:extLst>
          </p:cNvPr>
          <p:cNvSpPr>
            <a:spLocks noGrp="1"/>
          </p:cNvSpPr>
          <p:nvPr/>
        </p:nvSpPr>
        <p:spPr>
          <a:xfrm>
            <a:off x="4562475" y="4486275"/>
            <a:ext cx="3019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21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27BE4E-8867-473A-B1DF-4C7341493322}"/>
              </a:ext>
            </a:extLst>
          </p:cNvPr>
          <p:cNvSpPr>
            <a:spLocks noGrp="1"/>
          </p:cNvSpPr>
          <p:nvPr/>
        </p:nvSpPr>
        <p:spPr>
          <a:xfrm>
            <a:off x="4562475" y="5095875"/>
            <a:ext cx="3019425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QFT modulari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256 shot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0B0748-E621-4578-9075-26C6BC471272}"/>
              </a:ext>
            </a:extLst>
          </p:cNvPr>
          <p:cNvSpPr>
            <a:spLocks noGrp="1"/>
          </p:cNvSpPr>
          <p:nvPr/>
        </p:nvSpPr>
        <p:spPr>
          <a:xfrm>
            <a:off x="8153400" y="4295775"/>
            <a:ext cx="3429000" cy="1495425"/>
          </a:xfrm>
          <a:prstGeom prst="roundRect">
            <a:avLst>
              <a:gd name="adj" fmla="val 6369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1A1833-4FB8-4B74-884C-2959D523D0FB}"/>
              </a:ext>
            </a:extLst>
          </p:cNvPr>
          <p:cNvSpPr>
            <a:spLocks noGrp="1"/>
          </p:cNvSpPr>
          <p:nvPr/>
        </p:nvSpPr>
        <p:spPr>
          <a:xfrm>
            <a:off x="8334375" y="4486275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QPE isolata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F1DE24-0151-4DC6-903A-42D747CA328F}"/>
              </a:ext>
            </a:extLst>
          </p:cNvPr>
          <p:cNvSpPr>
            <a:spLocks noGrp="1"/>
          </p:cNvSpPr>
          <p:nvPr/>
        </p:nvSpPr>
        <p:spPr>
          <a:xfrm>
            <a:off x="8334375" y="5095875"/>
            <a:ext cx="30670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Registri da 6 a 10 qubit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Benchmark separati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F8A054-845E-4F54-B8DC-298127502D1B}"/>
              </a:ext>
            </a:extLst>
          </p:cNvPr>
          <p:cNvSpPr>
            <a:spLocks noGrp="1"/>
          </p:cNvSpPr>
          <p:nvPr/>
        </p:nvSpPr>
        <p:spPr>
          <a:xfrm>
            <a:off x="609600" y="62007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Rumore da FakeSherbrooke, calibrazione offline di una QPU IBM, senza T1/T2 (rilassamento e decoerenza) aggiuntivi. Grado (quante rotazioni omettere) scelto in selection e verificato su dati indipendenti.</a:t>
            </a:r>
          </a:p>
        </p:txBody>
      </p:sp>
    </p:spTree>
    <p:extLst>
      <p:ext uri="{BB962C8B-B14F-4D97-AF65-F5344CB8AC3E}">
        <p14:creationId xmlns:p14="http://schemas.microsoft.com/office/powerpoint/2010/main" val="490796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D582BE-7568-4FB4-B778-5A7052E72D9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Validazione e sensibilità di Shor al rumore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72EB8E-9FDE-438D-AF6C-38E0FD3CD7CF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783EE-F232-40C0-B3E7-031F6A8D5DC3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DR4 | 15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1806" y="1371600"/>
            <a:ext cx="6958389" cy="41052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7603FF-05F2-4F40-B8B9-3DC8702E9642}"/>
              </a:ext>
            </a:extLst>
          </p:cNvPr>
          <p:cNvSpPr>
            <a:spLocks noGrp="1"/>
          </p:cNvSpPr>
          <p:nvPr/>
        </p:nvSpPr>
        <p:spPr>
          <a:xfrm>
            <a:off x="8277225" y="1609725"/>
            <a:ext cx="330517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74,89%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6831B9-EAF8-4F40-BE26-87795B4AE723}"/>
              </a:ext>
            </a:extLst>
          </p:cNvPr>
          <p:cNvSpPr>
            <a:spLocks noGrp="1"/>
          </p:cNvSpPr>
          <p:nvPr/>
        </p:nvSpPr>
        <p:spPr>
          <a:xfrm>
            <a:off x="8277225" y="2447925"/>
            <a:ext cx="330517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senza rumore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Atteso: 75%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8F4480-43E8-4C7A-BA5E-A533E7D9990E}"/>
              </a:ext>
            </a:extLst>
          </p:cNvPr>
          <p:cNvSpPr>
            <a:spLocks noGrp="1"/>
          </p:cNvSpPr>
          <p:nvPr/>
        </p:nvSpPr>
        <p:spPr>
          <a:xfrm>
            <a:off x="8277225" y="3705225"/>
            <a:ext cx="3305175" cy="147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56,5% a p_g = 1%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45,2% a p_g = 2%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29,5% a p_g = 5%</a:t>
            </a:r>
            <a:endParaRPr lang="it-IT" sz="21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p_g: errore di Pauli per porta, modello uniforme</a:t>
            </a:r>
            <a:endParaRPr sz="21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E379FE-4771-4D73-8C47-6BBD271E69D5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Validazione ideale: distanza di variazione totale 1,38×10⁻⁹ (N = 21) e 2,50×10⁻¹³ (N = 35).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380CDB-EE66-43E3-A612-0B55A00F0C4D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Il plateau a circa 24,6% riflette la verifica classica, senza provare periodicità residua.</a:t>
            </a:r>
          </a:p>
        </p:txBody>
      </p:sp>
    </p:spTree>
    <p:extLst>
      <p:ext uri="{BB962C8B-B14F-4D97-AF65-F5344CB8AC3E}">
        <p14:creationId xmlns:p14="http://schemas.microsoft.com/office/powerpoint/2010/main" val="771501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E95F82B-CDE8-448E-B6D8-A3E05F218E0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Post-processing: il beneficio viene da TOP-4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41F74C-BA89-458E-AB53-0F4F7EFF5A41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D41A47-49F1-4096-92F6-B4B9DFAA222F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DR1 | 16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4484" y="1476375"/>
            <a:ext cx="6315858" cy="4038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BF5463-337E-49AE-80CA-06E347012199}"/>
              </a:ext>
            </a:extLst>
          </p:cNvPr>
          <p:cNvSpPr>
            <a:spLocks noGrp="1"/>
          </p:cNvSpPr>
          <p:nvPr/>
        </p:nvSpPr>
        <p:spPr>
          <a:xfrm>
            <a:off x="8010525" y="1628775"/>
            <a:ext cx="357187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2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1,00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C548CF-E898-4D0E-BA1B-8F970B902EDF}"/>
              </a:ext>
            </a:extLst>
          </p:cNvPr>
          <p:cNvSpPr>
            <a:spLocks noGrp="1"/>
          </p:cNvSpPr>
          <p:nvPr/>
        </p:nvSpPr>
        <p:spPr>
          <a:xfrm>
            <a:off x="8010525" y="2466975"/>
            <a:ext cx="357187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Iterazioni medie con TOP-4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nei due scenari, 30/30 repliche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2AA07C-8300-40A1-AF46-782A9117948E}"/>
              </a:ext>
            </a:extLst>
          </p:cNvPr>
          <p:cNvSpPr>
            <a:spLocks noGrp="1"/>
          </p:cNvSpPr>
          <p:nvPr/>
        </p:nvSpPr>
        <p:spPr>
          <a:xfrm>
            <a:off x="8010525" y="4019550"/>
            <a:ext cx="3571875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TOP-1: 1,37 / 1,50</a:t>
            </a:r>
          </a:p>
          <a:p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M2: 1,50 / 1,37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A9E98-8402-43B7-97FD-2F8054CAC72C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SVM: F1 0,919 / 0,923; AUC 0,965 / 0,958. Capacità predittiva senza beneficio operativo.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C68A4-E2EE-4085-845B-47EDAAA6D577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M2: nessun vantaggio significativo su TOP-1. Prestazioni peggiori di TOP-4.</a:t>
            </a:r>
          </a:p>
        </p:txBody>
      </p:sp>
    </p:spTree>
    <p:extLst>
      <p:ext uri="{BB962C8B-B14F-4D97-AF65-F5344CB8AC3E}">
        <p14:creationId xmlns:p14="http://schemas.microsoft.com/office/powerpoint/2010/main" val="627115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A26051-CE9A-44FC-98B2-DC8331178E9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QEC: la distanza aiuta sotto soglia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5D6DAB-35C4-44C3-BE25-5179AEC9B4BF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278FCC-CAE1-457F-906A-2CA805A50B3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DR2 | 17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559634"/>
            <a:ext cx="7667625" cy="35768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456B77-8485-4875-A49F-280A5006DBAD}"/>
              </a:ext>
            </a:extLst>
          </p:cNvPr>
          <p:cNvSpPr>
            <a:spLocks noGrp="1"/>
          </p:cNvSpPr>
          <p:nvPr/>
        </p:nvSpPr>
        <p:spPr>
          <a:xfrm>
            <a:off x="8743950" y="1704975"/>
            <a:ext cx="28384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0,86%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BFCB9A-D13F-41D2-8F42-9C9249466A06}"/>
              </a:ext>
            </a:extLst>
          </p:cNvPr>
          <p:cNvSpPr>
            <a:spLocks noGrp="1"/>
          </p:cNvSpPr>
          <p:nvPr/>
        </p:nvSpPr>
        <p:spPr>
          <a:xfrm>
            <a:off x="8743950" y="2543175"/>
            <a:ext cx="28384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Soglia in base Z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0,81% in base X</a:t>
            </a:r>
            <a:endParaRPr sz="2025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01B0D8-9DFE-4AEC-8A9E-A39E4B265150}"/>
              </a:ext>
            </a:extLst>
          </p:cNvPr>
          <p:cNvSpPr>
            <a:spLocks noGrp="1"/>
          </p:cNvSpPr>
          <p:nvPr/>
        </p:nvSpPr>
        <p:spPr>
          <a:xfrm>
            <a:off x="8743950" y="4010025"/>
            <a:ext cx="283845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Surface code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MWPM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Rumore circuit-level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58335A-8795-4816-9E39-083D9B0282FB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Ripetizione: p_L = 3p² − 2p³, con p errore fisico</a:t>
            </a:r>
          </a:p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Steane: pendenza 1,94 e pseudo-soglia ≈ 0,08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181A39-D107-484D-8C5C-DA919F356FA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Sotto soglia più distanza riduce p_L. Sopra soglia l’ordine si inverte.</a:t>
            </a:r>
          </a:p>
        </p:txBody>
      </p:sp>
    </p:spTree>
    <p:extLst>
      <p:ext uri="{BB962C8B-B14F-4D97-AF65-F5344CB8AC3E}">
        <p14:creationId xmlns:p14="http://schemas.microsoft.com/office/powerpoint/2010/main" val="1581526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02FDD2B-0B15-4559-A78F-7510806E9E7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Decoder ibrido: beneficio con crosstalk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AED080-374B-49B1-8F03-8E6FD7F6D0AB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83A908-0877-4618-A927-9F701AE6012C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DR3 | 18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1778" y="1485900"/>
            <a:ext cx="6793644" cy="39243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0ABF44-F325-4D36-BD1F-ABAF3859847D}"/>
              </a:ext>
            </a:extLst>
          </p:cNvPr>
          <p:cNvSpPr>
            <a:spLocks noGrp="1"/>
          </p:cNvSpPr>
          <p:nvPr/>
        </p:nvSpPr>
        <p:spPr>
          <a:xfrm>
            <a:off x="8020050" y="1638300"/>
            <a:ext cx="35623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−16,8%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B76D2-161E-4AC3-85EB-CBF789DC78E0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35623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Riduzione relativa di p_L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 d = 3, p = 0,003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crosstalk = 0,01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DE56B1-67CD-4776-88F0-9542C55C4473}"/>
              </a:ext>
            </a:extLst>
          </p:cNvPr>
          <p:cNvSpPr>
            <a:spLocks noGrp="1"/>
          </p:cNvSpPr>
          <p:nvPr/>
        </p:nvSpPr>
        <p:spPr>
          <a:xfrm>
            <a:off x="8020050" y="4286250"/>
            <a:ext cx="3562350" cy="1171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0,05829 → 0,04851</a:t>
            </a:r>
          </a:p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Test appaiato di McNemar:</a:t>
            </a:r>
          </a:p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beneficio significativo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44B8B0-E77A-4E91-A8A5-592AE207918F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La rete autonoma non supera MWPM con rumore nominale. Beneficio ridotto a d = 5, non significativo a d = 7.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85C313-4101-4A13-8229-69A60076480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Il ML aiuta come correttore residuale. A d = 5, BP+OSD supera l’ibrido.</a:t>
            </a:r>
          </a:p>
        </p:txBody>
      </p:sp>
    </p:spTree>
    <p:extLst>
      <p:ext uri="{BB962C8B-B14F-4D97-AF65-F5344CB8AC3E}">
        <p14:creationId xmlns:p14="http://schemas.microsoft.com/office/powerpoint/2010/main" val="1922446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DD45B49-2B11-4DFB-98C7-25966E63F34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Gross code: protezione e numero di qubit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81DA0D9-D748-4F9F-9C08-BE658E4E9967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FE9E0-BFDE-43C4-92FF-F134608A13C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DR3 | 19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9E607-563C-497F-860E-6DBFA2201FC9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di dato per proteggere 12 qubit logici · modello code-capacity</a:t>
            </a:r>
            <a:endParaRPr sz="2175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2DE5DE-DFF9-4E56-AB42-5BD84A6327AC}"/>
              </a:ext>
            </a:extLst>
          </p:cNvPr>
          <p:cNvSpPr>
            <a:spLocks noGrp="1"/>
          </p:cNvSpPr>
          <p:nvPr/>
        </p:nvSpPr>
        <p:spPr>
          <a:xfrm>
            <a:off x="609600" y="5057775"/>
            <a:ext cx="109728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Gross code migliore delle patch d = 11 a ogni livello studiato e delle patch d = 13 per p ≥ 0,75%. A p = 1%: 1,0×10⁻⁶ contro 1,6×10⁻⁶.</a:t>
            </a:r>
            <a:endParaRPr sz="2025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FACC26-75FB-4DAA-A0AD-6154F7148699}"/>
              </a:ext>
            </a:extLst>
          </p:cNvPr>
          <p:cNvSpPr>
            <a:spLocks noGrp="1"/>
          </p:cNvSpPr>
          <p:nvPr/>
        </p:nvSpPr>
        <p:spPr>
          <a:xfrm>
            <a:off x="609600" y="6124575"/>
            <a:ext cx="1097280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BP+OSD seriale riduce il fallimento di circa 100× rispetto all’aggiornamento parallelo.</a:t>
            </a:r>
          </a:p>
        </p:txBody>
      </p:sp>
      <p:sp>
        <p:nvSpPr>
          <p:cNvPr id="40" name="Nota simulazione"/>
          <p:cNvSpPr>
            <a:spLocks noGrp="1"/>
          </p:cNvSpPr>
          <p:nvPr/>
        </p:nvSpPr>
        <p:spPr>
          <a:xfrm>
            <a:off x="609600" y="4290000"/>
            <a:ext cx="10972800" cy="56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A6B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B7B"/>
                </a:solidFill>
                <a:latin typeface="Arial"/>
                <a:ea typeface="Arial"/>
                <a:cs typeface="Arial"/>
              </a:rPr>
              <a:t>Simulazione classica degli errori: vettori di 144 bit, sindrome e decodifica. Lo stato quantistico di 144 qubit non viene simulato. [[n, k, d]]: n qubit di dato, k qubit logici, distanza 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C69F4F-C1C0-F662-B4B2-B110AEC17965}"/>
              </a:ext>
            </a:extLst>
          </p:cNvPr>
          <p:cNvSpPr txBox="1"/>
          <p:nvPr/>
        </p:nvSpPr>
        <p:spPr>
          <a:xfrm>
            <a:off x="609600" y="2260600"/>
            <a:ext cx="355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725" b="1">
                <a:solidFill>
                  <a:srgbClr val="203344"/>
                </a:solidFill>
                <a:latin typeface="Arial" panose="020B0604020202020204" pitchFamily="34" charset="0"/>
              </a:rPr>
              <a:t>Gross code [[144,12,12]]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48C583-5F91-EA23-2FB5-8EE6E27AC3C5}"/>
              </a:ext>
            </a:extLst>
          </p:cNvPr>
          <p:cNvSpPr/>
          <p:nvPr/>
        </p:nvSpPr>
        <p:spPr>
          <a:xfrm>
            <a:off x="4191000" y="2286000"/>
            <a:ext cx="419100" cy="330200"/>
          </a:xfrm>
          <a:prstGeom prst="rect">
            <a:avLst/>
          </a:prstGeom>
          <a:solidFill>
            <a:srgbClr val="17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7674F-7718-D766-7EEB-A9A243251484}"/>
              </a:ext>
            </a:extLst>
          </p:cNvPr>
          <p:cNvSpPr txBox="1"/>
          <p:nvPr/>
        </p:nvSpPr>
        <p:spPr>
          <a:xfrm>
            <a:off x="4686300" y="2247900"/>
            <a:ext cx="127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175F99"/>
                </a:solidFill>
                <a:latin typeface="Arial" panose="020B0604020202020204" pitchFamily="34" charset="0"/>
              </a:rPr>
              <a:t>144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ADE274-5C8A-78BC-573F-8D208A4B8336}"/>
              </a:ext>
            </a:extLst>
          </p:cNvPr>
          <p:cNvSpPr txBox="1"/>
          <p:nvPr/>
        </p:nvSpPr>
        <p:spPr>
          <a:xfrm>
            <a:off x="609600" y="2844800"/>
            <a:ext cx="355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FR" sz="1725">
                <a:solidFill>
                  <a:srgbClr val="203344"/>
                </a:solidFill>
                <a:latin typeface="Arial" panose="020B0604020202020204" pitchFamily="34" charset="0"/>
              </a:rPr>
              <a:t>12 patch surface code, d = 11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EEBA82-F5DD-FBA4-53C0-D669891ED9C6}"/>
              </a:ext>
            </a:extLst>
          </p:cNvPr>
          <p:cNvSpPr/>
          <p:nvPr/>
        </p:nvSpPr>
        <p:spPr>
          <a:xfrm>
            <a:off x="4191000" y="2870200"/>
            <a:ext cx="4279900" cy="330200"/>
          </a:xfrm>
          <a:prstGeom prst="rect">
            <a:avLst/>
          </a:prstGeom>
          <a:solidFill>
            <a:srgbClr val="B8C7D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5FA1F8-8FD8-D08F-6193-F42B82486A22}"/>
              </a:ext>
            </a:extLst>
          </p:cNvPr>
          <p:cNvSpPr txBox="1"/>
          <p:nvPr/>
        </p:nvSpPr>
        <p:spPr>
          <a:xfrm>
            <a:off x="8547100" y="2832100"/>
            <a:ext cx="127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203344"/>
                </a:solidFill>
                <a:latin typeface="Arial" panose="020B0604020202020204" pitchFamily="34" charset="0"/>
              </a:rPr>
              <a:t>1 452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F3761C-CB28-DF95-8288-1CF2A85D3EB3}"/>
              </a:ext>
            </a:extLst>
          </p:cNvPr>
          <p:cNvSpPr txBox="1"/>
          <p:nvPr/>
        </p:nvSpPr>
        <p:spPr>
          <a:xfrm>
            <a:off x="609600" y="3429000"/>
            <a:ext cx="355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FR" sz="1725">
                <a:solidFill>
                  <a:srgbClr val="203344"/>
                </a:solidFill>
                <a:latin typeface="Arial" panose="020B0604020202020204" pitchFamily="34" charset="0"/>
              </a:rPr>
              <a:t>12 patch surface code, d = 13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0EF537-C669-94C1-3B0E-710E8987E75F}"/>
              </a:ext>
            </a:extLst>
          </p:cNvPr>
          <p:cNvSpPr/>
          <p:nvPr/>
        </p:nvSpPr>
        <p:spPr>
          <a:xfrm>
            <a:off x="4191000" y="3454400"/>
            <a:ext cx="5969000" cy="330200"/>
          </a:xfrm>
          <a:prstGeom prst="rect">
            <a:avLst/>
          </a:prstGeom>
          <a:solidFill>
            <a:srgbClr val="B8C7D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CCD019-9513-713C-464B-129DFFF0690F}"/>
              </a:ext>
            </a:extLst>
          </p:cNvPr>
          <p:cNvSpPr txBox="1"/>
          <p:nvPr/>
        </p:nvSpPr>
        <p:spPr>
          <a:xfrm>
            <a:off x="10236200" y="3416300"/>
            <a:ext cx="127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203344"/>
                </a:solidFill>
                <a:latin typeface="Arial" panose="020B0604020202020204" pitchFamily="34" charset="0"/>
              </a:rPr>
              <a:t>2 028</a:t>
            </a:r>
          </a:p>
        </p:txBody>
      </p:sp>
    </p:spTree>
    <p:extLst>
      <p:ext uri="{BB962C8B-B14F-4D97-AF65-F5344CB8AC3E}">
        <p14:creationId xmlns:p14="http://schemas.microsoft.com/office/powerpoint/2010/main" val="498351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A715D2C-BFF8-4F44-9B9C-E1B9D835B31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 su N = 15: maggiore successo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2291F3-B2FD-49F3-B6D2-121D3BDBF3CD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908A8-B2EF-405D-A77D-5756ADD4C77A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DR5 | 20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547175"/>
            <a:ext cx="6238875" cy="37446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AFD0C9-328E-4D63-A4D9-E371C130FD82}"/>
              </a:ext>
            </a:extLst>
          </p:cNvPr>
          <p:cNvSpPr>
            <a:spLocks noGrp="1"/>
          </p:cNvSpPr>
          <p:nvPr/>
        </p:nvSpPr>
        <p:spPr>
          <a:xfrm>
            <a:off x="7391400" y="1609725"/>
            <a:ext cx="41910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+14,87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5E1FC-DBD5-48E4-A049-97253916A7E3}"/>
              </a:ext>
            </a:extLst>
          </p:cNvPr>
          <p:cNvSpPr>
            <a:spLocks noGrp="1"/>
          </p:cNvSpPr>
          <p:nvPr/>
        </p:nvSpPr>
        <p:spPr>
          <a:xfrm>
            <a:off x="7391400" y="2447925"/>
            <a:ext cx="4191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Punti percentuali di successo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 dati di verifica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7391400" y="3629025"/>
          <a:ext cx="4191000" cy="1895476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869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7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QFT piena</a:t>
                      </a:r>
                    </a:p>
                  </a:txBody>
                  <a:tcPr>
                    <a:solidFill>
                      <a:srgbClr val="17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AQFT</a:t>
                      </a:r>
                    </a:p>
                  </a:txBody>
                  <a:tcPr>
                    <a:solidFill>
                      <a:srgbClr val="17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Successo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47,92%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62,79%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Porte ECR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Profondità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1351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1141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925C649-2754-4787-9340-CF13E6F34FBC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IC Newcombe 95%: [12,73; 16,99] punti (IC: intervallo di confidenza). ECR: porta a due qubit.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681458-516B-464A-8A55-982CD3E3B7A1}"/>
              </a:ext>
            </a:extLst>
          </p:cNvPr>
          <p:cNvSpPr>
            <a:spLocks noGrp="1"/>
          </p:cNvSpPr>
          <p:nvPr/>
        </p:nvSpPr>
        <p:spPr>
          <a:xfrm>
            <a:off x="609600" y="629602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−22,9% porte ECR e −15,5% profondità. Istanza favorevole: r = 4.</a:t>
            </a:r>
          </a:p>
        </p:txBody>
      </p:sp>
    </p:spTree>
    <p:extLst>
      <p:ext uri="{BB962C8B-B14F-4D97-AF65-F5344CB8AC3E}">
        <p14:creationId xmlns:p14="http://schemas.microsoft.com/office/powerpoint/2010/main" val="102393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44FC83-C70B-46CD-8C70-92D7C3D9C2A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Conclusioni e contributo personale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0B7C71E-845D-4B6E-BAC4-41119EECCBA9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EF0B45-22BD-40BF-B86A-74F48577473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22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D045C-2318-472B-9B26-08CDB5EF9595}"/>
              </a:ext>
            </a:extLst>
          </p:cNvPr>
          <p:cNvSpPr>
            <a:spLocks noGrp="1"/>
          </p:cNvSpPr>
          <p:nvPr/>
        </p:nvSpPr>
        <p:spPr>
          <a:xfrm>
            <a:off x="609600" y="1346200"/>
            <a:ext cx="10972800" cy="101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600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Il valore di una tecnica dipende dall'informazione che sfrutta e dalla forza della baseline.</a:t>
            </a:r>
            <a:endParaRPr sz="2600" b="1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DE2815-21B7-682F-A426-5F90BFDD3396}"/>
              </a:ext>
            </a:extLst>
          </p:cNvPr>
          <p:cNvSpPr/>
          <p:nvPr/>
        </p:nvSpPr>
        <p:spPr>
          <a:xfrm>
            <a:off x="609600" y="2603500"/>
            <a:ext cx="5334000" cy="3302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C020A3-720D-427F-D9DE-ECE06638CA52}"/>
              </a:ext>
            </a:extLst>
          </p:cNvPr>
          <p:cNvSpPr/>
          <p:nvPr/>
        </p:nvSpPr>
        <p:spPr>
          <a:xfrm>
            <a:off x="6248400" y="2603500"/>
            <a:ext cx="5334000" cy="3302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790D89-B65C-CB3A-B26D-A612DB8546D8}"/>
              </a:ext>
            </a:extLst>
          </p:cNvPr>
          <p:cNvSpPr txBox="1"/>
          <p:nvPr/>
        </p:nvSpPr>
        <p:spPr>
          <a:xfrm>
            <a:off x="812800" y="2755900"/>
            <a:ext cx="495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Cosa ho mostrato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6CF6D8-7978-90DC-1925-74FEA6FB9763}"/>
              </a:ext>
            </a:extLst>
          </p:cNvPr>
          <p:cNvSpPr txBox="1"/>
          <p:nvPr/>
        </p:nvSpPr>
        <p:spPr>
          <a:xfrm>
            <a:off x="6451600" y="2755900"/>
            <a:ext cx="495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Contributo personale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5014B6-44D1-DC9B-7BB9-F99AF83A1D2A}"/>
              </a:ext>
            </a:extLst>
          </p:cNvPr>
          <p:cNvSpPr txBox="1"/>
          <p:nvPr/>
        </p:nvSpPr>
        <p:spPr>
          <a:xfrm>
            <a:off x="812800" y="32512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Più candidati, non il ML, riducono le iterazioni.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La QEC aiuta solo sotto soglia; decoder e codice contano insieme.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L'AQFT dà +14,87 punti su N = 15; su N = 21 il beneficio non è dimostrato.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45B240-B8AE-8BB8-DDD9-8B7D9D18CA56}"/>
              </a:ext>
            </a:extLst>
          </p:cNvPr>
          <p:cNvSpPr txBox="1"/>
          <p:nvPr/>
        </p:nvSpPr>
        <p:spPr>
          <a:xfrm>
            <a:off x="6451600" y="32512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Implementazione e validazione dei circuiti per N = 15, 21 e 35.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Progetto delle campagne con baseline esplicite e confronti appaiati.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Pipeline riproducibile: versioni, parametri e seed registrati.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7C03F3-6ECC-0A57-515F-008B8206761D}"/>
              </a:ext>
            </a:extLst>
          </p:cNvPr>
          <p:cNvSpPr txBox="1"/>
          <p:nvPr/>
        </p:nvSpPr>
        <p:spPr>
          <a:xfrm>
            <a:off x="609600" y="60960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725" b="1">
                <a:solidFill>
                  <a:srgbClr val="175F99"/>
                </a:solidFill>
                <a:latin typeface="Arial" panose="020B0604020202020204" pitchFamily="34" charset="0"/>
              </a:rPr>
              <a:t>Ottimizzazione del circuito e QEC sono complementari: la prima contiene le risorse, la seconda protegge l'esecuzione.</a:t>
            </a:r>
            <a:endParaRPr lang="en-GB" sz="1725" b="1">
              <a:solidFill>
                <a:srgbClr val="175F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469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CA37C23-8EF6-4C17-A4F4-E71FFDA7BF9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 e sviluppi futuri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2491AB4-A50E-4972-B4BC-A45D2FE2D097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A1C702-C5F3-4FAF-A2B8-E1EA38A991CF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23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36809C-4DF7-437C-890C-B6373A80A43D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857750" cy="3695700"/>
          </a:xfrm>
          <a:prstGeom prst="roundRect">
            <a:avLst>
              <a:gd name="adj" fmla="val 257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25D6F7-BB18-443C-A940-C65D30D526E9}"/>
              </a:ext>
            </a:extLst>
          </p:cNvPr>
          <p:cNvSpPr>
            <a:spLocks noGrp="1"/>
          </p:cNvSpPr>
          <p:nvPr/>
        </p:nvSpPr>
        <p:spPr>
          <a:xfrm>
            <a:off x="790575" y="1800225"/>
            <a:ext cx="4495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2D3E0F-7F73-4A21-9D50-356F712E2E64}"/>
              </a:ext>
            </a:extLst>
          </p:cNvPr>
          <p:cNvSpPr>
            <a:spLocks noGrp="1"/>
          </p:cNvSpPr>
          <p:nvPr/>
        </p:nvSpPr>
        <p:spPr>
          <a:xfrm>
            <a:off x="790575" y="2409825"/>
            <a:ext cx="4495800" cy="2800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Simulazioni su poche istanze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QEC su memorie separate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Gross code in code-capacity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Calibrazione hardware offline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Nessuno Shor fault-tolerant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FCCE78-1995-4A6E-B503-C0FB8B2CE55C}"/>
              </a:ext>
            </a:extLst>
          </p:cNvPr>
          <p:cNvSpPr>
            <a:spLocks noGrp="1"/>
          </p:cNvSpPr>
          <p:nvPr/>
        </p:nvSpPr>
        <p:spPr>
          <a:xfrm>
            <a:off x="6143625" y="1685925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Priorità: costo circuitale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E7F75E-8090-4D8C-A3C0-14E197BC6225}"/>
              </a:ext>
            </a:extLst>
          </p:cNvPr>
          <p:cNvSpPr>
            <a:spLocks noGrp="1"/>
          </p:cNvSpPr>
          <p:nvPr/>
        </p:nvSpPr>
        <p:spPr>
          <a:xfrm>
            <a:off x="6143625" y="2133600"/>
            <a:ext cx="542925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AQFT, aritmetica modulare</a:t>
            </a:r>
          </a:p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sintesi delle operazioni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509B3C-7ABF-488B-B403-FCA84D5CCA49}"/>
              </a:ext>
            </a:extLst>
          </p:cNvPr>
          <p:cNvSpPr>
            <a:spLocks noGrp="1"/>
          </p:cNvSpPr>
          <p:nvPr/>
        </p:nvSpPr>
        <p:spPr>
          <a:xfrm>
            <a:off x="6143625" y="3352800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Verifica sulla metrica finale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F31C1B-0262-481F-9574-1CCEAD53F4BB}"/>
              </a:ext>
            </a:extLst>
          </p:cNvPr>
          <p:cNvSpPr>
            <a:spLocks noGrp="1"/>
          </p:cNvSpPr>
          <p:nvPr/>
        </p:nvSpPr>
        <p:spPr>
          <a:xfrm>
            <a:off x="6143625" y="3800475"/>
            <a:ext cx="5429250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Accuratezza della stima di fase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successo della fattorizzazione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548C9A-350D-48B4-AF3D-7F83C636A3E2}"/>
              </a:ext>
            </a:extLst>
          </p:cNvPr>
          <p:cNvSpPr>
            <a:spLocks noGrp="1"/>
          </p:cNvSpPr>
          <p:nvPr/>
        </p:nvSpPr>
        <p:spPr>
          <a:xfrm>
            <a:off x="6143625" y="5048250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Integrare la fault tolerance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A4558C-B64F-48E3-8CDD-700821146101}"/>
              </a:ext>
            </a:extLst>
          </p:cNvPr>
          <p:cNvSpPr>
            <a:spLocks noGrp="1"/>
          </p:cNvSpPr>
          <p:nvPr/>
        </p:nvSpPr>
        <p:spPr>
          <a:xfrm>
            <a:off x="6143625" y="5495925"/>
            <a:ext cx="54292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logici e operazioni protette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76611A-A935-4D91-8214-290481870DC1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Ottimizzazione e QEC sono complementari. Nessuna modifica della complessità asintotica dimostrata.</a:t>
            </a:r>
          </a:p>
        </p:txBody>
      </p:sp>
    </p:spTree>
    <p:extLst>
      <p:ext uri="{BB962C8B-B14F-4D97-AF65-F5344CB8AC3E}">
        <p14:creationId xmlns:p14="http://schemas.microsoft.com/office/powerpoint/2010/main" val="1626746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FCB8C3-6EF2-4D5C-830F-D31C57913E1A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758190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25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Grazie</a:t>
            </a:r>
          </a:p>
          <a:p>
            <a:pPr>
              <a:defRPr sz="525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 l’attenzione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0" y="1753654"/>
            <a:ext cx="3743325" cy="35126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C0F97C-7D70-493D-8ABF-F3E5206AB52F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6810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BF28B-851A-43E0-9AB9-72CF4D3F664A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69532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Ingegneria dei Sistemi Intelligenti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A.A. 2025/2026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" y="515764"/>
            <a:ext cx="1019175" cy="84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35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12534A0-8C5F-4857-89E7-07999893D54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QEC: codifica, sindrome e correzione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79942E-43A9-45C4-B624-584820AC1057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5A3992-1697-4A05-B5A6-BF57B6C4551B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R1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78294-4563-4E63-8B56-F56477643631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L’informazione di un qubit logico viene distribuita su più qubit fisici.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F9F3F-7116-480E-AED9-E7C4211A2631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3352800" cy="100965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Qubit logico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79362CA-67EB-4E86-80F6-FBBCC1DDEACB}"/>
              </a:ext>
            </a:extLst>
          </p:cNvPr>
          <p:cNvSpPr>
            <a:spLocks noGrp="1"/>
          </p:cNvSpPr>
          <p:nvPr/>
        </p:nvSpPr>
        <p:spPr>
          <a:xfrm>
            <a:off x="4152900" y="3038475"/>
            <a:ext cx="581025" cy="29527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6331CC-98D8-4563-B2D8-43DD6A4F2383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6648450" cy="10096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Più qubit fisici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A64158-D9A8-46D0-BD60-54C64CA14144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3343275" cy="1571625"/>
          </a:xfrm>
          <a:prstGeom prst="roundRect">
            <a:avLst>
              <a:gd name="adj" fmla="val 6061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7179CA-AD4C-4BA5-A715-367613D21A5B}"/>
              </a:ext>
            </a:extLst>
          </p:cNvPr>
          <p:cNvSpPr>
            <a:spLocks noGrp="1"/>
          </p:cNvSpPr>
          <p:nvPr/>
        </p:nvSpPr>
        <p:spPr>
          <a:xfrm>
            <a:off x="790575" y="4476750"/>
            <a:ext cx="29813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1 · Sindrome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B9B118-B060-4215-8BFA-A99F6CDFDBCC}"/>
              </a:ext>
            </a:extLst>
          </p:cNvPr>
          <p:cNvSpPr>
            <a:spLocks noGrp="1"/>
          </p:cNvSpPr>
          <p:nvPr/>
        </p:nvSpPr>
        <p:spPr>
          <a:xfrm>
            <a:off x="790575" y="5086350"/>
            <a:ext cx="2981325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Segnala gli errori senza misurare lo stato logico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5D34FF2-747A-414C-96E3-60B4A6AC148F}"/>
              </a:ext>
            </a:extLst>
          </p:cNvPr>
          <p:cNvSpPr>
            <a:spLocks noGrp="1"/>
          </p:cNvSpPr>
          <p:nvPr/>
        </p:nvSpPr>
        <p:spPr>
          <a:xfrm>
            <a:off x="4114800" y="4953000"/>
            <a:ext cx="390525" cy="23812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ABF58B-2E54-44C2-9A2A-EE142571AF67}"/>
              </a:ext>
            </a:extLst>
          </p:cNvPr>
          <p:cNvSpPr>
            <a:spLocks noGrp="1"/>
          </p:cNvSpPr>
          <p:nvPr/>
        </p:nvSpPr>
        <p:spPr>
          <a:xfrm>
            <a:off x="4676775" y="4286250"/>
            <a:ext cx="3343275" cy="1571625"/>
          </a:xfrm>
          <a:prstGeom prst="roundRect">
            <a:avLst>
              <a:gd name="adj" fmla="val 6061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F5FC99-A703-4F45-B707-7CDAE1911D8D}"/>
              </a:ext>
            </a:extLst>
          </p:cNvPr>
          <p:cNvSpPr>
            <a:spLocks noGrp="1"/>
          </p:cNvSpPr>
          <p:nvPr/>
        </p:nvSpPr>
        <p:spPr>
          <a:xfrm>
            <a:off x="4857750" y="4476750"/>
            <a:ext cx="29813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2 · Decoder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6ED5BA-6789-43FA-BFEE-218CC55520A4}"/>
              </a:ext>
            </a:extLst>
          </p:cNvPr>
          <p:cNvSpPr>
            <a:spLocks noGrp="1"/>
          </p:cNvSpPr>
          <p:nvPr/>
        </p:nvSpPr>
        <p:spPr>
          <a:xfrm>
            <a:off x="4857750" y="5086350"/>
            <a:ext cx="2981325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Interpreta la sindrome e sceglie la correzione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0AFF5D9-78B4-4BDD-B329-DE1C41FC2FB0}"/>
              </a:ext>
            </a:extLst>
          </p:cNvPr>
          <p:cNvSpPr>
            <a:spLocks noGrp="1"/>
          </p:cNvSpPr>
          <p:nvPr/>
        </p:nvSpPr>
        <p:spPr>
          <a:xfrm>
            <a:off x="8181975" y="4953000"/>
            <a:ext cx="390525" cy="23812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75D994-46FF-4383-A649-4AF1B7000AE2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38450" cy="1571625"/>
          </a:xfrm>
          <a:prstGeom prst="roundRect">
            <a:avLst>
              <a:gd name="adj" fmla="val 6061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7B874E-1354-4482-9DC3-7FFC59EF99A4}"/>
              </a:ext>
            </a:extLst>
          </p:cNvPr>
          <p:cNvSpPr>
            <a:spLocks noGrp="1"/>
          </p:cNvSpPr>
          <p:nvPr/>
        </p:nvSpPr>
        <p:spPr>
          <a:xfrm>
            <a:off x="8924925" y="4476750"/>
            <a:ext cx="2476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3 · Correzione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E9EB68-9FF9-4B07-9B56-0F8077893BE6}"/>
              </a:ext>
            </a:extLst>
          </p:cNvPr>
          <p:cNvSpPr>
            <a:spLocks noGrp="1"/>
          </p:cNvSpPr>
          <p:nvPr/>
        </p:nvSpPr>
        <p:spPr>
          <a:xfrm>
            <a:off x="8924925" y="5086350"/>
            <a:ext cx="247650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Ripristina lo stato logico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F8A598-255B-42D1-903E-5DB3C132B4D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Metrica: probabilità di fallimento logico p_L. Valutazione in esperimenti di memoria.</a:t>
            </a:r>
          </a:p>
        </p:txBody>
      </p:sp>
    </p:spTree>
    <p:extLst>
      <p:ext uri="{BB962C8B-B14F-4D97-AF65-F5344CB8AC3E}">
        <p14:creationId xmlns:p14="http://schemas.microsoft.com/office/powerpoint/2010/main" val="1956635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6950D4-0501-430A-8936-7BFBB1F0212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 su N = 21 e stima di fase isolata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7AA505C-5C08-45FA-A1F6-C73084B82928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3174E-75E8-40AF-96D7-483B615F735A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R2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A2A30B-8727-4538-B7FA-2E4F81045FA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7340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Shor · N = 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0F1157-CC26-47D4-8B08-89754F981703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57340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ECR: 49 661 → 23 178 (−53,3%)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ideale: 46,67% → 40,13%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3FEAAF-49DD-4BA6-8BD2-40D29E9ACEA5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57340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Con rumore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FF06EA-5ED6-40EF-BC52-2B6FF0362B98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57340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Tre confronti: gli IC comprendono zero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128 shot di verifica per variante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A40B28-FE13-43DA-8183-263C278E5E32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57340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QPE isolata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33F612-631C-4C47-ADDD-DF85F1DFA1B8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57340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9 differenze su 9 favorevoli all’AQFT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Fino a +12,55 punti percentuali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86600" y="1946221"/>
            <a:ext cx="4486275" cy="312748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5AECE00-32BB-4E05-9C63-79A39E7F35E5}"/>
              </a:ext>
            </a:extLst>
          </p:cNvPr>
          <p:cNvSpPr>
            <a:spLocks noGrp="1"/>
          </p:cNvSpPr>
          <p:nvPr/>
        </p:nvSpPr>
        <p:spPr>
          <a:xfrm>
            <a:off x="7086600" y="5610225"/>
            <a:ext cx="448627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QPE: IC individuali al 95%, senza correzione simultanea.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5C6CB-DFAC-4307-B8FB-C70907D7D3A5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Su N = 21 il beneficio non è dimostrato. Il grado AQFT non è generalizzabile.</a:t>
            </a:r>
          </a:p>
        </p:txBody>
      </p:sp>
    </p:spTree>
    <p:extLst>
      <p:ext uri="{BB962C8B-B14F-4D97-AF65-F5344CB8AC3E}">
        <p14:creationId xmlns:p14="http://schemas.microsoft.com/office/powerpoint/2010/main" val="1692370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1D1E8A-02FF-4FC3-B377-EB449D88A42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Discussione: tre livelli distinti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1D34B6-9F98-43C6-8229-35D63A98DFAD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E9F130-B25F-425E-BC53-8CAB8B8E4FFD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R3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7FFD5B-704B-42F0-83CE-73D756F54642}"/>
              </a:ext>
            </a:extLst>
          </p:cNvPr>
          <p:cNvSpPr>
            <a:spLocks noGrp="1"/>
          </p:cNvSpPr>
          <p:nvPr/>
        </p:nvSpPr>
        <p:spPr>
          <a:xfrm>
            <a:off x="952500" y="162877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178DF8-DAA1-4305-A1D2-6B73529205E9}"/>
              </a:ext>
            </a:extLst>
          </p:cNvPr>
          <p:cNvSpPr>
            <a:spLocks noGrp="1"/>
          </p:cNvSpPr>
          <p:nvPr/>
        </p:nvSpPr>
        <p:spPr>
          <a:xfrm>
            <a:off x="1866900" y="162877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37479-CF8F-4FC1-82BA-D75521937432}"/>
              </a:ext>
            </a:extLst>
          </p:cNvPr>
          <p:cNvSpPr>
            <a:spLocks noGrp="1"/>
          </p:cNvSpPr>
          <p:nvPr/>
        </p:nvSpPr>
        <p:spPr>
          <a:xfrm>
            <a:off x="2085975" y="217170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Sfrutta gli esiti senza modificare lo stato quantistico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B9DB15-9776-486F-A569-8665950F0CBD}"/>
              </a:ext>
            </a:extLst>
          </p:cNvPr>
          <p:cNvSpPr>
            <a:spLocks noGrp="1"/>
          </p:cNvSpPr>
          <p:nvPr/>
        </p:nvSpPr>
        <p:spPr>
          <a:xfrm>
            <a:off x="952500" y="3048000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8AE9CD-B8B7-447A-9630-B496AE652315}"/>
              </a:ext>
            </a:extLst>
          </p:cNvPr>
          <p:cNvSpPr>
            <a:spLocks noGrp="1"/>
          </p:cNvSpPr>
          <p:nvPr/>
        </p:nvSpPr>
        <p:spPr>
          <a:xfrm>
            <a:off x="1866900" y="3048000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QEC e decoder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16C439-D4A3-4F1D-9467-ABEBBE778CDA}"/>
              </a:ext>
            </a:extLst>
          </p:cNvPr>
          <p:cNvSpPr>
            <a:spLocks noGrp="1"/>
          </p:cNvSpPr>
          <p:nvPr/>
        </p:nvSpPr>
        <p:spPr>
          <a:xfrm>
            <a:off x="2085975" y="3590925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Proteggono memorie separate: il risultato non misura un miglioramento di Shor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95646-1620-4E30-8B84-3C575124BE88}"/>
              </a:ext>
            </a:extLst>
          </p:cNvPr>
          <p:cNvSpPr>
            <a:spLocks noGrp="1"/>
          </p:cNvSpPr>
          <p:nvPr/>
        </p:nvSpPr>
        <p:spPr>
          <a:xfrm>
            <a:off x="952500" y="446722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A7EE2F-6BF2-49C0-8CE8-7CC76E4906C4}"/>
              </a:ext>
            </a:extLst>
          </p:cNvPr>
          <p:cNvSpPr>
            <a:spLocks noGrp="1"/>
          </p:cNvSpPr>
          <p:nvPr/>
        </p:nvSpPr>
        <p:spPr>
          <a:xfrm>
            <a:off x="1866900" y="446722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AQFT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A22579-AA8C-4ED8-9A90-3B45CE2DFDDE}"/>
              </a:ext>
            </a:extLst>
          </p:cNvPr>
          <p:cNvSpPr>
            <a:spLocks noGrp="1"/>
          </p:cNvSpPr>
          <p:nvPr/>
        </p:nvSpPr>
        <p:spPr>
          <a:xfrm>
            <a:off x="2085975" y="501015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Riduce opportunità di errore. Il beneficio dipende dall’istanza e dal rumore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A8C47D-B715-4787-A544-2E5732FEE95D}"/>
              </a:ext>
            </a:extLst>
          </p:cNvPr>
          <p:cNvSpPr>
            <a:spLocks noGrp="1"/>
          </p:cNvSpPr>
          <p:nvPr/>
        </p:nvSpPr>
        <p:spPr>
          <a:xfrm>
            <a:off x="952500" y="60388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N = 15: r = 4, fasi esatte con due bit. N = 21: r = 6 e aritmetica più complessa.</a:t>
            </a:r>
          </a:p>
        </p:txBody>
      </p:sp>
    </p:spTree>
    <p:extLst>
      <p:ext uri="{BB962C8B-B14F-4D97-AF65-F5344CB8AC3E}">
        <p14:creationId xmlns:p14="http://schemas.microsoft.com/office/powerpoint/2010/main" val="359722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609600" y="14224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esplorativo nel modello code-capacity: quanti qubit di dato servono per proteggere gli stessi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qubit logici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060575" y="2257425"/>
            <a:ext cx="3282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0B2F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2070100" y="2266950"/>
            <a:ext cx="3263900" cy="383530"/>
          </a:xfrm>
          <a:custGeom>
            <a:avLst/>
            <a:gdLst/>
            <a:ahLst/>
            <a:cxnLst/>
            <a:rect l="l" t="t" r="r" b="b"/>
            <a:pathLst>
              <a:path w="3263900" h="383530">
                <a:moveTo>
                  <a:pt x="0" y="133350"/>
                </a:moveTo>
                <a:arcTo wR="133350" hR="133350" stAng="10800000" swAng="5400000"/>
                <a:lnTo>
                  <a:pt x="3130550" y="0"/>
                </a:lnTo>
                <a:arcTo wR="133350" hR="133350" stAng="16200000" swAng="5400000"/>
                <a:lnTo>
                  <a:pt x="3263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55690" tIns="76200" rIns="55690" bIns="5080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code [[144,12,12]]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438003" y="2752080"/>
            <a:ext cx="11440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3582095" y="30283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607050" y="2693640"/>
            <a:ext cx="41148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6213475" y="2257425"/>
            <a:ext cx="3917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3F73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6223000" y="2266950"/>
            <a:ext cx="3898900" cy="383530"/>
          </a:xfrm>
          <a:custGeom>
            <a:avLst/>
            <a:gdLst/>
            <a:ahLst/>
            <a:cxnLst/>
            <a:rect l="l" t="t" r="r" b="b"/>
            <a:pathLst>
              <a:path w="3898900" h="383530">
                <a:moveTo>
                  <a:pt x="0" y="133350"/>
                </a:moveTo>
                <a:arcTo wR="133350" hR="133350" stAng="10800000" swAng="5400000"/>
                <a:lnTo>
                  <a:pt x="3765550" y="0"/>
                </a:lnTo>
                <a:arcTo wR="133350" hR="133350" stAng="16200000" swAng="5400000"/>
                <a:lnTo>
                  <a:pt x="3898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3F73B0"/>
          </a:solidFill>
          <a:ln/>
        </p:spPr>
        <p:txBody>
          <a:bodyPr wrap="square" lIns="46165" tIns="76200" rIns="46165" bIns="5080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× surface code, distanza 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38888" y="2752080"/>
            <a:ext cx="14831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3F7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4800" dirty="0"/>
          </a:p>
        </p:txBody>
      </p:sp>
      <p:sp>
        <p:nvSpPr>
          <p:cNvPr id="15" name="Text 11"/>
          <p:cNvSpPr/>
          <p:nvPr/>
        </p:nvSpPr>
        <p:spPr>
          <a:xfrm>
            <a:off x="8222010" y="30283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09600" y="36474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il decoder adeguato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(BP+OSD a schedulazione seriale) il Gross code protegge meglio per errore fisico ≥ 0,75%, con circa un quattordicesimo dei qubit di dato.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184900" y="36474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decoder conta quanto il codice: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schedulazione parallela a seriale il fallimento a errore 1% scende di circa 100 volte (9,8×10⁻⁵ → 1,0×10⁻⁶).</a:t>
            </a:r>
            <a:endParaRPr lang="en-US" sz="2000" dirty="0"/>
          </a:p>
        </p:txBody>
      </p:sp>
      <p:sp>
        <p:nvSpPr>
          <p:cNvPr id="40" name="Nota simulazione"/>
          <p:cNvSpPr/>
          <p:nvPr/>
        </p:nvSpPr>
        <p:spPr>
          <a:xfrm>
            <a:off x="609600" y="5701600"/>
            <a:ext cx="11301984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è simulato: gli errori, non lo stato quantistico. </a:t>
            </a:r>
            <a:r>
              <a:rPr lang="en-US" sz="16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prova è un vettore di 144 bit (errori X sui qubit di dato), di cui si calcolano sindrome e decodifica BP+OSD: algebra binaria su un computer classico. Lo stato di 144 qubit (2¹⁴⁴ ampiezze) non è simulabile e non è stato simulato. Notazione [[n, k, d]]: n qubit di dato, k qubit logici, distanza 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A90E7F-8E80-5353-CD3A-CE3C8DA30BD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fr-FR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DR3 · Gross code e surface code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B9476D-8920-FD37-39F9-E1242A2EC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132AD49-00EE-9F1F-C4E9-C714538AB01A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9D62FE-FCD0-6365-004B-800764A1BB7F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R4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7984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19125" y="1431925"/>
            <a:ext cx="4679950" cy="4522391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/>
          <p:nvPr/>
        </p:nvSpPr>
        <p:spPr>
          <a:xfrm>
            <a:off x="628650" y="1441450"/>
            <a:ext cx="4660900" cy="383530"/>
          </a:xfrm>
          <a:custGeom>
            <a:avLst/>
            <a:gdLst/>
            <a:ahLst/>
            <a:cxnLst/>
            <a:rect l="l" t="t" r="r" b="b"/>
            <a:pathLst>
              <a:path w="4660900" h="383530">
                <a:moveTo>
                  <a:pt x="0" y="133350"/>
                </a:moveTo>
                <a:arcTo wR="133350" hR="133350" stAng="10800000" swAng="5400000"/>
                <a:lnTo>
                  <a:pt x="4527550" y="0"/>
                </a:lnTo>
                <a:arcTo wR="133350" hR="133350" stAng="16200000" swAng="5400000"/>
                <a:lnTo>
                  <a:pt x="466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0897" tIns="76200" rIns="60897" bIns="5080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dello studio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95198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06450" y="226948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 simulate; N = 15 con r = 4 è un'istanza favorevole a TOP-K e AQFT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6450" y="282064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Rumore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06450" y="313814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 uniforme e stazionario; controlli hardware-aware su snapshot offline, non su QPU live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06450" y="368930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06450" y="400680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 studiato come memoria, non uno Shor fault-tolerant; decoder appreso MLP denso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06450" y="4557961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Inferenza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6450" y="4875461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e benchmark QPE esplorativi, senza correzione simultanea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62600" y="1422400"/>
            <a:ext cx="6019800" cy="383530"/>
          </a:xfrm>
          <a:prstGeom prst="roundRect">
            <a:avLst>
              <a:gd name="adj" fmla="val 39736"/>
            </a:avLst>
          </a:prstGeom>
          <a:solidFill>
            <a:srgbClr val="125C97"/>
          </a:solidFill>
          <a:ln/>
        </p:spPr>
        <p:txBody>
          <a:bodyPr wrap="square" lIns="0" tIns="31564" rIns="0" bIns="6164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Sviluppi futuri, in ordine di priorità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62600" y="186943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096000" y="186943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830560"/>
                </a:lnTo>
                <a:arcTo wR="76200" h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6235700" y="193293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235700" y="225043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ripetere Shor e AQFT su QPU, con simulazione dalla calibrazione coeva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562600" y="283969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096000" y="283969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599430"/>
                </a:lnTo>
                <a:arcTo wR="76200" h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6235700" y="290319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235700" y="32206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variare separatamente N, ordine r, qubit di conteggio e aritmetica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562600" y="357882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6096000" y="357882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599430"/>
                </a:lnTo>
                <a:arcTo wR="76200" h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3"/>
          <p:cNvSpPr/>
          <p:nvPr/>
        </p:nvSpPr>
        <p:spPr>
          <a:xfrm>
            <a:off x="6235700" y="364232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tolerance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6235700" y="395982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sostituire p_g con gate logici, cicli QEC e decoder espliciti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562600" y="431795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6096000" y="431795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599430"/>
                </a:lnTo>
                <a:arcTo wR="76200" h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7"/>
          <p:cNvSpPr/>
          <p:nvPr/>
        </p:nvSpPr>
        <p:spPr>
          <a:xfrm>
            <a:off x="6235700" y="438145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e codici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6235700" y="469895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 strutturali contro BP+OSD; Gross code a livello di circuito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562600" y="505708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6096000" y="505708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830560"/>
                </a:lnTo>
                <a:arcTo wR="76200" h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1"/>
          <p:cNvSpPr/>
          <p:nvPr/>
        </p:nvSpPr>
        <p:spPr>
          <a:xfrm>
            <a:off x="6235700" y="512058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circuitale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6235700" y="543808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ottimizzare aritmetica modulare e AQFT, verificando il successo finale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5A5E6C-6933-22C0-981A-90B4A876002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 e sviluppi futuri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F6F2D1F-E363-AFA1-6CA0-EB1DB3ED3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CE87C1A-61D4-1279-8B9F-A25628E7D449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1C10F8-1BB8-0F9A-63A4-1234D802854D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R5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1368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BA7473C-98C3-4905-BC89-FF955DB7CF9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Demo: Shor con e senza rumore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A0567B-3EF8-41F1-B4D5-1D1BA6E4B34B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C6DCB-F218-4FFA-9BCA-F0F3578132E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R6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727799"/>
            <a:ext cx="6353175" cy="219272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46039" y="4467225"/>
            <a:ext cx="4280297" cy="1428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03F0AD9-B6BA-48CA-A869-E02DAE17B9CA}"/>
              </a:ext>
            </a:extLst>
          </p:cNvPr>
          <p:cNvSpPr>
            <a:spLocks noGrp="1"/>
          </p:cNvSpPr>
          <p:nvPr/>
        </p:nvSpPr>
        <p:spPr>
          <a:xfrm>
            <a:off x="7591425" y="1743075"/>
            <a:ext cx="39909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Ideale e rumoroso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1BC028-70A1-4967-A1DF-5BD89F711C52}"/>
              </a:ext>
            </a:extLst>
          </p:cNvPr>
          <p:cNvSpPr>
            <a:spLocks noGrp="1"/>
          </p:cNvSpPr>
          <p:nvPr/>
        </p:nvSpPr>
        <p:spPr>
          <a:xfrm>
            <a:off x="7591425" y="2066925"/>
            <a:ext cx="3990975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Stesso circuito N = 15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Caso ideale e preset UC1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7ECC05-2B25-4101-AC11-EFF93CF85C8F}"/>
              </a:ext>
            </a:extLst>
          </p:cNvPr>
          <p:cNvSpPr>
            <a:spLocks noGrp="1"/>
          </p:cNvSpPr>
          <p:nvPr/>
        </p:nvSpPr>
        <p:spPr>
          <a:xfrm>
            <a:off x="7591425" y="3038475"/>
            <a:ext cx="39909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Dove entra il rumore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B8CC6C-AE75-4833-B7A9-D3E84C4A4268}"/>
              </a:ext>
            </a:extLst>
          </p:cNvPr>
          <p:cNvSpPr>
            <a:spLocks noGrp="1"/>
          </p:cNvSpPr>
          <p:nvPr/>
        </p:nvSpPr>
        <p:spPr>
          <a:xfrm>
            <a:off x="7591425" y="3362325"/>
            <a:ext cx="3990975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70 SX, 224 CX e 8 misure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302 RZ virtuali senza rumore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6FB970-0AD9-4580-A251-A937746CBE17}"/>
              </a:ext>
            </a:extLst>
          </p:cNvPr>
          <p:cNvSpPr>
            <a:spLocks noGrp="1"/>
          </p:cNvSpPr>
          <p:nvPr/>
        </p:nvSpPr>
        <p:spPr>
          <a:xfrm>
            <a:off x="7591425" y="4333875"/>
            <a:ext cx="39909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Demo illustrativa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315E0C-6521-4FC0-B62B-9BFA4FF1CDAF}"/>
              </a:ext>
            </a:extLst>
          </p:cNvPr>
          <p:cNvSpPr>
            <a:spLocks noGrp="1"/>
          </p:cNvSpPr>
          <p:nvPr/>
        </p:nvSpPr>
        <p:spPr>
          <a:xfrm>
            <a:off x="7591425" y="4657725"/>
            <a:ext cx="3990975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Modello uniforme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Nessuna misura su hardware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5E016D-F854-47AF-98CB-3C5616D14E2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shor-demo-6knp.onrender.com</a:t>
            </a:r>
          </a:p>
        </p:txBody>
      </p:sp>
    </p:spTree>
    <p:extLst>
      <p:ext uri="{BB962C8B-B14F-4D97-AF65-F5344CB8AC3E}">
        <p14:creationId xmlns:p14="http://schemas.microsoft.com/office/powerpoint/2010/main" val="13319200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5924</Words>
  <Application>Microsoft Office PowerPoint</Application>
  <DocSecurity>0</DocSecurity>
  <PresentationFormat>Widescreen</PresentationFormat>
  <Paragraphs>528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claudio dragotta</cp:lastModifiedBy>
  <cp:revision>8</cp:revision>
  <dcterms:created xsi:type="dcterms:W3CDTF">2026-10-04T20:49:31Z</dcterms:created>
  <dcterms:modified xsi:type="dcterms:W3CDTF">2026-10-05T13:06:08Z</dcterms:modified>
</cp:coreProperties>
</file>