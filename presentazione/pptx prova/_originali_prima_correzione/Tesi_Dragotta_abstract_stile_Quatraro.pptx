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45996d7d545c4" /><Relationship Type="http://schemas.openxmlformats.org/officeDocument/2006/relationships/extended-properties" Target="/docProps/app.xml" Id="R0ba0b860f57b46bf" /><Relationship Type="http://schemas.openxmlformats.org/officeDocument/2006/relationships/officeDocument" Target="/ppt/presentation.xml" Id="Rbb693d1e728d4b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edc50ffdeb46e0"/>
  </p:sldMasterIdLst>
  <p:notesMasterIdLst>
    <p:notesMasterId xmlns:r="http://schemas.openxmlformats.org/officeDocument/2006/relationships" r:id="R24e66b78650344d1"/>
  </p:notesMasterIdLst>
  <p:sldIdLst>
    <p:sldId xmlns:r="http://schemas.openxmlformats.org/officeDocument/2006/relationships" id="256" r:id="R034dd511b8cb4a98"/>
    <p:sldId xmlns:r="http://schemas.openxmlformats.org/officeDocument/2006/relationships" id="257" r:id="R6c16099af79d4c6e"/>
    <p:sldId xmlns:r="http://schemas.openxmlformats.org/officeDocument/2006/relationships" id="258" r:id="Rf79fc60878d340e5"/>
    <p:sldId xmlns:r="http://schemas.openxmlformats.org/officeDocument/2006/relationships" id="259" r:id="R2c44ee3f1a254cea"/>
    <p:sldId xmlns:r="http://schemas.openxmlformats.org/officeDocument/2006/relationships" id="260" r:id="R09b15e8a27704b2b"/>
    <p:sldId xmlns:r="http://schemas.openxmlformats.org/officeDocument/2006/relationships" id="261" r:id="R163f61e684444e56"/>
    <p:sldId xmlns:r="http://schemas.openxmlformats.org/officeDocument/2006/relationships" id="262" r:id="R9dc4bfaddadb486e"/>
    <p:sldId xmlns:r="http://schemas.openxmlformats.org/officeDocument/2006/relationships" id="263" r:id="R695d00c7f4494c22"/>
    <p:sldId xmlns:r="http://schemas.openxmlformats.org/officeDocument/2006/relationships" id="264" r:id="R137c3af525cd4e74"/>
    <p:sldId xmlns:r="http://schemas.openxmlformats.org/officeDocument/2006/relationships" id="265" r:id="R9b92e96d902c4027"/>
    <p:sldId xmlns:r="http://schemas.openxmlformats.org/officeDocument/2006/relationships" id="266" r:id="R33971d2adb5a44ad"/>
    <p:sldId xmlns:r="http://schemas.openxmlformats.org/officeDocument/2006/relationships" id="267" r:id="Rb51e1fa30b6441c1"/>
    <p:sldId xmlns:r="http://schemas.openxmlformats.org/officeDocument/2006/relationships" id="268" r:id="R03e7d2642c774c74"/>
    <p:sldId xmlns:r="http://schemas.openxmlformats.org/officeDocument/2006/relationships" id="269" r:id="R24eb58f8ec0f4159"/>
    <p:sldId xmlns:r="http://schemas.openxmlformats.org/officeDocument/2006/relationships" id="270" r:id="R78fd050697fd46df"/>
    <p:sldId xmlns:r="http://schemas.openxmlformats.org/officeDocument/2006/relationships" id="271" r:id="R2874e8bb08fb485e"/>
    <p:sldId xmlns:r="http://schemas.openxmlformats.org/officeDocument/2006/relationships" id="272" r:id="R58cf40dc32a84422"/>
    <p:sldId xmlns:r="http://schemas.openxmlformats.org/officeDocument/2006/relationships" id="273" r:id="R9a5f57e358c44fd5"/>
    <p:sldId xmlns:r="http://schemas.openxmlformats.org/officeDocument/2006/relationships" id="274" r:id="R15c1d28d8459472c"/>
    <p:sldId xmlns:r="http://schemas.openxmlformats.org/officeDocument/2006/relationships" id="275" r:id="Raec9cdb2d47743b2"/>
    <p:sldId xmlns:r="http://schemas.openxmlformats.org/officeDocument/2006/relationships" id="276" r:id="R9724121ef8734dab"/>
    <p:sldId xmlns:r="http://schemas.openxmlformats.org/officeDocument/2006/relationships" id="277" r:id="R76f494fff3634d8d"/>
    <p:sldId xmlns:r="http://schemas.openxmlformats.org/officeDocument/2006/relationships" id="278" r:id="Raea1303b64d8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c67860110540eb" /><Relationship Type="http://schemas.openxmlformats.org/officeDocument/2006/relationships/slideMaster" Target="/ppt/slideMasters/slideMaster1.xml" Id="Rb9edc50ffdeb46e0" /><Relationship Type="http://schemas.openxmlformats.org/officeDocument/2006/relationships/notesMaster" Target="/ppt/notesMasters/notesMaster1.xml" Id="R24e66b78650344d1" /><Relationship Type="http://schemas.openxmlformats.org/officeDocument/2006/relationships/presProps" Target="/ppt/presProps.xml" Id="R3050612f361f40c8" /><Relationship Type="http://schemas.openxmlformats.org/officeDocument/2006/relationships/tableStyles" Target="/ppt/tableStyles.xml" Id="R34598c78e02847d2" /><Relationship Type="http://schemas.openxmlformats.org/officeDocument/2006/relationships/slide" Target="/ppt/slides/slide1.xml" Id="R034dd511b8cb4a98" /><Relationship Type="http://schemas.openxmlformats.org/officeDocument/2006/relationships/slide" Target="/ppt/slides/slide2.xml" Id="R6c16099af79d4c6e" /><Relationship Type="http://schemas.openxmlformats.org/officeDocument/2006/relationships/slide" Target="/ppt/slides/slide3.xml" Id="Rf79fc60878d340e5" /><Relationship Type="http://schemas.openxmlformats.org/officeDocument/2006/relationships/slide" Target="/ppt/slides/slide4.xml" Id="R2c44ee3f1a254cea" /><Relationship Type="http://schemas.openxmlformats.org/officeDocument/2006/relationships/slide" Target="/ppt/slides/slide5.xml" Id="R09b15e8a27704b2b" /><Relationship Type="http://schemas.openxmlformats.org/officeDocument/2006/relationships/slide" Target="/ppt/slides/slide6.xml" Id="R163f61e684444e56" /><Relationship Type="http://schemas.openxmlformats.org/officeDocument/2006/relationships/slide" Target="/ppt/slides/slide7.xml" Id="R9dc4bfaddadb486e" /><Relationship Type="http://schemas.openxmlformats.org/officeDocument/2006/relationships/slide" Target="/ppt/slides/slide8.xml" Id="R695d00c7f4494c22" /><Relationship Type="http://schemas.openxmlformats.org/officeDocument/2006/relationships/slide" Target="/ppt/slides/slide9.xml" Id="R137c3af525cd4e74" /><Relationship Type="http://schemas.openxmlformats.org/officeDocument/2006/relationships/slide" Target="/ppt/slides/slide10.xml" Id="R9b92e96d902c4027" /><Relationship Type="http://schemas.openxmlformats.org/officeDocument/2006/relationships/slide" Target="/ppt/slides/slide11.xml" Id="R33971d2adb5a44ad" /><Relationship Type="http://schemas.openxmlformats.org/officeDocument/2006/relationships/slide" Target="/ppt/slides/slide12.xml" Id="Rb51e1fa30b6441c1" /><Relationship Type="http://schemas.openxmlformats.org/officeDocument/2006/relationships/slide" Target="/ppt/slides/slide13.xml" Id="R03e7d2642c774c74" /><Relationship Type="http://schemas.openxmlformats.org/officeDocument/2006/relationships/slide" Target="/ppt/slides/slide14.xml" Id="R24eb58f8ec0f4159" /><Relationship Type="http://schemas.openxmlformats.org/officeDocument/2006/relationships/slide" Target="/ppt/slides/slide15.xml" Id="R78fd050697fd46df" /><Relationship Type="http://schemas.openxmlformats.org/officeDocument/2006/relationships/slide" Target="/ppt/slides/slide16.xml" Id="R2874e8bb08fb485e" /><Relationship Type="http://schemas.openxmlformats.org/officeDocument/2006/relationships/slide" Target="/ppt/slides/slide17.xml" Id="R58cf40dc32a84422" /><Relationship Type="http://schemas.openxmlformats.org/officeDocument/2006/relationships/slide" Target="/ppt/slides/slide18.xml" Id="R9a5f57e358c44fd5" /><Relationship Type="http://schemas.openxmlformats.org/officeDocument/2006/relationships/slide" Target="/ppt/slides/slide19.xml" Id="R15c1d28d8459472c" /><Relationship Type="http://schemas.openxmlformats.org/officeDocument/2006/relationships/slide" Target="/ppt/slides/slide20.xml" Id="Raec9cdb2d47743b2" /><Relationship Type="http://schemas.openxmlformats.org/officeDocument/2006/relationships/slide" Target="/ppt/slides/slide21.xml" Id="R9724121ef8734dab" /><Relationship Type="http://schemas.openxmlformats.org/officeDocument/2006/relationships/slide" Target="/ppt/slides/slide22.xml" Id="R76f494fff3634d8d" /><Relationship Type="http://schemas.openxmlformats.org/officeDocument/2006/relationships/slide" Target="/ppt/slides/slide23.xml" Id="Raea1303b64d8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17b5ea981a48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487ade70b4201" /><Relationship Type="http://schemas.openxmlformats.org/officeDocument/2006/relationships/notesMaster" Target="/ppt/notesMasters/notesMaster1.xml" Id="R13370438d704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ea434fada4e26" /><Relationship Type="http://schemas.openxmlformats.org/officeDocument/2006/relationships/notesMaster" Target="/ppt/notesMasters/notesMaster1.xml" Id="R286e41a4489f43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55080614204f09" /><Relationship Type="http://schemas.openxmlformats.org/officeDocument/2006/relationships/notesMaster" Target="/ppt/notesMasters/notesMaster1.xml" Id="R07fc4b222db3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f46fa582f4a14" /><Relationship Type="http://schemas.openxmlformats.org/officeDocument/2006/relationships/notesMaster" Target="/ppt/notesMasters/notesMaster1.xml" Id="R7123e2273d754b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f4133c432c4bbe" /><Relationship Type="http://schemas.openxmlformats.org/officeDocument/2006/relationships/notesMaster" Target="/ppt/notesMasters/notesMaster1.xml" Id="R424e600b43a5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ea499ea4c45cc" /><Relationship Type="http://schemas.openxmlformats.org/officeDocument/2006/relationships/notesMaster" Target="/ppt/notesMasters/notesMaster1.xml" Id="R5c26cdb4a832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933e5ac1fb40fb" /><Relationship Type="http://schemas.openxmlformats.org/officeDocument/2006/relationships/notesMaster" Target="/ppt/notesMasters/notesMaster1.xml" Id="Rabe9568991b84a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c136a5a0e44d0c" /><Relationship Type="http://schemas.openxmlformats.org/officeDocument/2006/relationships/notesMaster" Target="/ppt/notesMasters/notesMaster1.xml" Id="R4855a4307a714b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70728218484c46" /><Relationship Type="http://schemas.openxmlformats.org/officeDocument/2006/relationships/notesMaster" Target="/ppt/notesMasters/notesMaster1.xml" Id="Rf7fad86538aa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400a73f8c14a05" /><Relationship Type="http://schemas.openxmlformats.org/officeDocument/2006/relationships/notesMaster" Target="/ppt/notesMasters/notesMaster1.xml" Id="R98bc7d0cd26447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744d39943b4bdb" /><Relationship Type="http://schemas.openxmlformats.org/officeDocument/2006/relationships/notesMaster" Target="/ppt/notesMasters/notesMaster1.xml" Id="R026a724541d44a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f78ba3977144fb" /><Relationship Type="http://schemas.openxmlformats.org/officeDocument/2006/relationships/notesMaster" Target="/ppt/notesMasters/notesMaster1.xml" Id="R37795c93e9bf40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c3063fa36049a2" /><Relationship Type="http://schemas.openxmlformats.org/officeDocument/2006/relationships/notesMaster" Target="/ppt/notesMasters/notesMaster1.xml" Id="R5f57538e25274d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e9fe6c88b44452" /><Relationship Type="http://schemas.openxmlformats.org/officeDocument/2006/relationships/notesMaster" Target="/ppt/notesMasters/notesMaster1.xml" Id="Rb0d400cd02234c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2d31a7867044e3" /><Relationship Type="http://schemas.openxmlformats.org/officeDocument/2006/relationships/notesMaster" Target="/ppt/notesMasters/notesMaster1.xml" Id="R712cd1d7c2af43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69ce06797f4e2f" /><Relationship Type="http://schemas.openxmlformats.org/officeDocument/2006/relationships/notesMaster" Target="/ppt/notesMasters/notesMaster1.xml" Id="Rd5d393fa1fec49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d95b92c12e4eb8" /><Relationship Type="http://schemas.openxmlformats.org/officeDocument/2006/relationships/notesMaster" Target="/ppt/notesMasters/notesMaster1.xml" Id="Rccc0e6e499d540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433660126543bd" /><Relationship Type="http://schemas.openxmlformats.org/officeDocument/2006/relationships/notesMaster" Target="/ppt/notesMasters/notesMaster1.xml" Id="R1cf164a09e3242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4141ff6475488a" /><Relationship Type="http://schemas.openxmlformats.org/officeDocument/2006/relationships/notesMaster" Target="/ppt/notesMasters/notesMaster1.xml" Id="R88a7221857a344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ba9b20414145e9" /><Relationship Type="http://schemas.openxmlformats.org/officeDocument/2006/relationships/notesMaster" Target="/ppt/notesMasters/notesMaster1.xml" Id="R8799e08d698c4b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e9d0fdce144f23" /><Relationship Type="http://schemas.openxmlformats.org/officeDocument/2006/relationships/notesMaster" Target="/ppt/notesMasters/notesMaster1.xml" Id="R48fbe5e1f82945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b829f1154c49bf" /><Relationship Type="http://schemas.openxmlformats.org/officeDocument/2006/relationships/notesMaster" Target="/ppt/notesMasters/notesMaster1.xml" Id="R13d9ce15a2394d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c4ae1cfc6d4a98" /><Relationship Type="http://schemas.openxmlformats.org/officeDocument/2006/relationships/notesMaster" Target="/ppt/notesMasters/notesMaster1.xml" Id="R3efbf89052c048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UNIVERSITÀ CAMPUS BIO-MEDICO DI ROMA</a:t>
            </a:r>
          </a:p>
          <a:p xmlns:a="http://schemas.openxmlformats.org/drawingml/2006/main">
            <a:r>
              <a:t>FACOLTÀ DIPARTIMENTALE DI INGEGNERIA</a:t>
            </a:r>
          </a:p>
          <a:p xmlns:a="http://schemas.openxmlformats.org/drawingml/2006/main">
            <a:r>
              <a:t>CORSO DI LAUREA MAGISTRALE IN INGEGNERIA DEI SISTEMI INTELLIGENTI</a:t>
            </a:r>
          </a:p>
          <a:p xmlns:a="http://schemas.openxmlformats.org/drawingml/2006/main">
            <a:r>
              <a:t>SHOR'S ALGORITHM UNDER NOISE:</a:t>
            </a:r>
          </a:p>
          <a:p xmlns:a="http://schemas.openxmlformats.org/drawingml/2006/main">
            <a:r>
              <a:t>MACHINE-LEARNING ABLATION,</a:t>
            </a:r>
          </a:p>
          <a:p xmlns:a="http://schemas.openxmlformats.org/drawingml/2006/main">
            <a:r>
              <a:t>QUANTUM ERROR CORRECTION,</a:t>
            </a:r>
          </a:p>
          <a:p xmlns:a="http://schemas.openxmlformats.org/drawingml/2006/main">
            <a:r>
              <a:t>AND APPROXIMATE QFT</a:t>
            </a:r>
          </a:p>
          <a:p xmlns:a="http://schemas.openxmlformats.org/drawingml/2006/main">
            <a:r>
              <a:t>Relatore</a:t>
            </a:r>
          </a:p>
          <a:p xmlns:a="http://schemas.openxmlformats.org/drawingml/2006/main">
            <a:r>
              <a:t>Prof. Paolo Soda</a:t>
            </a:r>
          </a:p>
          <a:p xmlns:a="http://schemas.openxmlformats.org/drawingml/2006/main">
            <a:r>
              <a:t>Correlatore</a:t>
            </a:r>
          </a:p>
          <a:p xmlns:a="http://schemas.openxmlformats.org/drawingml/2006/main">
            <a:r>
              <a:t>Prof. Floriano Caprio</a:t>
            </a:r>
          </a:p>
          <a:p xmlns:a="http://schemas.openxmlformats.org/drawingml/2006/main">
            <a:r>
              <a:t>Laureando</a:t>
            </a:r>
          </a:p>
          <a:p xmlns:a="http://schemas.openxmlformats.org/drawingml/2006/main">
            <a:r>
              <a:t>Claudio Dragotta</a:t>
            </a:r>
          </a:p>
          <a:p xmlns:a="http://schemas.openxmlformats.org/drawingml/2006/main">
            <a:r>
              <a:t>A.A. 2025/2026</a:t>
            </a:r>
          </a:p>
          <a:p xmlns:a="http://schemas.openxmlformats.org/drawingml/2006/main">
            <a:r>
              <a:t>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Indice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Indice</a:t>
            </a:r>
          </a:p>
          <a:p xmlns:a="http://schemas.openxmlformats.org/drawingml/2006/main">
            <a:r>
              <a:t>Indice | 2</a:t>
            </a:r>
          </a:p>
          <a:p xmlns:a="http://schemas.openxmlformats.org/drawingml/2006/main">
            <a:r>
              <a:t>Contesto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Obiettivi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Metodo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Risultati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>Conclusioni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>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Introduzione e obiettivi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Dal vantaggio teorico al rumore</a:t>
            </a:r>
          </a:p>
          <a:p xmlns:a="http://schemas.openxmlformats.org/drawingml/2006/main">
            <a:r>
              <a:t>Contesto | 3</a:t>
            </a:r>
          </a:p>
          <a:p xmlns:a="http://schemas.openxmlformats.org/drawingml/2006/main">
            <a:r>
              <a:t>La sicurezza di </a:t>
            </a:r>
          </a:p>
          <a:p xmlns:a="http://schemas.openxmlformats.org/drawingml/2006/main">
            <a:r>
              <a:t>RSA</a:t>
            </a:r>
          </a:p>
          <a:p xmlns:a="http://schemas.openxmlformats.org/drawingml/2006/main">
            <a:r>
              <a:t> si fonda sulla difficoltà di fattorizzare interi di grandi dimensioni.</a:t>
            </a:r>
          </a:p>
          <a:p xmlns:a="http://schemas.openxmlformats.org/drawingml/2006/main">
            <a:r>
              <a:t>Il miglior algoritmo classico generale, il General Number Field Sieve, ha costo </a:t>
            </a:r>
          </a:p>
          <a:p xmlns:a="http://schemas.openxmlformats.org/drawingml/2006/main">
            <a:r>
              <a:t>sub-esponenziale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Nel 1994 Shor mostra che un computer quantistico ideale fattorizza in </a:t>
            </a:r>
          </a:p>
          <a:p xmlns:a="http://schemas.openxmlformats.org/drawingml/2006/main">
            <a:r>
              <a:t>tempo polinomiale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Classico · GNFS</a:t>
            </a:r>
          </a:p>
          <a:p xmlns:a="http://schemas.openxmlformats.org/drawingml/2006/main">
            <a:r>
              <a:t>sub-esponenziale</a:t>
            </a:r>
          </a:p>
          <a:p xmlns:a="http://schemas.openxmlformats.org/drawingml/2006/main">
            <a:r>
              <a:t>Quantistico · Shor</a:t>
            </a:r>
          </a:p>
          <a:p xmlns:a="http://schemas.openxmlformats.org/drawingml/2006/main">
            <a:r>
              <a:t>polinomiale</a:t>
            </a:r>
          </a:p>
          <a:p xmlns:a="http://schemas.openxmlformats.org/drawingml/2006/main">
            <a:r>
              <a:t>Il limite attuale: il rumore</a:t>
            </a:r>
          </a:p>
          <a:p xmlns:a="http://schemas.openxmlformats.org/drawingml/2006/main">
            <a:r>
              <a:t>Errori di gate, decoerenza, readout imperfetto, connettività limitata e crosstalk riducono la profondità dei circuiti eseguibili con affidabilità.</a:t>
            </a:r>
          </a:p>
          <a:p xmlns:a="http://schemas.openxmlformats.org/drawingml/2006/main">
            <a:r>
              <a:t>IBM Quantum System One: al centro il criostato che contiene il chip</a:t>
            </a:r>
          </a:p>
          <a:p xmlns:a="http://schemas.openxmlformats.org/drawingml/2006/main">
            <a:r>
              <a:t>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Introduzione e obiettivi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Approcci esistenti contro il rumore</a:t>
            </a:r>
          </a:p>
          <a:p xmlns:a="http://schemas.openxmlformats.org/drawingml/2006/main">
            <a:r>
              <a:t>Contesto | 6</a:t>
            </a:r>
          </a:p>
          <a:p xmlns:a="http://schemas.openxmlformats.org/drawingml/2006/main">
            <a:r>
              <a:t>Famiglia</a:t>
            </a:r>
          </a:p>
          <a:p xmlns:a="http://schemas.openxmlformats.org/drawingml/2006/main">
            <a:r>
              <a:t>Promessa</a:t>
            </a:r>
          </a:p>
          <a:p xmlns:a="http://schemas.openxmlformats.org/drawingml/2006/main">
            <a:r>
              <a:t>Rischio da controllare</a:t>
            </a:r>
          </a:p>
          <a:p xmlns:a="http://schemas.openxmlformats.org/drawingml/2006/main">
            <a:r>
              <a:t>Post-processing e ML</a:t>
            </a:r>
          </a:p>
          <a:p xmlns:a="http://schemas.openxmlformats.org/drawingml/2006/main">
            <a:r>
              <a:t>sfruttare l'informazione residua nell'istogramma</a:t>
            </a:r>
          </a:p>
          <a:p xmlns:a="http://schemas.openxmlformats.org/drawingml/2006/main">
            <a:r>
              <a:t>il guadagno viene dai candidati provati, non dal modello</a:t>
            </a:r>
          </a:p>
          <a:p xmlns:a="http://schemas.openxmlformats.org/drawingml/2006/main">
            <a:r>
              <a:t>QEC e decoder appresi</a:t>
            </a:r>
          </a:p>
          <a:p xmlns:a="http://schemas.openxmlformats.org/drawingml/2006/main">
            <a:r>
              <a:t>sopprimere l'errore logico</a:t>
            </a:r>
          </a:p>
          <a:p xmlns:a="http://schemas.openxmlformats.org/drawingml/2006/main">
            <a:r>
              <a:t>baseline analitica debole; soglia valida solo per la memoria</a:t>
            </a:r>
          </a:p>
          <a:p xmlns:a="http://schemas.openxmlformats.org/drawingml/2006/main">
            <a:r>
              <a:t>QFT approssimata</a:t>
            </a:r>
          </a:p>
          <a:p xmlns:a="http://schemas.openxmlformats.org/drawingml/2006/main">
            <a:r>
              <a:t>meno porte, meno rumore</a:t>
            </a:r>
          </a:p>
          <a:p xmlns:a="http://schemas.openxmlformats.org/drawingml/2006/main">
            <a:r>
              <a:t>perdita di precisione di fase</a:t>
            </a:r>
          </a:p>
          <a:p xmlns:a="http://schemas.openxmlformats.org/drawingml/2006/main">
            <a:r>
              <a:t>Rimane aperto il problema di valutare ogni tecnica contro la baseline corretta, sulla metrica finale.</a:t>
            </a:r>
          </a:p>
          <a:p xmlns:a="http://schemas.openxmlformats.org/drawingml/2006/main">
            <a:r>
              <a:t>Yang e Markidis 2026 · Bausch et al., Nature 2024 · Roffe et al. 2020 · Bravyi et al., Nature 2024 · Barenco et al. 1996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Obiettivi del lavoro</a:t>
            </a:r>
          </a:p>
          <a:p xmlns:a="http://schemas.openxmlformats.org/drawingml/2006/main">
            <a:r>
              <a:t>Obiettivi | 8</a:t>
            </a:r>
          </a:p>
          <a:p xmlns:a="http://schemas.openxmlformats.org/drawingml/2006/main">
            <a:r>
              <a:t>Punto di partenza: misurare come Shor degrada al crescere del rumore. Poi valutare, </a:t>
            </a:r>
          </a:p>
          <a:p xmlns:a="http://schemas.openxmlformats.org/drawingml/2006/main">
            <a:r>
              <a:t>con baseline esplicite</a:t>
            </a:r>
          </a:p>
          <a:p xmlns:a="http://schemas.openxmlformats.org/drawingml/2006/main">
            <a:r>
              <a:t>, tre livelli di intervento.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A VALLE DELLA MISURA</a:t>
            </a:r>
          </a:p>
          <a:p xmlns:a="http://schemas.openxmlformats.org/drawingml/2006/main">
            <a:r>
              <a:t>Sfruttare l'informazione residua</a:t>
            </a:r>
          </a:p>
          <a:p xmlns:a="http://schemas.openxmlformats.org/drawingml/2006/main">
            <a:r>
              <a:t>Post-processing di Shor: ricerca TOP-K, classificatore ML, confronto con ZNE</a:t>
            </a:r>
          </a:p>
          <a:p xmlns:a="http://schemas.openxmlformats.org/drawingml/2006/main">
            <a:r>
              <a:t>Domanda DR1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DURANTE IL CALCOLO</a:t>
            </a:r>
          </a:p>
          <a:p xmlns:a="http://schemas.openxmlformats.org/drawingml/2006/main">
            <a:r>
              <a:t>Proteggere l'informazione</a:t>
            </a:r>
          </a:p>
          <a:p xmlns:a="http://schemas.openxmlformats.org/drawingml/2006/main">
            <a:r>
              <a:t>QEC: ripetizione, Steane, surface code, Gross code; decoder analitici e appresi</a:t>
            </a:r>
          </a:p>
          <a:p xmlns:a="http://schemas.openxmlformats.org/drawingml/2006/main">
            <a:r>
              <a:t>Domande DR2 e DR3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NEL CIRCUITO</a:t>
            </a:r>
          </a:p>
          <a:p xmlns:a="http://schemas.openxmlformats.org/drawingml/2006/main">
            <a:r>
              <a:t>Ridurre le operazioni esposte al rumore</a:t>
            </a:r>
          </a:p>
          <a:p xmlns:a="http://schemas.openxmlformats.org/drawingml/2006/main">
            <a:r>
              <a:t>QFT approssimata: meno porte e profondità, al prezzo di precisione di fase</a:t>
            </a:r>
          </a:p>
          <a:p xmlns:a="http://schemas.openxmlformats.org/drawingml/2006/main">
            <a:r>
              <a:t>Domanda DR5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Domande di ricerca</a:t>
            </a:r>
          </a:p>
          <a:p xmlns:a="http://schemas.openxmlformats.org/drawingml/2006/main">
            <a:r>
              <a:t>Obiettivi | 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Tema</a:t>
            </a:r>
          </a:p>
          <a:p xmlns:a="http://schemas.openxmlformats.org/drawingml/2006/main">
            <a:r>
              <a:t>Domanda</a:t>
            </a:r>
          </a:p>
          <a:p xmlns:a="http://schemas.openxmlformats.org/drawingml/2006/main">
            <a:r>
              <a:t>Metrica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Post-processing e machine learning</a:t>
            </a:r>
          </a:p>
          <a:p xmlns:a="http://schemas.openxmlformats.org/drawingml/2006/main">
            <a:r>
              <a:t>Cercare più candidati riduce le iterazioni? Un classificatore aggiunge valore?</a:t>
            </a:r>
          </a:p>
          <a:p xmlns:a="http://schemas.openxmlformats.org/drawingml/2006/main">
            <a:r>
              <a:t>iterazioni fino ai fattori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Codici di correzione d'errore</a:t>
            </a:r>
          </a:p>
          <a:p xmlns:a="http://schemas.openxmlformats.org/drawingml/2006/main">
            <a:r>
              <a:t>In quale regime la codifica batte il qubit fisico? Quanto conta la distanza?</a:t>
            </a:r>
          </a:p>
          <a:p xmlns:a="http://schemas.openxmlformats.org/drawingml/2006/main">
            <a:r>
              <a:t>p_L(p, d) e soglia p_th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Decoder analitici, appresi e ibridi</a:t>
            </a:r>
          </a:p>
          <a:p xmlns:a="http://schemas.openxmlformats.org/drawingml/2006/main">
            <a:r>
              <a:t>Un decoder appreso supera quello analitico con rumore correlato?</a:t>
            </a:r>
          </a:p>
          <a:p xmlns:a="http://schemas.openxmlformats.org/drawingml/2006/main">
            <a:r>
              <a:t>differenza di p_L sugli stessi campioni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Sensibilità di Shor al rumore</a:t>
            </a:r>
          </a:p>
          <a:p xmlns:a="http://schemas.openxmlformats.org/drawingml/2006/main">
            <a:r>
              <a:t>Come cala il successo al crescere dell'errore per gate p_g?</a:t>
            </a:r>
          </a:p>
          <a:p xmlns:a="http://schemas.openxmlformats.org/drawingml/2006/main">
            <a:r>
              <a:t>P_succ(p_g) e P cumulativa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QFT approssimata</a:t>
            </a:r>
          </a:p>
          <a:p xmlns:a="http://schemas.openxmlformats.org/drawingml/2006/main">
            <a:r>
              <a:t>Quando meno porte compensano la perdita di precisione di fase?</a:t>
            </a:r>
          </a:p>
          <a:p xmlns:a="http://schemas.openxmlformats.org/drawingml/2006/main">
            <a:r>
              <a:t>P_succ, porte a due qubit, profondità</a:t>
            </a:r>
          </a:p>
          <a:p xmlns:a="http://schemas.openxmlformats.org/drawingml/2006/main">
            <a:r>
              <a:t>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L'algoritmo di Shor</a:t>
            </a:r>
          </a:p>
          <a:p xmlns:a="http://schemas.openxmlformats.org/drawingml/2006/main">
            <a:r>
              <a:t>Contesto | 4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Pre-processing</a:t>
            </a:r>
          </a:p>
          <a:p xmlns:a="http://schemas.openxmlformats.org/drawingml/2006/main">
            <a:r>
              <a:t>classico</a:t>
            </a:r>
          </a:p>
          <a:p xmlns:a="http://schemas.openxmlformats.org/drawingml/2006/main">
            <a:r>
              <a:t>scelta di a, gcd(a, N)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Ricerca</a:t>
            </a:r>
          </a:p>
          <a:p xmlns:a="http://schemas.openxmlformats.org/drawingml/2006/main">
            <a:r>
              <a:t>del periodo</a:t>
            </a:r>
          </a:p>
          <a:p xmlns:a="http://schemas.openxmlformats.org/drawingml/2006/main">
            <a:r>
              <a:t>esponenziazione modulare e QPE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 misura</a:t>
            </a:r>
          </a:p>
          <a:p xmlns:a="http://schemas.openxmlformats.org/drawingml/2006/main">
            <a:r>
              <a:t>esito y, con y / 2^m ≈ s / r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Post-processing</a:t>
            </a:r>
          </a:p>
          <a:p xmlns:a="http://schemas.openxmlformats.org/drawingml/2006/main">
            <a:r>
              <a:t>classico</a:t>
            </a:r>
          </a:p>
          <a:p xmlns:a="http://schemas.openxmlformats.org/drawingml/2006/main">
            <a:r>
              <a:t>frazioni continue e gcd</a:t>
            </a:r>
          </a:p>
          <a:p xmlns:a="http://schemas.openxmlformats.org/drawingml/2006/main">
            <a:r>
              <a:t>Per N = 15 e a = 7 la sequenza 7^x mod 15 si ripete ogni 4 valori: </a:t>
            </a:r>
          </a:p>
          <a:p xmlns:a="http://schemas.openxmlformats.org/drawingml/2006/main">
            <a:r>
              <a:t>r = 4</a:t>
            </a:r>
          </a:p>
          <a:p xmlns:a="http://schemas.openxmlformats.org/drawingml/2006/main">
            <a:r>
              <a:t>, da cui </a:t>
            </a:r>
          </a:p>
          <a:p xmlns:a="http://schemas.openxmlformats.org/drawingml/2006/main">
            <a:r>
              <a:t>15 = 3 × 5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Circuito per N = 15: 8 qubit di controllo (C) e 4 di lavoro (T), esponenziazione modulare controllata, QFT inversa e misura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problema: il rumore porta Shor al livello casuale</a:t>
            </a:r>
          </a:p>
          <a:p xmlns:a="http://schemas.openxmlformats.org/drawingml/2006/main">
            <a:r>
              <a:t>Contesto | 5</a:t>
            </a:r>
          </a:p>
          <a:p xmlns:a="http://schemas.openxmlformats.org/drawingml/2006/main">
            <a:r>
              <a:t>74,89% → ≈ 24,6%</a:t>
            </a:r>
          </a:p>
          <a:p xmlns:a="http://schemas.openxmlformats.org/drawingml/2006/main">
            <a:r>
              <a:t>probabilità di ricavare i fattori per singola misura, da nessun rumore a rumore elevato; con p_g = 1% è già 56,5%</a:t>
            </a:r>
          </a:p>
          <a:p xmlns:a="http://schemas.openxmlformats.org/drawingml/2006/main">
            <a:r>
              <a:t>Ad alto rumore resta solo il 63/256 che la verifica classica accetterebbe anche da esiti casuali.</a:t>
            </a:r>
          </a:p>
          <a:p xmlns:a="http://schemas.openxmlformats.org/drawingml/2006/main">
            <a:r>
              <a:t>Preparazione</a:t>
            </a:r>
          </a:p>
          <a:p xmlns:a="http://schemas.openxmlformats.org/drawingml/2006/main">
            <a:r>
              <a:t>Errori di preparazione dello stato</a:t>
            </a:r>
          </a:p>
          <a:p xmlns:a="http://schemas.openxmlformats.org/drawingml/2006/main">
            <a:r>
              <a:t>Esponenziazione modulare</a:t>
            </a:r>
          </a:p>
          <a:p xmlns:a="http://schemas.openxmlformats.org/drawingml/2006/main">
            <a:r>
              <a:t>Decoerenza ed errori sulle porte a due qubit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Errori di fase e rumore di gate</a:t>
            </a:r>
          </a:p>
          <a:p xmlns:a="http://schemas.openxmlformats.org/drawingml/2006/main">
            <a:r>
              <a:t>Misura</a:t>
            </a:r>
          </a:p>
          <a:p xmlns:a="http://schemas.openxmlformats.org/drawingml/2006/main">
            <a:r>
              <a:t>Errori di lettura (readout)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Perimetro sperimentale e strumenti</a:t>
            </a:r>
          </a:p>
          <a:p xmlns:a="http://schemas.openxmlformats.org/drawingml/2006/main">
            <a:r>
              <a:t>Metodo | 10</a:t>
            </a:r>
          </a:p>
          <a:p xmlns:a="http://schemas.openxmlformats.org/drawingml/2006/main">
            <a:r>
              <a:t>Tutti gli esperimenti sono </a:t>
            </a:r>
          </a:p>
          <a:p xmlns:a="http://schemas.openxmlformats.org/drawingml/2006/main">
            <a:r>
              <a:t>simulazioni classiche</a:t>
            </a:r>
          </a:p>
          <a:p xmlns:a="http://schemas.openxmlformats.org/drawingml/2006/main">
            <a:r>
              <a:t>: nessuna esecuzione su hardware reale, nessuna previsione per moduli di dimensione crittografica.</a:t>
            </a:r>
          </a:p>
          <a:p xmlns:a="http://schemas.openxmlformats.org/drawingml/2006/main">
            <a:r>
              <a:t>Istanze</a:t>
            </a:r>
          </a:p>
          <a:p xmlns:a="http://schemas.openxmlformats.org/drawingml/2006/main">
            <a:r>
              <a:t>N = 15, a = 7, r = 4</a:t>
            </a:r>
          </a:p>
          <a:p xmlns:a="http://schemas.openxmlformats.org/drawingml/2006/main">
            <a:r>
              <a:t>campagna rumorosa principale: 12 qubit, 224 CX, profondità 412</a:t>
            </a:r>
          </a:p>
          <a:p xmlns:a="http://schemas.openxmlformats.org/drawingml/2006/main">
            <a:r>
              <a:t>N = 21, a = 2, r = 6</a:t>
            </a:r>
          </a:p>
          <a:p xmlns:a="http://schemas.openxmlformats.org/drawingml/2006/main">
            <a:r>
              <a:t>validazione ideale e AQFT esplorativa</a:t>
            </a:r>
          </a:p>
          <a:p xmlns:a="http://schemas.openxmlformats.org/drawingml/2006/main">
            <a:r>
              <a:t>N = 35, a = 6, r = 2</a:t>
            </a:r>
          </a:p>
          <a:p xmlns:a="http://schemas.openxmlformats.org/drawingml/2006/main">
            <a:r>
              <a:t>controllo ideale dell'aritmetica</a:t>
            </a:r>
          </a:p>
          <a:p xmlns:a="http://schemas.openxmlformats.org/drawingml/2006/main">
            <a:r>
              <a:t>Strumenti</a:t>
            </a:r>
          </a:p>
          <a:p xmlns:a="http://schemas.openxmlformats.org/drawingml/2006/main">
            <a:r>
              <a:t>Qiskit e Aer</a:t>
            </a:r>
          </a:p>
          <a:p xmlns:a="http://schemas.openxmlformats.org/drawingml/2006/main">
            <a:r>
              <a:t>Shor, modelli di rumore, AQFT</a:t>
            </a:r>
          </a:p>
          <a:p xmlns:a="http://schemas.openxmlformats.org/drawingml/2006/main">
            <a:r>
              <a:t>Stim e PyMatching</a:t>
            </a:r>
          </a:p>
          <a:p xmlns:a="http://schemas.openxmlformats.org/drawingml/2006/main">
            <a:r>
              <a:t>surface code e decoder MWPM</a:t>
            </a:r>
          </a:p>
          <a:p xmlns:a="http://schemas.openxmlformats.org/drawingml/2006/main">
            <a:r>
              <a:t>scikit-learn</a:t>
            </a:r>
          </a:p>
          <a:p xmlns:a="http://schemas.openxmlformats.org/drawingml/2006/main">
            <a:r>
              <a:t>SVM, MLP e correzione residuale</a:t>
            </a:r>
          </a:p>
          <a:p xmlns:a="http://schemas.openxmlformats.org/drawingml/2006/main">
            <a:r>
              <a:t>ldpc (BP+OSD)</a:t>
            </a:r>
          </a:p>
          <a:p xmlns:a="http://schemas.openxmlformats.org/drawingml/2006/main">
            <a:r>
              <a:t>Gross code</a:t>
            </a:r>
          </a:p>
          <a:p xmlns:a="http://schemas.openxmlformats.org/drawingml/2006/main">
            <a:r>
              <a:t>Riproducibilità</a:t>
            </a:r>
          </a:p>
          <a:p xmlns:a="http://schemas.openxmlformats.org/drawingml/2006/main">
            <a:r>
              <a:t>Tracciabilità</a:t>
            </a:r>
          </a:p>
          <a:p xmlns:a="http://schemas.openxmlformats.org/drawingml/2006/main">
            <a:r>
              <a:t>seed, manifest, versioni e hash della netlist</a:t>
            </a:r>
          </a:p>
          <a:p xmlns:a="http://schemas.openxmlformats.org/drawingml/2006/main">
            <a:r>
              <a:t>Dati separati</a:t>
            </a:r>
          </a:p>
          <a:p xmlns:a="http://schemas.openxmlformats.org/drawingml/2006/main">
            <a:r>
              <a:t>partizioni selection / holdout</a:t>
            </a:r>
          </a:p>
          <a:p xmlns:a="http://schemas.openxmlformats.org/drawingml/2006/main">
            <a:r>
              <a:t>Confronti appaiati</a:t>
            </a:r>
          </a:p>
          <a:p xmlns:a="http://schemas.openxmlformats.org/drawingml/2006/main">
            <a:r>
              <a:t>stessi campioni per tutte le strategie</a:t>
            </a:r>
          </a:p>
          <a:p xmlns:a="http://schemas.openxmlformats.org/drawingml/2006/main">
            <a:r>
              <a:t>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problema: il rumore porta Shor al livello casuale</a:t>
            </a:r>
          </a:p>
          <a:p xmlns:a="http://schemas.openxmlformats.org/drawingml/2006/main">
            <a:r>
              <a:t>Contesto | 5</a:t>
            </a:r>
          </a:p>
          <a:p xmlns:a="http://schemas.openxmlformats.org/drawingml/2006/main">
            <a:r>
              <a:t>74,89% → ≈ 24,6%</a:t>
            </a:r>
          </a:p>
          <a:p xmlns:a="http://schemas.openxmlformats.org/drawingml/2006/main">
            <a:r>
              <a:t>probabilità di ricavare i fattori per singola misura, da nessun rumore a rumore elevato; con p_g = 1% è già 56,5%</a:t>
            </a:r>
          </a:p>
          <a:p xmlns:a="http://schemas.openxmlformats.org/drawingml/2006/main">
            <a:r>
              <a:t>Ad alto rumore resta solo il 63/256 che la verifica classica accetterebbe anche da esiti casuali.</a:t>
            </a:r>
          </a:p>
          <a:p xmlns:a="http://schemas.openxmlformats.org/drawingml/2006/main">
            <a:r>
              <a:t>Preparazione</a:t>
            </a:r>
          </a:p>
          <a:p xmlns:a="http://schemas.openxmlformats.org/drawingml/2006/main">
            <a:r>
              <a:t>Errori di preparazione dello stato</a:t>
            </a:r>
          </a:p>
          <a:p xmlns:a="http://schemas.openxmlformats.org/drawingml/2006/main">
            <a:r>
              <a:t>Esponenziazione modulare</a:t>
            </a:r>
          </a:p>
          <a:p xmlns:a="http://schemas.openxmlformats.org/drawingml/2006/main">
            <a:r>
              <a:t>Decoerenza ed errori sulle porte a due qubit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Errori di fase e rumore di gate</a:t>
            </a:r>
          </a:p>
          <a:p xmlns:a="http://schemas.openxmlformats.org/drawingml/2006/main">
            <a:r>
              <a:t>Misura</a:t>
            </a:r>
          </a:p>
          <a:p xmlns:a="http://schemas.openxmlformats.org/drawingml/2006/main">
            <a:r>
              <a:t>Errori di lettura (readout)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DR4 · Sensibilità di Shor al rumore</a:t>
            </a:r>
          </a:p>
          <a:p xmlns:a="http://schemas.openxmlformats.org/drawingml/2006/main">
            <a:r>
              <a:t>Risultati | 16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74,89%</a:t>
            </a:r>
          </a:p>
          <a:p xmlns:a="http://schemas.openxmlformats.org/drawingml/2006/main">
            <a:r>
              <a:t>probabilità di ricavare i fattori per singola misura in assenza di rumore</a:t>
            </a:r>
          </a:p>
          <a:p xmlns:a="http://schemas.openxmlformats.org/drawingml/2006/main">
            <a:r>
              <a:t>Degrado regolare</a:t>
            </a:r>
          </a:p>
          <a:p xmlns:a="http://schemas.openxmlformats.org/drawingml/2006/main">
            <a:r>
              <a:t>64,5% a p_g = 0,005, 56,5% a 0,01 e 45,2% a 0,02</a:t>
            </a:r>
          </a:p>
          <a:p xmlns:a="http://schemas.openxmlformats.org/drawingml/2006/main">
            <a:r>
              <a:t>Plateau a circa 24,5%</a:t>
            </a:r>
          </a:p>
          <a:p xmlns:a="http://schemas.openxmlformats.org/drawingml/2006/main">
            <a:r>
              <a:t>da p_g ≈ 0,1: è il pavimento 63/256 della verifica classica, che accetta 63 esiti su 256 anche da una distribuzione uniforme</a:t>
            </a:r>
          </a:p>
          <a:p xmlns:a="http://schemas.openxmlformats.org/drawingml/2006/main">
            <a:r>
              <a:t>Il plateau non indica periodicità residua; p_g è un proxy per gate, non un tasso di errore logico QEC.</a:t>
            </a:r>
          </a:p>
          <a:p xmlns:a="http://schemas.openxmlformats.org/drawingml/2006/main">
            <a:r>
              <a:t>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Confronto appaiato e ablazione</a:t>
            </a:r>
          </a:p>
          <a:p xmlns:a="http://schemas.openxmlformats.org/drawingml/2006/main">
            <a:r>
              <a:t>Metodo | 11</a:t>
            </a:r>
          </a:p>
          <a:p xmlns:a="http://schemas.openxmlformats.org/drawingml/2006/main">
            <a:r>
              <a:t>Simulazione</a:t>
            </a:r>
          </a:p>
          <a:p xmlns:a="http://schemas.openxmlformats.org/drawingml/2006/main">
            <a:r>
              <a:t>Shor N = 15</a:t>
            </a:r>
          </a:p>
          <a:p xmlns:a="http://schemas.openxmlformats.org/drawingml/2006/main">
            <a:r>
              <a:t>a = 7, un istogramma da 1024 shot per iterazione</a:t>
            </a:r>
          </a:p>
          <a:p xmlns:a="http://schemas.openxmlformats.org/drawingml/2006/main">
            <a:r>
              <a:t>TOP-1</a:t>
            </a:r>
          </a:p>
          <a:p xmlns:a="http://schemas.openxmlformats.org/drawingml/2006/main">
            <a:r>
              <a:t>solo l'esito più frequente</a:t>
            </a:r>
          </a:p>
          <a:p xmlns:a="http://schemas.openxmlformats.org/drawingml/2006/main">
            <a:r>
              <a:t>TOP-4</a:t>
            </a:r>
          </a:p>
          <a:p xmlns:a="http://schemas.openxmlformats.org/drawingml/2006/main">
            <a:r>
              <a:t>i quattro candidati più frequenti</a:t>
            </a:r>
          </a:p>
          <a:p xmlns:a="http://schemas.openxmlformats.org/drawingml/2006/main">
            <a:r>
              <a:t>M2</a:t>
            </a:r>
          </a:p>
          <a:p xmlns:a="http://schemas.openxmlformats.org/drawingml/2006/main">
            <a:r>
              <a:t>classificatore ML, poi TOP-4</a:t>
            </a:r>
          </a:p>
          <a:p xmlns:a="http://schemas.openxmlformats.org/drawingml/2006/main">
            <a:r>
              <a:t>Verifica classica</a:t>
            </a:r>
          </a:p>
          <a:p xmlns:a="http://schemas.openxmlformats.org/drawingml/2006/main">
            <a:r>
              <a:t>Frazioni continue e gcd</a:t>
            </a:r>
          </a:p>
          <a:p xmlns:a="http://schemas.openxmlformats.org/drawingml/2006/main">
            <a:r>
              <a:t>stessa regola per tutte</a:t>
            </a:r>
          </a:p>
          <a:p xmlns:a="http://schemas.openxmlformats.org/drawingml/2006/main">
            <a:r>
              <a:t>Metrica</a:t>
            </a:r>
          </a:p>
          <a:p xmlns:a="http://schemas.openxmlformats.org/drawingml/2006/main">
            <a:r>
              <a:t>Iterazioni fino ai fattori</a:t>
            </a:r>
          </a:p>
          <a:p xmlns:a="http://schemas.openxmlformats.org/drawingml/2006/main">
            <a:r>
              <a:t>Wilcoxon-Pratt e correzione di Holm</a:t>
            </a:r>
          </a:p>
          <a:p xmlns:a="http://schemas.openxmlformats.org/drawingml/2006/main">
            <a:r>
              <a:t>Ablazione: M2 contro TOP-4 senza filtro isola il contributo del classificatore.</a:t>
            </a:r>
          </a:p>
          <a:p xmlns:a="http://schemas.openxmlformats.org/drawingml/2006/main">
            <a:r>
              <a:t>Numerosità: 30 repliche appaiate per scenario di rumore, fino a 50 iterazioni; classificatore addestrato su 2000 istogrammi per scenario.</a:t>
            </a:r>
          </a:p>
          <a:p xmlns:a="http://schemas.openxmlformats.org/drawingml/2006/main">
            <a:r>
              <a:t>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Fondamenti: QEC e QFT approssimata</a:t>
            </a:r>
          </a:p>
          <a:p xmlns:a="http://schemas.openxmlformats.org/drawingml/2006/main">
            <a:r>
              <a:t>Contesto | 7</a:t>
            </a:r>
          </a:p>
          <a:p xmlns:a="http://schemas.openxmlformats.org/drawingml/2006/main">
            <a:r>
              <a:t>QEC · durante il calcolo</a:t>
            </a:r>
          </a:p>
          <a:p xmlns:a="http://schemas.openxmlformats.org/drawingml/2006/main">
            <a:r>
              <a:t>Protegge l'informazione mentre il calcolo è in corso. Conviene solo sotto soglia: sopra soglia l'overhead amplifica l'errore.</a:t>
            </a:r>
          </a:p>
          <a:p xmlns:a="http://schemas.openxmlformats.org/drawingml/2006/main">
            <a:r>
              <a:t>Codifica</a:t>
            </a:r>
          </a:p>
          <a:p xmlns:a="http://schemas.openxmlformats.org/drawingml/2006/main">
            <a:r>
              <a:t>più qubit fisici formano un qubit logico</a:t>
            </a:r>
          </a:p>
          <a:p xmlns:a="http://schemas.openxmlformats.org/drawingml/2006/main">
            <a:r>
              <a:t>Sindrome</a:t>
            </a:r>
          </a:p>
          <a:p xmlns:a="http://schemas.openxmlformats.org/drawingml/2006/main">
            <a:r>
              <a:t>rivela l'errore senza misurare lo stato logico</a:t>
            </a:r>
          </a:p>
          <a:p xmlns:a="http://schemas.openxmlformats.org/drawingml/2006/main">
            <a:r>
              <a:t>Decoder</a:t>
            </a:r>
          </a:p>
          <a:p xmlns:a="http://schemas.openxmlformats.org/drawingml/2006/main">
            <a:r>
              <a:t>MWPM, BP+OSD o una rete scelgono la correzione</a:t>
            </a:r>
          </a:p>
          <a:p xmlns:a="http://schemas.openxmlformats.org/drawingml/2006/main">
            <a:r>
              <a:t>Soglia</a:t>
            </a:r>
          </a:p>
          <a:p xmlns:a="http://schemas.openxmlformats.org/drawingml/2006/main">
            <a:r>
              <a:t>sotto p_th, più distanza d riduce p_L</a:t>
            </a:r>
          </a:p>
          <a:p xmlns:a="http://schemas.openxmlformats.org/drawingml/2006/main">
            <a:r>
              <a:t>AQFT · nel circuito</a:t>
            </a:r>
          </a:p>
          <a:p xmlns:a="http://schemas.openxmlformats.org/drawingml/2006/main">
            <a:r>
              <a:t>Elimina le rotazioni controllate di piccolo angolo: meno porte e profondità, al prezzo di precisione di fase.</a:t>
            </a:r>
          </a:p>
          <a:p xmlns:a="http://schemas.openxmlformats.org/drawingml/2006/main">
            <a:r>
              <a:t>Complementari: l'AQFT contiene le risorse del circuito, la QEC protegge l'esecuzione dal rumore.</a:t>
            </a:r>
          </a:p>
          <a:p xmlns:a="http://schemas.openxmlformats.org/drawingml/2006/main">
            <a:r>
              <a:t>Notazione: p errore fisico · p_L errore logico dopo la decodifica · p_g proxy di errore per gate applicato a Shor</a:t>
            </a:r>
          </a:p>
          <a:p xmlns:a="http://schemas.openxmlformats.org/drawingml/2006/main">
            <a:r>
              <a:t>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DR2 · Correzione d'errore e soglia</a:t>
            </a:r>
          </a:p>
          <a:p xmlns:a="http://schemas.openxmlformats.org/drawingml/2006/main">
            <a:r>
              <a:t>Risultati | 13</a:t>
            </a:r>
          </a:p>
          <a:p xmlns:a="http://schemas.openxmlformats.org/drawingml/2006/main">
            <a:r>
              <a:t>0,86%</a:t>
            </a:r>
          </a:p>
          <a:p xmlns:a="http://schemas.openxmlformats.org/drawingml/2006/main">
            <a:r>
              <a:t>soglia stimata del surface code in base Z (0,81% in base X), dal fit sotto soglia</a:t>
            </a:r>
          </a:p>
          <a:p xmlns:a="http://schemas.openxmlformats.org/drawingml/2006/main">
            <a:r>
              <a:t>Surface code, memorie in base Z e X, rumore circuit-level e decoder MWPM; la linea tratteggiata è l'incrocio visivo delle curve, circa 0,9% in base Z</a:t>
            </a:r>
          </a:p>
          <a:p xmlns:a="http://schemas.openxmlformats.org/drawingml/2006/main">
            <a:r>
              <a:t>Sotto soglia</a:t>
            </a:r>
          </a:p>
          <a:p xmlns:a="http://schemas.openxmlformats.org/drawingml/2006/main">
            <a:r>
              <a:t>a p = 2×10⁻³ in base Z l'errore logico scende da 1,94×10⁻³ a d = 3 fino a 2,01×10⁻⁵ a d = 9</a:t>
            </a:r>
          </a:p>
          <a:p xmlns:a="http://schemas.openxmlformats.org/drawingml/2006/main">
            <a:r>
              <a:t>Sopra soglia</a:t>
            </a:r>
          </a:p>
          <a:p xmlns:a="http://schemas.openxmlformats.org/drawingml/2006/main">
            <a:r>
              <a:t>a p = 10⁻² l'ordine si inverte: circa 3,9% a d = 3 contro 5,6% a d = 9</a:t>
            </a:r>
          </a:p>
          <a:p xmlns:a="http://schemas.openxmlformats.org/drawingml/2006/main">
            <a:r>
              <a:t>Steane [[7,1,3]]</a:t>
            </a:r>
          </a:p>
          <a:p xmlns:a="http://schemas.openxmlformats.org/drawingml/2006/main">
            <a:r>
              <a:t>pendenza 1,94, compatibile con la soppressione quadratica; pseudo-soglia a p ≈ 0,08</a:t>
            </a:r>
          </a:p>
          <a:p xmlns:a="http://schemas.openxmlformats.org/drawingml/2006/main">
            <a:r>
              <a:t>La codifica conviene solo sotto soglia: lì aumentare la distanza sopprime l'errore logico.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Decoder analitici, appresi e ibridi</a:t>
            </a:r>
          </a:p>
          <a:p xmlns:a="http://schemas.openxmlformats.org/drawingml/2006/main">
            <a:r>
              <a:t>Risultati | 14</a:t>
            </a:r>
          </a:p>
          <a:p xmlns:a="http://schemas.openxmlformats.org/drawingml/2006/main">
            <a:r>
              <a:t>Rapporto di guadagno rispetto a MWPM: sopra 1 il metodo ha errore logico inferiore</a:t>
            </a:r>
          </a:p>
          <a:p xmlns:a="http://schemas.openxmlformats.org/drawingml/2006/main">
            <a:r>
              <a:t>15,6–17,6%</a:t>
            </a:r>
          </a:p>
          <a:p xmlns:a="http://schemas.openxmlformats.org/drawingml/2006/main">
            <a:r>
              <a:t>riduzione relativa dell'errore logico con il decoder ibrido (MWPM + rete) a d = 3, in presenza di crosstalk</a:t>
            </a:r>
          </a:p>
          <a:p xmlns:a="http://schemas.openxmlformats.org/drawingml/2006/main">
            <a:r>
              <a:t>Rete come sostituto</a:t>
            </a:r>
          </a:p>
          <a:p xmlns:a="http://schemas.openxmlformats.org/drawingml/2006/main">
            <a:r>
              <a:t>a modello corretto non supera MWPM; servono 10⁵–10⁶ campioni solo per pareggiarlo a d = 3</a:t>
            </a:r>
          </a:p>
          <a:p xmlns:a="http://schemas.openxmlformats.org/drawingml/2006/main">
            <a:r>
              <a:t>Con la scala</a:t>
            </a:r>
          </a:p>
          <a:p xmlns:a="http://schemas.openxmlformats.org/drawingml/2006/main">
            <a:r>
              <a:t>il margine cala: 0,5–3,2% a d = 5, non significativo a d = 7</a:t>
            </a:r>
          </a:p>
          <a:p xmlns:a="http://schemas.openxmlformats.org/drawingml/2006/main">
            <a:r>
              <a:t>BP+OSD</a:t>
            </a:r>
          </a:p>
          <a:p xmlns:a="http://schemas.openxmlformats.org/drawingml/2006/main">
            <a:r>
              <a:t>baseline analitica forte: −25,5% a d = 5 senza crosstalk</a:t>
            </a:r>
          </a:p>
          <a:p xmlns:a="http://schemas.openxmlformats.org/drawingml/2006/main">
            <a:r>
              <a:t>Il ML aiuta come correttore residuale, quando il decoder analitico non rappresenta la struttura dell'errore.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Gross code e surface code</a:t>
            </a:r>
          </a:p>
          <a:p xmlns:a="http://schemas.openxmlformats.org/drawingml/2006/main">
            <a:r>
              <a:t>Risultati | 15</a:t>
            </a:r>
          </a:p>
          <a:p xmlns:a="http://schemas.openxmlformats.org/drawingml/2006/main">
            <a:r>
              <a:t>Confronto esplorativo nel modello code-capacity: quanti qubit di dato servono per proteggere gli stessi </a:t>
            </a:r>
          </a:p>
          <a:p xmlns:a="http://schemas.openxmlformats.org/drawingml/2006/main">
            <a:r>
              <a:t>12 qubit logici</a:t>
            </a:r>
          </a:p>
          <a:p xmlns:a="http://schemas.openxmlformats.org/drawingml/2006/main">
            <a:r>
              <a:t>?</a:t>
            </a:r>
          </a:p>
          <a:p xmlns:a="http://schemas.openxmlformats.org/drawingml/2006/main">
            <a:r>
              <a:t>Gross code [[144,12,12]]</a:t>
            </a:r>
          </a:p>
          <a:p xmlns:a="http://schemas.openxmlformats.org/drawingml/2006/main">
            <a:r>
              <a:t>144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vs</a:t>
            </a:r>
          </a:p>
          <a:p xmlns:a="http://schemas.openxmlformats.org/drawingml/2006/main">
            <a:r>
              <a:t>12 × surface code, distanza 13</a:t>
            </a:r>
          </a:p>
          <a:p xmlns:a="http://schemas.openxmlformats.org/drawingml/2006/main">
            <a:r>
              <a:t>2028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Con il decoder adeguato</a:t>
            </a:r>
          </a:p>
          <a:p xmlns:a="http://schemas.openxmlformats.org/drawingml/2006/main">
            <a:r>
              <a:t> (BP+OSD a schedulazione seriale) il Gross code protegge meglio per errore fisico ≥ 0,75%, con circa un quattordicesimo dei qubit di dato.</a:t>
            </a:r>
          </a:p>
          <a:p xmlns:a="http://schemas.openxmlformats.org/drawingml/2006/main">
            <a:r>
              <a:t>Il decoder conta quanto il codice:</a:t>
            </a:r>
          </a:p>
          <a:p xmlns:a="http://schemas.openxmlformats.org/drawingml/2006/main">
            <a:r>
              <a:t> da schedulazione parallela a seriale il fallimento a errore 1% scende di circa 100 volte (9,8×10⁻⁵ → 1,0×10⁻⁶).</a:t>
            </a:r>
          </a:p>
          <a:p xmlns:a="http://schemas.openxmlformats.org/drawingml/2006/main">
            <a:r>
              <a:t>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Materiali e metodi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Fondamenti: QEC e QFT approssimata</a:t>
            </a:r>
          </a:p>
          <a:p xmlns:a="http://schemas.openxmlformats.org/drawingml/2006/main">
            <a:r>
              <a:t>Contesto | 7</a:t>
            </a:r>
          </a:p>
          <a:p xmlns:a="http://schemas.openxmlformats.org/drawingml/2006/main">
            <a:r>
              <a:t>QEC · durante il calcolo</a:t>
            </a:r>
          </a:p>
          <a:p xmlns:a="http://schemas.openxmlformats.org/drawingml/2006/main">
            <a:r>
              <a:t>Protegge l'informazione mentre il calcolo è in corso. Conviene solo sotto soglia: sopra soglia l'overhead amplifica l'errore.</a:t>
            </a:r>
          </a:p>
          <a:p xmlns:a="http://schemas.openxmlformats.org/drawingml/2006/main">
            <a:r>
              <a:t>Codifica</a:t>
            </a:r>
          </a:p>
          <a:p xmlns:a="http://schemas.openxmlformats.org/drawingml/2006/main">
            <a:r>
              <a:t>più qubit fisici formano un qubit logico</a:t>
            </a:r>
          </a:p>
          <a:p xmlns:a="http://schemas.openxmlformats.org/drawingml/2006/main">
            <a:r>
              <a:t>Sindrome</a:t>
            </a:r>
          </a:p>
          <a:p xmlns:a="http://schemas.openxmlformats.org/drawingml/2006/main">
            <a:r>
              <a:t>rivela l'errore senza misurare lo stato logico</a:t>
            </a:r>
          </a:p>
          <a:p xmlns:a="http://schemas.openxmlformats.org/drawingml/2006/main">
            <a:r>
              <a:t>Decoder</a:t>
            </a:r>
          </a:p>
          <a:p xmlns:a="http://schemas.openxmlformats.org/drawingml/2006/main">
            <a:r>
              <a:t>MWPM, BP+OSD o una rete scelgono la correzione</a:t>
            </a:r>
          </a:p>
          <a:p xmlns:a="http://schemas.openxmlformats.org/drawingml/2006/main">
            <a:r>
              <a:t>Soglia</a:t>
            </a:r>
          </a:p>
          <a:p xmlns:a="http://schemas.openxmlformats.org/drawingml/2006/main">
            <a:r>
              <a:t>sotto p_th, più distanza d riduce p_L</a:t>
            </a:r>
          </a:p>
          <a:p xmlns:a="http://schemas.openxmlformats.org/drawingml/2006/main">
            <a:r>
              <a:t>AQFT · nel circuito</a:t>
            </a:r>
          </a:p>
          <a:p xmlns:a="http://schemas.openxmlformats.org/drawingml/2006/main">
            <a:r>
              <a:t>Elimina le rotazioni controllate di piccolo angolo: meno porte e profondità, al prezzo di precisione di fase.</a:t>
            </a:r>
          </a:p>
          <a:p xmlns:a="http://schemas.openxmlformats.org/drawingml/2006/main">
            <a:r>
              <a:t>Complementari: l'AQFT contiene le risorse del circuito, la QEC protegge l'esecuzione dal rumore.</a:t>
            </a:r>
          </a:p>
          <a:p xmlns:a="http://schemas.openxmlformats.org/drawingml/2006/main">
            <a:r>
              <a:t>Notazione: p errore fisico · p_L errore logico dopo la decodifica · p_g proxy di errore per gate applicato a Shor</a:t>
            </a:r>
          </a:p>
          <a:p xmlns:a="http://schemas.openxmlformats.org/drawingml/2006/main">
            <a:r>
              <a:t>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QFT approssimata su N = 15</a:t>
            </a:r>
          </a:p>
          <a:p xmlns:a="http://schemas.openxmlformats.org/drawingml/2006/main">
            <a:r>
              <a:t>Risultati | 17</a:t>
            </a:r>
          </a:p>
          <a:p xmlns:a="http://schemas.openxmlformats.org/drawingml/2006/main">
            <a:r>
              <a:t>Successo holdout al variare del grado di troncamento della QFT inversa finale; la linea tratteggiata è la QFT piena</a:t>
            </a:r>
          </a:p>
          <a:p xmlns:a="http://schemas.openxmlformats.org/drawingml/2006/main">
            <a:r>
              <a:t>Grandezza</a:t>
            </a:r>
          </a:p>
          <a:p xmlns:a="http://schemas.openxmlformats.org/drawingml/2006/main">
            <a:r>
              <a:t>QFT piena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Variazione</a:t>
            </a:r>
          </a:p>
          <a:p xmlns:a="http://schemas.openxmlformats.org/drawingml/2006/main">
            <a:r>
              <a:t>P_succ holdout</a:t>
            </a:r>
          </a:p>
          <a:p xmlns:a="http://schemas.openxmlformats.org/drawingml/2006/main">
            <a:r>
              <a:t>0,4792</a:t>
            </a:r>
          </a:p>
          <a:p xmlns:a="http://schemas.openxmlformats.org/drawingml/2006/main">
            <a:r>
              <a:t>0,6279</a:t>
            </a:r>
          </a:p>
          <a:p xmlns:a="http://schemas.openxmlformats.org/drawingml/2006/main">
            <a:r>
              <a:t>+14,87 punti</a:t>
            </a:r>
          </a:p>
          <a:p xmlns:a="http://schemas.openxmlformats.org/drawingml/2006/main">
            <a:r>
              <a:t>Porte ECR</a:t>
            </a:r>
          </a:p>
          <a:p xmlns:a="http://schemas.openxmlformats.org/drawingml/2006/main">
            <a:r>
              <a:t>362</a:t>
            </a:r>
          </a:p>
          <a:p xmlns:a="http://schemas.openxmlformats.org/drawingml/2006/main">
            <a:r>
              <a:t>279</a:t>
            </a:r>
          </a:p>
          <a:p xmlns:a="http://schemas.openxmlformats.org/drawingml/2006/main">
            <a:r>
              <a:t>−22,9%</a:t>
            </a:r>
          </a:p>
          <a:p xmlns:a="http://schemas.openxmlformats.org/drawingml/2006/main">
            <a:r>
              <a:t>Profondità</a:t>
            </a:r>
          </a:p>
          <a:p xmlns:a="http://schemas.openxmlformats.org/drawingml/2006/main">
            <a:r>
              <a:t>1351</a:t>
            </a:r>
          </a:p>
          <a:p xmlns:a="http://schemas.openxmlformats.org/drawingml/2006/main">
            <a:r>
              <a:t>1141</a:t>
            </a:r>
          </a:p>
          <a:p xmlns:a="http://schemas.openxmlformats.org/drawingml/2006/main">
            <a:r>
              <a:t>−15,5%</a:t>
            </a:r>
          </a:p>
          <a:p xmlns:a="http://schemas.openxmlformats.org/drawingml/2006/main">
            <a:r>
              <a:t>Grado scelto sui dati di selezione, valutato su holdout disgiunto. IC Newcombe 95% dell'incremento: [12,73; 16,99] punti.</a:t>
            </a:r>
          </a:p>
          <a:p xmlns:a="http://schemas.openxmlformats.org/drawingml/2006/main">
            <a:r>
              <a:t>Istanza favorevole:</a:t>
            </a:r>
          </a:p>
          <a:p xmlns:a="http://schemas.openxmlformats.org/drawingml/2006/main">
            <a:r>
              <a:t> r = 4 produce fasi rappresentabili esattamente con due bit.</a:t>
            </a:r>
          </a:p>
          <a:p xmlns:a="http://schemas.openxmlformats.org/drawingml/2006/main">
            <a:r>
              <a:t>Meno porte danno più informazione utile quando il rumore evitato supera la perdita di precisione di fase.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AQFT su N = 21 e QPE isolata</a:t>
            </a:r>
          </a:p>
          <a:p xmlns:a="http://schemas.openxmlformats.org/drawingml/2006/main">
            <a:r>
              <a:t>Risultati | 18</a:t>
            </a:r>
          </a:p>
          <a:p xmlns:a="http://schemas.openxmlformats.org/drawingml/2006/main">
            <a:r>
              <a:t>Shor su N = 21</a:t>
            </a:r>
          </a:p>
          <a:p xmlns:a="http://schemas.openxmlformats.org/drawingml/2006/main">
            <a:r>
              <a:t>Porte ECR:</a:t>
            </a:r>
          </a:p>
          <a:p xmlns:a="http://schemas.openxmlformats.org/drawingml/2006/main">
            <a:r>
              <a:t> 49 661 → 23 178 troncando l'aritmetica</a:t>
            </a:r>
          </a:p>
          <a:p xmlns:a="http://schemas.openxmlformats.org/drawingml/2006/main">
            <a:r>
              <a:t>Successo ideale:</a:t>
            </a:r>
          </a:p>
          <a:p xmlns:a="http://schemas.openxmlformats.org/drawingml/2006/main">
            <a:r>
              <a:t> 0,4667 → 0,4013</a:t>
            </a:r>
          </a:p>
          <a:p xmlns:a="http://schemas.openxmlformats.org/drawingml/2006/main">
            <a:r>
              <a:t>Con rumore</a:t>
            </a:r>
          </a:p>
          <a:p xmlns:a="http://schemas.openxmlformats.org/drawingml/2006/main">
            <a:r>
              <a:t>, a budget ridotto: nessun vantaggio dimostrato</a:t>
            </a:r>
          </a:p>
          <a:p xmlns:a="http://schemas.openxmlformats.org/drawingml/2006/main">
            <a:r>
              <a:t>QPE isolata</a:t>
            </a:r>
          </a:p>
          <a:p xmlns:a="http://schemas.openxmlformats.org/drawingml/2006/main">
            <a:r>
              <a:t>9 stime su 9</a:t>
            </a:r>
          </a:p>
          <a:p xmlns:a="http://schemas.openxmlformats.org/drawingml/2006/main">
            <a:r>
              <a:t> a favore della variante troncata, 6 intervalli su 9 sopra zero; evidenza esplorativa, senza correzione simultanea</a:t>
            </a:r>
          </a:p>
          <a:p xmlns:a="http://schemas.openxmlformats.org/drawingml/2006/main">
            <a:r>
              <a:t>QPE isolata: differenza di successo AQFT − QFT piena su holdout, con IC Newcombe individuali al 95%</a:t>
            </a:r>
          </a:p>
          <a:p xmlns:a="http://schemas.openxmlformats.org/drawingml/2006/main">
            <a:r>
              <a:t>Il grado AQFT va scelto per istanza e per regime di rumore.</a:t>
            </a:r>
          </a:p>
          <a:p xmlns:a="http://schemas.openxmlformats.org/drawingml/2006/main">
            <a:r>
              <a:t>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DR4 · Sensibilità di Shor al rumore</a:t>
            </a:r>
          </a:p>
          <a:p xmlns:a="http://schemas.openxmlformats.org/drawingml/2006/main">
            <a:r>
              <a:t>Risultati | 16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74,89%</a:t>
            </a:r>
          </a:p>
          <a:p xmlns:a="http://schemas.openxmlformats.org/drawingml/2006/main">
            <a:r>
              <a:t>probabilità di ricavare i fattori per singola misura in assenza di rumore</a:t>
            </a:r>
          </a:p>
          <a:p xmlns:a="http://schemas.openxmlformats.org/drawingml/2006/main">
            <a:r>
              <a:t>Degrado regolare</a:t>
            </a:r>
          </a:p>
          <a:p xmlns:a="http://schemas.openxmlformats.org/drawingml/2006/main">
            <a:r>
              <a:t>64,5% a p_g = 0,005, 56,5% a 0,01 e 45,2% a 0,02</a:t>
            </a:r>
          </a:p>
          <a:p xmlns:a="http://schemas.openxmlformats.org/drawingml/2006/main">
            <a:r>
              <a:t>Plateau a circa 24,5%</a:t>
            </a:r>
          </a:p>
          <a:p xmlns:a="http://schemas.openxmlformats.org/drawingml/2006/main">
            <a:r>
              <a:t>da p_g ≈ 0,1: è il pavimento 63/256 della verifica classica, che accetta 63 esiti su 256 anche da una distribuzione uniforme</a:t>
            </a:r>
          </a:p>
          <a:p xmlns:a="http://schemas.openxmlformats.org/drawingml/2006/main">
            <a:r>
              <a:t>Il plateau non indica periodicità residua; p_g è un proxy per gate, non un tasso di errore logico QEC.</a:t>
            </a:r>
          </a:p>
          <a:p xmlns:a="http://schemas.openxmlformats.org/drawingml/2006/main">
            <a:r>
              <a:t>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DR1 · Post-processing e machine learning</a:t>
            </a:r>
          </a:p>
          <a:p xmlns:a="http://schemas.openxmlformats.org/drawingml/2006/main">
            <a:r>
              <a:t>Risultati | 12</a:t>
            </a:r>
          </a:p>
          <a:p xmlns:a="http://schemas.openxmlformats.org/drawingml/2006/main">
            <a:r>
              <a:t>Iterazioni medie al primo successo nei due scenari di rumore simulati (UC1 moderato, UC2 più severo)</a:t>
            </a:r>
          </a:p>
          <a:p xmlns:a="http://schemas.openxmlformats.org/drawingml/2006/main">
            <a:r>
              <a:t>1,00</a:t>
            </a:r>
          </a:p>
          <a:p xmlns:a="http://schemas.openxmlformats.org/drawingml/2006/main">
            <a:r>
              <a:t>iterazioni medie con TOP-4, in 30 repliche su 30 e in entrambi gli scenari (TOP-1: 1,37 e 1,50)</a:t>
            </a:r>
          </a:p>
          <a:p xmlns:a="http://schemas.openxmlformats.org/drawingml/2006/main">
            <a:r>
              <a:t>Classificatore</a:t>
            </a:r>
          </a:p>
          <a:p xmlns:a="http://schemas.openxmlformats.org/drawingml/2006/main">
            <a:r>
              <a:t>accurato, ma non utile: SVM con F1 0,919 / 0,923 e AUC 0,965 / 0,958</a:t>
            </a:r>
          </a:p>
          <a:p xmlns:a="http://schemas.openxmlformats.org/drawingml/2006/main">
            <a:r>
              <a:t>M2</a:t>
            </a:r>
          </a:p>
          <a:p xmlns:a="http://schemas.openxmlformats.org/drawingml/2006/main">
            <a:r>
              <a:t>1,50 / 1,37 iterazioni: peggiore della propria ablazione TOP-4 (p_Holm 0,0033 e 0,0096)</a:t>
            </a:r>
          </a:p>
          <a:p xmlns:a="http://schemas.openxmlformats.org/drawingml/2006/main">
            <a:r>
              <a:t>Il beneficio viene dalla ricerca multi-candidato, non dal filtro appreso.</a:t>
            </a:r>
          </a:p>
          <a:p xmlns:a="http://schemas.openxmlformats.org/drawingml/2006/main">
            <a:r>
              <a:t>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DR2 · Correzione d'errore e soglia</a:t>
            </a:r>
          </a:p>
          <a:p xmlns:a="http://schemas.openxmlformats.org/drawingml/2006/main">
            <a:r>
              <a:t>Risultati | 13</a:t>
            </a:r>
          </a:p>
          <a:p xmlns:a="http://schemas.openxmlformats.org/drawingml/2006/main">
            <a:r>
              <a:t>0,86%</a:t>
            </a:r>
          </a:p>
          <a:p xmlns:a="http://schemas.openxmlformats.org/drawingml/2006/main">
            <a:r>
              <a:t>soglia stimata del surface code in base Z (0,81% in base X), dal fit sotto soglia</a:t>
            </a:r>
          </a:p>
          <a:p xmlns:a="http://schemas.openxmlformats.org/drawingml/2006/main">
            <a:r>
              <a:t>Surface code, memorie in base Z e X, rumore circuit-level e decoder MWPM; la linea tratteggiata è l'incrocio visivo delle curve, circa 0,9% in base Z</a:t>
            </a:r>
          </a:p>
          <a:p xmlns:a="http://schemas.openxmlformats.org/drawingml/2006/main">
            <a:r>
              <a:t>Sotto soglia</a:t>
            </a:r>
          </a:p>
          <a:p xmlns:a="http://schemas.openxmlformats.org/drawingml/2006/main">
            <a:r>
              <a:t>a p = 2×10⁻³ in base Z l'errore logico scende da 1,94×10⁻³ a d = 3 fino a 2,01×10⁻⁵ a d = 9</a:t>
            </a:r>
          </a:p>
          <a:p xmlns:a="http://schemas.openxmlformats.org/drawingml/2006/main">
            <a:r>
              <a:t>Sopra soglia</a:t>
            </a:r>
          </a:p>
          <a:p xmlns:a="http://schemas.openxmlformats.org/drawingml/2006/main">
            <a:r>
              <a:t>a p = 10⁻² l'ordine si inverte: circa 3,9% a d = 3 contro 5,6% a d = 9</a:t>
            </a:r>
          </a:p>
          <a:p xmlns:a="http://schemas.openxmlformats.org/drawingml/2006/main">
            <a:r>
              <a:t>Steane [[7,1,3]]</a:t>
            </a:r>
          </a:p>
          <a:p xmlns:a="http://schemas.openxmlformats.org/drawingml/2006/main">
            <a:r>
              <a:t>pendenza 1,94, compatibile con la soppressione quadratica; pseudo-soglia a p ≈ 0,08</a:t>
            </a:r>
          </a:p>
          <a:p xmlns:a="http://schemas.openxmlformats.org/drawingml/2006/main">
            <a:r>
              <a:t>La codifica conviene solo sotto soglia: lì aumentare la distanza sopprime l'errore logico.</a:t>
            </a:r>
          </a:p>
          <a:p xmlns:a="http://schemas.openxmlformats.org/drawingml/2006/main">
            <a:r>
              <a:t>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Decoder analitici, appresi e ibridi</a:t>
            </a:r>
          </a:p>
          <a:p xmlns:a="http://schemas.openxmlformats.org/drawingml/2006/main">
            <a:r>
              <a:t>Risultati | 14</a:t>
            </a:r>
          </a:p>
          <a:p xmlns:a="http://schemas.openxmlformats.org/drawingml/2006/main">
            <a:r>
              <a:t>Rapporto di guadagno rispetto a MWPM: sopra 1 il metodo ha errore logico inferiore</a:t>
            </a:r>
          </a:p>
          <a:p xmlns:a="http://schemas.openxmlformats.org/drawingml/2006/main">
            <a:r>
              <a:t>15,6–17,6%</a:t>
            </a:r>
          </a:p>
          <a:p xmlns:a="http://schemas.openxmlformats.org/drawingml/2006/main">
            <a:r>
              <a:t>riduzione relativa dell'errore logico con il decoder ibrido (MWPM + rete) a d = 3, in presenza di crosstalk</a:t>
            </a:r>
          </a:p>
          <a:p xmlns:a="http://schemas.openxmlformats.org/drawingml/2006/main">
            <a:r>
              <a:t>Rete come sostituto</a:t>
            </a:r>
          </a:p>
          <a:p xmlns:a="http://schemas.openxmlformats.org/drawingml/2006/main">
            <a:r>
              <a:t>a modello corretto non supera MWPM; servono 10⁵–10⁶ campioni solo per pareggiarlo a d = 3</a:t>
            </a:r>
          </a:p>
          <a:p xmlns:a="http://schemas.openxmlformats.org/drawingml/2006/main">
            <a:r>
              <a:t>Con la scala</a:t>
            </a:r>
          </a:p>
          <a:p xmlns:a="http://schemas.openxmlformats.org/drawingml/2006/main">
            <a:r>
              <a:t>il margine cala: 0,5–3,2% a d = 5, non significativo a d = 7</a:t>
            </a:r>
          </a:p>
          <a:p xmlns:a="http://schemas.openxmlformats.org/drawingml/2006/main">
            <a:r>
              <a:t>BP+OSD</a:t>
            </a:r>
          </a:p>
          <a:p xmlns:a="http://schemas.openxmlformats.org/drawingml/2006/main">
            <a:r>
              <a:t>baseline analitica forte: −25,5% a d = 5 senza crosstalk</a:t>
            </a:r>
          </a:p>
          <a:p xmlns:a="http://schemas.openxmlformats.org/drawingml/2006/main">
            <a:r>
              <a:t>Il ML aiuta come correttore residuale, quando il decoder analitico non rappresenta la struttura dell'errore.</a:t>
            </a:r>
          </a:p>
          <a:p xmlns:a="http://schemas.openxmlformats.org/drawingml/2006/main">
            <a:r>
              <a:t>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DR3 · Gross code e surface code</a:t>
            </a:r>
          </a:p>
          <a:p xmlns:a="http://schemas.openxmlformats.org/drawingml/2006/main">
            <a:r>
              <a:t>Risultati | 15</a:t>
            </a:r>
          </a:p>
          <a:p xmlns:a="http://schemas.openxmlformats.org/drawingml/2006/main">
            <a:r>
              <a:t>Confronto esplorativo nel modello code-capacity: quanti qubit di dato servono per proteggere gli stessi </a:t>
            </a:r>
          </a:p>
          <a:p xmlns:a="http://schemas.openxmlformats.org/drawingml/2006/main">
            <a:r>
              <a:t>12 qubit logici</a:t>
            </a:r>
          </a:p>
          <a:p xmlns:a="http://schemas.openxmlformats.org/drawingml/2006/main">
            <a:r>
              <a:t>?</a:t>
            </a:r>
          </a:p>
          <a:p xmlns:a="http://schemas.openxmlformats.org/drawingml/2006/main">
            <a:r>
              <a:t>Gross code [[144,12,12]]</a:t>
            </a:r>
          </a:p>
          <a:p xmlns:a="http://schemas.openxmlformats.org/drawingml/2006/main">
            <a:r>
              <a:t>144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vs</a:t>
            </a:r>
          </a:p>
          <a:p xmlns:a="http://schemas.openxmlformats.org/drawingml/2006/main">
            <a:r>
              <a:t>12 × surface code, distanza 13</a:t>
            </a:r>
          </a:p>
          <a:p xmlns:a="http://schemas.openxmlformats.org/drawingml/2006/main">
            <a:r>
              <a:t>2028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Con il decoder adeguato</a:t>
            </a:r>
          </a:p>
          <a:p xmlns:a="http://schemas.openxmlformats.org/drawingml/2006/main">
            <a:r>
              <a:t> (BP+OSD a schedulazione seriale) il Gross code protegge meglio per errore fisico ≥ 0,75%, con circa un quattordicesimo dei qubit di dato.</a:t>
            </a:r>
          </a:p>
          <a:p xmlns:a="http://schemas.openxmlformats.org/drawingml/2006/main">
            <a:r>
              <a:t>Il decoder conta quanto il codice:</a:t>
            </a:r>
          </a:p>
          <a:p xmlns:a="http://schemas.openxmlformats.org/drawingml/2006/main">
            <a:r>
              <a:t> da schedulazione parallela a seriale il fallimento a errore 1% scende di circa 100 volte (9,8×10⁻⁵ → 1,0×10⁻⁶).</a:t>
            </a:r>
          </a:p>
          <a:p xmlns:a="http://schemas.openxmlformats.org/drawingml/2006/main">
            <a:r>
              <a:t>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QFT approssimata su N = 15</a:t>
            </a:r>
          </a:p>
          <a:p xmlns:a="http://schemas.openxmlformats.org/drawingml/2006/main">
            <a:r>
              <a:t>Risultati | 17</a:t>
            </a:r>
          </a:p>
          <a:p xmlns:a="http://schemas.openxmlformats.org/drawingml/2006/main">
            <a:r>
              <a:t>Successo holdout al variare del grado di troncamento della QFT inversa finale; la linea tratteggiata è la QFT piena</a:t>
            </a:r>
          </a:p>
          <a:p xmlns:a="http://schemas.openxmlformats.org/drawingml/2006/main">
            <a:r>
              <a:t>Grandezza</a:t>
            </a:r>
          </a:p>
          <a:p xmlns:a="http://schemas.openxmlformats.org/drawingml/2006/main">
            <a:r>
              <a:t>QFT piena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Variazione</a:t>
            </a:r>
          </a:p>
          <a:p xmlns:a="http://schemas.openxmlformats.org/drawingml/2006/main">
            <a:r>
              <a:t>P_succ holdout</a:t>
            </a:r>
          </a:p>
          <a:p xmlns:a="http://schemas.openxmlformats.org/drawingml/2006/main">
            <a:r>
              <a:t>0,4792</a:t>
            </a:r>
          </a:p>
          <a:p xmlns:a="http://schemas.openxmlformats.org/drawingml/2006/main">
            <a:r>
              <a:t>0,6279</a:t>
            </a:r>
          </a:p>
          <a:p xmlns:a="http://schemas.openxmlformats.org/drawingml/2006/main">
            <a:r>
              <a:t>+14,87 punti</a:t>
            </a:r>
          </a:p>
          <a:p xmlns:a="http://schemas.openxmlformats.org/drawingml/2006/main">
            <a:r>
              <a:t>Porte ECR</a:t>
            </a:r>
          </a:p>
          <a:p xmlns:a="http://schemas.openxmlformats.org/drawingml/2006/main">
            <a:r>
              <a:t>362</a:t>
            </a:r>
          </a:p>
          <a:p xmlns:a="http://schemas.openxmlformats.org/drawingml/2006/main">
            <a:r>
              <a:t>279</a:t>
            </a:r>
          </a:p>
          <a:p xmlns:a="http://schemas.openxmlformats.org/drawingml/2006/main">
            <a:r>
              <a:t>−22,9%</a:t>
            </a:r>
          </a:p>
          <a:p xmlns:a="http://schemas.openxmlformats.org/drawingml/2006/main">
            <a:r>
              <a:t>Profondità</a:t>
            </a:r>
          </a:p>
          <a:p xmlns:a="http://schemas.openxmlformats.org/drawingml/2006/main">
            <a:r>
              <a:t>1351</a:t>
            </a:r>
          </a:p>
          <a:p xmlns:a="http://schemas.openxmlformats.org/drawingml/2006/main">
            <a:r>
              <a:t>1141</a:t>
            </a:r>
          </a:p>
          <a:p xmlns:a="http://schemas.openxmlformats.org/drawingml/2006/main">
            <a:r>
              <a:t>−15,5%</a:t>
            </a:r>
          </a:p>
          <a:p xmlns:a="http://schemas.openxmlformats.org/drawingml/2006/main">
            <a:r>
              <a:t>Grado scelto sui dati di selezione, valutato su holdout disgiunto. IC Newcombe 95% dell'incremento: [12,73; 16,99] punti.</a:t>
            </a:r>
          </a:p>
          <a:p xmlns:a="http://schemas.openxmlformats.org/drawingml/2006/main">
            <a:r>
              <a:t>Istanza favorevole:</a:t>
            </a:r>
          </a:p>
          <a:p xmlns:a="http://schemas.openxmlformats.org/drawingml/2006/main">
            <a:r>
              <a:t> r = 4 produce fasi rappresentabili esattamente con due bit.</a:t>
            </a:r>
          </a:p>
          <a:p xmlns:a="http://schemas.openxmlformats.org/drawingml/2006/main">
            <a:r>
              <a:t>Meno porte danno più informazione utile quando il rumore evitato supera la perdita di precisione di fase.</a:t>
            </a:r>
          </a:p>
          <a:p xmlns:a="http://schemas.openxmlformats.org/drawingml/2006/main">
            <a:r>
              <a:t>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Risultati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DR5 · AQFT su N = 21 e QPE isolata</a:t>
            </a:r>
          </a:p>
          <a:p xmlns:a="http://schemas.openxmlformats.org/drawingml/2006/main">
            <a:r>
              <a:t>Risultati | 18</a:t>
            </a:r>
          </a:p>
          <a:p xmlns:a="http://schemas.openxmlformats.org/drawingml/2006/main">
            <a:r>
              <a:t>Shor su N = 21</a:t>
            </a:r>
          </a:p>
          <a:p xmlns:a="http://schemas.openxmlformats.org/drawingml/2006/main">
            <a:r>
              <a:t>Porte ECR:</a:t>
            </a:r>
          </a:p>
          <a:p xmlns:a="http://schemas.openxmlformats.org/drawingml/2006/main">
            <a:r>
              <a:t> 49 661 → 23 178 troncando l'aritmetica</a:t>
            </a:r>
          </a:p>
          <a:p xmlns:a="http://schemas.openxmlformats.org/drawingml/2006/main">
            <a:r>
              <a:t>Successo ideale:</a:t>
            </a:r>
          </a:p>
          <a:p xmlns:a="http://schemas.openxmlformats.org/drawingml/2006/main">
            <a:r>
              <a:t> 0,4667 → 0,4013</a:t>
            </a:r>
          </a:p>
          <a:p xmlns:a="http://schemas.openxmlformats.org/drawingml/2006/main">
            <a:r>
              <a:t>Con rumore</a:t>
            </a:r>
          </a:p>
          <a:p xmlns:a="http://schemas.openxmlformats.org/drawingml/2006/main">
            <a:r>
              <a:t>, a budget ridotto: nessun vantaggio dimostrato</a:t>
            </a:r>
          </a:p>
          <a:p xmlns:a="http://schemas.openxmlformats.org/drawingml/2006/main">
            <a:r>
              <a:t>QPE isolata</a:t>
            </a:r>
          </a:p>
          <a:p xmlns:a="http://schemas.openxmlformats.org/drawingml/2006/main">
            <a:r>
              <a:t>9 stime su 9</a:t>
            </a:r>
          </a:p>
          <a:p xmlns:a="http://schemas.openxmlformats.org/drawingml/2006/main">
            <a:r>
              <a:t> a favore della variante troncata, 6 intervalli su 9 sopra zero; evidenza esplorativa, senza correzione simultanea</a:t>
            </a:r>
          </a:p>
          <a:p xmlns:a="http://schemas.openxmlformats.org/drawingml/2006/main">
            <a:r>
              <a:t>QPE isolata: differenza di successo AQFT − QFT piena su holdout, con IC Newcombe individuali al 95%</a:t>
            </a:r>
          </a:p>
          <a:p xmlns:a="http://schemas.openxmlformats.org/drawingml/2006/main">
            <a:r>
              <a:t>Il grado AQFT va scelto per istanza e per regime di rumore.</a:t>
            </a:r>
          </a:p>
          <a:p xmlns:a="http://schemas.openxmlformats.org/drawingml/2006/main">
            <a:r>
              <a:t>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Discussione e conclusioni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Risposte alle domande di ricerca</a:t>
            </a:r>
          </a:p>
          <a:p xmlns:a="http://schemas.openxmlformats.org/drawingml/2006/main">
            <a:r>
              <a:t>Conclusioni | 19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Risposta</a:t>
            </a:r>
          </a:p>
          <a:p xmlns:a="http://schemas.openxmlformats.org/drawingml/2006/main">
            <a:r>
              <a:t>Evidenza principale</a:t>
            </a:r>
          </a:p>
          <a:p xmlns:a="http://schemas.openxmlformats.org/drawingml/2006/main">
            <a:r>
              <a:t>DR1</a:t>
            </a:r>
          </a:p>
          <a:p xmlns:a="http://schemas.openxmlformats.org/drawingml/2006/main">
            <a:r>
              <a:t>TOP-K è utile; il filtro ML considerato non aggiunge valore operativo</a:t>
            </a:r>
          </a:p>
          <a:p xmlns:a="http://schemas.openxmlformats.org/drawingml/2006/main">
            <a:r>
              <a:t>TOP-4: 1,00 iterazioni medie nei due scenari; M2 perde contro la propria ablazione</a:t>
            </a:r>
          </a:p>
          <a:p xmlns:a="http://schemas.openxmlformats.org/drawingml/2006/main">
            <a:r>
              <a:t>DR2</a:t>
            </a:r>
          </a:p>
          <a:p xmlns:a="http://schemas.openxmlformats.org/drawingml/2006/main">
            <a:r>
              <a:t>La QEC sopprime l'errore sotto soglia; il beneficio cresce con la distanza</a:t>
            </a:r>
          </a:p>
          <a:p xmlns:a="http://schemas.openxmlformats.org/drawingml/2006/main">
            <a:r>
              <a:t>Steane: pendenza 1,94; surface code: soglia 0,86% (Z) e 0,81% (X)</a:t>
            </a:r>
          </a:p>
          <a:p xmlns:a="http://schemas.openxmlformats.org/drawingml/2006/main">
            <a:r>
              <a:t>DR3</a:t>
            </a:r>
          </a:p>
          <a:p xmlns:a="http://schemas.openxmlformats.org/drawingml/2006/main">
            <a:r>
              <a:t>Il ML è utile come correttore residuale; il decoder conta anche fra codici diversi</a:t>
            </a:r>
          </a:p>
          <a:p xmlns:a="http://schemas.openxmlformats.org/drawingml/2006/main">
            <a:r>
              <a:t>p_L ridotto del 15,6–17,6% a d = 3 con crosstalk; Gross code migliore per p ≥ 0,75%</a:t>
            </a:r>
          </a:p>
          <a:p xmlns:a="http://schemas.openxmlformats.org/drawingml/2006/main">
            <a:r>
              <a:t>DR4</a:t>
            </a:r>
          </a:p>
          <a:p xmlns:a="http://schemas.openxmlformats.org/drawingml/2006/main">
            <a:r>
              <a:t>Il successo di Shor decresce con p_g fino al pavimento del post-processing</a:t>
            </a:r>
          </a:p>
          <a:p xmlns:a="http://schemas.openxmlformats.org/drawingml/2006/main">
            <a:r>
              <a:t>Da 0,7489 senza rumore a circa 0,245 per rumore elevato (63/256)</a:t>
            </a:r>
          </a:p>
          <a:p xmlns:a="http://schemas.openxmlformats.org/drawingml/2006/main">
            <a:r>
              <a:t>DR5</a:t>
            </a:r>
          </a:p>
          <a:p xmlns:a="http://schemas.openxmlformats.org/drawingml/2006/main">
            <a:r>
              <a:t>L'AQFT aiuta quando le porte evitate compensano la perdita di fase</a:t>
            </a:r>
          </a:p>
          <a:p xmlns:a="http://schemas.openxmlformats.org/drawingml/2006/main">
            <a:r>
              <a:t>N = 15: 0,4792 → 0,6279, ECR 362 → 279; beneficio non dimostrato su N = 21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Conclusione centrale</a:t>
            </a:r>
          </a:p>
          <a:p xmlns:a="http://schemas.openxmlformats.org/drawingml/2006/main">
            <a:r>
              <a:t>Conclusioni | 20</a:t>
            </a:r>
          </a:p>
          <a:p xmlns:a="http://schemas.openxmlformats.org/drawingml/2006/main">
            <a:r>
              <a:t>La complessità aggiuntiva è giustificata solo quando agisce sul collo di bottiglia effettivo e produce un beneficio misurabile rispetto a una baseline adeguata.</a:t>
            </a:r>
          </a:p>
          <a:p xmlns:a="http://schemas.openxmlformats.org/drawingml/2006/main">
            <a:r>
              <a:t>TOP-K</a:t>
            </a:r>
          </a:p>
          <a:p xmlns:a="http://schemas.openxmlformats.org/drawingml/2006/main">
            <a:r>
              <a:t>usa meglio informazione già disponibile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cambia l'ordine dell'errore, ma solo sotto soglia</a:t>
            </a:r>
          </a:p>
          <a:p xmlns:a="http://schemas.openxmlformats.org/drawingml/2006/main">
            <a:r>
              <a:t>Decoder appreso</a:t>
            </a:r>
          </a:p>
          <a:p xmlns:a="http://schemas.openxmlformats.org/drawingml/2006/main">
            <a:r>
              <a:t>recupera struttura assente dal modello analitico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aiuta se il costo evitato supera la perdita algoritmica</a:t>
            </a:r>
          </a:p>
          <a:p xmlns:a="http://schemas.openxmlformats.org/drawingml/2006/main">
            <a:r>
              <a:t>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Discussione e conclusioni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Risposte alle domande di ricerca</a:t>
            </a:r>
          </a:p>
          <a:p xmlns:a="http://schemas.openxmlformats.org/drawingml/2006/main">
            <a:r>
              <a:t>Conclusioni | 19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Risposta</a:t>
            </a:r>
          </a:p>
          <a:p xmlns:a="http://schemas.openxmlformats.org/drawingml/2006/main">
            <a:r>
              <a:t>Evidenza principale</a:t>
            </a:r>
          </a:p>
          <a:p xmlns:a="http://schemas.openxmlformats.org/drawingml/2006/main">
            <a:r>
              <a:t>DR1</a:t>
            </a:r>
          </a:p>
          <a:p xmlns:a="http://schemas.openxmlformats.org/drawingml/2006/main">
            <a:r>
              <a:t>TOP-K è utile; il filtro ML considerato non aggiunge valore operativo</a:t>
            </a:r>
          </a:p>
          <a:p xmlns:a="http://schemas.openxmlformats.org/drawingml/2006/main">
            <a:r>
              <a:t>TOP-4: 1,00 iterazioni medie nei due scenari; M2 perde contro la propria ablazione</a:t>
            </a:r>
          </a:p>
          <a:p xmlns:a="http://schemas.openxmlformats.org/drawingml/2006/main">
            <a:r>
              <a:t>DR2</a:t>
            </a:r>
          </a:p>
          <a:p xmlns:a="http://schemas.openxmlformats.org/drawingml/2006/main">
            <a:r>
              <a:t>La QEC sopprime l'errore sotto soglia; il beneficio cresce con la distanza</a:t>
            </a:r>
          </a:p>
          <a:p xmlns:a="http://schemas.openxmlformats.org/drawingml/2006/main">
            <a:r>
              <a:t>Steane: pendenza 1,94; surface code: soglia 0,86% (Z) e 0,81% (X)</a:t>
            </a:r>
          </a:p>
          <a:p xmlns:a="http://schemas.openxmlformats.org/drawingml/2006/main">
            <a:r>
              <a:t>DR3</a:t>
            </a:r>
          </a:p>
          <a:p xmlns:a="http://schemas.openxmlformats.org/drawingml/2006/main">
            <a:r>
              <a:t>Il ML è utile come correttore residuale; il decoder conta anche fra codici diversi</a:t>
            </a:r>
          </a:p>
          <a:p xmlns:a="http://schemas.openxmlformats.org/drawingml/2006/main">
            <a:r>
              <a:t>p_L ridotto del 15,6–17,6% a d = 3 con crosstalk; Gross code migliore per p ≥ 0,75%</a:t>
            </a:r>
          </a:p>
          <a:p xmlns:a="http://schemas.openxmlformats.org/drawingml/2006/main">
            <a:r>
              <a:t>DR4</a:t>
            </a:r>
          </a:p>
          <a:p xmlns:a="http://schemas.openxmlformats.org/drawingml/2006/main">
            <a:r>
              <a:t>Il successo di Shor decresce con p_g fino al pavimento del post-processing</a:t>
            </a:r>
          </a:p>
          <a:p xmlns:a="http://schemas.openxmlformats.org/drawingml/2006/main">
            <a:r>
              <a:t>Da 0,7489 senza rumore a circa 0,245 per rumore elevato (63/256)</a:t>
            </a:r>
          </a:p>
          <a:p xmlns:a="http://schemas.openxmlformats.org/drawingml/2006/main">
            <a:r>
              <a:t>DR5</a:t>
            </a:r>
          </a:p>
          <a:p xmlns:a="http://schemas.openxmlformats.org/drawingml/2006/main">
            <a:r>
              <a:t>L'AQFT aiuta quando le porte evitate compensano la perdita di fase</a:t>
            </a:r>
          </a:p>
          <a:p xmlns:a="http://schemas.openxmlformats.org/drawingml/2006/main">
            <a:r>
              <a:t>N = 15: 0,4792 → 0,6279, ECR 362 → 279; beneficio non dimostrato su N = 21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Conclusione centrale</a:t>
            </a:r>
          </a:p>
          <a:p xmlns:a="http://schemas.openxmlformats.org/drawingml/2006/main">
            <a:r>
              <a:t>Conclusioni | 20</a:t>
            </a:r>
          </a:p>
          <a:p xmlns:a="http://schemas.openxmlformats.org/drawingml/2006/main">
            <a:r>
              <a:t>La complessità aggiuntiva è giustificata solo quando agisce sul collo di bottiglia effettivo e produce un beneficio misurabile rispetto a una baseline adeguata.</a:t>
            </a:r>
          </a:p>
          <a:p xmlns:a="http://schemas.openxmlformats.org/drawingml/2006/main">
            <a:r>
              <a:t>TOP-K</a:t>
            </a:r>
          </a:p>
          <a:p xmlns:a="http://schemas.openxmlformats.org/drawingml/2006/main">
            <a:r>
              <a:t>usa meglio informazione già disponibile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cambia l'ordine dell'errore, ma solo sotto soglia</a:t>
            </a:r>
          </a:p>
          <a:p xmlns:a="http://schemas.openxmlformats.org/drawingml/2006/main">
            <a:r>
              <a:t>Decoder appreso</a:t>
            </a:r>
          </a:p>
          <a:p xmlns:a="http://schemas.openxmlformats.org/drawingml/2006/main">
            <a:r>
              <a:t>recupera struttura assente dal modello analitico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aiuta se il costo evitato supera la perdita algoritmica</a:t>
            </a:r>
          </a:p>
          <a:p xmlns:a="http://schemas.openxmlformats.org/drawingml/2006/main">
            <a:r>
              <a:t>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Discussione e conclusioni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Limiti e sviluppi futuri</a:t>
            </a:r>
          </a:p>
          <a:p xmlns:a="http://schemas.openxmlformats.org/drawingml/2006/main">
            <a:r>
              <a:t>Conclusioni | 21</a:t>
            </a:r>
          </a:p>
          <a:p xmlns:a="http://schemas.openxmlformats.org/drawingml/2006/main">
            <a:r>
              <a:t>Limiti dello studio</a:t>
            </a:r>
          </a:p>
          <a:p xmlns:a="http://schemas.openxmlformats.org/drawingml/2006/main">
            <a:r>
              <a:t>Scala</a:t>
            </a:r>
          </a:p>
          <a:p xmlns:a="http://schemas.openxmlformats.org/drawingml/2006/main">
            <a:r>
              <a:t>campagne simulate; N = 15 con r = 4 è un'istanza favorevole a TOP-K e AQFT</a:t>
            </a:r>
          </a:p>
          <a:p xmlns:a="http://schemas.openxmlformats.org/drawingml/2006/main">
            <a:r>
              <a:t>Rumore</a:t>
            </a:r>
          </a:p>
          <a:p xmlns:a="http://schemas.openxmlformats.org/drawingml/2006/main">
            <a:r>
              <a:t>modello uniforme e stazionario; controlli hardware-aware su snapshot offline, non su QPU live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surface code studiato come memoria, non uno Shor fault-tolerant; decoder appreso MLP denso</a:t>
            </a:r>
          </a:p>
          <a:p xmlns:a="http://schemas.openxmlformats.org/drawingml/2006/main">
            <a:r>
              <a:t>Inferenza</a:t>
            </a:r>
          </a:p>
          <a:p xmlns:a="http://schemas.openxmlformats.org/drawingml/2006/main">
            <a:r>
              <a:t>sweep e benchmark QPE esplorativi, senza correzione simultanea</a:t>
            </a:r>
          </a:p>
          <a:p xmlns:a="http://schemas.openxmlformats.org/drawingml/2006/main">
            <a:r>
              <a:t>Sviluppi futuri, in ordine di priorità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Hardware</a:t>
            </a:r>
          </a:p>
          <a:p xmlns:a="http://schemas.openxmlformats.org/drawingml/2006/main">
            <a:r>
              <a:t>ripetere Shor e AQFT su QPU, con simulazione dalla calibrazione coeva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Scala</a:t>
            </a:r>
          </a:p>
          <a:p xmlns:a="http://schemas.openxmlformats.org/drawingml/2006/main">
            <a:r>
              <a:t>variare separatamente N, ordine r, qubit di conteggio e aritmetica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Fault tolerance</a:t>
            </a:r>
          </a:p>
          <a:p xmlns:a="http://schemas.openxmlformats.org/drawingml/2006/main">
            <a:r>
              <a:t>sostituire p_g con gate logici, cicli QEC e decoder espliciti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Decoder e codici</a:t>
            </a:r>
          </a:p>
          <a:p xmlns:a="http://schemas.openxmlformats.org/drawingml/2006/main">
            <a:r>
              <a:t>modelli strutturali contro BP+OSD; Gross code a livello di circuito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Costo circuitale</a:t>
            </a:r>
          </a:p>
          <a:p xmlns:a="http://schemas.openxmlformats.org/drawingml/2006/main">
            <a:r>
              <a:t>ottimizzare aritmetica modulare e AQFT, verificando il successo finale</a:t>
            </a:r>
          </a:p>
          <a:p xmlns:a="http://schemas.openxmlformats.org/drawingml/2006/main">
            <a:r>
              <a:t>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Grazie</a:t>
            </a:r>
          </a:p>
          <a:p xmlns:a="http://schemas.openxmlformats.org/drawingml/2006/main">
            <a:r>
              <a:t>per l'attenzione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Post-processing:</a:t>
            </a:r>
          </a:p>
          <a:p xmlns:a="http://schemas.openxmlformats.org/drawingml/2006/main">
            <a:r>
              <a:t> con TOP-4 bastano 1,00 iterazioni medie; il filtro ML non aggiunge valore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QEC e decoder:</a:t>
            </a:r>
          </a:p>
          <a:p xmlns:a="http://schemas.openxmlformats.org/drawingml/2006/main">
            <a:r>
              <a:t> sotto soglia la distanza sopprime l'errore; l'ibrido riduce p_L del 15,6–17,6% a d = 3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AQFT:</a:t>
            </a:r>
          </a:p>
          <a:p xmlns:a="http://schemas.openxmlformats.org/drawingml/2006/main">
            <a:r>
              <a:t> su N = 15 il successo sale da 0,4792 a 0,6279 con 83 porte ECR in meno</a:t>
            </a:r>
          </a:p>
          <a:p xmlns:a="http://schemas.openxmlformats.org/drawingml/2006/main">
            <a:r>
              <a:t>Claudio Dragotta</a:t>
            </a:r>
          </a:p>
          <a:p xmlns:a="http://schemas.openxmlformats.org/drawingml/2006/main">
            <a:r>
              <a:t>Corso di Laurea Magistrale in Ingegneria dei Sistemi Intelligenti · A.A. 2025/2026</a:t>
            </a:r>
          </a:p>
          <a:p xmlns:a="http://schemas.openxmlformats.org/drawingml/2006/main">
            <a:r>
              <a:t>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Riferimento: Abstract_Tesi_Dragotta(2).pdf. Riserva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interattiva: Shor con e senza rumore</a:t>
            </a:r>
          </a:p>
          <a:p xmlns:a="http://schemas.openxmlformats.org/drawingml/2006/main">
            <a:r>
              <a:t>Riserva | 23</a:t>
            </a:r>
          </a:p>
          <a:p xmlns:a="http://schemas.openxmlformats.org/drawingml/2006/main">
            <a:r>
              <a:t>Ideale e rumoroso</a:t>
            </a:r>
          </a:p>
          <a:p xmlns:a="http://schemas.openxmlformats.org/drawingml/2006/main">
            <a:r>
              <a:t>Stesso circuito per N = 15, senza rumore e con il preset UC1: le frecce sulle sfere di Bloch si accorciano, lo stato perde coerenza.</a:t>
            </a:r>
          </a:p>
          <a:p xmlns:a="http://schemas.openxmlformats.org/drawingml/2006/main">
            <a:r>
              <a:t>Dove entra il rumore</a:t>
            </a:r>
          </a:p>
          <a:p xmlns:a="http://schemas.openxmlformats.org/drawingml/2006/main">
            <a:r>
              <a:t>70 porte SX, 224 CX, 302 RZ virtuali senza rumore, 8 misure con errore di lettura.</a:t>
            </a:r>
          </a:p>
          <a:p xmlns:a="http://schemas.openxmlformats.org/drawingml/2006/main">
            <a:r>
              <a:t>Demo web illustrativa con modello di rumore uniforme: non è una misura su hardware.</a:t>
            </a:r>
          </a:p>
          <a:p xmlns:a="http://schemas.openxmlformats.org/drawingml/2006/main">
            <a:r>
              <a:t>shor-demo-6knp.onrender.com</a:t>
            </a:r>
          </a:p>
          <a:p xmlns:a="http://schemas.openxmlformats.org/drawingml/2006/main">
            <a:r>
              <a:t>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a77f3274a49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6d2862f6d49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21cd4370c42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9c1d6f16746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b7b29ca3f4b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d14221159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858EE6-424E-4AB1-810E-A806DCA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14CB97-FAF0-4732-BC5E-17B6727A7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CED97E8-227E-4885-98D6-50556E9F5B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63DF4A-4087-4F6D-82DA-23E9FEC0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9A1AEB-1337-4FDB-8590-1B3D0E21C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39FE0B0-283F-4103-BB99-25BC8D6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4BBB57-2B77-4FAD-BE78-CF62A299E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216316-52A7-4631-BF49-70DCCADAA9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633D398-86D8-4430-87C4-A0D518D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6752AA-9A66-4626-854C-9FDD2D07F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3C91F2-5F98-444D-9840-B7EF3D739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D29D6C-3E54-4ED2-A05F-EB92359B7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28F2ADC-7267-455D-82A7-8F988504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1E56D0-BA82-4CC2-9BED-8D2851029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B2DCDA-14F3-4D6A-993C-E6E4DB696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cc1aecd8c94db3" /><Relationship Type="http://schemas.openxmlformats.org/officeDocument/2006/relationships/slideLayout" Target="/ppt/slideLayouts/slideLayout1.xml" Id="Rf1e05b8b90ef4ddd" /><Relationship Type="http://schemas.openxmlformats.org/officeDocument/2006/relationships/slideLayout" Target="/ppt/slideLayouts/slideLayout2.xml" Id="Rd8595277dc584098" /><Relationship Type="http://schemas.openxmlformats.org/officeDocument/2006/relationships/slideLayout" Target="/ppt/slideLayouts/slideLayout3.xml" Id="Rc69423969d904742" /><Relationship Type="http://schemas.openxmlformats.org/officeDocument/2006/relationships/slideLayout" Target="/ppt/slideLayouts/slideLayout4.xml" Id="Rdba6774826ac437a" /><Relationship Type="http://schemas.openxmlformats.org/officeDocument/2006/relationships/slideLayout" Target="/ppt/slideLayouts/slideLayout5.xml" Id="R3f96a11bf8754cab" /><Relationship Type="http://schemas.openxmlformats.org/officeDocument/2006/relationships/slideLayout" Target="/ppt/slideLayouts/slideLayout6.xml" Id="R512865473acc49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05b8b90ef4ddd"/>
    <p:sldLayoutId xmlns:r="http://schemas.openxmlformats.org/officeDocument/2006/relationships" id="2147483650" r:id="Rd8595277dc584098"/>
    <p:sldLayoutId xmlns:r="http://schemas.openxmlformats.org/officeDocument/2006/relationships" id="2147483651" r:id="Rc69423969d904742"/>
    <p:sldLayoutId xmlns:r="http://schemas.openxmlformats.org/officeDocument/2006/relationships" id="2147483652" r:id="Rdba6774826ac437a"/>
    <p:sldLayoutId xmlns:r="http://schemas.openxmlformats.org/officeDocument/2006/relationships" id="2147483653" r:id="R3f96a11bf8754cab"/>
    <p:sldLayoutId xmlns:r="http://schemas.openxmlformats.org/officeDocument/2006/relationships" id="2147483654" r:id="R512865473acc49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d2f93594e4d58" /><Relationship Type="http://schemas.openxmlformats.org/officeDocument/2006/relationships/image" Target="/ppt/media/image.png" Id="R32f59076abfe4729" /><Relationship Type="http://schemas.openxmlformats.org/officeDocument/2006/relationships/image" Target="/ppt/media/image2.png" Id="R77af68b5f80c4042" /><Relationship Type="http://schemas.openxmlformats.org/officeDocument/2006/relationships/notesSlide" Target="/ppt/notesSlides/notesSlide1.xml" Id="R10aa01c9155f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16f2aa64c43a0" /><Relationship Type="http://schemas.openxmlformats.org/officeDocument/2006/relationships/image" Target="/ppt/media/image3.png" Id="Rea1010f1a5e7468b" /><Relationship Type="http://schemas.openxmlformats.org/officeDocument/2006/relationships/notesSlide" Target="/ppt/notesSlides/notesSlide2.xml" Id="R4e07424beff44d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0c625c2f943f1" /><Relationship Type="http://schemas.openxmlformats.org/officeDocument/2006/relationships/image" Target="/ppt/media/image4.png" Id="R6c59f0992c014401" /><Relationship Type="http://schemas.openxmlformats.org/officeDocument/2006/relationships/image" Target="/ppt/media/image.jpeg" Id="Ra9a9dfbd5bda4853" /><Relationship Type="http://schemas.openxmlformats.org/officeDocument/2006/relationships/notesSlide" Target="/ppt/notesSlides/notesSlide3.xml" Id="Rcdeb52bf22a5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4bc2e0a3c4c61" /><Relationship Type="http://schemas.openxmlformats.org/officeDocument/2006/relationships/image" Target="/ppt/media/image5.png" Id="R637e0536f2cd4ac8" /><Relationship Type="http://schemas.openxmlformats.org/officeDocument/2006/relationships/notesSlide" Target="/ppt/notesSlides/notesSlide4.xml" Id="R3c322b7713844a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3efd620954067" /><Relationship Type="http://schemas.openxmlformats.org/officeDocument/2006/relationships/image" Target="/ppt/media/image6.png" Id="Re1ba30ffb0ed4780" /><Relationship Type="http://schemas.openxmlformats.org/officeDocument/2006/relationships/image" Target="/ppt/media/image7.png" Id="R64bb122e2e9c44dc" /><Relationship Type="http://schemas.openxmlformats.org/officeDocument/2006/relationships/image" Target="/ppt/media/image8.png" Id="R99b0d26107524dfb" /><Relationship Type="http://schemas.openxmlformats.org/officeDocument/2006/relationships/notesSlide" Target="/ppt/notesSlides/notesSlide5.xml" Id="R271d723860104b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f565bc260455b" /><Relationship Type="http://schemas.openxmlformats.org/officeDocument/2006/relationships/image" Target="/ppt/media/image9.png" Id="R733ad5bc58f64a3b" /><Relationship Type="http://schemas.openxmlformats.org/officeDocument/2006/relationships/notesSlide" Target="/ppt/notesSlides/notesSlide6.xml" Id="R9b95f7735344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0a839770a4952" /><Relationship Type="http://schemas.openxmlformats.org/officeDocument/2006/relationships/image" Target="/ppt/media/image10.png" Id="R998a3be5ce694264" /><Relationship Type="http://schemas.openxmlformats.org/officeDocument/2006/relationships/notesSlide" Target="/ppt/notesSlides/notesSlide7.xml" Id="Rc3a8a73b9e5749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32dfe7b9143ea" /><Relationship Type="http://schemas.openxmlformats.org/officeDocument/2006/relationships/image" Target="/ppt/media/image11.png" Id="Ree4390a967ee4b65" /><Relationship Type="http://schemas.openxmlformats.org/officeDocument/2006/relationships/notesSlide" Target="/ppt/notesSlides/notesSlide8.xml" Id="R7bca279bbdf44d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819a658cd41a5" /><Relationship Type="http://schemas.openxmlformats.org/officeDocument/2006/relationships/image" Target="/ppt/media/image12.png" Id="R8f8e88e886b741f8" /><Relationship Type="http://schemas.openxmlformats.org/officeDocument/2006/relationships/notesSlide" Target="/ppt/notesSlides/notesSlide9.xml" Id="R529e5bcefb7d4e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91cac80e44e6c" /><Relationship Type="http://schemas.openxmlformats.org/officeDocument/2006/relationships/image" Target="/ppt/media/image13.png" Id="R68019e1cd8a44938" /><Relationship Type="http://schemas.openxmlformats.org/officeDocument/2006/relationships/notesSlide" Target="/ppt/notesSlides/notesSlide10.xml" Id="R08efba596221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530ba701f46ba" /><Relationship Type="http://schemas.openxmlformats.org/officeDocument/2006/relationships/image" Target="/ppt/media/image14.png" Id="Ra2f1b3c434394451" /><Relationship Type="http://schemas.openxmlformats.org/officeDocument/2006/relationships/notesSlide" Target="/ppt/notesSlides/notesSlide11.xml" Id="R5f33526c058146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0c99c64a94825" /><Relationship Type="http://schemas.openxmlformats.org/officeDocument/2006/relationships/image" Target="/ppt/media/image15.png" Id="R15c4dd063c3f4978" /><Relationship Type="http://schemas.openxmlformats.org/officeDocument/2006/relationships/image" Target="/ppt/media/image16.png" Id="R504933c5f4934692" /><Relationship Type="http://schemas.openxmlformats.org/officeDocument/2006/relationships/notesSlide" Target="/ppt/notesSlides/notesSlide12.xml" Id="R36dd2bb88cb644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0ff649f7c4479" /><Relationship Type="http://schemas.openxmlformats.org/officeDocument/2006/relationships/image" Target="/ppt/media/image17.png" Id="R8c761f6d1cb44c52" /><Relationship Type="http://schemas.openxmlformats.org/officeDocument/2006/relationships/image" Target="/ppt/media/image18.png" Id="Rb25e174089714b14" /><Relationship Type="http://schemas.openxmlformats.org/officeDocument/2006/relationships/notesSlide" Target="/ppt/notesSlides/notesSlide13.xml" Id="Rf42c80d3bda24d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061afbd6444b2" /><Relationship Type="http://schemas.openxmlformats.org/officeDocument/2006/relationships/image" Target="/ppt/media/image19.png" Id="Rfc4c3f56bd544517" /><Relationship Type="http://schemas.openxmlformats.org/officeDocument/2006/relationships/image" Target="/ppt/media/image20.png" Id="R6f4c0fa820084606" /><Relationship Type="http://schemas.openxmlformats.org/officeDocument/2006/relationships/notesSlide" Target="/ppt/notesSlides/notesSlide14.xml" Id="Rb8dc1d1e028742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4108f61464664" /><Relationship Type="http://schemas.openxmlformats.org/officeDocument/2006/relationships/image" Target="/ppt/media/image21.png" Id="R3f995d4bfc184a0c" /><Relationship Type="http://schemas.openxmlformats.org/officeDocument/2006/relationships/image" Target="/ppt/media/image22.png" Id="R690c33cab7484be6" /><Relationship Type="http://schemas.openxmlformats.org/officeDocument/2006/relationships/notesSlide" Target="/ppt/notesSlides/notesSlide15.xml" Id="Rd7321a1a4d7a4c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f5c14921c4c62" /><Relationship Type="http://schemas.openxmlformats.org/officeDocument/2006/relationships/image" Target="/ppt/media/image23.png" Id="R3556c4a282654fca" /><Relationship Type="http://schemas.openxmlformats.org/officeDocument/2006/relationships/notesSlide" Target="/ppt/notesSlides/notesSlide16.xml" Id="Rf6ed273b78504d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d03aeb90a4736" /><Relationship Type="http://schemas.openxmlformats.org/officeDocument/2006/relationships/image" Target="/ppt/media/image24.png" Id="Rb5d64a2262434273" /><Relationship Type="http://schemas.openxmlformats.org/officeDocument/2006/relationships/image" Target="/ppt/media/image25.png" Id="R51444347ac084624" /><Relationship Type="http://schemas.openxmlformats.org/officeDocument/2006/relationships/notesSlide" Target="/ppt/notesSlides/notesSlide17.xml" Id="R7e45d437de2040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873c296e44b3b" /><Relationship Type="http://schemas.openxmlformats.org/officeDocument/2006/relationships/image" Target="/ppt/media/image26.png" Id="R03259fd3b7694848" /><Relationship Type="http://schemas.openxmlformats.org/officeDocument/2006/relationships/image" Target="/ppt/media/image27.png" Id="R2064f25d9e5a4a01" /><Relationship Type="http://schemas.openxmlformats.org/officeDocument/2006/relationships/notesSlide" Target="/ppt/notesSlides/notesSlide18.xml" Id="Rd4a1e13c455d44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9f91747654a55" /><Relationship Type="http://schemas.openxmlformats.org/officeDocument/2006/relationships/image" Target="/ppt/media/image28.png" Id="R6df511350c604f97" /><Relationship Type="http://schemas.openxmlformats.org/officeDocument/2006/relationships/notesSlide" Target="/ppt/notesSlides/notesSlide19.xml" Id="R3eaa8ff4f9a346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5cccc0cdf4b93" /><Relationship Type="http://schemas.openxmlformats.org/officeDocument/2006/relationships/image" Target="/ppt/media/image29.png" Id="R8dff06cb3b6b497b" /><Relationship Type="http://schemas.openxmlformats.org/officeDocument/2006/relationships/notesSlide" Target="/ppt/notesSlides/notesSlide20.xml" Id="R589f7758b51a49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3838f6d5b4930" /><Relationship Type="http://schemas.openxmlformats.org/officeDocument/2006/relationships/image" Target="/ppt/media/image30.png" Id="R6f4ae7ea8ca14f16" /><Relationship Type="http://schemas.openxmlformats.org/officeDocument/2006/relationships/notesSlide" Target="/ppt/notesSlides/notesSlide21.xml" Id="R70d70a37c98941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24ab55f7a4a98" /><Relationship Type="http://schemas.openxmlformats.org/officeDocument/2006/relationships/image" Target="/ppt/media/image31.png" Id="R5c987acd94de4f35" /><Relationship Type="http://schemas.openxmlformats.org/officeDocument/2006/relationships/image" Target="/ppt/media/image32.png" Id="Rd5ab52a79aa04689" /><Relationship Type="http://schemas.openxmlformats.org/officeDocument/2006/relationships/notesSlide" Target="/ppt/notesSlides/notesSlide22.xml" Id="R61106d38c22b4f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1e68e74bf4c05" /><Relationship Type="http://schemas.openxmlformats.org/officeDocument/2006/relationships/image" Target="/ppt/media/image33.png" Id="R01ad29aafcb44be4" /><Relationship Type="http://schemas.openxmlformats.org/officeDocument/2006/relationships/image" Target="/ppt/media/image34.png" Id="R8d6b0f9026fd4bdd" /><Relationship Type="http://schemas.openxmlformats.org/officeDocument/2006/relationships/image" Target="/ppt/media/image35.png" Id="R6bfbdda03b954317" /><Relationship Type="http://schemas.openxmlformats.org/officeDocument/2006/relationships/notesSlide" Target="/ppt/notesSlides/notesSlide23.xml" Id="R7d6c648ff3bb4c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9076abfe4729"/>
          <a:stretch xmlns:a="http://schemas.openxmlformats.org/drawingml/2006/main"/>
        </p:blipFill>
        <p:spPr>
          <a:xfrm xmlns:a="http://schemas.openxmlformats.org/drawingml/2006/main">
            <a:off x="609600" y="405288"/>
            <a:ext cx="952500" cy="789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F48EF-C541-4AB5-9D04-99775057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81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Università Campus Bio-Medico di Roma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2D7C9-2F27-45C3-B3DC-01B26E0C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09625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Facoltà Dipartimentale di Ingegneria</a:t>
            </a:r>
          </a:p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 Magistrale in Ingegneria dei Sistemi Intelligenti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42B9C-F891-4E0A-A9AD-6E326DD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7334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Shor’s algorithm</a:t>
            </a:r>
          </a:p>
          <a:p xmlns:a="http://schemas.openxmlformats.org/drawingml/2006/main"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under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9A1EC-12DD-49BB-B82C-D1D7C02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7067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Machine-learning ablation,</a:t>
            </a:r>
          </a:p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quantum error correction</a:t>
            </a:r>
          </a:p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and approximate QFT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f68b5f80c4042"/>
          <a:stretch xmlns:a="http://schemas.openxmlformats.org/drawingml/2006/main"/>
        </p:blipFill>
        <p:spPr>
          <a:xfrm xmlns:a="http://schemas.openxmlformats.org/drawingml/2006/main">
            <a:off x="7829550" y="1990312"/>
            <a:ext cx="3695700" cy="34679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49A18-4070-4177-B7DF-7692A24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B7AF3-F65D-47FE-AD63-B30D3BE6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7E2E1-2F16-4949-80F2-901CB2C1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57825"/>
            <a:ext cx="628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Relatore  Prof. Paolo Soda</a:t>
            </a:r>
          </a:p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Correlatore  Ing. Floriano Caprio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08FE7-C760-4EA1-9A0B-58579754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</p:spTree>
    <p:extLst>
      <p:ext uri="{BB962C8B-B14F-4D97-AF65-F5344CB8AC3E}">
        <p14:creationId xmlns:p14="http://schemas.microsoft.com/office/powerpoint/2010/main" val="1277548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8B711-8751-4263-88A9-A6E7B3BF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010f1a5e7468b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21B19-9BA3-4172-A77A-1D31BC4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0CB09-CFAB-4AA0-A1E8-A5650E1C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Indice |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C1E98-4321-4D2F-9EBB-CF7F4B1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28775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Introduzione e obiettivi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63AE9-415C-4725-A831-2DA910FB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7FF1B-DABB-4B54-8C4E-6D77B6C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05100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Materiali e metodi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4CCA4-7F51-43D4-BC4D-8759CB6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90825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DF1A8-64B9-4ABC-BA64-551AF993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81425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0FC43-B6D1-49A6-9742-A7B000A8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671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3D6BC-D2B0-43C9-9E16-9B835415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57750"/>
            <a:ext cx="5000625" cy="904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Discussione e conclusioni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ACCEE-7D5E-49AE-B974-9EB44B6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43475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774539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060CE-ECD2-4A7A-9090-80F93902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 e il limite del rumore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9f0992c014401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F0015-1C9C-4BFF-AD0E-1F98D7E0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3B5B-7093-40F1-8B4A-4831C1C3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F5FD8-1939-4CC8-B7AF-FF8BB0B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RSA si fonda sulla difficoltà di fattorizzare numeri molto grandi.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98FDF-A936-4DBF-BEC7-908273BD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48250" cy="1628775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86DAE-54F5-4C63-8C22-F53A4F8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62225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Classico · GNFS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472CC-6B37-45F8-A851-218074E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4686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Costo sub-esponenziale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396F6-9FA2-4A80-8E1D-261913A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5048250" cy="1628775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8ABF2-68F4-4507-910D-675A2F52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Quantistico · Shor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F97FF-CB13-44FF-9438-62C2DC1F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71825"/>
            <a:ext cx="4686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Tempo polinomiale su un computer ideale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9dfbd5bda4853"/>
          <a:stretch xmlns:a="http://schemas.openxmlformats.org/drawingml/2006/main"/>
        </p:blipFill>
        <p:spPr>
          <a:xfrm xmlns:a="http://schemas.openxmlformats.org/drawingml/2006/main">
            <a:off x="937183" y="4305300"/>
            <a:ext cx="2621434" cy="18192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90D73-8FBD-42C1-B1B5-04BDF8AF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481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Errori, decoerenza e readout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F982F-3693-4FBB-A25C-5CD1285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24425"/>
            <a:ext cx="693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rumore compromette l’informazione</a:t>
            </a:r>
          </a:p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necessaria alla ricerca del periodo.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60FA3-5FF6-4688-AFC0-67D432E8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IBM Quantum System One</a:t>
            </a:r>
          </a:p>
        </p:txBody>
      </p:sp>
    </p:spTree>
    <p:extLst>
      <p:ext uri="{BB962C8B-B14F-4D97-AF65-F5344CB8AC3E}">
        <p14:creationId xmlns:p14="http://schemas.microsoft.com/office/powerpoint/2010/main" val="84822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E55B9-0BF3-4ED3-94B7-89985EB4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Obiettivi del lavoro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e0536f2cd4ac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E2B40-AB4D-4979-A415-E01B054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60A6F-4367-422B-AEF8-30EFFA8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34A3F-BEB0-47B2-BE56-FBB3CB1E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Studiare la sensibilità di Shor al rumore e valutare tre strategie.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37A4B-E62D-43EB-9D19-E457997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9552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77D03-6AAE-481E-97F2-580D13AD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9552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 e machine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B7239-FB1A-4B97-A268-4FAA69D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3845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Sfruttare gli esiti misurati e isolare il contributo del classificatore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C6132-88F9-48AB-8CBC-D7F2CEE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3377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8111B-EFD4-4929-B3C1-5C45623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3377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Correzione quantistica degli errori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6BC79-BC15-4FB5-97CA-39F448D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7670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Confrontare codici e decoder su circuiti di memoria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EFA4D-092A-455C-8BB9-A0D3EB76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7202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6CD67-FDC1-4122-AEFB-1701EC5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77202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968E9-87C9-425C-A65B-1573E27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1495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Ridurre le porte e verificare il successo finale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905EF-C67D-487C-AE2F-E1461E47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Campagne separate: la QEC non è integrata nell’intero algoritmo di Shor.</a:t>
            </a:r>
          </a:p>
        </p:txBody>
      </p:sp>
    </p:spTree>
    <p:extLst>
      <p:ext uri="{BB962C8B-B14F-4D97-AF65-F5344CB8AC3E}">
        <p14:creationId xmlns:p14="http://schemas.microsoft.com/office/powerpoint/2010/main" val="331867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4D783-5A40-46A4-989E-025D47FC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 e definizione del successo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a30ffb0ed4780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715EA-7A4B-4881-8814-B70BE239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22639-A137-48E5-A79A-76720CD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C36A4-B43F-4179-B151-A98BAA42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0C003-6F67-4CA1-9BDF-B8B5DD1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Scelta di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4F241-0050-4965-9406-9140A3E5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gcd(a, 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8B538-6849-4D47-A6C9-7B1ABE92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85902-8861-42EB-8EED-1284CCC2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57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1581F-AC19-445A-804F-89BD080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D1AFB-B51A-4EDE-A3E6-2F2E3A5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Ricerca di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C6F68-21A3-4131-9C36-6C162719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QPE e QFT inversa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6BE12-3E77-4264-BADE-4554DCE4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D4E40-35EF-481D-BEF5-49A98A95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57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A7A9C-94A8-49BE-8656-9F54766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45B66-AE3C-481E-9F9E-FC3AADC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Misura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711E8-E6B2-4186-8F88-9D45F40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Esito 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EEC19-F751-4C0C-9CC0-3312818D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E1E13-DD51-4F36-BC31-ED71663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57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1B49C-0050-4FD4-A616-017CB3F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4955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3FE6F-66F4-4251-8505-CC71542C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668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Verifica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F3BEB-B3CD-4BB2-9B19-D99584F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764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Frazioni continue e gcd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3FBD7-396E-4303-93EE-EB192ABC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21920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b122e2e9c44dc"/>
          <a:stretch xmlns:a="http://schemas.openxmlformats.org/drawingml/2006/main"/>
        </p:blipFill>
        <p:spPr>
          <a:xfrm xmlns:a="http://schemas.openxmlformats.org/drawingml/2006/main">
            <a:off x="673417" y="3171825"/>
            <a:ext cx="5720715" cy="1857375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0d26107524dfb"/>
          <a:stretch xmlns:a="http://schemas.openxmlformats.org/drawingml/2006/main"/>
        </p:blipFill>
        <p:spPr>
          <a:xfrm xmlns:a="http://schemas.openxmlformats.org/drawingml/2006/main">
            <a:off x="8331218" y="3143250"/>
            <a:ext cx="1977990" cy="19145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C6C8A-B939-4BEB-B88F-AFDE33B0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 = 15, a = 7: r = 4. Otto qubit di controllo e quattro di lavoro.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874FF-6556-4695-B2DD-08C8B2F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Successo = fattori non banali. Atteso ideale: 75%; riferimento uniforme: 63/256</a:t>
            </a:r>
          </a:p>
        </p:txBody>
      </p:sp>
    </p:spTree>
    <p:extLst>
      <p:ext uri="{BB962C8B-B14F-4D97-AF65-F5344CB8AC3E}">
        <p14:creationId xmlns:p14="http://schemas.microsoft.com/office/powerpoint/2010/main" val="1298584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Istanze, validazione e strumenti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ad5bc58f64a3b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3642A-39D7-436F-9CFC-7676A57C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4290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7BAFB-51F3-4B90-8C13-B49FD970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 · a = 7 · r =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F781E-93AE-4604-A42A-BFB97D2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81250"/>
            <a:ext cx="3067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Campagna principale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CX, profondità 412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303C5-C77D-4CD7-8589-35179D94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8CA64-5647-4279-A352-DBCAFAF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716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 · a = 2 · r =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1EBEE-3FEF-4FFB-A50C-33B92BE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3067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 e rumore: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prove esplorative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43701-3156-4C02-B64C-F7DE8F7D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81150"/>
            <a:ext cx="34290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F2A79-96B2-402D-9676-34666FE3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35 · a = 6 · r =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97D12-38D0-40E6-82B6-AE2CD9CC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3067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Controllo dell’aritmetica reversibile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7E5A2-28A4-4167-AA8E-522F16E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Validazione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81CB8-0217-4419-B2A1-6F17AAC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Operatori modulari, ripristino degli ausiliari e distribuzioni teoriche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60C3F-8703-4B2A-AC1D-C3D75FC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Qiskit/Aer · scikit-learn · Stim · PyMatching · ldpc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C6B38-1794-4BE5-936B-10259E5F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Versioni, parametri, seed e identificativi circuitali registrati. Simulazioni classiche.</a:t>
            </a:r>
          </a:p>
        </p:txBody>
      </p:sp>
    </p:spTree>
    <p:extLst>
      <p:ext uri="{BB962C8B-B14F-4D97-AF65-F5344CB8AC3E}">
        <p14:creationId xmlns:p14="http://schemas.microsoft.com/office/powerpoint/2010/main" val="1216408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74F74-901B-4C83-B86D-4AE5BCA2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Sensibilità agli errori di porta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a3be5ce694264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10F63-88AB-4C29-BB16-7AAD2206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CFC87-2DC0-44BC-B115-4BBFF5B6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CA17D-62C3-47B4-BFE6-E8291CD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343275" cy="1990725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9A4E5-DA97-4AD4-AB3E-5BFD4A13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Circuito compilato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7CEA2-690D-4B8E-9347-B8ADD429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2981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RZ, SX, X e CX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CX e 70 SX esposte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0205-4D0A-43AE-A336-26C5ED14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71750"/>
            <a:ext cx="39052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BA9D0-56E3-4FF5-BAEF-95DE79DE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00225"/>
            <a:ext cx="3343275" cy="1990725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0A439-7EE3-4498-96E7-42B1A112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90725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Errori di Pauli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07F25-183D-47C2-9CC3-3D692E61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0325"/>
            <a:ext cx="2981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Indipendenti dopo le porte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RZ virtuali escluse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81143-BE70-49AC-8638-0FC3FD86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9052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45A1A-EE5B-4E5A-9DA0-C1F6941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0225"/>
            <a:ext cx="2838450" cy="1990725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2CA57-DF3F-4DF0-A932-BDCC4172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907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Successo finale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4E10C-5FDE-4FF5-91D7-B45C59C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Recupero dei fattori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per singola misura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5D3FB-DB80-4C48-B4A4-4C6A179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333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787C6-DDD8-4004-9E19-56BA286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Valori di p_g tra 0 e 0,5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2882F-6CA3-403A-8EFE-273E6F4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05300"/>
            <a:ext cx="56864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20 × 4096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3E2AE-7987-4391-A8CA-617DD177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143500"/>
            <a:ext cx="5686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Repliche × shot per ogni valore di p_g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6956E-02B9-41DF-9FC7-CBF2426A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Modello uniforme e fenomenologico. p_g non è il fallimento logico p_L della QEC.</a:t>
            </a:r>
          </a:p>
        </p:txBody>
      </p:sp>
    </p:spTree>
    <p:extLst>
      <p:ext uri="{BB962C8B-B14F-4D97-AF65-F5344CB8AC3E}">
        <p14:creationId xmlns:p14="http://schemas.microsoft.com/office/powerpoint/2010/main" val="1451943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F5E73-50EB-4DE5-A1E1-7932B59E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 e ablazione del ML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390a967ee4b65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8C359-BEA8-4AFD-944F-9175CC4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4F752-5082-496F-BC77-8A8C1F3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5D492-ABDB-46BA-AE16-026C7410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Istogramma · 1024 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B2847-EFC1-4D02-B73B-9163FA7F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143250" cy="1552575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07F82-D486-4618-9019-4A9B6B8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289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DCFE9-33F7-45E1-A769-1CD6F8A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8525"/>
            <a:ext cx="2781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l’esito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frequente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D80C4-3A04-48D9-8600-1671313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3143250" cy="1552575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18673-DDE6-4B0E-80B1-2DEB783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289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CE012-A819-412F-A649-3EAB47BC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38525"/>
            <a:ext cx="2781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fino a quattro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esiti per frequenza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D58EB-1F29-489F-84AA-EE5A27A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38425"/>
            <a:ext cx="3143250" cy="1552575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CC7E4-D9E5-44BA-A967-3C00C77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289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Metodo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C1F09-0415-4CBC-9397-423247F2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38525"/>
            <a:ext cx="2781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classificatore abilita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 verifica TOP-4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0F861-41D6-4EE9-B337-234D929E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estrattore dei fattori, gestione dei pareggi e campioni appaiati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4CA97-488D-4622-BB3D-0F96D4BD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 contro TOP-4 senza filtro isola il valore aggiunto del classificatore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A24A2-8CD6-4D0C-8C4C-D0EB94BC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2000 istogrammi per scenario: split 60/20/20, test indipendente di 400. 30 repliche, massimo 50 iterazioni.</a:t>
            </a:r>
          </a:p>
        </p:txBody>
      </p:sp>
    </p:spTree>
    <p:extLst>
      <p:ext uri="{BB962C8B-B14F-4D97-AF65-F5344CB8AC3E}">
        <p14:creationId xmlns:p14="http://schemas.microsoft.com/office/powerpoint/2010/main" val="187774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534A0-8C5F-4857-89E7-07999893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codifica, sindrome e correzione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e88e886b741f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9942E-43A9-45C4-B624-584820A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A3992-1697-4A05-B5A6-BF57B6C4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78294-4563-4E63-8B56-F5647764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L’informazione di un qubit logico viene distribuita su più qubit fisici.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F9F3F-7116-480E-AED9-E7C4211A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5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Qubit logico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362CA-67EB-4E86-80F6-FBBCC1D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38475"/>
            <a:ext cx="581025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331CC-98D8-4563-B2D8-43DD6A4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6648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Più qubit fisici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64158-D9A8-46D0-BD60-54C64CA1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343275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179CA-AD4C-4BA5-A715-367613D2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767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1 · Sindrome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9B118-B060-4215-8BFA-A99F6CD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86350"/>
            <a:ext cx="2981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Segnala gli errori senza misurare lo stato logico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34FF2-747A-414C-96E3-60B4A6A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3905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BF58B-2E54-44C2-9A2A-EE142571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86250"/>
            <a:ext cx="3343275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5FC99-A703-4F45-B707-7CDAE19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2 · Decoder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ED5BA-6789-43FA-BFEE-218CC55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86350"/>
            <a:ext cx="2981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Interpreta la sindrome e sceglie la correzione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FF5D9-78B4-4BDD-B329-DE1C41F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53000"/>
            <a:ext cx="3905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5D994-46FF-4383-A649-4AF1B700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283845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B874E-1354-4482-9DC3-7FFC59EF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3 · Correzione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9EB68-9FF9-4B07-9B56-0F807789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86350"/>
            <a:ext cx="2476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Ripristina lo stato logico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8A598-255B-42D1-903E-5DB3C132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Metrica: probabilità di fallimento logico p_L. Valutazione su circuiti di memoria.</a:t>
            </a:r>
          </a:p>
        </p:txBody>
      </p:sp>
    </p:spTree>
    <p:extLst>
      <p:ext uri="{BB962C8B-B14F-4D97-AF65-F5344CB8AC3E}">
        <p14:creationId xmlns:p14="http://schemas.microsoft.com/office/powerpoint/2010/main" val="19566352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0FE10-7D08-45A5-9369-B8A8D922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code, decoder e Gross code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19e1cd8a4493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BB1C7-E1F5-4EAD-96B7-5E2DB8BF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F7CC-AA63-4989-8F76-D977A27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2E4C9-BB39-4768-A1B2-18244192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5286375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003BE-DB8A-4399-8840-03FD9DD0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4924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5F89-0FF5-4EB4-BA59-ACC9CA4B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28875"/>
            <a:ext cx="4924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Memorie a distanza d crescente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su operazioni e misure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Crosstalk in alcune 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409B5-A61E-4F89-AD54-5C9EDA42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28775"/>
            <a:ext cx="5286375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00CA6-33ED-4182-8866-CF9CC21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19275"/>
            <a:ext cx="4924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 · qLDPC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A12A4-1521-4159-B26C-A2BE5C9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924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 logici, 144 qubit di dato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Code-capacity: errori sui dati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Sindrome perfetta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3E351-A636-475D-8DAB-9B4D6F76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surface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9B132-A3A6-4943-9896-1ED7942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2863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 di riferimento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Rete autonoma e decoder ibrido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come ulteriore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89704-8A2A-4442-A7D6-C7B2EFF5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957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Gross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169C8-4EDE-4FA1-A0C4-AF14F251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24400"/>
            <a:ext cx="52863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Aggiornamenti paralleli o seriali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con patch surface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0AF76-6F62-4BCD-A0B3-87F7983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Stim campiona sindromi. Training, selezione e test separati. La QEC resta distinta da Shor.</a:t>
            </a:r>
          </a:p>
        </p:txBody>
      </p:sp>
    </p:spTree>
    <p:extLst>
      <p:ext uri="{BB962C8B-B14F-4D97-AF65-F5344CB8AC3E}">
        <p14:creationId xmlns:p14="http://schemas.microsoft.com/office/powerpoint/2010/main" val="384824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34D66-A19F-4F45-A910-9FC2198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AQFT: ridurre il costo del circuito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1b3c434394451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D945B-C75B-4179-BF6C-020587B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8CD84-FE44-4433-9B90-AFC6409E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02F1E-42B0-4215-A32B-407191E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057775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4D500-3518-41DE-B4F5-8EE1598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4695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piena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08B65-40AE-4F22-ACE4-85788137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14575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Rotazioni controllate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grande e piccolo angolo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08519-41A0-4A6A-981E-EE7016A5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33600"/>
            <a:ext cx="542925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3D295-FC5A-4B11-9247-935CD540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14475"/>
            <a:ext cx="5057775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AB232-6DB1-4560-BDA1-394CCD1D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04975"/>
            <a:ext cx="4695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BD92D-BC16-4B3C-BB50-513E87A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14575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Omette le rotazioni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piccolo angolo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92E19-B2BF-4423-8A89-6DA7F3B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Meno porte e profondità, al prezzo della precisione di fase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1608B-8A7B-493F-BC3F-E70EFEB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381375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6FBF2-BD39-44EA-A940-B35847E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86275"/>
            <a:ext cx="3019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CEE40-E2B0-4908-8DA0-2A430C6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95875"/>
            <a:ext cx="3019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inversa finale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8192 shot nel pilota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F0FCF-4420-4916-A2EB-08E9DA30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95775"/>
            <a:ext cx="3381375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E5384-2BEF-4D2D-A3D4-07F21947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86275"/>
            <a:ext cx="3019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7BE4E-8867-473A-B1DF-4C734149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095875"/>
            <a:ext cx="3019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modulari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256 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B0748-E621-4578-9075-26C6BC47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34290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A1833-4FB8-4B74-884C-2959D523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3067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1DE24-0151-4DC6-903A-42D747C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95875"/>
            <a:ext cx="3067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Registri da 6 a 10 qubit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Benchmark separati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8A054-845E-4F54-B8DC-2981275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FakeSherbrooke offline, senza T1/T2 aggiuntivi. Grado scelto in selection e verificato su dati indipendenti.</a:t>
            </a:r>
          </a:p>
        </p:txBody>
      </p:sp>
    </p:spTree>
    <p:extLst>
      <p:ext uri="{BB962C8B-B14F-4D97-AF65-F5344CB8AC3E}">
        <p14:creationId xmlns:p14="http://schemas.microsoft.com/office/powerpoint/2010/main" val="490796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82BE-7568-4FB4-B778-5A7052E7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Validazione e sensibilità di Shor al rumore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4dd063c3f497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2EB8E-9FDE-438D-AF6C-38E0FD3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783EE-F232-40C0-B3E7-031F6A8D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933c5f4934692"/>
          <a:stretch xmlns:a="http://schemas.openxmlformats.org/drawingml/2006/main"/>
        </p:blipFill>
        <p:spPr>
          <a:xfrm xmlns:a="http://schemas.openxmlformats.org/drawingml/2006/main">
            <a:off x="711806" y="1371600"/>
            <a:ext cx="6958389" cy="4105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603FF-05F2-4F40-B8B9-3DC8702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09725"/>
            <a:ext cx="3305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74,89%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831B9-EAF8-4F40-BE26-87795B4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47925"/>
            <a:ext cx="3305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senza rumore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Atteso: 75%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F4480-43E8-4C7A-BA5E-A533E7D9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05225"/>
            <a:ext cx="33051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56,5% a p_g = 1%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45,2% a p_g = 2%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29,5% a p_g = 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379FE-4771-4D73-8C47-6BBD271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Validazione ideale: distanza di variazione totale 1,38×10⁻⁹ (N = 21) e 2,50×10⁻¹³ (N = 35).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80CDB-EE66-43E3-A612-0B55A00F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plateau a circa 24,6% riflette la verifica classica, senza provare periodicità residua.</a:t>
            </a:r>
          </a:p>
        </p:txBody>
      </p:sp>
    </p:spTree>
    <p:extLst>
      <p:ext uri="{BB962C8B-B14F-4D97-AF65-F5344CB8AC3E}">
        <p14:creationId xmlns:p14="http://schemas.microsoft.com/office/powerpoint/2010/main" val="7715016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5F82B-CDE8-448E-B6D8-A3E05F2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Post-processing: il beneficio viene da TOP-4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61f6d1cb44c52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1F74C-BA89-458E-AB53-0F4F7EFF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41A47-49F1-4096-92F6-B4B9DFAA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e174089714b14"/>
          <a:stretch xmlns:a="http://schemas.openxmlformats.org/drawingml/2006/main"/>
        </p:blipFill>
        <p:spPr>
          <a:xfrm xmlns:a="http://schemas.openxmlformats.org/drawingml/2006/main">
            <a:off x="904484" y="1476375"/>
            <a:ext cx="6315858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F5463-337E-49AE-80CA-06E34701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628775"/>
            <a:ext cx="357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1,00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548CF-E898-4D0E-BA1B-8F970B90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66975"/>
            <a:ext cx="3571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Iterazioni medie con TOP-4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nei due scenari, 30/30 repliche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AA07C-8300-40A1-AF46-782A911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9550"/>
            <a:ext cx="3571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TOP-1: 1,37 / 1,50</a:t>
            </a:r>
          </a:p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M2: 1,50 / 1,37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A9E98-8402-43B7-97FD-2F8054C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SVM: F1 0,919 / 0,923; AUC 0,965 / 0,958. Capacità predittiva senza beneficio operativo.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C68A4-E2EE-4085-845B-47EDAAA6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M2: nessun vantaggio significativo su TOP-1. Prestazioni peggiori di TOP-4.</a:t>
            </a:r>
          </a:p>
        </p:txBody>
      </p:sp>
    </p:spTree>
    <p:extLst>
      <p:ext uri="{BB962C8B-B14F-4D97-AF65-F5344CB8AC3E}">
        <p14:creationId xmlns:p14="http://schemas.microsoft.com/office/powerpoint/2010/main" val="6271155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26051-CE9A-44FC-98B2-DC833117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la distanza aiuta sotto soglia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c3f56bd544517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D6DAB-35C4-44C3-BE25-5179AEC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78FCC-CAE1-457F-906A-2CA805A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c0fa820084606"/>
          <a:stretch xmlns:a="http://schemas.openxmlformats.org/drawingml/2006/main"/>
        </p:blipFill>
        <p:spPr>
          <a:xfrm xmlns:a="http://schemas.openxmlformats.org/drawingml/2006/main">
            <a:off x="609600" y="1559634"/>
            <a:ext cx="7667625" cy="35768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6B77-8485-4875-A49F-280A500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04975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0,86%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FCB9A-D13F-41D2-8F42-9C924946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43175"/>
            <a:ext cx="2838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Soglia stimata in base Z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0,81% in base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1B0D8-9DFE-4AEC-8A9E-A39E4B2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0025"/>
            <a:ext cx="2838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Surface code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circuit-level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8335A-8795-4816-9E39-083D9B02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Ripetizione: p_L = 3p² − 2p³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Steane: pendenza 1,94 e pseudo-soglia ≈ 0,08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81A39-D107-484D-8C5C-DA919F35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Sotto soglia più distanza riduce p_L. Sopra soglia l’ordine si inverte.</a:t>
            </a:r>
          </a:p>
        </p:txBody>
      </p:sp>
    </p:spTree>
    <p:extLst>
      <p:ext uri="{BB962C8B-B14F-4D97-AF65-F5344CB8AC3E}">
        <p14:creationId xmlns:p14="http://schemas.microsoft.com/office/powerpoint/2010/main" val="15815261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FDD2B-0B15-4559-A78F-7510806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Decoder ibrido: beneficio con crosstalk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95d4bfc184a0c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ED080-374B-49B1-8F03-8E6FD7F6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A908-0877-4618-A927-9F701AE6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c33cab7484be6"/>
          <a:stretch xmlns:a="http://schemas.openxmlformats.org/drawingml/2006/main"/>
        </p:blipFill>
        <p:spPr>
          <a:xfrm xmlns:a="http://schemas.openxmlformats.org/drawingml/2006/main">
            <a:off x="641778" y="1485900"/>
            <a:ext cx="6793644" cy="3924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ABF44-F325-4D36-BD1F-ABAF3859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38300"/>
            <a:ext cx="3562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−16,8%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B76D2-161E-4AC3-85EB-CBF789D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562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Riduzione relativa di p_L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d = 3, p = 0,003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crosstalk = 0,01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E56B1-67CD-4776-88F0-9542C55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35623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0,05829 → 0,04851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Test appaiato di McNemar: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beneficio significativo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4B8B0-E77A-4E91-A8A5-592AE207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La rete autonoma non supera MWPM con rumore nominale. Beneficio ridotto a d = 5, non significativo a d = 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5C313-4101-4A13-8229-69A60076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ML aiuta come correttore residuale. A d = 5, BP+OSD supera l’ibrido.</a:t>
            </a:r>
          </a:p>
        </p:txBody>
      </p:sp>
    </p:spTree>
    <p:extLst>
      <p:ext uri="{BB962C8B-B14F-4D97-AF65-F5344CB8AC3E}">
        <p14:creationId xmlns:p14="http://schemas.microsoft.com/office/powerpoint/2010/main" val="1922446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45B49-2B11-4DFB-98C7-25966E63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code: protezione e numero di qubit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6c4a282654fca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DA0D9-D748-4F9F-9C08-BE658E4E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FE9E0-BFDE-43C4-92FF-F134608A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9E607-563C-497F-860E-6DBFA220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esplorativo code-capacity, per gli stessi 12 qubit logici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F0DEE-202F-485B-B3A0-D616207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Gross code [[144,12,12]]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27DD4-4B0E-4130-8C7B-F81AD93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3719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3BDC3-932A-468B-ACC8-E12B823B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3719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52D88-B959-4EEF-9C81-0A68E432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71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12 patch surface code · d =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74EC8-EBA1-415A-931A-B03E2A92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97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2B570-3F8A-4D06-830F-256626AD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95700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CE696-3FB2-42DB-A135-F0CD85C2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DE5DE-DFF9-4E56-AB42-5BD84A6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migliore per p ≥ 0,75%. A p = 1%: fallimento 1,0×10⁻⁶ contro 1,6×10⁻⁶.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ACC26-75FB-4DAA-A0AD-6154F714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BP+OSD seriale riduce il fallimento di circa 100× rispetto all’aggiornamento parallelo.</a:t>
            </a:r>
          </a:p>
        </p:txBody>
      </p:sp>
    </p:spTree>
    <p:extLst>
      <p:ext uri="{BB962C8B-B14F-4D97-AF65-F5344CB8AC3E}">
        <p14:creationId xmlns:p14="http://schemas.microsoft.com/office/powerpoint/2010/main" val="498351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15D2C-BFF8-4F44-9B9C-E1B9D83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15: maggiore successo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64a2262434273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291F3-B2FD-49F3-B6D2-121D3BD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908A8-B2EF-405D-A77D-5756ADD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44347ac084624"/>
          <a:stretch xmlns:a="http://schemas.openxmlformats.org/drawingml/2006/main"/>
        </p:blipFill>
        <p:spPr>
          <a:xfrm xmlns:a="http://schemas.openxmlformats.org/drawingml/2006/main">
            <a:off x="609600" y="1547175"/>
            <a:ext cx="6238875" cy="374460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FD0C9-328E-4D63-A4D9-E371C130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9725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+14,87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5E1FC-DBD5-48E4-A049-9725391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479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Punti percentuali di successo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 dati di verifica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391400" y="3629025"/>
          <a:ext xmlns:a="http://schemas.openxmlformats.org/drawingml/2006/main" cx="4191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381125"/>
                <a:gridCol w="1381125"/>
              </a:tblGrid>
              <a:tr h="47386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QFT piena</a:t>
                      </a:r>
                    </a:p>
                  </a:txBody>
                  <a:tcPr marL="91440" marR="91440" marT="45720" marB="45720"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AQFT</a:t>
                      </a:r>
                    </a:p>
                  </a:txBody>
                  <a:tcPr marL="91440" marR="91440" marT="45720" marB="45720">
                    <a:solidFill>
                      <a:srgbClr val="175F99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Successo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47,92%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62,79%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Porte ECR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Profondità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1351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1141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5C649-2754-4787-9340-CF13E6F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IC Newcombe 95%: [12,73; 16,99] punti. Grado scelto su selection, verifica su dati indipendenti.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81458-516B-464A-8A55-982CD3E3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−22,9% porte ECR e −15,5% profondità. Istanza favorevole: r = 4.</a:t>
            </a:r>
          </a:p>
        </p:txBody>
      </p:sp>
    </p:spTree>
    <p:extLst>
      <p:ext uri="{BB962C8B-B14F-4D97-AF65-F5344CB8AC3E}">
        <p14:creationId xmlns:p14="http://schemas.microsoft.com/office/powerpoint/2010/main" val="1023936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950D4-0501-430A-8936-7BFBB1F0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21 e stima di fase isolata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59fd3b7694848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A505C-5C08-45FA-A1F6-C73084B8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3174E-75E8-40AF-96D7-483B615F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|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2A30B-8727-4538-B7FA-2E4F810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73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 · N =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F1157-CC26-47D4-8B08-89754F9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ECR: 49 661 → 23 178 (−53,3%)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ideale: 46,67% → 40,13%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FEAAF-49DD-4BA6-8BD2-40D29E9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73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Con rumore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06EA-5ED6-40EF-BC52-2B6FF036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Tre confronti: gli IC comprendono zero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128 shot di verifica per variante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40B28-FE13-43DA-8183-263C278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73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3F612-631C-4C47-ADDD-DF85F1D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9 differenze su 9 favorevoli all’AQFT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Fino a +12,55 punti percentuali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4f25d9e5a4a01"/>
          <a:stretch xmlns:a="http://schemas.openxmlformats.org/drawingml/2006/main"/>
        </p:blipFill>
        <p:spPr>
          <a:xfrm xmlns:a="http://schemas.openxmlformats.org/drawingml/2006/main">
            <a:off x="7086600" y="1946221"/>
            <a:ext cx="4486275" cy="312748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ECE00-32BB-4E05-9C63-79A39E7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10225"/>
            <a:ext cx="4486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QPE: IC individuali al 95%, senza correzione simultanea.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5C6CB-DFAC-4307-B8FB-C70907D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Su N = 21 il beneficio non è dimostrato. Il grado AQFT non è generalizzabile.</a:t>
            </a:r>
          </a:p>
        </p:txBody>
      </p:sp>
    </p:spTree>
    <p:extLst>
      <p:ext uri="{BB962C8B-B14F-4D97-AF65-F5344CB8AC3E}">
        <p14:creationId xmlns:p14="http://schemas.microsoft.com/office/powerpoint/2010/main" val="16923709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D1E8A-02FF-4FC3-B377-EB449D88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Discussione: tre livelli distinti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511350c604f97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D34B6-9F98-43C6-8229-35D63A98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9F130-B25F-425E-BC53-8CAB8B8E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FFD5B-704B-42F0-83CE-73D756F5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78DF8-DAA1-4305-A1D2-6B735292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2877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37479-CF8F-4FC1-82BA-D7552193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17170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 gli esiti senza modificare lo stato quantistico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9DB15-9776-486F-A569-8665950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AE9CD-B8B7-447A-9630-B496AE6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48000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QEC e decoder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6C439-D4A3-4F1D-9467-ABEBBE77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590925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Proteggono memorie separate: il risultato non misura un miglioramento di Shor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95646-1620-4E30-8B84-3C575124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857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7EE2F-6BF2-49C0-8CE8-7CC76E4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67225"/>
            <a:ext cx="908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22579-AA8C-4ED8-9A90-3B45CE2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1015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Riduce opportunità di errore. Il beneficio dipende dall’istanza e dal rumore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8C47D-B715-4787-A544-2E5732F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N = 15: r = 4, fasi esatte con due bit. N = 21: r = 6 e aritmetica più complessa.</a:t>
            </a:r>
          </a:p>
        </p:txBody>
      </p:sp>
    </p:spTree>
    <p:extLst>
      <p:ext uri="{BB962C8B-B14F-4D97-AF65-F5344CB8AC3E}">
        <p14:creationId xmlns:p14="http://schemas.microsoft.com/office/powerpoint/2010/main" val="3597224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4FC83-C70B-46CD-8C70-92D7C3D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f06cb3b6b497b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7C71E-845D-4B6E-BAC4-41119EE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0B45-22BD-40BF-B86A-74F4857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D045C-2318-472B-9B26-08CDB5EF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Il valore di una tecnica dipende</a:t>
            </a:r>
          </a:p>
          <a:p xmlns:a="http://schemas.openxmlformats.org/drawingml/2006/main"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dall’informazione che sfrutta</a:t>
            </a:r>
          </a:p>
          <a:p xmlns:a="http://schemas.openxmlformats.org/drawingml/2006/main"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e dal limite della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827F2-BF0F-408D-A12C-EB37A142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19C81-B692-4E09-A8B9-73A06DA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candidati aiutano. Il filtro ML studiato non aggiunge valore.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FEB0-271E-41AC-ABF5-0A3CB82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8B9E8-C068-4EF1-BCEF-CB0B083B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Soppressione sotto soglia. Decoder e codice determinano insieme il beneficio.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94268-C7E5-4B67-ACA4-BD4E74C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E9B32-9559-4C0A-91F4-34EFE5E0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Vantaggio dimostrato su N = 15, senza evidenza conclusiva su N = 21.</a:t>
            </a:r>
          </a:p>
        </p:txBody>
      </p:sp>
    </p:spTree>
    <p:extLst>
      <p:ext uri="{BB962C8B-B14F-4D97-AF65-F5344CB8AC3E}">
        <p14:creationId xmlns:p14="http://schemas.microsoft.com/office/powerpoint/2010/main" val="15404695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37C23-8EF6-4C17-A4F4-E71FFDA7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ae7ea8ca14f16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91AB4-A50E-4972-B4BC-A45D2FE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1C702-C5F3-4FAF-A2B8-E1EA38A9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6809C-4DF7-437C-890C-B6373A8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4857750" cy="3695700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4288">
            <a:solidFill>
              <a:srgbClr val="5084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5D6F7-BB18-443C-A940-C65D30D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D3E0F-7F73-4A21-9D50-356F712E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44958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Simulazioni su poche istanze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QEC su memorie separate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in code-capacity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Calibrazione hardware offline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Nessuno Shor fault-tolerant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CCE78-1995-4A6E-B503-C0FB8B2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859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Priorità: costo circuitale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7F75E-8090-4D8C-A3C0-14E197BC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33600"/>
            <a:ext cx="542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AQFT, aritmetica modulare</a:t>
            </a:r>
          </a:p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sintesi delle operazioni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09B3C-7ABF-488B-B403-FCA84D5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528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Verifica sulla metrica finale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31C1B-0262-481F-9574-1CCEAD5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00475"/>
            <a:ext cx="5429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Accuratezza della stima di fase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successo della fattorizzazione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48C9A-350D-48B4-AF3D-7F83C63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048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Integrare la fault tolerance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558C-B64F-48E3-8CDD-70082114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95925"/>
            <a:ext cx="5429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logici e operazioni protette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6611A-A935-4D91-8214-29048187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Ottimizzazione e QEC sono complementari. Nessuna modifica della complessità asintotica dimostrata.</a:t>
            </a:r>
          </a:p>
        </p:txBody>
      </p:sp>
    </p:spTree>
    <p:extLst>
      <p:ext uri="{BB962C8B-B14F-4D97-AF65-F5344CB8AC3E}">
        <p14:creationId xmlns:p14="http://schemas.microsoft.com/office/powerpoint/2010/main" val="1626746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B8C3-6EF2-4D5C-830F-D31C5791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581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Grazie</a:t>
            </a:r>
          </a:p>
          <a:p xmlns:a="http://schemas.openxmlformats.org/drawingml/2006/main"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 l’attenzione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87acd94de4f35"/>
          <a:stretch xmlns:a="http://schemas.openxmlformats.org/drawingml/2006/main"/>
        </p:blipFill>
        <p:spPr>
          <a:xfrm xmlns:a="http://schemas.openxmlformats.org/drawingml/2006/main">
            <a:off x="7810500" y="1753654"/>
            <a:ext cx="3743325" cy="351261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0F97C-7D70-493D-8ABF-F3E5206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681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BF28B-851A-43E0-9AB9-72CF4D3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Ingegneria dei Sistemi Intelligenti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b52a79aa04689"/>
          <a:stretch xmlns:a="http://schemas.openxmlformats.org/drawingml/2006/main"/>
        </p:blipFill>
        <p:spPr>
          <a:xfrm xmlns:a="http://schemas.openxmlformats.org/drawingml/2006/main">
            <a:off x="619125" y="515764"/>
            <a:ext cx="1019175" cy="8448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358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7473C-98C3-4905-BC89-FF955DB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Demo: Shor con e senza rumore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d29aafcb44be4"/>
          <a:stretch xmlns:a="http://schemas.openxmlformats.org/drawingml/2006/main"/>
        </p:blipFill>
        <p:spPr>
          <a:xfrm xmlns:a="http://schemas.openxmlformats.org/drawingml/2006/main">
            <a:off x="10896600" y="243116"/>
            <a:ext cx="838200" cy="6948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0567B-3EF8-41F1-B4D5-1D1BA6E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4B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C6DCB-F218-4FFA-9BCA-F0F3578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28675"/>
            <a:ext cx="3228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23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b0f9026fd4bdd"/>
          <a:stretch xmlns:a="http://schemas.openxmlformats.org/drawingml/2006/main"/>
        </p:blipFill>
        <p:spPr>
          <a:xfrm xmlns:a="http://schemas.openxmlformats.org/drawingml/2006/main">
            <a:off x="609600" y="1727799"/>
            <a:ext cx="6353175" cy="2192728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bdda03b954317"/>
          <a:stretch xmlns:a="http://schemas.openxmlformats.org/drawingml/2006/main"/>
        </p:blipFill>
        <p:spPr>
          <a:xfrm xmlns:a="http://schemas.openxmlformats.org/drawingml/2006/main">
            <a:off x="1646039" y="4467225"/>
            <a:ext cx="4280297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F0AD9-B6BA-48CA-A869-E02DAE17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743075"/>
            <a:ext cx="3990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Ideale e rumoroso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BC028-70A1-4967-A1DF-5BD89F71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66925"/>
            <a:ext cx="3990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circuito N = 15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Caso ideale e preset UC1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ECC05-2B25-4101-AC11-EFF93CF8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38475"/>
            <a:ext cx="3990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Dove entra il rumore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8CC6C-AE75-4833-B7A9-D3E84C4A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62325"/>
            <a:ext cx="3990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70 SX, 224 CX e 8 misure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302 RZ virtuali senza rumore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FB970-0AD9-4580-A251-A937746C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333875"/>
            <a:ext cx="3990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Demo illustrativa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15E0C-6521-4FC0-B62B-9BFA4FF1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657725"/>
            <a:ext cx="3990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Modello uniforme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Nessuna misura su hardware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E016D-F854-47AF-98CB-3C5616D1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shor-demo-6knp.onrender.com</a:t>
            </a:r>
          </a:p>
        </p:txBody>
      </p:sp>
    </p:spTree>
    <p:extLst>
      <p:ext uri="{BB962C8B-B14F-4D97-AF65-F5344CB8AC3E}">
        <p14:creationId xmlns:p14="http://schemas.microsoft.com/office/powerpoint/2010/main" val="1331920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2026-10-04T20:49:31.3070000Z</dcterms:created>
  <dcterms:modified xsi:type="dcterms:W3CDTF">2026-10-04T20:49:31.3070000Z</dcterms:modified>
</coreProperties>
</file>