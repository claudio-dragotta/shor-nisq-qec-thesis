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286" r:id="rId3"/>
    <p:sldId id="257" r:id="rId4"/>
    <p:sldId id="258" r:id="rId5"/>
    <p:sldId id="279" r:id="rId6"/>
    <p:sldId id="259" r:id="rId7"/>
    <p:sldId id="287" r:id="rId8"/>
    <p:sldId id="288" r:id="rId9"/>
    <p:sldId id="261" r:id="rId10"/>
    <p:sldId id="263" r:id="rId11"/>
    <p:sldId id="265" r:id="rId12"/>
    <p:sldId id="266" r:id="rId13"/>
    <p:sldId id="267" r:id="rId14"/>
    <p:sldId id="268" r:id="rId15"/>
    <p:sldId id="269" r:id="rId16"/>
    <p:sldId id="270" r:id="rId17"/>
    <p:sldId id="271" r:id="rId18"/>
    <p:sldId id="272" r:id="rId19"/>
    <p:sldId id="275" r:id="rId20"/>
    <p:sldId id="276" r:id="rId21"/>
    <p:sldId id="277" r:id="rId22"/>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423"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Buongiorno. Ringrazio il presidente e tutta la commissione per la parola. Sono Claudio Dragotta e vi presento la mia tesi, che ho svolto con il professor Soda e l'ingegner Caprio.</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Parto da un dato oggettivo. I computer quantistici lavorano sugli stati quantistici della materia, e questi stati sono fragilissimi: basta una minima perturbazione per alterarne il valore. Per questo un computer quantistico non è mai preciso al cento per cento: gli errori fanno parte della sua natura, e anche le macchine future dovranno conviverci.</a:t>
            </a:r>
          </a:p>
          <a:p>
            <a:r>
              <a:rPr lang="it-IT" sz="1400">
                <a:latin typeface="Arial" panose="020B0604020202020204" pitchFamily="34" charset="0"/>
              </a:rPr>
              <a:t>Lo scopo della mia tesi è stato quindi analizzare l'algoritmo di Shor proprio in queste condizioni, e capire quali strategie gli permettono di dare comunque risultati buoni, pur girando su un hardware imperfetto.</a:t>
            </a:r>
          </a:p>
          <a:p>
            <a:r>
              <a:rPr lang="it-IT" sz="1400">
                <a:latin typeface="Arial" panose="020B0604020202020204" pitchFamily="34" charset="0"/>
              </a:rPr>
              <a:t>Ho lavorato su tre strategie: il machine learning applicato ai risultati, la correzione quantistica degli errori, e la riduzione delle porte del circuito. Vi anticipo la conclusione: tutte e tre possono aiutare, ma ognuna solo in condizioni precise.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percorso è questo: il contesto e gli obiettivi, i metodi, i risultati e infine le conclusioni.</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Partiamo dal perché Shor è così importante. La sicurezza di RSA, che protegge buona parte delle nostre comunicazioni, si basa su un fatto: fattorizzare un numero molto grande è difficilissimo per un computer classico. Shor ha dimostrato che un computer quantistico ideale lo farebbe in tempo polinomiale, cioè enormemente più in fretta.</a:t>
            </a:r>
          </a:p>
          <a:p>
            <a:r>
              <a:rPr lang="it-IT" sz="1400">
                <a:latin typeface="Arial" panose="020B0604020202020204" pitchFamily="34" charset="0"/>
              </a:rPr>
              <a:t>Il punto è quella parola, ideale. Sulle macchine reali il rumore altera proprio l'informazione da cui Shor ricava la soluzione, quindi più rumore c'è, meno probabilità abbiamo di trovare i fattori.</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Vediamo come funziona, in modo rigoroso. Abbiamo N, il numero da fattorizzare, e scegliamo un parametro a, la base, che non deve avere divisori in comune con N. La funzione a alla x modulo N è periodica, e il compito del computer quantistico è trovarne il periodo, che chiamiamo r.</a:t>
            </a:r>
          </a:p>
          <a:p>
            <a:r>
              <a:rPr lang="it-IT" sz="1400">
                <a:latin typeface="Arial" panose="020B0604020202020204" pitchFamily="34" charset="0"/>
              </a:rPr>
              <a:t>Nel mio esempio N è 15 e a è 7: come vedete nel grafico, i valori si ripetono ogni quattro passi, quindi r è 4. Una volta noto r, un semplice calcolo classico ci dà un fattore, 3, e di conseguenza anche l'altro, 15 diviso 3, cioè 5.</a:t>
            </a:r>
          </a:p>
          <a:p>
            <a:r>
              <a:rPr lang="it-IT" sz="1400">
                <a:latin typeface="Arial" panose="020B0604020202020204" pitchFamily="34" charset="0"/>
              </a:rPr>
              <a:t>Il circuito usa 8 qubit di controllo, che stimano il periodo, e 4 qubit di lavoro: 12 qubit in tutto.</a:t>
            </a:r>
          </a:p>
          <a:p>
            <a:endParaRPr lang="it-IT" sz="1400">
              <a:latin typeface="Arial" panose="020B0604020202020204" pitchFamily="34" charset="0"/>
            </a:endParaRPr>
          </a:p>
          <a:p>
            <a:r>
              <a:rPr lang="it-IT" sz="1400">
                <a:latin typeface="Arial" panose="020B0604020202020204" pitchFamily="34" charset="0"/>
              </a:rPr>
              <a:t>▶ CAMBIA SLIDE</a:t>
            </a:r>
            <a:endParaRPr lang="en-US" sz="1400" dirty="0">
              <a:latin typeface="Arial" panose="020B06040202020202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6605729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Per difendersi dal rumore, la letteratura propone tre strade: ripulire i risultati dopo la misura, anche con il machine learning; proteggere i qubit con la correzione degli errori; oppure semplificare il circuito. Il limite comune è che raramente queste tecniche vengono confrontate con un riferimento adeguato, e quindi non si capisce quanto aiutino davvero.</a:t>
            </a:r>
          </a:p>
          <a:p>
            <a:r>
              <a:rPr lang="it-IT" sz="1400">
                <a:latin typeface="Arial" panose="020B0604020202020204" pitchFamily="34" charset="0"/>
              </a:rPr>
              <a:t>Da qui i miei tre obiettivi, ognuno con il suo riferimento: capire se il machine learning migliora davvero la lettura dei risultati; confrontare diversi codici di correzione degli errori; verificare se togliere porte al circuito migliora il risultato finale.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Questo schema riassume dove ho lavorato. In giallo c'è l'algoritmo di Shor, con i suoi passi: scelta di a, esponenziazione modulare, QFT inversa e misura. In viola ci sono i miei interventi.</a:t>
            </a:r>
          </a:p>
          <a:p>
            <a:r>
              <a:rPr lang="it-IT" sz="1400">
                <a:latin typeface="Arial" panose="020B0604020202020204" pitchFamily="34" charset="0"/>
              </a:rPr>
              <a:t>La QFT approssimata agisce sulla QFT inversa, per ridurre le porte. Il post-processing agisce dopo la misura, ed è lì che ho usato il machine learning. La correzione degli errori, invece, serve a proteggere i qubit durante il calcolo vero e proprio, cioè nell'esponenziazione e nella QFT. Preciso che questa parte l'ho studiata in esperimenti separati, non dentro il circuito di Shor.</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Prima di vedere i risultati, bisogna sapere come leggerli. Nel caso ideale Shor trova i fattori nel 75% dei casi.</a:t>
            </a:r>
          </a:p>
          <a:p>
            <a:r>
              <a:rPr lang="it-IT" sz="1400">
                <a:latin typeface="Arial" panose="020B0604020202020204" pitchFamily="34" charset="0"/>
              </a:rPr>
              <a:t>Ma c'è un secondo valore da tenere presente, il 24,61%: è la percentuale che otterremmo anche con risultati completamente casuali, perché la verifica finale accetta 63 esiti su 256, circa un quarto. Quindi un risultato vicino a questo valore non significa che Shor stia funzionando: tutto va letto tra questi due estremi.</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Ho lavorato su due casi. Il principale è N uguale a 15, con 12 qubit: 8 di controllo e 4 di lavoro. È il caso su cui ho fatto tutte le prove con rumore.</a:t>
            </a:r>
          </a:p>
          <a:p>
            <a:r>
              <a:rPr lang="it-IT" sz="1400">
                <a:latin typeface="Arial" panose="020B0604020202020204" pitchFamily="34" charset="0"/>
              </a:rPr>
              <a:t>Il secondo è N uguale a 21, che richiede 20 qubit: sempre 8 di controllo, 5 di lavoro, perché 21 si scrive con 5 bit, e 7 qubit ausiliari per i calcoli modulari. Su questo ho verificato il circuito senza rumore e fatto alcune prove con rumore sulla QFT approssimata.</a:t>
            </a:r>
          </a:p>
          <a:p>
            <a:r>
              <a:rPr lang="it-IT" sz="1400">
                <a:latin typeface="Arial" panose="020B0604020202020204" pitchFamily="34" charset="0"/>
              </a:rPr>
              <a:t>Tutto è stato simulato al calcolatore, con strumenti open source.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primo metodo agisce dopo la misura. Ogni esecuzione di Shor produce un istogramma di risultati, e il problema è scegliere quali verificare.</a:t>
            </a:r>
          </a:p>
          <a:p>
            <a:r>
              <a:rPr lang="it-IT" sz="1400">
                <a:latin typeface="Arial" panose="020B0604020202020204" pitchFamily="34" charset="0"/>
              </a:rPr>
              <a:t>TOP-1 verifica solo il risultato più frequente. TOP-4 verifica, uno alla volta, i quattro più frequenti, finché non trova i fattori. Il Metodo 2 aggiunge prima un classificatore di machine learning, che decide se vale la pena verificare.</a:t>
            </a:r>
          </a:p>
          <a:p>
            <a:r>
              <a:rPr lang="it-IT" sz="1400">
                <a:latin typeface="Arial" panose="020B0604020202020204" pitchFamily="34" charset="0"/>
              </a:rPr>
              <a:t>Il confronto decisivo è tra il Metodo 2 e TOP-4 senza classificatore: è l'unico modo per capire quanto conta davvero il machine learning.</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secondo metodo è la correzione quantistica degli errori. L'idea è usare più qubit fisici per proteggere un solo qubit logico: così, se un qubit sbaglia, l'errore si può individuare e correggere.</a:t>
            </a:r>
          </a:p>
          <a:p>
            <a:r>
              <a:rPr lang="it-IT" sz="1400">
                <a:latin typeface="Arial" panose="020B0604020202020204" pitchFamily="34" charset="0"/>
              </a:rPr>
              <a:t>Il codice di riferimento è il surface code, che però è molto oneroso: per proteggere 12 qubit logici servono circa 2000 qubit di dato. Per questo ho analizzato anche il Gross code proposto da IBM, che per gli stessi 12 qubit logici ne usa 144.</a:t>
            </a:r>
          </a:p>
          <a:p>
            <a:r>
              <a:rPr lang="it-IT" sz="1400">
                <a:latin typeface="Arial" panose="020B0604020202020204" pitchFamily="34" charset="0"/>
              </a:rPr>
              <a:t>Sul Gross code ho testato l'algoritmo di correzione: ho simulato gli errori come sequenze di 144 bit e verificato se il decoder li corregge. Non ho simulato lo stato di 144 qubit, che nessun computer è in grado di simulare.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terzo metodo nasce da un'osservazione semplice: gli errori vengono dalle porte, quindi più porte ha il circuito, più lo stato si altera. Ridurre le porte significa ridurre gli errori.</a:t>
            </a:r>
          </a:p>
          <a:p>
            <a:r>
              <a:rPr lang="it-IT" sz="1400">
                <a:latin typeface="Arial" panose="020B0604020202020204" pitchFamily="34" charset="0"/>
              </a:rPr>
              <a:t>Ho lavorato sulla trasformata di Fourier, la QFT, che è fatta di rotazioni sempre più piccole. In Shor la QFT serve a campionare il risultato: non serve un valore esatto, basta un valore abbastanza vicino perché il calcolo classico ritrovi il periodo. Per questo posso togliere le rotazioni più piccole; nel caso di N uguale a 15 è bastato tenere solo il primo livello.</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Passiamo ai risultati, partendo dal problema di base: quanto il rumore degrada Shor. Per simularlo, dopo ogni porta inserisco con una certa probabilità un operatore di Pauli casuale, cioè un'inversione del bit, della fase o di entrambi.</a:t>
            </a:r>
          </a:p>
          <a:p>
            <a:r>
              <a:rPr lang="it-IT" sz="1400">
                <a:latin typeface="Arial" panose="020B0604020202020204" pitchFamily="34" charset="0"/>
              </a:rPr>
              <a:t>Senza rumore il successo è del 74,89%, in linea con il 75% atteso. Ma basta l'1% di errore per porta per scendere al 56%, e con il 5% siamo sotto il 30%. Oltre il 10% la curva si appiattisce sul livello casuale: lì Shor, di fatto, non funziona più.</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primo risultato riguarda il machine learning. TOP-4 trova i fattori sempre al primo tentativo, cioè già dal primo istogramma. Il classificatore, pur essendo molto accurato, non migliora le cose, anzi fa peggio di TOP-4, perché a volte scarta proprio i risultati buoni.</a:t>
            </a:r>
          </a:p>
          <a:p>
            <a:r>
              <a:rPr lang="it-IT" sz="1400">
                <a:latin typeface="Arial" panose="020B0604020202020204" pitchFamily="34" charset="0"/>
              </a:rPr>
              <a:t>Quindi il vantaggio non viene dall'intelligenza artificiale, ma semplicemente dal provare più candidati.</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secondo risultato riguarda la correzione degli errori, e mostra un comportamento fondamentale. Nella zona verde, quando gli errori sono sotto una certa soglia, usare codici più grandi riduce gli errori. Nella zona rossa, sopra la soglia, succede il contrario: aggiungere qubit peggiora le cose. Ho stimato questa soglia tra lo 0,8 e lo 0,9% di errore.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Qui il machine learning trova invece un ruolo. Da solo non batte il decoder classico. Ma quando gli errori sono correlati tra qubit vicini, il cosiddetto crosstalk, un decoder ibrido, che corregge il decoder classico solo quando serve, riduce gli errori del 16,8% sul codice più piccolo. Sui codici più grandi questo vantaggio si riduce.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E il confronto tra i due codici: per proteggere 12 qubit logici il Gross code usa 144 qubit, il surface code circa 2000. Nel modello semplificato che ho usato, con un errore fisico dallo 0,75% in su, il Gross code protegge anche meglio. Anche qui il decoder è decisivo: scegliendo la versione giusta, gli errori scendono di circa cento volte.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terzo risultato è sulla QFT approssimata. Su N uguale a 15 funziona bene: togliendo le rotazioni più piccole, il successo passa dal 48 al 63%, con quasi il 23% di porte in meno.</a:t>
            </a:r>
          </a:p>
          <a:p>
            <a:r>
              <a:rPr lang="it-IT" sz="1400">
                <a:latin typeface="Arial" panose="020B0604020202020204" pitchFamily="34" charset="0"/>
              </a:rPr>
              <a:t>Va detto però che 15 è un caso favorevole. Su N uguale a 21 le porte si dimezzano, ma il vantaggio non è dimostrato: l'approssimazione va scelta caso per caso.</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Per concludere: una tecnica vale quanto l'informazione che riesce a sfruttare, e va sempre confrontata con un riferimento adeguato.</a:t>
            </a:r>
          </a:p>
          <a:p>
            <a:r>
              <a:rPr lang="it-IT" sz="1400">
                <a:latin typeface="Arial" panose="020B0604020202020204" pitchFamily="34" charset="0"/>
              </a:rPr>
              <a:t>Il post-processing aiuta grazie ai candidati in più, non grazie al machine learning; la correzione degli errori funziona solo sotto soglia; la QFT approssimata aiuta, ma non sempre.</a:t>
            </a:r>
          </a:p>
          <a:p>
            <a:r>
              <a:rPr lang="it-IT" sz="1400">
                <a:latin typeface="Arial" panose="020B0604020202020204" pitchFamily="34" charset="0"/>
              </a:rPr>
              <a:t>Il mio contributo è stato costruire e verificare i circuiti per N uguale a 15 e 21, progettare confronti corretti e rendere tutto riproducibile.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 limiti sono chiari: ho lavorato in simulazione, su pochi casi, e senza un'esecuzione completamente protetta dagli errori. Il passo successivo è ridurre ancora il costo dei circuiti e poi unire questa strada alla correzione degli errori.</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Vi ringrazio per l'attenzione. Sono a disposizione per le vostre domande.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F1858EE6-424E-4AB1-810E-A806DCA5570B}"/>
              </a:ext>
            </a:extLst>
          </p:cNvPr>
          <p:cNvSpPr>
            <a:spLocks noGrp="1"/>
          </p:cNvSpPr>
          <p:nvPr/>
        </p:nvSpPr>
        <p:spPr>
          <a:xfrm>
            <a:off x="5791200" y="22098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6514CB97-FAF0-4732-BC5E-17B6727A7832}"/>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Subtitle">
            <a:extLst>
              <a:ext uri="{FF2B5EF4-FFF2-40B4-BE49-F238E27FC236}">
                <a16:creationId xmlns:a16="http://schemas.microsoft.com/office/drawing/2014/main" id="{4CED97E8-227E-4885-98D6-50556E9F5B76}"/>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3" name="Accent rule">
            <a:extLst>
              <a:ext uri="{FF2B5EF4-FFF2-40B4-BE49-F238E27FC236}">
                <a16:creationId xmlns:a16="http://schemas.microsoft.com/office/drawing/2014/main" id="{A663DF4A-4087-4F6D-82DA-23E9FEC04352}"/>
              </a:ext>
            </a:extLst>
          </p:cNvPr>
          <p:cNvSpPr>
            <a:spLocks noGrp="1"/>
          </p:cNvSpPr>
          <p:nvPr/>
        </p:nvSpPr>
        <p:spPr>
          <a:xfrm>
            <a:off x="5791200" y="2476500"/>
            <a:ext cx="609600" cy="38100"/>
          </a:xfrm>
          <a:prstGeom prst="rect">
            <a:avLst/>
          </a:prstGeom>
          <a:solidFill>
            <a:schemeClr val="accent1"/>
          </a:solidFill>
          <a:ln>
            <a:noFill/>
            <a:prstDash val="solid"/>
          </a:ln>
        </p:spPr>
      </p:sp>
      <p:sp>
        <p:nvSpPr>
          <p:cNvPr id="2" name="Section title">
            <a:extLst>
              <a:ext uri="{FF2B5EF4-FFF2-40B4-BE49-F238E27FC236}">
                <a16:creationId xmlns:a16="http://schemas.microsoft.com/office/drawing/2014/main" id="{8B9A1AEB-1337-4FDB-8590-1B3D0E21C09B}"/>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A39FE0B0-283F-4103-BB99-25BC8D69CC94}"/>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304BBB57-2B77-4FAD-BE78-CF62A299E52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Body">
            <a:extLst>
              <a:ext uri="{FF2B5EF4-FFF2-40B4-BE49-F238E27FC236}">
                <a16:creationId xmlns:a16="http://schemas.microsoft.com/office/drawing/2014/main" id="{5F216316-52A7-4631-BF49-70DCCADAA9CA}"/>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5" name="Accent rule">
            <a:extLst>
              <a:ext uri="{FF2B5EF4-FFF2-40B4-BE49-F238E27FC236}">
                <a16:creationId xmlns:a16="http://schemas.microsoft.com/office/drawing/2014/main" id="{B633D398-86D8-4430-87C4-A0D518D99350}"/>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D36752AA-9A66-4626-854C-9FDD2D07F05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693C91F2-5F98-444D-9840-B7EF3D7398D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4" name="Right column">
            <a:extLst>
              <a:ext uri="{FF2B5EF4-FFF2-40B4-BE49-F238E27FC236}">
                <a16:creationId xmlns:a16="http://schemas.microsoft.com/office/drawing/2014/main" id="{0DD29D6C-3E54-4ED2-A05F-EB92359B7339}"/>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F28F2ADC-7267-455D-82A7-8F988504DFC1}"/>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AD1E56D0-BA82-4CC2-9BED-8D28510295F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2CB2DCDA-14F3-4D6A-993C-E6E4DB696497}"/>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1_Title and body">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562620"/>
            <a:ext cx="7874000" cy="377180"/>
          </a:xfrm>
          <a:prstGeom prst="rect">
            <a:avLst/>
          </a:prstGeom>
          <a:noFill/>
          <a:ln/>
        </p:spPr>
        <p:txBody>
          <a:bodyPr wrap="square" lIns="0" tIns="0" rIns="0" bIns="0" rtlCol="0" anchor="t"/>
          <a:lstStyle>
            <a:lvl1pPr marL="0" indent="0" algn="l">
              <a:lnSpc>
                <a:spcPct val="115000"/>
              </a:lnSpc>
              <a:buNone/>
              <a:defRPr lang="en-US" sz="2700" dirty="0">
                <a:solidFill>
                  <a:srgbClr val="125C97"/>
                </a:solidFill>
                <a:latin typeface="Arial" pitchFamily="34" charset="0"/>
                <a:ea typeface="Arial" pitchFamily="34" charset="-122"/>
                <a:cs typeface="Arial" pitchFamily="34" charset="-120"/>
              </a:defRPr>
            </a:lvl1pPr>
          </a:lstStyle>
          <a:p>
            <a:pPr marL="0" indent="0" algn="l">
              <a:lnSpc>
                <a:spcPct val="115000"/>
              </a:lnSpc>
              <a:buNone/>
            </a:pPr>
            <a:endParaRPr lang="en-US" sz="2700" dirty="0"/>
          </a:p>
        </p:txBody>
      </p:sp>
      <p:sp>
        <p:nvSpPr>
          <p:cNvPr id="3" name="Text Placeholder 2"/>
          <p:cNvSpPr>
            <a:spLocks noGrp="1"/>
          </p:cNvSpPr>
          <p:nvPr>
            <p:ph type="body" idx="101"/>
          </p:nvPr>
        </p:nvSpPr>
        <p:spPr>
          <a:xfrm>
            <a:off x="609600" y="1244600"/>
            <a:ext cx="10769600" cy="4800600"/>
          </a:xfrm>
          <a:prstGeom prst="rect">
            <a:avLst/>
          </a:prstGeom>
          <a:noFill/>
          <a:ln/>
        </p:spPr>
        <p:txBody>
          <a:bodyPr wrap="square" lIns="0" tIns="0" rIns="0" bIns="0" rtlCol="0" anchor="t"/>
          <a:lstStyle>
            <a:lvl1pPr marL="0" indent="0" algn="l">
              <a:lnSpc>
                <a:spcPct val="140000"/>
              </a:lnSpc>
              <a:buNone/>
              <a:defRPr lang="en-US" sz="1600" dirty="0">
                <a:solidFill>
                  <a:srgbClr val="125C97"/>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11777360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p:blipFill>
        <p:spPr>
          <a:xfrm>
            <a:off x="609600" y="405288"/>
            <a:ext cx="952500" cy="789624"/>
          </a:xfrm>
          <a:prstGeom prst="rect">
            <a:avLst/>
          </a:prstGeom>
        </p:spPr>
      </p:pic>
      <p:sp>
        <p:nvSpPr>
          <p:cNvPr id="2" name="Rectangle 1">
            <a:extLst>
              <a:ext uri="{FF2B5EF4-FFF2-40B4-BE49-F238E27FC236}">
                <a16:creationId xmlns:a16="http://schemas.microsoft.com/office/drawing/2014/main" id="{3C9F48EF-C541-4AB5-9D04-99775057D874}"/>
              </a:ext>
            </a:extLst>
          </p:cNvPr>
          <p:cNvSpPr>
            <a:spLocks noGrp="1"/>
          </p:cNvSpPr>
          <p:nvPr/>
        </p:nvSpPr>
        <p:spPr>
          <a:xfrm>
            <a:off x="1752600" y="438150"/>
            <a:ext cx="9239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Università Campus Bio-Medico di Roma</a:t>
            </a:r>
          </a:p>
        </p:txBody>
      </p:sp>
      <p:sp>
        <p:nvSpPr>
          <p:cNvPr id="3" name="Rectangle 2">
            <a:extLst>
              <a:ext uri="{FF2B5EF4-FFF2-40B4-BE49-F238E27FC236}">
                <a16:creationId xmlns:a16="http://schemas.microsoft.com/office/drawing/2014/main" id="{85D2D7C9-2F27-45C3-B3DC-01B26E0CA917}"/>
              </a:ext>
            </a:extLst>
          </p:cNvPr>
          <p:cNvSpPr>
            <a:spLocks noGrp="1"/>
          </p:cNvSpPr>
          <p:nvPr/>
        </p:nvSpPr>
        <p:spPr>
          <a:xfrm>
            <a:off x="1752600" y="809625"/>
            <a:ext cx="8858250" cy="647700"/>
          </a:xfrm>
          <a:prstGeom prst="rect">
            <a:avLst/>
          </a:prstGeom>
          <a:noFill/>
          <a:ln w="0">
            <a:noFill/>
          </a:ln>
        </p:spPr>
        <p:txBody>
          <a:bodyPr>
            <a:noAutofit/>
          </a:bodyPr>
          <a:lstStyle/>
          <a:p>
            <a:pPr>
              <a:defRPr sz="1575" b="0">
                <a:solidFill>
                  <a:srgbClr val="203344"/>
                </a:solidFill>
                <a:latin typeface="Arial"/>
                <a:ea typeface="Arial"/>
                <a:cs typeface="Arial"/>
              </a:defRPr>
            </a:pPr>
            <a:r>
              <a:rPr sz="1575" b="0">
                <a:solidFill>
                  <a:srgbClr val="203344"/>
                </a:solidFill>
                <a:latin typeface="Arial"/>
                <a:ea typeface="Arial"/>
                <a:cs typeface="Arial"/>
              </a:rPr>
              <a:t>Facoltà Dipartimentale di Ingegneria</a:t>
            </a:r>
          </a:p>
          <a:p>
            <a:pPr>
              <a:defRPr sz="1575" b="0">
                <a:solidFill>
                  <a:srgbClr val="203344"/>
                </a:solidFill>
                <a:latin typeface="Arial"/>
                <a:ea typeface="Arial"/>
                <a:cs typeface="Arial"/>
              </a:defRPr>
            </a:pPr>
            <a:r>
              <a:rPr sz="1575" b="0">
                <a:solidFill>
                  <a:srgbClr val="203344"/>
                </a:solidFill>
                <a:latin typeface="Arial"/>
                <a:ea typeface="Arial"/>
                <a:cs typeface="Arial"/>
              </a:rPr>
              <a:t>Laurea Magistrale in Ingegneria dei Sistemi Intelligenti</a:t>
            </a:r>
          </a:p>
        </p:txBody>
      </p:sp>
      <p:sp>
        <p:nvSpPr>
          <p:cNvPr id="4" name="Rectangle 3">
            <a:extLst>
              <a:ext uri="{FF2B5EF4-FFF2-40B4-BE49-F238E27FC236}">
                <a16:creationId xmlns:a16="http://schemas.microsoft.com/office/drawing/2014/main" id="{23642B9C-F891-4E0A-A9AD-6E326DDD4410}"/>
              </a:ext>
            </a:extLst>
          </p:cNvPr>
          <p:cNvSpPr>
            <a:spLocks noGrp="1"/>
          </p:cNvSpPr>
          <p:nvPr/>
        </p:nvSpPr>
        <p:spPr>
          <a:xfrm>
            <a:off x="609600" y="1990725"/>
            <a:ext cx="7334250" cy="1371600"/>
          </a:xfrm>
          <a:prstGeom prst="rect">
            <a:avLst/>
          </a:prstGeom>
          <a:noFill/>
          <a:ln w="0">
            <a:noFill/>
          </a:ln>
        </p:spPr>
        <p:txBody>
          <a:bodyPr>
            <a:noAutofit/>
          </a:bodyPr>
          <a:lstStyle/>
          <a:p>
            <a:pPr>
              <a:defRPr sz="4275" b="1">
                <a:solidFill>
                  <a:srgbClr val="003366"/>
                </a:solidFill>
                <a:latin typeface="Arial"/>
                <a:ea typeface="Arial"/>
                <a:cs typeface="Arial"/>
              </a:defRPr>
            </a:pPr>
            <a:r>
              <a:rPr sz="4275" b="1">
                <a:solidFill>
                  <a:srgbClr val="003366"/>
                </a:solidFill>
                <a:latin typeface="Arial"/>
                <a:ea typeface="Arial"/>
                <a:cs typeface="Arial"/>
              </a:rPr>
              <a:t>Shor’s algorithm</a:t>
            </a:r>
          </a:p>
          <a:p>
            <a:pPr>
              <a:defRPr sz="4275" b="1">
                <a:solidFill>
                  <a:srgbClr val="003366"/>
                </a:solidFill>
                <a:latin typeface="Arial"/>
                <a:ea typeface="Arial"/>
                <a:cs typeface="Arial"/>
              </a:defRPr>
            </a:pPr>
            <a:r>
              <a:rPr sz="4275" b="1">
                <a:solidFill>
                  <a:srgbClr val="003366"/>
                </a:solidFill>
                <a:latin typeface="Arial"/>
                <a:ea typeface="Arial"/>
                <a:cs typeface="Arial"/>
              </a:rPr>
              <a:t>under noise</a:t>
            </a:r>
          </a:p>
        </p:txBody>
      </p:sp>
      <p:sp>
        <p:nvSpPr>
          <p:cNvPr id="5" name="Rectangle 4">
            <a:extLst>
              <a:ext uri="{FF2B5EF4-FFF2-40B4-BE49-F238E27FC236}">
                <a16:creationId xmlns:a16="http://schemas.microsoft.com/office/drawing/2014/main" id="{F6A9A1EC-12DD-49BB-B82C-D1D7C02BC5F9}"/>
              </a:ext>
            </a:extLst>
          </p:cNvPr>
          <p:cNvSpPr>
            <a:spLocks noGrp="1"/>
          </p:cNvSpPr>
          <p:nvPr/>
        </p:nvSpPr>
        <p:spPr>
          <a:xfrm>
            <a:off x="609600" y="3581400"/>
            <a:ext cx="7067550" cy="1276350"/>
          </a:xfrm>
          <a:prstGeom prst="rect">
            <a:avLst/>
          </a:prstGeom>
          <a:noFill/>
          <a:ln w="0">
            <a:noFill/>
          </a:ln>
        </p:spPr>
        <p:txBody>
          <a:bodyPr>
            <a:noAutofit/>
          </a:bodyPr>
          <a:lstStyle/>
          <a:p>
            <a:pPr>
              <a:defRPr sz="2325" b="0">
                <a:solidFill>
                  <a:srgbClr val="203344"/>
                </a:solidFill>
                <a:latin typeface="Arial"/>
                <a:ea typeface="Arial"/>
                <a:cs typeface="Arial"/>
              </a:defRPr>
            </a:pPr>
            <a:r>
              <a:rPr sz="2325" b="0">
                <a:solidFill>
                  <a:srgbClr val="203344"/>
                </a:solidFill>
                <a:latin typeface="Arial"/>
                <a:ea typeface="Arial"/>
                <a:cs typeface="Arial"/>
              </a:rPr>
              <a:t>Machine-learning ablation,</a:t>
            </a:r>
          </a:p>
          <a:p>
            <a:pPr>
              <a:defRPr sz="2325" b="0">
                <a:solidFill>
                  <a:srgbClr val="203344"/>
                </a:solidFill>
                <a:latin typeface="Arial"/>
                <a:ea typeface="Arial"/>
                <a:cs typeface="Arial"/>
              </a:defRPr>
            </a:pPr>
            <a:r>
              <a:rPr sz="2325" b="0">
                <a:solidFill>
                  <a:srgbClr val="203344"/>
                </a:solidFill>
                <a:latin typeface="Arial"/>
                <a:ea typeface="Arial"/>
                <a:cs typeface="Arial"/>
              </a:rPr>
              <a:t>quantum error correction</a:t>
            </a:r>
          </a:p>
          <a:p>
            <a:pPr>
              <a:defRPr sz="2325" b="0">
                <a:solidFill>
                  <a:srgbClr val="203344"/>
                </a:solidFill>
                <a:latin typeface="Arial"/>
                <a:ea typeface="Arial"/>
                <a:cs typeface="Arial"/>
              </a:defRPr>
            </a:pPr>
            <a:r>
              <a:rPr sz="2325" b="0">
                <a:solidFill>
                  <a:srgbClr val="203344"/>
                </a:solidFill>
                <a:latin typeface="Arial"/>
                <a:ea typeface="Arial"/>
                <a:cs typeface="Arial"/>
              </a:rPr>
              <a:t>and approximate QFT</a:t>
            </a:r>
          </a:p>
        </p:txBody>
      </p:sp>
      <p:pic>
        <p:nvPicPr>
          <p:cNvPr id="16" name="Picture 15"/>
          <p:cNvPicPr>
            <a:picLocks noChangeAspect="1"/>
          </p:cNvPicPr>
          <p:nvPr/>
        </p:nvPicPr>
        <p:blipFill>
          <a:blip r:embed="rId4"/>
          <a:stretch/>
        </p:blipFill>
        <p:spPr>
          <a:xfrm>
            <a:off x="7829550" y="1990312"/>
            <a:ext cx="3695700" cy="3467927"/>
          </a:xfrm>
          <a:prstGeom prst="rect">
            <a:avLst/>
          </a:prstGeom>
        </p:spPr>
      </p:pic>
      <p:sp>
        <p:nvSpPr>
          <p:cNvPr id="7" name="Rectangle 6">
            <a:extLst>
              <a:ext uri="{FF2B5EF4-FFF2-40B4-BE49-F238E27FC236}">
                <a16:creationId xmlns:a16="http://schemas.microsoft.com/office/drawing/2014/main" id="{B3D49A18-4070-4177-B7DF-7692A24022DE}"/>
              </a:ext>
            </a:extLst>
          </p:cNvPr>
          <p:cNvSpPr>
            <a:spLocks noGrp="1"/>
          </p:cNvSpPr>
          <p:nvPr/>
        </p:nvSpPr>
        <p:spPr>
          <a:xfrm>
            <a:off x="609600" y="5457825"/>
            <a:ext cx="438150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Claudio Dragotta</a:t>
            </a:r>
          </a:p>
        </p:txBody>
      </p:sp>
      <p:sp>
        <p:nvSpPr>
          <p:cNvPr id="8" name="Rectangle 7">
            <a:extLst>
              <a:ext uri="{FF2B5EF4-FFF2-40B4-BE49-F238E27FC236}">
                <a16:creationId xmlns:a16="http://schemas.microsoft.com/office/drawing/2014/main" id="{F97B7AF3-F65D-47FE-AD63-B30D3BE685FA}"/>
              </a:ext>
            </a:extLst>
          </p:cNvPr>
          <p:cNvSpPr>
            <a:spLocks noGrp="1"/>
          </p:cNvSpPr>
          <p:nvPr/>
        </p:nvSpPr>
        <p:spPr>
          <a:xfrm>
            <a:off x="609600" y="5829300"/>
            <a:ext cx="3143250" cy="314325"/>
          </a:xfrm>
          <a:prstGeom prst="rect">
            <a:avLst/>
          </a:prstGeom>
          <a:noFill/>
          <a:ln w="0">
            <a:noFill/>
          </a:ln>
        </p:spPr>
        <p:txBody>
          <a:bodyPr>
            <a:noAutofit/>
          </a:bodyPr>
          <a:lstStyle/>
          <a:p>
            <a:pPr>
              <a:defRPr sz="1575" b="0">
                <a:solidFill>
                  <a:srgbClr val="203344"/>
                </a:solidFill>
                <a:latin typeface="Arial"/>
                <a:ea typeface="Arial"/>
                <a:cs typeface="Arial"/>
              </a:defRPr>
            </a:pPr>
            <a:r>
              <a:rPr sz="1575" b="0">
                <a:solidFill>
                  <a:srgbClr val="203344"/>
                </a:solidFill>
                <a:latin typeface="Arial"/>
                <a:ea typeface="Arial"/>
                <a:cs typeface="Arial"/>
              </a:rPr>
              <a:t>Laureando</a:t>
            </a:r>
          </a:p>
        </p:txBody>
      </p:sp>
      <p:sp>
        <p:nvSpPr>
          <p:cNvPr id="9" name="Rectangle 8">
            <a:extLst>
              <a:ext uri="{FF2B5EF4-FFF2-40B4-BE49-F238E27FC236}">
                <a16:creationId xmlns:a16="http://schemas.microsoft.com/office/drawing/2014/main" id="{B617E2E1-2F16-4949-80F2-901CB2C1A95D}"/>
              </a:ext>
            </a:extLst>
          </p:cNvPr>
          <p:cNvSpPr>
            <a:spLocks noGrp="1"/>
          </p:cNvSpPr>
          <p:nvPr/>
        </p:nvSpPr>
        <p:spPr>
          <a:xfrm>
            <a:off x="5172075" y="5457825"/>
            <a:ext cx="6286500" cy="733425"/>
          </a:xfrm>
          <a:prstGeom prst="rect">
            <a:avLst/>
          </a:prstGeom>
          <a:noFill/>
          <a:ln w="0">
            <a:noFill/>
          </a:ln>
        </p:spPr>
        <p:txBody>
          <a:bodyPr>
            <a:noAutofit/>
          </a:bodyPr>
          <a:lstStyle/>
          <a:p>
            <a:pPr>
              <a:defRPr sz="1725" b="0">
                <a:solidFill>
                  <a:srgbClr val="203344"/>
                </a:solidFill>
                <a:latin typeface="Arial"/>
                <a:ea typeface="Arial"/>
                <a:cs typeface="Arial"/>
              </a:defRPr>
            </a:pPr>
            <a:r>
              <a:rPr sz="1725" b="0">
                <a:solidFill>
                  <a:srgbClr val="203344"/>
                </a:solidFill>
                <a:latin typeface="Arial"/>
                <a:ea typeface="Arial"/>
                <a:cs typeface="Arial"/>
              </a:rPr>
              <a:t>Relatore  Prof. Paolo Soda</a:t>
            </a:r>
          </a:p>
          <a:p>
            <a:pPr>
              <a:defRPr sz="1725" b="0">
                <a:solidFill>
                  <a:srgbClr val="203344"/>
                </a:solidFill>
                <a:latin typeface="Arial"/>
                <a:ea typeface="Arial"/>
                <a:cs typeface="Arial"/>
              </a:defRPr>
            </a:pPr>
            <a:r>
              <a:rPr sz="1725" b="0">
                <a:solidFill>
                  <a:srgbClr val="203344"/>
                </a:solidFill>
                <a:latin typeface="Arial"/>
                <a:ea typeface="Arial"/>
                <a:cs typeface="Arial"/>
              </a:rPr>
              <a:t>Correlatore  Ing. Floriano Caprio</a:t>
            </a:r>
          </a:p>
        </p:txBody>
      </p:sp>
      <p:sp>
        <p:nvSpPr>
          <p:cNvPr id="10" name="Rectangle 9">
            <a:extLst>
              <a:ext uri="{FF2B5EF4-FFF2-40B4-BE49-F238E27FC236}">
                <a16:creationId xmlns:a16="http://schemas.microsoft.com/office/drawing/2014/main" id="{05208FE7-C760-4EA1-9A0B-58579754F642}"/>
              </a:ext>
            </a:extLst>
          </p:cNvPr>
          <p:cNvSpPr>
            <a:spLocks noGrp="1"/>
          </p:cNvSpPr>
          <p:nvPr/>
        </p:nvSpPr>
        <p:spPr>
          <a:xfrm>
            <a:off x="609600" y="6410325"/>
            <a:ext cx="5810250" cy="228600"/>
          </a:xfrm>
          <a:prstGeom prst="rect">
            <a:avLst/>
          </a:prstGeom>
          <a:noFill/>
          <a:ln w="0">
            <a:noFill/>
          </a:ln>
        </p:spPr>
        <p:txBody>
          <a:bodyPr>
            <a:noAutofit/>
          </a:bodyPr>
          <a:lstStyle/>
          <a:p>
            <a:pPr>
              <a:defRPr sz="1350" b="0">
                <a:solidFill>
                  <a:srgbClr val="647487"/>
                </a:solidFill>
                <a:latin typeface="Arial"/>
                <a:ea typeface="Arial"/>
                <a:cs typeface="Arial"/>
              </a:defRPr>
            </a:pPr>
            <a:r>
              <a:rPr sz="1350" b="0">
                <a:solidFill>
                  <a:srgbClr val="647487"/>
                </a:solidFill>
                <a:latin typeface="Arial"/>
                <a:ea typeface="Arial"/>
                <a:cs typeface="Arial"/>
              </a:rPr>
              <a:t>A.A. 2025/2026</a:t>
            </a:r>
          </a:p>
        </p:txBody>
      </p:sp>
    </p:spTree>
    <p:extLst>
      <p:ext uri="{BB962C8B-B14F-4D97-AF65-F5344CB8AC3E}">
        <p14:creationId xmlns:p14="http://schemas.microsoft.com/office/powerpoint/2010/main" val="1277548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La tesi in sintesi</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Sommario | 2</a:t>
            </a:r>
            <a:endParaRPr sz="120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F157E4D6-593B-F797-437E-0DB411060B6B}"/>
              </a:ext>
            </a:extLst>
          </p:cNvPr>
          <p:cNvSpPr txBox="1"/>
          <p:nvPr/>
        </p:nvSpPr>
        <p:spPr>
          <a:xfrm>
            <a:off x="609600" y="1320800"/>
            <a:ext cx="10972800" cy="369332"/>
          </a:xfrm>
          <a:prstGeom prst="rect">
            <a:avLst/>
          </a:prstGeom>
          <a:noFill/>
        </p:spPr>
        <p:txBody>
          <a:bodyPr vert="horz" wrap="square" rtlCol="0">
            <a:noAutofit/>
          </a:bodyPr>
          <a:lstStyle/>
          <a:p>
            <a:r>
              <a:rPr lang="it-IT" sz="2100">
                <a:solidFill>
                  <a:srgbClr val="203344"/>
                </a:solidFill>
                <a:latin typeface="Arial" panose="020B0604020202020204" pitchFamily="34" charset="0"/>
              </a:rPr>
              <a:t>Quanto il rumore degrada Shor, e che cosa serve davvero per contenerlo</a:t>
            </a:r>
            <a:endParaRPr lang="en-GB" sz="2100">
              <a:solidFill>
                <a:srgbClr val="203344"/>
              </a:solidFill>
              <a:latin typeface="Arial" panose="020B0604020202020204" pitchFamily="34" charset="0"/>
            </a:endParaRPr>
          </a:p>
        </p:txBody>
      </p:sp>
      <p:sp>
        <p:nvSpPr>
          <p:cNvPr id="20" name="Rectangle: Rounded Corners 19">
            <a:extLst>
              <a:ext uri="{FF2B5EF4-FFF2-40B4-BE49-F238E27FC236}">
                <a16:creationId xmlns:a16="http://schemas.microsoft.com/office/drawing/2014/main" id="{38666E43-9709-96E7-2343-4CD0DE161345}"/>
              </a:ext>
            </a:extLst>
          </p:cNvPr>
          <p:cNvSpPr/>
          <p:nvPr/>
        </p:nvSpPr>
        <p:spPr>
          <a:xfrm>
            <a:off x="609600" y="1905000"/>
            <a:ext cx="3429000" cy="3937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ED59C2EA-1B0E-4539-4F9E-DD553E4CBF9C}"/>
              </a:ext>
            </a:extLst>
          </p:cNvPr>
          <p:cNvSpPr/>
          <p:nvPr/>
        </p:nvSpPr>
        <p:spPr>
          <a:xfrm>
            <a:off x="812800" y="2108200"/>
            <a:ext cx="508000" cy="508000"/>
          </a:xfrm>
          <a:prstGeom prst="rect">
            <a:avLst/>
          </a:prstGeom>
          <a:solidFill>
            <a:srgbClr val="175F9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rgbClr val="FFFFFF"/>
                </a:solidFill>
                <a:latin typeface="Arial" panose="020B0604020202020204" pitchFamily="34" charset="0"/>
              </a:rPr>
              <a:t>1</a:t>
            </a:r>
          </a:p>
        </p:txBody>
      </p:sp>
      <p:sp>
        <p:nvSpPr>
          <p:cNvPr id="22" name="TextBox 21">
            <a:extLst>
              <a:ext uri="{FF2B5EF4-FFF2-40B4-BE49-F238E27FC236}">
                <a16:creationId xmlns:a16="http://schemas.microsoft.com/office/drawing/2014/main" id="{EC775805-E19D-BF97-56E7-7A6F48267843}"/>
              </a:ext>
            </a:extLst>
          </p:cNvPr>
          <p:cNvSpPr txBox="1"/>
          <p:nvPr/>
        </p:nvSpPr>
        <p:spPr>
          <a:xfrm>
            <a:off x="1422400" y="2159000"/>
            <a:ext cx="2476500" cy="369332"/>
          </a:xfrm>
          <a:prstGeom prst="rect">
            <a:avLst/>
          </a:prstGeom>
          <a:noFill/>
        </p:spPr>
        <p:txBody>
          <a:bodyPr vert="horz" wrap="square" rtlCol="0">
            <a:noAutofit/>
          </a:bodyPr>
          <a:lstStyle/>
          <a:p>
            <a:r>
              <a:rPr lang="en-GB" sz="2175" b="1">
                <a:solidFill>
                  <a:srgbClr val="003366"/>
                </a:solidFill>
                <a:latin typeface="Arial" panose="020B0604020202020204" pitchFamily="34" charset="0"/>
              </a:rPr>
              <a:t>Problema</a:t>
            </a:r>
          </a:p>
        </p:txBody>
      </p:sp>
      <p:sp>
        <p:nvSpPr>
          <p:cNvPr id="23" name="TextBox 22">
            <a:extLst>
              <a:ext uri="{FF2B5EF4-FFF2-40B4-BE49-F238E27FC236}">
                <a16:creationId xmlns:a16="http://schemas.microsoft.com/office/drawing/2014/main" id="{BD49DC3A-4222-7AA8-818D-DCCAFB52C39D}"/>
              </a:ext>
            </a:extLst>
          </p:cNvPr>
          <p:cNvSpPr txBox="1"/>
          <p:nvPr/>
        </p:nvSpPr>
        <p:spPr>
          <a:xfrm>
            <a:off x="762000" y="2794000"/>
            <a:ext cx="3124200" cy="369332"/>
          </a:xfrm>
          <a:prstGeom prst="rect">
            <a:avLst/>
          </a:prstGeom>
          <a:noFill/>
        </p:spPr>
        <p:txBody>
          <a:bodyPr vert="horz" wrap="square" rtlCol="0">
            <a:noAutofit/>
          </a:bodyPr>
          <a:lstStyle/>
          <a:p>
            <a:pPr>
              <a:spcAft>
                <a:spcPts val="800"/>
              </a:spcAft>
            </a:pPr>
            <a:r>
              <a:rPr lang="it-IT" sz="1725">
                <a:solidFill>
                  <a:srgbClr val="203344"/>
                </a:solidFill>
                <a:latin typeface="Arial" panose="020B0604020202020204" pitchFamily="34" charset="0"/>
              </a:rPr>
              <a:t>Il rumore distrugge l'informazione sul periodo r.</a:t>
            </a:r>
          </a:p>
          <a:p>
            <a:pPr>
              <a:spcAft>
                <a:spcPts val="800"/>
              </a:spcAft>
            </a:pPr>
            <a:r>
              <a:rPr lang="it-IT" sz="1725">
                <a:solidFill>
                  <a:srgbClr val="203344"/>
                </a:solidFill>
                <a:latin typeface="Arial" panose="020B0604020202020204" pitchFamily="34" charset="0"/>
              </a:rPr>
              <a:t>Con p_g = 5% il successo per misura scende dal 75% al 29,5%.</a:t>
            </a:r>
            <a:endParaRPr lang="en-GB" sz="1725">
              <a:solidFill>
                <a:srgbClr val="203344"/>
              </a:solidFill>
              <a:latin typeface="Arial" panose="020B0604020202020204" pitchFamily="34" charset="0"/>
            </a:endParaRPr>
          </a:p>
        </p:txBody>
      </p:sp>
      <p:sp>
        <p:nvSpPr>
          <p:cNvPr id="24" name="Rectangle: Rounded Corners 23">
            <a:extLst>
              <a:ext uri="{FF2B5EF4-FFF2-40B4-BE49-F238E27FC236}">
                <a16:creationId xmlns:a16="http://schemas.microsoft.com/office/drawing/2014/main" id="{555842E6-6C5D-B868-4612-2978F031FC3A}"/>
              </a:ext>
            </a:extLst>
          </p:cNvPr>
          <p:cNvSpPr/>
          <p:nvPr/>
        </p:nvSpPr>
        <p:spPr>
          <a:xfrm>
            <a:off x="4381500" y="1905000"/>
            <a:ext cx="3429000" cy="3937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24">
            <a:extLst>
              <a:ext uri="{FF2B5EF4-FFF2-40B4-BE49-F238E27FC236}">
                <a16:creationId xmlns:a16="http://schemas.microsoft.com/office/drawing/2014/main" id="{460D08D6-D801-4D22-47C5-343B22786BFD}"/>
              </a:ext>
            </a:extLst>
          </p:cNvPr>
          <p:cNvSpPr/>
          <p:nvPr/>
        </p:nvSpPr>
        <p:spPr>
          <a:xfrm>
            <a:off x="4584700" y="2108200"/>
            <a:ext cx="508000" cy="508000"/>
          </a:xfrm>
          <a:prstGeom prst="rect">
            <a:avLst/>
          </a:prstGeom>
          <a:solidFill>
            <a:srgbClr val="175F9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rgbClr val="FFFFFF"/>
                </a:solidFill>
                <a:latin typeface="Arial" panose="020B0604020202020204" pitchFamily="34" charset="0"/>
              </a:rPr>
              <a:t>2</a:t>
            </a:r>
          </a:p>
        </p:txBody>
      </p:sp>
      <p:sp>
        <p:nvSpPr>
          <p:cNvPr id="26" name="TextBox 25">
            <a:extLst>
              <a:ext uri="{FF2B5EF4-FFF2-40B4-BE49-F238E27FC236}">
                <a16:creationId xmlns:a16="http://schemas.microsoft.com/office/drawing/2014/main" id="{C4BD2BFF-53E9-C722-0C64-F7443124A63F}"/>
              </a:ext>
            </a:extLst>
          </p:cNvPr>
          <p:cNvSpPr txBox="1"/>
          <p:nvPr/>
        </p:nvSpPr>
        <p:spPr>
          <a:xfrm>
            <a:off x="5194300" y="2159000"/>
            <a:ext cx="2476500" cy="369332"/>
          </a:xfrm>
          <a:prstGeom prst="rect">
            <a:avLst/>
          </a:prstGeom>
          <a:noFill/>
        </p:spPr>
        <p:txBody>
          <a:bodyPr vert="horz" wrap="square" rtlCol="0">
            <a:noAutofit/>
          </a:bodyPr>
          <a:lstStyle/>
          <a:p>
            <a:r>
              <a:rPr lang="en-GB" sz="2175" b="1">
                <a:solidFill>
                  <a:srgbClr val="003366"/>
                </a:solidFill>
                <a:latin typeface="Arial" panose="020B0604020202020204" pitchFamily="34" charset="0"/>
              </a:rPr>
              <a:t>Approccio</a:t>
            </a:r>
          </a:p>
        </p:txBody>
      </p:sp>
      <p:sp>
        <p:nvSpPr>
          <p:cNvPr id="27" name="TextBox 26">
            <a:extLst>
              <a:ext uri="{FF2B5EF4-FFF2-40B4-BE49-F238E27FC236}">
                <a16:creationId xmlns:a16="http://schemas.microsoft.com/office/drawing/2014/main" id="{F33042A1-D440-C8AD-9BB5-A4BC2AD200EE}"/>
              </a:ext>
            </a:extLst>
          </p:cNvPr>
          <p:cNvSpPr txBox="1"/>
          <p:nvPr/>
        </p:nvSpPr>
        <p:spPr>
          <a:xfrm>
            <a:off x="4533900" y="2794000"/>
            <a:ext cx="3124200" cy="369332"/>
          </a:xfrm>
          <a:prstGeom prst="rect">
            <a:avLst/>
          </a:prstGeom>
          <a:noFill/>
        </p:spPr>
        <p:txBody>
          <a:bodyPr vert="horz" wrap="square" rtlCol="0">
            <a:noAutofit/>
          </a:bodyPr>
          <a:lstStyle/>
          <a:p>
            <a:pPr>
              <a:spcAft>
                <a:spcPts val="800"/>
              </a:spcAft>
            </a:pPr>
            <a:r>
              <a:rPr lang="it-IT" sz="1725">
                <a:solidFill>
                  <a:srgbClr val="203344"/>
                </a:solidFill>
                <a:latin typeface="Arial" panose="020B0604020202020204" pitchFamily="34" charset="0"/>
              </a:rPr>
              <a:t>Tre strategie su livelli diversi, ognuna contro la propria baseline:</a:t>
            </a:r>
          </a:p>
          <a:p>
            <a:pPr>
              <a:spcAft>
                <a:spcPts val="800"/>
              </a:spcAft>
            </a:pPr>
            <a:r>
              <a:rPr lang="it-IT" sz="1725">
                <a:solidFill>
                  <a:srgbClr val="203344"/>
                </a:solidFill>
                <a:latin typeface="Arial" panose="020B0604020202020204" pitchFamily="34" charset="0"/>
              </a:rPr>
              <a:t>post-processing con ablazione ML, QEC con surface code e Gross code, QFT approssimata.</a:t>
            </a:r>
            <a:endParaRPr lang="en-GB" sz="1725">
              <a:solidFill>
                <a:srgbClr val="203344"/>
              </a:solidFill>
              <a:latin typeface="Arial" panose="020B0604020202020204" pitchFamily="34" charset="0"/>
            </a:endParaRPr>
          </a:p>
        </p:txBody>
      </p:sp>
      <p:sp>
        <p:nvSpPr>
          <p:cNvPr id="28" name="Rectangle: Rounded Corners 27">
            <a:extLst>
              <a:ext uri="{FF2B5EF4-FFF2-40B4-BE49-F238E27FC236}">
                <a16:creationId xmlns:a16="http://schemas.microsoft.com/office/drawing/2014/main" id="{759CAFCD-0A2D-3C97-1661-0E8BF22ABE49}"/>
              </a:ext>
            </a:extLst>
          </p:cNvPr>
          <p:cNvSpPr/>
          <p:nvPr/>
        </p:nvSpPr>
        <p:spPr>
          <a:xfrm>
            <a:off x="8153400" y="1905000"/>
            <a:ext cx="3429000" cy="3937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a:extLst>
              <a:ext uri="{FF2B5EF4-FFF2-40B4-BE49-F238E27FC236}">
                <a16:creationId xmlns:a16="http://schemas.microsoft.com/office/drawing/2014/main" id="{D71E0B23-3FE9-DD0B-917B-2FA502E64EB1}"/>
              </a:ext>
            </a:extLst>
          </p:cNvPr>
          <p:cNvSpPr/>
          <p:nvPr/>
        </p:nvSpPr>
        <p:spPr>
          <a:xfrm>
            <a:off x="8356600" y="2108200"/>
            <a:ext cx="508000" cy="508000"/>
          </a:xfrm>
          <a:prstGeom prst="rect">
            <a:avLst/>
          </a:prstGeom>
          <a:solidFill>
            <a:srgbClr val="175F9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rgbClr val="FFFFFF"/>
                </a:solidFill>
                <a:latin typeface="Arial" panose="020B0604020202020204" pitchFamily="34" charset="0"/>
              </a:rPr>
              <a:t>3</a:t>
            </a:r>
          </a:p>
        </p:txBody>
      </p:sp>
      <p:sp>
        <p:nvSpPr>
          <p:cNvPr id="30" name="TextBox 29">
            <a:extLst>
              <a:ext uri="{FF2B5EF4-FFF2-40B4-BE49-F238E27FC236}">
                <a16:creationId xmlns:a16="http://schemas.microsoft.com/office/drawing/2014/main" id="{2E190D6B-F540-5CB0-9FE8-22255D524DB2}"/>
              </a:ext>
            </a:extLst>
          </p:cNvPr>
          <p:cNvSpPr txBox="1"/>
          <p:nvPr/>
        </p:nvSpPr>
        <p:spPr>
          <a:xfrm>
            <a:off x="8966200" y="2159000"/>
            <a:ext cx="2476500" cy="369332"/>
          </a:xfrm>
          <a:prstGeom prst="rect">
            <a:avLst/>
          </a:prstGeom>
          <a:noFill/>
        </p:spPr>
        <p:txBody>
          <a:bodyPr vert="horz" wrap="square" rtlCol="0">
            <a:noAutofit/>
          </a:bodyPr>
          <a:lstStyle/>
          <a:p>
            <a:r>
              <a:rPr lang="en-GB" sz="2175" b="1">
                <a:solidFill>
                  <a:srgbClr val="003366"/>
                </a:solidFill>
                <a:latin typeface="Arial" panose="020B0604020202020204" pitchFamily="34" charset="0"/>
              </a:rPr>
              <a:t>Evidenza</a:t>
            </a:r>
          </a:p>
        </p:txBody>
      </p:sp>
      <p:sp>
        <p:nvSpPr>
          <p:cNvPr id="31" name="TextBox 30">
            <a:extLst>
              <a:ext uri="{FF2B5EF4-FFF2-40B4-BE49-F238E27FC236}">
                <a16:creationId xmlns:a16="http://schemas.microsoft.com/office/drawing/2014/main" id="{C7069C3B-6869-DCBD-86CB-A65A3CECA421}"/>
              </a:ext>
            </a:extLst>
          </p:cNvPr>
          <p:cNvSpPr txBox="1"/>
          <p:nvPr/>
        </p:nvSpPr>
        <p:spPr>
          <a:xfrm>
            <a:off x="8305800" y="2794000"/>
            <a:ext cx="3124200" cy="369332"/>
          </a:xfrm>
          <a:prstGeom prst="rect">
            <a:avLst/>
          </a:prstGeom>
          <a:noFill/>
        </p:spPr>
        <p:txBody>
          <a:bodyPr vert="horz" wrap="square" rtlCol="0">
            <a:noAutofit/>
          </a:bodyPr>
          <a:lstStyle/>
          <a:p>
            <a:pPr>
              <a:spcAft>
                <a:spcPts val="800"/>
              </a:spcAft>
            </a:pPr>
            <a:r>
              <a:rPr lang="it-IT" sz="1725">
                <a:solidFill>
                  <a:srgbClr val="203344"/>
                </a:solidFill>
                <a:latin typeface="Arial" panose="020B0604020202020204" pitchFamily="34" charset="0"/>
              </a:rPr>
              <a:t>TOP-4: fattori alla prima iterazione; il ML non aiuta.</a:t>
            </a:r>
          </a:p>
          <a:p>
            <a:pPr>
              <a:spcAft>
                <a:spcPts val="800"/>
              </a:spcAft>
            </a:pPr>
            <a:r>
              <a:rPr lang="it-IT" sz="1725">
                <a:solidFill>
                  <a:srgbClr val="203344"/>
                </a:solidFill>
                <a:latin typeface="Arial" panose="020B0604020202020204" pitchFamily="34" charset="0"/>
              </a:rPr>
              <a:t>Decoder ibrido: −16,8% di p_L con crosstalk.</a:t>
            </a:r>
          </a:p>
          <a:p>
            <a:pPr>
              <a:spcAft>
                <a:spcPts val="800"/>
              </a:spcAft>
            </a:pPr>
            <a:r>
              <a:rPr lang="it-IT" sz="1725">
                <a:solidFill>
                  <a:srgbClr val="203344"/>
                </a:solidFill>
                <a:latin typeface="Arial" panose="020B0604020202020204" pitchFamily="34" charset="0"/>
              </a:rPr>
              <a:t>AQFT: +14,87 punti su N = 15.</a:t>
            </a:r>
            <a:endParaRPr lang="en-GB" sz="1725">
              <a:solidFill>
                <a:srgbClr val="203344"/>
              </a:solidFill>
              <a:latin typeface="Arial" panose="020B0604020202020204" pitchFamily="34" charset="0"/>
            </a:endParaRPr>
          </a:p>
        </p:txBody>
      </p:sp>
      <p:sp>
        <p:nvSpPr>
          <p:cNvPr id="32" name="TextBox 31">
            <a:extLst>
              <a:ext uri="{FF2B5EF4-FFF2-40B4-BE49-F238E27FC236}">
                <a16:creationId xmlns:a16="http://schemas.microsoft.com/office/drawing/2014/main" id="{74F896F5-2254-1EF9-F5BE-1DC859F7343F}"/>
              </a:ext>
            </a:extLst>
          </p:cNvPr>
          <p:cNvSpPr txBox="1"/>
          <p:nvPr/>
        </p:nvSpPr>
        <p:spPr>
          <a:xfrm>
            <a:off x="609600" y="60706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I benefici sono reali, ma dipendono dal livello d'intervento, dal rumore e dall'istanza.</a:t>
            </a:r>
            <a:endParaRPr lang="en-GB" sz="1950" b="1">
              <a:solidFill>
                <a:srgbClr val="175F99"/>
              </a:solidFill>
              <a:latin typeface="Arial" panose="020B0604020202020204" pitchFamily="34" charset="0"/>
            </a:endParaRPr>
          </a:p>
        </p:txBody>
      </p:sp>
    </p:spTree>
    <p:extLst>
      <p:ext uri="{BB962C8B-B14F-4D97-AF65-F5344CB8AC3E}">
        <p14:creationId xmlns:p14="http://schemas.microsoft.com/office/powerpoint/2010/main" val="902610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B58B711-8751-4263-88A9-A6E7B3BF2316}"/>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sz="2700" b="0">
                <a:solidFill>
                  <a:srgbClr val="003366"/>
                </a:solidFill>
                <a:latin typeface="Arial"/>
                <a:ea typeface="Arial"/>
                <a:cs typeface="Arial"/>
              </a:rPr>
              <a:t>Indice</a:t>
            </a:r>
          </a:p>
        </p:txBody>
      </p:sp>
      <p:pic>
        <p:nvPicPr>
          <p:cNvPr id="14" name="Picture 13"/>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89921B19-9BA3-4172-A77A-1D31BC4096FA}"/>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6720CB09-CFAB-4AA0-A1E8-A5650E1C7F0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Indice | 3</a:t>
            </a:r>
            <a:endParaRPr sz="1200" b="0">
              <a:solidFill>
                <a:srgbClr val="203344"/>
              </a:solidFill>
              <a:latin typeface="Arial"/>
              <a:ea typeface="Arial"/>
              <a:cs typeface="Arial"/>
            </a:endParaRPr>
          </a:p>
        </p:txBody>
      </p:sp>
      <p:sp>
        <p:nvSpPr>
          <p:cNvPr id="5" name="Arrow: Chevron 4">
            <a:extLst>
              <a:ext uri="{FF2B5EF4-FFF2-40B4-BE49-F238E27FC236}">
                <a16:creationId xmlns:a16="http://schemas.microsoft.com/office/drawing/2014/main" id="{EA7C1E98-4321-4D2F-9EBB-CF7F4B136913}"/>
              </a:ext>
            </a:extLst>
          </p:cNvPr>
          <p:cNvSpPr>
            <a:spLocks noGrp="1"/>
          </p:cNvSpPr>
          <p:nvPr/>
        </p:nvSpPr>
        <p:spPr>
          <a:xfrm>
            <a:off x="1476375" y="1628775"/>
            <a:ext cx="5000625" cy="904875"/>
          </a:xfrm>
          <a:prstGeom prst="chevron">
            <a:avLst/>
          </a:prstGeom>
          <a:solidFill>
            <a:srgbClr val="5084BF"/>
          </a:solidFill>
          <a:ln w="0">
            <a:noFill/>
          </a:ln>
        </p:spPr>
        <p:txBody>
          <a:bodyPr anchor="ctr"/>
          <a:lstStyle/>
          <a:p>
            <a:pPr algn="ctr">
              <a:defRPr sz="2175">
                <a:solidFill>
                  <a:srgbClr val="FFFFFF"/>
                </a:solidFill>
                <a:latin typeface="Arial"/>
                <a:ea typeface="Arial"/>
                <a:cs typeface="Arial"/>
              </a:defRPr>
            </a:pPr>
            <a:r>
              <a:rPr sz="2175">
                <a:solidFill>
                  <a:srgbClr val="FFFFFF"/>
                </a:solidFill>
                <a:latin typeface="Arial"/>
                <a:ea typeface="Arial"/>
                <a:cs typeface="Arial"/>
              </a:rPr>
              <a:t>Introduzione e obiettivi</a:t>
            </a:r>
          </a:p>
        </p:txBody>
      </p:sp>
      <p:sp>
        <p:nvSpPr>
          <p:cNvPr id="6" name="Rectangle 5">
            <a:extLst>
              <a:ext uri="{FF2B5EF4-FFF2-40B4-BE49-F238E27FC236}">
                <a16:creationId xmlns:a16="http://schemas.microsoft.com/office/drawing/2014/main" id="{62663AE9-415C-4725-A831-2DA910FBCA2C}"/>
              </a:ext>
            </a:extLst>
          </p:cNvPr>
          <p:cNvSpPr>
            <a:spLocks noGrp="1"/>
          </p:cNvSpPr>
          <p:nvPr/>
        </p:nvSpPr>
        <p:spPr>
          <a:xfrm>
            <a:off x="6715125" y="1714500"/>
            <a:ext cx="723900" cy="723900"/>
          </a:xfrm>
          <a:prstGeom prst="rect">
            <a:avLst/>
          </a:prstGeom>
          <a:solidFill>
            <a:srgbClr val="5084BF"/>
          </a:solidFill>
          <a:ln w="0">
            <a:noFill/>
          </a:ln>
        </p:spPr>
        <p:txBody>
          <a:bodyPr anchor="ctr">
            <a:noAutofit/>
          </a:bodyPr>
          <a:lstStyle/>
          <a:p>
            <a:pPr algn="ctr">
              <a:defRPr sz="2100" b="1">
                <a:solidFill>
                  <a:srgbClr val="FFFFFF"/>
                </a:solidFill>
                <a:latin typeface="Arial"/>
                <a:ea typeface="Arial"/>
                <a:cs typeface="Arial"/>
              </a:defRPr>
            </a:pPr>
            <a:r>
              <a:rPr lang="it-IT" sz="2100" b="1">
                <a:solidFill>
                  <a:srgbClr val="FFFFFF"/>
                </a:solidFill>
                <a:latin typeface="Arial"/>
                <a:ea typeface="Arial"/>
                <a:cs typeface="Arial"/>
              </a:rPr>
              <a:t>4</a:t>
            </a:r>
            <a:endParaRPr sz="2100" b="1">
              <a:solidFill>
                <a:srgbClr val="FFFFFF"/>
              </a:solidFill>
              <a:latin typeface="Arial"/>
              <a:ea typeface="Arial"/>
              <a:cs typeface="Arial"/>
            </a:endParaRPr>
          </a:p>
        </p:txBody>
      </p:sp>
      <p:sp>
        <p:nvSpPr>
          <p:cNvPr id="7" name="Arrow: Chevron 6">
            <a:extLst>
              <a:ext uri="{FF2B5EF4-FFF2-40B4-BE49-F238E27FC236}">
                <a16:creationId xmlns:a16="http://schemas.microsoft.com/office/drawing/2014/main" id="{AD67FF1B-DABB-4B54-8C4E-6D77B6C199AA}"/>
              </a:ext>
            </a:extLst>
          </p:cNvPr>
          <p:cNvSpPr>
            <a:spLocks noGrp="1"/>
          </p:cNvSpPr>
          <p:nvPr/>
        </p:nvSpPr>
        <p:spPr>
          <a:xfrm>
            <a:off x="2743200" y="2705100"/>
            <a:ext cx="5000625" cy="904875"/>
          </a:xfrm>
          <a:prstGeom prst="chevron">
            <a:avLst/>
          </a:prstGeom>
          <a:solidFill>
            <a:srgbClr val="175F99"/>
          </a:solidFill>
          <a:ln w="0">
            <a:noFill/>
          </a:ln>
        </p:spPr>
        <p:txBody>
          <a:bodyPr anchor="ctr"/>
          <a:lstStyle/>
          <a:p>
            <a:pPr algn="ctr">
              <a:defRPr sz="2175">
                <a:solidFill>
                  <a:srgbClr val="FFFFFF"/>
                </a:solidFill>
                <a:latin typeface="Arial"/>
                <a:ea typeface="Arial"/>
                <a:cs typeface="Arial"/>
              </a:defRPr>
            </a:pPr>
            <a:r>
              <a:rPr sz="2175">
                <a:solidFill>
                  <a:srgbClr val="FFFFFF"/>
                </a:solidFill>
                <a:latin typeface="Arial"/>
                <a:ea typeface="Arial"/>
                <a:cs typeface="Arial"/>
              </a:rPr>
              <a:t>Materiali e metodi</a:t>
            </a:r>
          </a:p>
        </p:txBody>
      </p:sp>
      <p:sp>
        <p:nvSpPr>
          <p:cNvPr id="8" name="Rectangle 7">
            <a:extLst>
              <a:ext uri="{FF2B5EF4-FFF2-40B4-BE49-F238E27FC236}">
                <a16:creationId xmlns:a16="http://schemas.microsoft.com/office/drawing/2014/main" id="{35F4CCA4-7F51-43D4-BC4D-8759CB634639}"/>
              </a:ext>
            </a:extLst>
          </p:cNvPr>
          <p:cNvSpPr>
            <a:spLocks noGrp="1"/>
          </p:cNvSpPr>
          <p:nvPr/>
        </p:nvSpPr>
        <p:spPr>
          <a:xfrm>
            <a:off x="7981950" y="2790825"/>
            <a:ext cx="723900" cy="723900"/>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lang="it-IT" sz="2100" b="1">
                <a:solidFill>
                  <a:srgbClr val="FFFFFF"/>
                </a:solidFill>
                <a:latin typeface="Arial"/>
                <a:ea typeface="Arial"/>
                <a:cs typeface="Arial"/>
              </a:rPr>
              <a:t>7</a:t>
            </a:r>
            <a:endParaRPr sz="2100" b="1">
              <a:solidFill>
                <a:srgbClr val="FFFFFF"/>
              </a:solidFill>
              <a:latin typeface="Arial"/>
              <a:ea typeface="Arial"/>
              <a:cs typeface="Arial"/>
            </a:endParaRPr>
          </a:p>
        </p:txBody>
      </p:sp>
      <p:sp>
        <p:nvSpPr>
          <p:cNvPr id="9" name="Arrow: Chevron 8">
            <a:extLst>
              <a:ext uri="{FF2B5EF4-FFF2-40B4-BE49-F238E27FC236}">
                <a16:creationId xmlns:a16="http://schemas.microsoft.com/office/drawing/2014/main" id="{63BDF1A8-64B9-4ABC-BA64-551AF993D375}"/>
              </a:ext>
            </a:extLst>
          </p:cNvPr>
          <p:cNvSpPr>
            <a:spLocks noGrp="1"/>
          </p:cNvSpPr>
          <p:nvPr/>
        </p:nvSpPr>
        <p:spPr>
          <a:xfrm>
            <a:off x="4010025" y="3781425"/>
            <a:ext cx="5000625" cy="904875"/>
          </a:xfrm>
          <a:prstGeom prst="chevron">
            <a:avLst/>
          </a:prstGeom>
          <a:solidFill>
            <a:srgbClr val="5084BF"/>
          </a:solidFill>
          <a:ln w="0">
            <a:noFill/>
          </a:ln>
        </p:spPr>
        <p:txBody>
          <a:bodyPr anchor="ctr"/>
          <a:lstStyle/>
          <a:p>
            <a:pPr algn="ctr">
              <a:defRPr sz="2175">
                <a:solidFill>
                  <a:srgbClr val="FFFFFF"/>
                </a:solidFill>
                <a:latin typeface="Arial"/>
                <a:ea typeface="Arial"/>
                <a:cs typeface="Arial"/>
              </a:defRPr>
            </a:pPr>
            <a:r>
              <a:rPr sz="2175">
                <a:solidFill>
                  <a:srgbClr val="FFFFFF"/>
                </a:solidFill>
                <a:latin typeface="Arial"/>
                <a:ea typeface="Arial"/>
                <a:cs typeface="Arial"/>
              </a:rPr>
              <a:t>Risultati</a:t>
            </a:r>
          </a:p>
        </p:txBody>
      </p:sp>
      <p:sp>
        <p:nvSpPr>
          <p:cNvPr id="10" name="Rectangle 9">
            <a:extLst>
              <a:ext uri="{FF2B5EF4-FFF2-40B4-BE49-F238E27FC236}">
                <a16:creationId xmlns:a16="http://schemas.microsoft.com/office/drawing/2014/main" id="{D320FC43-B6D1-49A6-9742-A7B000A86105}"/>
              </a:ext>
            </a:extLst>
          </p:cNvPr>
          <p:cNvSpPr>
            <a:spLocks noGrp="1"/>
          </p:cNvSpPr>
          <p:nvPr/>
        </p:nvSpPr>
        <p:spPr>
          <a:xfrm>
            <a:off x="9248775" y="3867150"/>
            <a:ext cx="723900" cy="723900"/>
          </a:xfrm>
          <a:prstGeom prst="rect">
            <a:avLst/>
          </a:prstGeom>
          <a:solidFill>
            <a:srgbClr val="5084BF"/>
          </a:solidFill>
          <a:ln w="0">
            <a:noFill/>
          </a:ln>
        </p:spPr>
        <p:txBody>
          <a:bodyPr anchor="ctr">
            <a:noAutofit/>
          </a:bodyPr>
          <a:lstStyle/>
          <a:p>
            <a:pPr algn="ctr">
              <a:defRPr sz="2100" b="1">
                <a:solidFill>
                  <a:srgbClr val="FFFFFF"/>
                </a:solidFill>
                <a:latin typeface="Arial"/>
                <a:ea typeface="Arial"/>
                <a:cs typeface="Arial"/>
              </a:defRPr>
            </a:pPr>
            <a:r>
              <a:rPr lang="it-IT" sz="2100" b="1">
                <a:solidFill>
                  <a:srgbClr val="FFFFFF"/>
                </a:solidFill>
                <a:latin typeface="Arial"/>
                <a:ea typeface="Arial"/>
                <a:cs typeface="Arial"/>
              </a:rPr>
              <a:t>13</a:t>
            </a:r>
            <a:endParaRPr sz="2100" b="1">
              <a:solidFill>
                <a:srgbClr val="FFFFFF"/>
              </a:solidFill>
              <a:latin typeface="Arial"/>
              <a:ea typeface="Arial"/>
              <a:cs typeface="Arial"/>
            </a:endParaRPr>
          </a:p>
        </p:txBody>
      </p:sp>
      <p:sp>
        <p:nvSpPr>
          <p:cNvPr id="11" name="Arrow: Chevron 10">
            <a:extLst>
              <a:ext uri="{FF2B5EF4-FFF2-40B4-BE49-F238E27FC236}">
                <a16:creationId xmlns:a16="http://schemas.microsoft.com/office/drawing/2014/main" id="{9923D6BC-D2B0-43C9-9E16-9B835415FC54}"/>
              </a:ext>
            </a:extLst>
          </p:cNvPr>
          <p:cNvSpPr>
            <a:spLocks noGrp="1"/>
          </p:cNvSpPr>
          <p:nvPr/>
        </p:nvSpPr>
        <p:spPr>
          <a:xfrm>
            <a:off x="5276850" y="4857750"/>
            <a:ext cx="5000625" cy="904875"/>
          </a:xfrm>
          <a:prstGeom prst="chevron">
            <a:avLst/>
          </a:prstGeom>
          <a:solidFill>
            <a:srgbClr val="175F99"/>
          </a:solidFill>
          <a:ln w="0">
            <a:noFill/>
          </a:ln>
        </p:spPr>
        <p:txBody>
          <a:bodyPr anchor="ctr"/>
          <a:lstStyle/>
          <a:p>
            <a:pPr algn="ctr">
              <a:defRPr sz="2175">
                <a:solidFill>
                  <a:srgbClr val="FFFFFF"/>
                </a:solidFill>
                <a:latin typeface="Arial"/>
                <a:ea typeface="Arial"/>
                <a:cs typeface="Arial"/>
              </a:defRPr>
            </a:pPr>
            <a:r>
              <a:rPr sz="2175">
                <a:solidFill>
                  <a:srgbClr val="FFFFFF"/>
                </a:solidFill>
                <a:latin typeface="Arial"/>
                <a:ea typeface="Arial"/>
                <a:cs typeface="Arial"/>
              </a:rPr>
              <a:t>Discussione e conclusioni</a:t>
            </a:r>
          </a:p>
        </p:txBody>
      </p:sp>
      <p:sp>
        <p:nvSpPr>
          <p:cNvPr id="12" name="Rectangle 11">
            <a:extLst>
              <a:ext uri="{FF2B5EF4-FFF2-40B4-BE49-F238E27FC236}">
                <a16:creationId xmlns:a16="http://schemas.microsoft.com/office/drawing/2014/main" id="{8D3ACCEE-7D5E-49AE-B974-9EB44B64A034}"/>
              </a:ext>
            </a:extLst>
          </p:cNvPr>
          <p:cNvSpPr>
            <a:spLocks noGrp="1"/>
          </p:cNvSpPr>
          <p:nvPr/>
        </p:nvSpPr>
        <p:spPr>
          <a:xfrm>
            <a:off x="10515600" y="4943475"/>
            <a:ext cx="723900" cy="723900"/>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lang="it-IT" sz="2100" b="1">
                <a:solidFill>
                  <a:srgbClr val="FFFFFF"/>
                </a:solidFill>
                <a:latin typeface="Arial"/>
                <a:ea typeface="Arial"/>
                <a:cs typeface="Arial"/>
              </a:rPr>
              <a:t>19</a:t>
            </a:r>
            <a:endParaRPr sz="2100" b="1">
              <a:solidFill>
                <a:srgbClr val="FFFFFF"/>
              </a:solidFill>
              <a:latin typeface="Arial"/>
              <a:ea typeface="Arial"/>
              <a:cs typeface="Arial"/>
            </a:endParaRPr>
          </a:p>
        </p:txBody>
      </p:sp>
    </p:spTree>
    <p:extLst>
      <p:ext uri="{BB962C8B-B14F-4D97-AF65-F5344CB8AC3E}">
        <p14:creationId xmlns:p14="http://schemas.microsoft.com/office/powerpoint/2010/main" val="11774539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59060CE-ECD2-4A7A-9090-80F9390237C2}"/>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Il problema: il rumore mette in crisi Shor</a:t>
            </a:r>
            <a:endParaRPr sz="2700" b="0">
              <a:solidFill>
                <a:srgbClr val="003366"/>
              </a:solidFill>
              <a:latin typeface="Arial"/>
              <a:ea typeface="Arial"/>
              <a:cs typeface="Arial"/>
            </a:endParaRPr>
          </a:p>
        </p:txBody>
      </p:sp>
      <p:pic>
        <p:nvPicPr>
          <p:cNvPr id="17" name="Picture 16"/>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D23F0015-1C9C-4BFF-AD0E-1F98D7E0AF2E}"/>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79CC3B5B-7093-40F1-8B4A-4831C1C3379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Introduzione e obiettivi | 4</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D28F5FD8-1939-4CC8-B7AF-FF8BB0B137D4}"/>
              </a:ext>
            </a:extLst>
          </p:cNvPr>
          <p:cNvSpPr>
            <a:spLocks noGrp="1"/>
          </p:cNvSpPr>
          <p:nvPr/>
        </p:nvSpPr>
        <p:spPr>
          <a:xfrm>
            <a:off x="609600" y="1409700"/>
            <a:ext cx="10972800" cy="666750"/>
          </a:xfrm>
          <a:prstGeom prst="rect">
            <a:avLst/>
          </a:prstGeom>
          <a:noFill/>
          <a:ln w="0">
            <a:noFill/>
          </a:ln>
        </p:spPr>
        <p:txBody>
          <a:bodyPr>
            <a:noAutofit/>
          </a:bodyPr>
          <a:lstStyle/>
          <a:p>
            <a:pPr>
              <a:defRPr sz="2250" b="0">
                <a:solidFill>
                  <a:srgbClr val="203344"/>
                </a:solidFill>
                <a:latin typeface="Arial"/>
                <a:ea typeface="Arial"/>
                <a:cs typeface="Arial"/>
              </a:defRPr>
            </a:pPr>
            <a:r>
              <a:rPr sz="2250" b="0">
                <a:solidFill>
                  <a:srgbClr val="203344"/>
                </a:solidFill>
                <a:latin typeface="Arial"/>
                <a:ea typeface="Arial"/>
                <a:cs typeface="Arial"/>
              </a:rPr>
              <a:t>RSA si fonda sulla difficoltà di fattorizzare numeri molto grandi.</a:t>
            </a:r>
          </a:p>
        </p:txBody>
      </p:sp>
      <p:sp>
        <p:nvSpPr>
          <p:cNvPr id="6" name="Rectangle: Rounded Corners 5">
            <a:extLst>
              <a:ext uri="{FF2B5EF4-FFF2-40B4-BE49-F238E27FC236}">
                <a16:creationId xmlns:a16="http://schemas.microsoft.com/office/drawing/2014/main" id="{80A98FDF-A936-4DBF-BEC7-908273BD1AB3}"/>
              </a:ext>
            </a:extLst>
          </p:cNvPr>
          <p:cNvSpPr>
            <a:spLocks noGrp="1"/>
          </p:cNvSpPr>
          <p:nvPr/>
        </p:nvSpPr>
        <p:spPr>
          <a:xfrm>
            <a:off x="609600" y="2371725"/>
            <a:ext cx="5048250" cy="1628775"/>
          </a:xfrm>
          <a:prstGeom prst="roundRect">
            <a:avLst>
              <a:gd name="adj" fmla="val 5848"/>
            </a:avLst>
          </a:prstGeom>
          <a:solidFill>
            <a:srgbClr val="EEF4F8"/>
          </a:solidFill>
          <a:ln w="14288">
            <a:solidFill>
              <a:srgbClr val="5084BF"/>
            </a:solidFill>
          </a:ln>
        </p:spPr>
        <p:txBody>
          <a:bodyPr/>
          <a:lstStyle/>
          <a:p>
            <a:endParaRPr lang="en-GB"/>
          </a:p>
        </p:txBody>
      </p:sp>
      <p:sp>
        <p:nvSpPr>
          <p:cNvPr id="7" name="Rectangle 6">
            <a:extLst>
              <a:ext uri="{FF2B5EF4-FFF2-40B4-BE49-F238E27FC236}">
                <a16:creationId xmlns:a16="http://schemas.microsoft.com/office/drawing/2014/main" id="{E0A86DAE-54F5-4C63-8C22-F53A4F8FB061}"/>
              </a:ext>
            </a:extLst>
          </p:cNvPr>
          <p:cNvSpPr>
            <a:spLocks noGrp="1"/>
          </p:cNvSpPr>
          <p:nvPr/>
        </p:nvSpPr>
        <p:spPr>
          <a:xfrm>
            <a:off x="790575" y="2562225"/>
            <a:ext cx="46863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Classico · GNFS</a:t>
            </a:r>
          </a:p>
        </p:txBody>
      </p:sp>
      <p:sp>
        <p:nvSpPr>
          <p:cNvPr id="8" name="Rectangle 7">
            <a:extLst>
              <a:ext uri="{FF2B5EF4-FFF2-40B4-BE49-F238E27FC236}">
                <a16:creationId xmlns:a16="http://schemas.microsoft.com/office/drawing/2014/main" id="{61E472CC-6B37-45F8-A851-218074ED7342}"/>
              </a:ext>
            </a:extLst>
          </p:cNvPr>
          <p:cNvSpPr>
            <a:spLocks noGrp="1"/>
          </p:cNvSpPr>
          <p:nvPr/>
        </p:nvSpPr>
        <p:spPr>
          <a:xfrm>
            <a:off x="790575" y="3171825"/>
            <a:ext cx="4686300" cy="733425"/>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Costo sub-esponenziale</a:t>
            </a:r>
          </a:p>
        </p:txBody>
      </p:sp>
      <p:sp>
        <p:nvSpPr>
          <p:cNvPr id="9" name="Rectangle: Rounded Corners 8">
            <a:extLst>
              <a:ext uri="{FF2B5EF4-FFF2-40B4-BE49-F238E27FC236}">
                <a16:creationId xmlns:a16="http://schemas.microsoft.com/office/drawing/2014/main" id="{2A2396F6-9FA2-4A80-8E1D-261913A3AE4E}"/>
              </a:ext>
            </a:extLst>
          </p:cNvPr>
          <p:cNvSpPr>
            <a:spLocks noGrp="1"/>
          </p:cNvSpPr>
          <p:nvPr/>
        </p:nvSpPr>
        <p:spPr>
          <a:xfrm>
            <a:off x="6534150" y="2371725"/>
            <a:ext cx="5048250" cy="1628775"/>
          </a:xfrm>
          <a:prstGeom prst="roundRect">
            <a:avLst>
              <a:gd name="adj" fmla="val 5848"/>
            </a:avLst>
          </a:prstGeom>
          <a:solidFill>
            <a:srgbClr val="EEF4F8"/>
          </a:solidFill>
          <a:ln w="14288">
            <a:solidFill>
              <a:srgbClr val="5084BF"/>
            </a:solidFill>
          </a:ln>
        </p:spPr>
        <p:txBody>
          <a:bodyPr/>
          <a:lstStyle/>
          <a:p>
            <a:endParaRPr lang="en-GB"/>
          </a:p>
        </p:txBody>
      </p:sp>
      <p:sp>
        <p:nvSpPr>
          <p:cNvPr id="10" name="Rectangle 9">
            <a:extLst>
              <a:ext uri="{FF2B5EF4-FFF2-40B4-BE49-F238E27FC236}">
                <a16:creationId xmlns:a16="http://schemas.microsoft.com/office/drawing/2014/main" id="{7418ABF2-68F4-4507-910D-675A2F524C68}"/>
              </a:ext>
            </a:extLst>
          </p:cNvPr>
          <p:cNvSpPr>
            <a:spLocks noGrp="1"/>
          </p:cNvSpPr>
          <p:nvPr/>
        </p:nvSpPr>
        <p:spPr>
          <a:xfrm>
            <a:off x="6715125" y="2562225"/>
            <a:ext cx="46863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Quantistico · Shor</a:t>
            </a:r>
          </a:p>
        </p:txBody>
      </p:sp>
      <p:sp>
        <p:nvSpPr>
          <p:cNvPr id="11" name="Rectangle 10">
            <a:extLst>
              <a:ext uri="{FF2B5EF4-FFF2-40B4-BE49-F238E27FC236}">
                <a16:creationId xmlns:a16="http://schemas.microsoft.com/office/drawing/2014/main" id="{AB3F97FF-CB13-44FF-9438-62C2DC1FAD3F}"/>
              </a:ext>
            </a:extLst>
          </p:cNvPr>
          <p:cNvSpPr>
            <a:spLocks noGrp="1"/>
          </p:cNvSpPr>
          <p:nvPr/>
        </p:nvSpPr>
        <p:spPr>
          <a:xfrm>
            <a:off x="6715125" y="3171825"/>
            <a:ext cx="4686300" cy="733425"/>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Tempo polinomiale su un computer ideale</a:t>
            </a:r>
          </a:p>
        </p:txBody>
      </p:sp>
      <p:pic>
        <p:nvPicPr>
          <p:cNvPr id="27" name="Picture 26"/>
          <p:cNvPicPr>
            <a:picLocks noChangeAspect="1"/>
          </p:cNvPicPr>
          <p:nvPr/>
        </p:nvPicPr>
        <p:blipFill>
          <a:blip r:embed="rId4"/>
          <a:stretch/>
        </p:blipFill>
        <p:spPr>
          <a:xfrm>
            <a:off x="937183" y="4305300"/>
            <a:ext cx="2621434" cy="1819275"/>
          </a:xfrm>
          <a:prstGeom prst="rect">
            <a:avLst/>
          </a:prstGeom>
        </p:spPr>
      </p:pic>
      <p:sp>
        <p:nvSpPr>
          <p:cNvPr id="13" name="Rectangle 12">
            <a:extLst>
              <a:ext uri="{FF2B5EF4-FFF2-40B4-BE49-F238E27FC236}">
                <a16:creationId xmlns:a16="http://schemas.microsoft.com/office/drawing/2014/main" id="{D6C90D73-8FBD-42C1-B1B5-04BDF8AFF596}"/>
              </a:ext>
            </a:extLst>
          </p:cNvPr>
          <p:cNvSpPr>
            <a:spLocks noGrp="1"/>
          </p:cNvSpPr>
          <p:nvPr/>
        </p:nvSpPr>
        <p:spPr>
          <a:xfrm>
            <a:off x="4495800" y="4448175"/>
            <a:ext cx="6953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Errori, decoerenza e readout</a:t>
            </a:r>
          </a:p>
        </p:txBody>
      </p:sp>
      <p:sp>
        <p:nvSpPr>
          <p:cNvPr id="14" name="Rectangle 13">
            <a:extLst>
              <a:ext uri="{FF2B5EF4-FFF2-40B4-BE49-F238E27FC236}">
                <a16:creationId xmlns:a16="http://schemas.microsoft.com/office/drawing/2014/main" id="{FC4F982F-3693-4FBB-A25C-5CD1285EE608}"/>
              </a:ext>
            </a:extLst>
          </p:cNvPr>
          <p:cNvSpPr>
            <a:spLocks noGrp="1"/>
          </p:cNvSpPr>
          <p:nvPr/>
        </p:nvSpPr>
        <p:spPr>
          <a:xfrm>
            <a:off x="4495800" y="4924425"/>
            <a:ext cx="6934200" cy="1009650"/>
          </a:xfrm>
          <a:prstGeom prst="rect">
            <a:avLst/>
          </a:prstGeom>
          <a:noFill/>
          <a:ln w="0">
            <a:noFill/>
          </a:ln>
        </p:spPr>
        <p:txBody>
          <a:bodyPr>
            <a:noAutofit/>
          </a:bodyPr>
          <a:lstStyle/>
          <a:p>
            <a:pPr>
              <a:defRPr sz="2325" b="0">
                <a:solidFill>
                  <a:srgbClr val="203344"/>
                </a:solidFill>
                <a:latin typeface="Arial"/>
                <a:ea typeface="Arial"/>
                <a:cs typeface="Arial"/>
              </a:defRPr>
            </a:pPr>
            <a:r>
              <a:rPr sz="2325" b="0">
                <a:solidFill>
                  <a:srgbClr val="203344"/>
                </a:solidFill>
                <a:latin typeface="Arial"/>
                <a:ea typeface="Arial"/>
                <a:cs typeface="Arial"/>
              </a:rPr>
              <a:t>Il rumore compromette l’informazione</a:t>
            </a:r>
          </a:p>
          <a:p>
            <a:pPr>
              <a:defRPr sz="2325" b="0">
                <a:solidFill>
                  <a:srgbClr val="203344"/>
                </a:solidFill>
                <a:latin typeface="Arial"/>
                <a:ea typeface="Arial"/>
                <a:cs typeface="Arial"/>
              </a:defRPr>
            </a:pPr>
            <a:r>
              <a:rPr sz="2325" b="0">
                <a:solidFill>
                  <a:srgbClr val="203344"/>
                </a:solidFill>
                <a:latin typeface="Arial"/>
                <a:ea typeface="Arial"/>
                <a:cs typeface="Arial"/>
              </a:rPr>
              <a:t>necessaria alla ricerca del periodo.</a:t>
            </a:r>
          </a:p>
        </p:txBody>
      </p:sp>
      <p:sp>
        <p:nvSpPr>
          <p:cNvPr id="15" name="Rectangle 14">
            <a:extLst>
              <a:ext uri="{FF2B5EF4-FFF2-40B4-BE49-F238E27FC236}">
                <a16:creationId xmlns:a16="http://schemas.microsoft.com/office/drawing/2014/main" id="{0BF60FA3-5FF6-4688-AFC0-67D432E87079}"/>
              </a:ext>
            </a:extLst>
          </p:cNvPr>
          <p:cNvSpPr>
            <a:spLocks noGrp="1"/>
          </p:cNvSpPr>
          <p:nvPr/>
        </p:nvSpPr>
        <p:spPr>
          <a:xfrm>
            <a:off x="609600" y="6210300"/>
            <a:ext cx="4286250" cy="238125"/>
          </a:xfrm>
          <a:prstGeom prst="rect">
            <a:avLst/>
          </a:prstGeom>
          <a:noFill/>
          <a:ln w="0">
            <a:noFill/>
          </a:ln>
        </p:spPr>
        <p:txBody>
          <a:bodyPr>
            <a:noAutofit/>
          </a:bodyPr>
          <a:lstStyle/>
          <a:p>
            <a:pPr>
              <a:defRPr sz="1275" b="0">
                <a:solidFill>
                  <a:srgbClr val="647487"/>
                </a:solidFill>
                <a:latin typeface="Arial"/>
                <a:ea typeface="Arial"/>
                <a:cs typeface="Arial"/>
              </a:defRPr>
            </a:pPr>
            <a:r>
              <a:rPr sz="1275" b="0">
                <a:solidFill>
                  <a:srgbClr val="647487"/>
                </a:solidFill>
                <a:latin typeface="Arial"/>
                <a:ea typeface="Arial"/>
                <a:cs typeface="Arial"/>
              </a:rPr>
              <a:t>IBM Quantum System One</a:t>
            </a:r>
          </a:p>
        </p:txBody>
      </p:sp>
    </p:spTree>
    <p:extLst>
      <p:ext uri="{BB962C8B-B14F-4D97-AF65-F5344CB8AC3E}">
        <p14:creationId xmlns:p14="http://schemas.microsoft.com/office/powerpoint/2010/main" val="848221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2"/>
          <p:cNvSpPr/>
          <p:nvPr/>
        </p:nvSpPr>
        <p:spPr>
          <a:xfrm>
            <a:off x="609600" y="1422400"/>
            <a:ext cx="2419350" cy="1757660"/>
          </a:xfrm>
          <a:prstGeom prst="roundRect">
            <a:avLst>
              <a:gd name="adj" fmla="val 7226"/>
            </a:avLst>
          </a:prstGeom>
          <a:solidFill>
            <a:srgbClr val="3F73B0"/>
          </a:solidFill>
          <a:ln/>
        </p:spPr>
        <p:txBody>
          <a:bodyPr/>
          <a:lstStyle/>
          <a:p>
            <a:endParaRPr lang="en-GB"/>
          </a:p>
        </p:txBody>
      </p:sp>
      <p:sp>
        <p:nvSpPr>
          <p:cNvPr id="7" name="Text 3"/>
          <p:cNvSpPr/>
          <p:nvPr/>
        </p:nvSpPr>
        <p:spPr>
          <a:xfrm>
            <a:off x="71120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1</a:t>
            </a:r>
            <a:endParaRPr lang="en-US" sz="1800" dirty="0"/>
          </a:p>
        </p:txBody>
      </p:sp>
      <p:sp>
        <p:nvSpPr>
          <p:cNvPr id="8" name="Text 4"/>
          <p:cNvSpPr/>
          <p:nvPr/>
        </p:nvSpPr>
        <p:spPr>
          <a:xfrm>
            <a:off x="71120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Pre-processing</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classico</a:t>
            </a:r>
            <a:endParaRPr lang="en-US" sz="2000" dirty="0"/>
          </a:p>
        </p:txBody>
      </p:sp>
      <p:sp>
        <p:nvSpPr>
          <p:cNvPr id="9" name="Text 5"/>
          <p:cNvSpPr/>
          <p:nvPr/>
        </p:nvSpPr>
        <p:spPr>
          <a:xfrm>
            <a:off x="711200" y="2603500"/>
            <a:ext cx="2282635"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FFFFFF"/>
                </a:solidFill>
                <a:latin typeface="Arial" pitchFamily="34" charset="0"/>
                <a:ea typeface="Arial" pitchFamily="34" charset="-122"/>
                <a:cs typeface="Arial" pitchFamily="34" charset="-120"/>
              </a:rPr>
              <a:t>base a con MCD(a, N) = 1</a:t>
            </a:r>
            <a:endParaRPr lang="en-US" sz="1400" dirty="0"/>
          </a:p>
        </p:txBody>
      </p:sp>
      <p:pic>
        <p:nvPicPr>
          <p:cNvPr id="10" name="Image 2" descr="arrow-right"/>
          <p:cNvPicPr>
            <a:picLocks noChangeAspect="1"/>
          </p:cNvPicPr>
          <p:nvPr/>
        </p:nvPicPr>
        <p:blipFill>
          <a:blip r:embed="rId3"/>
          <a:srcRect/>
          <a:stretch/>
        </p:blipFill>
        <p:spPr>
          <a:xfrm>
            <a:off x="3105150" y="2212330"/>
            <a:ext cx="279400" cy="177800"/>
          </a:xfrm>
          <a:prstGeom prst="rect">
            <a:avLst/>
          </a:prstGeom>
        </p:spPr>
      </p:pic>
      <p:sp>
        <p:nvSpPr>
          <p:cNvPr id="11" name="Shape 6"/>
          <p:cNvSpPr/>
          <p:nvPr/>
        </p:nvSpPr>
        <p:spPr>
          <a:xfrm>
            <a:off x="3460750" y="1422400"/>
            <a:ext cx="2419350" cy="1757660"/>
          </a:xfrm>
          <a:prstGeom prst="roundRect">
            <a:avLst>
              <a:gd name="adj" fmla="val 7226"/>
            </a:avLst>
          </a:prstGeom>
          <a:solidFill>
            <a:srgbClr val="125C97"/>
          </a:solidFill>
          <a:ln/>
        </p:spPr>
        <p:txBody>
          <a:bodyPr/>
          <a:lstStyle/>
          <a:p>
            <a:endParaRPr lang="en-GB"/>
          </a:p>
        </p:txBody>
      </p:sp>
      <p:sp>
        <p:nvSpPr>
          <p:cNvPr id="12" name="Text 7"/>
          <p:cNvSpPr/>
          <p:nvPr/>
        </p:nvSpPr>
        <p:spPr>
          <a:xfrm>
            <a:off x="356235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2</a:t>
            </a:r>
            <a:endParaRPr lang="en-US" sz="1800" dirty="0"/>
          </a:p>
        </p:txBody>
      </p:sp>
      <p:sp>
        <p:nvSpPr>
          <p:cNvPr id="13" name="Text 8"/>
          <p:cNvSpPr/>
          <p:nvPr/>
        </p:nvSpPr>
        <p:spPr>
          <a:xfrm>
            <a:off x="356235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Ricerca</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del periodo</a:t>
            </a:r>
            <a:endParaRPr lang="en-US" sz="2000" dirty="0"/>
          </a:p>
        </p:txBody>
      </p:sp>
      <p:sp>
        <p:nvSpPr>
          <p:cNvPr id="14" name="Text 9"/>
          <p:cNvSpPr/>
          <p:nvPr/>
        </p:nvSpPr>
        <p:spPr>
          <a:xfrm>
            <a:off x="3562350" y="2603500"/>
            <a:ext cx="2282635" cy="48766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FFFFFF"/>
                </a:solidFill>
                <a:latin typeface="Arial" pitchFamily="34" charset="0"/>
                <a:ea typeface="Arial" pitchFamily="34" charset="-122"/>
                <a:cs typeface="Arial" pitchFamily="34" charset="-120"/>
              </a:rPr>
              <a:t>esponenziazione modulare e QPE (stima di fase)</a:t>
            </a:r>
            <a:endParaRPr lang="en-US" sz="1400" dirty="0"/>
          </a:p>
        </p:txBody>
      </p:sp>
      <p:pic>
        <p:nvPicPr>
          <p:cNvPr id="15" name="Image 3" descr="arrow-right"/>
          <p:cNvPicPr>
            <a:picLocks noChangeAspect="1"/>
          </p:cNvPicPr>
          <p:nvPr/>
        </p:nvPicPr>
        <p:blipFill>
          <a:blip r:embed="rId3"/>
          <a:srcRect/>
          <a:stretch/>
        </p:blipFill>
        <p:spPr>
          <a:xfrm>
            <a:off x="5956300" y="2212330"/>
            <a:ext cx="279400" cy="177800"/>
          </a:xfrm>
          <a:prstGeom prst="rect">
            <a:avLst/>
          </a:prstGeom>
        </p:spPr>
      </p:pic>
      <p:sp>
        <p:nvSpPr>
          <p:cNvPr id="16" name="Shape 10"/>
          <p:cNvSpPr/>
          <p:nvPr/>
        </p:nvSpPr>
        <p:spPr>
          <a:xfrm>
            <a:off x="6311900" y="1422400"/>
            <a:ext cx="2419350" cy="1757660"/>
          </a:xfrm>
          <a:prstGeom prst="roundRect">
            <a:avLst>
              <a:gd name="adj" fmla="val 7226"/>
            </a:avLst>
          </a:prstGeom>
          <a:solidFill>
            <a:srgbClr val="3F73B0"/>
          </a:solidFill>
          <a:ln/>
        </p:spPr>
        <p:txBody>
          <a:bodyPr/>
          <a:lstStyle/>
          <a:p>
            <a:endParaRPr lang="en-GB"/>
          </a:p>
        </p:txBody>
      </p:sp>
      <p:sp>
        <p:nvSpPr>
          <p:cNvPr id="17" name="Text 11"/>
          <p:cNvSpPr/>
          <p:nvPr/>
        </p:nvSpPr>
        <p:spPr>
          <a:xfrm>
            <a:off x="641350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3</a:t>
            </a:r>
            <a:endParaRPr lang="en-US" sz="1800" dirty="0"/>
          </a:p>
        </p:txBody>
      </p:sp>
      <p:sp>
        <p:nvSpPr>
          <p:cNvPr id="18" name="Text 12"/>
          <p:cNvSpPr/>
          <p:nvPr/>
        </p:nvSpPr>
        <p:spPr>
          <a:xfrm>
            <a:off x="641350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QFT inversa</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e misura</a:t>
            </a:r>
            <a:endParaRPr lang="en-US" sz="2000" dirty="0"/>
          </a:p>
        </p:txBody>
      </p:sp>
      <p:sp>
        <p:nvSpPr>
          <p:cNvPr id="19" name="Text 13"/>
          <p:cNvSpPr/>
          <p:nvPr/>
        </p:nvSpPr>
        <p:spPr>
          <a:xfrm>
            <a:off x="6413500" y="2603500"/>
            <a:ext cx="2282635" cy="256530"/>
          </a:xfrm>
          <a:prstGeom prst="rect">
            <a:avLst/>
          </a:prstGeom>
          <a:noFill/>
          <a:ln/>
        </p:spPr>
        <p:txBody>
          <a:bodyPr wrap="square" lIns="0" tIns="0" rIns="0" bIns="0" rtlCol="0" anchor="t">
            <a:normAutofit fontScale="62500" lnSpcReduction="20000"/>
          </a:bodyPr>
          <a:lstStyle/>
          <a:p>
            <a:pPr marL="0" indent="0" algn="l">
              <a:lnSpc>
                <a:spcPts val="1820"/>
              </a:lnSpc>
              <a:buNone/>
            </a:pPr>
            <a:r>
              <a:rPr lang="en-US" sz="1400" dirty="0">
                <a:solidFill>
                  <a:srgbClr val="FFFFFF"/>
                </a:solidFill>
                <a:latin typeface="Arial" pitchFamily="34" charset="0"/>
                <a:ea typeface="Arial" pitchFamily="34" charset="-122"/>
                <a:cs typeface="Arial" pitchFamily="34" charset="-120"/>
              </a:rPr>
              <a:t>esito y su m qubit: y / 2^m ≈ s / r, s intero</a:t>
            </a:r>
            <a:endParaRPr lang="en-US" sz="1400" dirty="0"/>
          </a:p>
        </p:txBody>
      </p:sp>
      <p:pic>
        <p:nvPicPr>
          <p:cNvPr id="20" name="Image 4" descr="arrow-right"/>
          <p:cNvPicPr>
            <a:picLocks noChangeAspect="1"/>
          </p:cNvPicPr>
          <p:nvPr/>
        </p:nvPicPr>
        <p:blipFill>
          <a:blip r:embed="rId3"/>
          <a:srcRect/>
          <a:stretch/>
        </p:blipFill>
        <p:spPr>
          <a:xfrm>
            <a:off x="8807450" y="2212330"/>
            <a:ext cx="279400" cy="177800"/>
          </a:xfrm>
          <a:prstGeom prst="rect">
            <a:avLst/>
          </a:prstGeom>
        </p:spPr>
      </p:pic>
      <p:sp>
        <p:nvSpPr>
          <p:cNvPr id="21" name="Shape 14"/>
          <p:cNvSpPr/>
          <p:nvPr/>
        </p:nvSpPr>
        <p:spPr>
          <a:xfrm>
            <a:off x="9163050" y="1422400"/>
            <a:ext cx="2419350" cy="1757660"/>
          </a:xfrm>
          <a:prstGeom prst="roundRect">
            <a:avLst>
              <a:gd name="adj" fmla="val 7226"/>
            </a:avLst>
          </a:prstGeom>
          <a:solidFill>
            <a:srgbClr val="125C97"/>
          </a:solidFill>
          <a:ln/>
        </p:spPr>
        <p:txBody>
          <a:bodyPr/>
          <a:lstStyle/>
          <a:p>
            <a:endParaRPr lang="en-GB"/>
          </a:p>
        </p:txBody>
      </p:sp>
      <p:sp>
        <p:nvSpPr>
          <p:cNvPr id="22" name="Text 15"/>
          <p:cNvSpPr/>
          <p:nvPr/>
        </p:nvSpPr>
        <p:spPr>
          <a:xfrm>
            <a:off x="926465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4</a:t>
            </a:r>
            <a:endParaRPr lang="en-US" sz="1800" dirty="0"/>
          </a:p>
        </p:txBody>
      </p:sp>
      <p:sp>
        <p:nvSpPr>
          <p:cNvPr id="23" name="Text 16"/>
          <p:cNvSpPr/>
          <p:nvPr/>
        </p:nvSpPr>
        <p:spPr>
          <a:xfrm>
            <a:off x="926465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Post-processing</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classico</a:t>
            </a:r>
            <a:endParaRPr lang="en-US" sz="2000" dirty="0"/>
          </a:p>
        </p:txBody>
      </p:sp>
      <p:sp>
        <p:nvSpPr>
          <p:cNvPr id="24" name="Text 17"/>
          <p:cNvSpPr/>
          <p:nvPr/>
        </p:nvSpPr>
        <p:spPr>
          <a:xfrm>
            <a:off x="9264650" y="2603500"/>
            <a:ext cx="2282635" cy="256530"/>
          </a:xfrm>
          <a:prstGeom prst="rect">
            <a:avLst/>
          </a:prstGeom>
          <a:noFill/>
          <a:ln/>
        </p:spPr>
        <p:txBody>
          <a:bodyPr wrap="square" lIns="0" tIns="0" rIns="0" bIns="0" rtlCol="0" anchor="t">
            <a:normAutofit fontScale="47500" lnSpcReduction="20000"/>
          </a:bodyPr>
          <a:lstStyle/>
          <a:p>
            <a:pPr marL="0" indent="0" algn="l">
              <a:lnSpc>
                <a:spcPts val="1820"/>
              </a:lnSpc>
              <a:buNone/>
            </a:pPr>
            <a:r>
              <a:rPr lang="en-US" sz="1400" dirty="0">
                <a:solidFill>
                  <a:srgbClr val="FFFFFF"/>
                </a:solidFill>
                <a:latin typeface="Arial" pitchFamily="34" charset="0"/>
                <a:ea typeface="Arial" pitchFamily="34" charset="-122"/>
                <a:cs typeface="Arial" pitchFamily="34" charset="-120"/>
              </a:rPr>
              <a:t>frazioni continue e MCD (massimo comune divisore)</a:t>
            </a:r>
            <a:endParaRPr lang="en-US" sz="1400" dirty="0"/>
          </a:p>
        </p:txBody>
      </p:sp>
      <p:pic>
        <p:nvPicPr>
          <p:cNvPr id="25" name="Image 5" descr="Grafico di 7^x mod 15 per x da 0 a 11: la sequenza 1, 7, 4, 13 si ripete ogni quattro valori"/>
          <p:cNvPicPr>
            <a:picLocks noChangeAspect="1"/>
          </p:cNvPicPr>
          <p:nvPr/>
        </p:nvPicPr>
        <p:blipFill>
          <a:blip r:embed="rId4"/>
          <a:srcRect t="-50" b="-50"/>
          <a:stretch/>
        </p:blipFill>
        <p:spPr>
          <a:xfrm>
            <a:off x="609600" y="3357860"/>
            <a:ext cx="6604000" cy="2146300"/>
          </a:xfrm>
          <a:prstGeom prst="rect">
            <a:avLst/>
          </a:prstGeom>
        </p:spPr>
      </p:pic>
      <p:sp>
        <p:nvSpPr>
          <p:cNvPr id="26" name="Text 18"/>
          <p:cNvSpPr/>
          <p:nvPr/>
        </p:nvSpPr>
        <p:spPr>
          <a:xfrm>
            <a:off x="609600" y="5631160"/>
            <a:ext cx="6802120" cy="685800"/>
          </a:xfrm>
          <a:prstGeom prst="rect">
            <a:avLst/>
          </a:prstGeom>
          <a:noFill/>
          <a:ln/>
        </p:spPr>
        <p:txBody>
          <a:bodyPr wrap="square" lIns="0" tIns="0" rIns="0" bIns="0" rtlCol="0" anchor="t">
            <a:normAutofit fontScale="77500" lnSpcReduction="20000"/>
          </a:bodyPr>
          <a:lstStyle/>
          <a:p>
            <a:pPr marL="0" indent="0" algn="l">
              <a:lnSpc>
                <a:spcPts val="2600"/>
              </a:lnSpc>
              <a:buNone/>
            </a:pPr>
            <a:r>
              <a:rPr lang="en-US" sz="2000" dirty="0">
                <a:solidFill>
                  <a:srgbClr val="1F2933"/>
                </a:solidFill>
                <a:latin typeface="Arial" pitchFamily="34" charset="0"/>
                <a:ea typeface="Arial" pitchFamily="34" charset="-122"/>
                <a:cs typeface="Arial" pitchFamily="34" charset="-120"/>
              </a:rPr>
              <a:t>N da fattorizzare, a base coprima con N, r periodo di a^x mod N. Con N = 15 e a = 7, 7^x mod 15 si ripete ogni 4 valori: </a:t>
            </a:r>
            <a:r>
              <a:rPr lang="en-US" sz="2000" b="1" dirty="0">
                <a:solidFill>
                  <a:srgbClr val="1F2933"/>
                </a:solidFill>
                <a:latin typeface="Arial" pitchFamily="34" charset="0"/>
                <a:ea typeface="Arial" pitchFamily="34" charset="-122"/>
                <a:cs typeface="Arial" pitchFamily="34" charset="-120"/>
              </a:rPr>
              <a:t>r = 4</a:t>
            </a:r>
            <a:r>
              <a:rPr lang="en-US" sz="2000" dirty="0">
                <a:solidFill>
                  <a:srgbClr val="1F2933"/>
                </a:solidFill>
                <a:latin typeface="Arial" pitchFamily="34" charset="0"/>
                <a:ea typeface="Arial" pitchFamily="34" charset="-122"/>
                <a:cs typeface="Arial" pitchFamily="34" charset="-120"/>
              </a:rPr>
              <a:t>, da cui </a:t>
            </a:r>
            <a:r>
              <a:rPr lang="en-US" sz="2000" b="1" dirty="0">
                <a:solidFill>
                  <a:srgbClr val="1F2933"/>
                </a:solidFill>
                <a:latin typeface="Arial" pitchFamily="34" charset="0"/>
                <a:ea typeface="Arial" pitchFamily="34" charset="-122"/>
                <a:cs typeface="Arial" pitchFamily="34" charset="-120"/>
              </a:rPr>
              <a:t>15 = 3 × 5</a:t>
            </a:r>
            <a:r>
              <a:rPr lang="en-US" sz="2000" dirty="0">
                <a:solidFill>
                  <a:srgbClr val="1F2933"/>
                </a:solidFill>
                <a:latin typeface="Arial" pitchFamily="34" charset="0"/>
                <a:ea typeface="Arial" pitchFamily="34" charset="-122"/>
                <a:cs typeface="Arial" pitchFamily="34" charset="-120"/>
              </a:rPr>
              <a:t>.</a:t>
            </a:r>
            <a:endParaRPr lang="en-US" sz="2000" dirty="0"/>
          </a:p>
        </p:txBody>
      </p:sp>
      <p:pic>
        <p:nvPicPr>
          <p:cNvPr id="27" name="Image 6" descr="Circuito di Shor per N = 15: otto qubit di controllo con Hadamard, moltiplicazioni modulari controllate sul registro di lavoro, QFT inversa e misura"/>
          <p:cNvPicPr>
            <a:picLocks noChangeAspect="1"/>
          </p:cNvPicPr>
          <p:nvPr/>
        </p:nvPicPr>
        <p:blipFill>
          <a:blip r:embed="rId5"/>
          <a:srcRect l="-18" r="-18"/>
          <a:stretch/>
        </p:blipFill>
        <p:spPr>
          <a:xfrm>
            <a:off x="8375650" y="3357860"/>
            <a:ext cx="2349500" cy="2273300"/>
          </a:xfrm>
          <a:prstGeom prst="rect">
            <a:avLst/>
          </a:prstGeom>
        </p:spPr>
      </p:pic>
      <p:sp>
        <p:nvSpPr>
          <p:cNvPr id="28" name="Text 19"/>
          <p:cNvSpPr/>
          <p:nvPr/>
        </p:nvSpPr>
        <p:spPr>
          <a:xfrm>
            <a:off x="7518400" y="5707360"/>
            <a:ext cx="4185920" cy="71879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5B6573"/>
                </a:solidFill>
                <a:latin typeface="Arial" pitchFamily="34" charset="0"/>
                <a:ea typeface="Arial" pitchFamily="34" charset="-122"/>
                <a:cs typeface="Arial" pitchFamily="34" charset="-120"/>
              </a:rPr>
              <a:t>Circuito per N = 15: 8 qubit di controllo (C) e 4 di lavoro (T), esponenziazione modulare controllata, QFT inversa e misura</a:t>
            </a:r>
            <a:endParaRPr lang="en-US" sz="1400" dirty="0"/>
          </a:p>
        </p:txBody>
      </p:sp>
      <p:sp>
        <p:nvSpPr>
          <p:cNvPr id="31" name="Rectangle 30">
            <a:extLst>
              <a:ext uri="{FF2B5EF4-FFF2-40B4-BE49-F238E27FC236}">
                <a16:creationId xmlns:a16="http://schemas.microsoft.com/office/drawing/2014/main" id="{8936EAE4-D3F4-CE9C-7102-79F539B5E879}"/>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Come funziona l'algoritmo di Shor</a:t>
            </a:r>
            <a:endParaRPr sz="2700" b="0">
              <a:solidFill>
                <a:srgbClr val="003366"/>
              </a:solidFill>
              <a:latin typeface="Arial"/>
              <a:ea typeface="Arial"/>
              <a:cs typeface="Arial"/>
            </a:endParaRPr>
          </a:p>
        </p:txBody>
      </p:sp>
      <p:pic>
        <p:nvPicPr>
          <p:cNvPr id="32" name="Picture 31">
            <a:extLst>
              <a:ext uri="{FF2B5EF4-FFF2-40B4-BE49-F238E27FC236}">
                <a16:creationId xmlns:a16="http://schemas.microsoft.com/office/drawing/2014/main" id="{51215FA5-569D-E798-EB49-460B98022349}"/>
              </a:ext>
            </a:extLst>
          </p:cNvPr>
          <p:cNvPicPr>
            <a:picLocks noChangeAspect="1"/>
          </p:cNvPicPr>
          <p:nvPr/>
        </p:nvPicPr>
        <p:blipFill>
          <a:blip r:embed="rId6"/>
          <a:stretch/>
        </p:blipFill>
        <p:spPr>
          <a:xfrm>
            <a:off x="10896600" y="243116"/>
            <a:ext cx="838200" cy="694869"/>
          </a:xfrm>
          <a:prstGeom prst="rect">
            <a:avLst/>
          </a:prstGeom>
        </p:spPr>
      </p:pic>
      <p:sp>
        <p:nvSpPr>
          <p:cNvPr id="33" name="Rectangle 32">
            <a:extLst>
              <a:ext uri="{FF2B5EF4-FFF2-40B4-BE49-F238E27FC236}">
                <a16:creationId xmlns:a16="http://schemas.microsoft.com/office/drawing/2014/main" id="{13330CE6-81CE-3B3E-6A94-7253F8038753}"/>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34" name="Rectangle 33">
            <a:extLst>
              <a:ext uri="{FF2B5EF4-FFF2-40B4-BE49-F238E27FC236}">
                <a16:creationId xmlns:a16="http://schemas.microsoft.com/office/drawing/2014/main" id="{5D040118-4907-CF50-04A9-BED2E35E4273}"/>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Introduzione e obiettivi | 5</a:t>
            </a:r>
            <a:endParaRPr sz="1200" b="0">
              <a:solidFill>
                <a:srgbClr val="203344"/>
              </a:solidFill>
              <a:latin typeface="Arial"/>
              <a:ea typeface="Arial"/>
              <a:cs typeface="Arial"/>
            </a:endParaRPr>
          </a:p>
        </p:txBody>
      </p:sp>
    </p:spTree>
    <p:extLst>
      <p:ext uri="{BB962C8B-B14F-4D97-AF65-F5344CB8AC3E}">
        <p14:creationId xmlns:p14="http://schemas.microsoft.com/office/powerpoint/2010/main" val="4136590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CBE55B9-0BF3-4ED3-94B7-89985EB4C9DF}"/>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Obiettivi: tre livelli di intervento</a:t>
            </a:r>
            <a:endParaRPr sz="2700" b="0">
              <a:solidFill>
                <a:srgbClr val="003366"/>
              </a:solidFill>
              <a:latin typeface="Arial"/>
              <a:ea typeface="Arial"/>
              <a:cs typeface="Arial"/>
            </a:endParaRPr>
          </a:p>
        </p:txBody>
      </p:sp>
      <p:pic>
        <p:nvPicPr>
          <p:cNvPr id="17" name="Picture 16"/>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57CE2B40-AB4D-4979-A415-E01B0545C07E}"/>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CE360A6F-4367-422B-AEF8-30EFFA8D3F03}"/>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Introduzione e obiettivi | 6</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50934A3F-BEB0-47B2-BE56-FBB3CB1E0DE9}"/>
              </a:ext>
            </a:extLst>
          </p:cNvPr>
          <p:cNvSpPr>
            <a:spLocks noGrp="1"/>
          </p:cNvSpPr>
          <p:nvPr/>
        </p:nvSpPr>
        <p:spPr>
          <a:xfrm>
            <a:off x="609600" y="1371600"/>
            <a:ext cx="10972800" cy="619125"/>
          </a:xfrm>
          <a:prstGeom prst="rect">
            <a:avLst/>
          </a:prstGeom>
          <a:noFill/>
          <a:ln w="0">
            <a:noFill/>
          </a:ln>
        </p:spPr>
        <p:txBody>
          <a:bodyPr>
            <a:noAutofit/>
          </a:bodyPr>
          <a:lstStyle/>
          <a:p>
            <a:pPr>
              <a:defRPr sz="2250" b="0">
                <a:solidFill>
                  <a:srgbClr val="203344"/>
                </a:solidFill>
                <a:latin typeface="Arial"/>
                <a:ea typeface="Arial"/>
                <a:cs typeface="Arial"/>
              </a:defRPr>
            </a:pPr>
            <a:r>
              <a:rPr lang="it-IT" sz="1950" b="0">
                <a:solidFill>
                  <a:srgbClr val="203344"/>
                </a:solidFill>
                <a:latin typeface="Arial"/>
                <a:ea typeface="Arial"/>
                <a:cs typeface="Arial"/>
              </a:rPr>
              <a:t>In letteratura le tecniche anti-rumore raramente sono confrontate con la baseline corretta: per questo ognuna ha il suo riferimento.</a:t>
            </a:r>
            <a:endParaRPr sz="1950" b="0">
              <a:solidFill>
                <a:srgbClr val="203344"/>
              </a:solidFill>
              <a:latin typeface="Arial"/>
              <a:ea typeface="Arial"/>
              <a:cs typeface="Arial"/>
            </a:endParaRPr>
          </a:p>
        </p:txBody>
      </p:sp>
      <p:sp>
        <p:nvSpPr>
          <p:cNvPr id="6" name="Rectangle 5">
            <a:extLst>
              <a:ext uri="{FF2B5EF4-FFF2-40B4-BE49-F238E27FC236}">
                <a16:creationId xmlns:a16="http://schemas.microsoft.com/office/drawing/2014/main" id="{48937A4B-E62D-43EB-9D19-E457997D6ABD}"/>
              </a:ext>
            </a:extLst>
          </p:cNvPr>
          <p:cNvSpPr>
            <a:spLocks noGrp="1"/>
          </p:cNvSpPr>
          <p:nvPr/>
        </p:nvSpPr>
        <p:spPr>
          <a:xfrm>
            <a:off x="1095375" y="2295525"/>
            <a:ext cx="857250" cy="942975"/>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1</a:t>
            </a:r>
          </a:p>
        </p:txBody>
      </p:sp>
      <p:sp>
        <p:nvSpPr>
          <p:cNvPr id="7" name="Rectangle 6">
            <a:extLst>
              <a:ext uri="{FF2B5EF4-FFF2-40B4-BE49-F238E27FC236}">
                <a16:creationId xmlns:a16="http://schemas.microsoft.com/office/drawing/2014/main" id="{BC777D03-6AAE-481E-97F2-580D13ADB657}"/>
              </a:ext>
            </a:extLst>
          </p:cNvPr>
          <p:cNvSpPr>
            <a:spLocks noGrp="1"/>
          </p:cNvSpPr>
          <p:nvPr/>
        </p:nvSpPr>
        <p:spPr>
          <a:xfrm>
            <a:off x="2009775" y="2295525"/>
            <a:ext cx="9086850" cy="400050"/>
          </a:xfrm>
          <a:prstGeom prst="rect">
            <a:avLst/>
          </a:prstGeom>
          <a:solidFill>
            <a:srgbClr val="5084BF"/>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Post-processing e machine learning</a:t>
            </a:r>
          </a:p>
        </p:txBody>
      </p:sp>
      <p:sp>
        <p:nvSpPr>
          <p:cNvPr id="8" name="Rectangle 7">
            <a:extLst>
              <a:ext uri="{FF2B5EF4-FFF2-40B4-BE49-F238E27FC236}">
                <a16:creationId xmlns:a16="http://schemas.microsoft.com/office/drawing/2014/main" id="{6C4B7239-FB1A-4B97-A268-4FAA69DE0159}"/>
              </a:ext>
            </a:extLst>
          </p:cNvPr>
          <p:cNvSpPr>
            <a:spLocks noGrp="1"/>
          </p:cNvSpPr>
          <p:nvPr/>
        </p:nvSpPr>
        <p:spPr>
          <a:xfrm>
            <a:off x="2228850" y="2838450"/>
            <a:ext cx="8763000" cy="542925"/>
          </a:xfrm>
          <a:prstGeom prst="rect">
            <a:avLst/>
          </a:prstGeom>
          <a:noFill/>
          <a:ln w="0">
            <a:noFill/>
          </a:ln>
        </p:spPr>
        <p:txBody>
          <a:bodyPr>
            <a:noAutofit/>
          </a:bodyPr>
          <a:lstStyle/>
          <a:p>
            <a:pPr>
              <a:defRPr sz="1950" b="0">
                <a:solidFill>
                  <a:srgbClr val="203344"/>
                </a:solidFill>
                <a:latin typeface="Arial"/>
                <a:ea typeface="Arial"/>
                <a:cs typeface="Arial"/>
              </a:defRPr>
            </a:pPr>
            <a:r>
              <a:rPr sz="1950" b="0">
                <a:solidFill>
                  <a:srgbClr val="203344"/>
                </a:solidFill>
                <a:latin typeface="Arial"/>
                <a:ea typeface="Arial"/>
                <a:cs typeface="Arial"/>
              </a:rPr>
              <a:t>Sfruttare gli esiti misurati e isolare il contributo del classificatore</a:t>
            </a:r>
          </a:p>
        </p:txBody>
      </p:sp>
      <p:sp>
        <p:nvSpPr>
          <p:cNvPr id="9" name="Rectangle 8">
            <a:extLst>
              <a:ext uri="{FF2B5EF4-FFF2-40B4-BE49-F238E27FC236}">
                <a16:creationId xmlns:a16="http://schemas.microsoft.com/office/drawing/2014/main" id="{506C6132-88F9-48AB-8CBC-D7F2CEE1B9F3}"/>
              </a:ext>
            </a:extLst>
          </p:cNvPr>
          <p:cNvSpPr>
            <a:spLocks noGrp="1"/>
          </p:cNvSpPr>
          <p:nvPr/>
        </p:nvSpPr>
        <p:spPr>
          <a:xfrm>
            <a:off x="1095375" y="3533775"/>
            <a:ext cx="857250" cy="942975"/>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2</a:t>
            </a:r>
          </a:p>
        </p:txBody>
      </p:sp>
      <p:sp>
        <p:nvSpPr>
          <p:cNvPr id="10" name="Rectangle 9">
            <a:extLst>
              <a:ext uri="{FF2B5EF4-FFF2-40B4-BE49-F238E27FC236}">
                <a16:creationId xmlns:a16="http://schemas.microsoft.com/office/drawing/2014/main" id="{EC68111B-EFD4-4929-B3C1-5C45623EF4CD}"/>
              </a:ext>
            </a:extLst>
          </p:cNvPr>
          <p:cNvSpPr>
            <a:spLocks noGrp="1"/>
          </p:cNvSpPr>
          <p:nvPr/>
        </p:nvSpPr>
        <p:spPr>
          <a:xfrm>
            <a:off x="2009775" y="3533775"/>
            <a:ext cx="9086850" cy="400050"/>
          </a:xfrm>
          <a:prstGeom prst="rect">
            <a:avLst/>
          </a:prstGeom>
          <a:solidFill>
            <a:srgbClr val="5084BF"/>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Correzione quantistica degli errori</a:t>
            </a:r>
          </a:p>
        </p:txBody>
      </p:sp>
      <p:sp>
        <p:nvSpPr>
          <p:cNvPr id="11" name="Rectangle 10">
            <a:extLst>
              <a:ext uri="{FF2B5EF4-FFF2-40B4-BE49-F238E27FC236}">
                <a16:creationId xmlns:a16="http://schemas.microsoft.com/office/drawing/2014/main" id="{D6A6BC79-BC15-4FB5-97CA-39F448DF41B1}"/>
              </a:ext>
            </a:extLst>
          </p:cNvPr>
          <p:cNvSpPr>
            <a:spLocks noGrp="1"/>
          </p:cNvSpPr>
          <p:nvPr/>
        </p:nvSpPr>
        <p:spPr>
          <a:xfrm>
            <a:off x="2228850" y="4076700"/>
            <a:ext cx="8763000" cy="542925"/>
          </a:xfrm>
          <a:prstGeom prst="rect">
            <a:avLst/>
          </a:prstGeom>
          <a:noFill/>
          <a:ln w="0">
            <a:noFill/>
          </a:ln>
        </p:spPr>
        <p:txBody>
          <a:bodyPr>
            <a:noAutofit/>
          </a:bodyPr>
          <a:lstStyle/>
          <a:p>
            <a:pPr>
              <a:defRPr sz="1950" b="0">
                <a:solidFill>
                  <a:srgbClr val="203344"/>
                </a:solidFill>
                <a:latin typeface="Arial"/>
                <a:ea typeface="Arial"/>
                <a:cs typeface="Arial"/>
              </a:defRPr>
            </a:pPr>
            <a:r>
              <a:rPr sz="1950" b="0">
                <a:solidFill>
                  <a:srgbClr val="203344"/>
                </a:solidFill>
                <a:latin typeface="Arial"/>
                <a:ea typeface="Arial"/>
                <a:cs typeface="Arial"/>
              </a:rPr>
              <a:t>Confrontare codici e decoder in esperimenti di memoria</a:t>
            </a:r>
          </a:p>
        </p:txBody>
      </p:sp>
      <p:sp>
        <p:nvSpPr>
          <p:cNvPr id="12" name="Rectangle 11">
            <a:extLst>
              <a:ext uri="{FF2B5EF4-FFF2-40B4-BE49-F238E27FC236}">
                <a16:creationId xmlns:a16="http://schemas.microsoft.com/office/drawing/2014/main" id="{162EFA4D-092A-455C-8BB9-A0D3EB766AFD}"/>
              </a:ext>
            </a:extLst>
          </p:cNvPr>
          <p:cNvSpPr>
            <a:spLocks noGrp="1"/>
          </p:cNvSpPr>
          <p:nvPr/>
        </p:nvSpPr>
        <p:spPr>
          <a:xfrm>
            <a:off x="1095375" y="4772025"/>
            <a:ext cx="857250" cy="942975"/>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3</a:t>
            </a:r>
          </a:p>
        </p:txBody>
      </p:sp>
      <p:sp>
        <p:nvSpPr>
          <p:cNvPr id="13" name="Rectangle 12">
            <a:extLst>
              <a:ext uri="{FF2B5EF4-FFF2-40B4-BE49-F238E27FC236}">
                <a16:creationId xmlns:a16="http://schemas.microsoft.com/office/drawing/2014/main" id="{1AA6CD67-FDC1-4122-AEFB-1701EC54A34C}"/>
              </a:ext>
            </a:extLst>
          </p:cNvPr>
          <p:cNvSpPr>
            <a:spLocks noGrp="1"/>
          </p:cNvSpPr>
          <p:nvPr/>
        </p:nvSpPr>
        <p:spPr>
          <a:xfrm>
            <a:off x="2009775" y="4772025"/>
            <a:ext cx="9086850" cy="400050"/>
          </a:xfrm>
          <a:prstGeom prst="rect">
            <a:avLst/>
          </a:prstGeom>
          <a:solidFill>
            <a:srgbClr val="5084BF"/>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QFT approssimata</a:t>
            </a:r>
          </a:p>
        </p:txBody>
      </p:sp>
      <p:sp>
        <p:nvSpPr>
          <p:cNvPr id="14" name="Rectangle 13">
            <a:extLst>
              <a:ext uri="{FF2B5EF4-FFF2-40B4-BE49-F238E27FC236}">
                <a16:creationId xmlns:a16="http://schemas.microsoft.com/office/drawing/2014/main" id="{1BF968E9-87C9-425C-A65B-1573E27D71E9}"/>
              </a:ext>
            </a:extLst>
          </p:cNvPr>
          <p:cNvSpPr>
            <a:spLocks noGrp="1"/>
          </p:cNvSpPr>
          <p:nvPr/>
        </p:nvSpPr>
        <p:spPr>
          <a:xfrm>
            <a:off x="2228850" y="5314950"/>
            <a:ext cx="8763000" cy="542925"/>
          </a:xfrm>
          <a:prstGeom prst="rect">
            <a:avLst/>
          </a:prstGeom>
          <a:noFill/>
          <a:ln w="0">
            <a:noFill/>
          </a:ln>
        </p:spPr>
        <p:txBody>
          <a:bodyPr>
            <a:noAutofit/>
          </a:bodyPr>
          <a:lstStyle/>
          <a:p>
            <a:pPr>
              <a:defRPr sz="1950" b="0">
                <a:solidFill>
                  <a:srgbClr val="203344"/>
                </a:solidFill>
                <a:latin typeface="Arial"/>
                <a:ea typeface="Arial"/>
                <a:cs typeface="Arial"/>
              </a:defRPr>
            </a:pPr>
            <a:r>
              <a:rPr sz="1950" b="0">
                <a:solidFill>
                  <a:srgbClr val="203344"/>
                </a:solidFill>
                <a:latin typeface="Arial"/>
                <a:ea typeface="Arial"/>
                <a:cs typeface="Arial"/>
              </a:rPr>
              <a:t>Ridurre le porte e verificare il successo finale</a:t>
            </a:r>
          </a:p>
        </p:txBody>
      </p:sp>
      <p:sp>
        <p:nvSpPr>
          <p:cNvPr id="15" name="Rectangle 14">
            <a:extLst>
              <a:ext uri="{FF2B5EF4-FFF2-40B4-BE49-F238E27FC236}">
                <a16:creationId xmlns:a16="http://schemas.microsoft.com/office/drawing/2014/main" id="{815905EF-C67D-487C-AE2F-E1461E4776A6}"/>
              </a:ext>
            </a:extLst>
          </p:cNvPr>
          <p:cNvSpPr>
            <a:spLocks noGrp="1"/>
          </p:cNvSpPr>
          <p:nvPr/>
        </p:nvSpPr>
        <p:spPr>
          <a:xfrm>
            <a:off x="1095375" y="6096000"/>
            <a:ext cx="10382250" cy="333375"/>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Campagne separate: la QEC non è integrata nell’intero algoritmo di Shor.</a:t>
            </a:r>
          </a:p>
        </p:txBody>
      </p:sp>
    </p:spTree>
    <p:extLst>
      <p:ext uri="{BB962C8B-B14F-4D97-AF65-F5344CB8AC3E}">
        <p14:creationId xmlns:p14="http://schemas.microsoft.com/office/powerpoint/2010/main" val="3318675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CDE1CEA5-D38D-13AD-8C1D-B082F56983AE}"/>
              </a:ext>
            </a:extLst>
          </p:cNvPr>
          <p:cNvCxnSpPr/>
          <p:nvPr/>
        </p:nvCxnSpPr>
        <p:spPr>
          <a:xfrm>
            <a:off x="10096500" y="3937000"/>
            <a:ext cx="0" cy="2540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FB078F3-1E38-1156-C358-FBCEF54B21FD}"/>
              </a:ext>
            </a:extLst>
          </p:cNvPr>
          <p:cNvCxnSpPr/>
          <p:nvPr/>
        </p:nvCxnSpPr>
        <p:spPr>
          <a:xfrm>
            <a:off x="10096500" y="2616200"/>
            <a:ext cx="0" cy="3810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5DFDC7D-D9C4-A354-277B-AC1BD6237B5B}"/>
              </a:ext>
            </a:extLst>
          </p:cNvPr>
          <p:cNvCxnSpPr/>
          <p:nvPr/>
        </p:nvCxnSpPr>
        <p:spPr>
          <a:xfrm>
            <a:off x="7404100" y="2616200"/>
            <a:ext cx="0" cy="15748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7C54456-225C-9E0A-3038-DD3974C96199}"/>
              </a:ext>
            </a:extLst>
          </p:cNvPr>
          <p:cNvCxnSpPr/>
          <p:nvPr/>
        </p:nvCxnSpPr>
        <p:spPr>
          <a:xfrm>
            <a:off x="4711700" y="2616200"/>
            <a:ext cx="0" cy="3810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Dove interviene ciascuna strategia</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Materiali e metodi | 7</a:t>
            </a:r>
            <a:endParaRPr sz="1200" b="0">
              <a:solidFill>
                <a:srgbClr val="203344"/>
              </a:solidFill>
              <a:latin typeface="Arial"/>
              <a:ea typeface="Arial"/>
              <a:cs typeface="Arial"/>
            </a:endParaRPr>
          </a:p>
        </p:txBody>
      </p:sp>
      <p:sp>
        <p:nvSpPr>
          <p:cNvPr id="5" name="Rectangle: Rounded Corners 4">
            <a:extLst>
              <a:ext uri="{FF2B5EF4-FFF2-40B4-BE49-F238E27FC236}">
                <a16:creationId xmlns:a16="http://schemas.microsoft.com/office/drawing/2014/main" id="{71A406BA-430E-F9F0-8B64-5BEFA86E6FCC}"/>
              </a:ext>
            </a:extLst>
          </p:cNvPr>
          <p:cNvSpPr/>
          <p:nvPr/>
        </p:nvSpPr>
        <p:spPr>
          <a:xfrm>
            <a:off x="609600" y="1270000"/>
            <a:ext cx="10972800" cy="1498600"/>
          </a:xfrm>
          <a:prstGeom prst="roundRect">
            <a:avLst>
              <a:gd name="adj" fmla="val 8000"/>
            </a:avLst>
          </a:prstGeom>
          <a:solidFill>
            <a:srgbClr val="F7EDCB"/>
          </a:solidFill>
          <a:ln w="19050">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a:extLst>
              <a:ext uri="{FF2B5EF4-FFF2-40B4-BE49-F238E27FC236}">
                <a16:creationId xmlns:a16="http://schemas.microsoft.com/office/drawing/2014/main" id="{B203B3D3-C539-C346-D1CF-D1F6ACEB3D39}"/>
              </a:ext>
            </a:extLst>
          </p:cNvPr>
          <p:cNvSpPr txBox="1"/>
          <p:nvPr/>
        </p:nvSpPr>
        <p:spPr>
          <a:xfrm>
            <a:off x="762000" y="1320800"/>
            <a:ext cx="5080000" cy="369332"/>
          </a:xfrm>
          <a:prstGeom prst="rect">
            <a:avLst/>
          </a:prstGeom>
          <a:noFill/>
        </p:spPr>
        <p:txBody>
          <a:bodyPr vert="horz" wrap="square" rtlCol="0">
            <a:noAutofit/>
          </a:bodyPr>
          <a:lstStyle/>
          <a:p>
            <a:r>
              <a:rPr lang="en-GB" sz="1500" b="1">
                <a:solidFill>
                  <a:srgbClr val="7A5C12"/>
                </a:solidFill>
                <a:latin typeface="Arial" panose="020B0604020202020204" pitchFamily="34" charset="0"/>
              </a:rPr>
              <a:t>Algoritmo di Shor</a:t>
            </a:r>
          </a:p>
        </p:txBody>
      </p:sp>
      <p:sp>
        <p:nvSpPr>
          <p:cNvPr id="7" name="Rectangle: Rounded Corners 6">
            <a:extLst>
              <a:ext uri="{FF2B5EF4-FFF2-40B4-BE49-F238E27FC236}">
                <a16:creationId xmlns:a16="http://schemas.microsoft.com/office/drawing/2014/main" id="{BD9FE72F-AB6F-CE56-3C1B-0CE1FF3977B9}"/>
              </a:ext>
            </a:extLst>
          </p:cNvPr>
          <p:cNvSpPr/>
          <p:nvPr/>
        </p:nvSpPr>
        <p:spPr>
          <a:xfrm>
            <a:off x="7874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TextBox 7">
            <a:extLst>
              <a:ext uri="{FF2B5EF4-FFF2-40B4-BE49-F238E27FC236}">
                <a16:creationId xmlns:a16="http://schemas.microsoft.com/office/drawing/2014/main" id="{379D2604-111F-A13D-FD56-97652F0186E6}"/>
              </a:ext>
            </a:extLst>
          </p:cNvPr>
          <p:cNvSpPr txBox="1"/>
          <p:nvPr/>
        </p:nvSpPr>
        <p:spPr>
          <a:xfrm>
            <a:off x="869499"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Scelta di a</a:t>
            </a:r>
          </a:p>
        </p:txBody>
      </p:sp>
      <p:sp>
        <p:nvSpPr>
          <p:cNvPr id="9" name="TextBox 8">
            <a:extLst>
              <a:ext uri="{FF2B5EF4-FFF2-40B4-BE49-F238E27FC236}">
                <a16:creationId xmlns:a16="http://schemas.microsoft.com/office/drawing/2014/main" id="{7F8CE3D5-7F36-50F1-4688-D82C9F52A02A}"/>
              </a:ext>
            </a:extLst>
          </p:cNvPr>
          <p:cNvSpPr txBox="1"/>
          <p:nvPr/>
        </p:nvSpPr>
        <p:spPr>
          <a:xfrm>
            <a:off x="8636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MCD(a, N) = 1</a:t>
            </a:r>
          </a:p>
        </p:txBody>
      </p:sp>
      <p:sp>
        <p:nvSpPr>
          <p:cNvPr id="10" name="Arrow: Right 9">
            <a:extLst>
              <a:ext uri="{FF2B5EF4-FFF2-40B4-BE49-F238E27FC236}">
                <a16:creationId xmlns:a16="http://schemas.microsoft.com/office/drawing/2014/main" id="{4FA152F5-7E2E-B567-3239-3CB985534EAA}"/>
              </a:ext>
            </a:extLst>
          </p:cNvPr>
          <p:cNvSpPr/>
          <p:nvPr/>
        </p:nvSpPr>
        <p:spPr>
          <a:xfrm>
            <a:off x="3276600" y="2057400"/>
            <a:ext cx="177800" cy="152400"/>
          </a:xfrm>
          <a:prstGeom prst="rightArrow">
            <a:avLst/>
          </a:prstGeom>
          <a:solidFill>
            <a:srgbClr val="8A7A4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Rounded Corners 10">
            <a:extLst>
              <a:ext uri="{FF2B5EF4-FFF2-40B4-BE49-F238E27FC236}">
                <a16:creationId xmlns:a16="http://schemas.microsoft.com/office/drawing/2014/main" id="{B2F76A79-3800-1435-88FB-8FB9609CB385}"/>
              </a:ext>
            </a:extLst>
          </p:cNvPr>
          <p:cNvSpPr/>
          <p:nvPr/>
        </p:nvSpPr>
        <p:spPr>
          <a:xfrm>
            <a:off x="34798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EF43BCDA-4513-C925-0E03-AEBDB0987056}"/>
              </a:ext>
            </a:extLst>
          </p:cNvPr>
          <p:cNvSpPr txBox="1"/>
          <p:nvPr/>
        </p:nvSpPr>
        <p:spPr>
          <a:xfrm>
            <a:off x="3556000"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Esponenziazione modulare</a:t>
            </a:r>
          </a:p>
        </p:txBody>
      </p:sp>
      <p:sp>
        <p:nvSpPr>
          <p:cNvPr id="13" name="TextBox 12">
            <a:extLst>
              <a:ext uri="{FF2B5EF4-FFF2-40B4-BE49-F238E27FC236}">
                <a16:creationId xmlns:a16="http://schemas.microsoft.com/office/drawing/2014/main" id="{64378A2F-F034-45ED-9900-8392E8A977BA}"/>
              </a:ext>
            </a:extLst>
          </p:cNvPr>
          <p:cNvSpPr txBox="1"/>
          <p:nvPr/>
        </p:nvSpPr>
        <p:spPr>
          <a:xfrm>
            <a:off x="35560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stima di fase (QPE)</a:t>
            </a:r>
          </a:p>
        </p:txBody>
      </p:sp>
      <p:sp>
        <p:nvSpPr>
          <p:cNvPr id="14" name="Arrow: Right 13">
            <a:extLst>
              <a:ext uri="{FF2B5EF4-FFF2-40B4-BE49-F238E27FC236}">
                <a16:creationId xmlns:a16="http://schemas.microsoft.com/office/drawing/2014/main" id="{FAD6E5CD-208C-6E07-9B48-CABEB14C5734}"/>
              </a:ext>
            </a:extLst>
          </p:cNvPr>
          <p:cNvSpPr/>
          <p:nvPr/>
        </p:nvSpPr>
        <p:spPr>
          <a:xfrm>
            <a:off x="5969000" y="2057400"/>
            <a:ext cx="177800" cy="152400"/>
          </a:xfrm>
          <a:prstGeom prst="rightArrow">
            <a:avLst/>
          </a:prstGeom>
          <a:solidFill>
            <a:srgbClr val="8A7A4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Rounded Corners 14">
            <a:extLst>
              <a:ext uri="{FF2B5EF4-FFF2-40B4-BE49-F238E27FC236}">
                <a16:creationId xmlns:a16="http://schemas.microsoft.com/office/drawing/2014/main" id="{C91D1915-4C4B-71BF-1D11-C89B7D8B7222}"/>
              </a:ext>
            </a:extLst>
          </p:cNvPr>
          <p:cNvSpPr/>
          <p:nvPr/>
        </p:nvSpPr>
        <p:spPr>
          <a:xfrm>
            <a:off x="61722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10BC7FA2-A5A5-149C-EABE-EA68AB38DC09}"/>
              </a:ext>
            </a:extLst>
          </p:cNvPr>
          <p:cNvSpPr txBox="1"/>
          <p:nvPr/>
        </p:nvSpPr>
        <p:spPr>
          <a:xfrm>
            <a:off x="6248400"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QFT inversa</a:t>
            </a:r>
          </a:p>
        </p:txBody>
      </p:sp>
      <p:sp>
        <p:nvSpPr>
          <p:cNvPr id="17" name="TextBox 16">
            <a:extLst>
              <a:ext uri="{FF2B5EF4-FFF2-40B4-BE49-F238E27FC236}">
                <a16:creationId xmlns:a16="http://schemas.microsoft.com/office/drawing/2014/main" id="{3B513393-831B-C90D-5BCD-591EB8FE277A}"/>
              </a:ext>
            </a:extLst>
          </p:cNvPr>
          <p:cNvSpPr txBox="1"/>
          <p:nvPr/>
        </p:nvSpPr>
        <p:spPr>
          <a:xfrm>
            <a:off x="62484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rotazioni controllate</a:t>
            </a:r>
          </a:p>
        </p:txBody>
      </p:sp>
      <p:sp>
        <p:nvSpPr>
          <p:cNvPr id="50" name="Arrow: Right 49">
            <a:extLst>
              <a:ext uri="{FF2B5EF4-FFF2-40B4-BE49-F238E27FC236}">
                <a16:creationId xmlns:a16="http://schemas.microsoft.com/office/drawing/2014/main" id="{29DEC9FE-10C7-271F-ABEB-4B97B4321FCD}"/>
              </a:ext>
            </a:extLst>
          </p:cNvPr>
          <p:cNvSpPr/>
          <p:nvPr/>
        </p:nvSpPr>
        <p:spPr>
          <a:xfrm>
            <a:off x="8661400" y="2057400"/>
            <a:ext cx="177800" cy="152400"/>
          </a:xfrm>
          <a:prstGeom prst="rightArrow">
            <a:avLst/>
          </a:prstGeom>
          <a:solidFill>
            <a:srgbClr val="8A7A4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Rounded Corners 50">
            <a:extLst>
              <a:ext uri="{FF2B5EF4-FFF2-40B4-BE49-F238E27FC236}">
                <a16:creationId xmlns:a16="http://schemas.microsoft.com/office/drawing/2014/main" id="{5804AC16-C84A-4973-1E3A-33EF6EF0CE42}"/>
              </a:ext>
            </a:extLst>
          </p:cNvPr>
          <p:cNvSpPr/>
          <p:nvPr/>
        </p:nvSpPr>
        <p:spPr>
          <a:xfrm>
            <a:off x="88646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TextBox 51">
            <a:extLst>
              <a:ext uri="{FF2B5EF4-FFF2-40B4-BE49-F238E27FC236}">
                <a16:creationId xmlns:a16="http://schemas.microsoft.com/office/drawing/2014/main" id="{646B5660-21FE-82E2-FF02-0E010D013066}"/>
              </a:ext>
            </a:extLst>
          </p:cNvPr>
          <p:cNvSpPr txBox="1"/>
          <p:nvPr/>
        </p:nvSpPr>
        <p:spPr>
          <a:xfrm>
            <a:off x="8940800"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Misura</a:t>
            </a:r>
          </a:p>
        </p:txBody>
      </p:sp>
      <p:sp>
        <p:nvSpPr>
          <p:cNvPr id="53" name="TextBox 52">
            <a:extLst>
              <a:ext uri="{FF2B5EF4-FFF2-40B4-BE49-F238E27FC236}">
                <a16:creationId xmlns:a16="http://schemas.microsoft.com/office/drawing/2014/main" id="{1A21D735-A996-BECE-47BE-974260D6411D}"/>
              </a:ext>
            </a:extLst>
          </p:cNvPr>
          <p:cNvSpPr txBox="1"/>
          <p:nvPr/>
        </p:nvSpPr>
        <p:spPr>
          <a:xfrm>
            <a:off x="89408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istogramma degli esiti</a:t>
            </a:r>
          </a:p>
        </p:txBody>
      </p:sp>
      <p:sp>
        <p:nvSpPr>
          <p:cNvPr id="56" name="Rectangle: Rounded Corners 55">
            <a:extLst>
              <a:ext uri="{FF2B5EF4-FFF2-40B4-BE49-F238E27FC236}">
                <a16:creationId xmlns:a16="http://schemas.microsoft.com/office/drawing/2014/main" id="{F8702F06-AC41-A784-75A6-8A63F848BF2E}"/>
              </a:ext>
            </a:extLst>
          </p:cNvPr>
          <p:cNvSpPr/>
          <p:nvPr/>
        </p:nvSpPr>
        <p:spPr>
          <a:xfrm>
            <a:off x="6172200" y="4191000"/>
            <a:ext cx="2463800" cy="939800"/>
          </a:xfrm>
          <a:prstGeom prst="roundRect">
            <a:avLst>
              <a:gd name="adj" fmla="val 8000"/>
            </a:avLst>
          </a:prstGeom>
          <a:solidFill>
            <a:srgbClr val="EEE7F7"/>
          </a:solidFill>
          <a:ln w="15875">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TextBox 56">
            <a:extLst>
              <a:ext uri="{FF2B5EF4-FFF2-40B4-BE49-F238E27FC236}">
                <a16:creationId xmlns:a16="http://schemas.microsoft.com/office/drawing/2014/main" id="{86D805D8-D26E-2153-32FC-2D467B951E73}"/>
              </a:ext>
            </a:extLst>
          </p:cNvPr>
          <p:cNvSpPr txBox="1"/>
          <p:nvPr/>
        </p:nvSpPr>
        <p:spPr>
          <a:xfrm>
            <a:off x="6299200" y="4254500"/>
            <a:ext cx="22098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QFT approssimata</a:t>
            </a:r>
            <a:endParaRPr lang="en-GB" sz="1500" b="1" dirty="0">
              <a:solidFill>
                <a:srgbClr val="4B2E83"/>
              </a:solidFill>
              <a:latin typeface="Arial" panose="020B0604020202020204" pitchFamily="34" charset="0"/>
            </a:endParaRPr>
          </a:p>
        </p:txBody>
      </p:sp>
      <p:sp>
        <p:nvSpPr>
          <p:cNvPr id="58" name="TextBox 57">
            <a:extLst>
              <a:ext uri="{FF2B5EF4-FFF2-40B4-BE49-F238E27FC236}">
                <a16:creationId xmlns:a16="http://schemas.microsoft.com/office/drawing/2014/main" id="{70E09711-6032-D441-5BEC-D255762B5C0F}"/>
              </a:ext>
            </a:extLst>
          </p:cNvPr>
          <p:cNvSpPr txBox="1"/>
          <p:nvPr/>
        </p:nvSpPr>
        <p:spPr>
          <a:xfrm>
            <a:off x="6299200" y="4572000"/>
            <a:ext cx="2209800" cy="369332"/>
          </a:xfrm>
          <a:prstGeom prst="rect">
            <a:avLst/>
          </a:prstGeom>
          <a:noFill/>
        </p:spPr>
        <p:txBody>
          <a:bodyPr vert="horz" wrap="square" rtlCol="0">
            <a:noAutofit/>
          </a:bodyPr>
          <a:lstStyle/>
          <a:p>
            <a:r>
              <a:rPr lang="it-IT" sz="1275" dirty="0">
                <a:solidFill>
                  <a:srgbClr val="203344"/>
                </a:solidFill>
                <a:latin typeface="Arial" panose="020B0604020202020204" pitchFamily="34" charset="0"/>
              </a:rPr>
              <a:t>toglie le rotazioni di piccolo angolo</a:t>
            </a:r>
            <a:endParaRPr lang="en-GB" sz="1275" dirty="0">
              <a:solidFill>
                <a:srgbClr val="203344"/>
              </a:solidFill>
              <a:latin typeface="Arial" panose="020B0604020202020204" pitchFamily="34" charset="0"/>
            </a:endParaRPr>
          </a:p>
        </p:txBody>
      </p:sp>
      <p:sp>
        <p:nvSpPr>
          <p:cNvPr id="59" name="Rectangle: Rounded Corners 58">
            <a:extLst>
              <a:ext uri="{FF2B5EF4-FFF2-40B4-BE49-F238E27FC236}">
                <a16:creationId xmlns:a16="http://schemas.microsoft.com/office/drawing/2014/main" id="{7D7FE52C-2C69-C699-AE2B-42253A1D7671}"/>
              </a:ext>
            </a:extLst>
          </p:cNvPr>
          <p:cNvSpPr/>
          <p:nvPr/>
        </p:nvSpPr>
        <p:spPr>
          <a:xfrm>
            <a:off x="8864600" y="2997200"/>
            <a:ext cx="2463800" cy="939800"/>
          </a:xfrm>
          <a:prstGeom prst="roundRect">
            <a:avLst>
              <a:gd name="adj" fmla="val 8000"/>
            </a:avLst>
          </a:prstGeom>
          <a:solidFill>
            <a:srgbClr val="EEE7F7"/>
          </a:solidFill>
          <a:ln w="15875">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TextBox 59">
            <a:extLst>
              <a:ext uri="{FF2B5EF4-FFF2-40B4-BE49-F238E27FC236}">
                <a16:creationId xmlns:a16="http://schemas.microsoft.com/office/drawing/2014/main" id="{DD1271B2-1BD1-2C08-298C-BB17D381E5F9}"/>
              </a:ext>
            </a:extLst>
          </p:cNvPr>
          <p:cNvSpPr txBox="1"/>
          <p:nvPr/>
        </p:nvSpPr>
        <p:spPr>
          <a:xfrm>
            <a:off x="8991600" y="3060700"/>
            <a:ext cx="22098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Post-processing</a:t>
            </a:r>
          </a:p>
        </p:txBody>
      </p:sp>
      <p:sp>
        <p:nvSpPr>
          <p:cNvPr id="61" name="TextBox 60">
            <a:extLst>
              <a:ext uri="{FF2B5EF4-FFF2-40B4-BE49-F238E27FC236}">
                <a16:creationId xmlns:a16="http://schemas.microsoft.com/office/drawing/2014/main" id="{B32AF17F-33DD-27A1-2503-DFC2B928164A}"/>
              </a:ext>
            </a:extLst>
          </p:cNvPr>
          <p:cNvSpPr txBox="1"/>
          <p:nvPr/>
        </p:nvSpPr>
        <p:spPr>
          <a:xfrm>
            <a:off x="8991600" y="3378200"/>
            <a:ext cx="2209800" cy="369332"/>
          </a:xfrm>
          <a:prstGeom prst="rect">
            <a:avLst/>
          </a:prstGeom>
          <a:noFill/>
        </p:spPr>
        <p:txBody>
          <a:bodyPr vert="horz" wrap="square" rtlCol="0">
            <a:noAutofit/>
          </a:bodyPr>
          <a:lstStyle/>
          <a:p>
            <a:r>
              <a:rPr lang="it-IT" sz="1275">
                <a:solidFill>
                  <a:srgbClr val="203344"/>
                </a:solidFill>
                <a:latin typeface="Arial" panose="020B0604020202020204" pitchFamily="34" charset="0"/>
              </a:rPr>
              <a:t>verifica classica degli esiti misurati</a:t>
            </a:r>
            <a:endParaRPr lang="en-GB" sz="1275">
              <a:solidFill>
                <a:srgbClr val="203344"/>
              </a:solidFill>
              <a:latin typeface="Arial" panose="020B0604020202020204" pitchFamily="34" charset="0"/>
            </a:endParaRPr>
          </a:p>
        </p:txBody>
      </p:sp>
      <p:sp>
        <p:nvSpPr>
          <p:cNvPr id="63" name="Rectangle: Rounded Corners 62">
            <a:extLst>
              <a:ext uri="{FF2B5EF4-FFF2-40B4-BE49-F238E27FC236}">
                <a16:creationId xmlns:a16="http://schemas.microsoft.com/office/drawing/2014/main" id="{899DB2B1-FCD0-8D4F-AE5F-917B564E2B10}"/>
              </a:ext>
            </a:extLst>
          </p:cNvPr>
          <p:cNvSpPr/>
          <p:nvPr/>
        </p:nvSpPr>
        <p:spPr>
          <a:xfrm>
            <a:off x="8864600" y="4191000"/>
            <a:ext cx="2463800" cy="939800"/>
          </a:xfrm>
          <a:prstGeom prst="roundRect">
            <a:avLst>
              <a:gd name="adj" fmla="val 8000"/>
            </a:avLst>
          </a:prstGeom>
          <a:solidFill>
            <a:srgbClr val="EEE7F7"/>
          </a:solidFill>
          <a:ln w="15875">
            <a:solidFill>
              <a:srgbClr val="6B4F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TextBox 63">
            <a:extLst>
              <a:ext uri="{FF2B5EF4-FFF2-40B4-BE49-F238E27FC236}">
                <a16:creationId xmlns:a16="http://schemas.microsoft.com/office/drawing/2014/main" id="{326F084D-93F3-CFB3-2AEF-0176AA102007}"/>
              </a:ext>
            </a:extLst>
          </p:cNvPr>
          <p:cNvSpPr txBox="1"/>
          <p:nvPr/>
        </p:nvSpPr>
        <p:spPr>
          <a:xfrm>
            <a:off x="8991600" y="4254500"/>
            <a:ext cx="22098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TOP-K e ML</a:t>
            </a:r>
          </a:p>
        </p:txBody>
      </p:sp>
      <p:sp>
        <p:nvSpPr>
          <p:cNvPr id="65" name="TextBox 64">
            <a:extLst>
              <a:ext uri="{FF2B5EF4-FFF2-40B4-BE49-F238E27FC236}">
                <a16:creationId xmlns:a16="http://schemas.microsoft.com/office/drawing/2014/main" id="{273609B0-B17D-A477-1EAC-F52183F7EA23}"/>
              </a:ext>
            </a:extLst>
          </p:cNvPr>
          <p:cNvSpPr txBox="1"/>
          <p:nvPr/>
        </p:nvSpPr>
        <p:spPr>
          <a:xfrm>
            <a:off x="8991600" y="4572000"/>
            <a:ext cx="2209800" cy="369332"/>
          </a:xfrm>
          <a:prstGeom prst="rect">
            <a:avLst/>
          </a:prstGeom>
          <a:noFill/>
        </p:spPr>
        <p:txBody>
          <a:bodyPr vert="horz" wrap="square" rtlCol="0">
            <a:noAutofit/>
          </a:bodyPr>
          <a:lstStyle/>
          <a:p>
            <a:r>
              <a:rPr lang="it-IT" sz="1275">
                <a:solidFill>
                  <a:srgbClr val="203344"/>
                </a:solidFill>
                <a:latin typeface="Arial" panose="020B0604020202020204" pitchFamily="34" charset="0"/>
              </a:rPr>
              <a:t>TOP-1, TOP-4, Metodo 2: quali esiti verificare</a:t>
            </a:r>
            <a:endParaRPr lang="en-GB" sz="1275">
              <a:solidFill>
                <a:srgbClr val="203344"/>
              </a:solidFill>
              <a:latin typeface="Arial" panose="020B0604020202020204" pitchFamily="34" charset="0"/>
            </a:endParaRPr>
          </a:p>
        </p:txBody>
      </p:sp>
      <p:sp>
        <p:nvSpPr>
          <p:cNvPr id="72" name="TextBox 71">
            <a:extLst>
              <a:ext uri="{FF2B5EF4-FFF2-40B4-BE49-F238E27FC236}">
                <a16:creationId xmlns:a16="http://schemas.microsoft.com/office/drawing/2014/main" id="{EB047577-9F9F-1D1C-C350-FB9AAE01B31A}"/>
              </a:ext>
            </a:extLst>
          </p:cNvPr>
          <p:cNvSpPr txBox="1"/>
          <p:nvPr/>
        </p:nvSpPr>
        <p:spPr>
          <a:xfrm>
            <a:off x="609600" y="60452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In giallo l'algoritmo di Shor, in viola i punti in cui ho lavorato.</a:t>
            </a:r>
            <a:endParaRPr lang="en-GB" sz="1950" b="1">
              <a:solidFill>
                <a:srgbClr val="175F99"/>
              </a:solidFill>
              <a:latin typeface="Arial" panose="020B0604020202020204" pitchFamily="34" charset="0"/>
            </a:endParaRPr>
          </a:p>
        </p:txBody>
      </p:sp>
      <p:sp>
        <p:nvSpPr>
          <p:cNvPr id="68" name="Rectangle: Rounded Corners 67">
            <a:extLst>
              <a:ext uri="{FF2B5EF4-FFF2-40B4-BE49-F238E27FC236}">
                <a16:creationId xmlns:a16="http://schemas.microsoft.com/office/drawing/2014/main" id="{591DD65E-84D6-869C-A834-5BCCD873E3BA}"/>
              </a:ext>
            </a:extLst>
          </p:cNvPr>
          <p:cNvSpPr/>
          <p:nvPr/>
        </p:nvSpPr>
        <p:spPr>
          <a:xfrm>
            <a:off x="3479800" y="2997200"/>
            <a:ext cx="5156200" cy="939800"/>
          </a:xfrm>
          <a:prstGeom prst="roundRect">
            <a:avLst>
              <a:gd name="adj" fmla="val 8000"/>
            </a:avLst>
          </a:prstGeom>
          <a:solidFill>
            <a:srgbClr val="EEE7F7"/>
          </a:solidFill>
          <a:ln w="15875">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TextBox 68">
            <a:extLst>
              <a:ext uri="{FF2B5EF4-FFF2-40B4-BE49-F238E27FC236}">
                <a16:creationId xmlns:a16="http://schemas.microsoft.com/office/drawing/2014/main" id="{C97455E7-7CCA-BE6A-D77C-5C64732A886B}"/>
              </a:ext>
            </a:extLst>
          </p:cNvPr>
          <p:cNvSpPr txBox="1"/>
          <p:nvPr/>
        </p:nvSpPr>
        <p:spPr>
          <a:xfrm>
            <a:off x="3606800" y="3060700"/>
            <a:ext cx="49022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Correzione degli errori (QEC)</a:t>
            </a:r>
          </a:p>
        </p:txBody>
      </p:sp>
      <p:sp>
        <p:nvSpPr>
          <p:cNvPr id="70" name="TextBox 69">
            <a:extLst>
              <a:ext uri="{FF2B5EF4-FFF2-40B4-BE49-F238E27FC236}">
                <a16:creationId xmlns:a16="http://schemas.microsoft.com/office/drawing/2014/main" id="{09239A3F-A0D9-B54E-B6EB-603D0B37DEC0}"/>
              </a:ext>
            </a:extLst>
          </p:cNvPr>
          <p:cNvSpPr txBox="1"/>
          <p:nvPr/>
        </p:nvSpPr>
        <p:spPr>
          <a:xfrm>
            <a:off x="3606800" y="3378200"/>
            <a:ext cx="4902200" cy="369332"/>
          </a:xfrm>
          <a:prstGeom prst="rect">
            <a:avLst/>
          </a:prstGeom>
          <a:noFill/>
        </p:spPr>
        <p:txBody>
          <a:bodyPr vert="horz" wrap="square" rtlCol="0">
            <a:noAutofit/>
          </a:bodyPr>
          <a:lstStyle/>
          <a:p>
            <a:r>
              <a:rPr lang="it-IT" sz="1275" dirty="0" err="1">
                <a:solidFill>
                  <a:srgbClr val="203344"/>
                </a:solidFill>
                <a:latin typeface="Arial" panose="020B0604020202020204" pitchFamily="34" charset="0"/>
              </a:rPr>
              <a:t>surface</a:t>
            </a:r>
            <a:r>
              <a:rPr lang="it-IT" sz="1275" dirty="0">
                <a:solidFill>
                  <a:srgbClr val="203344"/>
                </a:solidFill>
                <a:latin typeface="Arial" panose="020B0604020202020204" pitchFamily="34" charset="0"/>
              </a:rPr>
              <a:t> code e Gross code di IBM: proteggono i qubit durante il calcolo (</a:t>
            </a:r>
            <a:r>
              <a:rPr lang="it-IT" sz="1275" dirty="0" err="1">
                <a:solidFill>
                  <a:srgbClr val="203344"/>
                </a:solidFill>
                <a:latin typeface="Arial" panose="020B0604020202020204" pitchFamily="34" charset="0"/>
              </a:rPr>
              <a:t>esponenziazione</a:t>
            </a:r>
            <a:r>
              <a:rPr lang="it-IT" sz="1275" dirty="0">
                <a:solidFill>
                  <a:srgbClr val="203344"/>
                </a:solidFill>
                <a:latin typeface="Arial" panose="020B0604020202020204" pitchFamily="34" charset="0"/>
              </a:rPr>
              <a:t> e QFT)</a:t>
            </a:r>
            <a:endParaRPr lang="en-GB" sz="1275" dirty="0">
              <a:solidFill>
                <a:srgbClr val="203344"/>
              </a:solidFill>
              <a:latin typeface="Arial" panose="020B0604020202020204" pitchFamily="34" charset="0"/>
            </a:endParaRPr>
          </a:p>
        </p:txBody>
      </p:sp>
    </p:spTree>
    <p:extLst>
      <p:ext uri="{BB962C8B-B14F-4D97-AF65-F5344CB8AC3E}">
        <p14:creationId xmlns:p14="http://schemas.microsoft.com/office/powerpoint/2010/main" val="2417219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Come si misura il successo di Shor</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Materiali e metodi | 8</a:t>
            </a:r>
            <a:endParaRPr sz="120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911C460D-B10D-C161-F06A-4237E2387A18}"/>
              </a:ext>
            </a:extLst>
          </p:cNvPr>
          <p:cNvSpPr txBox="1"/>
          <p:nvPr/>
        </p:nvSpPr>
        <p:spPr>
          <a:xfrm>
            <a:off x="609600" y="1320800"/>
            <a:ext cx="10972800" cy="369332"/>
          </a:xfrm>
          <a:prstGeom prst="rect">
            <a:avLst/>
          </a:prstGeom>
          <a:noFill/>
        </p:spPr>
        <p:txBody>
          <a:bodyPr vert="horz" wrap="square" rtlCol="0">
            <a:noAutofit/>
          </a:bodyPr>
          <a:lstStyle/>
          <a:p>
            <a:r>
              <a:rPr lang="it-IT" sz="2100">
                <a:solidFill>
                  <a:srgbClr val="203344"/>
                </a:solidFill>
                <a:latin typeface="Arial" panose="020B0604020202020204" pitchFamily="34" charset="0"/>
              </a:rPr>
              <a:t>Successo = fattori non banali ottenuti da una singola misura</a:t>
            </a:r>
            <a:endParaRPr lang="en-GB" sz="2100">
              <a:solidFill>
                <a:srgbClr val="203344"/>
              </a:solidFill>
              <a:latin typeface="Arial" panose="020B0604020202020204" pitchFamily="34" charset="0"/>
            </a:endParaRPr>
          </a:p>
        </p:txBody>
      </p:sp>
      <p:sp>
        <p:nvSpPr>
          <p:cNvPr id="20" name="TextBox 19">
            <a:extLst>
              <a:ext uri="{FF2B5EF4-FFF2-40B4-BE49-F238E27FC236}">
                <a16:creationId xmlns:a16="http://schemas.microsoft.com/office/drawing/2014/main" id="{BADE54F5-D458-64F7-69A6-EA10F02D5813}"/>
              </a:ext>
            </a:extLst>
          </p:cNvPr>
          <p:cNvSpPr txBox="1"/>
          <p:nvPr/>
        </p:nvSpPr>
        <p:spPr>
          <a:xfrm>
            <a:off x="609600" y="1905000"/>
            <a:ext cx="5080000" cy="369332"/>
          </a:xfrm>
          <a:prstGeom prst="rect">
            <a:avLst/>
          </a:prstGeom>
          <a:noFill/>
        </p:spPr>
        <p:txBody>
          <a:bodyPr vert="horz" wrap="square" rtlCol="0">
            <a:noAutofit/>
          </a:bodyPr>
          <a:lstStyle/>
          <a:p>
            <a:r>
              <a:rPr lang="en-GB" sz="5250" b="1">
                <a:solidFill>
                  <a:srgbClr val="175F99"/>
                </a:solidFill>
                <a:latin typeface="Arial" panose="020B0604020202020204" pitchFamily="34" charset="0"/>
              </a:rPr>
              <a:t>75%</a:t>
            </a:r>
          </a:p>
        </p:txBody>
      </p:sp>
      <p:sp>
        <p:nvSpPr>
          <p:cNvPr id="21" name="TextBox 20">
            <a:extLst>
              <a:ext uri="{FF2B5EF4-FFF2-40B4-BE49-F238E27FC236}">
                <a16:creationId xmlns:a16="http://schemas.microsoft.com/office/drawing/2014/main" id="{ADAA89B4-CE96-0D99-10CE-03C6CD0FA7B5}"/>
              </a:ext>
            </a:extLst>
          </p:cNvPr>
          <p:cNvSpPr txBox="1"/>
          <p:nvPr/>
        </p:nvSpPr>
        <p:spPr>
          <a:xfrm>
            <a:off x="609600" y="2768600"/>
            <a:ext cx="5080000" cy="369332"/>
          </a:xfrm>
          <a:prstGeom prst="rect">
            <a:avLst/>
          </a:prstGeom>
          <a:noFill/>
        </p:spPr>
        <p:txBody>
          <a:bodyPr vert="horz" wrap="square" rtlCol="0">
            <a:noAutofit/>
          </a:bodyPr>
          <a:lstStyle/>
          <a:p>
            <a:r>
              <a:rPr lang="it-IT">
                <a:solidFill>
                  <a:srgbClr val="203344"/>
                </a:solidFill>
                <a:latin typeface="Arial" panose="020B0604020202020204" pitchFamily="34" charset="0"/>
              </a:rPr>
              <a:t>successo ideale: 3 dei 4 picchi (0, 64, 128, 192) portano ai fattori</a:t>
            </a:r>
            <a:endParaRPr lang="en-GB">
              <a:solidFill>
                <a:srgbClr val="203344"/>
              </a:solidFill>
              <a:latin typeface="Arial" panose="020B0604020202020204" pitchFamily="34" charset="0"/>
            </a:endParaRPr>
          </a:p>
        </p:txBody>
      </p:sp>
      <p:sp>
        <p:nvSpPr>
          <p:cNvPr id="22" name="TextBox 21">
            <a:extLst>
              <a:ext uri="{FF2B5EF4-FFF2-40B4-BE49-F238E27FC236}">
                <a16:creationId xmlns:a16="http://schemas.microsoft.com/office/drawing/2014/main" id="{E31FB8D5-5C8F-B7EA-8779-6C4DF4CAC998}"/>
              </a:ext>
            </a:extLst>
          </p:cNvPr>
          <p:cNvSpPr txBox="1"/>
          <p:nvPr/>
        </p:nvSpPr>
        <p:spPr>
          <a:xfrm>
            <a:off x="609600" y="3810000"/>
            <a:ext cx="5080000" cy="369332"/>
          </a:xfrm>
          <a:prstGeom prst="rect">
            <a:avLst/>
          </a:prstGeom>
          <a:noFill/>
        </p:spPr>
        <p:txBody>
          <a:bodyPr vert="horz" wrap="square" rtlCol="0">
            <a:noAutofit/>
          </a:bodyPr>
          <a:lstStyle/>
          <a:p>
            <a:r>
              <a:rPr lang="en-GB" sz="5250" b="1">
                <a:solidFill>
                  <a:srgbClr val="175F99"/>
                </a:solidFill>
                <a:latin typeface="Arial" panose="020B0604020202020204" pitchFamily="34" charset="0"/>
              </a:rPr>
              <a:t>24,61%</a:t>
            </a:r>
          </a:p>
        </p:txBody>
      </p:sp>
      <p:sp>
        <p:nvSpPr>
          <p:cNvPr id="23" name="TextBox 22">
            <a:extLst>
              <a:ext uri="{FF2B5EF4-FFF2-40B4-BE49-F238E27FC236}">
                <a16:creationId xmlns:a16="http://schemas.microsoft.com/office/drawing/2014/main" id="{0290DE17-8B52-9909-2756-52CAB7266D50}"/>
              </a:ext>
            </a:extLst>
          </p:cNvPr>
          <p:cNvSpPr txBox="1"/>
          <p:nvPr/>
        </p:nvSpPr>
        <p:spPr>
          <a:xfrm>
            <a:off x="609600" y="4673600"/>
            <a:ext cx="5080000" cy="369332"/>
          </a:xfrm>
          <a:prstGeom prst="rect">
            <a:avLst/>
          </a:prstGeom>
          <a:noFill/>
        </p:spPr>
        <p:txBody>
          <a:bodyPr vert="horz" wrap="square" rtlCol="0">
            <a:noAutofit/>
          </a:bodyPr>
          <a:lstStyle/>
          <a:p>
            <a:r>
              <a:rPr lang="it-IT">
                <a:solidFill>
                  <a:srgbClr val="203344"/>
                </a:solidFill>
                <a:latin typeface="Arial" panose="020B0604020202020204" pitchFamily="34" charset="0"/>
              </a:rPr>
              <a:t>riferimento uniforme: la verifica classica accetta 63 esiti su 256, anche se casuali</a:t>
            </a:r>
            <a:endParaRPr lang="en-GB">
              <a:solidFill>
                <a:srgbClr val="203344"/>
              </a:solidFill>
              <a:latin typeface="Arial" panose="020B0604020202020204" pitchFamily="34" charset="0"/>
            </a:endParaRPr>
          </a:p>
        </p:txBody>
      </p:sp>
      <p:sp>
        <p:nvSpPr>
          <p:cNvPr id="24" name="Rectangle: Rounded Corners 23">
            <a:extLst>
              <a:ext uri="{FF2B5EF4-FFF2-40B4-BE49-F238E27FC236}">
                <a16:creationId xmlns:a16="http://schemas.microsoft.com/office/drawing/2014/main" id="{F550C7F5-9DB6-C4FB-160F-0DA86CD67156}"/>
              </a:ext>
            </a:extLst>
          </p:cNvPr>
          <p:cNvSpPr/>
          <p:nvPr/>
        </p:nvSpPr>
        <p:spPr>
          <a:xfrm>
            <a:off x="6248400" y="2032000"/>
            <a:ext cx="5334000" cy="3556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24">
            <a:extLst>
              <a:ext uri="{FF2B5EF4-FFF2-40B4-BE49-F238E27FC236}">
                <a16:creationId xmlns:a16="http://schemas.microsoft.com/office/drawing/2014/main" id="{84852183-35E7-C8A1-0AA0-89A6A18EB24B}"/>
              </a:ext>
            </a:extLst>
          </p:cNvPr>
          <p:cNvSpPr txBox="1"/>
          <p:nvPr/>
        </p:nvSpPr>
        <p:spPr>
          <a:xfrm>
            <a:off x="6451600" y="2184400"/>
            <a:ext cx="4953000" cy="381000"/>
          </a:xfrm>
          <a:prstGeom prst="rect">
            <a:avLst/>
          </a:prstGeom>
          <a:noFill/>
        </p:spPr>
        <p:txBody>
          <a:bodyPr vert="horz" wrap="square" rtlCol="0">
            <a:noAutofit/>
          </a:bodyPr>
          <a:lstStyle/>
          <a:p>
            <a:r>
              <a:rPr lang="en-GB" sz="2175" b="1">
                <a:solidFill>
                  <a:srgbClr val="003366"/>
                </a:solidFill>
                <a:latin typeface="Arial" panose="020B0604020202020204" pitchFamily="34" charset="0"/>
              </a:rPr>
              <a:t>Come si legge</a:t>
            </a:r>
          </a:p>
        </p:txBody>
      </p:sp>
      <p:sp>
        <p:nvSpPr>
          <p:cNvPr id="26" name="TextBox 25">
            <a:extLst>
              <a:ext uri="{FF2B5EF4-FFF2-40B4-BE49-F238E27FC236}">
                <a16:creationId xmlns:a16="http://schemas.microsoft.com/office/drawing/2014/main" id="{AF938EC5-FB1B-258A-338B-32D7C62322AB}"/>
              </a:ext>
            </a:extLst>
          </p:cNvPr>
          <p:cNvSpPr txBox="1"/>
          <p:nvPr/>
        </p:nvSpPr>
        <p:spPr>
          <a:xfrm>
            <a:off x="6451600" y="2692400"/>
            <a:ext cx="4953000" cy="369332"/>
          </a:xfrm>
          <a:prstGeom prst="rect">
            <a:avLst/>
          </a:prstGeom>
          <a:noFill/>
        </p:spPr>
        <p:txBody>
          <a:bodyPr vert="horz" wrap="square" rtlCol="0">
            <a:noAutofit/>
          </a:bodyPr>
          <a:lstStyle/>
          <a:p>
            <a:pPr>
              <a:spcAft>
                <a:spcPts val="1000"/>
              </a:spcAft>
            </a:pPr>
            <a:r>
              <a:rPr lang="it-IT" sz="1725">
                <a:solidFill>
                  <a:srgbClr val="203344"/>
                </a:solidFill>
                <a:latin typeface="Arial" panose="020B0604020202020204" pitchFamily="34" charset="0"/>
              </a:rPr>
              <a:t>Un successo vicino al 24,61% non dimostra che resti informazione quantistica.</a:t>
            </a:r>
          </a:p>
          <a:p>
            <a:pPr>
              <a:spcAft>
                <a:spcPts val="1000"/>
              </a:spcAft>
            </a:pPr>
            <a:r>
              <a:rPr lang="it-IT" sz="1725">
                <a:solidFill>
                  <a:srgbClr val="203344"/>
                </a:solidFill>
                <a:latin typeface="Arial" panose="020B0604020202020204" pitchFamily="34" charset="0"/>
              </a:rPr>
              <a:t>Il riferimento dipende dall'istanza e dalla verifica classica, non dalla fedeltà dello stato.</a:t>
            </a:r>
          </a:p>
          <a:p>
            <a:pPr>
              <a:spcAft>
                <a:spcPts val="1000"/>
              </a:spcAft>
            </a:pPr>
            <a:r>
              <a:rPr lang="it-IT" sz="1725">
                <a:solidFill>
                  <a:srgbClr val="203344"/>
                </a:solidFill>
                <a:latin typeface="Arial" panose="020B0604020202020204" pitchFamily="34" charset="0"/>
              </a:rPr>
              <a:t>Lo stesso criterio vale per tutte le strategie confrontate.</a:t>
            </a:r>
            <a:endParaRPr lang="en-GB" sz="1725">
              <a:solidFill>
                <a:srgbClr val="203344"/>
              </a:solidFill>
              <a:latin typeface="Arial" panose="020B0604020202020204" pitchFamily="34" charset="0"/>
            </a:endParaRPr>
          </a:p>
        </p:txBody>
      </p:sp>
      <p:sp>
        <p:nvSpPr>
          <p:cNvPr id="27" name="TextBox 26">
            <a:extLst>
              <a:ext uri="{FF2B5EF4-FFF2-40B4-BE49-F238E27FC236}">
                <a16:creationId xmlns:a16="http://schemas.microsoft.com/office/drawing/2014/main" id="{DAFAC622-5304-1DFD-C83D-99AB68691B2B}"/>
              </a:ext>
            </a:extLst>
          </p:cNvPr>
          <p:cNvSpPr txBox="1"/>
          <p:nvPr/>
        </p:nvSpPr>
        <p:spPr>
          <a:xfrm>
            <a:off x="609600" y="60706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Ogni risultato su Shor va letto tra questi due valori: 75% ideale, 24,61% casuale.</a:t>
            </a:r>
            <a:endParaRPr lang="en-GB" sz="1950" b="1">
              <a:solidFill>
                <a:srgbClr val="175F99"/>
              </a:solidFill>
              <a:latin typeface="Arial" panose="020B0604020202020204" pitchFamily="34" charset="0"/>
            </a:endParaRPr>
          </a:p>
        </p:txBody>
      </p:sp>
    </p:spTree>
    <p:extLst>
      <p:ext uri="{BB962C8B-B14F-4D97-AF65-F5344CB8AC3E}">
        <p14:creationId xmlns:p14="http://schemas.microsoft.com/office/powerpoint/2010/main" val="26492779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Istanze, validazione e strumenti</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Materiali e metodi | 9</a:t>
            </a:r>
            <a:endParaRPr sz="1200" b="0">
              <a:solidFill>
                <a:srgbClr val="203344"/>
              </a:solidFill>
              <a:latin typeface="Arial"/>
              <a:ea typeface="Arial"/>
              <a:cs typeface="Arial"/>
            </a:endParaRPr>
          </a:p>
        </p:txBody>
      </p:sp>
      <p:sp>
        <p:nvSpPr>
          <p:cNvPr id="5" name="Rectangle: Rounded Corners 4">
            <a:extLst>
              <a:ext uri="{FF2B5EF4-FFF2-40B4-BE49-F238E27FC236}">
                <a16:creationId xmlns:a16="http://schemas.microsoft.com/office/drawing/2014/main" id="{A033642A-39D7-436F-9CFC-7676A57C1D14}"/>
              </a:ext>
            </a:extLst>
          </p:cNvPr>
          <p:cNvSpPr>
            <a:spLocks noGrp="1"/>
          </p:cNvSpPr>
          <p:nvPr/>
        </p:nvSpPr>
        <p:spPr>
          <a:xfrm>
            <a:off x="609600" y="1581150"/>
            <a:ext cx="5334000" cy="2724150"/>
          </a:xfrm>
          <a:prstGeom prst="roundRect">
            <a:avLst>
              <a:gd name="adj" fmla="val 3497"/>
            </a:avLst>
          </a:prstGeom>
          <a:solidFill>
            <a:srgbClr val="EEF4F8"/>
          </a:solidFill>
          <a:ln w="14288">
            <a:solidFill>
              <a:srgbClr val="5084BF"/>
            </a:solidFill>
          </a:ln>
        </p:spPr>
        <p:txBody>
          <a:bodyPr/>
          <a:lstStyle/>
          <a:p>
            <a:endParaRPr lang="en-GB"/>
          </a:p>
        </p:txBody>
      </p:sp>
      <p:sp>
        <p:nvSpPr>
          <p:cNvPr id="6" name="Rectangle 5">
            <a:extLst>
              <a:ext uri="{FF2B5EF4-FFF2-40B4-BE49-F238E27FC236}">
                <a16:creationId xmlns:a16="http://schemas.microsoft.com/office/drawing/2014/main" id="{1FD7BAFB-51F3-4B90-8C13-B49FD97090D5}"/>
              </a:ext>
            </a:extLst>
          </p:cNvPr>
          <p:cNvSpPr>
            <a:spLocks noGrp="1"/>
          </p:cNvSpPr>
          <p:nvPr/>
        </p:nvSpPr>
        <p:spPr>
          <a:xfrm>
            <a:off x="790575" y="1771650"/>
            <a:ext cx="49784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N = 15 · a = 7 · r = 4</a:t>
            </a:r>
          </a:p>
        </p:txBody>
      </p:sp>
      <p:sp>
        <p:nvSpPr>
          <p:cNvPr id="7" name="Rectangle 6">
            <a:extLst>
              <a:ext uri="{FF2B5EF4-FFF2-40B4-BE49-F238E27FC236}">
                <a16:creationId xmlns:a16="http://schemas.microsoft.com/office/drawing/2014/main" id="{3D9F781E-93AE-4604-A42A-BFB97D2DBD78}"/>
              </a:ext>
            </a:extLst>
          </p:cNvPr>
          <p:cNvSpPr>
            <a:spLocks noGrp="1"/>
          </p:cNvSpPr>
          <p:nvPr/>
        </p:nvSpPr>
        <p:spPr>
          <a:xfrm>
            <a:off x="790575" y="2381250"/>
            <a:ext cx="4978400" cy="18288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Campagna principale con rumore</a:t>
            </a:r>
          </a:p>
          <a:p>
            <a:pPr>
              <a:defRPr sz="1875" b="0">
                <a:solidFill>
                  <a:srgbClr val="203344"/>
                </a:solidFill>
                <a:latin typeface="Arial"/>
                <a:ea typeface="Arial"/>
                <a:cs typeface="Arial"/>
              </a:defRPr>
            </a:pPr>
            <a:r>
              <a:rPr lang="it-IT" sz="1875" b="0">
                <a:solidFill>
                  <a:srgbClr val="203344"/>
                </a:solidFill>
                <a:latin typeface="Arial"/>
                <a:ea typeface="Arial"/>
                <a:cs typeface="Arial"/>
              </a:rPr>
              <a:t>8 qubit di controllo + 4 di lavoro = 12 qubit</a:t>
            </a:r>
          </a:p>
          <a:p>
            <a:pPr>
              <a:defRPr sz="1875" b="0">
                <a:solidFill>
                  <a:srgbClr val="203344"/>
                </a:solidFill>
                <a:latin typeface="Arial"/>
                <a:ea typeface="Arial"/>
                <a:cs typeface="Arial"/>
              </a:defRPr>
            </a:pPr>
            <a:r>
              <a:rPr lang="it-IT" sz="1875" b="0">
                <a:solidFill>
                  <a:srgbClr val="203344"/>
                </a:solidFill>
                <a:latin typeface="Arial"/>
                <a:ea typeface="Arial"/>
                <a:cs typeface="Arial"/>
              </a:rPr>
              <a:t>224 CX, profondità 412</a:t>
            </a:r>
            <a:endParaRPr sz="1875" b="0">
              <a:solidFill>
                <a:srgbClr val="203344"/>
              </a:solidFill>
              <a:latin typeface="Arial"/>
              <a:ea typeface="Arial"/>
              <a:cs typeface="Arial"/>
            </a:endParaRPr>
          </a:p>
        </p:txBody>
      </p:sp>
      <p:sp>
        <p:nvSpPr>
          <p:cNvPr id="8" name="Rectangle: Rounded Corners 7">
            <a:extLst>
              <a:ext uri="{FF2B5EF4-FFF2-40B4-BE49-F238E27FC236}">
                <a16:creationId xmlns:a16="http://schemas.microsoft.com/office/drawing/2014/main" id="{19E303C5-C77D-4CD7-8589-35179D94E254}"/>
              </a:ext>
            </a:extLst>
          </p:cNvPr>
          <p:cNvSpPr>
            <a:spLocks noGrp="1"/>
          </p:cNvSpPr>
          <p:nvPr/>
        </p:nvSpPr>
        <p:spPr>
          <a:xfrm>
            <a:off x="6248400" y="1581150"/>
            <a:ext cx="5334000" cy="2724150"/>
          </a:xfrm>
          <a:prstGeom prst="roundRect">
            <a:avLst>
              <a:gd name="adj" fmla="val 3497"/>
            </a:avLst>
          </a:prstGeom>
          <a:solidFill>
            <a:srgbClr val="EEF4F8"/>
          </a:solidFill>
          <a:ln w="14288">
            <a:solidFill>
              <a:srgbClr val="5084BF"/>
            </a:solidFill>
          </a:ln>
        </p:spPr>
        <p:txBody>
          <a:bodyPr/>
          <a:lstStyle/>
          <a:p>
            <a:endParaRPr lang="en-GB"/>
          </a:p>
        </p:txBody>
      </p:sp>
      <p:sp>
        <p:nvSpPr>
          <p:cNvPr id="9" name="Rectangle 8">
            <a:extLst>
              <a:ext uri="{FF2B5EF4-FFF2-40B4-BE49-F238E27FC236}">
                <a16:creationId xmlns:a16="http://schemas.microsoft.com/office/drawing/2014/main" id="{2298CA64-5647-4279-A352-DBCAFAF5BCD5}"/>
              </a:ext>
            </a:extLst>
          </p:cNvPr>
          <p:cNvSpPr>
            <a:spLocks noGrp="1"/>
          </p:cNvSpPr>
          <p:nvPr/>
        </p:nvSpPr>
        <p:spPr>
          <a:xfrm>
            <a:off x="6426200" y="1771650"/>
            <a:ext cx="49784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N = 21 · a = 2 · r = 6</a:t>
            </a:r>
          </a:p>
        </p:txBody>
      </p:sp>
      <p:sp>
        <p:nvSpPr>
          <p:cNvPr id="10" name="Rectangle 9">
            <a:extLst>
              <a:ext uri="{FF2B5EF4-FFF2-40B4-BE49-F238E27FC236}">
                <a16:creationId xmlns:a16="http://schemas.microsoft.com/office/drawing/2014/main" id="{C691EBEE-3FEF-4FFB-A50C-33B92BE18974}"/>
              </a:ext>
            </a:extLst>
          </p:cNvPr>
          <p:cNvSpPr>
            <a:spLocks noGrp="1"/>
          </p:cNvSpPr>
          <p:nvPr/>
        </p:nvSpPr>
        <p:spPr>
          <a:xfrm>
            <a:off x="6426200" y="2381250"/>
            <a:ext cx="4978400" cy="18288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Validazione ideale e prove AQFT con rumore</a:t>
            </a:r>
          </a:p>
          <a:p>
            <a:pPr>
              <a:defRPr sz="1875" b="0">
                <a:solidFill>
                  <a:srgbClr val="203344"/>
                </a:solidFill>
                <a:latin typeface="Arial"/>
                <a:ea typeface="Arial"/>
                <a:cs typeface="Arial"/>
              </a:defRPr>
            </a:pPr>
            <a:r>
              <a:rPr lang="it-IT" sz="1875" b="0">
                <a:solidFill>
                  <a:srgbClr val="203344"/>
                </a:solidFill>
                <a:latin typeface="Arial"/>
                <a:ea typeface="Arial"/>
                <a:cs typeface="Arial"/>
              </a:rPr>
              <a:t>8 qubit di controllo + 5 di lavoro + 7 ausiliari = 20 qubit</a:t>
            </a:r>
            <a:endParaRPr sz="1875" b="0">
              <a:solidFill>
                <a:srgbClr val="203344"/>
              </a:solidFill>
              <a:latin typeface="Arial"/>
              <a:ea typeface="Arial"/>
              <a:cs typeface="Arial"/>
            </a:endParaRPr>
          </a:p>
        </p:txBody>
      </p:sp>
      <p:sp>
        <p:nvSpPr>
          <p:cNvPr id="14" name="Rectangle 13">
            <a:extLst>
              <a:ext uri="{FF2B5EF4-FFF2-40B4-BE49-F238E27FC236}">
                <a16:creationId xmlns:a16="http://schemas.microsoft.com/office/drawing/2014/main" id="{8747E5A2-28A4-4167-AA8E-522F16E60F41}"/>
              </a:ext>
            </a:extLst>
          </p:cNvPr>
          <p:cNvSpPr>
            <a:spLocks noGrp="1"/>
          </p:cNvSpPr>
          <p:nvPr/>
        </p:nvSpPr>
        <p:spPr>
          <a:xfrm>
            <a:off x="609600" y="4686300"/>
            <a:ext cx="381000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Validazione</a:t>
            </a:r>
          </a:p>
        </p:txBody>
      </p:sp>
      <p:sp>
        <p:nvSpPr>
          <p:cNvPr id="15" name="Rectangle 14">
            <a:extLst>
              <a:ext uri="{FF2B5EF4-FFF2-40B4-BE49-F238E27FC236}">
                <a16:creationId xmlns:a16="http://schemas.microsoft.com/office/drawing/2014/main" id="{ADB81CB8-0217-4419-B2A1-6F17AAC4D972}"/>
              </a:ext>
            </a:extLst>
          </p:cNvPr>
          <p:cNvSpPr>
            <a:spLocks noGrp="1"/>
          </p:cNvSpPr>
          <p:nvPr/>
        </p:nvSpPr>
        <p:spPr>
          <a:xfrm>
            <a:off x="609600" y="5086350"/>
            <a:ext cx="10972800" cy="600075"/>
          </a:xfrm>
          <a:prstGeom prst="rect">
            <a:avLst/>
          </a:prstGeom>
          <a:noFill/>
          <a:ln w="0">
            <a:noFill/>
          </a:ln>
        </p:spPr>
        <p:txBody>
          <a:bodyPr>
            <a:noAutofit/>
          </a:bodyPr>
          <a:lstStyle/>
          <a:p>
            <a:pPr>
              <a:defRPr sz="2100" b="0">
                <a:solidFill>
                  <a:srgbClr val="203344"/>
                </a:solidFill>
                <a:latin typeface="Arial"/>
                <a:ea typeface="Arial"/>
                <a:cs typeface="Arial"/>
              </a:defRPr>
            </a:pPr>
            <a:r>
              <a:rPr sz="2100" b="0">
                <a:solidFill>
                  <a:srgbClr val="203344"/>
                </a:solidFill>
                <a:latin typeface="Arial"/>
                <a:ea typeface="Arial"/>
                <a:cs typeface="Arial"/>
              </a:rPr>
              <a:t>Operatori modulari, ripristino degli ausiliari e distribuzioni teoriche</a:t>
            </a:r>
          </a:p>
        </p:txBody>
      </p:sp>
      <p:sp>
        <p:nvSpPr>
          <p:cNvPr id="16" name="Rectangle 15">
            <a:extLst>
              <a:ext uri="{FF2B5EF4-FFF2-40B4-BE49-F238E27FC236}">
                <a16:creationId xmlns:a16="http://schemas.microsoft.com/office/drawing/2014/main" id="{2DB60C3F-8703-4B2A-AC1D-C3D75FCE2DE3}"/>
              </a:ext>
            </a:extLst>
          </p:cNvPr>
          <p:cNvSpPr>
            <a:spLocks noGrp="1"/>
          </p:cNvSpPr>
          <p:nvPr/>
        </p:nvSpPr>
        <p:spPr>
          <a:xfrm>
            <a:off x="609600" y="5886450"/>
            <a:ext cx="10972800" cy="400050"/>
          </a:xfrm>
          <a:prstGeom prst="rect">
            <a:avLst/>
          </a:prstGeom>
          <a:noFill/>
          <a:ln w="0">
            <a:noFill/>
          </a:ln>
        </p:spPr>
        <p:txBody>
          <a:bodyPr>
            <a:noAutofit/>
          </a:bodyPr>
          <a:lstStyle/>
          <a:p>
            <a:pPr>
              <a:defRPr sz="1950" b="1">
                <a:solidFill>
                  <a:srgbClr val="175F99"/>
                </a:solidFill>
                <a:latin typeface="Arial"/>
                <a:ea typeface="Arial"/>
                <a:cs typeface="Arial"/>
              </a:defRPr>
            </a:pPr>
            <a:r>
              <a:rPr sz="1950" b="1">
                <a:solidFill>
                  <a:srgbClr val="175F99"/>
                </a:solidFill>
                <a:latin typeface="Arial"/>
                <a:ea typeface="Arial"/>
                <a:cs typeface="Arial"/>
              </a:rPr>
              <a:t>Qiskit/Aer · scikit-learn · Stim · PyMatching · ldpc</a:t>
            </a:r>
          </a:p>
        </p:txBody>
      </p:sp>
      <p:sp>
        <p:nvSpPr>
          <p:cNvPr id="17" name="Rectangle 16">
            <a:extLst>
              <a:ext uri="{FF2B5EF4-FFF2-40B4-BE49-F238E27FC236}">
                <a16:creationId xmlns:a16="http://schemas.microsoft.com/office/drawing/2014/main" id="{3D2C6B38-1794-4BE5-936B-10259E5FD499}"/>
              </a:ext>
            </a:extLst>
          </p:cNvPr>
          <p:cNvSpPr>
            <a:spLocks noGrp="1"/>
          </p:cNvSpPr>
          <p:nvPr/>
        </p:nvSpPr>
        <p:spPr>
          <a:xfrm>
            <a:off x="609600" y="6381750"/>
            <a:ext cx="10972800" cy="238125"/>
          </a:xfrm>
          <a:prstGeom prst="rect">
            <a:avLst/>
          </a:prstGeom>
          <a:noFill/>
          <a:ln w="0">
            <a:noFill/>
          </a:ln>
        </p:spPr>
        <p:txBody>
          <a:bodyPr>
            <a:noAutofit/>
          </a:bodyPr>
          <a:lstStyle/>
          <a:p>
            <a:pPr>
              <a:defRPr sz="1425" b="0">
                <a:solidFill>
                  <a:srgbClr val="647487"/>
                </a:solidFill>
                <a:latin typeface="Arial"/>
                <a:ea typeface="Arial"/>
                <a:cs typeface="Arial"/>
              </a:defRPr>
            </a:pPr>
            <a:r>
              <a:rPr sz="1425" b="0">
                <a:solidFill>
                  <a:srgbClr val="647487"/>
                </a:solidFill>
                <a:latin typeface="Arial"/>
                <a:ea typeface="Arial"/>
                <a:cs typeface="Arial"/>
              </a:rPr>
              <a:t>Versioni, parametri, seed e identificativi circuitali registrati. Simulazioni classiche.</a:t>
            </a:r>
          </a:p>
        </p:txBody>
      </p:sp>
    </p:spTree>
    <p:extLst>
      <p:ext uri="{BB962C8B-B14F-4D97-AF65-F5344CB8AC3E}">
        <p14:creationId xmlns:p14="http://schemas.microsoft.com/office/powerpoint/2010/main" val="12164081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63F5E73-50EB-4DE5-A1E1-7932B59E91B5}"/>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Metodo 1: post-processing e ablazione ML</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478C359-BEA8-4AFD-944F-9175CC4F4295}"/>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8134F752-5082-496F-BC77-8A8C1F34CF24}"/>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Materiali e metodi | 10</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CC35D492-ABDB-46BA-AE16-026C7410C362}"/>
              </a:ext>
            </a:extLst>
          </p:cNvPr>
          <p:cNvSpPr>
            <a:spLocks noGrp="1"/>
          </p:cNvSpPr>
          <p:nvPr/>
        </p:nvSpPr>
        <p:spPr>
          <a:xfrm>
            <a:off x="609600" y="1524000"/>
            <a:ext cx="10972800" cy="590550"/>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Istogramma · 1024 shot</a:t>
            </a:r>
          </a:p>
        </p:txBody>
      </p:sp>
      <p:sp>
        <p:nvSpPr>
          <p:cNvPr id="6" name="Rectangle: Rounded Corners 5">
            <a:extLst>
              <a:ext uri="{FF2B5EF4-FFF2-40B4-BE49-F238E27FC236}">
                <a16:creationId xmlns:a16="http://schemas.microsoft.com/office/drawing/2014/main" id="{6C6B2847-EFC1-4D02-B73B-9163FA7FF42D}"/>
              </a:ext>
            </a:extLst>
          </p:cNvPr>
          <p:cNvSpPr>
            <a:spLocks noGrp="1"/>
          </p:cNvSpPr>
          <p:nvPr/>
        </p:nvSpPr>
        <p:spPr>
          <a:xfrm>
            <a:off x="609600" y="2638425"/>
            <a:ext cx="3143250" cy="1552575"/>
          </a:xfrm>
          <a:prstGeom prst="roundRect">
            <a:avLst>
              <a:gd name="adj" fmla="val 6135"/>
            </a:avLst>
          </a:prstGeom>
          <a:solidFill>
            <a:srgbClr val="EEF4F8"/>
          </a:solidFill>
          <a:ln w="14288">
            <a:solidFill>
              <a:srgbClr val="5084BF"/>
            </a:solidFill>
          </a:ln>
        </p:spPr>
        <p:txBody>
          <a:bodyPr/>
          <a:lstStyle/>
          <a:p>
            <a:endParaRPr lang="en-GB"/>
          </a:p>
        </p:txBody>
      </p:sp>
      <p:sp>
        <p:nvSpPr>
          <p:cNvPr id="7" name="Rectangle 6">
            <a:extLst>
              <a:ext uri="{FF2B5EF4-FFF2-40B4-BE49-F238E27FC236}">
                <a16:creationId xmlns:a16="http://schemas.microsoft.com/office/drawing/2014/main" id="{50207F82-D486-4618-9019-4A9B6B896244}"/>
              </a:ext>
            </a:extLst>
          </p:cNvPr>
          <p:cNvSpPr>
            <a:spLocks noGrp="1"/>
          </p:cNvSpPr>
          <p:nvPr/>
        </p:nvSpPr>
        <p:spPr>
          <a:xfrm>
            <a:off x="790575" y="2828925"/>
            <a:ext cx="27813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TOP-1</a:t>
            </a:r>
          </a:p>
        </p:txBody>
      </p:sp>
      <p:sp>
        <p:nvSpPr>
          <p:cNvPr id="8" name="Rectangle 7">
            <a:extLst>
              <a:ext uri="{FF2B5EF4-FFF2-40B4-BE49-F238E27FC236}">
                <a16:creationId xmlns:a16="http://schemas.microsoft.com/office/drawing/2014/main" id="{448DCFE9-33F7-45E1-A769-1CD6F8ABDA24}"/>
              </a:ext>
            </a:extLst>
          </p:cNvPr>
          <p:cNvSpPr>
            <a:spLocks noGrp="1"/>
          </p:cNvSpPr>
          <p:nvPr/>
        </p:nvSpPr>
        <p:spPr>
          <a:xfrm>
            <a:off x="790575" y="3438525"/>
            <a:ext cx="2781300" cy="657225"/>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Verifica l’esito</a:t>
            </a:r>
          </a:p>
          <a:p>
            <a:pPr>
              <a:defRPr sz="1875" b="0">
                <a:solidFill>
                  <a:srgbClr val="203344"/>
                </a:solidFill>
                <a:latin typeface="Arial"/>
                <a:ea typeface="Arial"/>
                <a:cs typeface="Arial"/>
              </a:defRPr>
            </a:pPr>
            <a:r>
              <a:rPr sz="1875" b="0">
                <a:solidFill>
                  <a:srgbClr val="203344"/>
                </a:solidFill>
                <a:latin typeface="Arial"/>
                <a:ea typeface="Arial"/>
                <a:cs typeface="Arial"/>
              </a:rPr>
              <a:t>più frequente</a:t>
            </a:r>
          </a:p>
        </p:txBody>
      </p:sp>
      <p:sp>
        <p:nvSpPr>
          <p:cNvPr id="9" name="Rectangle: Rounded Corners 8">
            <a:extLst>
              <a:ext uri="{FF2B5EF4-FFF2-40B4-BE49-F238E27FC236}">
                <a16:creationId xmlns:a16="http://schemas.microsoft.com/office/drawing/2014/main" id="{A7ED80C4-3A04-48D9-8600-16713139334D}"/>
              </a:ext>
            </a:extLst>
          </p:cNvPr>
          <p:cNvSpPr>
            <a:spLocks noGrp="1"/>
          </p:cNvSpPr>
          <p:nvPr/>
        </p:nvSpPr>
        <p:spPr>
          <a:xfrm>
            <a:off x="4524375" y="2638425"/>
            <a:ext cx="3143250" cy="1552575"/>
          </a:xfrm>
          <a:prstGeom prst="roundRect">
            <a:avLst>
              <a:gd name="adj" fmla="val 6135"/>
            </a:avLst>
          </a:prstGeom>
          <a:solidFill>
            <a:srgbClr val="EEF4F8"/>
          </a:solidFill>
          <a:ln w="14288">
            <a:solidFill>
              <a:srgbClr val="5084BF"/>
            </a:solidFill>
          </a:ln>
        </p:spPr>
        <p:txBody>
          <a:bodyPr/>
          <a:lstStyle/>
          <a:p>
            <a:endParaRPr lang="en-GB"/>
          </a:p>
        </p:txBody>
      </p:sp>
      <p:sp>
        <p:nvSpPr>
          <p:cNvPr id="10" name="Rectangle 9">
            <a:extLst>
              <a:ext uri="{FF2B5EF4-FFF2-40B4-BE49-F238E27FC236}">
                <a16:creationId xmlns:a16="http://schemas.microsoft.com/office/drawing/2014/main" id="{B7718673-DDE6-4B0E-80B1-2DEB783CDC31}"/>
              </a:ext>
            </a:extLst>
          </p:cNvPr>
          <p:cNvSpPr>
            <a:spLocks noGrp="1"/>
          </p:cNvSpPr>
          <p:nvPr/>
        </p:nvSpPr>
        <p:spPr>
          <a:xfrm>
            <a:off x="4705350" y="2828925"/>
            <a:ext cx="27813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TOP-4</a:t>
            </a:r>
          </a:p>
        </p:txBody>
      </p:sp>
      <p:sp>
        <p:nvSpPr>
          <p:cNvPr id="11" name="Rectangle 10">
            <a:extLst>
              <a:ext uri="{FF2B5EF4-FFF2-40B4-BE49-F238E27FC236}">
                <a16:creationId xmlns:a16="http://schemas.microsoft.com/office/drawing/2014/main" id="{428CE012-A819-412F-A649-3EAB47BC23F5}"/>
              </a:ext>
            </a:extLst>
          </p:cNvPr>
          <p:cNvSpPr>
            <a:spLocks noGrp="1"/>
          </p:cNvSpPr>
          <p:nvPr/>
        </p:nvSpPr>
        <p:spPr>
          <a:xfrm>
            <a:off x="4705350" y="3438525"/>
            <a:ext cx="2781300" cy="657225"/>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Verifica fino a quattro</a:t>
            </a:r>
          </a:p>
          <a:p>
            <a:pPr>
              <a:defRPr sz="1875" b="0">
                <a:solidFill>
                  <a:srgbClr val="203344"/>
                </a:solidFill>
                <a:latin typeface="Arial"/>
                <a:ea typeface="Arial"/>
                <a:cs typeface="Arial"/>
              </a:defRPr>
            </a:pPr>
            <a:r>
              <a:rPr sz="1875" b="0">
                <a:solidFill>
                  <a:srgbClr val="203344"/>
                </a:solidFill>
                <a:latin typeface="Arial"/>
                <a:ea typeface="Arial"/>
                <a:cs typeface="Arial"/>
              </a:rPr>
              <a:t>esiti per frequenza</a:t>
            </a:r>
          </a:p>
        </p:txBody>
      </p:sp>
      <p:sp>
        <p:nvSpPr>
          <p:cNvPr id="12" name="Rectangle: Rounded Corners 11">
            <a:extLst>
              <a:ext uri="{FF2B5EF4-FFF2-40B4-BE49-F238E27FC236}">
                <a16:creationId xmlns:a16="http://schemas.microsoft.com/office/drawing/2014/main" id="{8E8D58EB-1F29-489F-84AA-EE5A27A893AB}"/>
              </a:ext>
            </a:extLst>
          </p:cNvPr>
          <p:cNvSpPr>
            <a:spLocks noGrp="1"/>
          </p:cNvSpPr>
          <p:nvPr/>
        </p:nvSpPr>
        <p:spPr>
          <a:xfrm>
            <a:off x="8439150" y="2638425"/>
            <a:ext cx="3143250" cy="1552575"/>
          </a:xfrm>
          <a:prstGeom prst="roundRect">
            <a:avLst>
              <a:gd name="adj" fmla="val 6135"/>
            </a:avLst>
          </a:prstGeom>
          <a:solidFill>
            <a:srgbClr val="EEF4F8"/>
          </a:solidFill>
          <a:ln w="14288">
            <a:solidFill>
              <a:srgbClr val="5084BF"/>
            </a:solidFill>
          </a:ln>
        </p:spPr>
        <p:txBody>
          <a:bodyPr/>
          <a:lstStyle/>
          <a:p>
            <a:endParaRPr lang="en-GB"/>
          </a:p>
        </p:txBody>
      </p:sp>
      <p:sp>
        <p:nvSpPr>
          <p:cNvPr id="13" name="Rectangle 12">
            <a:extLst>
              <a:ext uri="{FF2B5EF4-FFF2-40B4-BE49-F238E27FC236}">
                <a16:creationId xmlns:a16="http://schemas.microsoft.com/office/drawing/2014/main" id="{530CC7E4-D9E5-44BA-A967-3C00C77DC3EC}"/>
              </a:ext>
            </a:extLst>
          </p:cNvPr>
          <p:cNvSpPr>
            <a:spLocks noGrp="1"/>
          </p:cNvSpPr>
          <p:nvPr/>
        </p:nvSpPr>
        <p:spPr>
          <a:xfrm>
            <a:off x="8620125" y="2828925"/>
            <a:ext cx="27813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Metodo 2</a:t>
            </a:r>
          </a:p>
        </p:txBody>
      </p:sp>
      <p:sp>
        <p:nvSpPr>
          <p:cNvPr id="14" name="Rectangle 13">
            <a:extLst>
              <a:ext uri="{FF2B5EF4-FFF2-40B4-BE49-F238E27FC236}">
                <a16:creationId xmlns:a16="http://schemas.microsoft.com/office/drawing/2014/main" id="{247C1F09-0415-4CBC-9397-423247F26ABF}"/>
              </a:ext>
            </a:extLst>
          </p:cNvPr>
          <p:cNvSpPr>
            <a:spLocks noGrp="1"/>
          </p:cNvSpPr>
          <p:nvPr/>
        </p:nvSpPr>
        <p:spPr>
          <a:xfrm>
            <a:off x="8620125" y="3438525"/>
            <a:ext cx="2781300" cy="657225"/>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Il classificatore abilita</a:t>
            </a:r>
          </a:p>
          <a:p>
            <a:pPr>
              <a:defRPr sz="1875" b="0">
                <a:solidFill>
                  <a:srgbClr val="203344"/>
                </a:solidFill>
                <a:latin typeface="Arial"/>
                <a:ea typeface="Arial"/>
                <a:cs typeface="Arial"/>
              </a:defRPr>
            </a:pPr>
            <a:r>
              <a:rPr sz="1875" b="0">
                <a:solidFill>
                  <a:srgbClr val="203344"/>
                </a:solidFill>
                <a:latin typeface="Arial"/>
                <a:ea typeface="Arial"/>
                <a:cs typeface="Arial"/>
              </a:rPr>
              <a:t>la verifica TOP-4</a:t>
            </a:r>
          </a:p>
        </p:txBody>
      </p:sp>
      <p:sp>
        <p:nvSpPr>
          <p:cNvPr id="15" name="Rectangle 14">
            <a:extLst>
              <a:ext uri="{FF2B5EF4-FFF2-40B4-BE49-F238E27FC236}">
                <a16:creationId xmlns:a16="http://schemas.microsoft.com/office/drawing/2014/main" id="{67E0F861-41D6-4EE9-B337-234D929EFD39}"/>
              </a:ext>
            </a:extLst>
          </p:cNvPr>
          <p:cNvSpPr>
            <a:spLocks noGrp="1"/>
          </p:cNvSpPr>
          <p:nvPr/>
        </p:nvSpPr>
        <p:spPr>
          <a:xfrm>
            <a:off x="609600" y="4467225"/>
            <a:ext cx="10972800" cy="504825"/>
          </a:xfrm>
          <a:prstGeom prst="rect">
            <a:avLst/>
          </a:prstGeom>
          <a:noFill/>
          <a:ln w="0">
            <a:noFill/>
          </a:ln>
        </p:spPr>
        <p:txBody>
          <a:bodyPr>
            <a:noAutofit/>
          </a:bodyPr>
          <a:lstStyle/>
          <a:p>
            <a:pPr>
              <a:defRPr sz="2100" b="0">
                <a:solidFill>
                  <a:srgbClr val="203344"/>
                </a:solidFill>
                <a:latin typeface="Arial"/>
                <a:ea typeface="Arial"/>
                <a:cs typeface="Arial"/>
              </a:defRPr>
            </a:pPr>
            <a:r>
              <a:rPr sz="2100" b="0">
                <a:solidFill>
                  <a:srgbClr val="203344"/>
                </a:solidFill>
                <a:latin typeface="Arial"/>
                <a:ea typeface="Arial"/>
                <a:cs typeface="Arial"/>
              </a:rPr>
              <a:t>Stesso estrattore dei fattori, gestione dei pareggi e campioni appaiati</a:t>
            </a:r>
          </a:p>
        </p:txBody>
      </p:sp>
      <p:sp>
        <p:nvSpPr>
          <p:cNvPr id="16" name="Rectangle 15">
            <a:extLst>
              <a:ext uri="{FF2B5EF4-FFF2-40B4-BE49-F238E27FC236}">
                <a16:creationId xmlns:a16="http://schemas.microsoft.com/office/drawing/2014/main" id="{39F4CA97-488D-4622-BB3D-0F96D4BD7897}"/>
              </a:ext>
            </a:extLst>
          </p:cNvPr>
          <p:cNvSpPr>
            <a:spLocks noGrp="1"/>
          </p:cNvSpPr>
          <p:nvPr/>
        </p:nvSpPr>
        <p:spPr>
          <a:xfrm>
            <a:off x="609600" y="5772150"/>
            <a:ext cx="10972800" cy="590550"/>
          </a:xfrm>
          <a:prstGeom prst="rect">
            <a:avLst/>
          </a:prstGeom>
          <a:noFill/>
          <a:ln w="0">
            <a:noFill/>
          </a:ln>
        </p:spPr>
        <p:txBody>
          <a:bodyPr>
            <a:noAutofit/>
          </a:bodyPr>
          <a:lstStyle/>
          <a:p>
            <a:pPr>
              <a:defRPr sz="2025" b="1">
                <a:solidFill>
                  <a:srgbClr val="175F99"/>
                </a:solidFill>
                <a:latin typeface="Arial"/>
                <a:ea typeface="Arial"/>
                <a:cs typeface="Arial"/>
              </a:defRPr>
            </a:pPr>
            <a:r>
              <a:rPr sz="2025" b="1">
                <a:solidFill>
                  <a:srgbClr val="175F99"/>
                </a:solidFill>
                <a:latin typeface="Arial"/>
                <a:ea typeface="Arial"/>
                <a:cs typeface="Arial"/>
              </a:rPr>
              <a:t>M2 contro TOP-4 senza filtro isola il valore aggiunto del classificatore</a:t>
            </a:r>
          </a:p>
        </p:txBody>
      </p:sp>
      <p:sp>
        <p:nvSpPr>
          <p:cNvPr id="17" name="Rectangle 16">
            <a:extLst>
              <a:ext uri="{FF2B5EF4-FFF2-40B4-BE49-F238E27FC236}">
                <a16:creationId xmlns:a16="http://schemas.microsoft.com/office/drawing/2014/main" id="{334A24A2-8CD6-4D0C-8C4C-D0EB94BC141B}"/>
              </a:ext>
            </a:extLst>
          </p:cNvPr>
          <p:cNvSpPr>
            <a:spLocks noGrp="1"/>
          </p:cNvSpPr>
          <p:nvPr/>
        </p:nvSpPr>
        <p:spPr>
          <a:xfrm>
            <a:off x="609600" y="6362700"/>
            <a:ext cx="10972800" cy="276225"/>
          </a:xfrm>
          <a:prstGeom prst="rect">
            <a:avLst/>
          </a:prstGeom>
          <a:noFill/>
          <a:ln w="0">
            <a:noFill/>
          </a:ln>
        </p:spPr>
        <p:txBody>
          <a:bodyPr>
            <a:noAutofit/>
          </a:bodyPr>
          <a:lstStyle/>
          <a:p>
            <a:pPr>
              <a:defRPr sz="1350" b="0">
                <a:solidFill>
                  <a:srgbClr val="647487"/>
                </a:solidFill>
                <a:latin typeface="Arial"/>
                <a:ea typeface="Arial"/>
                <a:cs typeface="Arial"/>
              </a:defRPr>
            </a:pPr>
            <a:r>
              <a:rPr sz="1350" b="0">
                <a:solidFill>
                  <a:srgbClr val="647487"/>
                </a:solidFill>
                <a:latin typeface="Arial"/>
                <a:ea typeface="Arial"/>
                <a:cs typeface="Arial"/>
              </a:rPr>
              <a:t>2000 istogrammi per scenario: split 60/20/20, test indipendente di 400. 30 repliche, massimo 50 iterazioni.</a:t>
            </a:r>
          </a:p>
        </p:txBody>
      </p:sp>
      <p:sp>
        <p:nvSpPr>
          <p:cNvPr id="2" name="TextBox 1">
            <a:extLst>
              <a:ext uri="{FF2B5EF4-FFF2-40B4-BE49-F238E27FC236}">
                <a16:creationId xmlns:a16="http://schemas.microsoft.com/office/drawing/2014/main" id="{48B880D8-CE6C-D864-F6E4-988067707768}"/>
              </a:ext>
            </a:extLst>
          </p:cNvPr>
          <p:cNvSpPr txBox="1"/>
          <p:nvPr/>
        </p:nvSpPr>
        <p:spPr>
          <a:xfrm>
            <a:off x="609600" y="5029200"/>
            <a:ext cx="10972800" cy="369332"/>
          </a:xfrm>
          <a:prstGeom prst="rect">
            <a:avLst/>
          </a:prstGeom>
          <a:noFill/>
        </p:spPr>
        <p:txBody>
          <a:bodyPr vert="horz" wrap="square" rtlCol="0">
            <a:noAutofit/>
          </a:bodyPr>
          <a:lstStyle/>
          <a:p>
            <a:r>
              <a:rPr lang="it-IT" sz="1350" b="1">
                <a:solidFill>
                  <a:srgbClr val="175F99"/>
                </a:solidFill>
                <a:latin typeface="Arial" panose="020B0604020202020204" pitchFamily="34" charset="0"/>
              </a:rPr>
              <a:t>Dalla letteratura </a:t>
            </a:r>
            <a:r>
              <a:rPr lang="it-IT" sz="1350">
                <a:solidFill>
                  <a:srgbClr val="647487"/>
                </a:solidFill>
                <a:latin typeface="Arial" panose="020B0604020202020204" pitchFamily="34" charset="0"/>
              </a:rPr>
              <a:t>· Yang e Markidis, 2026. Il ML filtra gli esiti misurati; rischio: attribuire al modello un guadagno che viene dai candidati provati. Da qui l'ablazione.</a:t>
            </a:r>
            <a:endParaRPr lang="en-GB" sz="1350">
              <a:solidFill>
                <a:srgbClr val="647487"/>
              </a:solidFill>
              <a:latin typeface="Arial" panose="020B0604020202020204" pitchFamily="34" charset="0"/>
            </a:endParaRPr>
          </a:p>
        </p:txBody>
      </p:sp>
    </p:spTree>
    <p:extLst>
      <p:ext uri="{BB962C8B-B14F-4D97-AF65-F5344CB8AC3E}">
        <p14:creationId xmlns:p14="http://schemas.microsoft.com/office/powerpoint/2010/main" val="1877747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1A0FE10-7D08-45A5-9369-B8A8D92211C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Metodo 2: correzione quantistica degli errori</a:t>
            </a:r>
            <a:endParaRPr sz="2700" b="0">
              <a:solidFill>
                <a:srgbClr val="003366"/>
              </a:solidFill>
              <a:latin typeface="Arial"/>
              <a:ea typeface="Arial"/>
              <a:cs typeface="Arial"/>
            </a:endParaRPr>
          </a:p>
        </p:txBody>
      </p:sp>
      <p:pic>
        <p:nvPicPr>
          <p:cNvPr id="17" name="Picture 16"/>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C63BB1C7-E1F5-4EAD-96B7-5E2DB8BF621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CD7F7CC-AA63-4989-8F76-D977A27FE48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Materiali e metodi | 11</a:t>
            </a:r>
            <a:endParaRPr sz="1200" b="0">
              <a:solidFill>
                <a:srgbClr val="203344"/>
              </a:solidFill>
              <a:latin typeface="Arial"/>
              <a:ea typeface="Arial"/>
              <a:cs typeface="Arial"/>
            </a:endParaRPr>
          </a:p>
        </p:txBody>
      </p:sp>
      <p:sp>
        <p:nvSpPr>
          <p:cNvPr id="5" name="Rectangle: Rounded Corners 4">
            <a:extLst>
              <a:ext uri="{FF2B5EF4-FFF2-40B4-BE49-F238E27FC236}">
                <a16:creationId xmlns:a16="http://schemas.microsoft.com/office/drawing/2014/main" id="{2BF2E4C9-BB39-4768-A1B2-18244192C53B}"/>
              </a:ext>
            </a:extLst>
          </p:cNvPr>
          <p:cNvSpPr>
            <a:spLocks noGrp="1"/>
          </p:cNvSpPr>
          <p:nvPr/>
        </p:nvSpPr>
        <p:spPr>
          <a:xfrm>
            <a:off x="609600" y="1628775"/>
            <a:ext cx="5286375" cy="2171700"/>
          </a:xfrm>
          <a:prstGeom prst="roundRect">
            <a:avLst>
              <a:gd name="adj" fmla="val 4386"/>
            </a:avLst>
          </a:prstGeom>
          <a:solidFill>
            <a:srgbClr val="EEF4F8"/>
          </a:solidFill>
          <a:ln w="14288">
            <a:solidFill>
              <a:srgbClr val="5084BF"/>
            </a:solidFill>
          </a:ln>
        </p:spPr>
        <p:txBody>
          <a:bodyPr/>
          <a:lstStyle/>
          <a:p>
            <a:endParaRPr lang="en-GB"/>
          </a:p>
        </p:txBody>
      </p:sp>
      <p:sp>
        <p:nvSpPr>
          <p:cNvPr id="6" name="Rectangle 5">
            <a:extLst>
              <a:ext uri="{FF2B5EF4-FFF2-40B4-BE49-F238E27FC236}">
                <a16:creationId xmlns:a16="http://schemas.microsoft.com/office/drawing/2014/main" id="{46C003BE-DB8A-4399-8840-03FD9DD07018}"/>
              </a:ext>
            </a:extLst>
          </p:cNvPr>
          <p:cNvSpPr>
            <a:spLocks noGrp="1"/>
          </p:cNvSpPr>
          <p:nvPr/>
        </p:nvSpPr>
        <p:spPr>
          <a:xfrm>
            <a:off x="790575" y="1819275"/>
            <a:ext cx="4924425"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Surface code</a:t>
            </a:r>
          </a:p>
        </p:txBody>
      </p:sp>
      <p:sp>
        <p:nvSpPr>
          <p:cNvPr id="7" name="Rectangle 6">
            <a:extLst>
              <a:ext uri="{FF2B5EF4-FFF2-40B4-BE49-F238E27FC236}">
                <a16:creationId xmlns:a16="http://schemas.microsoft.com/office/drawing/2014/main" id="{64D25F89-0FF5-4EB4-BA59-ACC9CA4B4236}"/>
              </a:ext>
            </a:extLst>
          </p:cNvPr>
          <p:cNvSpPr>
            <a:spLocks noGrp="1"/>
          </p:cNvSpPr>
          <p:nvPr/>
        </p:nvSpPr>
        <p:spPr>
          <a:xfrm>
            <a:off x="790575" y="2428875"/>
            <a:ext cx="4924425" cy="1276350"/>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Distanza d crescente: più errori correggibili</a:t>
            </a:r>
          </a:p>
          <a:p>
            <a:pPr>
              <a:defRPr sz="1875" b="0">
                <a:solidFill>
                  <a:srgbClr val="203344"/>
                </a:solidFill>
                <a:latin typeface="Arial"/>
                <a:ea typeface="Arial"/>
                <a:cs typeface="Arial"/>
              </a:defRPr>
            </a:pPr>
            <a:r>
              <a:rPr sz="1875" b="0">
                <a:solidFill>
                  <a:srgbClr val="203344"/>
                </a:solidFill>
                <a:latin typeface="Arial"/>
                <a:ea typeface="Arial"/>
                <a:cs typeface="Arial"/>
              </a:rPr>
              <a:t>Rumore su operazioni e misure</a:t>
            </a:r>
          </a:p>
          <a:p>
            <a:pPr>
              <a:defRPr sz="1875" b="0">
                <a:solidFill>
                  <a:srgbClr val="203344"/>
                </a:solidFill>
                <a:latin typeface="Arial"/>
                <a:ea typeface="Arial"/>
                <a:cs typeface="Arial"/>
              </a:defRPr>
            </a:pPr>
            <a:r>
              <a:rPr sz="1875" b="0">
                <a:solidFill>
                  <a:srgbClr val="203344"/>
                </a:solidFill>
                <a:latin typeface="Arial"/>
                <a:ea typeface="Arial"/>
                <a:cs typeface="Arial"/>
              </a:rPr>
              <a:t>Crosstalk in alcune prove</a:t>
            </a:r>
          </a:p>
        </p:txBody>
      </p:sp>
      <p:sp>
        <p:nvSpPr>
          <p:cNvPr id="8" name="Rectangle: Rounded Corners 7">
            <a:extLst>
              <a:ext uri="{FF2B5EF4-FFF2-40B4-BE49-F238E27FC236}">
                <a16:creationId xmlns:a16="http://schemas.microsoft.com/office/drawing/2014/main" id="{FE8409B5-A61E-4F89-AD54-5C9EDA42E889}"/>
              </a:ext>
            </a:extLst>
          </p:cNvPr>
          <p:cNvSpPr>
            <a:spLocks noGrp="1"/>
          </p:cNvSpPr>
          <p:nvPr/>
        </p:nvSpPr>
        <p:spPr>
          <a:xfrm>
            <a:off x="6296025" y="1628775"/>
            <a:ext cx="5286375" cy="2171700"/>
          </a:xfrm>
          <a:prstGeom prst="roundRect">
            <a:avLst>
              <a:gd name="adj" fmla="val 4386"/>
            </a:avLst>
          </a:prstGeom>
          <a:solidFill>
            <a:srgbClr val="EEF4F8"/>
          </a:solidFill>
          <a:ln w="14288">
            <a:solidFill>
              <a:srgbClr val="5084BF"/>
            </a:solidFill>
          </a:ln>
        </p:spPr>
        <p:txBody>
          <a:bodyPr/>
          <a:lstStyle/>
          <a:p>
            <a:endParaRPr lang="en-GB"/>
          </a:p>
        </p:txBody>
      </p:sp>
      <p:sp>
        <p:nvSpPr>
          <p:cNvPr id="9" name="Rectangle 8">
            <a:extLst>
              <a:ext uri="{FF2B5EF4-FFF2-40B4-BE49-F238E27FC236}">
                <a16:creationId xmlns:a16="http://schemas.microsoft.com/office/drawing/2014/main" id="{71700CA6-33ED-4182-8866-CF9CC2122E50}"/>
              </a:ext>
            </a:extLst>
          </p:cNvPr>
          <p:cNvSpPr>
            <a:spLocks noGrp="1"/>
          </p:cNvSpPr>
          <p:nvPr/>
        </p:nvSpPr>
        <p:spPr>
          <a:xfrm>
            <a:off x="6477000" y="1819275"/>
            <a:ext cx="4924425"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Gross code · qLDPC</a:t>
            </a:r>
          </a:p>
        </p:txBody>
      </p:sp>
      <p:sp>
        <p:nvSpPr>
          <p:cNvPr id="10" name="Rectangle 9">
            <a:extLst>
              <a:ext uri="{FF2B5EF4-FFF2-40B4-BE49-F238E27FC236}">
                <a16:creationId xmlns:a16="http://schemas.microsoft.com/office/drawing/2014/main" id="{330A12A4-1521-4159-B26C-A2BE5C987FE5}"/>
              </a:ext>
            </a:extLst>
          </p:cNvPr>
          <p:cNvSpPr>
            <a:spLocks noGrp="1"/>
          </p:cNvSpPr>
          <p:nvPr/>
        </p:nvSpPr>
        <p:spPr>
          <a:xfrm>
            <a:off x="6477000" y="2428875"/>
            <a:ext cx="4924425" cy="1276350"/>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12 qubit logici, 144 qubit di dato</a:t>
            </a:r>
          </a:p>
          <a:p>
            <a:pPr>
              <a:defRPr sz="1875" b="0">
                <a:solidFill>
                  <a:srgbClr val="203344"/>
                </a:solidFill>
                <a:latin typeface="Arial"/>
                <a:ea typeface="Arial"/>
                <a:cs typeface="Arial"/>
              </a:defRPr>
            </a:pPr>
            <a:r>
              <a:rPr sz="1875" b="0">
                <a:solidFill>
                  <a:srgbClr val="203344"/>
                </a:solidFill>
                <a:latin typeface="Arial"/>
                <a:ea typeface="Arial"/>
                <a:cs typeface="Arial"/>
              </a:rPr>
              <a:t>Code-capacity: errori X sui soli dati</a:t>
            </a:r>
          </a:p>
          <a:p>
            <a:pPr>
              <a:defRPr sz="1875" b="0">
                <a:solidFill>
                  <a:srgbClr val="203344"/>
                </a:solidFill>
                <a:latin typeface="Arial"/>
                <a:ea typeface="Arial"/>
                <a:cs typeface="Arial"/>
              </a:defRPr>
            </a:pPr>
            <a:r>
              <a:rPr sz="1875" b="0">
                <a:solidFill>
                  <a:srgbClr val="203344"/>
                </a:solidFill>
                <a:latin typeface="Arial"/>
                <a:ea typeface="Arial"/>
                <a:cs typeface="Arial"/>
              </a:rPr>
              <a:t>Sindrome perfetta</a:t>
            </a:r>
          </a:p>
          <a:p>
            <a:pPr>
              <a:defRPr sz="1875" b="0">
                <a:solidFill>
                  <a:srgbClr val="203344"/>
                </a:solidFill>
                <a:latin typeface="Arial"/>
                <a:ea typeface="Arial"/>
                <a:cs typeface="Arial"/>
              </a:defRPr>
            </a:pPr>
            <a:r>
              <a:rPr sz="1875" b="0">
                <a:solidFill>
                  <a:srgbClr val="203344"/>
                </a:solidFill>
                <a:latin typeface="Arial"/>
                <a:ea typeface="Arial"/>
                <a:cs typeface="Arial"/>
              </a:rPr>
              <a:t>Simulati gli errori, non lo stato</a:t>
            </a:r>
          </a:p>
        </p:txBody>
      </p:sp>
      <p:sp>
        <p:nvSpPr>
          <p:cNvPr id="11" name="Rectangle 10">
            <a:extLst>
              <a:ext uri="{FF2B5EF4-FFF2-40B4-BE49-F238E27FC236}">
                <a16:creationId xmlns:a16="http://schemas.microsoft.com/office/drawing/2014/main" id="{7833E351-A636-475D-8DAB-9B4D6F769E51}"/>
              </a:ext>
            </a:extLst>
          </p:cNvPr>
          <p:cNvSpPr>
            <a:spLocks noGrp="1"/>
          </p:cNvSpPr>
          <p:nvPr/>
        </p:nvSpPr>
        <p:spPr>
          <a:xfrm>
            <a:off x="609600" y="3987800"/>
            <a:ext cx="5286375"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Decoder sul surface code</a:t>
            </a:r>
          </a:p>
        </p:txBody>
      </p:sp>
      <p:sp>
        <p:nvSpPr>
          <p:cNvPr id="12" name="Rectangle 11">
            <a:extLst>
              <a:ext uri="{FF2B5EF4-FFF2-40B4-BE49-F238E27FC236}">
                <a16:creationId xmlns:a16="http://schemas.microsoft.com/office/drawing/2014/main" id="{4CC9B132-A3A6-4943-9896-1ED79428894F}"/>
              </a:ext>
            </a:extLst>
          </p:cNvPr>
          <p:cNvSpPr>
            <a:spLocks noGrp="1"/>
          </p:cNvSpPr>
          <p:nvPr/>
        </p:nvSpPr>
        <p:spPr>
          <a:xfrm>
            <a:off x="609600" y="4343400"/>
            <a:ext cx="5286375" cy="1270000"/>
          </a:xfrm>
          <a:prstGeom prst="rect">
            <a:avLst/>
          </a:prstGeom>
          <a:noFill/>
          <a:ln w="0">
            <a:noFill/>
          </a:ln>
        </p:spPr>
        <p:txBody>
          <a:bodyPr>
            <a:noAutofit/>
          </a:bodyPr>
          <a:lstStyle/>
          <a:p>
            <a:pPr>
              <a:defRPr sz="2100" b="0">
                <a:solidFill>
                  <a:srgbClr val="203344"/>
                </a:solidFill>
                <a:latin typeface="Arial"/>
                <a:ea typeface="Arial"/>
                <a:cs typeface="Arial"/>
              </a:defRPr>
            </a:pPr>
            <a:r>
              <a:rPr sz="2100" b="0">
                <a:solidFill>
                  <a:srgbClr val="203344"/>
                </a:solidFill>
                <a:latin typeface="Arial"/>
                <a:ea typeface="Arial"/>
                <a:cs typeface="Arial"/>
              </a:rPr>
              <a:t>MWPM (matching a peso minimo)</a:t>
            </a:r>
          </a:p>
          <a:p>
            <a:pPr>
              <a:defRPr sz="2100" b="0">
                <a:solidFill>
                  <a:srgbClr val="203344"/>
                </a:solidFill>
                <a:latin typeface="Arial"/>
                <a:ea typeface="Arial"/>
                <a:cs typeface="Arial"/>
              </a:defRPr>
            </a:pPr>
            <a:r>
              <a:rPr sz="2100" b="0">
                <a:solidFill>
                  <a:srgbClr val="203344"/>
                </a:solidFill>
                <a:latin typeface="Arial"/>
                <a:ea typeface="Arial"/>
                <a:cs typeface="Arial"/>
              </a:rPr>
              <a:t>Rete autonoma e decoder ibrido</a:t>
            </a:r>
          </a:p>
          <a:p>
            <a:pPr>
              <a:defRPr sz="2100" b="0">
                <a:solidFill>
                  <a:srgbClr val="203344"/>
                </a:solidFill>
                <a:latin typeface="Arial"/>
                <a:ea typeface="Arial"/>
                <a:cs typeface="Arial"/>
              </a:defRPr>
            </a:pPr>
            <a:r>
              <a:rPr sz="2100" b="0">
                <a:solidFill>
                  <a:srgbClr val="203344"/>
                </a:solidFill>
                <a:latin typeface="Arial"/>
                <a:ea typeface="Arial"/>
                <a:cs typeface="Arial"/>
              </a:rPr>
              <a:t>BP+OSD come ulteriore baseline</a:t>
            </a:r>
          </a:p>
        </p:txBody>
      </p:sp>
      <p:sp>
        <p:nvSpPr>
          <p:cNvPr id="13" name="Rectangle 12">
            <a:extLst>
              <a:ext uri="{FF2B5EF4-FFF2-40B4-BE49-F238E27FC236}">
                <a16:creationId xmlns:a16="http://schemas.microsoft.com/office/drawing/2014/main" id="{29089704-8A2A-4442-A7D6-C7B2EFF5A87C}"/>
              </a:ext>
            </a:extLst>
          </p:cNvPr>
          <p:cNvSpPr>
            <a:spLocks noGrp="1"/>
          </p:cNvSpPr>
          <p:nvPr/>
        </p:nvSpPr>
        <p:spPr>
          <a:xfrm>
            <a:off x="6296025" y="3987800"/>
            <a:ext cx="5286375"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Decoder sul Gross code</a:t>
            </a:r>
          </a:p>
        </p:txBody>
      </p:sp>
      <p:sp>
        <p:nvSpPr>
          <p:cNvPr id="14" name="Rectangle 13">
            <a:extLst>
              <a:ext uri="{FF2B5EF4-FFF2-40B4-BE49-F238E27FC236}">
                <a16:creationId xmlns:a16="http://schemas.microsoft.com/office/drawing/2014/main" id="{26F169C8-4EDE-4FA1-A0C4-AF14F251477B}"/>
              </a:ext>
            </a:extLst>
          </p:cNvPr>
          <p:cNvSpPr>
            <a:spLocks noGrp="1"/>
          </p:cNvSpPr>
          <p:nvPr/>
        </p:nvSpPr>
        <p:spPr>
          <a:xfrm>
            <a:off x="6296025" y="4343400"/>
            <a:ext cx="5286375" cy="1270000"/>
          </a:xfrm>
          <a:prstGeom prst="rect">
            <a:avLst/>
          </a:prstGeom>
          <a:noFill/>
          <a:ln w="0">
            <a:noFill/>
          </a:ln>
        </p:spPr>
        <p:txBody>
          <a:bodyPr>
            <a:noAutofit/>
          </a:bodyPr>
          <a:lstStyle/>
          <a:p>
            <a:pPr>
              <a:defRPr sz="2100" b="0">
                <a:solidFill>
                  <a:srgbClr val="203344"/>
                </a:solidFill>
                <a:latin typeface="Arial"/>
                <a:ea typeface="Arial"/>
                <a:cs typeface="Arial"/>
              </a:defRPr>
            </a:pPr>
            <a:r>
              <a:rPr sz="2100" b="0">
                <a:solidFill>
                  <a:srgbClr val="203344"/>
                </a:solidFill>
                <a:latin typeface="Arial"/>
                <a:ea typeface="Arial"/>
                <a:cs typeface="Arial"/>
              </a:rPr>
              <a:t>BP+OSD (belief propagation + OSD)</a:t>
            </a:r>
          </a:p>
          <a:p>
            <a:pPr>
              <a:defRPr sz="2100" b="0">
                <a:solidFill>
                  <a:srgbClr val="203344"/>
                </a:solidFill>
                <a:latin typeface="Arial"/>
                <a:ea typeface="Arial"/>
                <a:cs typeface="Arial"/>
              </a:defRPr>
            </a:pPr>
            <a:r>
              <a:rPr sz="2100" b="0">
                <a:solidFill>
                  <a:srgbClr val="203344"/>
                </a:solidFill>
                <a:latin typeface="Arial"/>
                <a:ea typeface="Arial"/>
                <a:cs typeface="Arial"/>
              </a:rPr>
              <a:t>Aggiornamenti paralleli o seriali</a:t>
            </a:r>
          </a:p>
          <a:p>
            <a:pPr>
              <a:defRPr sz="2100" b="0">
                <a:solidFill>
                  <a:srgbClr val="203344"/>
                </a:solidFill>
                <a:latin typeface="Arial"/>
                <a:ea typeface="Arial"/>
                <a:cs typeface="Arial"/>
              </a:defRPr>
            </a:pPr>
            <a:r>
              <a:rPr sz="2100" b="0">
                <a:solidFill>
                  <a:srgbClr val="203344"/>
                </a:solidFill>
                <a:latin typeface="Arial"/>
                <a:ea typeface="Arial"/>
                <a:cs typeface="Arial"/>
              </a:rPr>
              <a:t>Confronto con patch surface code</a:t>
            </a:r>
          </a:p>
        </p:txBody>
      </p:sp>
      <p:sp>
        <p:nvSpPr>
          <p:cNvPr id="15" name="Rectangle 14">
            <a:extLst>
              <a:ext uri="{FF2B5EF4-FFF2-40B4-BE49-F238E27FC236}">
                <a16:creationId xmlns:a16="http://schemas.microsoft.com/office/drawing/2014/main" id="{32E0AF76-6F62-4BCD-A0B3-87F7983A2B66}"/>
              </a:ext>
            </a:extLst>
          </p:cNvPr>
          <p:cNvSpPr>
            <a:spLocks noGrp="1"/>
          </p:cNvSpPr>
          <p:nvPr/>
        </p:nvSpPr>
        <p:spPr>
          <a:xfrm>
            <a:off x="609600" y="6350000"/>
            <a:ext cx="10972800" cy="247650"/>
          </a:xfrm>
          <a:prstGeom prst="rect">
            <a:avLst/>
          </a:prstGeom>
          <a:noFill/>
          <a:ln w="0">
            <a:noFill/>
          </a:ln>
        </p:spPr>
        <p:txBody>
          <a:bodyPr>
            <a:noAutofit/>
          </a:bodyPr>
          <a:lstStyle/>
          <a:p>
            <a:pPr>
              <a:defRPr sz="1500" b="0">
                <a:solidFill>
                  <a:srgbClr val="647487"/>
                </a:solidFill>
                <a:latin typeface="Arial"/>
                <a:ea typeface="Arial"/>
                <a:cs typeface="Arial"/>
              </a:defRPr>
            </a:pPr>
            <a:r>
              <a:rPr sz="1500" b="0">
                <a:solidFill>
                  <a:srgbClr val="647487"/>
                </a:solidFill>
                <a:latin typeface="Arial"/>
                <a:ea typeface="Arial"/>
                <a:cs typeface="Arial"/>
              </a:rPr>
              <a:t>Stim campiona le sindromi del surface code. Training, selezione e test separati. La QEC resta distinta da Shor.</a:t>
            </a:r>
          </a:p>
        </p:txBody>
      </p:sp>
      <p:sp>
        <p:nvSpPr>
          <p:cNvPr id="2" name="TextBox 1">
            <a:extLst>
              <a:ext uri="{FF2B5EF4-FFF2-40B4-BE49-F238E27FC236}">
                <a16:creationId xmlns:a16="http://schemas.microsoft.com/office/drawing/2014/main" id="{269754FE-1FF5-2BBD-9B01-09EEB97F4053}"/>
              </a:ext>
            </a:extLst>
          </p:cNvPr>
          <p:cNvSpPr txBox="1"/>
          <p:nvPr/>
        </p:nvSpPr>
        <p:spPr>
          <a:xfrm>
            <a:off x="609600" y="5791200"/>
            <a:ext cx="10972800" cy="369332"/>
          </a:xfrm>
          <a:prstGeom prst="rect">
            <a:avLst/>
          </a:prstGeom>
          <a:noFill/>
        </p:spPr>
        <p:txBody>
          <a:bodyPr vert="horz" wrap="square" rtlCol="0">
            <a:noAutofit/>
          </a:bodyPr>
          <a:lstStyle/>
          <a:p>
            <a:r>
              <a:rPr lang="it-IT" sz="1275" b="1">
                <a:solidFill>
                  <a:srgbClr val="175F99"/>
                </a:solidFill>
                <a:latin typeface="Arial" panose="020B0604020202020204" pitchFamily="34" charset="0"/>
              </a:rPr>
              <a:t>Dalla letteratura </a:t>
            </a:r>
            <a:r>
              <a:rPr lang="it-IT" sz="1275">
                <a:solidFill>
                  <a:srgbClr val="647487"/>
                </a:solidFill>
                <a:latin typeface="Arial" panose="020B0604020202020204" pitchFamily="34" charset="0"/>
              </a:rPr>
              <a:t>· Bausch et al., Nature 2024; Roffe et al., 2020; Bravyi et al. (IBM), Nature 2024. Decoder appresi, BP+OSD e Gross code; rischio: baseline analitica debole, soglia valida solo per la memoria.</a:t>
            </a:r>
            <a:endParaRPr lang="en-GB" sz="1275">
              <a:solidFill>
                <a:srgbClr val="647487"/>
              </a:solidFill>
              <a:latin typeface="Arial" panose="020B0604020202020204" pitchFamily="34" charset="0"/>
            </a:endParaRPr>
          </a:p>
        </p:txBody>
      </p:sp>
    </p:spTree>
    <p:extLst>
      <p:ext uri="{BB962C8B-B14F-4D97-AF65-F5344CB8AC3E}">
        <p14:creationId xmlns:p14="http://schemas.microsoft.com/office/powerpoint/2010/main" val="3848242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7C934D66-A19F-4F45-A910-9FC2198DE6D8}"/>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Metodo 3: QFT approssimata (AQFT)</a:t>
            </a:r>
            <a:endParaRPr sz="2700" b="0">
              <a:solidFill>
                <a:srgbClr val="003366"/>
              </a:solidFill>
              <a:latin typeface="Arial"/>
              <a:ea typeface="Arial"/>
              <a:cs typeface="Arial"/>
            </a:endParaRPr>
          </a:p>
        </p:txBody>
      </p:sp>
      <p:pic>
        <p:nvPicPr>
          <p:cNvPr id="24" name="Picture 23"/>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B7D945B-C75B-4179-BF6C-020587B974A1}"/>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40A8CD84-FE44-4433-9B90-AFC6409EC098}"/>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Materiali e metodi | 12</a:t>
            </a:r>
            <a:endParaRPr sz="1200" b="0">
              <a:solidFill>
                <a:srgbClr val="203344"/>
              </a:solidFill>
              <a:latin typeface="Arial"/>
              <a:ea typeface="Arial"/>
              <a:cs typeface="Arial"/>
            </a:endParaRPr>
          </a:p>
        </p:txBody>
      </p:sp>
      <p:sp>
        <p:nvSpPr>
          <p:cNvPr id="5" name="Rectangle: Rounded Corners 4">
            <a:extLst>
              <a:ext uri="{FF2B5EF4-FFF2-40B4-BE49-F238E27FC236}">
                <a16:creationId xmlns:a16="http://schemas.microsoft.com/office/drawing/2014/main" id="{C0B02F1E-42B0-4215-A32B-407191EEB248}"/>
              </a:ext>
            </a:extLst>
          </p:cNvPr>
          <p:cNvSpPr>
            <a:spLocks noGrp="1"/>
          </p:cNvSpPr>
          <p:nvPr/>
        </p:nvSpPr>
        <p:spPr>
          <a:xfrm>
            <a:off x="609600" y="1514475"/>
            <a:ext cx="5057775" cy="1685925"/>
          </a:xfrm>
          <a:prstGeom prst="roundRect">
            <a:avLst>
              <a:gd name="adj" fmla="val 5650"/>
            </a:avLst>
          </a:prstGeom>
          <a:solidFill>
            <a:srgbClr val="EEF4F8"/>
          </a:solidFill>
          <a:ln w="14288">
            <a:solidFill>
              <a:srgbClr val="5084BF"/>
            </a:solidFill>
          </a:ln>
        </p:spPr>
        <p:txBody>
          <a:bodyPr/>
          <a:lstStyle/>
          <a:p>
            <a:endParaRPr lang="en-GB"/>
          </a:p>
        </p:txBody>
      </p:sp>
      <p:sp>
        <p:nvSpPr>
          <p:cNvPr id="6" name="Rectangle 5">
            <a:extLst>
              <a:ext uri="{FF2B5EF4-FFF2-40B4-BE49-F238E27FC236}">
                <a16:creationId xmlns:a16="http://schemas.microsoft.com/office/drawing/2014/main" id="{B834D500-3518-41DE-B4F5-8EE1598E98B0}"/>
              </a:ext>
            </a:extLst>
          </p:cNvPr>
          <p:cNvSpPr>
            <a:spLocks noGrp="1"/>
          </p:cNvSpPr>
          <p:nvPr/>
        </p:nvSpPr>
        <p:spPr>
          <a:xfrm>
            <a:off x="790575" y="1704975"/>
            <a:ext cx="4695825"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QFT piena</a:t>
            </a:r>
          </a:p>
        </p:txBody>
      </p:sp>
      <p:sp>
        <p:nvSpPr>
          <p:cNvPr id="7" name="Rectangle 6">
            <a:extLst>
              <a:ext uri="{FF2B5EF4-FFF2-40B4-BE49-F238E27FC236}">
                <a16:creationId xmlns:a16="http://schemas.microsoft.com/office/drawing/2014/main" id="{74408B65-40AE-4F22-ACE4-857881372EB6}"/>
              </a:ext>
            </a:extLst>
          </p:cNvPr>
          <p:cNvSpPr>
            <a:spLocks noGrp="1"/>
          </p:cNvSpPr>
          <p:nvPr/>
        </p:nvSpPr>
        <p:spPr>
          <a:xfrm>
            <a:off x="790575" y="2314575"/>
            <a:ext cx="4695825" cy="790575"/>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Rotazioni controllate</a:t>
            </a:r>
          </a:p>
          <a:p>
            <a:pPr>
              <a:defRPr sz="1875" b="0">
                <a:solidFill>
                  <a:srgbClr val="203344"/>
                </a:solidFill>
                <a:latin typeface="Arial"/>
                <a:ea typeface="Arial"/>
                <a:cs typeface="Arial"/>
              </a:defRPr>
            </a:pPr>
            <a:r>
              <a:rPr sz="1875" b="0">
                <a:solidFill>
                  <a:srgbClr val="203344"/>
                </a:solidFill>
                <a:latin typeface="Arial"/>
                <a:ea typeface="Arial"/>
                <a:cs typeface="Arial"/>
              </a:rPr>
              <a:t>di grande e piccolo angolo</a:t>
            </a:r>
          </a:p>
        </p:txBody>
      </p:sp>
      <p:sp>
        <p:nvSpPr>
          <p:cNvPr id="8" name="Arrow: Right 7">
            <a:extLst>
              <a:ext uri="{FF2B5EF4-FFF2-40B4-BE49-F238E27FC236}">
                <a16:creationId xmlns:a16="http://schemas.microsoft.com/office/drawing/2014/main" id="{84308519-41A0-4A6A-981E-EE7016A5A95F}"/>
              </a:ext>
            </a:extLst>
          </p:cNvPr>
          <p:cNvSpPr>
            <a:spLocks noGrp="1"/>
          </p:cNvSpPr>
          <p:nvPr/>
        </p:nvSpPr>
        <p:spPr>
          <a:xfrm>
            <a:off x="5819775" y="2133600"/>
            <a:ext cx="542925" cy="295275"/>
          </a:xfrm>
          <a:prstGeom prst="rightArrow">
            <a:avLst/>
          </a:prstGeom>
          <a:solidFill>
            <a:srgbClr val="647487"/>
          </a:solidFill>
          <a:ln w="0">
            <a:noFill/>
          </a:ln>
        </p:spPr>
        <p:txBody>
          <a:bodyPr/>
          <a:lstStyle/>
          <a:p>
            <a:endParaRPr lang="en-GB"/>
          </a:p>
        </p:txBody>
      </p:sp>
      <p:sp>
        <p:nvSpPr>
          <p:cNvPr id="9" name="Rectangle: Rounded Corners 8">
            <a:extLst>
              <a:ext uri="{FF2B5EF4-FFF2-40B4-BE49-F238E27FC236}">
                <a16:creationId xmlns:a16="http://schemas.microsoft.com/office/drawing/2014/main" id="{9D33D295-FC5A-4B11-9247-935CD5405A3E}"/>
              </a:ext>
            </a:extLst>
          </p:cNvPr>
          <p:cNvSpPr>
            <a:spLocks noGrp="1"/>
          </p:cNvSpPr>
          <p:nvPr/>
        </p:nvSpPr>
        <p:spPr>
          <a:xfrm>
            <a:off x="6524625" y="1514475"/>
            <a:ext cx="5057775" cy="1685925"/>
          </a:xfrm>
          <a:prstGeom prst="roundRect">
            <a:avLst>
              <a:gd name="adj" fmla="val 5650"/>
            </a:avLst>
          </a:prstGeom>
          <a:solidFill>
            <a:srgbClr val="EEF4F8"/>
          </a:solidFill>
          <a:ln w="14288">
            <a:solidFill>
              <a:srgbClr val="5084BF"/>
            </a:solidFill>
          </a:ln>
        </p:spPr>
        <p:txBody>
          <a:bodyPr/>
          <a:lstStyle/>
          <a:p>
            <a:endParaRPr lang="en-GB"/>
          </a:p>
        </p:txBody>
      </p:sp>
      <p:sp>
        <p:nvSpPr>
          <p:cNvPr id="10" name="Rectangle 9">
            <a:extLst>
              <a:ext uri="{FF2B5EF4-FFF2-40B4-BE49-F238E27FC236}">
                <a16:creationId xmlns:a16="http://schemas.microsoft.com/office/drawing/2014/main" id="{358AB232-6DB1-4560-BDA1-394CCD1D4E69}"/>
              </a:ext>
            </a:extLst>
          </p:cNvPr>
          <p:cNvSpPr>
            <a:spLocks noGrp="1"/>
          </p:cNvSpPr>
          <p:nvPr/>
        </p:nvSpPr>
        <p:spPr>
          <a:xfrm>
            <a:off x="6705600" y="1704975"/>
            <a:ext cx="4695825"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QFT approssimata</a:t>
            </a:r>
          </a:p>
        </p:txBody>
      </p:sp>
      <p:sp>
        <p:nvSpPr>
          <p:cNvPr id="11" name="Rectangle 10">
            <a:extLst>
              <a:ext uri="{FF2B5EF4-FFF2-40B4-BE49-F238E27FC236}">
                <a16:creationId xmlns:a16="http://schemas.microsoft.com/office/drawing/2014/main" id="{5EDBD92D-BC16-4B3C-BB50-513E87A5286A}"/>
              </a:ext>
            </a:extLst>
          </p:cNvPr>
          <p:cNvSpPr>
            <a:spLocks noGrp="1"/>
          </p:cNvSpPr>
          <p:nvPr/>
        </p:nvSpPr>
        <p:spPr>
          <a:xfrm>
            <a:off x="6705600" y="2314575"/>
            <a:ext cx="4695825" cy="790575"/>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Omette le rotazioni</a:t>
            </a:r>
          </a:p>
          <a:p>
            <a:pPr>
              <a:defRPr sz="1875" b="0">
                <a:solidFill>
                  <a:srgbClr val="203344"/>
                </a:solidFill>
                <a:latin typeface="Arial"/>
                <a:ea typeface="Arial"/>
                <a:cs typeface="Arial"/>
              </a:defRPr>
            </a:pPr>
            <a:r>
              <a:rPr sz="1875" b="0">
                <a:solidFill>
                  <a:srgbClr val="203344"/>
                </a:solidFill>
                <a:latin typeface="Arial"/>
                <a:ea typeface="Arial"/>
                <a:cs typeface="Arial"/>
              </a:rPr>
              <a:t>di piccolo angolo</a:t>
            </a:r>
          </a:p>
        </p:txBody>
      </p:sp>
      <p:sp>
        <p:nvSpPr>
          <p:cNvPr id="12" name="Rectangle 11">
            <a:extLst>
              <a:ext uri="{FF2B5EF4-FFF2-40B4-BE49-F238E27FC236}">
                <a16:creationId xmlns:a16="http://schemas.microsoft.com/office/drawing/2014/main" id="{31792E19-B2BF-4423-8A89-6DA7F3B162F7}"/>
              </a:ext>
            </a:extLst>
          </p:cNvPr>
          <p:cNvSpPr>
            <a:spLocks noGrp="1"/>
          </p:cNvSpPr>
          <p:nvPr/>
        </p:nvSpPr>
        <p:spPr>
          <a:xfrm>
            <a:off x="609600" y="3533775"/>
            <a:ext cx="10972800" cy="523875"/>
          </a:xfrm>
          <a:prstGeom prst="rect">
            <a:avLst/>
          </a:prstGeom>
          <a:noFill/>
          <a:ln w="0">
            <a:noFill/>
          </a:ln>
        </p:spPr>
        <p:txBody>
          <a:bodyPr>
            <a:noAutofit/>
          </a:bodyPr>
          <a:lstStyle/>
          <a:p>
            <a:pPr>
              <a:defRPr sz="2325" b="1">
                <a:solidFill>
                  <a:srgbClr val="175F99"/>
                </a:solidFill>
                <a:latin typeface="Arial"/>
                <a:ea typeface="Arial"/>
                <a:cs typeface="Arial"/>
              </a:defRPr>
            </a:pPr>
            <a:r>
              <a:rPr sz="2325" b="1">
                <a:solidFill>
                  <a:srgbClr val="175F99"/>
                </a:solidFill>
                <a:latin typeface="Arial"/>
                <a:ea typeface="Arial"/>
                <a:cs typeface="Arial"/>
              </a:rPr>
              <a:t>Meno porte e profondità, al prezzo della precisione di fase</a:t>
            </a:r>
            <a:r>
              <a:rPr lang="it-IT" sz="1350">
                <a:solidFill>
                  <a:srgbClr val="647487"/>
                </a:solidFill>
                <a:latin typeface="Arial"/>
                <a:ea typeface="Arial"/>
                <a:cs typeface="Arial"/>
              </a:rPr>
              <a:t>   · Barenco et al., 1996</a:t>
            </a:r>
            <a:endParaRPr sz="1350">
              <a:solidFill>
                <a:srgbClr val="647487"/>
              </a:solidFill>
              <a:latin typeface="Arial"/>
              <a:ea typeface="Arial"/>
              <a:cs typeface="Arial"/>
            </a:endParaRPr>
          </a:p>
        </p:txBody>
      </p:sp>
      <p:sp>
        <p:nvSpPr>
          <p:cNvPr id="13" name="Rectangle: Rounded Corners 12">
            <a:extLst>
              <a:ext uri="{FF2B5EF4-FFF2-40B4-BE49-F238E27FC236}">
                <a16:creationId xmlns:a16="http://schemas.microsoft.com/office/drawing/2014/main" id="{7001608B-8A7B-493F-BC3F-E70EFEB6F72E}"/>
              </a:ext>
            </a:extLst>
          </p:cNvPr>
          <p:cNvSpPr>
            <a:spLocks noGrp="1"/>
          </p:cNvSpPr>
          <p:nvPr/>
        </p:nvSpPr>
        <p:spPr>
          <a:xfrm>
            <a:off x="609600" y="4295775"/>
            <a:ext cx="3381375" cy="1495425"/>
          </a:xfrm>
          <a:prstGeom prst="roundRect">
            <a:avLst>
              <a:gd name="adj" fmla="val 6369"/>
            </a:avLst>
          </a:prstGeom>
          <a:solidFill>
            <a:srgbClr val="EEF4F8"/>
          </a:solidFill>
          <a:ln w="14288">
            <a:solidFill>
              <a:srgbClr val="5084BF"/>
            </a:solidFill>
          </a:ln>
        </p:spPr>
        <p:txBody>
          <a:bodyPr/>
          <a:lstStyle/>
          <a:p>
            <a:endParaRPr lang="en-GB"/>
          </a:p>
        </p:txBody>
      </p:sp>
      <p:sp>
        <p:nvSpPr>
          <p:cNvPr id="14" name="Rectangle 13">
            <a:extLst>
              <a:ext uri="{FF2B5EF4-FFF2-40B4-BE49-F238E27FC236}">
                <a16:creationId xmlns:a16="http://schemas.microsoft.com/office/drawing/2014/main" id="{DDC6FBF2-BD39-44EA-A940-B35847E78555}"/>
              </a:ext>
            </a:extLst>
          </p:cNvPr>
          <p:cNvSpPr>
            <a:spLocks noGrp="1"/>
          </p:cNvSpPr>
          <p:nvPr/>
        </p:nvSpPr>
        <p:spPr>
          <a:xfrm>
            <a:off x="790575" y="4486275"/>
            <a:ext cx="3019425"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N = 15</a:t>
            </a:r>
          </a:p>
        </p:txBody>
      </p:sp>
      <p:sp>
        <p:nvSpPr>
          <p:cNvPr id="15" name="Rectangle 14">
            <a:extLst>
              <a:ext uri="{FF2B5EF4-FFF2-40B4-BE49-F238E27FC236}">
                <a16:creationId xmlns:a16="http://schemas.microsoft.com/office/drawing/2014/main" id="{1B6CEE40-E2B0-4908-8DA0-2A430C69B8D4}"/>
              </a:ext>
            </a:extLst>
          </p:cNvPr>
          <p:cNvSpPr>
            <a:spLocks noGrp="1"/>
          </p:cNvSpPr>
          <p:nvPr/>
        </p:nvSpPr>
        <p:spPr>
          <a:xfrm>
            <a:off x="790575" y="5095875"/>
            <a:ext cx="3019425" cy="600075"/>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QFT inversa finale</a:t>
            </a:r>
          </a:p>
          <a:p>
            <a:pPr>
              <a:defRPr sz="1875" b="0">
                <a:solidFill>
                  <a:srgbClr val="203344"/>
                </a:solidFill>
                <a:latin typeface="Arial"/>
                <a:ea typeface="Arial"/>
                <a:cs typeface="Arial"/>
              </a:defRPr>
            </a:pPr>
            <a:r>
              <a:rPr sz="1875" b="0">
                <a:solidFill>
                  <a:srgbClr val="203344"/>
                </a:solidFill>
                <a:latin typeface="Arial"/>
                <a:ea typeface="Arial"/>
                <a:cs typeface="Arial"/>
              </a:rPr>
              <a:t>8192 shot nel pilota</a:t>
            </a:r>
          </a:p>
        </p:txBody>
      </p:sp>
      <p:sp>
        <p:nvSpPr>
          <p:cNvPr id="16" name="Rectangle: Rounded Corners 15">
            <a:extLst>
              <a:ext uri="{FF2B5EF4-FFF2-40B4-BE49-F238E27FC236}">
                <a16:creationId xmlns:a16="http://schemas.microsoft.com/office/drawing/2014/main" id="{ADBF0FCF-4420-4916-A2EB-08E9DA30D679}"/>
              </a:ext>
            </a:extLst>
          </p:cNvPr>
          <p:cNvSpPr>
            <a:spLocks noGrp="1"/>
          </p:cNvSpPr>
          <p:nvPr/>
        </p:nvSpPr>
        <p:spPr>
          <a:xfrm>
            <a:off x="4381500" y="4295775"/>
            <a:ext cx="3381375" cy="1495425"/>
          </a:xfrm>
          <a:prstGeom prst="roundRect">
            <a:avLst>
              <a:gd name="adj" fmla="val 6369"/>
            </a:avLst>
          </a:prstGeom>
          <a:solidFill>
            <a:srgbClr val="EEF4F8"/>
          </a:solidFill>
          <a:ln w="14288">
            <a:solidFill>
              <a:srgbClr val="5084BF"/>
            </a:solidFill>
          </a:ln>
        </p:spPr>
        <p:txBody>
          <a:bodyPr/>
          <a:lstStyle/>
          <a:p>
            <a:endParaRPr lang="en-GB"/>
          </a:p>
        </p:txBody>
      </p:sp>
      <p:sp>
        <p:nvSpPr>
          <p:cNvPr id="17" name="Rectangle 16">
            <a:extLst>
              <a:ext uri="{FF2B5EF4-FFF2-40B4-BE49-F238E27FC236}">
                <a16:creationId xmlns:a16="http://schemas.microsoft.com/office/drawing/2014/main" id="{BEBE5384-2BEF-4D2D-A3D4-07F219471525}"/>
              </a:ext>
            </a:extLst>
          </p:cNvPr>
          <p:cNvSpPr>
            <a:spLocks noGrp="1"/>
          </p:cNvSpPr>
          <p:nvPr/>
        </p:nvSpPr>
        <p:spPr>
          <a:xfrm>
            <a:off x="4562475" y="4486275"/>
            <a:ext cx="3019425"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N = 21</a:t>
            </a:r>
          </a:p>
        </p:txBody>
      </p:sp>
      <p:sp>
        <p:nvSpPr>
          <p:cNvPr id="18" name="Rectangle 17">
            <a:extLst>
              <a:ext uri="{FF2B5EF4-FFF2-40B4-BE49-F238E27FC236}">
                <a16:creationId xmlns:a16="http://schemas.microsoft.com/office/drawing/2014/main" id="{7727BE4E-8867-473A-B1DF-4C7341493322}"/>
              </a:ext>
            </a:extLst>
          </p:cNvPr>
          <p:cNvSpPr>
            <a:spLocks noGrp="1"/>
          </p:cNvSpPr>
          <p:nvPr/>
        </p:nvSpPr>
        <p:spPr>
          <a:xfrm>
            <a:off x="4562475" y="5095875"/>
            <a:ext cx="3019425" cy="600075"/>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QFT modulari</a:t>
            </a:r>
          </a:p>
          <a:p>
            <a:pPr>
              <a:defRPr sz="1875" b="0">
                <a:solidFill>
                  <a:srgbClr val="203344"/>
                </a:solidFill>
                <a:latin typeface="Arial"/>
                <a:ea typeface="Arial"/>
                <a:cs typeface="Arial"/>
              </a:defRPr>
            </a:pPr>
            <a:r>
              <a:rPr sz="1875" b="0">
                <a:solidFill>
                  <a:srgbClr val="203344"/>
                </a:solidFill>
                <a:latin typeface="Arial"/>
                <a:ea typeface="Arial"/>
                <a:cs typeface="Arial"/>
              </a:rPr>
              <a:t>256 shot</a:t>
            </a:r>
          </a:p>
        </p:txBody>
      </p:sp>
      <p:sp>
        <p:nvSpPr>
          <p:cNvPr id="19" name="Rectangle: Rounded Corners 18">
            <a:extLst>
              <a:ext uri="{FF2B5EF4-FFF2-40B4-BE49-F238E27FC236}">
                <a16:creationId xmlns:a16="http://schemas.microsoft.com/office/drawing/2014/main" id="{A00B0748-E621-4578-9075-26C6BC471272}"/>
              </a:ext>
            </a:extLst>
          </p:cNvPr>
          <p:cNvSpPr>
            <a:spLocks noGrp="1"/>
          </p:cNvSpPr>
          <p:nvPr/>
        </p:nvSpPr>
        <p:spPr>
          <a:xfrm>
            <a:off x="8153400" y="4295775"/>
            <a:ext cx="3429000" cy="1495425"/>
          </a:xfrm>
          <a:prstGeom prst="roundRect">
            <a:avLst>
              <a:gd name="adj" fmla="val 6369"/>
            </a:avLst>
          </a:prstGeom>
          <a:solidFill>
            <a:srgbClr val="EEF4F8"/>
          </a:solidFill>
          <a:ln w="14288">
            <a:solidFill>
              <a:srgbClr val="5084BF"/>
            </a:solidFill>
          </a:ln>
        </p:spPr>
        <p:txBody>
          <a:bodyPr/>
          <a:lstStyle/>
          <a:p>
            <a:endParaRPr lang="en-GB"/>
          </a:p>
        </p:txBody>
      </p:sp>
      <p:sp>
        <p:nvSpPr>
          <p:cNvPr id="20" name="Rectangle 19">
            <a:extLst>
              <a:ext uri="{FF2B5EF4-FFF2-40B4-BE49-F238E27FC236}">
                <a16:creationId xmlns:a16="http://schemas.microsoft.com/office/drawing/2014/main" id="{AD1A1833-4FB8-4B74-884C-2959D523D0FB}"/>
              </a:ext>
            </a:extLst>
          </p:cNvPr>
          <p:cNvSpPr>
            <a:spLocks noGrp="1"/>
          </p:cNvSpPr>
          <p:nvPr/>
        </p:nvSpPr>
        <p:spPr>
          <a:xfrm>
            <a:off x="8334375" y="4486275"/>
            <a:ext cx="306705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QPE isolata</a:t>
            </a:r>
          </a:p>
        </p:txBody>
      </p:sp>
      <p:sp>
        <p:nvSpPr>
          <p:cNvPr id="21" name="Rectangle 20">
            <a:extLst>
              <a:ext uri="{FF2B5EF4-FFF2-40B4-BE49-F238E27FC236}">
                <a16:creationId xmlns:a16="http://schemas.microsoft.com/office/drawing/2014/main" id="{74F1DE24-0151-4DC6-903A-42D747CA328F}"/>
              </a:ext>
            </a:extLst>
          </p:cNvPr>
          <p:cNvSpPr>
            <a:spLocks noGrp="1"/>
          </p:cNvSpPr>
          <p:nvPr/>
        </p:nvSpPr>
        <p:spPr>
          <a:xfrm>
            <a:off x="8334375" y="5095875"/>
            <a:ext cx="3067050" cy="600075"/>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Registri da 6 a 10 qubit</a:t>
            </a:r>
          </a:p>
          <a:p>
            <a:pPr>
              <a:defRPr sz="1875" b="0">
                <a:solidFill>
                  <a:srgbClr val="203344"/>
                </a:solidFill>
                <a:latin typeface="Arial"/>
                <a:ea typeface="Arial"/>
                <a:cs typeface="Arial"/>
              </a:defRPr>
            </a:pPr>
            <a:r>
              <a:rPr sz="1875" b="0">
                <a:solidFill>
                  <a:srgbClr val="203344"/>
                </a:solidFill>
                <a:latin typeface="Arial"/>
                <a:ea typeface="Arial"/>
                <a:cs typeface="Arial"/>
              </a:rPr>
              <a:t>Benchmark separati</a:t>
            </a:r>
          </a:p>
        </p:txBody>
      </p:sp>
      <p:sp>
        <p:nvSpPr>
          <p:cNvPr id="22" name="Rectangle 21">
            <a:extLst>
              <a:ext uri="{FF2B5EF4-FFF2-40B4-BE49-F238E27FC236}">
                <a16:creationId xmlns:a16="http://schemas.microsoft.com/office/drawing/2014/main" id="{02F8A054-845E-4F54-B8DC-298127502D1B}"/>
              </a:ext>
            </a:extLst>
          </p:cNvPr>
          <p:cNvSpPr>
            <a:spLocks noGrp="1"/>
          </p:cNvSpPr>
          <p:nvPr/>
        </p:nvSpPr>
        <p:spPr>
          <a:xfrm>
            <a:off x="609600" y="6200775"/>
            <a:ext cx="10972800" cy="419100"/>
          </a:xfrm>
          <a:prstGeom prst="rect">
            <a:avLst/>
          </a:prstGeom>
          <a:noFill/>
          <a:ln w="0">
            <a:noFill/>
          </a:ln>
        </p:spPr>
        <p:txBody>
          <a:bodyPr>
            <a:noAutofit/>
          </a:bodyPr>
          <a:lstStyle/>
          <a:p>
            <a:pPr>
              <a:defRPr sz="1500" b="0">
                <a:solidFill>
                  <a:srgbClr val="647487"/>
                </a:solidFill>
                <a:latin typeface="Arial"/>
                <a:ea typeface="Arial"/>
                <a:cs typeface="Arial"/>
              </a:defRPr>
            </a:pPr>
            <a:r>
              <a:rPr sz="1500" b="0">
                <a:solidFill>
                  <a:srgbClr val="647487"/>
                </a:solidFill>
                <a:latin typeface="Arial"/>
                <a:ea typeface="Arial"/>
                <a:cs typeface="Arial"/>
              </a:rPr>
              <a:t>Rumore da FakeSherbrooke, calibrazione offline di una QPU IBM, senza T1/T2 (rilassamento e decoerenza) aggiuntivi. Grado (quante rotazioni omettere) scelto in selection e verificato su dati indipendenti.</a:t>
            </a:r>
          </a:p>
        </p:txBody>
      </p:sp>
    </p:spTree>
    <p:extLst>
      <p:ext uri="{BB962C8B-B14F-4D97-AF65-F5344CB8AC3E}">
        <p14:creationId xmlns:p14="http://schemas.microsoft.com/office/powerpoint/2010/main" val="4907962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5D582BE-7568-4FB4-B778-5A7052E72D90}"/>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Quanto il rumore degrada Shor</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972EB8E-9FDE-438D-AF6C-38E0FD3CD7CF}"/>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BD9783EE-F232-40C0-B3E7-031F6A8D5DC3}"/>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Risultati | 13</a:t>
            </a:r>
            <a:endParaRPr sz="1200" b="0">
              <a:solidFill>
                <a:srgbClr val="203344"/>
              </a:solidFill>
              <a:latin typeface="Arial"/>
              <a:ea typeface="Arial"/>
              <a:cs typeface="Arial"/>
            </a:endParaRPr>
          </a:p>
        </p:txBody>
      </p:sp>
      <p:pic>
        <p:nvPicPr>
          <p:cNvPr id="15" name="Picture 14"/>
          <p:cNvPicPr>
            <a:picLocks noChangeAspect="1"/>
          </p:cNvPicPr>
          <p:nvPr/>
        </p:nvPicPr>
        <p:blipFill>
          <a:blip r:embed="rId4"/>
          <a:stretch/>
        </p:blipFill>
        <p:spPr>
          <a:xfrm>
            <a:off x="711806" y="1371600"/>
            <a:ext cx="6958389" cy="4105275"/>
          </a:xfrm>
          <a:prstGeom prst="rect">
            <a:avLst/>
          </a:prstGeom>
        </p:spPr>
      </p:pic>
      <p:sp>
        <p:nvSpPr>
          <p:cNvPr id="6" name="Rectangle 5">
            <a:extLst>
              <a:ext uri="{FF2B5EF4-FFF2-40B4-BE49-F238E27FC236}">
                <a16:creationId xmlns:a16="http://schemas.microsoft.com/office/drawing/2014/main" id="{697603FF-05F2-4F40-B8B9-3DC8702E9642}"/>
              </a:ext>
            </a:extLst>
          </p:cNvPr>
          <p:cNvSpPr>
            <a:spLocks noGrp="1"/>
          </p:cNvSpPr>
          <p:nvPr/>
        </p:nvSpPr>
        <p:spPr>
          <a:xfrm>
            <a:off x="8277225" y="1609725"/>
            <a:ext cx="3305175" cy="800100"/>
          </a:xfrm>
          <a:prstGeom prst="rect">
            <a:avLst/>
          </a:prstGeom>
          <a:noFill/>
          <a:ln w="0">
            <a:noFill/>
          </a:ln>
        </p:spPr>
        <p:txBody>
          <a:bodyPr>
            <a:noAutofit/>
          </a:bodyPr>
          <a:lstStyle/>
          <a:p>
            <a:pPr>
              <a:defRPr sz="4500" b="1">
                <a:solidFill>
                  <a:srgbClr val="175F99"/>
                </a:solidFill>
                <a:latin typeface="Arial"/>
                <a:ea typeface="Arial"/>
                <a:cs typeface="Arial"/>
              </a:defRPr>
            </a:pPr>
            <a:r>
              <a:rPr sz="4500" b="1">
                <a:solidFill>
                  <a:srgbClr val="175F99"/>
                </a:solidFill>
                <a:latin typeface="Arial"/>
                <a:ea typeface="Arial"/>
                <a:cs typeface="Arial"/>
              </a:rPr>
              <a:t>74,89%</a:t>
            </a:r>
          </a:p>
        </p:txBody>
      </p:sp>
      <p:sp>
        <p:nvSpPr>
          <p:cNvPr id="7" name="Rectangle 6">
            <a:extLst>
              <a:ext uri="{FF2B5EF4-FFF2-40B4-BE49-F238E27FC236}">
                <a16:creationId xmlns:a16="http://schemas.microsoft.com/office/drawing/2014/main" id="{6B6831B9-EAF8-4F40-BE26-87795B4AE723}"/>
              </a:ext>
            </a:extLst>
          </p:cNvPr>
          <p:cNvSpPr>
            <a:spLocks noGrp="1"/>
          </p:cNvSpPr>
          <p:nvPr/>
        </p:nvSpPr>
        <p:spPr>
          <a:xfrm>
            <a:off x="8324420" y="2321027"/>
            <a:ext cx="3305175" cy="1095375"/>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Successo senza rumore</a:t>
            </a:r>
          </a:p>
          <a:p>
            <a:pPr>
              <a:defRPr sz="2025" b="0">
                <a:solidFill>
                  <a:srgbClr val="203344"/>
                </a:solidFill>
                <a:latin typeface="Arial"/>
                <a:ea typeface="Arial"/>
                <a:cs typeface="Arial"/>
              </a:defRPr>
            </a:pPr>
            <a:r>
              <a:rPr sz="2025" b="0">
                <a:solidFill>
                  <a:srgbClr val="203344"/>
                </a:solidFill>
                <a:latin typeface="Arial"/>
                <a:ea typeface="Arial"/>
                <a:cs typeface="Arial"/>
              </a:rPr>
              <a:t>Atteso: 75%</a:t>
            </a:r>
          </a:p>
        </p:txBody>
      </p:sp>
      <p:sp>
        <p:nvSpPr>
          <p:cNvPr id="8" name="Rectangle 7">
            <a:extLst>
              <a:ext uri="{FF2B5EF4-FFF2-40B4-BE49-F238E27FC236}">
                <a16:creationId xmlns:a16="http://schemas.microsoft.com/office/drawing/2014/main" id="{698F4480-43E8-4C7A-BA5E-A533E7D9990E}"/>
              </a:ext>
            </a:extLst>
          </p:cNvPr>
          <p:cNvSpPr>
            <a:spLocks noGrp="1"/>
          </p:cNvSpPr>
          <p:nvPr/>
        </p:nvSpPr>
        <p:spPr>
          <a:xfrm>
            <a:off x="8277225" y="3705225"/>
            <a:ext cx="3305175" cy="1479550"/>
          </a:xfrm>
          <a:prstGeom prst="rect">
            <a:avLst/>
          </a:prstGeom>
          <a:noFill/>
          <a:ln w="0">
            <a:noFill/>
          </a:ln>
        </p:spPr>
        <p:txBody>
          <a:bodyPr>
            <a:noAutofit/>
          </a:bodyPr>
          <a:lstStyle/>
          <a:p>
            <a:pPr>
              <a:defRPr sz="2100" b="0">
                <a:solidFill>
                  <a:srgbClr val="203344"/>
                </a:solidFill>
                <a:latin typeface="Arial"/>
                <a:ea typeface="Arial"/>
                <a:cs typeface="Arial"/>
              </a:defRPr>
            </a:pPr>
            <a:r>
              <a:rPr lang="it-IT" sz="2100" b="0" dirty="0">
                <a:solidFill>
                  <a:srgbClr val="203344"/>
                </a:solidFill>
                <a:latin typeface="Arial"/>
                <a:ea typeface="Arial"/>
                <a:cs typeface="Arial"/>
              </a:rPr>
              <a:t>56,5% a </a:t>
            </a:r>
            <a:r>
              <a:rPr lang="it-IT" sz="2100" b="0" dirty="0" err="1">
                <a:solidFill>
                  <a:srgbClr val="203344"/>
                </a:solidFill>
                <a:latin typeface="Arial"/>
                <a:ea typeface="Arial"/>
                <a:cs typeface="Arial"/>
              </a:rPr>
              <a:t>p_g</a:t>
            </a:r>
            <a:r>
              <a:rPr lang="it-IT" sz="2100" b="0" dirty="0">
                <a:solidFill>
                  <a:srgbClr val="203344"/>
                </a:solidFill>
                <a:latin typeface="Arial"/>
                <a:ea typeface="Arial"/>
                <a:cs typeface="Arial"/>
              </a:rPr>
              <a:t> = 1%</a:t>
            </a:r>
          </a:p>
          <a:p>
            <a:pPr>
              <a:defRPr sz="2100" b="0">
                <a:solidFill>
                  <a:srgbClr val="203344"/>
                </a:solidFill>
                <a:latin typeface="Arial"/>
                <a:ea typeface="Arial"/>
                <a:cs typeface="Arial"/>
              </a:defRPr>
            </a:pPr>
            <a:r>
              <a:rPr lang="it-IT" sz="2100" b="0" dirty="0">
                <a:solidFill>
                  <a:srgbClr val="203344"/>
                </a:solidFill>
                <a:latin typeface="Arial"/>
                <a:ea typeface="Arial"/>
                <a:cs typeface="Arial"/>
              </a:rPr>
              <a:t>45,2% a </a:t>
            </a:r>
            <a:r>
              <a:rPr lang="it-IT" sz="2100" b="0" dirty="0" err="1">
                <a:solidFill>
                  <a:srgbClr val="203344"/>
                </a:solidFill>
                <a:latin typeface="Arial"/>
                <a:ea typeface="Arial"/>
                <a:cs typeface="Arial"/>
              </a:rPr>
              <a:t>p_g</a:t>
            </a:r>
            <a:r>
              <a:rPr lang="it-IT" sz="2100" b="0" dirty="0">
                <a:solidFill>
                  <a:srgbClr val="203344"/>
                </a:solidFill>
                <a:latin typeface="Arial"/>
                <a:ea typeface="Arial"/>
                <a:cs typeface="Arial"/>
              </a:rPr>
              <a:t> = 2%</a:t>
            </a:r>
          </a:p>
          <a:p>
            <a:pPr>
              <a:defRPr sz="2100" b="0">
                <a:solidFill>
                  <a:srgbClr val="203344"/>
                </a:solidFill>
                <a:latin typeface="Arial"/>
                <a:ea typeface="Arial"/>
                <a:cs typeface="Arial"/>
              </a:defRPr>
            </a:pPr>
            <a:r>
              <a:rPr lang="it-IT" sz="2100" b="0" dirty="0">
                <a:solidFill>
                  <a:srgbClr val="203344"/>
                </a:solidFill>
                <a:latin typeface="Arial"/>
                <a:ea typeface="Arial"/>
                <a:cs typeface="Arial"/>
              </a:rPr>
              <a:t>29,5% a </a:t>
            </a:r>
            <a:r>
              <a:rPr lang="it-IT" sz="2100" b="0" dirty="0" err="1">
                <a:solidFill>
                  <a:srgbClr val="203344"/>
                </a:solidFill>
                <a:latin typeface="Arial"/>
                <a:ea typeface="Arial"/>
                <a:cs typeface="Arial"/>
              </a:rPr>
              <a:t>p_g</a:t>
            </a:r>
            <a:r>
              <a:rPr lang="it-IT" sz="2100" b="0" dirty="0">
                <a:solidFill>
                  <a:srgbClr val="203344"/>
                </a:solidFill>
                <a:latin typeface="Arial"/>
                <a:ea typeface="Arial"/>
                <a:cs typeface="Arial"/>
              </a:rPr>
              <a:t> = 5%</a:t>
            </a:r>
          </a:p>
          <a:p>
            <a:pPr>
              <a:defRPr sz="2100" b="0">
                <a:solidFill>
                  <a:srgbClr val="203344"/>
                </a:solidFill>
                <a:latin typeface="Arial"/>
                <a:ea typeface="Arial"/>
                <a:cs typeface="Arial"/>
              </a:defRPr>
            </a:pPr>
            <a:r>
              <a:rPr lang="it-IT" sz="2100" b="0" dirty="0" err="1">
                <a:solidFill>
                  <a:srgbClr val="203344"/>
                </a:solidFill>
                <a:latin typeface="Arial"/>
                <a:ea typeface="Arial"/>
                <a:cs typeface="Arial"/>
              </a:rPr>
              <a:t>p_g</a:t>
            </a:r>
            <a:r>
              <a:rPr lang="it-IT" sz="2100" b="0" dirty="0">
                <a:solidFill>
                  <a:srgbClr val="203344"/>
                </a:solidFill>
                <a:latin typeface="Arial"/>
                <a:ea typeface="Arial"/>
                <a:cs typeface="Arial"/>
              </a:rPr>
              <a:t>: probabilità di un operatore di Pauli casuale (X, Y, Z) dopo ogni porta</a:t>
            </a:r>
            <a:endParaRPr sz="2100" b="0" dirty="0">
              <a:solidFill>
                <a:srgbClr val="203344"/>
              </a:solidFill>
              <a:latin typeface="Arial"/>
              <a:ea typeface="Arial"/>
              <a:cs typeface="Arial"/>
            </a:endParaRPr>
          </a:p>
        </p:txBody>
      </p:sp>
      <p:sp>
        <p:nvSpPr>
          <p:cNvPr id="10" name="Rectangle 9">
            <a:extLst>
              <a:ext uri="{FF2B5EF4-FFF2-40B4-BE49-F238E27FC236}">
                <a16:creationId xmlns:a16="http://schemas.microsoft.com/office/drawing/2014/main" id="{B0380CDB-EE66-43E3-A612-0B55A00F0C4D}"/>
              </a:ext>
            </a:extLst>
          </p:cNvPr>
          <p:cNvSpPr>
            <a:spLocks noGrp="1"/>
          </p:cNvSpPr>
          <p:nvPr/>
        </p:nvSpPr>
        <p:spPr>
          <a:xfrm>
            <a:off x="609600" y="6153150"/>
            <a:ext cx="10972800" cy="533400"/>
          </a:xfrm>
          <a:prstGeom prst="rect">
            <a:avLst/>
          </a:prstGeom>
          <a:noFill/>
          <a:ln w="0">
            <a:noFill/>
          </a:ln>
        </p:spPr>
        <p:txBody>
          <a:bodyPr>
            <a:noAutofit/>
          </a:bodyPr>
          <a:lstStyle/>
          <a:p>
            <a:pPr>
              <a:defRPr sz="1950" b="1">
                <a:solidFill>
                  <a:srgbClr val="175F99"/>
                </a:solidFill>
                <a:latin typeface="Arial"/>
                <a:ea typeface="Arial"/>
                <a:cs typeface="Arial"/>
              </a:defRPr>
            </a:pPr>
            <a:r>
              <a:rPr sz="1950" b="1">
                <a:solidFill>
                  <a:srgbClr val="175F99"/>
                </a:solidFill>
                <a:latin typeface="Arial"/>
                <a:ea typeface="Arial"/>
                <a:cs typeface="Arial"/>
              </a:rPr>
              <a:t>Il plateau a circa 24,6% riflette la verifica classica, senza provare periodicità residua.</a:t>
            </a:r>
          </a:p>
        </p:txBody>
      </p:sp>
    </p:spTree>
    <p:extLst>
      <p:ext uri="{BB962C8B-B14F-4D97-AF65-F5344CB8AC3E}">
        <p14:creationId xmlns:p14="http://schemas.microsoft.com/office/powerpoint/2010/main" val="7715016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E95F82B-CDE8-448E-B6D8-A3E05F218E05}"/>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1: il beneficio viene da TOP-4</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441F74C-BA89-458E-AB53-0F4F7EFF5A41}"/>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ABD41A47-49F1-4096-92F6-B4B9DFAA222F}"/>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Risultati | 14</a:t>
            </a:r>
            <a:endParaRPr sz="1200" b="0">
              <a:solidFill>
                <a:srgbClr val="203344"/>
              </a:solidFill>
              <a:latin typeface="Arial"/>
              <a:ea typeface="Arial"/>
              <a:cs typeface="Arial"/>
            </a:endParaRPr>
          </a:p>
        </p:txBody>
      </p:sp>
      <p:pic>
        <p:nvPicPr>
          <p:cNvPr id="15" name="Picture 14"/>
          <p:cNvPicPr>
            <a:picLocks noChangeAspect="1"/>
          </p:cNvPicPr>
          <p:nvPr/>
        </p:nvPicPr>
        <p:blipFill>
          <a:blip r:embed="rId4"/>
          <a:stretch/>
        </p:blipFill>
        <p:spPr>
          <a:xfrm>
            <a:off x="904484" y="1476375"/>
            <a:ext cx="6315858" cy="4038600"/>
          </a:xfrm>
          <a:prstGeom prst="rect">
            <a:avLst/>
          </a:prstGeom>
        </p:spPr>
      </p:pic>
      <p:sp>
        <p:nvSpPr>
          <p:cNvPr id="6" name="Rectangle 5">
            <a:extLst>
              <a:ext uri="{FF2B5EF4-FFF2-40B4-BE49-F238E27FC236}">
                <a16:creationId xmlns:a16="http://schemas.microsoft.com/office/drawing/2014/main" id="{37BF5463-337E-49AE-80CA-06E347012199}"/>
              </a:ext>
            </a:extLst>
          </p:cNvPr>
          <p:cNvSpPr>
            <a:spLocks noGrp="1"/>
          </p:cNvSpPr>
          <p:nvPr/>
        </p:nvSpPr>
        <p:spPr>
          <a:xfrm>
            <a:off x="8010525" y="1628775"/>
            <a:ext cx="3571875" cy="800100"/>
          </a:xfrm>
          <a:prstGeom prst="rect">
            <a:avLst/>
          </a:prstGeom>
          <a:noFill/>
          <a:ln w="0">
            <a:noFill/>
          </a:ln>
        </p:spPr>
        <p:txBody>
          <a:bodyPr>
            <a:noAutofit/>
          </a:bodyPr>
          <a:lstStyle/>
          <a:p>
            <a:pPr>
              <a:defRPr sz="5250" b="1">
                <a:solidFill>
                  <a:srgbClr val="175F99"/>
                </a:solidFill>
                <a:latin typeface="Arial"/>
                <a:ea typeface="Arial"/>
                <a:cs typeface="Arial"/>
              </a:defRPr>
            </a:pPr>
            <a:r>
              <a:rPr sz="5250" b="1">
                <a:solidFill>
                  <a:srgbClr val="175F99"/>
                </a:solidFill>
                <a:latin typeface="Arial"/>
                <a:ea typeface="Arial"/>
                <a:cs typeface="Arial"/>
              </a:rPr>
              <a:t>1,00</a:t>
            </a:r>
          </a:p>
        </p:txBody>
      </p:sp>
      <p:sp>
        <p:nvSpPr>
          <p:cNvPr id="7" name="Rectangle 6">
            <a:extLst>
              <a:ext uri="{FF2B5EF4-FFF2-40B4-BE49-F238E27FC236}">
                <a16:creationId xmlns:a16="http://schemas.microsoft.com/office/drawing/2014/main" id="{BFC548CF-E898-4D0E-BA1B-8F970B902EDF}"/>
              </a:ext>
            </a:extLst>
          </p:cNvPr>
          <p:cNvSpPr>
            <a:spLocks noGrp="1"/>
          </p:cNvSpPr>
          <p:nvPr/>
        </p:nvSpPr>
        <p:spPr>
          <a:xfrm>
            <a:off x="8010525" y="2466975"/>
            <a:ext cx="3571875" cy="1095375"/>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Iterazioni medie con TOP-4</a:t>
            </a:r>
          </a:p>
          <a:p>
            <a:pPr>
              <a:defRPr sz="2025" b="0">
                <a:solidFill>
                  <a:srgbClr val="203344"/>
                </a:solidFill>
                <a:latin typeface="Arial"/>
                <a:ea typeface="Arial"/>
                <a:cs typeface="Arial"/>
              </a:defRPr>
            </a:pPr>
            <a:r>
              <a:rPr sz="2025" b="0">
                <a:solidFill>
                  <a:srgbClr val="203344"/>
                </a:solidFill>
                <a:latin typeface="Arial"/>
                <a:ea typeface="Arial"/>
                <a:cs typeface="Arial"/>
              </a:rPr>
              <a:t>nei due scenari, 30/30 repliche</a:t>
            </a:r>
          </a:p>
        </p:txBody>
      </p:sp>
      <p:sp>
        <p:nvSpPr>
          <p:cNvPr id="8" name="Rectangle 7">
            <a:extLst>
              <a:ext uri="{FF2B5EF4-FFF2-40B4-BE49-F238E27FC236}">
                <a16:creationId xmlns:a16="http://schemas.microsoft.com/office/drawing/2014/main" id="{1C2AA07C-8300-40A1-AF46-782A9117948E}"/>
              </a:ext>
            </a:extLst>
          </p:cNvPr>
          <p:cNvSpPr>
            <a:spLocks noGrp="1"/>
          </p:cNvSpPr>
          <p:nvPr/>
        </p:nvSpPr>
        <p:spPr>
          <a:xfrm>
            <a:off x="8010525" y="4019550"/>
            <a:ext cx="3571875" cy="942975"/>
          </a:xfrm>
          <a:prstGeom prst="rect">
            <a:avLst/>
          </a:prstGeom>
          <a:noFill/>
          <a:ln w="0">
            <a:noFill/>
          </a:ln>
        </p:spPr>
        <p:txBody>
          <a:bodyPr>
            <a:noAutofit/>
          </a:bodyPr>
          <a:lstStyle/>
          <a:p>
            <a:pPr>
              <a:defRPr sz="2175" b="0">
                <a:solidFill>
                  <a:srgbClr val="203344"/>
                </a:solidFill>
                <a:latin typeface="Arial"/>
                <a:ea typeface="Arial"/>
                <a:cs typeface="Arial"/>
              </a:defRPr>
            </a:pPr>
            <a:r>
              <a:rPr sz="2175" b="0">
                <a:solidFill>
                  <a:srgbClr val="203344"/>
                </a:solidFill>
                <a:latin typeface="Arial"/>
                <a:ea typeface="Arial"/>
                <a:cs typeface="Arial"/>
              </a:rPr>
              <a:t>TOP-1: 1,37 / 1,50</a:t>
            </a:r>
          </a:p>
          <a:p>
            <a:pPr>
              <a:defRPr sz="2175" b="0">
                <a:solidFill>
                  <a:srgbClr val="203344"/>
                </a:solidFill>
                <a:latin typeface="Arial"/>
                <a:ea typeface="Arial"/>
                <a:cs typeface="Arial"/>
              </a:defRPr>
            </a:pPr>
            <a:r>
              <a:rPr sz="2175" b="0">
                <a:solidFill>
                  <a:srgbClr val="203344"/>
                </a:solidFill>
                <a:latin typeface="Arial"/>
                <a:ea typeface="Arial"/>
                <a:cs typeface="Arial"/>
              </a:rPr>
              <a:t>M2: 1,50 / 1,37</a:t>
            </a:r>
          </a:p>
        </p:txBody>
      </p:sp>
      <p:sp>
        <p:nvSpPr>
          <p:cNvPr id="9" name="Rectangle 8">
            <a:extLst>
              <a:ext uri="{FF2B5EF4-FFF2-40B4-BE49-F238E27FC236}">
                <a16:creationId xmlns:a16="http://schemas.microsoft.com/office/drawing/2014/main" id="{07CA9E98-8402-43B7-97FD-2F8054CAC72C}"/>
              </a:ext>
            </a:extLst>
          </p:cNvPr>
          <p:cNvSpPr>
            <a:spLocks noGrp="1"/>
          </p:cNvSpPr>
          <p:nvPr/>
        </p:nvSpPr>
        <p:spPr>
          <a:xfrm>
            <a:off x="609600" y="5676900"/>
            <a:ext cx="10972800" cy="447675"/>
          </a:xfrm>
          <a:prstGeom prst="rect">
            <a:avLst/>
          </a:prstGeom>
          <a:noFill/>
          <a:ln w="0">
            <a:noFill/>
          </a:ln>
        </p:spPr>
        <p:txBody>
          <a:bodyPr>
            <a:noAutofit/>
          </a:bodyPr>
          <a:lstStyle/>
          <a:p>
            <a:pPr>
              <a:defRPr sz="1650" b="0">
                <a:solidFill>
                  <a:srgbClr val="647487"/>
                </a:solidFill>
                <a:latin typeface="Arial"/>
                <a:ea typeface="Arial"/>
                <a:cs typeface="Arial"/>
              </a:defRPr>
            </a:pPr>
            <a:r>
              <a:rPr sz="1650" b="0">
                <a:solidFill>
                  <a:srgbClr val="647487"/>
                </a:solidFill>
                <a:latin typeface="Arial"/>
                <a:ea typeface="Arial"/>
                <a:cs typeface="Arial"/>
              </a:rPr>
              <a:t>SVM: F1 0,919 / 0,923; AUC 0,965 / 0,958. Capacità predittiva senza beneficio operativo.</a:t>
            </a:r>
          </a:p>
        </p:txBody>
      </p:sp>
      <p:sp>
        <p:nvSpPr>
          <p:cNvPr id="10" name="Rectangle 9">
            <a:extLst>
              <a:ext uri="{FF2B5EF4-FFF2-40B4-BE49-F238E27FC236}">
                <a16:creationId xmlns:a16="http://schemas.microsoft.com/office/drawing/2014/main" id="{A7AC68A4-E2EE-4085-845B-47EDAAA6D577}"/>
              </a:ext>
            </a:extLst>
          </p:cNvPr>
          <p:cNvSpPr>
            <a:spLocks noGrp="1"/>
          </p:cNvSpPr>
          <p:nvPr/>
        </p:nvSpPr>
        <p:spPr>
          <a:xfrm>
            <a:off x="609600" y="6229350"/>
            <a:ext cx="10972800" cy="495300"/>
          </a:xfrm>
          <a:prstGeom prst="rect">
            <a:avLst/>
          </a:prstGeom>
          <a:noFill/>
          <a:ln w="0">
            <a:noFill/>
          </a:ln>
        </p:spPr>
        <p:txBody>
          <a:bodyPr>
            <a:noAutofit/>
          </a:bodyPr>
          <a:lstStyle/>
          <a:p>
            <a:pPr>
              <a:defRPr sz="1950" b="1">
                <a:solidFill>
                  <a:srgbClr val="175F99"/>
                </a:solidFill>
                <a:latin typeface="Arial"/>
                <a:ea typeface="Arial"/>
                <a:cs typeface="Arial"/>
              </a:defRPr>
            </a:pPr>
            <a:r>
              <a:rPr sz="1950" b="1">
                <a:solidFill>
                  <a:srgbClr val="175F99"/>
                </a:solidFill>
                <a:latin typeface="Arial"/>
                <a:ea typeface="Arial"/>
                <a:cs typeface="Arial"/>
              </a:rPr>
              <a:t>M2: nessun vantaggio significativo su TOP-1. Prestazioni peggiori di TOP-4.</a:t>
            </a:r>
          </a:p>
        </p:txBody>
      </p:sp>
    </p:spTree>
    <p:extLst>
      <p:ext uri="{BB962C8B-B14F-4D97-AF65-F5344CB8AC3E}">
        <p14:creationId xmlns:p14="http://schemas.microsoft.com/office/powerpoint/2010/main" val="6271155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AA26051-CE9A-44FC-98B2-DC8331178E9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2: la QEC aiuta sotto soglia</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865D6DAB-35C4-44C3-BE25-5179AEC9B4BF}"/>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DF278FCC-CAE1-457F-906A-2CA805A50B3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Risultati | 15</a:t>
            </a:r>
            <a:endParaRPr sz="1200" b="0">
              <a:solidFill>
                <a:srgbClr val="203344"/>
              </a:solidFill>
              <a:latin typeface="Arial"/>
              <a:ea typeface="Arial"/>
              <a:cs typeface="Arial"/>
            </a:endParaRPr>
          </a:p>
        </p:txBody>
      </p:sp>
      <p:pic>
        <p:nvPicPr>
          <p:cNvPr id="15" name="Picture 14"/>
          <p:cNvPicPr>
            <a:picLocks noChangeAspect="1"/>
          </p:cNvPicPr>
          <p:nvPr/>
        </p:nvPicPr>
        <p:blipFill>
          <a:blip r:embed="rId4"/>
          <a:stretch/>
        </p:blipFill>
        <p:spPr>
          <a:xfrm>
            <a:off x="609600" y="1559634"/>
            <a:ext cx="7667625" cy="3576807"/>
          </a:xfrm>
          <a:prstGeom prst="rect">
            <a:avLst/>
          </a:prstGeom>
        </p:spPr>
      </p:pic>
      <p:sp>
        <p:nvSpPr>
          <p:cNvPr id="6" name="Rectangle 5">
            <a:extLst>
              <a:ext uri="{FF2B5EF4-FFF2-40B4-BE49-F238E27FC236}">
                <a16:creationId xmlns:a16="http://schemas.microsoft.com/office/drawing/2014/main" id="{0C456B77-8485-4875-A49F-280A5006DBAD}"/>
              </a:ext>
            </a:extLst>
          </p:cNvPr>
          <p:cNvSpPr>
            <a:spLocks noGrp="1"/>
          </p:cNvSpPr>
          <p:nvPr/>
        </p:nvSpPr>
        <p:spPr>
          <a:xfrm>
            <a:off x="8743950" y="1704975"/>
            <a:ext cx="2838450" cy="800100"/>
          </a:xfrm>
          <a:prstGeom prst="rect">
            <a:avLst/>
          </a:prstGeom>
          <a:noFill/>
          <a:ln w="0">
            <a:noFill/>
          </a:ln>
        </p:spPr>
        <p:txBody>
          <a:bodyPr>
            <a:noAutofit/>
          </a:bodyPr>
          <a:lstStyle/>
          <a:p>
            <a:pPr>
              <a:defRPr sz="4575" b="1">
                <a:solidFill>
                  <a:srgbClr val="175F99"/>
                </a:solidFill>
                <a:latin typeface="Arial"/>
                <a:ea typeface="Arial"/>
                <a:cs typeface="Arial"/>
              </a:defRPr>
            </a:pPr>
            <a:r>
              <a:rPr sz="4575" b="1">
                <a:solidFill>
                  <a:srgbClr val="175F99"/>
                </a:solidFill>
                <a:latin typeface="Arial"/>
                <a:ea typeface="Arial"/>
                <a:cs typeface="Arial"/>
              </a:rPr>
              <a:t>0,86%</a:t>
            </a:r>
          </a:p>
        </p:txBody>
      </p:sp>
      <p:sp>
        <p:nvSpPr>
          <p:cNvPr id="7" name="Rectangle 6">
            <a:extLst>
              <a:ext uri="{FF2B5EF4-FFF2-40B4-BE49-F238E27FC236}">
                <a16:creationId xmlns:a16="http://schemas.microsoft.com/office/drawing/2014/main" id="{84BFCB9A-D13F-41D2-8F42-9C9249466A06}"/>
              </a:ext>
            </a:extLst>
          </p:cNvPr>
          <p:cNvSpPr>
            <a:spLocks noGrp="1"/>
          </p:cNvSpPr>
          <p:nvPr/>
        </p:nvSpPr>
        <p:spPr>
          <a:xfrm>
            <a:off x="8743950" y="2543175"/>
            <a:ext cx="2838450" cy="1095375"/>
          </a:xfrm>
          <a:prstGeom prst="rect">
            <a:avLst/>
          </a:prstGeom>
          <a:noFill/>
          <a:ln w="0">
            <a:noFill/>
          </a:ln>
        </p:spPr>
        <p:txBody>
          <a:bodyPr>
            <a:noAutofit/>
          </a:bodyPr>
          <a:lstStyle/>
          <a:p>
            <a:pPr>
              <a:defRPr sz="2025" b="0">
                <a:solidFill>
                  <a:srgbClr val="203344"/>
                </a:solidFill>
                <a:latin typeface="Arial"/>
                <a:ea typeface="Arial"/>
                <a:cs typeface="Arial"/>
              </a:defRPr>
            </a:pPr>
            <a:r>
              <a:rPr lang="it-IT" sz="2025" b="0">
                <a:solidFill>
                  <a:srgbClr val="203344"/>
                </a:solidFill>
                <a:latin typeface="Arial"/>
                <a:ea typeface="Arial"/>
                <a:cs typeface="Arial"/>
              </a:rPr>
              <a:t>Soglia in base Z</a:t>
            </a:r>
          </a:p>
          <a:p>
            <a:pPr>
              <a:defRPr sz="2025" b="0">
                <a:solidFill>
                  <a:srgbClr val="203344"/>
                </a:solidFill>
                <a:latin typeface="Arial"/>
                <a:ea typeface="Arial"/>
                <a:cs typeface="Arial"/>
              </a:defRPr>
            </a:pPr>
            <a:r>
              <a:rPr lang="it-IT" sz="2025" b="0">
                <a:solidFill>
                  <a:srgbClr val="203344"/>
                </a:solidFill>
                <a:latin typeface="Arial"/>
                <a:ea typeface="Arial"/>
                <a:cs typeface="Arial"/>
              </a:rPr>
              <a:t>0,81% in base X</a:t>
            </a:r>
            <a:endParaRPr sz="2025" b="0">
              <a:solidFill>
                <a:srgbClr val="203344"/>
              </a:solidFill>
              <a:latin typeface="Arial"/>
              <a:ea typeface="Arial"/>
              <a:cs typeface="Arial"/>
            </a:endParaRPr>
          </a:p>
        </p:txBody>
      </p:sp>
      <p:sp>
        <p:nvSpPr>
          <p:cNvPr id="8" name="Rectangle 7">
            <a:extLst>
              <a:ext uri="{FF2B5EF4-FFF2-40B4-BE49-F238E27FC236}">
                <a16:creationId xmlns:a16="http://schemas.microsoft.com/office/drawing/2014/main" id="{0D01B0D8-9DFE-4AEC-8A9E-A39E4B265150}"/>
              </a:ext>
            </a:extLst>
          </p:cNvPr>
          <p:cNvSpPr>
            <a:spLocks noGrp="1"/>
          </p:cNvSpPr>
          <p:nvPr/>
        </p:nvSpPr>
        <p:spPr>
          <a:xfrm>
            <a:off x="8743950" y="4010025"/>
            <a:ext cx="2838450" cy="1238250"/>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Surface code</a:t>
            </a:r>
          </a:p>
          <a:p>
            <a:pPr>
              <a:defRPr sz="2025" b="0">
                <a:solidFill>
                  <a:srgbClr val="203344"/>
                </a:solidFill>
                <a:latin typeface="Arial"/>
                <a:ea typeface="Arial"/>
                <a:cs typeface="Arial"/>
              </a:defRPr>
            </a:pPr>
            <a:r>
              <a:rPr sz="2025" b="0">
                <a:solidFill>
                  <a:srgbClr val="203344"/>
                </a:solidFill>
                <a:latin typeface="Arial"/>
                <a:ea typeface="Arial"/>
                <a:cs typeface="Arial"/>
              </a:rPr>
              <a:t>MWPM</a:t>
            </a:r>
          </a:p>
          <a:p>
            <a:pPr>
              <a:defRPr sz="2025" b="0">
                <a:solidFill>
                  <a:srgbClr val="203344"/>
                </a:solidFill>
                <a:latin typeface="Arial"/>
                <a:ea typeface="Arial"/>
                <a:cs typeface="Arial"/>
              </a:defRPr>
            </a:pPr>
            <a:r>
              <a:rPr sz="2025" b="0">
                <a:solidFill>
                  <a:srgbClr val="203344"/>
                </a:solidFill>
                <a:latin typeface="Arial"/>
                <a:ea typeface="Arial"/>
                <a:cs typeface="Arial"/>
              </a:rPr>
              <a:t>Rumore circuit-level</a:t>
            </a:r>
          </a:p>
        </p:txBody>
      </p:sp>
      <p:sp>
        <p:nvSpPr>
          <p:cNvPr id="9" name="Rectangle 8">
            <a:extLst>
              <a:ext uri="{FF2B5EF4-FFF2-40B4-BE49-F238E27FC236}">
                <a16:creationId xmlns:a16="http://schemas.microsoft.com/office/drawing/2014/main" id="{2658335A-8795-4816-9E39-083D9B0282FB}"/>
              </a:ext>
            </a:extLst>
          </p:cNvPr>
          <p:cNvSpPr>
            <a:spLocks noGrp="1"/>
          </p:cNvSpPr>
          <p:nvPr/>
        </p:nvSpPr>
        <p:spPr>
          <a:xfrm>
            <a:off x="609600" y="5410200"/>
            <a:ext cx="10972800" cy="657225"/>
          </a:xfrm>
          <a:prstGeom prst="rect">
            <a:avLst/>
          </a:prstGeom>
          <a:noFill/>
          <a:ln w="0">
            <a:noFill/>
          </a:ln>
        </p:spPr>
        <p:txBody>
          <a:bodyPr>
            <a:noAutofit/>
          </a:bodyPr>
          <a:lstStyle/>
          <a:p>
            <a:pPr>
              <a:defRPr sz="1950" b="0">
                <a:solidFill>
                  <a:srgbClr val="203344"/>
                </a:solidFill>
                <a:latin typeface="Arial"/>
                <a:ea typeface="Arial"/>
                <a:cs typeface="Arial"/>
              </a:defRPr>
            </a:pPr>
            <a:r>
              <a:rPr sz="1950" b="0">
                <a:solidFill>
                  <a:srgbClr val="203344"/>
                </a:solidFill>
                <a:latin typeface="Arial"/>
                <a:ea typeface="Arial"/>
                <a:cs typeface="Arial"/>
              </a:rPr>
              <a:t>Ripetizione: p_L = 3p² − 2p³, con p errore fisico</a:t>
            </a:r>
          </a:p>
          <a:p>
            <a:pPr>
              <a:defRPr sz="1950" b="0">
                <a:solidFill>
                  <a:srgbClr val="203344"/>
                </a:solidFill>
                <a:latin typeface="Arial"/>
                <a:ea typeface="Arial"/>
                <a:cs typeface="Arial"/>
              </a:defRPr>
            </a:pPr>
            <a:r>
              <a:rPr sz="1950" b="0">
                <a:solidFill>
                  <a:srgbClr val="203344"/>
                </a:solidFill>
                <a:latin typeface="Arial"/>
                <a:ea typeface="Arial"/>
                <a:cs typeface="Arial"/>
              </a:rPr>
              <a:t>Steane: pendenza 1,94 e pseudo-soglia ≈ 0,08</a:t>
            </a:r>
          </a:p>
        </p:txBody>
      </p:sp>
      <p:sp>
        <p:nvSpPr>
          <p:cNvPr id="10" name="Rectangle 9">
            <a:extLst>
              <a:ext uri="{FF2B5EF4-FFF2-40B4-BE49-F238E27FC236}">
                <a16:creationId xmlns:a16="http://schemas.microsoft.com/office/drawing/2014/main" id="{DB181A39-D107-484D-8C5C-DA919F356FAC}"/>
              </a:ext>
            </a:extLst>
          </p:cNvPr>
          <p:cNvSpPr>
            <a:spLocks noGrp="1"/>
          </p:cNvSpPr>
          <p:nvPr/>
        </p:nvSpPr>
        <p:spPr>
          <a:xfrm>
            <a:off x="609600" y="6286500"/>
            <a:ext cx="10972800" cy="419100"/>
          </a:xfrm>
          <a:prstGeom prst="rect">
            <a:avLst/>
          </a:prstGeom>
          <a:noFill/>
          <a:ln w="0">
            <a:noFill/>
          </a:ln>
        </p:spPr>
        <p:txBody>
          <a:bodyPr>
            <a:noAutofit/>
          </a:bodyPr>
          <a:lstStyle/>
          <a:p>
            <a:pPr>
              <a:defRPr sz="2025" b="1">
                <a:solidFill>
                  <a:srgbClr val="175F99"/>
                </a:solidFill>
                <a:latin typeface="Arial"/>
                <a:ea typeface="Arial"/>
                <a:cs typeface="Arial"/>
              </a:defRPr>
            </a:pPr>
            <a:r>
              <a:rPr sz="2025" b="1">
                <a:solidFill>
                  <a:srgbClr val="175F99"/>
                </a:solidFill>
                <a:latin typeface="Arial"/>
                <a:ea typeface="Arial"/>
                <a:cs typeface="Arial"/>
              </a:rPr>
              <a:t>Sotto soglia più distanza riduce p_L. Sopra soglia l’ordine si inverte.</a:t>
            </a:r>
          </a:p>
        </p:txBody>
      </p:sp>
    </p:spTree>
    <p:extLst>
      <p:ext uri="{BB962C8B-B14F-4D97-AF65-F5344CB8AC3E}">
        <p14:creationId xmlns:p14="http://schemas.microsoft.com/office/powerpoint/2010/main" val="15815261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02FDD2B-0B15-4559-A78F-7510806E9E7B}"/>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2: decoder ibrido con crosstalk</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9AED080-374B-49B1-8F03-8E6FD7F6D0AB}"/>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9383A908-0877-4618-A927-9F701AE6012C}"/>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Risultati | 16</a:t>
            </a:r>
            <a:endParaRPr sz="1200" b="0">
              <a:solidFill>
                <a:srgbClr val="203344"/>
              </a:solidFill>
              <a:latin typeface="Arial"/>
              <a:ea typeface="Arial"/>
              <a:cs typeface="Arial"/>
            </a:endParaRPr>
          </a:p>
        </p:txBody>
      </p:sp>
      <p:pic>
        <p:nvPicPr>
          <p:cNvPr id="15" name="Picture 14"/>
          <p:cNvPicPr>
            <a:picLocks noChangeAspect="1"/>
          </p:cNvPicPr>
          <p:nvPr/>
        </p:nvPicPr>
        <p:blipFill>
          <a:blip r:embed="rId4"/>
          <a:stretch/>
        </p:blipFill>
        <p:spPr>
          <a:xfrm>
            <a:off x="641778" y="1485900"/>
            <a:ext cx="6793644" cy="3924300"/>
          </a:xfrm>
          <a:prstGeom prst="rect">
            <a:avLst/>
          </a:prstGeom>
        </p:spPr>
      </p:pic>
      <p:sp>
        <p:nvSpPr>
          <p:cNvPr id="6" name="Rectangle 5">
            <a:extLst>
              <a:ext uri="{FF2B5EF4-FFF2-40B4-BE49-F238E27FC236}">
                <a16:creationId xmlns:a16="http://schemas.microsoft.com/office/drawing/2014/main" id="{B20ABF44-F325-4D36-BD1F-ABAF3859847D}"/>
              </a:ext>
            </a:extLst>
          </p:cNvPr>
          <p:cNvSpPr>
            <a:spLocks noGrp="1"/>
          </p:cNvSpPr>
          <p:nvPr/>
        </p:nvSpPr>
        <p:spPr>
          <a:xfrm>
            <a:off x="8020050" y="1638300"/>
            <a:ext cx="3562350" cy="800100"/>
          </a:xfrm>
          <a:prstGeom prst="rect">
            <a:avLst/>
          </a:prstGeom>
          <a:noFill/>
          <a:ln w="0">
            <a:noFill/>
          </a:ln>
        </p:spPr>
        <p:txBody>
          <a:bodyPr>
            <a:noAutofit/>
          </a:bodyPr>
          <a:lstStyle/>
          <a:p>
            <a:pPr>
              <a:defRPr sz="4575" b="1">
                <a:solidFill>
                  <a:srgbClr val="175F99"/>
                </a:solidFill>
                <a:latin typeface="Arial"/>
                <a:ea typeface="Arial"/>
                <a:cs typeface="Arial"/>
              </a:defRPr>
            </a:pPr>
            <a:r>
              <a:rPr sz="4575" b="1">
                <a:solidFill>
                  <a:srgbClr val="175F99"/>
                </a:solidFill>
                <a:latin typeface="Arial"/>
                <a:ea typeface="Arial"/>
                <a:cs typeface="Arial"/>
              </a:rPr>
              <a:t>−16,8%</a:t>
            </a:r>
          </a:p>
        </p:txBody>
      </p:sp>
      <p:sp>
        <p:nvSpPr>
          <p:cNvPr id="7" name="Rectangle 6">
            <a:extLst>
              <a:ext uri="{FF2B5EF4-FFF2-40B4-BE49-F238E27FC236}">
                <a16:creationId xmlns:a16="http://schemas.microsoft.com/office/drawing/2014/main" id="{337B76D2-161E-4AC3-85EB-CBF789DC78E0}"/>
              </a:ext>
            </a:extLst>
          </p:cNvPr>
          <p:cNvSpPr>
            <a:spLocks noGrp="1"/>
          </p:cNvSpPr>
          <p:nvPr/>
        </p:nvSpPr>
        <p:spPr>
          <a:xfrm>
            <a:off x="8020050" y="2476500"/>
            <a:ext cx="3562350" cy="1095375"/>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Riduzione relativa di p_L</a:t>
            </a:r>
          </a:p>
          <a:p>
            <a:pPr>
              <a:defRPr sz="2025" b="0">
                <a:solidFill>
                  <a:srgbClr val="203344"/>
                </a:solidFill>
                <a:latin typeface="Arial"/>
                <a:ea typeface="Arial"/>
                <a:cs typeface="Arial"/>
              </a:defRPr>
            </a:pPr>
            <a:r>
              <a:rPr sz="2025" b="0">
                <a:solidFill>
                  <a:srgbClr val="203344"/>
                </a:solidFill>
                <a:latin typeface="Arial"/>
                <a:ea typeface="Arial"/>
                <a:cs typeface="Arial"/>
              </a:rPr>
              <a:t>a d = 3, p = 0,003</a:t>
            </a:r>
          </a:p>
          <a:p>
            <a:pPr>
              <a:defRPr sz="2025" b="0">
                <a:solidFill>
                  <a:srgbClr val="203344"/>
                </a:solidFill>
                <a:latin typeface="Arial"/>
                <a:ea typeface="Arial"/>
                <a:cs typeface="Arial"/>
              </a:defRPr>
            </a:pPr>
            <a:r>
              <a:rPr sz="2025" b="0">
                <a:solidFill>
                  <a:srgbClr val="203344"/>
                </a:solidFill>
                <a:latin typeface="Arial"/>
                <a:ea typeface="Arial"/>
                <a:cs typeface="Arial"/>
              </a:rPr>
              <a:t>e crosstalk = 0,01</a:t>
            </a:r>
          </a:p>
        </p:txBody>
      </p:sp>
      <p:sp>
        <p:nvSpPr>
          <p:cNvPr id="8" name="Rectangle 7">
            <a:extLst>
              <a:ext uri="{FF2B5EF4-FFF2-40B4-BE49-F238E27FC236}">
                <a16:creationId xmlns:a16="http://schemas.microsoft.com/office/drawing/2014/main" id="{EBDE56B1-67CD-4776-88F0-9542C55C4473}"/>
              </a:ext>
            </a:extLst>
          </p:cNvPr>
          <p:cNvSpPr>
            <a:spLocks noGrp="1"/>
          </p:cNvSpPr>
          <p:nvPr/>
        </p:nvSpPr>
        <p:spPr>
          <a:xfrm>
            <a:off x="8020050" y="4286250"/>
            <a:ext cx="3562350" cy="1171575"/>
          </a:xfrm>
          <a:prstGeom prst="rect">
            <a:avLst/>
          </a:prstGeom>
          <a:noFill/>
          <a:ln w="0">
            <a:noFill/>
          </a:ln>
        </p:spPr>
        <p:txBody>
          <a:bodyPr>
            <a:noAutofit/>
          </a:bodyPr>
          <a:lstStyle/>
          <a:p>
            <a:pPr>
              <a:defRPr sz="1950" b="0">
                <a:solidFill>
                  <a:srgbClr val="203344"/>
                </a:solidFill>
                <a:latin typeface="Arial"/>
                <a:ea typeface="Arial"/>
                <a:cs typeface="Arial"/>
              </a:defRPr>
            </a:pPr>
            <a:r>
              <a:rPr sz="1950" b="0">
                <a:solidFill>
                  <a:srgbClr val="203344"/>
                </a:solidFill>
                <a:latin typeface="Arial"/>
                <a:ea typeface="Arial"/>
                <a:cs typeface="Arial"/>
              </a:rPr>
              <a:t>0,05829 → 0,04851</a:t>
            </a:r>
          </a:p>
          <a:p>
            <a:pPr>
              <a:defRPr sz="1950" b="0">
                <a:solidFill>
                  <a:srgbClr val="203344"/>
                </a:solidFill>
                <a:latin typeface="Arial"/>
                <a:ea typeface="Arial"/>
                <a:cs typeface="Arial"/>
              </a:defRPr>
            </a:pPr>
            <a:r>
              <a:rPr sz="1950" b="0">
                <a:solidFill>
                  <a:srgbClr val="203344"/>
                </a:solidFill>
                <a:latin typeface="Arial"/>
                <a:ea typeface="Arial"/>
                <a:cs typeface="Arial"/>
              </a:rPr>
              <a:t>Test appaiato di McNemar:</a:t>
            </a:r>
          </a:p>
          <a:p>
            <a:pPr>
              <a:defRPr sz="1950" b="0">
                <a:solidFill>
                  <a:srgbClr val="203344"/>
                </a:solidFill>
                <a:latin typeface="Arial"/>
                <a:ea typeface="Arial"/>
                <a:cs typeface="Arial"/>
              </a:defRPr>
            </a:pPr>
            <a:r>
              <a:rPr sz="1950" b="0">
                <a:solidFill>
                  <a:srgbClr val="203344"/>
                </a:solidFill>
                <a:latin typeface="Arial"/>
                <a:ea typeface="Arial"/>
                <a:cs typeface="Arial"/>
              </a:rPr>
              <a:t>beneficio significativo</a:t>
            </a:r>
          </a:p>
        </p:txBody>
      </p:sp>
      <p:sp>
        <p:nvSpPr>
          <p:cNvPr id="9" name="Rectangle 8">
            <a:extLst>
              <a:ext uri="{FF2B5EF4-FFF2-40B4-BE49-F238E27FC236}">
                <a16:creationId xmlns:a16="http://schemas.microsoft.com/office/drawing/2014/main" id="{EC44B8B0-E77A-4E91-A8A5-592AE207918F}"/>
              </a:ext>
            </a:extLst>
          </p:cNvPr>
          <p:cNvSpPr>
            <a:spLocks noGrp="1"/>
          </p:cNvSpPr>
          <p:nvPr/>
        </p:nvSpPr>
        <p:spPr>
          <a:xfrm>
            <a:off x="609600" y="5695950"/>
            <a:ext cx="10972800" cy="419100"/>
          </a:xfrm>
          <a:prstGeom prst="rect">
            <a:avLst/>
          </a:prstGeom>
          <a:noFill/>
          <a:ln w="0">
            <a:noFill/>
          </a:ln>
        </p:spPr>
        <p:txBody>
          <a:bodyPr>
            <a:noAutofit/>
          </a:bodyPr>
          <a:lstStyle/>
          <a:p>
            <a:pPr>
              <a:defRPr sz="1650" b="0">
                <a:solidFill>
                  <a:srgbClr val="647487"/>
                </a:solidFill>
                <a:latin typeface="Arial"/>
                <a:ea typeface="Arial"/>
                <a:cs typeface="Arial"/>
              </a:defRPr>
            </a:pPr>
            <a:r>
              <a:rPr sz="1650" b="0">
                <a:solidFill>
                  <a:srgbClr val="647487"/>
                </a:solidFill>
                <a:latin typeface="Arial"/>
                <a:ea typeface="Arial"/>
                <a:cs typeface="Arial"/>
              </a:rPr>
              <a:t>La rete autonoma non supera MWPM con rumore nominale. Beneficio ridotto a d = 5, non significativo a d = 7.</a:t>
            </a:r>
          </a:p>
        </p:txBody>
      </p:sp>
      <p:sp>
        <p:nvSpPr>
          <p:cNvPr id="10" name="Rectangle 9">
            <a:extLst>
              <a:ext uri="{FF2B5EF4-FFF2-40B4-BE49-F238E27FC236}">
                <a16:creationId xmlns:a16="http://schemas.microsoft.com/office/drawing/2014/main" id="{EE85C313-4101-4A13-8229-69A60076480D}"/>
              </a:ext>
            </a:extLst>
          </p:cNvPr>
          <p:cNvSpPr>
            <a:spLocks noGrp="1"/>
          </p:cNvSpPr>
          <p:nvPr/>
        </p:nvSpPr>
        <p:spPr>
          <a:xfrm>
            <a:off x="609600" y="6305550"/>
            <a:ext cx="10972800" cy="400050"/>
          </a:xfrm>
          <a:prstGeom prst="rect">
            <a:avLst/>
          </a:prstGeom>
          <a:noFill/>
          <a:ln w="0">
            <a:noFill/>
          </a:ln>
        </p:spPr>
        <p:txBody>
          <a:bodyPr>
            <a:noAutofit/>
          </a:bodyPr>
          <a:lstStyle/>
          <a:p>
            <a:pPr>
              <a:defRPr sz="1950" b="1">
                <a:solidFill>
                  <a:srgbClr val="175F99"/>
                </a:solidFill>
                <a:latin typeface="Arial"/>
                <a:ea typeface="Arial"/>
                <a:cs typeface="Arial"/>
              </a:defRPr>
            </a:pPr>
            <a:r>
              <a:rPr sz="1950" b="1">
                <a:solidFill>
                  <a:srgbClr val="175F99"/>
                </a:solidFill>
                <a:latin typeface="Arial"/>
                <a:ea typeface="Arial"/>
                <a:cs typeface="Arial"/>
              </a:rPr>
              <a:t>Il ML aiuta come correttore residuale. A d = 5, BP+OSD supera l’ibrido.</a:t>
            </a:r>
          </a:p>
        </p:txBody>
      </p:sp>
    </p:spTree>
    <p:extLst>
      <p:ext uri="{BB962C8B-B14F-4D97-AF65-F5344CB8AC3E}">
        <p14:creationId xmlns:p14="http://schemas.microsoft.com/office/powerpoint/2010/main" val="19224468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2DD45B49-2B11-4DFB-98C7-25966E63F34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2: Gross code e numero di qubit</a:t>
            </a:r>
            <a:endParaRPr sz="2700" b="0">
              <a:solidFill>
                <a:srgbClr val="003366"/>
              </a:solidFill>
              <a:latin typeface="Arial"/>
              <a:ea typeface="Arial"/>
              <a:cs typeface="Arial"/>
            </a:endParaRPr>
          </a:p>
        </p:txBody>
      </p:sp>
      <p:pic>
        <p:nvPicPr>
          <p:cNvPr id="16" name="Picture 15"/>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E81DA0D9-D748-4F9F-9C08-BE658E4E9967}"/>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6E3FE9E0-BFDE-43C4-92FF-F134608A13C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Risultati | 17</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3B59E607-563C-497F-860E-6DBFA2201FC9}"/>
              </a:ext>
            </a:extLst>
          </p:cNvPr>
          <p:cNvSpPr>
            <a:spLocks noGrp="1"/>
          </p:cNvSpPr>
          <p:nvPr/>
        </p:nvSpPr>
        <p:spPr>
          <a:xfrm>
            <a:off x="609600" y="1447800"/>
            <a:ext cx="10972800" cy="666750"/>
          </a:xfrm>
          <a:prstGeom prst="rect">
            <a:avLst/>
          </a:prstGeom>
          <a:noFill/>
          <a:ln w="0">
            <a:noFill/>
          </a:ln>
        </p:spPr>
        <p:txBody>
          <a:bodyPr>
            <a:noAutofit/>
          </a:bodyPr>
          <a:lstStyle/>
          <a:p>
            <a:pPr>
              <a:defRPr sz="2175" b="0">
                <a:solidFill>
                  <a:srgbClr val="203344"/>
                </a:solidFill>
                <a:latin typeface="Arial"/>
                <a:ea typeface="Arial"/>
                <a:cs typeface="Arial"/>
              </a:defRPr>
            </a:pPr>
            <a:r>
              <a:rPr lang="it-IT" sz="2175" b="0">
                <a:solidFill>
                  <a:srgbClr val="203344"/>
                </a:solidFill>
                <a:latin typeface="Arial"/>
                <a:ea typeface="Arial"/>
                <a:cs typeface="Arial"/>
              </a:rPr>
              <a:t>Qubit di dato per proteggere 12 qubit logici · modello code-capacity</a:t>
            </a:r>
            <a:endParaRPr sz="2175" b="0">
              <a:solidFill>
                <a:srgbClr val="203344"/>
              </a:solidFill>
              <a:latin typeface="Arial"/>
              <a:ea typeface="Arial"/>
              <a:cs typeface="Arial"/>
            </a:endParaRPr>
          </a:p>
        </p:txBody>
      </p:sp>
      <p:sp>
        <p:nvSpPr>
          <p:cNvPr id="13" name="Rectangle 12">
            <a:extLst>
              <a:ext uri="{FF2B5EF4-FFF2-40B4-BE49-F238E27FC236}">
                <a16:creationId xmlns:a16="http://schemas.microsoft.com/office/drawing/2014/main" id="{FA2DE5DE-DFF9-4E56-AB42-5BD84A6327AC}"/>
              </a:ext>
            </a:extLst>
          </p:cNvPr>
          <p:cNvSpPr>
            <a:spLocks noGrp="1"/>
          </p:cNvSpPr>
          <p:nvPr/>
        </p:nvSpPr>
        <p:spPr>
          <a:xfrm>
            <a:off x="609600" y="5057775"/>
            <a:ext cx="10972800" cy="781050"/>
          </a:xfrm>
          <a:prstGeom prst="rect">
            <a:avLst/>
          </a:prstGeom>
          <a:noFill/>
          <a:ln w="0">
            <a:noFill/>
          </a:ln>
        </p:spPr>
        <p:txBody>
          <a:bodyPr>
            <a:noAutofit/>
          </a:bodyPr>
          <a:lstStyle/>
          <a:p>
            <a:pPr>
              <a:defRPr sz="2025" b="0">
                <a:solidFill>
                  <a:srgbClr val="203344"/>
                </a:solidFill>
                <a:latin typeface="Arial"/>
                <a:ea typeface="Arial"/>
                <a:cs typeface="Arial"/>
              </a:defRPr>
            </a:pPr>
            <a:r>
              <a:rPr lang="it-IT" sz="2025" b="0">
                <a:solidFill>
                  <a:srgbClr val="203344"/>
                </a:solidFill>
                <a:latin typeface="Arial"/>
                <a:ea typeface="Arial"/>
                <a:cs typeface="Arial"/>
              </a:rPr>
              <a:t>Gross code migliore delle patch d = 11 a ogni livello studiato e delle patch d = 13 per p ≥ 0,75%. A p = 1%: 1,0×10⁻⁶ contro 1,6×10⁻⁶.</a:t>
            </a:r>
            <a:endParaRPr sz="2025" b="0">
              <a:solidFill>
                <a:srgbClr val="203344"/>
              </a:solidFill>
              <a:latin typeface="Arial"/>
              <a:ea typeface="Arial"/>
              <a:cs typeface="Arial"/>
            </a:endParaRPr>
          </a:p>
        </p:txBody>
      </p:sp>
      <p:sp>
        <p:nvSpPr>
          <p:cNvPr id="14" name="Rectangle 13">
            <a:extLst>
              <a:ext uri="{FF2B5EF4-FFF2-40B4-BE49-F238E27FC236}">
                <a16:creationId xmlns:a16="http://schemas.microsoft.com/office/drawing/2014/main" id="{56FACC26-75FB-4DAA-A0AD-6154F7148699}"/>
              </a:ext>
            </a:extLst>
          </p:cNvPr>
          <p:cNvSpPr>
            <a:spLocks noGrp="1"/>
          </p:cNvSpPr>
          <p:nvPr/>
        </p:nvSpPr>
        <p:spPr>
          <a:xfrm>
            <a:off x="609600" y="6124575"/>
            <a:ext cx="10972800" cy="561975"/>
          </a:xfrm>
          <a:prstGeom prst="rect">
            <a:avLst/>
          </a:prstGeom>
          <a:noFill/>
          <a:ln w="0">
            <a:noFill/>
          </a:ln>
        </p:spPr>
        <p:txBody>
          <a:bodyPr>
            <a:noAutofit/>
          </a:bodyPr>
          <a:lstStyle/>
          <a:p>
            <a:pPr>
              <a:defRPr sz="1950" b="1">
                <a:solidFill>
                  <a:srgbClr val="175F99"/>
                </a:solidFill>
                <a:latin typeface="Arial"/>
                <a:ea typeface="Arial"/>
                <a:cs typeface="Arial"/>
              </a:defRPr>
            </a:pPr>
            <a:r>
              <a:rPr sz="1950" b="1">
                <a:solidFill>
                  <a:srgbClr val="175F99"/>
                </a:solidFill>
                <a:latin typeface="Arial"/>
                <a:ea typeface="Arial"/>
                <a:cs typeface="Arial"/>
              </a:rPr>
              <a:t>BP+OSD seriale riduce il fallimento di circa 100× rispetto all’aggiornamento parallelo.</a:t>
            </a:r>
          </a:p>
        </p:txBody>
      </p:sp>
      <p:sp>
        <p:nvSpPr>
          <p:cNvPr id="40" name="Nota simulazione"/>
          <p:cNvSpPr>
            <a:spLocks noGrp="1"/>
          </p:cNvSpPr>
          <p:nvPr/>
        </p:nvSpPr>
        <p:spPr>
          <a:xfrm>
            <a:off x="609600" y="4290000"/>
            <a:ext cx="10972800" cy="560000"/>
          </a:xfrm>
          <a:prstGeom prst="rect">
            <a:avLst/>
          </a:prstGeom>
          <a:noFill/>
          <a:ln w="0">
            <a:noFill/>
          </a:ln>
        </p:spPr>
        <p:txBody>
          <a:bodyPr>
            <a:noAutofit/>
          </a:bodyPr>
          <a:lstStyle/>
          <a:p>
            <a:pPr>
              <a:defRPr sz="1500" b="0">
                <a:solidFill>
                  <a:srgbClr val="5A6B7B"/>
                </a:solidFill>
                <a:latin typeface="Arial"/>
                <a:ea typeface="Arial"/>
                <a:cs typeface="Arial"/>
              </a:defRPr>
            </a:pPr>
            <a:r>
              <a:rPr sz="1500" b="0">
                <a:solidFill>
                  <a:srgbClr val="5A6B7B"/>
                </a:solidFill>
                <a:latin typeface="Arial"/>
                <a:ea typeface="Arial"/>
                <a:cs typeface="Arial"/>
              </a:rPr>
              <a:t>Simulazione classica degli errori: vettori di 144 bit, sindrome e decodifica. Lo stato quantistico di 144 qubit non viene simulato. [[n, k, d]]: n qubit di dato, k qubit logici, distanza d.</a:t>
            </a:r>
          </a:p>
        </p:txBody>
      </p:sp>
      <p:sp>
        <p:nvSpPr>
          <p:cNvPr id="2" name="TextBox 1">
            <a:extLst>
              <a:ext uri="{FF2B5EF4-FFF2-40B4-BE49-F238E27FC236}">
                <a16:creationId xmlns:a16="http://schemas.microsoft.com/office/drawing/2014/main" id="{6CC69F4F-C1C0-F662-B4B2-B110AEC17965}"/>
              </a:ext>
            </a:extLst>
          </p:cNvPr>
          <p:cNvSpPr txBox="1"/>
          <p:nvPr/>
        </p:nvSpPr>
        <p:spPr>
          <a:xfrm>
            <a:off x="609600" y="2260600"/>
            <a:ext cx="3556000" cy="381000"/>
          </a:xfrm>
          <a:prstGeom prst="rect">
            <a:avLst/>
          </a:prstGeom>
          <a:noFill/>
        </p:spPr>
        <p:txBody>
          <a:bodyPr vert="horz" wrap="square" rtlCol="0">
            <a:noAutofit/>
          </a:bodyPr>
          <a:lstStyle/>
          <a:p>
            <a:r>
              <a:rPr lang="en-GB" sz="1725" b="1">
                <a:solidFill>
                  <a:srgbClr val="203344"/>
                </a:solidFill>
                <a:latin typeface="Arial" panose="020B0604020202020204" pitchFamily="34" charset="0"/>
              </a:rPr>
              <a:t>Gross code [[144,12,12]]</a:t>
            </a:r>
          </a:p>
        </p:txBody>
      </p:sp>
      <p:sp>
        <p:nvSpPr>
          <p:cNvPr id="17" name="Rectangle 16">
            <a:extLst>
              <a:ext uri="{FF2B5EF4-FFF2-40B4-BE49-F238E27FC236}">
                <a16:creationId xmlns:a16="http://schemas.microsoft.com/office/drawing/2014/main" id="{9148C583-5F91-EA23-2FB5-8EE6E27AC3C5}"/>
              </a:ext>
            </a:extLst>
          </p:cNvPr>
          <p:cNvSpPr/>
          <p:nvPr/>
        </p:nvSpPr>
        <p:spPr>
          <a:xfrm>
            <a:off x="4191000" y="2286000"/>
            <a:ext cx="419100" cy="330200"/>
          </a:xfrm>
          <a:prstGeom prst="rect">
            <a:avLst/>
          </a:prstGeom>
          <a:solidFill>
            <a:srgbClr val="175F9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7BF7674F-7718-D766-7EEB-A9A243251484}"/>
              </a:ext>
            </a:extLst>
          </p:cNvPr>
          <p:cNvSpPr txBox="1"/>
          <p:nvPr/>
        </p:nvSpPr>
        <p:spPr>
          <a:xfrm>
            <a:off x="4686300" y="2247900"/>
            <a:ext cx="1270000" cy="381000"/>
          </a:xfrm>
          <a:prstGeom prst="rect">
            <a:avLst/>
          </a:prstGeom>
          <a:noFill/>
        </p:spPr>
        <p:txBody>
          <a:bodyPr vert="horz" wrap="square" rtlCol="0">
            <a:noAutofit/>
          </a:bodyPr>
          <a:lstStyle/>
          <a:p>
            <a:r>
              <a:rPr lang="en-GB" sz="1950" b="1">
                <a:solidFill>
                  <a:srgbClr val="175F99"/>
                </a:solidFill>
                <a:latin typeface="Arial" panose="020B0604020202020204" pitchFamily="34" charset="0"/>
              </a:rPr>
              <a:t>144</a:t>
            </a:r>
          </a:p>
        </p:txBody>
      </p:sp>
      <p:sp>
        <p:nvSpPr>
          <p:cNvPr id="19" name="TextBox 18">
            <a:extLst>
              <a:ext uri="{FF2B5EF4-FFF2-40B4-BE49-F238E27FC236}">
                <a16:creationId xmlns:a16="http://schemas.microsoft.com/office/drawing/2014/main" id="{FBADE274-5C8A-78BC-573F-8D208A4B8336}"/>
              </a:ext>
            </a:extLst>
          </p:cNvPr>
          <p:cNvSpPr txBox="1"/>
          <p:nvPr/>
        </p:nvSpPr>
        <p:spPr>
          <a:xfrm>
            <a:off x="609600" y="2844800"/>
            <a:ext cx="3556000" cy="381000"/>
          </a:xfrm>
          <a:prstGeom prst="rect">
            <a:avLst/>
          </a:prstGeom>
          <a:noFill/>
        </p:spPr>
        <p:txBody>
          <a:bodyPr vert="horz" wrap="square" rtlCol="0">
            <a:noAutofit/>
          </a:bodyPr>
          <a:lstStyle/>
          <a:p>
            <a:r>
              <a:rPr lang="fr-FR" sz="1725">
                <a:solidFill>
                  <a:srgbClr val="203344"/>
                </a:solidFill>
                <a:latin typeface="Arial" panose="020B0604020202020204" pitchFamily="34" charset="0"/>
              </a:rPr>
              <a:t>12 patch surface code, d = 11</a:t>
            </a:r>
            <a:endParaRPr lang="en-GB" sz="1725">
              <a:solidFill>
                <a:srgbClr val="203344"/>
              </a:solidFill>
              <a:latin typeface="Arial" panose="020B0604020202020204" pitchFamily="34" charset="0"/>
            </a:endParaRPr>
          </a:p>
        </p:txBody>
      </p:sp>
      <p:sp>
        <p:nvSpPr>
          <p:cNvPr id="20" name="Rectangle 19">
            <a:extLst>
              <a:ext uri="{FF2B5EF4-FFF2-40B4-BE49-F238E27FC236}">
                <a16:creationId xmlns:a16="http://schemas.microsoft.com/office/drawing/2014/main" id="{17EEBA82-F5DD-FBA4-53C0-D669891ED9C6}"/>
              </a:ext>
            </a:extLst>
          </p:cNvPr>
          <p:cNvSpPr/>
          <p:nvPr/>
        </p:nvSpPr>
        <p:spPr>
          <a:xfrm>
            <a:off x="4191000" y="2870200"/>
            <a:ext cx="4279900" cy="330200"/>
          </a:xfrm>
          <a:prstGeom prst="rect">
            <a:avLst/>
          </a:prstGeom>
          <a:solidFill>
            <a:srgbClr val="B8C7D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985FA1F8-8FD8-D08F-6193-F42B82486A22}"/>
              </a:ext>
            </a:extLst>
          </p:cNvPr>
          <p:cNvSpPr txBox="1"/>
          <p:nvPr/>
        </p:nvSpPr>
        <p:spPr>
          <a:xfrm>
            <a:off x="8547100" y="2832100"/>
            <a:ext cx="1270000" cy="381000"/>
          </a:xfrm>
          <a:prstGeom prst="rect">
            <a:avLst/>
          </a:prstGeom>
          <a:noFill/>
        </p:spPr>
        <p:txBody>
          <a:bodyPr vert="horz" wrap="square" rtlCol="0">
            <a:noAutofit/>
          </a:bodyPr>
          <a:lstStyle/>
          <a:p>
            <a:r>
              <a:rPr lang="en-GB" sz="1950" b="1">
                <a:solidFill>
                  <a:srgbClr val="203344"/>
                </a:solidFill>
                <a:latin typeface="Arial" panose="020B0604020202020204" pitchFamily="34" charset="0"/>
              </a:rPr>
              <a:t>1 452</a:t>
            </a:r>
          </a:p>
        </p:txBody>
      </p:sp>
      <p:sp>
        <p:nvSpPr>
          <p:cNvPr id="22" name="TextBox 21">
            <a:extLst>
              <a:ext uri="{FF2B5EF4-FFF2-40B4-BE49-F238E27FC236}">
                <a16:creationId xmlns:a16="http://schemas.microsoft.com/office/drawing/2014/main" id="{07F3761C-CB28-DF95-8288-1CF2A85D3EB3}"/>
              </a:ext>
            </a:extLst>
          </p:cNvPr>
          <p:cNvSpPr txBox="1"/>
          <p:nvPr/>
        </p:nvSpPr>
        <p:spPr>
          <a:xfrm>
            <a:off x="609600" y="3429000"/>
            <a:ext cx="3556000" cy="381000"/>
          </a:xfrm>
          <a:prstGeom prst="rect">
            <a:avLst/>
          </a:prstGeom>
          <a:noFill/>
        </p:spPr>
        <p:txBody>
          <a:bodyPr vert="horz" wrap="square" rtlCol="0">
            <a:noAutofit/>
          </a:bodyPr>
          <a:lstStyle/>
          <a:p>
            <a:r>
              <a:rPr lang="fr-FR" sz="1725">
                <a:solidFill>
                  <a:srgbClr val="203344"/>
                </a:solidFill>
                <a:latin typeface="Arial" panose="020B0604020202020204" pitchFamily="34" charset="0"/>
              </a:rPr>
              <a:t>12 patch surface code, d = 13</a:t>
            </a:r>
            <a:endParaRPr lang="en-GB" sz="1725">
              <a:solidFill>
                <a:srgbClr val="203344"/>
              </a:solidFill>
              <a:latin typeface="Arial" panose="020B0604020202020204" pitchFamily="34" charset="0"/>
            </a:endParaRPr>
          </a:p>
        </p:txBody>
      </p:sp>
      <p:sp>
        <p:nvSpPr>
          <p:cNvPr id="23" name="Rectangle 22">
            <a:extLst>
              <a:ext uri="{FF2B5EF4-FFF2-40B4-BE49-F238E27FC236}">
                <a16:creationId xmlns:a16="http://schemas.microsoft.com/office/drawing/2014/main" id="{BA0EF537-C669-94C1-3B0E-710E8987E75F}"/>
              </a:ext>
            </a:extLst>
          </p:cNvPr>
          <p:cNvSpPr/>
          <p:nvPr/>
        </p:nvSpPr>
        <p:spPr>
          <a:xfrm>
            <a:off x="4191000" y="3454400"/>
            <a:ext cx="5969000" cy="330200"/>
          </a:xfrm>
          <a:prstGeom prst="rect">
            <a:avLst/>
          </a:prstGeom>
          <a:solidFill>
            <a:srgbClr val="B8C7D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TextBox 23">
            <a:extLst>
              <a:ext uri="{FF2B5EF4-FFF2-40B4-BE49-F238E27FC236}">
                <a16:creationId xmlns:a16="http://schemas.microsoft.com/office/drawing/2014/main" id="{F9CCD019-9513-713C-464B-129DFFF0690F}"/>
              </a:ext>
            </a:extLst>
          </p:cNvPr>
          <p:cNvSpPr txBox="1"/>
          <p:nvPr/>
        </p:nvSpPr>
        <p:spPr>
          <a:xfrm>
            <a:off x="10236200" y="3416300"/>
            <a:ext cx="1270000" cy="381000"/>
          </a:xfrm>
          <a:prstGeom prst="rect">
            <a:avLst/>
          </a:prstGeom>
          <a:noFill/>
        </p:spPr>
        <p:txBody>
          <a:bodyPr vert="horz" wrap="square" rtlCol="0">
            <a:noAutofit/>
          </a:bodyPr>
          <a:lstStyle/>
          <a:p>
            <a:r>
              <a:rPr lang="en-GB" sz="1950" b="1">
                <a:solidFill>
                  <a:srgbClr val="203344"/>
                </a:solidFill>
                <a:latin typeface="Arial" panose="020B0604020202020204" pitchFamily="34" charset="0"/>
              </a:rPr>
              <a:t>2 028</a:t>
            </a:r>
          </a:p>
        </p:txBody>
      </p:sp>
    </p:spTree>
    <p:extLst>
      <p:ext uri="{BB962C8B-B14F-4D97-AF65-F5344CB8AC3E}">
        <p14:creationId xmlns:p14="http://schemas.microsoft.com/office/powerpoint/2010/main" val="4983515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A715D2C-BFF8-4F44-9B9C-E1B9D835B317}"/>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3: AQFT su N = 15</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EA2291F3-B2FD-49F3-B6D2-121D3BDBF3CD}"/>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42F908A8-B2EF-405D-A77D-5756ADD4C77A}"/>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Risultati | 18</a:t>
            </a:r>
            <a:endParaRPr sz="1200" b="0">
              <a:solidFill>
                <a:srgbClr val="203344"/>
              </a:solidFill>
              <a:latin typeface="Arial"/>
              <a:ea typeface="Arial"/>
              <a:cs typeface="Arial"/>
            </a:endParaRPr>
          </a:p>
        </p:txBody>
      </p:sp>
      <p:pic>
        <p:nvPicPr>
          <p:cNvPr id="15" name="Picture 14"/>
          <p:cNvPicPr>
            <a:picLocks noChangeAspect="1"/>
          </p:cNvPicPr>
          <p:nvPr/>
        </p:nvPicPr>
        <p:blipFill>
          <a:blip r:embed="rId4"/>
          <a:stretch/>
        </p:blipFill>
        <p:spPr>
          <a:xfrm>
            <a:off x="609600" y="1547175"/>
            <a:ext cx="6238875" cy="3744601"/>
          </a:xfrm>
          <a:prstGeom prst="rect">
            <a:avLst/>
          </a:prstGeom>
        </p:spPr>
      </p:pic>
      <p:sp>
        <p:nvSpPr>
          <p:cNvPr id="6" name="Rectangle 5">
            <a:extLst>
              <a:ext uri="{FF2B5EF4-FFF2-40B4-BE49-F238E27FC236}">
                <a16:creationId xmlns:a16="http://schemas.microsoft.com/office/drawing/2014/main" id="{68AFD0C9-328E-4D63-A4D9-E371C130FD82}"/>
              </a:ext>
            </a:extLst>
          </p:cNvPr>
          <p:cNvSpPr>
            <a:spLocks noGrp="1"/>
          </p:cNvSpPr>
          <p:nvPr/>
        </p:nvSpPr>
        <p:spPr>
          <a:xfrm>
            <a:off x="7391400" y="1609725"/>
            <a:ext cx="4191000" cy="800100"/>
          </a:xfrm>
          <a:prstGeom prst="rect">
            <a:avLst/>
          </a:prstGeom>
          <a:noFill/>
          <a:ln w="0">
            <a:noFill/>
          </a:ln>
        </p:spPr>
        <p:txBody>
          <a:bodyPr>
            <a:noAutofit/>
          </a:bodyPr>
          <a:lstStyle/>
          <a:p>
            <a:pPr>
              <a:defRPr sz="4725" b="1">
                <a:solidFill>
                  <a:srgbClr val="175F99"/>
                </a:solidFill>
                <a:latin typeface="Arial"/>
                <a:ea typeface="Arial"/>
                <a:cs typeface="Arial"/>
              </a:defRPr>
            </a:pPr>
            <a:r>
              <a:rPr sz="4725" b="1">
                <a:solidFill>
                  <a:srgbClr val="175F99"/>
                </a:solidFill>
                <a:latin typeface="Arial"/>
                <a:ea typeface="Arial"/>
                <a:cs typeface="Arial"/>
              </a:rPr>
              <a:t>+14,87</a:t>
            </a:r>
          </a:p>
        </p:txBody>
      </p:sp>
      <p:sp>
        <p:nvSpPr>
          <p:cNvPr id="7" name="Rectangle 6">
            <a:extLst>
              <a:ext uri="{FF2B5EF4-FFF2-40B4-BE49-F238E27FC236}">
                <a16:creationId xmlns:a16="http://schemas.microsoft.com/office/drawing/2014/main" id="{A3C5E1FC-DBD5-48E4-A049-97253916A7E3}"/>
              </a:ext>
            </a:extLst>
          </p:cNvPr>
          <p:cNvSpPr>
            <a:spLocks noGrp="1"/>
          </p:cNvSpPr>
          <p:nvPr/>
        </p:nvSpPr>
        <p:spPr>
          <a:xfrm>
            <a:off x="7391400" y="2447925"/>
            <a:ext cx="4191000" cy="1095375"/>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Punti percentuali di successo</a:t>
            </a:r>
          </a:p>
          <a:p>
            <a:pPr>
              <a:defRPr sz="2025" b="0">
                <a:solidFill>
                  <a:srgbClr val="203344"/>
                </a:solidFill>
                <a:latin typeface="Arial"/>
                <a:ea typeface="Arial"/>
                <a:cs typeface="Arial"/>
              </a:defRPr>
            </a:pPr>
            <a:r>
              <a:rPr sz="2025" b="0">
                <a:solidFill>
                  <a:srgbClr val="203344"/>
                </a:solidFill>
                <a:latin typeface="Arial"/>
                <a:ea typeface="Arial"/>
                <a:cs typeface="Arial"/>
              </a:rPr>
              <a:t>su dati di verifica</a:t>
            </a:r>
          </a:p>
        </p:txBody>
      </p:sp>
      <p:graphicFrame>
        <p:nvGraphicFramePr>
          <p:cNvPr id="18" name="Table 17"/>
          <p:cNvGraphicFramePr/>
          <p:nvPr/>
        </p:nvGraphicFramePr>
        <p:xfrm>
          <a:off x="7391400" y="3629025"/>
          <a:ext cx="4191000" cy="1895476"/>
        </p:xfrm>
        <a:graphic>
          <a:graphicData uri="http://schemas.openxmlformats.org/drawingml/2006/table">
            <a:tbl>
              <a:tblPr/>
              <a:tblGrid>
                <a:gridCol w="1428750">
                  <a:extLst>
                    <a:ext uri="{9D8B030D-6E8A-4147-A177-3AD203B41FA5}">
                      <a16:colId xmlns:a16="http://schemas.microsoft.com/office/drawing/2014/main" val="20000"/>
                    </a:ext>
                  </a:extLst>
                </a:gridCol>
                <a:gridCol w="1381125">
                  <a:extLst>
                    <a:ext uri="{9D8B030D-6E8A-4147-A177-3AD203B41FA5}">
                      <a16:colId xmlns:a16="http://schemas.microsoft.com/office/drawing/2014/main" val="20001"/>
                    </a:ext>
                  </a:extLst>
                </a:gridCol>
                <a:gridCol w="1381125">
                  <a:extLst>
                    <a:ext uri="{9D8B030D-6E8A-4147-A177-3AD203B41FA5}">
                      <a16:colId xmlns:a16="http://schemas.microsoft.com/office/drawing/2014/main" val="20002"/>
                    </a:ext>
                  </a:extLst>
                </a:gridCol>
              </a:tblGrid>
              <a:tr h="473869">
                <a:tc>
                  <a:txBody>
                    <a:bodyPr/>
                    <a:lstStyle/>
                    <a:p>
                      <a:endParaRPr/>
                    </a:p>
                  </a:txBody>
                  <a:tcPr>
                    <a:solidFill>
                      <a:srgbClr val="175F99"/>
                    </a:solidFill>
                  </a:tcPr>
                </a:tc>
                <a:tc>
                  <a:txBody>
                    <a:bodyPr/>
                    <a:lstStyle/>
                    <a:p>
                      <a:r>
                        <a:rPr sz="1725" b="1">
                          <a:solidFill>
                            <a:srgbClr val="FFFFFF"/>
                          </a:solidFill>
                          <a:latin typeface="Arial"/>
                          <a:ea typeface="Arial"/>
                          <a:cs typeface="Arial"/>
                        </a:rPr>
                        <a:t>QFT piena</a:t>
                      </a:r>
                    </a:p>
                  </a:txBody>
                  <a:tcPr>
                    <a:solidFill>
                      <a:srgbClr val="175F99"/>
                    </a:solidFill>
                  </a:tcPr>
                </a:tc>
                <a:tc>
                  <a:txBody>
                    <a:bodyPr/>
                    <a:lstStyle/>
                    <a:p>
                      <a:r>
                        <a:rPr sz="1725" b="1">
                          <a:solidFill>
                            <a:srgbClr val="FFFFFF"/>
                          </a:solidFill>
                          <a:latin typeface="Arial"/>
                          <a:ea typeface="Arial"/>
                          <a:cs typeface="Arial"/>
                        </a:rPr>
                        <a:t>AQFT</a:t>
                      </a:r>
                    </a:p>
                  </a:txBody>
                  <a:tcPr>
                    <a:solidFill>
                      <a:srgbClr val="175F99"/>
                    </a:solidFill>
                  </a:tcPr>
                </a:tc>
                <a:extLst>
                  <a:ext uri="{0D108BD9-81ED-4DB2-BD59-A6C34878D82A}">
                    <a16:rowId xmlns:a16="http://schemas.microsoft.com/office/drawing/2014/main" val="10000"/>
                  </a:ext>
                </a:extLst>
              </a:tr>
              <a:tr h="473869">
                <a:tc>
                  <a:txBody>
                    <a:bodyPr/>
                    <a:lstStyle/>
                    <a:p>
                      <a:r>
                        <a:rPr sz="1725" b="0">
                          <a:solidFill>
                            <a:srgbClr val="203344"/>
                          </a:solidFill>
                          <a:latin typeface="Arial"/>
                          <a:ea typeface="Arial"/>
                          <a:cs typeface="Arial"/>
                        </a:rPr>
                        <a:t>Successo</a:t>
                      </a:r>
                    </a:p>
                  </a:txBody>
                  <a:tcPr>
                    <a:solidFill>
                      <a:srgbClr val="EEF4F8"/>
                    </a:solidFill>
                  </a:tcPr>
                </a:tc>
                <a:tc>
                  <a:txBody>
                    <a:bodyPr/>
                    <a:lstStyle/>
                    <a:p>
                      <a:r>
                        <a:rPr sz="1725" b="0">
                          <a:solidFill>
                            <a:srgbClr val="203344"/>
                          </a:solidFill>
                          <a:latin typeface="Arial"/>
                          <a:ea typeface="Arial"/>
                          <a:cs typeface="Arial"/>
                        </a:rPr>
                        <a:t>47,92%</a:t>
                      </a:r>
                    </a:p>
                  </a:txBody>
                  <a:tcPr>
                    <a:solidFill>
                      <a:srgbClr val="EEF4F8"/>
                    </a:solidFill>
                  </a:tcPr>
                </a:tc>
                <a:tc>
                  <a:txBody>
                    <a:bodyPr/>
                    <a:lstStyle/>
                    <a:p>
                      <a:r>
                        <a:rPr sz="1725" b="0">
                          <a:solidFill>
                            <a:srgbClr val="203344"/>
                          </a:solidFill>
                          <a:latin typeface="Arial"/>
                          <a:ea typeface="Arial"/>
                          <a:cs typeface="Arial"/>
                        </a:rPr>
                        <a:t>62,79%</a:t>
                      </a:r>
                    </a:p>
                  </a:txBody>
                  <a:tcPr>
                    <a:solidFill>
                      <a:srgbClr val="EEF4F8"/>
                    </a:solidFill>
                  </a:tcPr>
                </a:tc>
                <a:extLst>
                  <a:ext uri="{0D108BD9-81ED-4DB2-BD59-A6C34878D82A}">
                    <a16:rowId xmlns:a16="http://schemas.microsoft.com/office/drawing/2014/main" val="10001"/>
                  </a:ext>
                </a:extLst>
              </a:tr>
              <a:tr h="473869">
                <a:tc>
                  <a:txBody>
                    <a:bodyPr/>
                    <a:lstStyle/>
                    <a:p>
                      <a:r>
                        <a:rPr sz="1725" b="0">
                          <a:solidFill>
                            <a:srgbClr val="203344"/>
                          </a:solidFill>
                          <a:latin typeface="Arial"/>
                          <a:ea typeface="Arial"/>
                          <a:cs typeface="Arial"/>
                        </a:rPr>
                        <a:t>Porte ECR</a:t>
                      </a:r>
                    </a:p>
                  </a:txBody>
                  <a:tcPr>
                    <a:solidFill>
                      <a:srgbClr val="FFFFFF"/>
                    </a:solidFill>
                  </a:tcPr>
                </a:tc>
                <a:tc>
                  <a:txBody>
                    <a:bodyPr/>
                    <a:lstStyle/>
                    <a:p>
                      <a:r>
                        <a:rPr sz="1725" b="0">
                          <a:solidFill>
                            <a:srgbClr val="203344"/>
                          </a:solidFill>
                          <a:latin typeface="Arial"/>
                          <a:ea typeface="Arial"/>
                          <a:cs typeface="Arial"/>
                        </a:rPr>
                        <a:t>362</a:t>
                      </a:r>
                    </a:p>
                  </a:txBody>
                  <a:tcPr>
                    <a:solidFill>
                      <a:srgbClr val="FFFFFF"/>
                    </a:solidFill>
                  </a:tcPr>
                </a:tc>
                <a:tc>
                  <a:txBody>
                    <a:bodyPr/>
                    <a:lstStyle/>
                    <a:p>
                      <a:r>
                        <a:rPr sz="1725" b="0">
                          <a:solidFill>
                            <a:srgbClr val="203344"/>
                          </a:solidFill>
                          <a:latin typeface="Arial"/>
                          <a:ea typeface="Arial"/>
                          <a:cs typeface="Arial"/>
                        </a:rPr>
                        <a:t>279</a:t>
                      </a:r>
                    </a:p>
                  </a:txBody>
                  <a:tcPr>
                    <a:solidFill>
                      <a:srgbClr val="FFFFFF"/>
                    </a:solidFill>
                  </a:tcPr>
                </a:tc>
                <a:extLst>
                  <a:ext uri="{0D108BD9-81ED-4DB2-BD59-A6C34878D82A}">
                    <a16:rowId xmlns:a16="http://schemas.microsoft.com/office/drawing/2014/main" val="10002"/>
                  </a:ext>
                </a:extLst>
              </a:tr>
              <a:tr h="473869">
                <a:tc>
                  <a:txBody>
                    <a:bodyPr/>
                    <a:lstStyle/>
                    <a:p>
                      <a:r>
                        <a:rPr sz="1725" b="0">
                          <a:solidFill>
                            <a:srgbClr val="203344"/>
                          </a:solidFill>
                          <a:latin typeface="Arial"/>
                          <a:ea typeface="Arial"/>
                          <a:cs typeface="Arial"/>
                        </a:rPr>
                        <a:t>Profondità</a:t>
                      </a:r>
                    </a:p>
                  </a:txBody>
                  <a:tcPr>
                    <a:solidFill>
                      <a:srgbClr val="EEF4F8"/>
                    </a:solidFill>
                  </a:tcPr>
                </a:tc>
                <a:tc>
                  <a:txBody>
                    <a:bodyPr/>
                    <a:lstStyle/>
                    <a:p>
                      <a:r>
                        <a:rPr sz="1725" b="0">
                          <a:solidFill>
                            <a:srgbClr val="203344"/>
                          </a:solidFill>
                          <a:latin typeface="Arial"/>
                          <a:ea typeface="Arial"/>
                          <a:cs typeface="Arial"/>
                        </a:rPr>
                        <a:t>1351</a:t>
                      </a:r>
                    </a:p>
                  </a:txBody>
                  <a:tcPr>
                    <a:solidFill>
                      <a:srgbClr val="EEF4F8"/>
                    </a:solidFill>
                  </a:tcPr>
                </a:tc>
                <a:tc>
                  <a:txBody>
                    <a:bodyPr/>
                    <a:lstStyle/>
                    <a:p>
                      <a:r>
                        <a:rPr sz="1725" b="0">
                          <a:solidFill>
                            <a:srgbClr val="203344"/>
                          </a:solidFill>
                          <a:latin typeface="Arial"/>
                          <a:ea typeface="Arial"/>
                          <a:cs typeface="Arial"/>
                        </a:rPr>
                        <a:t>1141</a:t>
                      </a:r>
                    </a:p>
                  </a:txBody>
                  <a:tcPr>
                    <a:solidFill>
                      <a:srgbClr val="EEF4F8"/>
                    </a:solidFill>
                  </a:tcPr>
                </a:tc>
                <a:extLst>
                  <a:ext uri="{0D108BD9-81ED-4DB2-BD59-A6C34878D82A}">
                    <a16:rowId xmlns:a16="http://schemas.microsoft.com/office/drawing/2014/main" val="10003"/>
                  </a:ext>
                </a:extLst>
              </a:tr>
            </a:tbl>
          </a:graphicData>
        </a:graphic>
      </p:graphicFrame>
      <p:sp>
        <p:nvSpPr>
          <p:cNvPr id="9" name="Rectangle 8">
            <a:extLst>
              <a:ext uri="{FF2B5EF4-FFF2-40B4-BE49-F238E27FC236}">
                <a16:creationId xmlns:a16="http://schemas.microsoft.com/office/drawing/2014/main" id="{B925C649-2754-4787-9340-CF13E6F34FBC}"/>
              </a:ext>
            </a:extLst>
          </p:cNvPr>
          <p:cNvSpPr>
            <a:spLocks noGrp="1"/>
          </p:cNvSpPr>
          <p:nvPr/>
        </p:nvSpPr>
        <p:spPr>
          <a:xfrm>
            <a:off x="609600" y="5772150"/>
            <a:ext cx="10972800" cy="390525"/>
          </a:xfrm>
          <a:prstGeom prst="rect">
            <a:avLst/>
          </a:prstGeom>
          <a:noFill/>
          <a:ln w="0">
            <a:noFill/>
          </a:ln>
        </p:spPr>
        <p:txBody>
          <a:bodyPr>
            <a:noAutofit/>
          </a:bodyPr>
          <a:lstStyle/>
          <a:p>
            <a:pPr>
              <a:defRPr sz="1650" b="0">
                <a:solidFill>
                  <a:srgbClr val="647487"/>
                </a:solidFill>
                <a:latin typeface="Arial"/>
                <a:ea typeface="Arial"/>
                <a:cs typeface="Arial"/>
              </a:defRPr>
            </a:pPr>
            <a:r>
              <a:rPr sz="1650" b="0">
                <a:solidFill>
                  <a:srgbClr val="647487"/>
                </a:solidFill>
                <a:latin typeface="Arial"/>
                <a:ea typeface="Arial"/>
                <a:cs typeface="Arial"/>
              </a:rPr>
              <a:t>IC Newcombe 95%: [12,73; 16,99] punti (IC: intervallo di confidenza). ECR: porta a due qubit.</a:t>
            </a:r>
          </a:p>
        </p:txBody>
      </p:sp>
      <p:sp>
        <p:nvSpPr>
          <p:cNvPr id="10" name="Rectangle 9">
            <a:extLst>
              <a:ext uri="{FF2B5EF4-FFF2-40B4-BE49-F238E27FC236}">
                <a16:creationId xmlns:a16="http://schemas.microsoft.com/office/drawing/2014/main" id="{CD681458-516B-464A-8A55-982CD3E3B7A1}"/>
              </a:ext>
            </a:extLst>
          </p:cNvPr>
          <p:cNvSpPr>
            <a:spLocks noGrp="1"/>
          </p:cNvSpPr>
          <p:nvPr/>
        </p:nvSpPr>
        <p:spPr>
          <a:xfrm>
            <a:off x="609600" y="6296025"/>
            <a:ext cx="10972800" cy="409575"/>
          </a:xfrm>
          <a:prstGeom prst="rect">
            <a:avLst/>
          </a:prstGeom>
          <a:noFill/>
          <a:ln w="0">
            <a:noFill/>
          </a:ln>
        </p:spPr>
        <p:txBody>
          <a:bodyPr>
            <a:noAutofit/>
          </a:bodyPr>
          <a:lstStyle/>
          <a:p>
            <a:pPr>
              <a:defRPr sz="2025" b="1">
                <a:solidFill>
                  <a:srgbClr val="175F99"/>
                </a:solidFill>
                <a:latin typeface="Arial"/>
                <a:ea typeface="Arial"/>
                <a:cs typeface="Arial"/>
              </a:defRPr>
            </a:pPr>
            <a:r>
              <a:rPr sz="2025" b="1">
                <a:solidFill>
                  <a:srgbClr val="175F99"/>
                </a:solidFill>
                <a:latin typeface="Arial"/>
                <a:ea typeface="Arial"/>
                <a:cs typeface="Arial"/>
              </a:rPr>
              <a:t>−22,9% porte ECR e −15,5% profondità. Istanza favorevole: r = 4.</a:t>
            </a:r>
          </a:p>
        </p:txBody>
      </p:sp>
    </p:spTree>
    <p:extLst>
      <p:ext uri="{BB962C8B-B14F-4D97-AF65-F5344CB8AC3E}">
        <p14:creationId xmlns:p14="http://schemas.microsoft.com/office/powerpoint/2010/main" val="1023936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D44FC83-C70B-46CD-8C70-92D7C3D9C2A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Conclusioni e contributo personale</a:t>
            </a:r>
            <a:endParaRPr sz="2700" b="0">
              <a:solidFill>
                <a:srgbClr val="003366"/>
              </a:solidFill>
              <a:latin typeface="Arial"/>
              <a:ea typeface="Arial"/>
              <a:cs typeface="Arial"/>
            </a:endParaRPr>
          </a:p>
        </p:txBody>
      </p:sp>
      <p:pic>
        <p:nvPicPr>
          <p:cNvPr id="13" name="Picture 12"/>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20B7C71E-845D-4B6E-BAC4-41119EECCBA9}"/>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61EF0B45-22BD-40BF-B86A-74F485774734}"/>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Discussione e conclusioni | 19</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D9FD045C-2318-472B-9B26-08CDB5EF9595}"/>
              </a:ext>
            </a:extLst>
          </p:cNvPr>
          <p:cNvSpPr>
            <a:spLocks noGrp="1"/>
          </p:cNvSpPr>
          <p:nvPr/>
        </p:nvSpPr>
        <p:spPr>
          <a:xfrm>
            <a:off x="609600" y="1346200"/>
            <a:ext cx="10972800" cy="1016000"/>
          </a:xfrm>
          <a:prstGeom prst="rect">
            <a:avLst/>
          </a:prstGeom>
          <a:noFill/>
          <a:ln w="0">
            <a:noFill/>
          </a:ln>
        </p:spPr>
        <p:txBody>
          <a:bodyPr>
            <a:noAutofit/>
          </a:bodyPr>
          <a:lstStyle/>
          <a:p>
            <a:pPr>
              <a:defRPr sz="3450" b="1">
                <a:solidFill>
                  <a:srgbClr val="003366"/>
                </a:solidFill>
                <a:latin typeface="Arial"/>
                <a:ea typeface="Arial"/>
                <a:cs typeface="Arial"/>
              </a:defRPr>
            </a:pPr>
            <a:r>
              <a:rPr lang="it-IT" sz="2600" b="1">
                <a:solidFill>
                  <a:srgbClr val="003366"/>
                </a:solidFill>
                <a:latin typeface="Arial"/>
                <a:ea typeface="Arial"/>
                <a:cs typeface="Arial"/>
              </a:rPr>
              <a:t>Il valore di una tecnica dipende dall'informazione che sfrutta e dalla forza della baseline.</a:t>
            </a:r>
            <a:endParaRPr sz="2600" b="1">
              <a:solidFill>
                <a:srgbClr val="003366"/>
              </a:solidFill>
              <a:latin typeface="Arial"/>
              <a:ea typeface="Arial"/>
              <a:cs typeface="Arial"/>
            </a:endParaRPr>
          </a:p>
        </p:txBody>
      </p:sp>
      <p:sp>
        <p:nvSpPr>
          <p:cNvPr id="2" name="Rectangle: Rounded Corners 1">
            <a:extLst>
              <a:ext uri="{FF2B5EF4-FFF2-40B4-BE49-F238E27FC236}">
                <a16:creationId xmlns:a16="http://schemas.microsoft.com/office/drawing/2014/main" id="{79DE2815-21B7-682F-A426-5F90BFDD3396}"/>
              </a:ext>
            </a:extLst>
          </p:cNvPr>
          <p:cNvSpPr/>
          <p:nvPr/>
        </p:nvSpPr>
        <p:spPr>
          <a:xfrm>
            <a:off x="609600" y="2603500"/>
            <a:ext cx="5334000" cy="3302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Rounded Corners 13">
            <a:extLst>
              <a:ext uri="{FF2B5EF4-FFF2-40B4-BE49-F238E27FC236}">
                <a16:creationId xmlns:a16="http://schemas.microsoft.com/office/drawing/2014/main" id="{A1C020A3-720D-427F-D9DE-ECE06638CA52}"/>
              </a:ext>
            </a:extLst>
          </p:cNvPr>
          <p:cNvSpPr/>
          <p:nvPr/>
        </p:nvSpPr>
        <p:spPr>
          <a:xfrm>
            <a:off x="6248400" y="2603500"/>
            <a:ext cx="5334000" cy="3302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F5790D89-B65C-CB3A-B26D-A612DB8546D8}"/>
              </a:ext>
            </a:extLst>
          </p:cNvPr>
          <p:cNvSpPr txBox="1"/>
          <p:nvPr/>
        </p:nvSpPr>
        <p:spPr>
          <a:xfrm>
            <a:off x="812800" y="2755900"/>
            <a:ext cx="4953000" cy="381000"/>
          </a:xfrm>
          <a:prstGeom prst="rect">
            <a:avLst/>
          </a:prstGeom>
          <a:noFill/>
        </p:spPr>
        <p:txBody>
          <a:bodyPr vert="horz" wrap="square" rtlCol="0">
            <a:noAutofit/>
          </a:bodyPr>
          <a:lstStyle/>
          <a:p>
            <a:r>
              <a:rPr lang="en-GB" sz="2175" b="1">
                <a:solidFill>
                  <a:srgbClr val="003366"/>
                </a:solidFill>
                <a:latin typeface="Arial" panose="020B0604020202020204" pitchFamily="34" charset="0"/>
              </a:rPr>
              <a:t>Cosa ho mostrato</a:t>
            </a:r>
          </a:p>
        </p:txBody>
      </p:sp>
      <p:sp>
        <p:nvSpPr>
          <p:cNvPr id="16" name="TextBox 15">
            <a:extLst>
              <a:ext uri="{FF2B5EF4-FFF2-40B4-BE49-F238E27FC236}">
                <a16:creationId xmlns:a16="http://schemas.microsoft.com/office/drawing/2014/main" id="{0B6CF6D8-7978-90DC-1925-74FEA6FB9763}"/>
              </a:ext>
            </a:extLst>
          </p:cNvPr>
          <p:cNvSpPr txBox="1"/>
          <p:nvPr/>
        </p:nvSpPr>
        <p:spPr>
          <a:xfrm>
            <a:off x="6451600" y="2755900"/>
            <a:ext cx="4953000" cy="381000"/>
          </a:xfrm>
          <a:prstGeom prst="rect">
            <a:avLst/>
          </a:prstGeom>
          <a:noFill/>
        </p:spPr>
        <p:txBody>
          <a:bodyPr vert="horz" wrap="square" rtlCol="0">
            <a:noAutofit/>
          </a:bodyPr>
          <a:lstStyle/>
          <a:p>
            <a:r>
              <a:rPr lang="en-GB" sz="2175" b="1">
                <a:solidFill>
                  <a:srgbClr val="003366"/>
                </a:solidFill>
                <a:latin typeface="Arial" panose="020B0604020202020204" pitchFamily="34" charset="0"/>
              </a:rPr>
              <a:t>Contributo personale</a:t>
            </a:r>
          </a:p>
        </p:txBody>
      </p:sp>
      <p:sp>
        <p:nvSpPr>
          <p:cNvPr id="17" name="TextBox 16">
            <a:extLst>
              <a:ext uri="{FF2B5EF4-FFF2-40B4-BE49-F238E27FC236}">
                <a16:creationId xmlns:a16="http://schemas.microsoft.com/office/drawing/2014/main" id="{BE5014B6-44D1-DC9B-7BB9-F99AF83A1D2A}"/>
              </a:ext>
            </a:extLst>
          </p:cNvPr>
          <p:cNvSpPr txBox="1"/>
          <p:nvPr/>
        </p:nvSpPr>
        <p:spPr>
          <a:xfrm>
            <a:off x="812800" y="3251200"/>
            <a:ext cx="4953000" cy="369332"/>
          </a:xfrm>
          <a:prstGeom prst="rect">
            <a:avLst/>
          </a:prstGeom>
          <a:noFill/>
        </p:spPr>
        <p:txBody>
          <a:bodyPr vert="horz" wrap="square" rtlCol="0">
            <a:noAutofit/>
          </a:bodyPr>
          <a:lstStyle/>
          <a:p>
            <a:pPr>
              <a:spcAft>
                <a:spcPts val="1000"/>
              </a:spcAft>
            </a:pPr>
            <a:r>
              <a:rPr lang="it-IT" sz="1725">
                <a:solidFill>
                  <a:srgbClr val="203344"/>
                </a:solidFill>
                <a:latin typeface="Arial" panose="020B0604020202020204" pitchFamily="34" charset="0"/>
              </a:rPr>
              <a:t>Più candidati, non il ML, riducono le iterazioni.</a:t>
            </a:r>
          </a:p>
          <a:p>
            <a:pPr>
              <a:spcAft>
                <a:spcPts val="1000"/>
              </a:spcAft>
            </a:pPr>
            <a:r>
              <a:rPr lang="it-IT" sz="1725">
                <a:solidFill>
                  <a:srgbClr val="203344"/>
                </a:solidFill>
                <a:latin typeface="Arial" panose="020B0604020202020204" pitchFamily="34" charset="0"/>
              </a:rPr>
              <a:t>La QEC aiuta solo sotto soglia; decoder e codice contano insieme.</a:t>
            </a:r>
          </a:p>
          <a:p>
            <a:pPr>
              <a:spcAft>
                <a:spcPts val="1000"/>
              </a:spcAft>
            </a:pPr>
            <a:r>
              <a:rPr lang="it-IT" sz="1725">
                <a:solidFill>
                  <a:srgbClr val="203344"/>
                </a:solidFill>
                <a:latin typeface="Arial" panose="020B0604020202020204" pitchFamily="34" charset="0"/>
              </a:rPr>
              <a:t>L'AQFT dà +14,87 punti su N = 15; su N = 21 il beneficio non è dimostrato.</a:t>
            </a:r>
            <a:endParaRPr lang="en-GB" sz="1725">
              <a:solidFill>
                <a:srgbClr val="203344"/>
              </a:solidFill>
              <a:latin typeface="Arial" panose="020B0604020202020204" pitchFamily="34" charset="0"/>
            </a:endParaRPr>
          </a:p>
        </p:txBody>
      </p:sp>
      <p:sp>
        <p:nvSpPr>
          <p:cNvPr id="18" name="TextBox 17">
            <a:extLst>
              <a:ext uri="{FF2B5EF4-FFF2-40B4-BE49-F238E27FC236}">
                <a16:creationId xmlns:a16="http://schemas.microsoft.com/office/drawing/2014/main" id="{3F45B240-B8AE-8BB8-DDD9-8B7D9D18CA56}"/>
              </a:ext>
            </a:extLst>
          </p:cNvPr>
          <p:cNvSpPr txBox="1"/>
          <p:nvPr/>
        </p:nvSpPr>
        <p:spPr>
          <a:xfrm>
            <a:off x="6451600" y="3251200"/>
            <a:ext cx="4953000" cy="369332"/>
          </a:xfrm>
          <a:prstGeom prst="rect">
            <a:avLst/>
          </a:prstGeom>
          <a:noFill/>
        </p:spPr>
        <p:txBody>
          <a:bodyPr vert="horz" wrap="square" rtlCol="0">
            <a:noAutofit/>
          </a:bodyPr>
          <a:lstStyle/>
          <a:p>
            <a:pPr>
              <a:spcAft>
                <a:spcPts val="1000"/>
              </a:spcAft>
            </a:pPr>
            <a:r>
              <a:rPr lang="it-IT" sz="1725">
                <a:solidFill>
                  <a:srgbClr val="203344"/>
                </a:solidFill>
                <a:latin typeface="Arial" panose="020B0604020202020204" pitchFamily="34" charset="0"/>
              </a:rPr>
              <a:t>Implementazione e validazione dei circuiti per N = 15 e 21.</a:t>
            </a:r>
          </a:p>
          <a:p>
            <a:pPr>
              <a:spcAft>
                <a:spcPts val="1000"/>
              </a:spcAft>
            </a:pPr>
            <a:r>
              <a:rPr lang="it-IT" sz="1725">
                <a:solidFill>
                  <a:srgbClr val="203344"/>
                </a:solidFill>
                <a:latin typeface="Arial" panose="020B0604020202020204" pitchFamily="34" charset="0"/>
              </a:rPr>
              <a:t>Progetto delle campagne con baseline esplicite e confronti appaiati.</a:t>
            </a:r>
          </a:p>
          <a:p>
            <a:pPr>
              <a:spcAft>
                <a:spcPts val="1000"/>
              </a:spcAft>
            </a:pPr>
            <a:r>
              <a:rPr lang="it-IT" sz="1725">
                <a:solidFill>
                  <a:srgbClr val="203344"/>
                </a:solidFill>
                <a:latin typeface="Arial" panose="020B0604020202020204" pitchFamily="34" charset="0"/>
              </a:rPr>
              <a:t>Pipeline riproducibile: versioni, parametri e seed registrati.</a:t>
            </a:r>
            <a:endParaRPr lang="en-GB" sz="1725">
              <a:solidFill>
                <a:srgbClr val="203344"/>
              </a:solidFill>
              <a:latin typeface="Arial" panose="020B0604020202020204" pitchFamily="34" charset="0"/>
            </a:endParaRPr>
          </a:p>
        </p:txBody>
      </p:sp>
      <p:sp>
        <p:nvSpPr>
          <p:cNvPr id="19" name="TextBox 18">
            <a:extLst>
              <a:ext uri="{FF2B5EF4-FFF2-40B4-BE49-F238E27FC236}">
                <a16:creationId xmlns:a16="http://schemas.microsoft.com/office/drawing/2014/main" id="{007C03F3-6ECC-0A57-515F-008B8206761D}"/>
              </a:ext>
            </a:extLst>
          </p:cNvPr>
          <p:cNvSpPr txBox="1"/>
          <p:nvPr/>
        </p:nvSpPr>
        <p:spPr>
          <a:xfrm>
            <a:off x="609600" y="6096000"/>
            <a:ext cx="10972800" cy="369332"/>
          </a:xfrm>
          <a:prstGeom prst="rect">
            <a:avLst/>
          </a:prstGeom>
          <a:noFill/>
        </p:spPr>
        <p:txBody>
          <a:bodyPr vert="horz" wrap="square" rtlCol="0">
            <a:noAutofit/>
          </a:bodyPr>
          <a:lstStyle/>
          <a:p>
            <a:r>
              <a:rPr lang="it-IT" sz="1725" b="1">
                <a:solidFill>
                  <a:srgbClr val="175F99"/>
                </a:solidFill>
                <a:latin typeface="Arial" panose="020B0604020202020204" pitchFamily="34" charset="0"/>
              </a:rPr>
              <a:t>Ottimizzazione del circuito e QEC sono complementari: la prima contiene le risorse, la seconda protegge l'esecuzione.</a:t>
            </a:r>
            <a:endParaRPr lang="en-GB" sz="1725" b="1">
              <a:solidFill>
                <a:srgbClr val="175F99"/>
              </a:solidFill>
              <a:latin typeface="Arial" panose="020B0604020202020204" pitchFamily="34" charset="0"/>
            </a:endParaRPr>
          </a:p>
        </p:txBody>
      </p:sp>
    </p:spTree>
    <p:extLst>
      <p:ext uri="{BB962C8B-B14F-4D97-AF65-F5344CB8AC3E}">
        <p14:creationId xmlns:p14="http://schemas.microsoft.com/office/powerpoint/2010/main" val="15404695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CA37C23-8EF6-4C17-A4F4-E71FFDA7BF90}"/>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Limiti e sviluppi futuri</a:t>
            </a:r>
            <a:endParaRPr sz="2700" b="0">
              <a:solidFill>
                <a:srgbClr val="003366"/>
              </a:solidFill>
              <a:latin typeface="Arial"/>
              <a:ea typeface="Arial"/>
              <a:cs typeface="Arial"/>
            </a:endParaRPr>
          </a:p>
        </p:txBody>
      </p:sp>
      <p:pic>
        <p:nvPicPr>
          <p:cNvPr id="16" name="Picture 15"/>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42491AB4-A50E-4972-B4BC-A45D2FE2D097}"/>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BCA1C702-C5F3-4FAF-A2B8-E1EA38A991CF}"/>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Discussione e conclusioni | 20</a:t>
            </a:r>
            <a:endParaRPr sz="1200" b="0">
              <a:solidFill>
                <a:srgbClr val="203344"/>
              </a:solidFill>
              <a:latin typeface="Arial"/>
              <a:ea typeface="Arial"/>
              <a:cs typeface="Arial"/>
            </a:endParaRPr>
          </a:p>
        </p:txBody>
      </p:sp>
      <p:sp>
        <p:nvSpPr>
          <p:cNvPr id="5" name="Rectangle: Rounded Corners 4">
            <a:extLst>
              <a:ext uri="{FF2B5EF4-FFF2-40B4-BE49-F238E27FC236}">
                <a16:creationId xmlns:a16="http://schemas.microsoft.com/office/drawing/2014/main" id="{7736809C-4DF7-437C-890C-B6373A80A43D}"/>
              </a:ext>
            </a:extLst>
          </p:cNvPr>
          <p:cNvSpPr>
            <a:spLocks noGrp="1"/>
          </p:cNvSpPr>
          <p:nvPr/>
        </p:nvSpPr>
        <p:spPr>
          <a:xfrm>
            <a:off x="609600" y="1609725"/>
            <a:ext cx="4857750" cy="3695700"/>
          </a:xfrm>
          <a:prstGeom prst="roundRect">
            <a:avLst>
              <a:gd name="adj" fmla="val 2577"/>
            </a:avLst>
          </a:prstGeom>
          <a:solidFill>
            <a:srgbClr val="EEF4F8"/>
          </a:solidFill>
          <a:ln w="14288">
            <a:solidFill>
              <a:srgbClr val="5084BF"/>
            </a:solidFill>
          </a:ln>
        </p:spPr>
        <p:txBody>
          <a:bodyPr/>
          <a:lstStyle/>
          <a:p>
            <a:endParaRPr lang="en-GB"/>
          </a:p>
        </p:txBody>
      </p:sp>
      <p:sp>
        <p:nvSpPr>
          <p:cNvPr id="6" name="Rectangle 5">
            <a:extLst>
              <a:ext uri="{FF2B5EF4-FFF2-40B4-BE49-F238E27FC236}">
                <a16:creationId xmlns:a16="http://schemas.microsoft.com/office/drawing/2014/main" id="{2F25D6F7-BB18-443C-A940-C65D30D526E9}"/>
              </a:ext>
            </a:extLst>
          </p:cNvPr>
          <p:cNvSpPr>
            <a:spLocks noGrp="1"/>
          </p:cNvSpPr>
          <p:nvPr/>
        </p:nvSpPr>
        <p:spPr>
          <a:xfrm>
            <a:off x="790575" y="1800225"/>
            <a:ext cx="44958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Limiti</a:t>
            </a:r>
          </a:p>
        </p:txBody>
      </p:sp>
      <p:sp>
        <p:nvSpPr>
          <p:cNvPr id="7" name="Rectangle 6">
            <a:extLst>
              <a:ext uri="{FF2B5EF4-FFF2-40B4-BE49-F238E27FC236}">
                <a16:creationId xmlns:a16="http://schemas.microsoft.com/office/drawing/2014/main" id="{A42D3E0F-7F73-4A21-9D50-356F712E2E64}"/>
              </a:ext>
            </a:extLst>
          </p:cNvPr>
          <p:cNvSpPr>
            <a:spLocks noGrp="1"/>
          </p:cNvSpPr>
          <p:nvPr/>
        </p:nvSpPr>
        <p:spPr>
          <a:xfrm>
            <a:off x="790575" y="2409825"/>
            <a:ext cx="4495800" cy="2800350"/>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Simulazioni su poche istanze</a:t>
            </a:r>
          </a:p>
          <a:p>
            <a:pPr>
              <a:defRPr sz="1875" b="0">
                <a:solidFill>
                  <a:srgbClr val="203344"/>
                </a:solidFill>
                <a:latin typeface="Arial"/>
                <a:ea typeface="Arial"/>
                <a:cs typeface="Arial"/>
              </a:defRPr>
            </a:pPr>
            <a:r>
              <a:rPr sz="1875" b="0">
                <a:solidFill>
                  <a:srgbClr val="203344"/>
                </a:solidFill>
                <a:latin typeface="Arial"/>
                <a:ea typeface="Arial"/>
                <a:cs typeface="Arial"/>
              </a:rPr>
              <a:t>QEC su memorie separate</a:t>
            </a:r>
          </a:p>
          <a:p>
            <a:pPr>
              <a:defRPr sz="1875" b="0">
                <a:solidFill>
                  <a:srgbClr val="203344"/>
                </a:solidFill>
                <a:latin typeface="Arial"/>
                <a:ea typeface="Arial"/>
                <a:cs typeface="Arial"/>
              </a:defRPr>
            </a:pPr>
            <a:r>
              <a:rPr sz="1875" b="0">
                <a:solidFill>
                  <a:srgbClr val="203344"/>
                </a:solidFill>
                <a:latin typeface="Arial"/>
                <a:ea typeface="Arial"/>
                <a:cs typeface="Arial"/>
              </a:rPr>
              <a:t>Gross code in code-capacity</a:t>
            </a:r>
          </a:p>
          <a:p>
            <a:pPr>
              <a:defRPr sz="1875" b="0">
                <a:solidFill>
                  <a:srgbClr val="203344"/>
                </a:solidFill>
                <a:latin typeface="Arial"/>
                <a:ea typeface="Arial"/>
                <a:cs typeface="Arial"/>
              </a:defRPr>
            </a:pPr>
            <a:r>
              <a:rPr sz="1875" b="0">
                <a:solidFill>
                  <a:srgbClr val="203344"/>
                </a:solidFill>
                <a:latin typeface="Arial"/>
                <a:ea typeface="Arial"/>
                <a:cs typeface="Arial"/>
              </a:rPr>
              <a:t>Calibrazione hardware offline</a:t>
            </a:r>
          </a:p>
          <a:p>
            <a:pPr>
              <a:defRPr sz="1875" b="0">
                <a:solidFill>
                  <a:srgbClr val="203344"/>
                </a:solidFill>
                <a:latin typeface="Arial"/>
                <a:ea typeface="Arial"/>
                <a:cs typeface="Arial"/>
              </a:defRPr>
            </a:pPr>
            <a:r>
              <a:rPr sz="1875" b="0">
                <a:solidFill>
                  <a:srgbClr val="203344"/>
                </a:solidFill>
                <a:latin typeface="Arial"/>
                <a:ea typeface="Arial"/>
                <a:cs typeface="Arial"/>
              </a:rPr>
              <a:t>Nessuno Shor fault-tolerant</a:t>
            </a:r>
          </a:p>
        </p:txBody>
      </p:sp>
      <p:sp>
        <p:nvSpPr>
          <p:cNvPr id="8" name="Rectangle 7">
            <a:extLst>
              <a:ext uri="{FF2B5EF4-FFF2-40B4-BE49-F238E27FC236}">
                <a16:creationId xmlns:a16="http://schemas.microsoft.com/office/drawing/2014/main" id="{07FCCE78-1995-4A6E-B503-C0FB8B2CE55C}"/>
              </a:ext>
            </a:extLst>
          </p:cNvPr>
          <p:cNvSpPr>
            <a:spLocks noGrp="1"/>
          </p:cNvSpPr>
          <p:nvPr/>
        </p:nvSpPr>
        <p:spPr>
          <a:xfrm>
            <a:off x="6143625" y="1685925"/>
            <a:ext cx="5429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Priorità: costo circuitale</a:t>
            </a:r>
          </a:p>
        </p:txBody>
      </p:sp>
      <p:sp>
        <p:nvSpPr>
          <p:cNvPr id="9" name="Rectangle 8">
            <a:extLst>
              <a:ext uri="{FF2B5EF4-FFF2-40B4-BE49-F238E27FC236}">
                <a16:creationId xmlns:a16="http://schemas.microsoft.com/office/drawing/2014/main" id="{03E7F75E-8090-4D8C-A3C0-14E197BC6225}"/>
              </a:ext>
            </a:extLst>
          </p:cNvPr>
          <p:cNvSpPr>
            <a:spLocks noGrp="1"/>
          </p:cNvSpPr>
          <p:nvPr/>
        </p:nvSpPr>
        <p:spPr>
          <a:xfrm>
            <a:off x="6143625" y="2133600"/>
            <a:ext cx="5429250" cy="828675"/>
          </a:xfrm>
          <a:prstGeom prst="rect">
            <a:avLst/>
          </a:prstGeom>
          <a:noFill/>
          <a:ln w="0">
            <a:noFill/>
          </a:ln>
        </p:spPr>
        <p:txBody>
          <a:bodyPr>
            <a:noAutofit/>
          </a:bodyPr>
          <a:lstStyle/>
          <a:p>
            <a:pPr>
              <a:defRPr sz="2250" b="0">
                <a:solidFill>
                  <a:srgbClr val="203344"/>
                </a:solidFill>
                <a:latin typeface="Arial"/>
                <a:ea typeface="Arial"/>
                <a:cs typeface="Arial"/>
              </a:defRPr>
            </a:pPr>
            <a:r>
              <a:rPr sz="2250" b="0">
                <a:solidFill>
                  <a:srgbClr val="203344"/>
                </a:solidFill>
                <a:latin typeface="Arial"/>
                <a:ea typeface="Arial"/>
                <a:cs typeface="Arial"/>
              </a:rPr>
              <a:t>AQFT, aritmetica modulare</a:t>
            </a:r>
          </a:p>
          <a:p>
            <a:pPr>
              <a:defRPr sz="2250" b="0">
                <a:solidFill>
                  <a:srgbClr val="203344"/>
                </a:solidFill>
                <a:latin typeface="Arial"/>
                <a:ea typeface="Arial"/>
                <a:cs typeface="Arial"/>
              </a:defRPr>
            </a:pPr>
            <a:r>
              <a:rPr sz="2250" b="0">
                <a:solidFill>
                  <a:srgbClr val="203344"/>
                </a:solidFill>
                <a:latin typeface="Arial"/>
                <a:ea typeface="Arial"/>
                <a:cs typeface="Arial"/>
              </a:rPr>
              <a:t>e sintesi delle operazioni</a:t>
            </a:r>
          </a:p>
        </p:txBody>
      </p:sp>
      <p:sp>
        <p:nvSpPr>
          <p:cNvPr id="10" name="Rectangle 9">
            <a:extLst>
              <a:ext uri="{FF2B5EF4-FFF2-40B4-BE49-F238E27FC236}">
                <a16:creationId xmlns:a16="http://schemas.microsoft.com/office/drawing/2014/main" id="{BC509B3C-7ABF-488B-B403-FCA84D5CCA49}"/>
              </a:ext>
            </a:extLst>
          </p:cNvPr>
          <p:cNvSpPr>
            <a:spLocks noGrp="1"/>
          </p:cNvSpPr>
          <p:nvPr/>
        </p:nvSpPr>
        <p:spPr>
          <a:xfrm>
            <a:off x="6143625" y="3352800"/>
            <a:ext cx="5429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Verifica sulla metrica finale</a:t>
            </a:r>
          </a:p>
        </p:txBody>
      </p:sp>
      <p:sp>
        <p:nvSpPr>
          <p:cNvPr id="11" name="Rectangle 10">
            <a:extLst>
              <a:ext uri="{FF2B5EF4-FFF2-40B4-BE49-F238E27FC236}">
                <a16:creationId xmlns:a16="http://schemas.microsoft.com/office/drawing/2014/main" id="{25F31C1B-0262-481F-9574-1CCEAD53F4BB}"/>
              </a:ext>
            </a:extLst>
          </p:cNvPr>
          <p:cNvSpPr>
            <a:spLocks noGrp="1"/>
          </p:cNvSpPr>
          <p:nvPr/>
        </p:nvSpPr>
        <p:spPr>
          <a:xfrm>
            <a:off x="6143625" y="3800475"/>
            <a:ext cx="5429250" cy="847725"/>
          </a:xfrm>
          <a:prstGeom prst="rect">
            <a:avLst/>
          </a:prstGeom>
          <a:noFill/>
          <a:ln w="0">
            <a:noFill/>
          </a:ln>
        </p:spPr>
        <p:txBody>
          <a:bodyPr>
            <a:noAutofit/>
          </a:bodyPr>
          <a:lstStyle/>
          <a:p>
            <a:pPr>
              <a:defRPr sz="2100" b="0">
                <a:solidFill>
                  <a:srgbClr val="203344"/>
                </a:solidFill>
                <a:latin typeface="Arial"/>
                <a:ea typeface="Arial"/>
                <a:cs typeface="Arial"/>
              </a:defRPr>
            </a:pPr>
            <a:r>
              <a:rPr sz="2100" b="0">
                <a:solidFill>
                  <a:srgbClr val="203344"/>
                </a:solidFill>
                <a:latin typeface="Arial"/>
                <a:ea typeface="Arial"/>
                <a:cs typeface="Arial"/>
              </a:rPr>
              <a:t>Accuratezza della stima di fase</a:t>
            </a:r>
          </a:p>
          <a:p>
            <a:pPr>
              <a:defRPr sz="2100" b="0">
                <a:solidFill>
                  <a:srgbClr val="203344"/>
                </a:solidFill>
                <a:latin typeface="Arial"/>
                <a:ea typeface="Arial"/>
                <a:cs typeface="Arial"/>
              </a:defRPr>
            </a:pPr>
            <a:r>
              <a:rPr sz="2100" b="0">
                <a:solidFill>
                  <a:srgbClr val="203344"/>
                </a:solidFill>
                <a:latin typeface="Arial"/>
                <a:ea typeface="Arial"/>
                <a:cs typeface="Arial"/>
              </a:rPr>
              <a:t>e successo della fattorizzazione</a:t>
            </a:r>
          </a:p>
        </p:txBody>
      </p:sp>
      <p:sp>
        <p:nvSpPr>
          <p:cNvPr id="12" name="Rectangle 11">
            <a:extLst>
              <a:ext uri="{FF2B5EF4-FFF2-40B4-BE49-F238E27FC236}">
                <a16:creationId xmlns:a16="http://schemas.microsoft.com/office/drawing/2014/main" id="{9A548C9A-350D-48B4-AF3D-7F83C636A3E2}"/>
              </a:ext>
            </a:extLst>
          </p:cNvPr>
          <p:cNvSpPr>
            <a:spLocks noGrp="1"/>
          </p:cNvSpPr>
          <p:nvPr/>
        </p:nvSpPr>
        <p:spPr>
          <a:xfrm>
            <a:off x="6143625" y="5048250"/>
            <a:ext cx="5429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Integrare la fault tolerance</a:t>
            </a:r>
          </a:p>
        </p:txBody>
      </p:sp>
      <p:sp>
        <p:nvSpPr>
          <p:cNvPr id="13" name="Rectangle 12">
            <a:extLst>
              <a:ext uri="{FF2B5EF4-FFF2-40B4-BE49-F238E27FC236}">
                <a16:creationId xmlns:a16="http://schemas.microsoft.com/office/drawing/2014/main" id="{36A4558C-B64F-48E3-8CDD-700821146101}"/>
              </a:ext>
            </a:extLst>
          </p:cNvPr>
          <p:cNvSpPr>
            <a:spLocks noGrp="1"/>
          </p:cNvSpPr>
          <p:nvPr/>
        </p:nvSpPr>
        <p:spPr>
          <a:xfrm>
            <a:off x="6143625" y="5495925"/>
            <a:ext cx="5429250" cy="638175"/>
          </a:xfrm>
          <a:prstGeom prst="rect">
            <a:avLst/>
          </a:prstGeom>
          <a:noFill/>
          <a:ln w="0">
            <a:noFill/>
          </a:ln>
        </p:spPr>
        <p:txBody>
          <a:bodyPr>
            <a:noAutofit/>
          </a:bodyPr>
          <a:lstStyle/>
          <a:p>
            <a:pPr>
              <a:defRPr sz="2100" b="0">
                <a:solidFill>
                  <a:srgbClr val="203344"/>
                </a:solidFill>
                <a:latin typeface="Arial"/>
                <a:ea typeface="Arial"/>
                <a:cs typeface="Arial"/>
              </a:defRPr>
            </a:pPr>
            <a:r>
              <a:rPr sz="2100" b="0">
                <a:solidFill>
                  <a:srgbClr val="203344"/>
                </a:solidFill>
                <a:latin typeface="Arial"/>
                <a:ea typeface="Arial"/>
                <a:cs typeface="Arial"/>
              </a:rPr>
              <a:t>Qubit logici e operazioni protette</a:t>
            </a:r>
          </a:p>
        </p:txBody>
      </p:sp>
      <p:sp>
        <p:nvSpPr>
          <p:cNvPr id="14" name="Rectangle 13">
            <a:extLst>
              <a:ext uri="{FF2B5EF4-FFF2-40B4-BE49-F238E27FC236}">
                <a16:creationId xmlns:a16="http://schemas.microsoft.com/office/drawing/2014/main" id="{CA76611A-A935-4D91-8214-290481870DC1}"/>
              </a:ext>
            </a:extLst>
          </p:cNvPr>
          <p:cNvSpPr>
            <a:spLocks noGrp="1"/>
          </p:cNvSpPr>
          <p:nvPr/>
        </p:nvSpPr>
        <p:spPr>
          <a:xfrm>
            <a:off x="609600" y="6324600"/>
            <a:ext cx="10972800" cy="342900"/>
          </a:xfrm>
          <a:prstGeom prst="rect">
            <a:avLst/>
          </a:prstGeom>
          <a:noFill/>
          <a:ln w="0">
            <a:noFill/>
          </a:ln>
        </p:spPr>
        <p:txBody>
          <a:bodyPr>
            <a:noAutofit/>
          </a:bodyPr>
          <a:lstStyle/>
          <a:p>
            <a:pPr>
              <a:defRPr sz="1650" b="1">
                <a:solidFill>
                  <a:srgbClr val="175F99"/>
                </a:solidFill>
                <a:latin typeface="Arial"/>
                <a:ea typeface="Arial"/>
                <a:cs typeface="Arial"/>
              </a:defRPr>
            </a:pPr>
            <a:r>
              <a:rPr sz="1650" b="1">
                <a:solidFill>
                  <a:srgbClr val="175F99"/>
                </a:solidFill>
                <a:latin typeface="Arial"/>
                <a:ea typeface="Arial"/>
                <a:cs typeface="Arial"/>
              </a:rPr>
              <a:t>Ottimizzazione e QEC sono complementari. Nessuna modifica della complessità asintotica dimostrata.</a:t>
            </a:r>
          </a:p>
        </p:txBody>
      </p:sp>
    </p:spTree>
    <p:extLst>
      <p:ext uri="{BB962C8B-B14F-4D97-AF65-F5344CB8AC3E}">
        <p14:creationId xmlns:p14="http://schemas.microsoft.com/office/powerpoint/2010/main" val="16267462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FCB8C3-6EF2-4D5C-830F-D31C57913E1A}"/>
              </a:ext>
            </a:extLst>
          </p:cNvPr>
          <p:cNvSpPr>
            <a:spLocks noGrp="1"/>
          </p:cNvSpPr>
          <p:nvPr/>
        </p:nvSpPr>
        <p:spPr>
          <a:xfrm>
            <a:off x="609600" y="1847850"/>
            <a:ext cx="7581900" cy="1828800"/>
          </a:xfrm>
          <a:prstGeom prst="rect">
            <a:avLst/>
          </a:prstGeom>
          <a:noFill/>
          <a:ln w="0">
            <a:noFill/>
          </a:ln>
        </p:spPr>
        <p:txBody>
          <a:bodyPr>
            <a:noAutofit/>
          </a:bodyPr>
          <a:lstStyle/>
          <a:p>
            <a:pPr>
              <a:defRPr sz="5250" b="0">
                <a:solidFill>
                  <a:srgbClr val="003366"/>
                </a:solidFill>
                <a:latin typeface="Arial"/>
                <a:ea typeface="Arial"/>
                <a:cs typeface="Arial"/>
              </a:defRPr>
            </a:pPr>
            <a:r>
              <a:rPr sz="5250" b="0">
                <a:solidFill>
                  <a:srgbClr val="003366"/>
                </a:solidFill>
                <a:latin typeface="Arial"/>
                <a:ea typeface="Arial"/>
                <a:cs typeface="Arial"/>
              </a:rPr>
              <a:t>Grazie</a:t>
            </a:r>
          </a:p>
          <a:p>
            <a:pPr>
              <a:defRPr sz="5250" b="0">
                <a:solidFill>
                  <a:srgbClr val="003366"/>
                </a:solidFill>
                <a:latin typeface="Arial"/>
                <a:ea typeface="Arial"/>
                <a:cs typeface="Arial"/>
              </a:defRPr>
            </a:pPr>
            <a:r>
              <a:rPr sz="5250" b="0">
                <a:solidFill>
                  <a:srgbClr val="003366"/>
                </a:solidFill>
                <a:latin typeface="Arial"/>
                <a:ea typeface="Arial"/>
                <a:cs typeface="Arial"/>
              </a:rPr>
              <a:t>per l’attenzione</a:t>
            </a:r>
          </a:p>
        </p:txBody>
      </p:sp>
      <p:pic>
        <p:nvPicPr>
          <p:cNvPr id="7" name="Picture 6"/>
          <p:cNvPicPr>
            <a:picLocks noChangeAspect="1"/>
          </p:cNvPicPr>
          <p:nvPr/>
        </p:nvPicPr>
        <p:blipFill>
          <a:blip r:embed="rId3"/>
          <a:stretch/>
        </p:blipFill>
        <p:spPr>
          <a:xfrm>
            <a:off x="7810500" y="1753654"/>
            <a:ext cx="3743325" cy="3512617"/>
          </a:xfrm>
          <a:prstGeom prst="rect">
            <a:avLst/>
          </a:prstGeom>
        </p:spPr>
      </p:pic>
      <p:sp>
        <p:nvSpPr>
          <p:cNvPr id="3" name="Rectangle 2">
            <a:extLst>
              <a:ext uri="{FF2B5EF4-FFF2-40B4-BE49-F238E27FC236}">
                <a16:creationId xmlns:a16="http://schemas.microsoft.com/office/drawing/2014/main" id="{85C0F97C-7D70-493D-8ABF-F3E5206AB52F}"/>
              </a:ext>
            </a:extLst>
          </p:cNvPr>
          <p:cNvSpPr>
            <a:spLocks noGrp="1"/>
          </p:cNvSpPr>
          <p:nvPr/>
        </p:nvSpPr>
        <p:spPr>
          <a:xfrm>
            <a:off x="609600" y="4886325"/>
            <a:ext cx="6810375"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Claudio Dragotta</a:t>
            </a:r>
          </a:p>
        </p:txBody>
      </p:sp>
      <p:sp>
        <p:nvSpPr>
          <p:cNvPr id="4" name="Rectangle 3">
            <a:extLst>
              <a:ext uri="{FF2B5EF4-FFF2-40B4-BE49-F238E27FC236}">
                <a16:creationId xmlns:a16="http://schemas.microsoft.com/office/drawing/2014/main" id="{BF3BF28B-851A-43E0-9AB9-72CF4D3F664A}"/>
              </a:ext>
            </a:extLst>
          </p:cNvPr>
          <p:cNvSpPr>
            <a:spLocks noGrp="1"/>
          </p:cNvSpPr>
          <p:nvPr/>
        </p:nvSpPr>
        <p:spPr>
          <a:xfrm>
            <a:off x="609600" y="5381625"/>
            <a:ext cx="6953250" cy="819150"/>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Ingegneria dei Sistemi Intelligenti</a:t>
            </a:r>
          </a:p>
          <a:p>
            <a:pPr>
              <a:defRPr sz="2025" b="0">
                <a:solidFill>
                  <a:srgbClr val="203344"/>
                </a:solidFill>
                <a:latin typeface="Arial"/>
                <a:ea typeface="Arial"/>
                <a:cs typeface="Arial"/>
              </a:defRPr>
            </a:pPr>
            <a:r>
              <a:rPr sz="2025" b="0">
                <a:solidFill>
                  <a:srgbClr val="203344"/>
                </a:solidFill>
                <a:latin typeface="Arial"/>
                <a:ea typeface="Arial"/>
                <a:cs typeface="Arial"/>
              </a:rPr>
              <a:t>A.A. 2025/2026</a:t>
            </a:r>
          </a:p>
        </p:txBody>
      </p:sp>
      <p:pic>
        <p:nvPicPr>
          <p:cNvPr id="10" name="Picture 9"/>
          <p:cNvPicPr>
            <a:picLocks noChangeAspect="1"/>
          </p:cNvPicPr>
          <p:nvPr/>
        </p:nvPicPr>
        <p:blipFill>
          <a:blip r:embed="rId4"/>
          <a:stretch/>
        </p:blipFill>
        <p:spPr>
          <a:xfrm>
            <a:off x="619125" y="515764"/>
            <a:ext cx="1019175" cy="844897"/>
          </a:xfrm>
          <a:prstGeom prst="rect">
            <a:avLst/>
          </a:prstGeom>
        </p:spPr>
      </p:pic>
    </p:spTree>
    <p:extLst>
      <p:ext uri="{BB962C8B-B14F-4D97-AF65-F5344CB8AC3E}">
        <p14:creationId xmlns:p14="http://schemas.microsoft.com/office/powerpoint/2010/main" val="110143589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3761</Words>
  <Application>Microsoft Office PowerPoint</Application>
  <DocSecurity>0</DocSecurity>
  <PresentationFormat>Widescreen</PresentationFormat>
  <Paragraphs>372</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claudio dragotta</cp:lastModifiedBy>
  <cp:revision>22</cp:revision>
  <dcterms:created xsi:type="dcterms:W3CDTF">2026-10-04T20:49:31Z</dcterms:created>
  <dcterms:modified xsi:type="dcterms:W3CDTF">2026-10-05T15:44:55Z</dcterms:modified>
</cp:coreProperties>
</file>