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25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0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02178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LAUREA MAGISTRALE IN INGEGNERIA DEI SISTEMI INTELLIGENTI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925621" y="914400"/>
            <a:ext cx="684131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UNIVERSITÀ CAMPUS BIO-MEDICO DI ROMA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77750" y="1047750"/>
            <a:ext cx="4953000" cy="495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19338"/>
            <a:ext cx="10791825" cy="2136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9927"/>
              </a:lnSpc>
              <a:buNone/>
            </a:pPr>
            <a:r>
              <a:rPr lang="en-US" sz="8100" kern="0" spc="-162" dirty="0">
                <a:solidFill>
                  <a:srgbClr val="EEE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Shor’s Algorithm </a:t>
            </a:r>
            <a:r>
              <a:rPr lang="en-US" sz="8100" i="1" kern="0" spc="-162" dirty="0">
                <a:solidFill>
                  <a:srgbClr val="D98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Noise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1143000" y="4684514"/>
            <a:ext cx="1059561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dirty="0">
                <a:solidFill>
                  <a:srgbClr val="D6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Machine-Learning Ablation, Quantum Error Correction, and Approximate QFT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1143000" y="6391275"/>
            <a:ext cx="16002000" cy="1438275"/>
          </a:xfrm>
          <a:prstGeom prst="rect">
            <a:avLst/>
          </a:prstGeom>
          <a:gradFill rotWithShape="1">
            <a:gsLst>
              <a:gs pos="0">
                <a:srgbClr val="2C3038">
                  <a:alpha val="100000"/>
                </a:srgbClr>
              </a:gs>
              <a:gs pos="100000">
                <a:srgbClr val="2C3038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143000" y="7820025"/>
            <a:ext cx="16002000" cy="9525"/>
          </a:xfrm>
          <a:prstGeom prst="rect">
            <a:avLst/>
          </a:prstGeom>
          <a:solidFill>
            <a:srgbClr val="4A4E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143000" y="6391275"/>
            <a:ext cx="57150" cy="14287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143500" y="6391275"/>
            <a:ext cx="57150" cy="14287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9144000" y="6391275"/>
            <a:ext cx="57150" cy="14287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3144500" y="6391275"/>
            <a:ext cx="57150" cy="14287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143000" y="7962900"/>
            <a:ext cx="4400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43500" y="7962900"/>
            <a:ext cx="4400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0" y="7962900"/>
            <a:ext cx="4400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144500" y="7962900"/>
            <a:ext cx="4400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43000" y="8834438"/>
            <a:ext cx="25160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Laureando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3000" y="9172575"/>
            <a:ext cx="25160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Claudio Dragotta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149676" y="8834438"/>
            <a:ext cx="2534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Relatore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49676" y="9172575"/>
            <a:ext cx="2534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Prof. Paolo Soda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173468" y="8834438"/>
            <a:ext cx="29445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Correlatore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73468" y="9172575"/>
            <a:ext cx="29445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Ing. Floriano Caprio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3569628" y="8834438"/>
            <a:ext cx="39328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Sessione di Laurea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569628" y="9172575"/>
            <a:ext cx="39328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Ottobre — A.A. 2025/2026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112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73262" y="890588"/>
            <a:ext cx="30114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TESI IN SINTESI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EEE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tesi misura quanto il rumore degrada Shor e confronta tre strategie per contenerlo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3169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6407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4131320"/>
            <a:ext cx="51408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Errori di porta, decoerenza e lettura imperfetta compromettono l’informazione sull’ordine 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5639991"/>
            <a:ext cx="5140833" cy="82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p</a:t>
            </a:r>
            <a:r>
              <a:rPr lang="en-US" sz="1750" baseline="-400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 </a:t>
            </a:r>
            <a:r>
              <a:rPr lang="en-US" sz="21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5% il successo scende dal 75% al 29,5%.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648450" y="33169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48450" y="36407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APPROCCIO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8450" y="4131320"/>
            <a:ext cx="51408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 strategie su livelli distinti, ciascuna con un riferimento esplicito.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48450" y="5639991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Post-processing con ablazione ML · QEC con surface code e qLDPC · AQFT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249150" y="33169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249150" y="36407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EVIDENZA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49150" y="4131320"/>
            <a:ext cx="514083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 benefici sono reali ma condizionati al livello, al rumore e all’istanza.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249150" y="5213300"/>
            <a:ext cx="5140833" cy="1201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TOP-4 supera il filtro ML · ibrido −16,8% p </a:t>
            </a:r>
            <a:r>
              <a:rPr lang="en-US" sz="1750" baseline="-400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 </a:t>
            </a:r>
            <a:r>
              <a:rPr lang="en-US" sz="21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crosstalk · AQFT +14,87 pp per N = 15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3A3E47">
                  <a:alpha val="100000"/>
                </a:srgbClr>
              </a:gs>
              <a:gs pos="100000">
                <a:srgbClr val="3A3E47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092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71327" y="890588"/>
            <a:ext cx="20647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FONDAMENTI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qubit codifica informazione in fase e ampiezza; Shor appartiene alla classe BQP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088332"/>
            <a:ext cx="6233145" cy="565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393" r="-5393"/>
          <a:stretch/>
        </p:blipFill>
        <p:spPr>
          <a:xfrm>
            <a:off x="1209675" y="3250257"/>
            <a:ext cx="5909295" cy="533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8879532"/>
            <a:ext cx="68564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Sfera di Bloch: lo stato |ψ⟩ è descritto dagli angoli θ e φ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890495" y="3088332"/>
            <a:ext cx="9349755" cy="565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9287" r="-9287"/>
          <a:stretch/>
        </p:blipFill>
        <p:spPr>
          <a:xfrm>
            <a:off x="8052420" y="3250257"/>
            <a:ext cx="9025905" cy="533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90495" y="8879532"/>
            <a:ext cx="102847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Fattorizzazione in tempo polinomiale su un calcolatore quantistico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7750" y="9605814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1047750" y="9529614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3949229" y="9529614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6850707" y="9529614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9752186" y="9529614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12996565" y="9541520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541130" y="9541520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70DA5-5424-F0CD-62E1-B6C612300D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0"/>
            <a:ext cx="18287980" cy="102850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5F5FED-F062-1D67-450F-6CE5EDCA9A9B}"/>
              </a:ext>
            </a:extLst>
          </p:cNvPr>
          <p:cNvSpPr txBox="1"/>
          <p:nvPr/>
        </p:nvSpPr>
        <p:spPr>
          <a:xfrm>
            <a:off x="2217842" y="792628"/>
            <a:ext cx="1554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GB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tesi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misura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quanto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</a:t>
            </a:r>
            <a:r>
              <a:rPr lang="en-GB" sz="5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rumore</a:t>
            </a: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degrada</a:t>
            </a: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</a:p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GB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confronta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</a:t>
            </a: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</a:t>
            </a: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GB" sz="5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contenerlo</a:t>
            </a:r>
            <a:endParaRPr lang="en-GB" sz="5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2E27E4-2465-ABA0-DE43-8CB70B155AB9}"/>
              </a:ext>
            </a:extLst>
          </p:cNvPr>
          <p:cNvGrpSpPr/>
          <p:nvPr/>
        </p:nvGrpSpPr>
        <p:grpSpPr>
          <a:xfrm>
            <a:off x="12918018" y="2776765"/>
            <a:ext cx="3510792" cy="1124778"/>
            <a:chOff x="12918018" y="2776765"/>
            <a:chExt cx="3510792" cy="11247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73C4032-5E5E-8D70-D798-FBDA5156C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7720" t="-2791" r="6292" b="15246"/>
            <a:stretch>
              <a:fillRect/>
            </a:stretch>
          </p:blipFill>
          <p:spPr>
            <a:xfrm>
              <a:off x="12918018" y="2776765"/>
              <a:ext cx="1001712" cy="112477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19C539-83CE-4BA8-622A-14205149200B}"/>
                </a:ext>
              </a:extLst>
            </p:cNvPr>
            <p:cNvSpPr txBox="1"/>
            <p:nvPr/>
          </p:nvSpPr>
          <p:spPr>
            <a:xfrm>
              <a:off x="14121837" y="3259110"/>
              <a:ext cx="2306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EVIDENZA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D8790-0E51-EF88-2E09-B2D33E79C4C3}"/>
              </a:ext>
            </a:extLst>
          </p:cNvPr>
          <p:cNvCxnSpPr/>
          <p:nvPr/>
        </p:nvCxnSpPr>
        <p:spPr>
          <a:xfrm>
            <a:off x="8725949" y="3815292"/>
            <a:ext cx="16610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ADFBFD-A95F-2AB4-FD01-5A7107EFD3AE}"/>
              </a:ext>
            </a:extLst>
          </p:cNvPr>
          <p:cNvCxnSpPr/>
          <p:nvPr/>
        </p:nvCxnSpPr>
        <p:spPr>
          <a:xfrm>
            <a:off x="14230525" y="3720775"/>
            <a:ext cx="16610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D03A7C-65ED-46D6-56FD-2F868BD5335B}"/>
              </a:ext>
            </a:extLst>
          </p:cNvPr>
          <p:cNvGrpSpPr/>
          <p:nvPr/>
        </p:nvGrpSpPr>
        <p:grpSpPr>
          <a:xfrm>
            <a:off x="1355764" y="3164400"/>
            <a:ext cx="4357139" cy="5589340"/>
            <a:chOff x="1355764" y="3164400"/>
            <a:chExt cx="4357139" cy="55893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535B5D-5523-277F-D68D-4F1AF31BAF82}"/>
                </a:ext>
              </a:extLst>
            </p:cNvPr>
            <p:cNvGrpSpPr/>
            <p:nvPr/>
          </p:nvGrpSpPr>
          <p:grpSpPr>
            <a:xfrm>
              <a:off x="1360337" y="3164400"/>
              <a:ext cx="3621091" cy="1058237"/>
              <a:chOff x="1546527" y="3116529"/>
              <a:chExt cx="3621091" cy="1058237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0FC59BC-C129-8B93-228C-34A1CF0E76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913" t="9841" r="64478" b="10853"/>
              <a:stretch>
                <a:fillRect/>
              </a:stretch>
            </p:blipFill>
            <p:spPr>
              <a:xfrm>
                <a:off x="1546527" y="3116529"/>
                <a:ext cx="1105232" cy="1058237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0FA76C-4980-A3B4-E503-CDCBB1254030}"/>
                  </a:ext>
                </a:extLst>
              </p:cNvPr>
              <p:cNvSpPr txBox="1"/>
              <p:nvPr/>
            </p:nvSpPr>
            <p:spPr>
              <a:xfrm>
                <a:off x="2743200" y="3414814"/>
                <a:ext cx="2424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PROBLEMA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2C9206-9215-8926-1FED-B68EC79835DB}"/>
                </a:ext>
              </a:extLst>
            </p:cNvPr>
            <p:cNvCxnSpPr/>
            <p:nvPr/>
          </p:nvCxnSpPr>
          <p:spPr>
            <a:xfrm>
              <a:off x="2676088" y="3924350"/>
              <a:ext cx="16610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7A4937-F152-3B6F-F80B-6CB52956BEDF}"/>
                </a:ext>
              </a:extLst>
            </p:cNvPr>
            <p:cNvSpPr txBox="1"/>
            <p:nvPr/>
          </p:nvSpPr>
          <p:spPr>
            <a:xfrm>
              <a:off x="1360336" y="4277599"/>
              <a:ext cx="4260287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Errori</a:t>
              </a:r>
              <a:r>
                <a: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porta, </a:t>
              </a:r>
              <a:r>
                <a:rPr lang="it-IT" sz="2200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decoerenza</a:t>
              </a:r>
              <a:r>
                <a: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 </a:t>
              </a:r>
              <a:r>
                <a:rPr lang="it-IT" sz="2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lettura imperfetta </a:t>
              </a:r>
              <a:r>
                <a: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compromettono l’informazione sull’ordine r, riducendo la probabilità di successo dell’algoritmo di Shor.</a:t>
              </a:r>
              <a:endParaRPr lang="en-GB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A09D300-3ACA-39AB-F3AF-AB4BDF231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8050" y="5679551"/>
              <a:ext cx="4134362" cy="232681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631513-EAA1-8A4D-8A8F-039A89B1B6FB}"/>
                </a:ext>
              </a:extLst>
            </p:cNvPr>
            <p:cNvSpPr txBox="1"/>
            <p:nvPr/>
          </p:nvSpPr>
          <p:spPr>
            <a:xfrm>
              <a:off x="1355764" y="7984299"/>
              <a:ext cx="4357139" cy="7694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 p₀ = 5%, </a:t>
              </a:r>
            </a:p>
            <a:p>
              <a:r>
                <a: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il successo scende dal 75% al 29,5%.</a:t>
              </a:r>
              <a:endParaRPr lang="en-GB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7AD6FD-6575-70F4-D867-0067C9D6904A}"/>
              </a:ext>
            </a:extLst>
          </p:cNvPr>
          <p:cNvGrpSpPr/>
          <p:nvPr/>
        </p:nvGrpSpPr>
        <p:grpSpPr>
          <a:xfrm>
            <a:off x="7378660" y="2988802"/>
            <a:ext cx="10023257" cy="5764938"/>
            <a:chOff x="7378660" y="2988802"/>
            <a:chExt cx="10023257" cy="576493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72D8B7D-A749-53D5-8A64-F374318EC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17" t="2087" r="33870" b="14767"/>
            <a:stretch>
              <a:fillRect/>
            </a:stretch>
          </p:blipFill>
          <p:spPr>
            <a:xfrm>
              <a:off x="7378660" y="2988802"/>
              <a:ext cx="1173374" cy="112477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A38DBF5-EB6D-9C1D-2EE8-20BB24454C52}"/>
                </a:ext>
              </a:extLst>
            </p:cNvPr>
            <p:cNvSpPr txBox="1"/>
            <p:nvPr/>
          </p:nvSpPr>
          <p:spPr>
            <a:xfrm>
              <a:off x="8552034" y="3353627"/>
              <a:ext cx="2357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APPROCCIO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7E5309-994B-C810-49F2-3A922A2C0AE3}"/>
                </a:ext>
              </a:extLst>
            </p:cNvPr>
            <p:cNvSpPr txBox="1"/>
            <p:nvPr/>
          </p:nvSpPr>
          <p:spPr>
            <a:xfrm>
              <a:off x="7413615" y="4233001"/>
              <a:ext cx="4134362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Confronto</a:t>
              </a:r>
              <a:r>
                <a:rPr lang="en-GB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</a:t>
              </a:r>
              <a:r>
                <a:rPr lang="en-GB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tre</a:t>
              </a:r>
              <a:r>
                <a:rPr lang="en-GB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strategie</a:t>
              </a:r>
              <a:r>
                <a:rPr lang="en-GB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</a:t>
              </a:r>
              <a:r>
                <a:rPr lang="en-GB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mitigazione</a:t>
              </a:r>
              <a:r>
                <a:rPr lang="en-GB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del </a:t>
              </a:r>
              <a:r>
                <a:rPr lang="en-GB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rumore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valutate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livelli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distinti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ciascuna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 un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riferimento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esplicito</a:t>
              </a:r>
              <a:r>
                <a: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499FE40-F701-3444-51C4-CD6F18FA7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6614" t="13890" r="28717" b="12311"/>
            <a:stretch>
              <a:fillRect/>
            </a:stretch>
          </p:blipFill>
          <p:spPr>
            <a:xfrm>
              <a:off x="7378660" y="5732732"/>
              <a:ext cx="845701" cy="302100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536D85-051B-CEA9-D59E-317A29AAD434}"/>
                </a:ext>
              </a:extLst>
            </p:cNvPr>
            <p:cNvSpPr txBox="1"/>
            <p:nvPr/>
          </p:nvSpPr>
          <p:spPr>
            <a:xfrm>
              <a:off x="8225759" y="5851131"/>
              <a:ext cx="377049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Livello circuito</a:t>
              </a:r>
            </a:p>
            <a:p>
              <a:r>
                <a: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Post-processing con ablazione ML (QEC)</a:t>
              </a:r>
              <a:endParaRPr lang="en-GB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C7D5AD-93E9-AE45-F95B-94CCE0461A9A}"/>
                </a:ext>
              </a:extLst>
            </p:cNvPr>
            <p:cNvSpPr txBox="1"/>
            <p:nvPr/>
          </p:nvSpPr>
          <p:spPr>
            <a:xfrm>
              <a:off x="8224361" y="6915263"/>
              <a:ext cx="2323750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Livello codice</a:t>
              </a:r>
            </a:p>
            <a:p>
              <a:r>
                <a: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Surface</a:t>
              </a:r>
              <a:r>
                <a:rPr lang="it-IT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e </a:t>
              </a:r>
              <a:r>
                <a:rPr lang="it-IT" sz="17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qLDPC</a:t>
              </a:r>
              <a:r>
                <a: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(AQFT)</a:t>
              </a:r>
              <a:endParaRPr lang="en-GB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15C37D-2329-D590-DD2D-409BC53036DD}"/>
                </a:ext>
              </a:extLst>
            </p:cNvPr>
            <p:cNvSpPr txBox="1"/>
            <p:nvPr/>
          </p:nvSpPr>
          <p:spPr>
            <a:xfrm>
              <a:off x="8224361" y="7984445"/>
              <a:ext cx="91775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Livello</a:t>
              </a:r>
              <a:r>
                <a:rPr lang="en-GB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algoritmo</a:t>
              </a:r>
              <a:endPara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GB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AQFT con cross-talk</a:t>
              </a:r>
              <a:r>
                <a:rPr lang="en-GB" dirty="0"/>
                <a:t>.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44F77248-6F76-D79D-B7EF-852E998C94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189" t="7745" r="7875" b="4132"/>
          <a:stretch>
            <a:fillRect/>
          </a:stretch>
        </p:blipFill>
        <p:spPr>
          <a:xfrm>
            <a:off x="12813139" y="5379856"/>
            <a:ext cx="4949503" cy="30708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107788-5463-3D6B-DFD1-8FC6D9188BF9}"/>
              </a:ext>
            </a:extLst>
          </p:cNvPr>
          <p:cNvSpPr txBox="1"/>
          <p:nvPr/>
        </p:nvSpPr>
        <p:spPr>
          <a:xfrm>
            <a:off x="12789121" y="4128213"/>
            <a:ext cx="4492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benefici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sono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dipendono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dal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livello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dal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tipo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rumore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dalla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distanza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25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3B195-82CD-ACC5-A5CA-5CBF3975D2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F1043A-D1C1-A4E0-B9D2-394E8FE94320}"/>
              </a:ext>
            </a:extLst>
          </p:cNvPr>
          <p:cNvSpPr txBox="1"/>
          <p:nvPr/>
        </p:nvSpPr>
        <p:spPr>
          <a:xfrm>
            <a:off x="1169580" y="535139"/>
            <a:ext cx="14870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qubit codifica informazione in fase e ampiezza;</a:t>
            </a:r>
            <a:b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 appartiene alla classe BQP.</a:t>
            </a:r>
            <a:endParaRPr lang="en-GB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F8DE0-66CB-81F6-F946-2F778A100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43" y="2822681"/>
            <a:ext cx="16167340" cy="606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130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75122" y="890588"/>
            <a:ext cx="45391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INTRODUZIONE E CONTESTO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 riduce la fattorizzazione alla ricerca del periodo di aˣ mod 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164532"/>
            <a:ext cx="9425583" cy="3542481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3440757"/>
            <a:ext cx="8873133" cy="29900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6859414"/>
            <a:ext cx="103681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7ˣ mod 15 si ripete con periodo r = 4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159133" y="3164532"/>
            <a:ext cx="608111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1159133" y="3364557"/>
            <a:ext cx="66892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Istanza principale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59133" y="3683645"/>
            <a:ext cx="66892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15, a = 7 → 3 × 5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11159133" y="4512320"/>
            <a:ext cx="608111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1159133" y="4712345"/>
            <a:ext cx="66892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159133" y="5031432"/>
            <a:ext cx="66892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qubit controllo + 4 lavoro</a:t>
            </a:r>
            <a:endParaRPr lang="en-US" sz="3300" dirty="0"/>
          </a:p>
        </p:txBody>
      </p:sp>
      <p:sp>
        <p:nvSpPr>
          <p:cNvPr id="14" name="Shape 11"/>
          <p:cNvSpPr/>
          <p:nvPr/>
        </p:nvSpPr>
        <p:spPr>
          <a:xfrm>
            <a:off x="11159133" y="5850582"/>
            <a:ext cx="608111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1159133" y="6050607"/>
            <a:ext cx="66892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Esiti ideali su 256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159133" y="6369695"/>
            <a:ext cx="66892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· 64 · 128 · 192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11159133" y="7188845"/>
            <a:ext cx="626355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 polinomiale nella lunghezza binaria dell’input: implicazioni per la crittografia basata sulla fattorizzazione [1–3]. Sotto rumore l’informazione sull’ordine si degrada [4].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025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64630" y="890588"/>
            <a:ext cx="38867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STATO DELL’ARTE E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strategia contro il rumore promette un beneficio con un costo diverso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587428"/>
            <a:ext cx="4497884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126432"/>
            <a:ext cx="463282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216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APPROCCIO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45634" y="3587428"/>
            <a:ext cx="5397475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545634" y="3126432"/>
            <a:ext cx="5559399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216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COSA OFFRE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43109" y="3587428"/>
            <a:ext cx="6297141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43109" y="3126432"/>
            <a:ext cx="648605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216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 PER LA VALUTAZIONE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4745608"/>
            <a:ext cx="449788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47750" y="3816028"/>
            <a:ext cx="44042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Selezione ML degli esiti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545634" y="4745608"/>
            <a:ext cx="539747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545634" y="3816028"/>
            <a:ext cx="533079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Sfrutta l’informazione residua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43109" y="4745608"/>
            <a:ext cx="629714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943109" y="3816028"/>
            <a:ext cx="648605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 guadagno può derivare dai candidati provati, non dal modello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5534248"/>
            <a:ext cx="449788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47750" y="4964683"/>
            <a:ext cx="44042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Decoder appresi [10]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545634" y="5534248"/>
            <a:ext cx="539747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45634" y="4964683"/>
            <a:ext cx="53307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Correlazioni non modellate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943109" y="5534248"/>
            <a:ext cx="629714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943109" y="4964683"/>
            <a:ext cx="64860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Vanno confrontati con MWPM e BP+OSD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47750" y="6322888"/>
            <a:ext cx="449788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5753323"/>
            <a:ext cx="44042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Codici qLDPC [11]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545634" y="6322888"/>
            <a:ext cx="539747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545634" y="5753323"/>
            <a:ext cx="53307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Meno qubit di dato per qubit logico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943109" y="6322888"/>
            <a:ext cx="629714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943109" y="5753323"/>
            <a:ext cx="64860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Vantaggio dipendente dal decoder [12]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47750" y="7111529"/>
            <a:ext cx="449788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47750" y="6541963"/>
            <a:ext cx="44042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AQFT [13]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545634" y="7111529"/>
            <a:ext cx="539747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545634" y="6541963"/>
            <a:ext cx="53307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Meno porte e profondità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943109" y="7111529"/>
            <a:ext cx="629714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943109" y="6541963"/>
            <a:ext cx="64860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Perde precisione di fase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47750" y="7540154"/>
            <a:ext cx="14716125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221"/>
              </a:lnSpc>
              <a:buNone/>
            </a:pPr>
            <a:r>
              <a:rPr lang="en-US" sz="25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Rimane aperto il problema di </a:t>
            </a:r>
            <a:r>
              <a:rPr lang="en-US" sz="255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isolare il contributo di ciascuna strategia, con riferimenti espliciti e metriche coerenti con il compito [5].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132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75346" y="890588"/>
            <a:ext cx="55306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 I · SOLUZIONE PROPOSTA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tre strategie intervengono in punti diversi della pipeline di Shor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393132"/>
            <a:ext cx="3086100" cy="1443038"/>
          </a:xfrm>
          <a:prstGeom prst="rect">
            <a:avLst/>
          </a:prstGeom>
          <a:solidFill>
            <a:srgbClr val="FFFFFF"/>
          </a:solidFill>
          <a:ln w="14288">
            <a:solidFill>
              <a:srgbClr val="161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90638" y="3636020"/>
            <a:ext cx="28603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Pre-processing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0638" y="4021782"/>
            <a:ext cx="28603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scelta di a, gcd(a, 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24350" y="3393132"/>
            <a:ext cx="3086100" cy="1443038"/>
          </a:xfrm>
          <a:prstGeom prst="rect">
            <a:avLst/>
          </a:prstGeom>
          <a:solidFill>
            <a:srgbClr val="FFFFFF"/>
          </a:solidFill>
          <a:ln w="14288">
            <a:solidFill>
              <a:srgbClr val="161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67238" y="3636020"/>
            <a:ext cx="26783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Esponenziazione modulare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67238" y="4331345"/>
            <a:ext cx="28603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stima di fase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00950" y="3393132"/>
            <a:ext cx="3086100" cy="1443038"/>
          </a:xfrm>
          <a:prstGeom prst="rect">
            <a:avLst/>
          </a:prstGeom>
          <a:solidFill>
            <a:srgbClr val="FFFFFF"/>
          </a:solidFill>
          <a:ln w="23813">
            <a:solidFill>
              <a:srgbClr val="A853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853362" y="3645545"/>
            <a:ext cx="2839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QFT inversa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53362" y="4031307"/>
            <a:ext cx="283940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rotazioni controllate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77550" y="3393132"/>
            <a:ext cx="3086100" cy="1443038"/>
          </a:xfrm>
          <a:prstGeom prst="rect">
            <a:avLst/>
          </a:prstGeom>
          <a:solidFill>
            <a:srgbClr val="FFFFFF"/>
          </a:solidFill>
          <a:ln w="14288">
            <a:solidFill>
              <a:srgbClr val="161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120438" y="3636020"/>
            <a:ext cx="28603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Misura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120438" y="4021782"/>
            <a:ext cx="28603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istogramma di shot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54150" y="3393132"/>
            <a:ext cx="3086100" cy="1443038"/>
          </a:xfrm>
          <a:prstGeom prst="rect">
            <a:avLst/>
          </a:prstGeom>
          <a:solidFill>
            <a:srgbClr val="FFFFFF"/>
          </a:solidFill>
          <a:ln w="23813">
            <a:solidFill>
              <a:srgbClr val="A853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4406563" y="3645545"/>
            <a:ext cx="2839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Post-processing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406563" y="4031307"/>
            <a:ext cx="283940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frazioni continue, gcd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81950" y="4836170"/>
            <a:ext cx="19050" cy="53340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00950" y="5521970"/>
            <a:ext cx="33947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AQFT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600950" y="5988695"/>
            <a:ext cx="317868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elimina le rotazioni di piccolo angolo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535150" y="4836170"/>
            <a:ext cx="19050" cy="53340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4154150" y="5521970"/>
            <a:ext cx="279528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Selezione + ML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4154150" y="5988695"/>
            <a:ext cx="279528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TOP-1, TOP-4, Metodo 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7139285"/>
            <a:ext cx="16192500" cy="9525"/>
          </a:xfrm>
          <a:prstGeom prst="rect">
            <a:avLst/>
          </a:prstGeom>
          <a:solidFill>
            <a:srgbClr val="A9A6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47750" y="7491710"/>
            <a:ext cx="4295403" cy="800100"/>
          </a:xfrm>
          <a:prstGeom prst="rect">
            <a:avLst/>
          </a:prstGeom>
          <a:ln w="14288">
            <a:solidFill>
              <a:srgbClr val="22406E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328738" y="7696498"/>
            <a:ext cx="3862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240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QEC su memorie logiche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5724153" y="7518425"/>
            <a:ext cx="1186158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 code e Gross code sono valutati su circuiti di memoria separati, non integrati nell’intero algoritmo di Shor.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17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952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57263" y="890588"/>
            <a:ext cx="59358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 II · SUCCESSO E ABLAZIONE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successo è il recupero di fattori non banali, misurato contro un riferimento uniforme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3202632"/>
            <a:ext cx="746923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47750" y="4269432"/>
            <a:ext cx="746923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successo ideale: 3 dei 4 picchi portano ai fattori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5061868"/>
            <a:ext cx="746923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24,61%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047750" y="6128668"/>
            <a:ext cx="699391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riferimento uniforme: il post-processing accetta 63 esiti su 256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" y="7294438"/>
            <a:ext cx="69939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 riferimento dipende dall’istanza e dalla verifica classica; non misura la fedeltà dello stato [5].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52359" y="3616970"/>
            <a:ext cx="8487891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752359" y="3202632"/>
            <a:ext cx="87425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CRITERI DI SELEZIONE SUGLI STESSI ISTOGRAMMI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52359" y="4521845"/>
            <a:ext cx="848789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752359" y="3883670"/>
            <a:ext cx="20955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TOP-1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885959" y="3883670"/>
            <a:ext cx="69897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 il candidato più frequente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752359" y="5773341"/>
            <a:ext cx="848789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752359" y="4779020"/>
            <a:ext cx="198120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885959" y="4779020"/>
            <a:ext cx="654492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 fino a quattro candidati, ordinati per frequenza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752359" y="7024836"/>
            <a:ext cx="8487891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752359" y="6030516"/>
            <a:ext cx="198120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 2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885959" y="6030516"/>
            <a:ext cx="654492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 TOP-4 solo se un classificatore predice il successo del candidato dominante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752359" y="7339161"/>
            <a:ext cx="8742528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Ablazione: </a:t>
            </a: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TOP-4 senza filtro contro Metodo 2 separa il contributo del modello dal beneficio di provare più candidati.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17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22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84052" y="890588"/>
            <a:ext cx="70029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 II · DECODER E APPROSSIMAZIONE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decoder ibrido corregge MWPM solo quando serve; l’AQFT taglia le rotazioni minori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3164532"/>
            <a:ext cx="95463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2240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CORREZIONE QUANTISTICA DEGLI ERRORI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702695"/>
            <a:ext cx="1424880" cy="657225"/>
          </a:xfrm>
          <a:prstGeom prst="rect">
            <a:avLst/>
          </a:prstGeom>
          <a:solidFill>
            <a:srgbClr val="FFFFFF"/>
          </a:solidFill>
          <a:ln w="14288">
            <a:solidFill>
              <a:srgbClr val="161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71588" y="3888432"/>
            <a:ext cx="105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Sindromi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472630" y="4021782"/>
            <a:ext cx="381000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53630" y="3702695"/>
            <a:ext cx="1259235" cy="657225"/>
          </a:xfrm>
          <a:prstGeom prst="rect">
            <a:avLst/>
          </a:prstGeom>
          <a:solidFill>
            <a:srgbClr val="FFFFFF"/>
          </a:solidFill>
          <a:ln w="14288">
            <a:solidFill>
              <a:srgbClr val="161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077468" y="3888432"/>
            <a:ext cx="8877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MWPM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112865" y="4021782"/>
            <a:ext cx="381000" cy="190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493865" y="3693170"/>
            <a:ext cx="5232350" cy="676275"/>
          </a:xfrm>
          <a:prstGeom prst="rect">
            <a:avLst/>
          </a:prstGeom>
          <a:solidFill>
            <a:srgbClr val="FFFFFF"/>
          </a:solidFill>
          <a:ln w="23813">
            <a:solidFill>
              <a:srgbClr val="A853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27228" y="3888432"/>
            <a:ext cx="4922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Rete: modificare la scelta?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636145"/>
            <a:ext cx="893882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soglia d’intervento della rete è selezionata sul validation set e fissata sul test set [10]. Confronti: MWPM, rete autonoma, BP+OSD.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" y="5649516"/>
            <a:ext cx="8678466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47750" y="5887641"/>
            <a:ext cx="95463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code · 144 qubit di dato, 12 logici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47750" y="6373416"/>
            <a:ext cx="893882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BP+OSD con aggiornamento dei messaggi parallelo o seriale, modello code-capacity [11, 12]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64416" y="3164532"/>
            <a:ext cx="73434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TRASFORMATA DI FOURIER APPROSSIMATA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64416" y="3693170"/>
            <a:ext cx="6876109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30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 porte e profondità, a scapito della precisione di fase [13].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0564416" y="4950470"/>
            <a:ext cx="667583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564416" y="5150495"/>
            <a:ext cx="15716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= 15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183666" y="5150495"/>
            <a:ext cx="556224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QFT inversa finale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564416" y="5687690"/>
            <a:ext cx="667583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564416" y="5887715"/>
            <a:ext cx="15716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= 21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183666" y="5887715"/>
            <a:ext cx="556224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QFT interne all’aritmetica modulare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564416" y="7162130"/>
            <a:ext cx="667583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564416" y="6424910"/>
            <a:ext cx="667583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564416" y="6624935"/>
            <a:ext cx="15716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QPE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183666" y="6624935"/>
            <a:ext cx="556224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benchmark isolati, registri da 6 a 10 qubit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564416" y="7438355"/>
            <a:ext cx="687610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Grado di approssimazione scelto su dati di selezione, valutato su dati indipendenti.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4132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75346" y="890588"/>
            <a:ext cx="49982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CONFIGURAZIONE I · AMBIENTE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Tutte le campagne sono simulate, con circuiti validati e modelli di rumore dichiarati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088332"/>
            <a:ext cx="2857500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297882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Istanze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905250" y="3088332"/>
            <a:ext cx="13335000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905250" y="3297882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= 15, a = 7 principale · N = 21, a = 2 e N = 35, a = 6 validate idealmente con aritmetica di Beauregard [6]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0" y="3848398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47750" y="4048423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Circuito N = 15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05250" y="3848398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905250" y="4048423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RZ, SX, X, CX · profondità 412 · 224 CX · 70 SX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4598938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47750" y="4798963"/>
            <a:ext cx="2943225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Rumore su Shor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905250" y="4598938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905250" y="4798963"/>
            <a:ext cx="1373505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Errori di Pauli indipendenti dopo ogni porta (escluse RZ virtuali), p</a:t>
            </a:r>
            <a:r>
              <a:rPr lang="en-US" sz="1750" baseline="-400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 </a:t>
            </a: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 13 valori tra 0 e 0,5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5395168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47750" y="5595193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 ML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905250" y="5395168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905250" y="5595193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UC1 riferimento, UC2 stress: depolarizzazione, rilassamento termico, errori di lettura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47750" y="6145709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47750" y="6345734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QEC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905250" y="6145709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905250" y="6345734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Memorie surface code a distanza d crescente, con crosstalk · Gross code in code-capacity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6896249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7096274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AQFT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3905250" y="6896249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905250" y="7096274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Calibrazione offline FakeSherbrooke, senza T1/T2 aggiuntivi · layout e semi invariati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47750" y="8397329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47750" y="7646789"/>
            <a:ext cx="2857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7846814"/>
            <a:ext cx="29432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3905250" y="8397329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905250" y="7646789"/>
            <a:ext cx="13335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905250" y="7846814"/>
            <a:ext cx="13735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Qiskit/Aer · scikit-learn · Stim · PyMatching · ldpc — versioni, parametri e semi registrati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743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36427" y="890588"/>
            <a:ext cx="56593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CONFIGURAZIONE II · PROTOCOLLO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Metriche e riferimenti sono fissati prima dei risultati, con selezione e verifica separate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530278"/>
            <a:ext cx="2725415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088332"/>
            <a:ext cx="2616677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73165" y="3530278"/>
            <a:ext cx="3206428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773165" y="3088332"/>
            <a:ext cx="311212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79593" y="3530278"/>
            <a:ext cx="2885852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979593" y="3088332"/>
            <a:ext cx="2781927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RIFERIMENTO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65444" y="3530278"/>
            <a:ext cx="4809604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865444" y="3088332"/>
            <a:ext cx="4763392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CAMPIONI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675048" y="3530278"/>
            <a:ext cx="2565127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4675048" y="3088332"/>
            <a:ext cx="2642081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INFERENZA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4344070"/>
            <a:ext cx="272541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47750" y="3758878"/>
            <a:ext cx="2616677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Sensibilità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773165" y="4344070"/>
            <a:ext cx="320642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773165" y="3758878"/>
            <a:ext cx="3112120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successo di fattorizzazione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979593" y="4344070"/>
            <a:ext cx="2885852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979593" y="3758878"/>
            <a:ext cx="2781927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uniforme 24,61%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65444" y="4344070"/>
            <a:ext cx="480960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865444" y="3758878"/>
            <a:ext cx="4763392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repliche × 4.096 shot per p</a:t>
            </a:r>
            <a:r>
              <a:rPr lang="en-US" sz="1625" baseline="-400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4675048" y="4344070"/>
            <a:ext cx="256512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4675048" y="3758878"/>
            <a:ext cx="2642081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 95%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5441231"/>
            <a:ext cx="272541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4563145"/>
            <a:ext cx="261667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Post-processing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773165" y="5441231"/>
            <a:ext cx="320642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773165" y="4563145"/>
            <a:ext cx="311212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iterazioni ai fattori (max 50)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979593" y="5441231"/>
            <a:ext cx="2885852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979593" y="4563145"/>
            <a:ext cx="278192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TOP-1, TOP-4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865444" y="5441231"/>
            <a:ext cx="480960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865444" y="4563145"/>
            <a:ext cx="476339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2.000 istogrammi, split 60/20/20 · 30 repliche appaiate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4675048" y="5441231"/>
            <a:ext cx="256512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4675048" y="4563145"/>
            <a:ext cx="264208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appaiati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47750" y="6245498"/>
            <a:ext cx="272541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47750" y="5660306"/>
            <a:ext cx="2616677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QEC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3773165" y="6245498"/>
            <a:ext cx="320642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773165" y="5660306"/>
            <a:ext cx="3112120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fallimento logico p</a:t>
            </a:r>
            <a:r>
              <a:rPr lang="en-US" sz="1625" baseline="-400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6979593" y="6245498"/>
            <a:ext cx="2885852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979593" y="5660306"/>
            <a:ext cx="2781927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MWPM, BP+OSD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865444" y="6245498"/>
            <a:ext cx="480960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9865444" y="5660306"/>
            <a:ext cx="4763392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milioni di sindromi campionate con Stim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4675048" y="6245498"/>
            <a:ext cx="256512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4675048" y="5660306"/>
            <a:ext cx="2642081" cy="413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McNemar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7750" y="7342659"/>
            <a:ext cx="272541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1047750" y="6464573"/>
            <a:ext cx="261667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AQFT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3773165" y="7342659"/>
            <a:ext cx="320642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3773165" y="6464573"/>
            <a:ext cx="311212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successo per shot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6979593" y="7342659"/>
            <a:ext cx="2885852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979593" y="6464573"/>
            <a:ext cx="278192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QFT piena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9865444" y="7342659"/>
            <a:ext cx="4809604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9865444" y="6464573"/>
            <a:ext cx="476339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8.192 shot (N = 15), 256 (N = 21), metà selezione e metà verifica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4675048" y="7342659"/>
            <a:ext cx="256512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14675048" y="6464573"/>
            <a:ext cx="264208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 Newcombe 95%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217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483816" y="890588"/>
            <a:ext cx="58455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· SENSIBILITÀ AL RUMORE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388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successo di Shor scende dal 74,89% al riferimento uniforme già per p </a:t>
            </a:r>
            <a:r>
              <a:rPr lang="en-US" sz="3625" kern="0" spc="-43" baseline="-400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</a:t>
            </a: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10%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179564"/>
            <a:ext cx="9542562" cy="5637014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3417689"/>
            <a:ext cx="9066312" cy="51607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276112" y="3615779"/>
            <a:ext cx="5964138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276112" y="3179564"/>
            <a:ext cx="4948081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r>
              <a:rPr lang="en-US" sz="1500" kern="0" spc="180" baseline="-400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774367" y="3179564"/>
            <a:ext cx="1612471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276112" y="4268242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276112" y="3787229"/>
            <a:ext cx="54944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6271081" y="3787229"/>
            <a:ext cx="104536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74,89%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1276112" y="4911179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1276112" y="4430167"/>
            <a:ext cx="56692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0,1%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6429955" y="4430167"/>
            <a:ext cx="8864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72,5%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1276112" y="5554117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1276112" y="5073104"/>
            <a:ext cx="56692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1%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6429955" y="5073104"/>
            <a:ext cx="8864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56,5%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1276112" y="6197054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1276112" y="5716042"/>
            <a:ext cx="56692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2%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6429955" y="5716042"/>
            <a:ext cx="8864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45,2%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11276112" y="6839992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1276112" y="6358979"/>
            <a:ext cx="56692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5%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6429955" y="6358979"/>
            <a:ext cx="8864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29,5%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1276112" y="7482929"/>
            <a:ext cx="596413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1276112" y="7001917"/>
            <a:ext cx="54944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0,5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6271081" y="7001917"/>
            <a:ext cx="104536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24,59%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1276112" y="7721054"/>
            <a:ext cx="6143062" cy="770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294 porte esposte, p</a:t>
            </a:r>
            <a:r>
              <a:rPr lang="en-US" sz="1625" baseline="-4000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 </a:t>
            </a: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1% implica circa tre errori medi per esecuzione.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586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0651" y="890588"/>
            <a:ext cx="58284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· POST-PROCESSING E 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TOP-4 ottiene i fattori alla prima iterazione; il filtro ML non riduce il costo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088332"/>
            <a:ext cx="9177412" cy="5161434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3326457"/>
            <a:ext cx="8701162" cy="4685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8383116"/>
            <a:ext cx="100951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Iterazioni medie al primo successo, 30 repliche appaiate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910962" y="3483620"/>
            <a:ext cx="6329288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910962" y="3088332"/>
            <a:ext cx="46571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ITERAZIONI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68550" y="3088332"/>
            <a:ext cx="1123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116300" y="3088332"/>
            <a:ext cx="1123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10962" y="4136082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910962" y="3655070"/>
            <a:ext cx="46571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TOP-1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5068550" y="3655070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1,37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6116300" y="3655070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1,50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910962" y="4779020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0910962" y="4298007"/>
            <a:ext cx="46571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TOP-4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5068550" y="4298007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6116300" y="4298007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0910962" y="5421957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0910962" y="4940945"/>
            <a:ext cx="46571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 2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5068550" y="4940945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1,50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6116300" y="4940945"/>
            <a:ext cx="11239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1,37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910962" y="5774382"/>
            <a:ext cx="69622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SVM SELEZIONATE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910962" y="6131570"/>
            <a:ext cx="696221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 0,919 / 0,923 · AUC 0,965 / 0,958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0910962" y="6860232"/>
            <a:ext cx="651916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 beneficio deriva dai candidati aggiuntivi, non dal classificatore, nelle condizioni studiate.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17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566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18717" y="890588"/>
            <a:ext cx="63698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· SURFACE CODE E DECODER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6554450" cy="759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crosstalk il decoder ibrido riduce p</a:t>
            </a:r>
            <a:r>
              <a:rPr lang="en-US" sz="3625" kern="0" spc="-43" baseline="-400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</a:t>
            </a: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16,8% a distanza 3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2549798"/>
            <a:ext cx="9177412" cy="529530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787923"/>
            <a:ext cx="8701162" cy="48190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7978453"/>
            <a:ext cx="100951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 code, d = 3, p = 0,003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10962" y="2549798"/>
            <a:ext cx="6962217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r>
              <a:rPr lang="en-US" sz="1500" baseline="-400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 </a:t>
            </a: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crosstalk 0,01, MWPM → ibrido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10962" y="2928863"/>
            <a:ext cx="69622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0,05829 → </a:t>
            </a:r>
            <a:r>
              <a:rPr lang="en-US" sz="45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0,04851</a:t>
            </a:r>
            <a:endParaRPr lang="en-US" sz="4500" dirty="0"/>
          </a:p>
        </p:txBody>
      </p:sp>
      <p:sp>
        <p:nvSpPr>
          <p:cNvPr id="10" name="Text 7"/>
          <p:cNvSpPr/>
          <p:nvPr/>
        </p:nvSpPr>
        <p:spPr>
          <a:xfrm>
            <a:off x="10910962" y="3633713"/>
            <a:ext cx="69622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significativo al test di McNemar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0910962" y="4224263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0910962" y="4386188"/>
            <a:ext cx="10287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 = 5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015862" y="4386188"/>
            <a:ext cx="574682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beneficio ridotto; BP+OSD supera l’ibrido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910962" y="5572944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0910962" y="4898603"/>
            <a:ext cx="6329288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910962" y="5060528"/>
            <a:ext cx="10287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 = 7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015862" y="5060528"/>
            <a:ext cx="574682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differenza non significativa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0910962" y="5887269"/>
            <a:ext cx="651916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Soglie stimate del surface code: circa 0,86% in base Z e 0,81% in base X. Con rumore nominale la rete autonoma non supera MWPM.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17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604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2512" y="890588"/>
            <a:ext cx="50913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· CONFRONTO QLDPC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6554450" cy="667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Gross code protegge 12 qubit logici con 144 qubit di dato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2610966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QUBIT DI DATO PER 12 QUBIT LOGICI · MODELLO CODE-CAPACITY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251522"/>
            <a:ext cx="3981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code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972050" y="3158654"/>
            <a:ext cx="871017" cy="49530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033567" y="3189610"/>
            <a:ext cx="67039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47750" y="4051622"/>
            <a:ext cx="3981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patch surface code, d = 11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972050" y="3958754"/>
            <a:ext cx="8783985" cy="495300"/>
          </a:xfrm>
          <a:prstGeom prst="rect">
            <a:avLst/>
          </a:prstGeom>
          <a:solidFill>
            <a:srgbClr val="B9B3A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946535" y="3989710"/>
            <a:ext cx="97199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47750" y="4851722"/>
            <a:ext cx="3981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patch surface code, d = 13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972050" y="4758854"/>
            <a:ext cx="10427940" cy="495300"/>
          </a:xfrm>
          <a:prstGeom prst="rect">
            <a:avLst/>
          </a:prstGeom>
          <a:solidFill>
            <a:srgbClr val="B9B3A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5590490" y="4789810"/>
            <a:ext cx="106553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2.028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047750" y="5863754"/>
            <a:ext cx="50418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47750" y="6082829"/>
            <a:ext cx="55460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Fallimento di blocco a p = 1%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6440016"/>
            <a:ext cx="554603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 × 10⁻⁶ contro 1,6 × 10⁻⁶ (d = 13)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6623000" y="5863754"/>
            <a:ext cx="50419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23000" y="6082829"/>
            <a:ext cx="55461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Aggiornamento seriale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3000" y="6440016"/>
            <a:ext cx="519318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corregge tutti gli errori fino a 5 qubit, su circa 5 × 10⁸ configurazioni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198325" y="5863754"/>
            <a:ext cx="50418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2198325" y="6082829"/>
            <a:ext cx="55460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Rispetto al parallelo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98325" y="6440016"/>
            <a:ext cx="51931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errore logico circa 100× inferiore a p = 1%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499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12019" y="890588"/>
            <a:ext cx="27532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· AQFT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N = 15 l’AQFT aumenta il successo per shot di 14,87 punti percentuali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088332"/>
            <a:ext cx="8908033" cy="5016401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3326457"/>
            <a:ext cx="8431783" cy="45401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8238083"/>
            <a:ext cx="97988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Successo sui dati di verifica, N = 15, calibrazione FakeSherbrooke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41583" y="3088332"/>
            <a:ext cx="725853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47,92% → </a:t>
            </a:r>
            <a:r>
              <a:rPr lang="en-US" sz="450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62,79%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10641583" y="3774132"/>
            <a:ext cx="7258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D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+31% relativo · IC Newcombe 95% [12,73; 16,99]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641583" y="4345632"/>
            <a:ext cx="659866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641583" y="4507557"/>
            <a:ext cx="454314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Porte ECR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4771712" y="4507557"/>
            <a:ext cx="27153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362 → 279 (−22,9%)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0641583" y="5593407"/>
            <a:ext cx="659866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0641583" y="4969520"/>
            <a:ext cx="6598667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0641583" y="5131445"/>
            <a:ext cx="40538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Profondità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4326865" y="5131445"/>
            <a:ext cx="32047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1.351 → 1.141 (−15,5%)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641583" y="5926782"/>
            <a:ext cx="72585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2240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= 21 · ESPLORATIVO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641583" y="6283970"/>
            <a:ext cx="679662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ECR −53,3%, ma successo ideale −6,54 pp; nei confronti rumorosi gli intervalli comprendono lo zero.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607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85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2809" y="890588"/>
            <a:ext cx="48802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RISULTATI II · ANALISI E LIMITI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16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benefici dipendono dal livello d’intervento e restano entro un perimetro simulativo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616970"/>
            <a:ext cx="7639050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202632"/>
            <a:ext cx="786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53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INTERPRETAZIONE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4839891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47750" y="3864620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Buone metriche del classificatore non implicano un minor costo di fattorizzazione.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0" y="6053286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47750" y="5078016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successo vicino al riferimento uniforme non dimostra informazione quantistica preservata.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50" y="7266682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47750" y="6291411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decodifica appresa aiuta quando le sindromi contengono correlazioni non modellate, come il crosstalk.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8480078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47750" y="7504807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N = 15, r = 4 dà fasi esatte su due bit; per N = 21, r = 6 no: l’AQFT va scelta per istanza e rumore.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601200" y="3616970"/>
            <a:ext cx="7639050" cy="1905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01200" y="3202632"/>
            <a:ext cx="786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2240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0" y="4839891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01200" y="3864620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Post-processing su N = 15 con rumore fenomenologico, non calibrato su un dispositivo.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01200" y="6053286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601200" y="5078016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QEC su memorie separate; Gross code nel solo modello code-capacity.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601200" y="6893347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01200" y="6291411"/>
            <a:ext cx="786822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AQFT su poche istanze con una calibrazione offline.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01200" y="8106742"/>
            <a:ext cx="76390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601200" y="7131472"/>
            <a:ext cx="786822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Nessuna esecuzione fault-tolerant di Shor né stima di risorse alla scala crittografica.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CFC9BC">
                  <a:alpha val="100000"/>
                </a:srgbClr>
              </a:gs>
              <a:gs pos="100000">
                <a:srgbClr val="CFC9B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A853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D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17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3426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98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04652" y="890588"/>
            <a:ext cx="66868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CONCLUSIONI E CONTRIBUTO PERSONALE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71600"/>
            <a:ext cx="15500985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47"/>
              </a:lnSpc>
              <a:buNone/>
            </a:pPr>
            <a:r>
              <a:rPr lang="en-US" sz="4350" kern="0" spc="-43" dirty="0">
                <a:solidFill>
                  <a:srgbClr val="EEE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Ottimizzazione del circuito e QEC sono complementari: la prima contiene le risorse, la seconda protegge l’esecuzione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2407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47750" y="35264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COSA ABBIAMO DIMOSTRATO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978920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Nell’ablazione, il beneficio viene dai candidati aggiuntivi, non dal classificatore.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4916091"/>
            <a:ext cx="5140833" cy="82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L’ibrido riduce p</a:t>
            </a:r>
            <a:r>
              <a:rPr lang="en-US" sz="1750" baseline="-400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 </a:t>
            </a: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 16,8% con crosstalk a d = 3.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" y="5896719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L’AQFT dà +14,87 pp per N = 15; per N = 21 il beneficio non è dimostrato.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648450" y="32407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48450" y="35264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CONTRIBUTO PERSONALE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8450" y="3978920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Implementazione e validazione dei circuiti per N = 15, 21, 35.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48450" y="4916091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Progetto delle campagne con riferimenti espliciti e confronti appaiati.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48450" y="5853261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riproducibile: versioni, parametri, semi e identificativi circuitali registrati.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249150" y="3240732"/>
            <a:ext cx="4991100" cy="190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249150" y="3526482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D98B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SVILUPPI FUTURI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49150" y="3978920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Ridurre il costo circuitale: aritmetica modulare e sintesi delle operazioni [3].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49150" y="4916091"/>
            <a:ext cx="5140833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Verificare con stima di fase e successo di fattorizzazione, non con il solo numero di porte.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249150" y="6226597"/>
            <a:ext cx="514083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Integrare un’esecuzione fault-tolerant su qubit logici.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9479756"/>
            <a:ext cx="11605915" cy="133350"/>
          </a:xfrm>
          <a:prstGeom prst="rect">
            <a:avLst/>
          </a:prstGeom>
          <a:gradFill rotWithShape="1">
            <a:gsLst>
              <a:gs pos="0">
                <a:srgbClr val="3A3E47">
                  <a:alpha val="100000"/>
                </a:srgbClr>
              </a:gs>
              <a:gs pos="100000">
                <a:srgbClr val="3A3E47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47750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949229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850707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752186" y="9403556"/>
            <a:ext cx="28575" cy="209550"/>
          </a:xfrm>
          <a:prstGeom prst="rect">
            <a:avLst/>
          </a:prstGeom>
          <a:solidFill>
            <a:srgbClr val="D98B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996565" y="9415463"/>
            <a:ext cx="35218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6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 Dragotta · Shor sotto rumore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541130" y="9415463"/>
            <a:ext cx="775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EEB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17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2044</Words>
  <Application>Microsoft Office PowerPoint</Application>
  <PresentationFormat>Custom</PresentationFormat>
  <Paragraphs>333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Georgia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claudio dragotta</cp:lastModifiedBy>
  <cp:revision>3</cp:revision>
  <dcterms:created xsi:type="dcterms:W3CDTF">2026-10-04T10:41:10Z</dcterms:created>
  <dcterms:modified xsi:type="dcterms:W3CDTF">2026-10-04T13:57:02Z</dcterms:modified>
</cp:coreProperties>
</file>