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86" r:id="rId3"/>
    <p:sldId id="257" r:id="rId4"/>
    <p:sldId id="258" r:id="rId5"/>
    <p:sldId id="279" r:id="rId6"/>
    <p:sldId id="259" r:id="rId7"/>
    <p:sldId id="287" r:id="rId8"/>
    <p:sldId id="288" r:id="rId9"/>
    <p:sldId id="261" r:id="rId10"/>
    <p:sldId id="263" r:id="rId11"/>
    <p:sldId id="265" r:id="rId12"/>
    <p:sldId id="266" r:id="rId13"/>
    <p:sldId id="267" r:id="rId14"/>
    <p:sldId id="268" r:id="rId15"/>
    <p:sldId id="269" r:id="rId16"/>
    <p:sldId id="270" r:id="rId17"/>
    <p:sldId id="271" r:id="rId18"/>
    <p:sldId id="272" r:id="rId19"/>
    <p:sldId id="275" r:id="rId20"/>
    <p:sldId id="276" r:id="rId21"/>
    <p:sldId id="277" r:id="rId2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Buongiorno. Ringrazio il presidente e tutta la commissione per la parola. Sono Claudio Dragotta e vi presento la mia tesi, che ho svolto con il professor Soda e l'ingegner Caprio.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Parto da un dato oggettivo. I computer quantistici lavorano sugli stati quantistici della materia, che sono fragilissimi: basta una minima perturbazione per alterarli. Per questo un computer quantistico non è mai preciso al cento per cento, e anche le macchine future dovranno convivere con gli errori.</a:t>
            </a:r>
          </a:p>
          <a:p>
            <a:r>
              <a:rPr lang="it-IT" sz="1400">
                <a:latin typeface="Arial" panose="020B0604020202020204" pitchFamily="34" charset="0"/>
              </a:rPr>
              <a:t>Lo scopo della mia tesi è stato analizzare l'algoritmo di Shor proprio in queste condizioni, e capire quali strategie gli permettono di dare comunque buoni risultati: il machine learning sui risultati, la correzione degli errori e la riduzione delle porte. Tutte e tre possono aiutare, ma ognuna solo in condizioni precise.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percorso è questo: il contesto e gli obiettivi, i metodi, i risultati e infine le conclusioni.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Partiamo dal perché Shor è così importante. La sicurezza di RSA, che protegge buona parte delle nostre comunicazioni, si basa su un fatto: fattorizzare un numero molto grande è difficilissimo per un computer classico. Shor ha dimostrato che un computer quantistico ideale lo farebbe in tempo polinomiale, cioè enormemente più in fretta.</a:t>
            </a:r>
          </a:p>
          <a:p>
            <a:r>
              <a:rPr lang="it-IT" sz="1400">
                <a:latin typeface="Arial" panose="020B0604020202020204" pitchFamily="34" charset="0"/>
              </a:rPr>
              <a:t>Il punto è quella parola, ideale. Sulle macchine reali il rumore altera proprio l'informazione da cui Shor ricava la soluzione, quindi più rumore c'è, meno probabilità abbiamo di trovare i fattori.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Vediamo come funziona, in modo rigoroso. Abbiamo N, il numero da fattorizzare, e un parametro a, la base, che non ha divisori in comune con N. La funzione a alla x modulo N è periodica, e il compito del computer quantistico è trovarne il periodo r.</a:t>
            </a:r>
          </a:p>
          <a:p>
            <a:r>
              <a:rPr lang="it-IT" sz="1400">
                <a:latin typeface="Arial" panose="020B0604020202020204" pitchFamily="34" charset="0"/>
              </a:rPr>
              <a:t>Nel mio esempio N è 15 e a è 7: nel grafico i valori si ripetono ogni quattro passi, quindi r è 4. Da r un calcolo classico ricava un fattore, 3, e quindi anche l'altro, 5.</a:t>
            </a:r>
          </a:p>
          <a:p>
            <a:r>
              <a:rPr lang="it-IT" sz="1400">
                <a:latin typeface="Arial" panose="020B0604020202020204" pitchFamily="34" charset="0"/>
              </a:rPr>
              <a:t>Il circuito usa 8 qubit di controllo e 4 di lavoro: 12 qubit in tutto.</a:t>
            </a:r>
          </a:p>
          <a:p>
            <a:endParaRPr lang="it-IT" sz="1400">
              <a:latin typeface="Arial" panose="020B0604020202020204" pitchFamily="34" charset="0"/>
            </a:endParaRPr>
          </a:p>
          <a:p>
            <a:r>
              <a:rPr lang="it-IT" sz="1400">
                <a:latin typeface="Arial" panose="020B0604020202020204" pitchFamily="34" charset="0"/>
              </a:rPr>
              <a:t>▶ CAMBIA SLIDE</a:t>
            </a:r>
            <a:endParaRPr lang="en-US" sz="1400"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difendersi dal rumore, la letteratura propone tre strade: ripulire i risultati dopo la misura, anche con il machine learning; proteggere i qubit con la correzione degli errori; oppure semplificare il circuito. Il limite comune è che raramente queste tecniche vengono confrontate con un riferimento adeguato, e quindi non si capisce quanto aiutino davvero.</a:t>
            </a:r>
          </a:p>
          <a:p>
            <a:r>
              <a:rPr lang="it-IT" sz="1400">
                <a:latin typeface="Arial" panose="020B0604020202020204" pitchFamily="34" charset="0"/>
              </a:rPr>
              <a:t>Da qui i miei tre obiettivi, ognuno con il suo riferimento: capire se il machine learning migliora davvero la lettura dei risultati; confrontare diversi codici di correzione degli errori; verificare se togliere porte al circuito migliora il risultato finale.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Questo schema riassume dove ho lavorato. In giallo c'è l'algoritmo di Shor, con i suoi passi: scelta di a, esponenziazione modulare, QFT inversa e misura. In viola ci sono i miei interventi.</a:t>
            </a:r>
          </a:p>
          <a:p>
            <a:r>
              <a:rPr lang="it-IT" sz="1400">
                <a:latin typeface="Arial" panose="020B0604020202020204" pitchFamily="34" charset="0"/>
              </a:rPr>
              <a:t>La QFT approssimata agisce sulla QFT inversa, per ridurre le porte. Il post-processing agisce dopo la misura, ed è lì che ho usato il machine learning. La correzione degli errori, invece, serve a proteggere i qubit durante il calcolo vero e proprio, cioè nell'esponenziazione e nella QFT. Preciso che questa parte l'ho studiata in esperimenti separati, non dentro il circuito di Shor.</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Prima di vedere i risultati, bisogna sapere come leggerli. Nel caso ideale Shor trova i fattori nel 75% dei casi.</a:t>
            </a:r>
          </a:p>
          <a:p>
            <a:r>
              <a:rPr lang="it-IT" sz="1400">
                <a:latin typeface="Arial" panose="020B0604020202020204" pitchFamily="34" charset="0"/>
              </a:rPr>
              <a:t>Ma c'è un secondo valore da tenere presente, il 24,61%: è la percentuale che otterremmo anche con risultati completamente casuali, perché la verifica finale accetta 63 esiti su 256, circa un quarto. Quindi un risultato vicino a questo valore non significa che Shor stia funzionando: tutto va letto tra questi due estremi.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Ho lavorato su due casi. Il principale è N uguale a 15, con 12 qubit, su cui ho fatto tutte le prove con rumore.</a:t>
            </a:r>
          </a:p>
          <a:p>
            <a:r>
              <a:rPr lang="it-IT" sz="1400">
                <a:latin typeface="Arial" panose="020B0604020202020204" pitchFamily="34" charset="0"/>
              </a:rPr>
              <a:t>Il secondo è N uguale a 21, che richiede 20 qubit: 8 di controllo, 5 di lavoro, perché 21 si scrive con 5 bit, e 7 ausiliari per i calcoli modulari. Su questo ho verificato il circuito e fatto alcune prove sulla QFT approssimata. Tutto è simulato al calcolatore, con strumenti open source.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metodo agisce dopo la misura. Ogni esecuzione di Shor dà un istogramma di risultati, e bisogna decidere quali verificare.</a:t>
            </a:r>
          </a:p>
          <a:p>
            <a:r>
              <a:rPr lang="it-IT" sz="1400">
                <a:latin typeface="Arial" panose="020B0604020202020204" pitchFamily="34" charset="0"/>
              </a:rPr>
              <a:t>TOP-1 verifica solo il più frequente. TOP-4 verifica, uno alla volta, i quattro più frequenti, finché trova i fattori. Il Metodo 2 applica TOP-4 solo se un classificatore di machine learning lo approva. La verifica finale è sempre la stessa, un calcolo classico.</a:t>
            </a:r>
          </a:p>
          <a:p>
            <a:r>
              <a:rPr lang="it-IT" sz="1400">
                <a:latin typeface="Arial" panose="020B0604020202020204" pitchFamily="34" charset="0"/>
              </a:rPr>
              <a:t>In letteratura il machine learning è stato proposto proprio per filtrare questi risultati; il rischio è dargli un merito che viene invece dal provare più candidati. Per questo il confronto decisivo è tra il Metodo 2 e TOP-4.</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metodo è la correzione quantistica degli errori: più qubit fisici proteggono un solo qubit logico, i controlli segnalano dove c'è un errore e un decoder decide come correggerlo.</a:t>
            </a:r>
          </a:p>
          <a:p>
            <a:r>
              <a:rPr lang="it-IT" sz="1400">
                <a:latin typeface="Arial" panose="020B0604020202020204" pitchFamily="34" charset="0"/>
              </a:rPr>
              <a:t>Ho usato due codici. Il surface code è il riferimento, robusto ma costoso: per 12 qubit logici servono circa 2000 qubit di dato. Su questo ho confrontato i decoder: quello classico, MWPM, una rete neurale, un ibrido e BP+OSD.</a:t>
            </a:r>
          </a:p>
          <a:p>
            <a:r>
              <a:rPr lang="it-IT" sz="1400">
                <a:latin typeface="Arial" panose="020B0604020202020204" pitchFamily="34" charset="0"/>
              </a:rPr>
              <a:t>Il Gross code, proposto da IBM, promette una protezione simile con circa 14 volte meno qubit. Confrontarli dice quanto si può risparmiare. Sul Gross code ho simulato gli errori come sequenze di 144 bit, non lo stato di 144 qubit.</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metodo nasce da un'osservazione semplice: gli errori vengono dalle porte, quindi meno porte significa meno errori.</a:t>
            </a:r>
          </a:p>
          <a:p>
            <a:r>
              <a:rPr lang="it-IT" sz="1400">
                <a:latin typeface="Arial" panose="020B0604020202020204" pitchFamily="34" charset="0"/>
              </a:rP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rPr lang="it-IT" sz="1400">
                <a:latin typeface="Arial" panose="020B0604020202020204" pitchFamily="34" charset="0"/>
              </a:rPr>
              <a:t>L'ho provato su N uguale a 15, su N uguale a 21 e su test di stima di fase, con il rumore di un computer IBM reale.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Passiamo ai risultati, partendo dal problema di base: quanto il rumore degrada Shor. Per simularlo, dopo ogni porta inserisco con una certa probabilità un operatore di Pauli casuale, cioè un'inversione del bit, della fase o di entrambi.</a:t>
            </a:r>
          </a:p>
          <a:p>
            <a:r>
              <a:rPr lang="it-IT" sz="1400">
                <a:latin typeface="Arial" panose="020B0604020202020204" pitchFamily="34" charset="0"/>
              </a:rPr>
              <a:t>Senza rumore il successo è del 74,89%, in linea con il 75% atteso. Ma basta l'1% di errore per porta per scendere al 56%, e con il 5% siamo sotto il 30%. Oltre il 10% la curva si appiattisce sul livello casuale: lì Shor, di fatto, non funziona più.</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risultato riguarda il machine learning. Nel grafico, barre più basse significano meno tentativi per trovare i fattori. Guardate il riquadro arancione: TOP-4 trova i fattori sempre al primo tentativo, in tutte le 30 repliche.</a:t>
            </a:r>
          </a:p>
          <a:p>
            <a:r>
              <a:rPr lang="it-IT" sz="1400">
                <a:latin typeface="Arial" panose="020B0604020202020204" pitchFamily="34" charset="0"/>
              </a:rPr>
              <a:t>Il classificatore è molto accurato, eppure il Metodo 2 non abbassa le barre, anzi fa peggio di TOP-4, perché a volte scarta proprio i risultati buoni.</a:t>
            </a:r>
          </a:p>
          <a:p>
            <a:r>
              <a:rPr lang="it-IT" sz="1400">
                <a:latin typeface="Arial" panose="020B0604020202020204" pitchFamily="34" charset="0"/>
              </a:rPr>
              <a:t>Quindi il vantaggio viene dal provare più candidati, non dal machine learning.</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risultato riguarda la correzione degli errori. Ogni colore è un codice più grande. Nella zona verde, sotto soglia, le curve dei codici grandi stanno più in basso: fanno meno errori. Nella zona rossa l'ordine si inverte e aggiungere qubit peggiora le cose.</a:t>
            </a:r>
          </a:p>
          <a:p>
            <a:r>
              <a:rPr lang="it-IT" sz="1400">
                <a:latin typeface="Arial" panose="020B0604020202020204" pitchFamily="34" charset="0"/>
              </a:rPr>
              <a:t>La soglia è il punto in cui le curve si incrociano, nei cerchi arancioni: l'ho stimata tra lo 0,8 e lo 0,9% di errore. Anche i codici più semplici, a ripetizione e di Steane, si comportano come prevede la teoria.</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Qui il machine learning trova invece un ruolo. Nel grafico, sopra la linea dell'1 il decoder sbaglia meno di quello classico. Da sola la rete non lo batte; ma quando c'è crosstalk, cioè errori correlati tra qubit vicini, il decoder ibrido, la linea arancione continua, resta sopra: nel punto cerchiato gli errori scendono del 16,8%.</a:t>
            </a:r>
          </a:p>
          <a:p>
            <a:r>
              <a:rPr lang="it-IT" sz="1400">
                <a:latin typeface="Arial" panose="020B0604020202020204" pitchFamily="34" charset="0"/>
              </a:rPr>
              <a:t>Sui codici più grandi, le linee tratteggiate, il vantaggio quasi sparisce. Quindi il machine learning aiuta come correttore del decoder classico, non come sostituto.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E il confronto tra i due codici. Per proteggere 12 qubit logici il Gross code, la barra arancione, usa 144 qubit, circa 14 volte meno del surface code.</a:t>
            </a:r>
          </a:p>
          <a:p>
            <a:r>
              <a:rPr lang="it-IT" sz="1400">
                <a:latin typeface="Arial" panose="020B0604020202020204" pitchFamily="34" charset="0"/>
              </a:rPr>
              <a:t>Nel modello semplificato che ho usato, con un errore fisico dallo 0,75% in su, protegge anche meglio. E anche qui il decoder è decisivo: scegliendo la versione giusta, gli errori scendono di circa cento volte.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risultato è sulla QFT approssimata. Nel grafico, a destra c'è la QFT piena, a sinistra si tolgono sempre più rotazioni. Il grado scelto, quello cerchiato, sta ben sopra la QFT piena: il successo passa dal 48 al 63%, con quasi il 23% di porte in meno.</a:t>
            </a:r>
          </a:p>
          <a:p>
            <a:r>
              <a:rPr lang="it-IT" sz="1400">
                <a:latin typeface="Arial" panose="020B0604020202020204" pitchFamily="34" charset="0"/>
              </a:rPr>
              <a:t>Va detto però che 15 è un caso favorevole. Su N uguale a 21 le porte si dimezzano, ma il vantaggio non è dimostrato: l'approssimazione va scelta caso per caso.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concludere: una tecnica vale quanto l'informazione che riesce a sfruttare, e va sempre confrontata con un riferimento adeguato.</a:t>
            </a:r>
          </a:p>
          <a:p>
            <a:r>
              <a:rPr lang="it-IT" sz="1400">
                <a:latin typeface="Arial" panose="020B0604020202020204" pitchFamily="34" charset="0"/>
              </a:rPr>
              <a:t>Il post-processing aiuta grazie ai candidati in più, non grazie al machine learning; la correzione degli errori funziona solo sotto soglia; la QFT approssimata aiuta, ma non sempre.</a:t>
            </a:r>
          </a:p>
          <a:p>
            <a:r>
              <a:rPr lang="it-IT" sz="1400">
                <a:latin typeface="Arial" panose="020B0604020202020204" pitchFamily="34" charset="0"/>
              </a:rPr>
              <a:t>Il mio contributo è stato costruire e verificare i circuiti per N uguale a 15 e 21, progettare confronti corretti e rendere tutto riproducibile.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limiti sono chiari: ho lavorato in simulazione, su pochi casi, e senza un'esecuzione completamente protetta dagli errori. Il passo successivo è ridurre ancora il costo dei circuiti e poi unire questa strada alla correzione degli errori.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Vi ringrazio per l'attenzione. Sono a disposizione per le vostre domande.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La tesi in sintesi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Sommario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Quanto il rumore degrada Shor, e che cosa serve davvero per contenerlo</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Il rumore distrugge l'informazione sul periodo r.</a:t>
            </a:r>
          </a:p>
          <a:p>
            <a:pPr>
              <a:spcAft>
                <a:spcPts val="800"/>
              </a:spcAft>
            </a:pPr>
            <a:r>
              <a:rPr lang="it-IT" sz="1725">
                <a:solidFill>
                  <a:srgbClr val="203344"/>
                </a:solidFill>
                <a:latin typeface="Arial" panose="020B0604020202020204" pitchFamily="34" charset="0"/>
              </a:rPr>
              <a:t>Con p_g = 5% il successo per misura scende dal 75% al 29,5%.</a:t>
            </a:r>
            <a:endParaRPr lang="en-GB" sz="172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Approccio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Tre strategie su livelli diversi, ognuna contro la propria baseline:</a:t>
            </a:r>
          </a:p>
          <a:p>
            <a:pPr>
              <a:spcAft>
                <a:spcPts val="800"/>
              </a:spcAft>
            </a:pPr>
            <a:r>
              <a:rPr lang="it-IT" sz="1725">
                <a:solidFill>
                  <a:srgbClr val="203344"/>
                </a:solidFill>
                <a:latin typeface="Arial" panose="020B0604020202020204" pitchFamily="34" charset="0"/>
              </a:rPr>
              <a:t>post-processing con ablazione ML, QEC con surface code e Gross code, QFT approssimata.</a:t>
            </a:r>
            <a:endParaRPr lang="en-GB" sz="1725">
              <a:solidFill>
                <a:srgbClr val="203344"/>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Evidenza</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TOP-4: fattori alla prima iterazione; il ML non aiuta.</a:t>
            </a:r>
          </a:p>
          <a:p>
            <a:pPr>
              <a:spcAft>
                <a:spcPts val="800"/>
              </a:spcAft>
            </a:pPr>
            <a:r>
              <a:rPr lang="it-IT" sz="1725">
                <a:solidFill>
                  <a:srgbClr val="203344"/>
                </a:solidFill>
                <a:latin typeface="Arial" panose="020B0604020202020204" pitchFamily="34" charset="0"/>
              </a:rPr>
              <a:t>Decoder ibrido: −16,8% di p_L con crosstalk.</a:t>
            </a:r>
          </a:p>
          <a:p>
            <a:pPr>
              <a:spcAft>
                <a:spcPts val="800"/>
              </a:spcAft>
            </a:pPr>
            <a:r>
              <a:rPr lang="it-IT" sz="1725">
                <a:solidFill>
                  <a:srgbClr val="203344"/>
                </a:solidFill>
                <a:latin typeface="Arial" panose="020B0604020202020204" pitchFamily="34" charset="0"/>
              </a:rPr>
              <a:t>AQFT: +14,87 punti su N = 15.</a:t>
            </a:r>
            <a:endParaRPr lang="en-GB" sz="1725">
              <a:solidFill>
                <a:srgbClr val="203344"/>
              </a:solidFill>
              <a:latin typeface="Arial" panose="020B0604020202020204" pitchFamily="34" charset="0"/>
            </a:endParaRP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 benefici sono reali, ma dipendono dal livello d'intervento, dal rumore e dall'istanza.</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58B711-8751-4263-88A9-A6E7B3BF2316}"/>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sz="2700" b="0">
                <a:solidFill>
                  <a:srgbClr val="003366"/>
                </a:solidFill>
                <a:latin typeface="Arial"/>
                <a:ea typeface="Arial"/>
                <a:cs typeface="Arial"/>
              </a:rPr>
              <a:t>Indice</a:t>
            </a:r>
          </a:p>
        </p:txBody>
      </p:sp>
      <p:pic>
        <p:nvPicPr>
          <p:cNvPr id="14" name="Picture 1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9921B19-9BA3-4172-A77A-1D31BC4096FA}"/>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720CB09-CFAB-4AA0-A1E8-A5650E1C7F0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Indice | 3</a:t>
            </a:r>
            <a:endParaRPr sz="1200" b="0">
              <a:solidFill>
                <a:srgbClr val="203344"/>
              </a:solidFill>
              <a:latin typeface="Arial"/>
              <a:ea typeface="Arial"/>
              <a:cs typeface="Arial"/>
            </a:endParaRPr>
          </a:p>
        </p:txBody>
      </p:sp>
      <p:sp>
        <p:nvSpPr>
          <p:cNvPr id="5" name="Arrow: Chevron 4">
            <a:extLst>
              <a:ext uri="{FF2B5EF4-FFF2-40B4-BE49-F238E27FC236}">
                <a16:creationId xmlns:a16="http://schemas.microsoft.com/office/drawing/2014/main" id="{EA7C1E98-4321-4D2F-9EBB-CF7F4B136913}"/>
              </a:ext>
            </a:extLst>
          </p:cNvPr>
          <p:cNvSpPr>
            <a:spLocks noGrp="1"/>
          </p:cNvSpPr>
          <p:nvPr/>
        </p:nvSpPr>
        <p:spPr>
          <a:xfrm>
            <a:off x="1476375" y="162877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Introduzione e obiettivi</a:t>
            </a:r>
          </a:p>
        </p:txBody>
      </p:sp>
      <p:sp>
        <p:nvSpPr>
          <p:cNvPr id="6" name="Rectangle 5">
            <a:extLst>
              <a:ext uri="{FF2B5EF4-FFF2-40B4-BE49-F238E27FC236}">
                <a16:creationId xmlns:a16="http://schemas.microsoft.com/office/drawing/2014/main" id="{62663AE9-415C-4725-A831-2DA910FBCA2C}"/>
              </a:ext>
            </a:extLst>
          </p:cNvPr>
          <p:cNvSpPr>
            <a:spLocks noGrp="1"/>
          </p:cNvSpPr>
          <p:nvPr/>
        </p:nvSpPr>
        <p:spPr>
          <a:xfrm>
            <a:off x="6715125" y="171450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4</a:t>
            </a:r>
            <a:endParaRPr sz="2100" b="1">
              <a:solidFill>
                <a:srgbClr val="FFFFFF"/>
              </a:solidFill>
              <a:latin typeface="Arial"/>
              <a:ea typeface="Arial"/>
              <a:cs typeface="Arial"/>
            </a:endParaRPr>
          </a:p>
        </p:txBody>
      </p:sp>
      <p:sp>
        <p:nvSpPr>
          <p:cNvPr id="7" name="Arrow: Chevron 6">
            <a:extLst>
              <a:ext uri="{FF2B5EF4-FFF2-40B4-BE49-F238E27FC236}">
                <a16:creationId xmlns:a16="http://schemas.microsoft.com/office/drawing/2014/main" id="{AD67FF1B-DABB-4B54-8C4E-6D77B6C199AA}"/>
              </a:ext>
            </a:extLst>
          </p:cNvPr>
          <p:cNvSpPr>
            <a:spLocks noGrp="1"/>
          </p:cNvSpPr>
          <p:nvPr/>
        </p:nvSpPr>
        <p:spPr>
          <a:xfrm>
            <a:off x="2743200" y="270510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Materiali e metodi</a:t>
            </a:r>
          </a:p>
        </p:txBody>
      </p:sp>
      <p:sp>
        <p:nvSpPr>
          <p:cNvPr id="8" name="Rectangle 7">
            <a:extLst>
              <a:ext uri="{FF2B5EF4-FFF2-40B4-BE49-F238E27FC236}">
                <a16:creationId xmlns:a16="http://schemas.microsoft.com/office/drawing/2014/main" id="{35F4CCA4-7F51-43D4-BC4D-8759CB634639}"/>
              </a:ext>
            </a:extLst>
          </p:cNvPr>
          <p:cNvSpPr>
            <a:spLocks noGrp="1"/>
          </p:cNvSpPr>
          <p:nvPr/>
        </p:nvSpPr>
        <p:spPr>
          <a:xfrm>
            <a:off x="7981950" y="279082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7</a:t>
            </a:r>
            <a:endParaRPr sz="2100" b="1">
              <a:solidFill>
                <a:srgbClr val="FFFFFF"/>
              </a:solidFill>
              <a:latin typeface="Arial"/>
              <a:ea typeface="Arial"/>
              <a:cs typeface="Arial"/>
            </a:endParaRPr>
          </a:p>
        </p:txBody>
      </p:sp>
      <p:sp>
        <p:nvSpPr>
          <p:cNvPr id="9" name="Arrow: Chevron 8">
            <a:extLst>
              <a:ext uri="{FF2B5EF4-FFF2-40B4-BE49-F238E27FC236}">
                <a16:creationId xmlns:a16="http://schemas.microsoft.com/office/drawing/2014/main" id="{63BDF1A8-64B9-4ABC-BA64-551AF993D375}"/>
              </a:ext>
            </a:extLst>
          </p:cNvPr>
          <p:cNvSpPr>
            <a:spLocks noGrp="1"/>
          </p:cNvSpPr>
          <p:nvPr/>
        </p:nvSpPr>
        <p:spPr>
          <a:xfrm>
            <a:off x="4010025" y="378142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Risultati</a:t>
            </a:r>
          </a:p>
        </p:txBody>
      </p:sp>
      <p:sp>
        <p:nvSpPr>
          <p:cNvPr id="10" name="Rectangle 9">
            <a:extLst>
              <a:ext uri="{FF2B5EF4-FFF2-40B4-BE49-F238E27FC236}">
                <a16:creationId xmlns:a16="http://schemas.microsoft.com/office/drawing/2014/main" id="{D320FC43-B6D1-49A6-9742-A7B000A86105}"/>
              </a:ext>
            </a:extLst>
          </p:cNvPr>
          <p:cNvSpPr>
            <a:spLocks noGrp="1"/>
          </p:cNvSpPr>
          <p:nvPr/>
        </p:nvSpPr>
        <p:spPr>
          <a:xfrm>
            <a:off x="9248775" y="386715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13</a:t>
            </a:r>
            <a:endParaRPr sz="2100" b="1">
              <a:solidFill>
                <a:srgbClr val="FFFFFF"/>
              </a:solidFill>
              <a:latin typeface="Arial"/>
              <a:ea typeface="Arial"/>
              <a:cs typeface="Arial"/>
            </a:endParaRPr>
          </a:p>
        </p:txBody>
      </p:sp>
      <p:sp>
        <p:nvSpPr>
          <p:cNvPr id="11" name="Arrow: Chevron 10">
            <a:extLst>
              <a:ext uri="{FF2B5EF4-FFF2-40B4-BE49-F238E27FC236}">
                <a16:creationId xmlns:a16="http://schemas.microsoft.com/office/drawing/2014/main" id="{9923D6BC-D2B0-43C9-9E16-9B835415FC54}"/>
              </a:ext>
            </a:extLst>
          </p:cNvPr>
          <p:cNvSpPr>
            <a:spLocks noGrp="1"/>
          </p:cNvSpPr>
          <p:nvPr/>
        </p:nvSpPr>
        <p:spPr>
          <a:xfrm>
            <a:off x="5276850" y="485775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Discussione e conclusioni</a:t>
            </a:r>
          </a:p>
        </p:txBody>
      </p:sp>
      <p:sp>
        <p:nvSpPr>
          <p:cNvPr id="12" name="Rectangle 11">
            <a:extLst>
              <a:ext uri="{FF2B5EF4-FFF2-40B4-BE49-F238E27FC236}">
                <a16:creationId xmlns:a16="http://schemas.microsoft.com/office/drawing/2014/main" id="{8D3ACCEE-7D5E-49AE-B974-9EB44B64A034}"/>
              </a:ext>
            </a:extLst>
          </p:cNvPr>
          <p:cNvSpPr>
            <a:spLocks noGrp="1"/>
          </p:cNvSpPr>
          <p:nvPr/>
        </p:nvSpPr>
        <p:spPr>
          <a:xfrm>
            <a:off x="10515600" y="494347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19</a:t>
            </a:r>
            <a:endParaRPr sz="2100" b="1">
              <a:solidFill>
                <a:srgbClr val="FFFFFF"/>
              </a:solidFill>
              <a:latin typeface="Arial"/>
              <a:ea typeface="Arial"/>
              <a:cs typeface="Arial"/>
            </a:endParaRPr>
          </a:p>
        </p:txBody>
      </p:sp>
    </p:spTree>
    <p:extLst>
      <p:ext uri="{BB962C8B-B14F-4D97-AF65-F5344CB8AC3E}">
        <p14:creationId xmlns:p14="http://schemas.microsoft.com/office/powerpoint/2010/main" val="117745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937183"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2^m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a^x mod N. Con N = 15 e a = 7, 7^x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8375650" y="3357860"/>
            <a:ext cx="2349500" cy="2273300"/>
          </a:xfrm>
          <a:prstGeom prst="rect">
            <a:avLst/>
          </a:prstGeom>
        </p:spPr>
      </p:pic>
      <p:sp>
        <p:nvSpPr>
          <p:cNvPr id="28" name="Text 19"/>
          <p:cNvSpPr/>
          <p:nvPr/>
        </p:nvSpPr>
        <p:spPr>
          <a:xfrm>
            <a:off x="7518400" y="5707360"/>
            <a:ext cx="418592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5</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CBE55B9-0BF3-4ED3-94B7-89985EB4C9DF}"/>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tre livelli di intervento</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57CE2B40-AB4D-4979-A415-E01B0545C07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CE360A6F-4367-422B-AEF8-30EFFA8D3F0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50934A3F-BEB0-47B2-BE56-FBB3CB1E0DE9}"/>
              </a:ext>
            </a:extLst>
          </p:cNvPr>
          <p:cNvSpPr>
            <a:spLocks noGrp="1"/>
          </p:cNvSpPr>
          <p:nvPr/>
        </p:nvSpPr>
        <p:spPr>
          <a:xfrm>
            <a:off x="609600" y="1371600"/>
            <a:ext cx="10972800" cy="619125"/>
          </a:xfrm>
          <a:prstGeom prst="rect">
            <a:avLst/>
          </a:prstGeom>
          <a:noFill/>
          <a:ln w="0">
            <a:noFill/>
          </a:ln>
        </p:spPr>
        <p:txBody>
          <a:bodyPr>
            <a:noAutofit/>
          </a:bodyPr>
          <a:lstStyle/>
          <a:p>
            <a:pPr>
              <a:defRPr sz="2250" b="0">
                <a:solidFill>
                  <a:srgbClr val="203344"/>
                </a:solidFill>
                <a:latin typeface="Arial"/>
                <a:ea typeface="Arial"/>
                <a:cs typeface="Arial"/>
              </a:defRPr>
            </a:pPr>
            <a:r>
              <a:rPr lang="it-IT" sz="1950" b="0">
                <a:solidFill>
                  <a:srgbClr val="203344"/>
                </a:solidFill>
                <a:latin typeface="Arial"/>
                <a:ea typeface="Arial"/>
                <a:cs typeface="Arial"/>
              </a:rPr>
              <a:t>In letteratura le tecniche anti-rumore raramente sono confrontate con la baseline corretta: per questo ognuna ha il suo riferimento.</a:t>
            </a:r>
            <a:endParaRPr sz="195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48937A4B-E62D-43EB-9D19-E457997D6ABD}"/>
              </a:ext>
            </a:extLst>
          </p:cNvPr>
          <p:cNvSpPr>
            <a:spLocks noGrp="1"/>
          </p:cNvSpPr>
          <p:nvPr/>
        </p:nvSpPr>
        <p:spPr>
          <a:xfrm>
            <a:off x="1095375" y="22955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BC777D03-6AAE-481E-97F2-580D13ADB657}"/>
              </a:ext>
            </a:extLst>
          </p:cNvPr>
          <p:cNvSpPr>
            <a:spLocks noGrp="1"/>
          </p:cNvSpPr>
          <p:nvPr/>
        </p:nvSpPr>
        <p:spPr>
          <a:xfrm>
            <a:off x="2009775" y="22955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Post-processing e machine learning</a:t>
            </a:r>
          </a:p>
        </p:txBody>
      </p:sp>
      <p:sp>
        <p:nvSpPr>
          <p:cNvPr id="8" name="Rectangle 7">
            <a:extLst>
              <a:ext uri="{FF2B5EF4-FFF2-40B4-BE49-F238E27FC236}">
                <a16:creationId xmlns:a16="http://schemas.microsoft.com/office/drawing/2014/main" id="{6C4B7239-FB1A-4B97-A268-4FAA69DE0159}"/>
              </a:ext>
            </a:extLst>
          </p:cNvPr>
          <p:cNvSpPr>
            <a:spLocks noGrp="1"/>
          </p:cNvSpPr>
          <p:nvPr/>
        </p:nvSpPr>
        <p:spPr>
          <a:xfrm>
            <a:off x="2228850" y="28384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Sfruttare gli esiti misurati e isolare il contributo del classificatore</a:t>
            </a:r>
          </a:p>
        </p:txBody>
      </p:sp>
      <p:sp>
        <p:nvSpPr>
          <p:cNvPr id="9" name="Rectangle 8">
            <a:extLst>
              <a:ext uri="{FF2B5EF4-FFF2-40B4-BE49-F238E27FC236}">
                <a16:creationId xmlns:a16="http://schemas.microsoft.com/office/drawing/2014/main" id="{506C6132-88F9-48AB-8CBC-D7F2CEE1B9F3}"/>
              </a:ext>
            </a:extLst>
          </p:cNvPr>
          <p:cNvSpPr>
            <a:spLocks noGrp="1"/>
          </p:cNvSpPr>
          <p:nvPr/>
        </p:nvSpPr>
        <p:spPr>
          <a:xfrm>
            <a:off x="1095375" y="353377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EC68111B-EFD4-4929-B3C1-5C45623EF4CD}"/>
              </a:ext>
            </a:extLst>
          </p:cNvPr>
          <p:cNvSpPr>
            <a:spLocks noGrp="1"/>
          </p:cNvSpPr>
          <p:nvPr/>
        </p:nvSpPr>
        <p:spPr>
          <a:xfrm>
            <a:off x="2009775" y="353377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Correzione quantistica degli errori</a:t>
            </a:r>
          </a:p>
        </p:txBody>
      </p:sp>
      <p:sp>
        <p:nvSpPr>
          <p:cNvPr id="11" name="Rectangle 10">
            <a:extLst>
              <a:ext uri="{FF2B5EF4-FFF2-40B4-BE49-F238E27FC236}">
                <a16:creationId xmlns:a16="http://schemas.microsoft.com/office/drawing/2014/main" id="{D6A6BC79-BC15-4FB5-97CA-39F448DF41B1}"/>
              </a:ext>
            </a:extLst>
          </p:cNvPr>
          <p:cNvSpPr>
            <a:spLocks noGrp="1"/>
          </p:cNvSpPr>
          <p:nvPr/>
        </p:nvSpPr>
        <p:spPr>
          <a:xfrm>
            <a:off x="2228850" y="407670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Confrontare codici e decoder in esperimenti di memoria</a:t>
            </a:r>
          </a:p>
        </p:txBody>
      </p:sp>
      <p:sp>
        <p:nvSpPr>
          <p:cNvPr id="12" name="Rectangle 11">
            <a:extLst>
              <a:ext uri="{FF2B5EF4-FFF2-40B4-BE49-F238E27FC236}">
                <a16:creationId xmlns:a16="http://schemas.microsoft.com/office/drawing/2014/main" id="{162EFA4D-092A-455C-8BB9-A0D3EB766AFD}"/>
              </a:ext>
            </a:extLst>
          </p:cNvPr>
          <p:cNvSpPr>
            <a:spLocks noGrp="1"/>
          </p:cNvSpPr>
          <p:nvPr/>
        </p:nvSpPr>
        <p:spPr>
          <a:xfrm>
            <a:off x="1095375" y="47720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1AA6CD67-FDC1-4122-AEFB-1701EC54A34C}"/>
              </a:ext>
            </a:extLst>
          </p:cNvPr>
          <p:cNvSpPr>
            <a:spLocks noGrp="1"/>
          </p:cNvSpPr>
          <p:nvPr/>
        </p:nvSpPr>
        <p:spPr>
          <a:xfrm>
            <a:off x="2009775" y="47720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QFT approssimata</a:t>
            </a:r>
          </a:p>
        </p:txBody>
      </p:sp>
      <p:sp>
        <p:nvSpPr>
          <p:cNvPr id="14" name="Rectangle 13">
            <a:extLst>
              <a:ext uri="{FF2B5EF4-FFF2-40B4-BE49-F238E27FC236}">
                <a16:creationId xmlns:a16="http://schemas.microsoft.com/office/drawing/2014/main" id="{1BF968E9-87C9-425C-A65B-1573E27D71E9}"/>
              </a:ext>
            </a:extLst>
          </p:cNvPr>
          <p:cNvSpPr>
            <a:spLocks noGrp="1"/>
          </p:cNvSpPr>
          <p:nvPr/>
        </p:nvSpPr>
        <p:spPr>
          <a:xfrm>
            <a:off x="2228850" y="53149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Ridurre le porte e verificare il successo finale</a:t>
            </a:r>
          </a:p>
        </p:txBody>
      </p:sp>
      <p:sp>
        <p:nvSpPr>
          <p:cNvPr id="15" name="Rectangle 14">
            <a:extLst>
              <a:ext uri="{FF2B5EF4-FFF2-40B4-BE49-F238E27FC236}">
                <a16:creationId xmlns:a16="http://schemas.microsoft.com/office/drawing/2014/main" id="{815905EF-C67D-487C-AE2F-E1461E4776A6}"/>
              </a:ext>
            </a:extLst>
          </p:cNvPr>
          <p:cNvSpPr>
            <a:spLocks noGrp="1"/>
          </p:cNvSpPr>
          <p:nvPr/>
        </p:nvSpPr>
        <p:spPr>
          <a:xfrm>
            <a:off x="1095375" y="6096000"/>
            <a:ext cx="10382250" cy="333375"/>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Campagne separate: la QEC non è integrata nell’intero algoritmo di Shor.</a:t>
            </a:r>
          </a:p>
        </p:txBody>
      </p:sp>
    </p:spTree>
    <p:extLst>
      <p:ext uri="{BB962C8B-B14F-4D97-AF65-F5344CB8AC3E}">
        <p14:creationId xmlns:p14="http://schemas.microsoft.com/office/powerpoint/2010/main" val="331867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7</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si misura il successo di Shor</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11C460D-B10D-C161-F06A-4237E2387A18}"/>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Successo = fattori non banali ottenuti da una singola misura</a:t>
            </a:r>
            <a:endParaRPr lang="en-GB" sz="2100">
              <a:solidFill>
                <a:srgbClr val="203344"/>
              </a:solidFill>
              <a:latin typeface="Arial" panose="020B0604020202020204" pitchFamily="34" charset="0"/>
            </a:endParaRPr>
          </a:p>
        </p:txBody>
      </p:sp>
      <p:sp>
        <p:nvSpPr>
          <p:cNvPr id="20" name="TextBox 19">
            <a:extLst>
              <a:ext uri="{FF2B5EF4-FFF2-40B4-BE49-F238E27FC236}">
                <a16:creationId xmlns:a16="http://schemas.microsoft.com/office/drawing/2014/main" id="{BADE54F5-D458-64F7-69A6-EA10F02D5813}"/>
              </a:ext>
            </a:extLst>
          </p:cNvPr>
          <p:cNvSpPr txBox="1"/>
          <p:nvPr/>
        </p:nvSpPr>
        <p:spPr>
          <a:xfrm>
            <a:off x="609600" y="19050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75%</a:t>
            </a:r>
          </a:p>
        </p:txBody>
      </p:sp>
      <p:sp>
        <p:nvSpPr>
          <p:cNvPr id="21" name="TextBox 20">
            <a:extLst>
              <a:ext uri="{FF2B5EF4-FFF2-40B4-BE49-F238E27FC236}">
                <a16:creationId xmlns:a16="http://schemas.microsoft.com/office/drawing/2014/main" id="{ADAA89B4-CE96-0D99-10CE-03C6CD0FA7B5}"/>
              </a:ext>
            </a:extLst>
          </p:cNvPr>
          <p:cNvSpPr txBox="1"/>
          <p:nvPr/>
        </p:nvSpPr>
        <p:spPr>
          <a:xfrm>
            <a:off x="609600" y="27686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successo ideale: 3 dei 4 picchi (0, 64, 128, 192) portano ai fattori</a:t>
            </a:r>
            <a:endParaRPr lang="en-GB">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E31FB8D5-5C8F-B7EA-8779-6C4DF4CAC998}"/>
              </a:ext>
            </a:extLst>
          </p:cNvPr>
          <p:cNvSpPr txBox="1"/>
          <p:nvPr/>
        </p:nvSpPr>
        <p:spPr>
          <a:xfrm>
            <a:off x="609600" y="38100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24,61%</a:t>
            </a:r>
          </a:p>
        </p:txBody>
      </p:sp>
      <p:sp>
        <p:nvSpPr>
          <p:cNvPr id="23" name="TextBox 22">
            <a:extLst>
              <a:ext uri="{FF2B5EF4-FFF2-40B4-BE49-F238E27FC236}">
                <a16:creationId xmlns:a16="http://schemas.microsoft.com/office/drawing/2014/main" id="{0290DE17-8B52-9909-2756-52CAB7266D50}"/>
              </a:ext>
            </a:extLst>
          </p:cNvPr>
          <p:cNvSpPr txBox="1"/>
          <p:nvPr/>
        </p:nvSpPr>
        <p:spPr>
          <a:xfrm>
            <a:off x="609600" y="46736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riferimento uniforme: la verifica classica accetta 63 esiti su 256, anche se casuali</a:t>
            </a:r>
            <a:endParaRPr lang="en-GB">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F550C7F5-9DB6-C4FB-160F-0DA86CD67156}"/>
              </a:ext>
            </a:extLst>
          </p:cNvPr>
          <p:cNvSpPr/>
          <p:nvPr/>
        </p:nvSpPr>
        <p:spPr>
          <a:xfrm>
            <a:off x="6248400" y="2032000"/>
            <a:ext cx="5334000" cy="3556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84852183-35E7-C8A1-0AA0-89A6A18EB24B}"/>
              </a:ext>
            </a:extLst>
          </p:cNvPr>
          <p:cNvSpPr txBox="1"/>
          <p:nvPr/>
        </p:nvSpPr>
        <p:spPr>
          <a:xfrm>
            <a:off x="6451600" y="21844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Come si legge</a:t>
            </a:r>
          </a:p>
        </p:txBody>
      </p:sp>
      <p:sp>
        <p:nvSpPr>
          <p:cNvPr id="26" name="TextBox 25">
            <a:extLst>
              <a:ext uri="{FF2B5EF4-FFF2-40B4-BE49-F238E27FC236}">
                <a16:creationId xmlns:a16="http://schemas.microsoft.com/office/drawing/2014/main" id="{AF938EC5-FB1B-258A-338B-32D7C62322AB}"/>
              </a:ext>
            </a:extLst>
          </p:cNvPr>
          <p:cNvSpPr txBox="1"/>
          <p:nvPr/>
        </p:nvSpPr>
        <p:spPr>
          <a:xfrm>
            <a:off x="6451600" y="26924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Un successo vicino al 24,61% non dimostra che resti informazione quantistica.</a:t>
            </a:r>
          </a:p>
          <a:p>
            <a:pPr>
              <a:spcAft>
                <a:spcPts val="1000"/>
              </a:spcAft>
            </a:pPr>
            <a:r>
              <a:rPr lang="it-IT" sz="1725">
                <a:solidFill>
                  <a:srgbClr val="203344"/>
                </a:solidFill>
                <a:latin typeface="Arial" panose="020B0604020202020204" pitchFamily="34" charset="0"/>
              </a:rPr>
              <a:t>Il riferimento dipende dall'istanza e dalla verifica classica, non dalla fedeltà dello stato.</a:t>
            </a:r>
          </a:p>
          <a:p>
            <a:pPr>
              <a:spcAft>
                <a:spcPts val="1000"/>
              </a:spcAft>
            </a:pPr>
            <a:r>
              <a:rPr lang="it-IT" sz="1725">
                <a:solidFill>
                  <a:srgbClr val="203344"/>
                </a:solidFill>
                <a:latin typeface="Arial" panose="020B0604020202020204" pitchFamily="34" charset="0"/>
              </a:rPr>
              <a:t>Lo stesso criterio vale per tutte le strategie confrontate.</a:t>
            </a:r>
            <a:endParaRPr lang="en-GB" sz="1725">
              <a:solidFill>
                <a:srgbClr val="203344"/>
              </a:solidFill>
              <a:latin typeface="Arial" panose="020B0604020202020204" pitchFamily="34" charset="0"/>
            </a:endParaRPr>
          </a:p>
        </p:txBody>
      </p:sp>
      <p:sp>
        <p:nvSpPr>
          <p:cNvPr id="27" name="TextBox 26">
            <a:extLst>
              <a:ext uri="{FF2B5EF4-FFF2-40B4-BE49-F238E27FC236}">
                <a16:creationId xmlns:a16="http://schemas.microsoft.com/office/drawing/2014/main" id="{DAFAC622-5304-1DFD-C83D-99AB68691B2B}"/>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Ogni risultato su Shor va letto tra questi due valori: 75% ideale, 24,61% casuale.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2649277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Istanze, validazione e strumenti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9</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A033642A-39D7-436F-9CFC-7676A57C1D14}"/>
              </a:ext>
            </a:extLst>
          </p:cNvPr>
          <p:cNvSpPr>
            <a:spLocks noGrp="1"/>
          </p:cNvSpPr>
          <p:nvPr/>
        </p:nvSpPr>
        <p:spPr>
          <a:xfrm>
            <a:off x="6096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1FD7BAFB-51F3-4B90-8C13-B49FD97090D5}"/>
              </a:ext>
            </a:extLst>
          </p:cNvPr>
          <p:cNvSpPr>
            <a:spLocks noGrp="1"/>
          </p:cNvSpPr>
          <p:nvPr/>
        </p:nvSpPr>
        <p:spPr>
          <a:xfrm>
            <a:off x="790575"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 · a = 7 · r = 4</a:t>
            </a:r>
          </a:p>
        </p:txBody>
      </p:sp>
      <p:sp>
        <p:nvSpPr>
          <p:cNvPr id="7" name="Rectangle 6">
            <a:extLst>
              <a:ext uri="{FF2B5EF4-FFF2-40B4-BE49-F238E27FC236}">
                <a16:creationId xmlns:a16="http://schemas.microsoft.com/office/drawing/2014/main" id="{3D9F781E-93AE-4604-A42A-BFB97D2DBD78}"/>
              </a:ext>
            </a:extLst>
          </p:cNvPr>
          <p:cNvSpPr>
            <a:spLocks noGrp="1"/>
          </p:cNvSpPr>
          <p:nvPr/>
        </p:nvSpPr>
        <p:spPr>
          <a:xfrm>
            <a:off x="790575"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Campagna principale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+ 4 di lavoro = 12 qubit</a:t>
            </a:r>
          </a:p>
          <a:p>
            <a:pPr>
              <a:defRPr sz="1875" b="0">
                <a:solidFill>
                  <a:srgbClr val="203344"/>
                </a:solidFill>
                <a:latin typeface="Arial"/>
                <a:ea typeface="Arial"/>
                <a:cs typeface="Arial"/>
              </a:defRPr>
            </a:pPr>
            <a:r>
              <a:rPr lang="it-IT" sz="1875" b="0">
                <a:solidFill>
                  <a:srgbClr val="203344"/>
                </a:solidFill>
                <a:latin typeface="Arial"/>
                <a:ea typeface="Arial"/>
                <a:cs typeface="Arial"/>
              </a:rPr>
              <a:t>224 CX, profondità 412</a:t>
            </a:r>
            <a:endParaRPr sz="1875" b="0">
              <a:solidFill>
                <a:srgbClr val="203344"/>
              </a:solidFill>
              <a:latin typeface="Arial"/>
              <a:ea typeface="Arial"/>
              <a:cs typeface="Arial"/>
            </a:endParaRPr>
          </a:p>
        </p:txBody>
      </p:sp>
      <p:sp>
        <p:nvSpPr>
          <p:cNvPr id="8" name="Rectangle: Rounded Corners 7">
            <a:extLst>
              <a:ext uri="{FF2B5EF4-FFF2-40B4-BE49-F238E27FC236}">
                <a16:creationId xmlns:a16="http://schemas.microsoft.com/office/drawing/2014/main" id="{19E303C5-C77D-4CD7-8589-35179D94E254}"/>
              </a:ext>
            </a:extLst>
          </p:cNvPr>
          <p:cNvSpPr>
            <a:spLocks noGrp="1"/>
          </p:cNvSpPr>
          <p:nvPr/>
        </p:nvSpPr>
        <p:spPr>
          <a:xfrm>
            <a:off x="62484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2298CA64-5647-4279-A352-DBCAFAF5BCD5}"/>
              </a:ext>
            </a:extLst>
          </p:cNvPr>
          <p:cNvSpPr>
            <a:spLocks noGrp="1"/>
          </p:cNvSpPr>
          <p:nvPr/>
        </p:nvSpPr>
        <p:spPr>
          <a:xfrm>
            <a:off x="6426200"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 · a = 2 · r = 6</a:t>
            </a:r>
          </a:p>
        </p:txBody>
      </p:sp>
      <p:sp>
        <p:nvSpPr>
          <p:cNvPr id="10" name="Rectangle 9">
            <a:extLst>
              <a:ext uri="{FF2B5EF4-FFF2-40B4-BE49-F238E27FC236}">
                <a16:creationId xmlns:a16="http://schemas.microsoft.com/office/drawing/2014/main" id="{C691EBEE-3FEF-4FFB-A50C-33B92BE18974}"/>
              </a:ext>
            </a:extLst>
          </p:cNvPr>
          <p:cNvSpPr>
            <a:spLocks noGrp="1"/>
          </p:cNvSpPr>
          <p:nvPr/>
        </p:nvSpPr>
        <p:spPr>
          <a:xfrm>
            <a:off x="6426200"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Validazione ideale e prove AQFT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+ 5 di lavoro + 7 ausiliari = 20 qubit</a:t>
            </a:r>
            <a:endParaRPr sz="187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8747E5A2-28A4-4167-AA8E-522F16E60F41}"/>
              </a:ext>
            </a:extLst>
          </p:cNvPr>
          <p:cNvSpPr>
            <a:spLocks noGrp="1"/>
          </p:cNvSpPr>
          <p:nvPr/>
        </p:nvSpPr>
        <p:spPr>
          <a:xfrm>
            <a:off x="609600" y="4686300"/>
            <a:ext cx="38100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Validazione</a:t>
            </a:r>
          </a:p>
        </p:txBody>
      </p:sp>
      <p:sp>
        <p:nvSpPr>
          <p:cNvPr id="15" name="Rectangle 14">
            <a:extLst>
              <a:ext uri="{FF2B5EF4-FFF2-40B4-BE49-F238E27FC236}">
                <a16:creationId xmlns:a16="http://schemas.microsoft.com/office/drawing/2014/main" id="{ADB81CB8-0217-4419-B2A1-6F17AAC4D972}"/>
              </a:ext>
            </a:extLst>
          </p:cNvPr>
          <p:cNvSpPr>
            <a:spLocks noGrp="1"/>
          </p:cNvSpPr>
          <p:nvPr/>
        </p:nvSpPr>
        <p:spPr>
          <a:xfrm>
            <a:off x="609600" y="5086350"/>
            <a:ext cx="10972800" cy="6000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Operatori modulari, ripristino degli ausiliari e distribuzioni teoriche</a:t>
            </a:r>
          </a:p>
        </p:txBody>
      </p:sp>
      <p:sp>
        <p:nvSpPr>
          <p:cNvPr id="16" name="Rectangle 15">
            <a:extLst>
              <a:ext uri="{FF2B5EF4-FFF2-40B4-BE49-F238E27FC236}">
                <a16:creationId xmlns:a16="http://schemas.microsoft.com/office/drawing/2014/main" id="{2DB60C3F-8703-4B2A-AC1D-C3D75FCE2DE3}"/>
              </a:ext>
            </a:extLst>
          </p:cNvPr>
          <p:cNvSpPr>
            <a:spLocks noGrp="1"/>
          </p:cNvSpPr>
          <p:nvPr/>
        </p:nvSpPr>
        <p:spPr>
          <a:xfrm>
            <a:off x="609600" y="58864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Qiskit/Aer · scikit-learn · Stim · PyMatching · ldpc</a:t>
            </a:r>
          </a:p>
        </p:txBody>
      </p:sp>
      <p:sp>
        <p:nvSpPr>
          <p:cNvPr id="17" name="Rectangle 16">
            <a:extLst>
              <a:ext uri="{FF2B5EF4-FFF2-40B4-BE49-F238E27FC236}">
                <a16:creationId xmlns:a16="http://schemas.microsoft.com/office/drawing/2014/main" id="{3D2C6B38-1794-4BE5-936B-10259E5FD499}"/>
              </a:ext>
            </a:extLst>
          </p:cNvPr>
          <p:cNvSpPr>
            <a:spLocks noGrp="1"/>
          </p:cNvSpPr>
          <p:nvPr/>
        </p:nvSpPr>
        <p:spPr>
          <a:xfrm>
            <a:off x="609600" y="6381750"/>
            <a:ext cx="10972800" cy="238125"/>
          </a:xfrm>
          <a:prstGeom prst="rect">
            <a:avLst/>
          </a:prstGeom>
          <a:noFill/>
          <a:ln w="0">
            <a:noFill/>
          </a:ln>
        </p:spPr>
        <p:txBody>
          <a:bodyPr>
            <a:noAutofit/>
          </a:bodyPr>
          <a:lstStyle/>
          <a:p>
            <a:pPr>
              <a:defRPr sz="1425" b="0">
                <a:solidFill>
                  <a:srgbClr val="647487"/>
                </a:solidFill>
                <a:latin typeface="Arial"/>
                <a:ea typeface="Arial"/>
                <a:cs typeface="Arial"/>
              </a:defRPr>
            </a:pPr>
            <a:r>
              <a:rPr sz="1425" b="0">
                <a:solidFill>
                  <a:srgbClr val="647487"/>
                </a:solidFill>
                <a:latin typeface="Arial"/>
                <a:ea typeface="Arial"/>
                <a:cs typeface="Arial"/>
              </a:rPr>
              <a:t>Versioni, parametri, seed e identificativi circuitali registrati. Simulazioni classiche.</a:t>
            </a:r>
          </a:p>
        </p:txBody>
      </p:sp>
    </p:spTree>
    <p:extLst>
      <p:ext uri="{BB962C8B-B14F-4D97-AF65-F5344CB8AC3E}">
        <p14:creationId xmlns:p14="http://schemas.microsoft.com/office/powerpoint/2010/main" val="1216408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11</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gli errori come sequenze di 144 bit, non lo stato quantistico.</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circa 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13</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711806" y="1371600"/>
            <a:ext cx="6958389" cy="4105275"/>
          </a:xfrm>
          <a:prstGeom prst="rect">
            <a:avLst/>
          </a:prstGeom>
        </p:spPr>
      </p:pic>
      <p:sp>
        <p:nvSpPr>
          <p:cNvPr id="6" name="Rectangle 5">
            <a:extLst>
              <a:ext uri="{FF2B5EF4-FFF2-40B4-BE49-F238E27FC236}">
                <a16:creationId xmlns:a16="http://schemas.microsoft.com/office/drawing/2014/main" id="{697603FF-05F2-4F40-B8B9-3DC8702E9642}"/>
              </a:ext>
            </a:extLst>
          </p:cNvPr>
          <p:cNvSpPr>
            <a:spLocks noGrp="1"/>
          </p:cNvSpPr>
          <p:nvPr/>
        </p:nvSpPr>
        <p:spPr>
          <a:xfrm>
            <a:off x="8277225" y="1609725"/>
            <a:ext cx="3305175"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8324420" y="2321027"/>
            <a:ext cx="3305175" cy="63500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8277225" y="4241800"/>
            <a:ext cx="3305175" cy="1270000"/>
          </a:xfrm>
          <a:prstGeom prst="rect">
            <a:avLst/>
          </a:prstGeom>
          <a:noFill/>
          <a:ln w="0">
            <a:noFill/>
          </a:ln>
        </p:spPr>
        <p:txBody>
          <a:bodyPr>
            <a:noAutofit/>
          </a:bodyPr>
          <a:lstStyle/>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45,2% con il 2%</a:t>
            </a:r>
          </a:p>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29,5% con il 5%</a:t>
            </a:r>
          </a:p>
          <a:p>
            <a:pPr>
              <a:defRPr sz="2100" b="0">
                <a:solidFill>
                  <a:srgbClr val="203344"/>
                </a:solidFill>
                <a:latin typeface="Arial"/>
                <a:ea typeface="Arial"/>
                <a:cs typeface="Arial"/>
              </a:defRPr>
            </a:pPr>
            <a:r>
              <a:rPr lang="it-IT" sz="1275">
                <a:solidFill>
                  <a:srgbClr val="647487"/>
                </a:solidFill>
                <a:latin typeface="Arial" panose="020B0604020202020204" pitchFamily="34" charset="0"/>
                <a:ea typeface="Arial"/>
                <a:cs typeface="Arial"/>
              </a:rPr>
              <a:t>p_g: probabilità di un operatore di Pauli casuale (X, Y, Z) dopo ogni porta</a:t>
            </a:r>
            <a:endParaRPr sz="1275" dirty="0">
              <a:solidFill>
                <a:srgbClr val="647487"/>
              </a:solidFill>
              <a:latin typeface="Arial" panose="020B0604020202020204" pitchFamily="34" charset="0"/>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22300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Oltre il 10% di errore per porta, Shor è al livello del caso.</a:t>
            </a:r>
            <a:endParaRPr sz="1950" b="1">
              <a:solidFill>
                <a:srgbClr val="175F99"/>
              </a:solidFill>
              <a:latin typeface="Arial"/>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8280400" y="3048000"/>
            <a:ext cx="3302000" cy="369332"/>
          </a:xfrm>
          <a:prstGeom prst="rect">
            <a:avLst/>
          </a:prstGeom>
          <a:noFill/>
        </p:spPr>
        <p:txBody>
          <a:bodyPr vert="horz" rtlCol="0">
            <a:spAutoFit/>
          </a:bodyPr>
          <a:lstStyle/>
          <a:p>
            <a:r>
              <a:rPr lang="en-GB" sz="1725" b="1">
                <a:solidFill>
                  <a:srgbClr val="175F99"/>
                </a:solidFill>
                <a:latin typeface="Arial" panose="020B0604020202020204" pitchFamily="34" charset="0"/>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8280400" y="3429000"/>
            <a:ext cx="3302000" cy="736600"/>
          </a:xfrm>
          <a:prstGeom prst="roundRect">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27000" tIns="25400" bIns="25400" rtlCol="0" anchor="ctr"/>
          <a:lstStyle/>
          <a:p>
            <a:r>
              <a:rPr lang="it-IT" sz="2600" b="1">
                <a:solidFill>
                  <a:srgbClr val="B5641A"/>
                </a:solidFill>
                <a:latin typeface="Arial" panose="020B0604020202020204" pitchFamily="34" charset="0"/>
              </a:rPr>
              <a:t>56,5%</a:t>
            </a:r>
          </a:p>
          <a:p>
            <a:r>
              <a:rPr lang="it-IT" sz="1500">
                <a:solidFill>
                  <a:srgbClr val="203344"/>
                </a:solidFill>
                <a:latin typeface="Arial" panose="020B0604020202020204" pitchFamily="34" charset="0"/>
              </a:rPr>
              <a:t>già con l'1% di errore per porta</a:t>
            </a:r>
            <a:endParaRPr lang="en-GB" sz="1500">
              <a:solidFill>
                <a:srgbClr val="203344"/>
              </a:solidFill>
              <a:latin typeface="Arial" panose="020B0604020202020204" pitchFamily="34" charset="0"/>
            </a:endParaRPr>
          </a:p>
        </p:txBody>
      </p:sp>
      <p:sp>
        <p:nvSpPr>
          <p:cNvPr id="9" name="Oval 8">
            <a:extLst>
              <a:ext uri="{FF2B5EF4-FFF2-40B4-BE49-F238E27FC236}">
                <a16:creationId xmlns:a16="http://schemas.microsoft.com/office/drawing/2014/main" id="{A1B82161-F858-AE78-DC52-44EC260987AA}"/>
              </a:ext>
            </a:extLst>
          </p:cNvPr>
          <p:cNvSpPr/>
          <p:nvPr/>
        </p:nvSpPr>
        <p:spPr>
          <a:xfrm>
            <a:off x="4711700" y="26797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F271D8A1-F398-3B4E-FF48-8CFDC3F5502F}"/>
              </a:ext>
            </a:extLst>
          </p:cNvPr>
          <p:cNvSpPr txBox="1"/>
          <p:nvPr/>
        </p:nvSpPr>
        <p:spPr>
          <a:xfrm>
            <a:off x="711200" y="5511800"/>
            <a:ext cx="7112000" cy="507831"/>
          </a:xfrm>
          <a:prstGeom prst="rect">
            <a:avLst/>
          </a:prstGeom>
          <a:noFill/>
        </p:spPr>
        <p:txBody>
          <a:bodyPr vert="horz" wrap="square" rtlCol="0">
            <a:sp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da sinistra a destra cresce l'errore per porta. La curva parte dal 75% e scende fino alla linea tratteggiata, il livello del caso (24,6%).</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771501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14</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904484" y="1476375"/>
            <a:ext cx="6315858" cy="4038600"/>
          </a:xfrm>
          <a:prstGeom prst="rect">
            <a:avLst/>
          </a:prstGeom>
        </p:spPr>
      </p:pic>
      <p:sp>
        <p:nvSpPr>
          <p:cNvPr id="6" name="Rectangle 5">
            <a:extLst>
              <a:ext uri="{FF2B5EF4-FFF2-40B4-BE49-F238E27FC236}">
                <a16:creationId xmlns:a16="http://schemas.microsoft.com/office/drawing/2014/main" id="{37BF5463-337E-49AE-80CA-06E347012199}"/>
              </a:ext>
            </a:extLst>
          </p:cNvPr>
          <p:cNvSpPr>
            <a:spLocks noGrp="1"/>
          </p:cNvSpPr>
          <p:nvPr/>
        </p:nvSpPr>
        <p:spPr>
          <a:xfrm>
            <a:off x="8010525" y="1628775"/>
            <a:ext cx="3571875"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8010525" y="2466975"/>
            <a:ext cx="3571875"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8010525" y="4019550"/>
            <a:ext cx="3571875" cy="942975"/>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a:t>
            </a:r>
          </a:p>
          <a:p>
            <a:pPr>
              <a:defRPr sz="2175" b="0">
                <a:solidFill>
                  <a:srgbClr val="203344"/>
                </a:solidFill>
                <a:latin typeface="Arial"/>
                <a:ea typeface="Arial"/>
                <a:cs typeface="Arial"/>
              </a:defRPr>
            </a:pPr>
            <a:r>
              <a:rPr lang="it-IT">
                <a:solidFill>
                  <a:srgbClr val="203344"/>
                </a:solidFill>
                <a:latin typeface="Arial"/>
                <a:ea typeface="Arial"/>
                <a:cs typeface="Arial"/>
              </a:rPr>
              <a:t>TOP-1: 1,37 e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e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2" name="Rectangle: Rounded Corners 1">
            <a:extLst>
              <a:ext uri="{FF2B5EF4-FFF2-40B4-BE49-F238E27FC236}">
                <a16:creationId xmlns:a16="http://schemas.microsoft.com/office/drawing/2014/main" id="{BC4CCAA4-17E6-A8AE-29D1-801EB6194ACD}"/>
              </a:ext>
            </a:extLst>
          </p:cNvPr>
          <p:cNvSpPr/>
          <p:nvPr/>
        </p:nvSpPr>
        <p:spPr>
          <a:xfrm>
            <a:off x="3606800" y="2946400"/>
            <a:ext cx="1498600" cy="1981200"/>
          </a:xfrm>
          <a:prstGeom prst="roundRect">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B907076F-C5AE-1C21-E0E1-2EFE5C649233}"/>
              </a:ext>
            </a:extLst>
          </p:cNvPr>
          <p:cNvSpPr txBox="1"/>
          <p:nvPr/>
        </p:nvSpPr>
        <p:spPr>
          <a:xfrm>
            <a:off x="609600" y="5588000"/>
            <a:ext cx="10972800" cy="369332"/>
          </a:xfrm>
          <a:prstGeom prst="rect">
            <a:avLst/>
          </a:prstGeom>
          <a:noFill/>
        </p:spPr>
        <p:txBody>
          <a:bodyPr vert="horz" wrap="square" rtlCol="0">
            <a:no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barre più basse = meno tentativi per trovare i fattori. Il classificatore è accurato (F1 0,92) ma non abbassa le barre: il Metodo 2 non migliora.</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62711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15</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59634"/>
            <a:ext cx="7667625" cy="3576807"/>
          </a:xfrm>
          <a:prstGeom prst="rect">
            <a:avLst/>
          </a:prstGeom>
        </p:spPr>
      </p:pic>
      <p:sp>
        <p:nvSpPr>
          <p:cNvPr id="6" name="Rectangle 5">
            <a:extLst>
              <a:ext uri="{FF2B5EF4-FFF2-40B4-BE49-F238E27FC236}">
                <a16:creationId xmlns:a16="http://schemas.microsoft.com/office/drawing/2014/main" id="{0C456B77-8485-4875-A49F-280A5006DBAD}"/>
              </a:ext>
            </a:extLst>
          </p:cNvPr>
          <p:cNvSpPr>
            <a:spLocks noGrp="1"/>
          </p:cNvSpPr>
          <p:nvPr/>
        </p:nvSpPr>
        <p:spPr>
          <a:xfrm>
            <a:off x="8743950" y="1704975"/>
            <a:ext cx="28384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8743950" y="2543175"/>
            <a:ext cx="283845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a:t>
            </a:r>
          </a:p>
          <a:p>
            <a:pPr>
              <a:defRPr sz="2025" b="0">
                <a:solidFill>
                  <a:srgbClr val="203344"/>
                </a:solidFill>
                <a:latin typeface="Arial"/>
                <a:ea typeface="Arial"/>
                <a:cs typeface="Arial"/>
              </a:defRPr>
            </a:pPr>
            <a:r>
              <a:rPr lang="it-IT" sz="2025" b="0">
                <a:solidFill>
                  <a:srgbClr val="203344"/>
                </a:solidFill>
                <a:latin typeface="Arial"/>
                <a:ea typeface="Arial"/>
                <a:cs typeface="Arial"/>
              </a:rPr>
              <a:t>0,81% in base X</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232E36AE-4962-41DA-0CA2-29BEA1D4DFE6}"/>
              </a:ext>
            </a:extLst>
          </p:cNvPr>
          <p:cNvSpPr/>
          <p:nvPr/>
        </p:nvSpPr>
        <p:spPr>
          <a:xfrm>
            <a:off x="3619500" y="2197100"/>
            <a:ext cx="381000" cy="3810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FAD3F9E0-7743-7CA3-F354-10A40C271DBD}"/>
              </a:ext>
            </a:extLst>
          </p:cNvPr>
          <p:cNvSpPr/>
          <p:nvPr/>
        </p:nvSpPr>
        <p:spPr>
          <a:xfrm>
            <a:off x="7277100" y="2222500"/>
            <a:ext cx="381000" cy="3810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8737600" y="3810000"/>
            <a:ext cx="28448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8864600" y="3886200"/>
            <a:ext cx="2616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 arancioni)</a:t>
            </a:r>
            <a:endParaRPr lang="en-GB" sz="1575">
              <a:solidFill>
                <a:srgbClr val="203344"/>
              </a:solidFill>
              <a:latin typeface="Arial" panose="020B0604020202020204" pitchFamily="34" charset="0"/>
            </a:endParaRPr>
          </a:p>
        </p:txBody>
      </p:sp>
      <p:sp>
        <p:nvSpPr>
          <p:cNvPr id="16" name="TextBox 15">
            <a:extLst>
              <a:ext uri="{FF2B5EF4-FFF2-40B4-BE49-F238E27FC236}">
                <a16:creationId xmlns:a16="http://schemas.microsoft.com/office/drawing/2014/main" id="{8C83B591-B301-4F77-BF9E-0796A50CAF91}"/>
              </a:ext>
            </a:extLst>
          </p:cNvPr>
          <p:cNvSpPr txBox="1"/>
          <p:nvPr/>
        </p:nvSpPr>
        <p:spPr>
          <a:xfrm>
            <a:off x="609600" y="5334000"/>
            <a:ext cx="10972800" cy="369332"/>
          </a:xfrm>
          <a:prstGeom prst="rect">
            <a:avLst/>
          </a:prstGeom>
          <a:noFill/>
        </p:spPr>
        <p:txBody>
          <a:bodyPr vert="horz" wrap="square" rtlCol="0">
            <a:no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ogni colore è un codice più grande (d = 3, 5, 7, 9). Nella zona verde, sotto soglia, le curve dei codici più grandi stanno più in basso: meno errori. Nella zona rossa l'ordine si inverte.</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158152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16</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41778" y="1485900"/>
            <a:ext cx="6793644" cy="3924300"/>
          </a:xfrm>
          <a:prstGeom prst="rect">
            <a:avLst/>
          </a:prstGeom>
        </p:spPr>
      </p:pic>
      <p:sp>
        <p:nvSpPr>
          <p:cNvPr id="6" name="Rectangle 5">
            <a:extLst>
              <a:ext uri="{FF2B5EF4-FFF2-40B4-BE49-F238E27FC236}">
                <a16:creationId xmlns:a16="http://schemas.microsoft.com/office/drawing/2014/main" id="{B20ABF44-F325-4D36-BD1F-ABAF3859847D}"/>
              </a:ext>
            </a:extLst>
          </p:cNvPr>
          <p:cNvSpPr>
            <a:spLocks noGrp="1"/>
          </p:cNvSpPr>
          <p:nvPr/>
        </p:nvSpPr>
        <p:spPr>
          <a:xfrm>
            <a:off x="8020050" y="1638300"/>
            <a:ext cx="35623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8020050" y="2476500"/>
            <a:ext cx="356235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p_L</a:t>
            </a:r>
          </a:p>
          <a:p>
            <a:pPr>
              <a:defRPr sz="2025" b="0">
                <a:solidFill>
                  <a:srgbClr val="203344"/>
                </a:solidFill>
                <a:latin typeface="Arial"/>
                <a:ea typeface="Arial"/>
                <a:cs typeface="Arial"/>
              </a:defRPr>
            </a:pPr>
            <a:r>
              <a:rPr sz="2025" b="0">
                <a:solidFill>
                  <a:srgbClr val="203344"/>
                </a:solidFill>
                <a:latin typeface="Arial"/>
                <a:ea typeface="Arial"/>
                <a:cs typeface="Arial"/>
              </a:rPr>
              <a:t>a d = 3, p = 0,003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8020050" y="4286250"/>
            <a:ext cx="356235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FA1BB508-5552-8A81-EB3E-4696BB866A09}"/>
              </a:ext>
            </a:extLst>
          </p:cNvPr>
          <p:cNvSpPr/>
          <p:nvPr/>
        </p:nvSpPr>
        <p:spPr>
          <a:xfrm>
            <a:off x="2971800" y="26543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9557C244-CDA8-4FEE-FECD-49388D660143}"/>
              </a:ext>
            </a:extLst>
          </p:cNvPr>
          <p:cNvSpPr txBox="1"/>
          <p:nvPr/>
        </p:nvSpPr>
        <p:spPr>
          <a:xfrm>
            <a:off x="609600" y="5588000"/>
            <a:ext cx="10972800" cy="369332"/>
          </a:xfrm>
          <a:prstGeom prst="rect">
            <a:avLst/>
          </a:prstGeom>
          <a:noFill/>
        </p:spPr>
        <p:txBody>
          <a:bodyPr vert="horz" wrap="square" rtlCol="0">
            <a:no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sopra la linea 1,00 il decoder sbaglia meno di MWPM. La linea arancione continua (ibrido, d = 3) resta sopra: è il guadagno; le tratteggiate (d = 5) restano vicine a 1.</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1922446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17</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proteggere 12 qubit logici · modello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studiato e delle patch d = 13 per p ≥ 0,75%. A p = 1%: 1,0×10⁻⁶ contro 1,6×10⁻⁶.</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419100"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53340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circa 14 volte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42799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8547100" y="28321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59690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10236200" y="34163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a:t>
            </a:r>
          </a:p>
        </p:txBody>
      </p:sp>
    </p:spTree>
    <p:extLst>
      <p:ext uri="{BB962C8B-B14F-4D97-AF65-F5344CB8AC3E}">
        <p14:creationId xmlns:p14="http://schemas.microsoft.com/office/powerpoint/2010/main" val="49835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18</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47175"/>
            <a:ext cx="6238875" cy="3744601"/>
          </a:xfrm>
          <a:prstGeom prst="rect">
            <a:avLst/>
          </a:prstGeom>
        </p:spPr>
      </p:pic>
      <p:sp>
        <p:nvSpPr>
          <p:cNvPr id="6" name="Rectangle 5">
            <a:extLst>
              <a:ext uri="{FF2B5EF4-FFF2-40B4-BE49-F238E27FC236}">
                <a16:creationId xmlns:a16="http://schemas.microsoft.com/office/drawing/2014/main" id="{68AFD0C9-328E-4D63-A4D9-E371C130FD82}"/>
              </a:ext>
            </a:extLst>
          </p:cNvPr>
          <p:cNvSpPr>
            <a:spLocks noGrp="1"/>
          </p:cNvSpPr>
          <p:nvPr/>
        </p:nvSpPr>
        <p:spPr>
          <a:xfrm>
            <a:off x="7391400" y="1609725"/>
            <a:ext cx="41910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391400" y="2447925"/>
            <a:ext cx="41910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p:txBody>
      </p:sp>
      <p:graphicFrame>
        <p:nvGraphicFramePr>
          <p:cNvPr id="18" name="Table 17"/>
          <p:cNvGraphicFramePr/>
          <p:nvPr/>
        </p:nvGraphicFramePr>
        <p:xfrm>
          <a:off x="7391400" y="3629025"/>
          <a:ext cx="4191000" cy="1895476"/>
        </p:xfrm>
        <a:graphic>
          <a:graphicData uri="http://schemas.openxmlformats.org/drawingml/2006/table">
            <a:tbl>
              <a:tblPr/>
              <a:tblGrid>
                <a:gridCol w="1428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249B0271-B841-B4FA-1585-4BB5AD209980}"/>
              </a:ext>
            </a:extLst>
          </p:cNvPr>
          <p:cNvSpPr/>
          <p:nvPr/>
        </p:nvSpPr>
        <p:spPr>
          <a:xfrm>
            <a:off x="1447800" y="18542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2722CFE5-0747-C3D5-4E99-3E2E2C2CE57C}"/>
              </a:ext>
            </a:extLst>
          </p:cNvPr>
          <p:cNvSpPr txBox="1"/>
          <p:nvPr/>
        </p:nvSpPr>
        <p:spPr>
          <a:xfrm>
            <a:off x="609600" y="5588000"/>
            <a:ext cx="10972800" cy="369332"/>
          </a:xfrm>
          <a:prstGeom prst="rect">
            <a:avLst/>
          </a:prstGeom>
          <a:noFill/>
        </p:spPr>
        <p:txBody>
          <a:bodyPr vert="horz" wrap="square" rtlCol="0">
            <a:no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a sinistra si tolgono più rotazioni, a destra (k = 7) c'è la QFT piena, linea tratteggiata. Il grado scelto, k = 1 (cerchio), sta ben sopra la QFT piena.</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10239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19</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e 21.</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20</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Ottimizzazione e QEC sono complementari. 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3984</Words>
  <Application>Microsoft Office PowerPoint</Application>
  <DocSecurity>0</DocSecurity>
  <PresentationFormat>Widescreen</PresentationFormat>
  <Paragraphs>365</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30</cp:revision>
  <dcterms:created xsi:type="dcterms:W3CDTF">2026-10-04T20:49:31Z</dcterms:created>
  <dcterms:modified xsi:type="dcterms:W3CDTF">2026-10-05T16:06:10Z</dcterms:modified>
</cp:coreProperties>
</file>