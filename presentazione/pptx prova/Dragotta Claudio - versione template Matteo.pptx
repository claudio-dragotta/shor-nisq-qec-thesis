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90" r:id="rId10"/>
    <p:sldId id="279" r:id="rId6"/>
    <p:sldId id="267" r:id="rId14"/>
    <p:sldId id="287" r:id="rId8"/>
    <p:sldId id="263" r:id="rId11"/>
    <p:sldId id="268" r:id="rId15"/>
    <p:sldId id="265" r:id="rId12"/>
    <p:sldId id="269" r:id="rId16"/>
    <p:sldId id="270" r:id="rId17"/>
    <p:sldId id="271" r:id="rId18"/>
    <p:sldId id="266" r:id="rId13"/>
    <p:sldId id="272" r:id="rId19"/>
    <p:sldId id="289" r:id="rId22"/>
    <p:sldId id="291" r:id="rId9"/>
    <p:sldId id="277" r:id="rId23"/>
  </p:sldIdLst>
  <p:sldSz cx="18288000" cy="10287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6"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15.xml"/><Relationship Id="rId10" Type="http://schemas.openxmlformats.org/officeDocument/2006/relationships/slide" Target="slides/slide2.xml"/><Relationship Id="rId11" Type="http://schemas.openxmlformats.org/officeDocument/2006/relationships/slide" Target="slides/slide6.xml"/><Relationship Id="rId12" Type="http://schemas.openxmlformats.org/officeDocument/2006/relationships/slide" Target="slides/slide8.xml"/><Relationship Id="rId13" Type="http://schemas.openxmlformats.org/officeDocument/2006/relationships/slide" Target="slides/slide12.xml"/><Relationship Id="rId14" Type="http://schemas.openxmlformats.org/officeDocument/2006/relationships/slide" Target="slides/slide4.xml"/><Relationship Id="rId15" Type="http://schemas.openxmlformats.org/officeDocument/2006/relationships/slide" Target="slides/slide7.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6.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Buongiorno. Ringrazio il presidente e tutta la commissione per la parola. Sono Claudio Dragotta e vi presento la mia tesi, che ho svolto con il professor Soda e l'ingegner Caprio.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Vediamo come funziona. Abbiamo N, il numero da fattorizzare, e un parametro a, la base, che non ha divisori in comune con N. La funzione a alla x modulo N è periodica, e il compito del computer quantistico è trovarne il periodo r.</a:t>
            </a:r>
          </a:p>
          <a:p>
            <a:r>
              <a:t>Nel mio esempio N è 15 e a è 7: nel grafico i valori si ripetono ogni quattro passi, quindi r è 4. Da r un calcolo classico ricava un fattore, 3, e quindi anche l'altro, 5.</a:t>
            </a:r>
          </a:p>
          <a:p>
            <a:r>
              <a:t>Il circuito usa 8 qubit di controllo e 4 di lavoro, 12 qubit in tutto, ed è il caso su cui ho fatto le prove con rumore. Ho costruito e verificato anche il circuito per N uguale a 21, con 20 qubit. Tutto è simulato al calcolatore, con strumenti open source.</a:t>
            </a:r>
          </a:p>
          <a:p/>
          <a:p>
            <a:r>
              <a:t>▶ CAMBIA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 provato tre strategie, che agiscono in punti diversi dell'algoritmo. In giallo ci sono i passi di Shor: scelta di a, esponenziazione modulare, QFT inversa e misura; in viola i punti in cui ho lavorato.</a:t>
            </a:r>
          </a:p>
          <a:p>
            <a:r>
              <a:t>La prima agisce dopo la misura: è il post-processing, e qui ho usato il machine learning per capire quali risultati sono buoni.</a:t>
            </a:r>
          </a:p>
          <a:p>
            <a:r>
              <a:t>La seconda è la correzione degli errori, che protegge i qubit durante il calcolo. L'ho studiata in esperimenti separati, confrontando codici e decoder.</a:t>
            </a:r>
          </a:p>
          <a:p>
            <a:r>
              <a:t>La terza è la QFT approssimata, che toglie porte alla QFT inversa.</a:t>
            </a:r>
          </a:p>
          <a:p>
            <a:r>
              <a:t>Per ognuna vi mostro prima il metodo e subito dopo il risultato.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concludere, cosa resta di questo lavoro.</a:t>
            </a:r>
          </a:p>
          <a:p>
            <a:r>
              <a:t>Primo: nel post-processing il vantaggio viene dal provare più candidati, non dal machine learning.</a:t>
            </a:r>
          </a:p>
          <a:p>
            <a:r>
              <a:t>Secondo: la correzione degli errori funziona solo sotto soglia, e codice e decoder contano insieme.</a:t>
            </a:r>
          </a:p>
          <a:p>
            <a:r>
              <a:t>Terzo: la QFT approssimata aiuta, ma non sempre: su N uguale a 15 sì, su 21 non è dimostrato.</a:t>
            </a:r>
          </a:p>
          <a:p>
            <a:r>
              <a:t>Il mio contributo è stato costruire e verificare i circuiti, progettare confronti corretti e rendere tutto riproducibile. I limiti sono chiari: ho lavorato in simulazione, su pochi casi, e senza un'esecuzione di Shor protetta dagli errori. Il passo successivo è ridurre ancora il costo dei circuiti e poi unirlo alla correzione degli errori.</a:t>
            </a:r>
          </a:p>
          <a:p/>
          <a:p>
            <a:r>
              <a:t>▶ CAMBIA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sicurezza di RSA, che protegge buona parte delle nostre comunicazioni, si basa sul fatto che fattorizzare un numero molto grande è difficilissimo per un computer classico. L'algoritmo di Shor, su un computer quantistico, lo farebbe in tempo polinomiale.</a:t>
            </a:r>
          </a:p>
          <a:p>
            <a:r>
              <a:t>Ma Shor non è certo nemmeno in condizioni ideali: trova i fattori circa tre volte su quattro, il 75%. Sull'hardware quantistico reale si aggiungono poi gli errori: errori di porta, decoerenza, errori di misura.</a:t>
            </a:r>
          </a:p>
          <a:p>
            <a:r>
              <a:t>Ho quindi simulato questi errori per capire come si comporta l'algoritmo, con un obiettivo preciso: trovare strategie che lo rendano più efficace e più resiliente.</a:t>
            </a:r>
          </a:p>
          <a:p>
            <a:r>
              <a:t>Le strategie che ho studiato sono tre: il machine learning applicato ai risultati, la correzione quantistica degli errori e la QFT approssimata. In sintesi, il machine learning non aggiunge informazione, la correzione funziona solo sotto una soglia di errore e la QFT approssimata dà un miglioramento netto su N uguale a 15.</a:t>
            </a:r>
          </a:p>
          <a:p/>
          <a:p>
            <a:r>
              <a:t>▶ CAMBIA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strategia: il post-processing. Ogni esecuzione di Shor dà un istogramma di risultati, e bisogna decidere quali verificare.</a:t>
            </a:r>
          </a:p>
          <a:p>
            <a:r>
              <a:t>TOP-1 verifica solo il più frequente. TOP-4 verifica, uno alla volta, i quattro più frequenti, finché trova i fattori. Il terzo metodo, che nella tesi chiamo Metodo 2, applica TOP-4 solo se un classificatore di machine learning lo approva: il classificatore deve riconoscere i risultati buoni da quelli non buoni. La verifica finale è sempre lo stesso calcolo classico.</a:t>
            </a:r>
          </a:p>
          <a:p>
            <a:r>
              <a:t>Il rischio è dare al machine learning un merito che viene invece dal provare più candidati. Per questo il confronto decisivo è tra il Metodo 2 e TOP-4.</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Seconda strategia: la correzione quantistica degli errori. Più qubit fisici proteggono un solo qubit logico: i controlli segnalano dove c'è un errore e un decoder decide come correggerlo.</a:t>
            </a:r>
          </a:p>
          <a:p>
            <a:r>
              <a:t>Ho usato due codici. Il surface code è il riferimento, robusto ma costoso: per 12 qubit logici servono circa 2000 qubit di dato. Su questo ho confrontato i decoder: quello classico, MWPM, una rete neurale, un ibrido e BP+OSD.</a:t>
            </a:r>
          </a:p>
          <a:p>
            <a:r>
              <a:t>Il Gross code, proposto da IBM, promette una protezione simile con da 10 a 14 volte meno qubit. Qui ho simulato gli errori come sequenze di 144 bit, non lo stato di 144 qubit.</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Terza strategia: la QFT approssimata. L'idea è semplice: gli errori vengono dalle porte, quindi meno porte significa meno errori.</a:t>
            </a:r>
          </a:p>
          <a:p>
            <a:r>
              <a:t>Nella QFT ci sono rotazioni sempre più piccole, che spostano la fase quasi di nulla ma costano porte. Nella versione approssimata le tolgo; per N uguale a 15 bastano quelle tra qubit vicini. Funziona perché Shor non ha bisogno della fase esatta: basta un valore abbastanza vicino perché il calcolo classico ritrovi il periodo.</a:t>
            </a:r>
          </a:p>
          <a:p>
            <a:r>
              <a:t>L'ho provata su N uguale a 15, su N uguale a 21 e su test di stima di fase, con il rumore misurato su un computer IBM e riprodotto in simulazione.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prima cosa ho misurato quanto il rumore pesa su Shor. Per simularlo, dopo ogni porta inserisco con una certa probabilità un operatore di Pauli casuale, cioè un'inversione del bit, della fase o di entrambi.</a:t>
            </a:r>
          </a:p>
          <a:p>
            <a:r>
              <a:t>Il grafico va letto tra due linee. In alto c'è il 75%, il successo ideale. In basso, tratteggiato, c'è circa il 25%: è quello che otterrei con risultati completamente casuali, perché la verifica finale accetta 63 esiti su 256.</a:t>
            </a:r>
          </a:p>
          <a:p>
            <a:r>
              <a:t>Andando verso destra cresce l'errore per porta. Senza rumore ottengo il 74,89%, come previsto. Basta l'1% di errore per porta, il punto cerchiato, per scendere al 56%, e oltre il 10% la curva tocca la linea del caso: lì Shor non funziona più.</a:t>
            </a:r>
          </a:p>
          <a:p>
            <a:r>
              <a:t>Da qui la domanda della tesi: come rendere Shor più resiliente a questi errori?</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Barre più basse significano meno tentativi per trovare i fattori. Nel riquadro arancione, TOP-4 trova i fattori sempre al primo tentativo, in tutte le 30 repliche.</a:t>
            </a:r>
          </a:p>
          <a:p>
            <a:r>
              <a:t>Il classificatore è molto accurato, eppure il Metodo 2 non abbassa le barre, anzi fa peggio di TOP-4, perché a volte scarta proprio i risultati buoni. In pratica il classificatore premia gli stessi esiti più frequenti che TOP-4 prova già: non mi dà un'informazione in più. C'è anche un limite da dichiarare: l'ho addestrato su dati simulati, non su un computer quantistico reale.</a:t>
            </a:r>
          </a:p>
          <a:p>
            <a:r>
              <a:t>Quindi il vantaggio viene dal provare più candidati, non dal machine learning.</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primo risultato è la soglia. Ogni colore è un codice più grande. Nella zona verde, sotto soglia, le curve dei codici grandi stanno più in basso: fanno meno errori. Nella zona rossa l'ordine si inverte e aggiungere qubit peggiora le cose. La soglia è il punto in cui le curve si incrociano, nel cerchio arancione: l'ho stimata tra lo 0,8 e lo 0,9% di errore.</a:t>
            </a:r>
          </a:p>
          <a:p>
            <a:r>
              <a:t>Cosa significa per Shor? Torno alla curva del rumore: se la correzione porta l'errore residuo per porta allo 0,2%, Shor resta intorno al 70%; allo 0,5% resta al 64%; senza correzione, all'1%, scende al 56%. Quindi la correzione funziona, ma non riporta Shor al 75%. Preciso che è una stima: ho simulato Shor con un errore residuo per porta, non l'intero circuito corretto con i suoi qubit ausiliari.</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 il machine learning trova un ruolo. Sopra la linea dell'1 il decoder sbaglia meno di quello classico. Senza crosstalk la rete da sola non batte il decoder classico. Con il crosstalk, cioè errori correlati tra qubit vicini, il decoder ibrido, la linea arancione continua, sta sopra: nel punto cerchiato gli errori scendono del 16,8%.</a:t>
            </a:r>
          </a:p>
          <a:p>
            <a:r>
              <a:t>Sui codici più grandi, le linee tratteggiate, il vantaggio quasi sparisce, e BP+OSD, in grigio, a distanza 5 fa ancora meglio. Quindi il machine learning aiuta come correttore del decoder classico, non come sostituto.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Infine il confronto tra i due codici. Per proteggere 12 qubit logici il Gross code, la barra arancione, usa 144 qubit di dato, da 10 a 14 volte meno del surface code.</a:t>
            </a:r>
          </a:p>
          <a:p>
            <a:r>
              <a:t>Nel modello semplificato che ho usato, con un errore fisico dallo 0,75% in su, protegge anche meglio. E anche qui il decoder è decisivo: con la versione giusta gli errori scendono di circa cento volte.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A destra c'è la QFT piena, verso sinistra tolgo sempre più rotazioni. Con la QFT piena Shor si ferma al 48%; con il grado scelto, quello cerchiato, sale al 63%: quasi 15 punti in più, con il 23% di porte in meno.</a:t>
            </a:r>
          </a:p>
          <a:p>
            <a:r>
              <a:t>Va detto però che 15 è un caso favorevole. Su N uguale a 21 le porte si dimezzano, ma il vantaggio non è dimostrato: l'approssimazione va scelta caso per caso.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video parte da solo e dura 2 minuti. Parla sopra il video, seguendo le scritte in basso; i tempi tra parentesi sono quelli del video.]</a:t>
            </a:r>
          </a:p>
          <a:p>
            <a:r>
              <a:t>[0:00] Vi mostro ora il simulatore che ho realizzato: segue Shor passo per passo, prima senza errori e poi con il rumore.</a:t>
            </a:r>
          </a:p>
          <a:p>
            <a:r>
              <a:t>[0:06] Il caso è quello della tesi: N uguale a 15, base 7. Ogni riga è un qubit, e a destra c'è la sua sfera di Bloch, che mostra lo stato del qubit con una freccia.</a:t>
            </a:r>
          </a:p>
          <a:p>
            <a:r>
              <a:t>[0:17] Le porte di Hadamard mettono i qubit in sovrapposizione. Poi le moltiplicazioni per 7 modulo 15 scrivono il periodo nelle fasi; le frecce si accorciano, ma qui non è un errore: è entanglement.</a:t>
            </a:r>
          </a:p>
          <a:p>
            <a:r>
              <a:t>[0:30] La QFT inversa trasforma il periodo in quattro picchi, e alla misura il calcolo classico ricava 15 uguale 3 per 5.</a:t>
            </a:r>
          </a:p>
          <a:p>
            <a:r>
              <a:t>[0:48] Ora lo stesso circuito con il rumore. Le frecce che prima restavano intere si accorciano: lo stato perde coerenza.</a:t>
            </a:r>
          </a:p>
          <a:p>
            <a:r>
              <a:t>[1:08] Qui si vede dove entra il rumore: ogni porta ha il suo errore, le porte a due qubit sono le più fragili e la misura può sbagliare il bit.</a:t>
            </a:r>
          </a:p>
          <a:p>
            <a:r>
              <a:t>[1:15] Ripetendo il circuito molte volte, le misure si spargono su tutti gli esiti e i picchi si abbassano: è lo stesso calo che avete visto nel grafico del rumore.</a:t>
            </a:r>
          </a:p>
          <a:p>
            <a:r>
              <a:t>[1:33] Questa è informazione persa, che dopo non si recupera.</a:t>
            </a:r>
          </a:p>
          <a:p>
            <a:r>
              <a:t>[1:53] Ed è il messaggio della tesi: il rumore va affrontato durante il calcolo, perché dopo la misura l'informazione distrutta non si ricostruisce.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 ringrazio per l'attenzione. Sono a disposizione per le vostre domande.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9.png"/><Relationship Id="rId6"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3.png"/><Relationship Id="rId6"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7.png"/><Relationship Id="rId6"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6.xml"/><Relationship Id="rId4" Type="http://schemas.openxmlformats.org/officeDocument/2006/relationships/notesSlide" Target="../notesSlides/notesSlide21.xml"/><Relationship Id="rId5" Type="http://schemas.openxmlformats.org/officeDocument/2006/relationships/image" Target="../media/image1.png"/><Relationship Id="rId6" Type="http://schemas.openxmlformats.org/officeDocument/2006/relationships/image" Target="../media/image12.png"/><Relationship Id="rId7"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9.png"/><Relationship Id="rId6"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5"/>
          <a:stretch>
            <a:fillRect/>
          </a:stretch>
        </p:blipFill>
        <p:spPr>
          <a:xfrm>
            <a:off x="-495801" y="-233916"/>
            <a:ext cx="18783799" cy="10565886"/>
          </a:xfrm>
          <a:prstGeom prst="rect">
            <a:avLst/>
          </a:prstGeom>
        </p:spPr>
      </p:pic>
      <p:sp>
        <p:nvSpPr>
          <p:cNvPr id="3" name="Text 1"/>
          <p:cNvSpPr/>
          <p:nvPr/>
        </p:nvSpPr>
        <p:spPr>
          <a:xfrm>
            <a:off x="1180653" y="195262"/>
            <a:ext cx="15926544" cy="581025"/>
          </a:xfrm>
          <a:prstGeom prst="rect">
            <a:avLst/>
          </a:prstGeom>
          <a:noFill/>
          <a:ln/>
        </p:spPr>
        <p:txBody>
          <a:bodyPr wrap="square" lIns="25400" tIns="25400" rIns="25400" bIns="25400" rtlCol="0" anchor="t">
            <a:noAutofit/>
          </a:bodyPr>
          <a:lstStyle/>
          <a:p>
            <a:pPr marL="0" indent="0" algn="ctr">
              <a:lnSpc>
                <a:spcPct val="96949"/>
              </a:lnSpc>
              <a:buNone/>
            </a:pPr>
            <a:r>
              <a:rPr lang="en-US" sz="4400" b="1" kern="0" spc="38" dirty="0">
                <a:solidFill>
                  <a:srgbClr val="111111"/>
                </a:solidFill>
                <a:latin typeface="Times New Roman" panose="02020603050405020304" pitchFamily="18" charset="0"/>
                <a:ea typeface="Georgia" pitchFamily="34" charset="-122"/>
                <a:cs typeface="Times New Roman" panose="02020603050405020304" pitchFamily="18" charset="0"/>
              </a:rPr>
              <a:t>UNIVERSITA' CAMPUS BIO-MEDICO DI ROMA</a:t>
            </a:r>
            <a:endParaRPr lang="en-US" sz="4400" dirty="0">
              <a:latin typeface="Times New Roman" panose="02020603050405020304" pitchFamily="18" charset="0"/>
              <a:cs typeface="Times New Roman" panose="02020603050405020304" pitchFamily="18" charset="0"/>
            </a:endParaRPr>
          </a:p>
        </p:txBody>
      </p:sp>
      <p:sp>
        <p:nvSpPr>
          <p:cNvPr id="4" name="Text 2"/>
          <p:cNvSpPr/>
          <p:nvPr/>
        </p:nvSpPr>
        <p:spPr>
          <a:xfrm>
            <a:off x="1455178" y="918231"/>
            <a:ext cx="15377492" cy="400050"/>
          </a:xfrm>
          <a:prstGeom prst="rect">
            <a:avLst/>
          </a:prstGeom>
          <a:noFill/>
          <a:ln/>
        </p:spPr>
        <p:txBody>
          <a:bodyPr wrap="square" lIns="25400" tIns="25400" rIns="25400" bIns="25400" rtlCol="0" anchor="t">
            <a:noAutofit/>
          </a:bodyPr>
          <a:lstStyle/>
          <a:p>
            <a:pPr marL="0" indent="0" algn="ctr">
              <a:buNone/>
            </a:pPr>
            <a:r>
              <a:rPr lang="en-US" sz="3200" kern="0" spc="30" dirty="0">
                <a:solidFill>
                  <a:srgbClr val="20242A"/>
                </a:solidFill>
                <a:latin typeface="Times New Roman" panose="02020603050405020304" pitchFamily="18" charset="0"/>
                <a:ea typeface="Georgia" pitchFamily="34" charset="-122"/>
                <a:cs typeface="Times New Roman" panose="02020603050405020304" pitchFamily="18" charset="0"/>
              </a:rPr>
              <a:t>CORSO DI LAUREA MAGISTRALE IN INGEGNERIA DEI SISTEMI INTELLIGENTI</a:t>
            </a:r>
            <a:endParaRPr lang="en-US" sz="3200" dirty="0">
              <a:latin typeface="Times New Roman" panose="02020603050405020304" pitchFamily="18" charset="0"/>
              <a:cs typeface="Times New Roman" panose="02020603050405020304" pitchFamily="18" charset="0"/>
            </a:endParaRPr>
          </a:p>
        </p:txBody>
      </p:sp>
      <p:sp>
        <p:nvSpPr>
          <p:cNvPr id="7" name="Text 5"/>
          <p:cNvSpPr/>
          <p:nvPr/>
        </p:nvSpPr>
        <p:spPr>
          <a:xfrm>
            <a:off x="745695" y="4700000"/>
            <a:ext cx="16796460" cy="1300000"/>
          </a:xfrm>
          <a:prstGeom prst="rect">
            <a:avLst/>
          </a:prstGeom>
          <a:noFill/>
          <a:ln/>
        </p:spPr>
        <p:txBody>
          <a:bodyPr wrap="square" lIns="25400" tIns="25400" rIns="25400" bIns="25400" rtlCol="0" anchor="t">
            <a:noAutofit/>
          </a:bodyPr>
          <a:lstStyle/>
          <a:p>
            <a:pPr marL="0" indent="0" algn="ctr">
              <a:lnSpc>
                <a:spcPct val="100098"/>
              </a:lnSpc>
              <a:buNone/>
            </a:pPr>
            <a:r>
              <a:rPr lang="en-US" sz="6000" b="1" dirty="0">
                <a:solidFill>
                  <a:srgbClr val="111111"/>
                </a:solidFill>
                <a:latin typeface="Times New Roman" panose="02020603050405020304" pitchFamily="18" charset="0"/>
                <a:ea typeface="Georgia" pitchFamily="34" charset="-122"/>
                <a:cs typeface="Times New Roman" panose="02020603050405020304" pitchFamily="18" charset="0"/>
              </a:rPr>
              <a:t>SHOR'S ALGORITHM UNDER NOISE</a:t>
            </a:r>
          </a:p>
        </p:txBody>
      </p:sp>
      <p:sp>
        <p:nvSpPr>
          <p:cNvPr id="8" name="Shape 6"/>
          <p:cNvSpPr/>
          <p:nvPr/>
        </p:nvSpPr>
        <p:spPr>
          <a:xfrm>
            <a:off x="190500" y="8277224"/>
            <a:ext cx="5715000" cy="47625"/>
          </a:xfrm>
          <a:prstGeom prst="rect">
            <a:avLst/>
          </a:prstGeom>
          <a:solidFill>
            <a:srgbClr val="111111"/>
          </a:solidFill>
          <a:ln/>
        </p:spPr>
        <p:txBody>
          <a:bodyPr/>
          <a:lstStyle/>
          <a:p>
            <a:endParaRPr lang="it-IT">
              <a:latin typeface="Times New Roman" panose="02020603050405020304" pitchFamily="18" charset="0"/>
              <a:cs typeface="Times New Roman" panose="02020603050405020304" pitchFamily="18" charset="0"/>
            </a:endParaRPr>
          </a:p>
        </p:txBody>
      </p:sp>
      <p:sp>
        <p:nvSpPr>
          <p:cNvPr id="9" name="Text 7"/>
          <p:cNvSpPr/>
          <p:nvPr/>
        </p:nvSpPr>
        <p:spPr>
          <a:xfrm>
            <a:off x="190500" y="8320086"/>
            <a:ext cx="6286500" cy="533400"/>
          </a:xfrm>
          <a:prstGeom prst="rect">
            <a:avLst/>
          </a:prstGeom>
          <a:noFill/>
          <a:ln/>
        </p:spPr>
        <p:txBody>
          <a:bodyPr wrap="square" lIns="25400" tIns="25400" rIns="25400" bIns="25400" rtlCol="0" anchor="t">
            <a:noAutofit/>
          </a:bodyPr>
          <a:lstStyle/>
          <a:p>
            <a:pPr marL="0" indent="0" algn="l">
              <a:lnSpc>
                <a:spcPct val="127317"/>
              </a:lnSpc>
              <a:buNone/>
            </a:pPr>
            <a:r>
              <a:rPr lang="en-US" sz="3200" b="1" dirty="0">
                <a:solidFill>
                  <a:srgbClr val="111111"/>
                </a:solidFill>
                <a:latin typeface="Times New Roman" panose="02020603050405020304" pitchFamily="18" charset="0"/>
                <a:ea typeface="Georgia" pitchFamily="34" charset="-122"/>
                <a:cs typeface="Times New Roman" panose="02020603050405020304" pitchFamily="18" charset="0"/>
              </a:rPr>
              <a:t>Laureando: Claudio Dragotta</a:t>
            </a:r>
          </a:p>
        </p:txBody>
      </p:sp>
      <p:sp>
        <p:nvSpPr>
          <p:cNvPr id="10" name="Text 8"/>
          <p:cNvSpPr/>
          <p:nvPr/>
        </p:nvSpPr>
        <p:spPr>
          <a:xfrm>
            <a:off x="190500" y="8922303"/>
            <a:ext cx="6286500" cy="533400"/>
          </a:xfrm>
          <a:prstGeom prst="rect">
            <a:avLst/>
          </a:prstGeom>
          <a:noFill/>
          <a:ln/>
        </p:spPr>
        <p:txBody>
          <a:bodyPr wrap="square" lIns="25400" tIns="25400" rIns="25400" bIns="25400" rtlCol="0" anchor="t">
            <a:noAutofit/>
          </a:bodyPr>
          <a:lstStyle/>
          <a:p>
            <a:pPr marL="0" indent="0" algn="l">
              <a:lnSpc>
                <a:spcPct val="127317"/>
              </a:lnSpc>
              <a:buNone/>
            </a:pPr>
            <a:r>
              <a:rPr lang="en-US" sz="3200" b="1" dirty="0">
                <a:solidFill>
                  <a:srgbClr val="111111"/>
                </a:solidFill>
                <a:latin typeface="Times New Roman" panose="02020603050405020304" pitchFamily="18" charset="0"/>
                <a:ea typeface="Georgia" pitchFamily="34" charset="-122"/>
                <a:cs typeface="Times New Roman" panose="02020603050405020304" pitchFamily="18" charset="0"/>
              </a:rPr>
              <a:t>Relatore: Prof. Paolo Soda</a:t>
            </a:r>
          </a:p>
        </p:txBody>
      </p:sp>
      <p:sp>
        <p:nvSpPr>
          <p:cNvPr id="11" name="Text 9"/>
          <p:cNvSpPr/>
          <p:nvPr/>
        </p:nvSpPr>
        <p:spPr>
          <a:xfrm>
            <a:off x="190500" y="9465468"/>
            <a:ext cx="6286500" cy="533400"/>
          </a:xfrm>
          <a:prstGeom prst="rect">
            <a:avLst/>
          </a:prstGeom>
          <a:noFill/>
          <a:ln/>
        </p:spPr>
        <p:txBody>
          <a:bodyPr wrap="square" lIns="25400" tIns="25400" rIns="25400" bIns="25400" rtlCol="0" anchor="t">
            <a:noAutofit/>
          </a:bodyPr>
          <a:lstStyle/>
          <a:p>
            <a:pPr marL="0" indent="0" algn="l">
              <a:lnSpc>
                <a:spcPct val="127317"/>
              </a:lnSpc>
              <a:buNone/>
            </a:pPr>
            <a:r>
              <a:rPr lang="en-US" sz="3200" b="1" dirty="0">
                <a:solidFill>
                  <a:srgbClr val="111111"/>
                </a:solidFill>
                <a:latin typeface="Times New Roman" panose="02020603050405020304" pitchFamily="18" charset="0"/>
                <a:ea typeface="Georgia" pitchFamily="34" charset="-122"/>
                <a:cs typeface="Times New Roman" panose="02020603050405020304" pitchFamily="18" charset="0"/>
              </a:rPr>
              <a:t>Correlatore: Ing. Floriano Caprio</a:t>
            </a:r>
          </a:p>
        </p:txBody>
      </p:sp>
      <p:pic>
        <p:nvPicPr>
          <p:cNvPr id="12" name="Picture 11" descr="image.png"/>
          <p:cNvPicPr>
            <a:picLocks noChangeAspect="1"/>
          </p:cNvPicPr>
          <p:nvPr/>
        </p:nvPicPr>
        <p:blipFill>
          <a:blip r:embed="rId6"/>
          <a:stretch>
            <a:fillRect/>
          </a:stretch>
        </p:blipFill>
        <p:spPr>
          <a:xfrm>
            <a:off x="7459307" y="1665013"/>
            <a:ext cx="3369235" cy="2796927"/>
          </a:xfrm>
          <a:prstGeom prst="rect">
            <a:avLst/>
          </a:prstGeom>
        </p:spPr>
      </p:pic>
      <p:sp>
        <p:nvSpPr>
          <p:cNvPr id="4" name="Text 2"/>
          <p:cNvSpPr/>
          <p:nvPr/>
        </p:nvSpPr>
        <p:spPr>
          <a:xfrm>
            <a:off x="745695" y="6050000"/>
            <a:ext cx="16796460" cy="600000"/>
          </a:xfrm>
          <a:prstGeom prst="rect">
            <a:avLst/>
          </a:prstGeom>
          <a:noFill/>
          <a:ln/>
        </p:spPr>
        <p:txBody>
          <a:bodyPr wrap="square" lIns="25400" tIns="25400" rIns="25400" bIns="25400" rtlCol="0" anchor="t">
            <a:noAutofit/>
          </a:bodyPr>
          <a:lstStyle/>
          <a:p>
            <a:pPr marL="0" indent="0" algn="ctr">
              <a:buNone/>
            </a:pPr>
            <a:r>
              <a:rPr lang="en-US" sz="3200" kern="0" spc="30" dirty="0">
                <a:solidFill>
                  <a:srgbClr val="20242A"/>
                </a:solidFill>
                <a:latin typeface="Times New Roman" panose="02020603050405020304" pitchFamily="18" charset="0"/>
                <a:ea typeface="Georgia" pitchFamily="34" charset="-122"/>
                <a:cs typeface="Times New Roman" panose="02020603050405020304" pitchFamily="18" charset="0"/>
              </a:rPr>
              <a:t>Machine-Learning Ablation, Quantum Error Correction, and Approximate QFT</a:t>
            </a:r>
          </a:p>
        </p:txBody>
      </p:sp>
      <p:sp>
        <p:nvSpPr>
          <p:cNvPr id="12" name="Text 10"/>
          <p:cNvSpPr/>
          <p:nvPr/>
        </p:nvSpPr>
        <p:spPr>
          <a:xfrm>
            <a:off x="14748402" y="9821917"/>
            <a:ext cx="3905358" cy="581025"/>
          </a:xfrm>
          <a:prstGeom prst="rect">
            <a:avLst/>
          </a:prstGeom>
          <a:noFill/>
          <a:ln/>
        </p:spPr>
        <p:txBody>
          <a:bodyPr wrap="square" lIns="25400" tIns="25400" rIns="25400" bIns="25400" rtlCol="0" anchor="t">
            <a:noAutofit/>
          </a:bodyPr>
          <a:lstStyle/>
          <a:p>
            <a:pPr marL="0" indent="0" algn="l">
              <a:buNone/>
            </a:pPr>
            <a:r>
              <a:rPr lang="en-US" sz="2800" dirty="0">
                <a:solidFill>
                  <a:srgbClr val="20242A"/>
                </a:solidFill>
                <a:latin typeface="Times New Roman" panose="02020603050405020304" pitchFamily="18" charset="0"/>
                <a:ea typeface="Arial" pitchFamily="34" charset="-122"/>
                <a:cs typeface="Times New Roman" panose="02020603050405020304" pitchFamily="18" charset="0"/>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762000" y="552450"/>
            <a:ext cx="18440400" cy="647700"/>
          </a:xfrm>
          <a:prstGeom prst="rect">
            <a:avLst/>
          </a:prstGeom>
          <a:noFill/>
          <a:ln/>
        </p:spPr>
        <p:txBody>
          <a:bodyPr wrap="square" lIns="25400" tIns="25400" rIns="25400" bIns="25400" rtlCol="0" anchor="t">
            <a:normAutofit lnSpcReduction="10000"/>
          </a:bodyPr>
          <a:lstStyle/>
          <a:p>
            <a:pPr marL="0" indent="0" algn="l">
              <a:lnSpc>
                <a:spcPct val="95294"/>
              </a:lnSpc>
              <a:buNone/>
            </a:pPr>
            <a:r>
              <a:rPr lang="en-US" sz="4500" b="1" dirty="0">
                <a:solidFill>
                  <a:srgbClr val="111111"/>
                </a:solidFill>
                <a:latin typeface="Georgia" pitchFamily="34" charset="0"/>
                <a:ea typeface="Georgia" pitchFamily="34" charset="-122"/>
                <a:cs typeface="Georgia" pitchFamily="34" charset="-120"/>
              </a:rPr>
              <a:t>IL PROBLEMA E LE STRATEGIE IN SINTESI</a:t>
            </a:r>
          </a:p>
        </p:txBody>
      </p:sp>
      <p:sp>
        <p:nvSpPr>
          <p:cNvPr id="3" name="Text 1"/>
          <p:cNvSpPr/>
          <p:nvPr/>
        </p:nvSpPr>
        <p:spPr>
          <a:xfrm>
            <a:off x="762000" y="1485900"/>
            <a:ext cx="14716125" cy="1104900"/>
          </a:xfrm>
          <a:prstGeom prst="rect">
            <a:avLst/>
          </a:prstGeom>
          <a:noFill/>
          <a:ln/>
        </p:spPr>
        <p:txBody>
          <a:bodyPr wrap="square" lIns="25400" tIns="25400" rIns="25400" bIns="25400" rtlCol="0" anchor="t">
            <a:normAutofit lnSpcReduction="10000"/>
          </a:bodyPr>
          <a:lstStyle/>
          <a:p>
            <a:pPr marL="0" indent="0" algn="l">
              <a:lnSpc>
                <a:spcPct val="124444"/>
              </a:lnSpc>
              <a:buNone/>
            </a:pPr>
            <a:r>
              <a:rPr lang="en-US" sz="3000" dirty="0">
                <a:solidFill>
                  <a:srgbClr val="111111"/>
                </a:solidFill>
                <a:latin typeface="Times New Roman" panose="02020603050405020304" pitchFamily="18" charset="0"/>
                <a:ea typeface="Arial" pitchFamily="34" charset="-122"/>
                <a:cs typeface="Times New Roman" panose="02020603050405020304" pitchFamily="18" charset="0"/>
              </a:rPr>
              <a:t>Rendere l'algoritmo di Shor più efficace e resiliente quando l'hardware quantistico introduce errori.</a:t>
            </a:r>
          </a:p>
        </p:txBody>
      </p:sp>
      <p:sp>
        <p:nvSpPr>
          <p:cNvPr id="4" name="Shape 2"/>
          <p:cNvSpPr/>
          <p:nvPr/>
        </p:nvSpPr>
        <p:spPr>
          <a:xfrm>
            <a:off x="762000" y="3800799"/>
            <a:ext cx="4838700" cy="2857500"/>
          </a:xfrm>
          <a:prstGeom prst="roundRect">
            <a:avLst>
              <a:gd name="adj" fmla="val 8667"/>
            </a:avLst>
          </a:prstGeom>
          <a:solidFill>
            <a:srgbClr val="14567E"/>
          </a:solidFill>
          <a:ln/>
        </p:spPr>
        <p:txBody>
          <a:bodyPr/>
          <a:lstStyle/>
          <a:p>
            <a:endParaRPr lang="it-IT">
              <a:latin typeface="Times New Roman" panose="02020603050405020304" pitchFamily="18" charset="0"/>
              <a:cs typeface="Times New Roman" panose="02020603050405020304" pitchFamily="18" charset="0"/>
            </a:endParaRPr>
          </a:p>
        </p:txBody>
      </p:sp>
      <p:sp>
        <p:nvSpPr>
          <p:cNvPr id="5" name="Text 3"/>
          <p:cNvSpPr/>
          <p:nvPr/>
        </p:nvSpPr>
        <p:spPr>
          <a:xfrm>
            <a:off x="1085850" y="4212573"/>
            <a:ext cx="457200" cy="361950"/>
          </a:xfrm>
          <a:prstGeom prst="rect">
            <a:avLst/>
          </a:prstGeom>
          <a:noFill/>
          <a:ln/>
        </p:spPr>
        <p:txBody>
          <a:bodyPr wrap="square" lIns="25400" tIns="25400" rIns="25400" bIns="25400" rtlCol="0" anchor="t">
            <a:normAutofit fontScale="92500" lnSpcReduction="10000"/>
          </a:bodyPr>
          <a:lstStyle/>
          <a:p>
            <a:pPr marL="0" indent="0" algn="l">
              <a:lnSpc>
                <a:spcPct val="87179"/>
              </a:lnSpc>
              <a:buNone/>
            </a:pPr>
            <a:r>
              <a:rPr lang="en-US" sz="2550" dirty="0">
                <a:solidFill>
                  <a:srgbClr val="FFFFFF"/>
                </a:solidFill>
                <a:latin typeface="Times New Roman" panose="02020603050405020304" pitchFamily="18" charset="0"/>
                <a:ea typeface="Arial" pitchFamily="34" charset="-122"/>
                <a:cs typeface="Times New Roman" panose="02020603050405020304" pitchFamily="18" charset="0"/>
              </a:rPr>
              <a:t>⚠</a:t>
            </a:r>
            <a:endParaRPr lang="en-US" sz="2550" dirty="0">
              <a:latin typeface="Times New Roman" panose="02020603050405020304" pitchFamily="18" charset="0"/>
              <a:cs typeface="Times New Roman" panose="02020603050405020304" pitchFamily="18" charset="0"/>
            </a:endParaRPr>
          </a:p>
        </p:txBody>
      </p:sp>
      <p:sp>
        <p:nvSpPr>
          <p:cNvPr id="6" name="Text 4"/>
          <p:cNvSpPr/>
          <p:nvPr/>
        </p:nvSpPr>
        <p:spPr>
          <a:xfrm>
            <a:off x="1543050" y="4086549"/>
            <a:ext cx="2465323" cy="466725"/>
          </a:xfrm>
          <a:prstGeom prst="rect">
            <a:avLst/>
          </a:prstGeom>
          <a:noFill/>
          <a:ln/>
        </p:spPr>
        <p:txBody>
          <a:bodyPr wrap="square" lIns="25400" tIns="25400" rIns="25400" bIns="25400" rtlCol="0" anchor="t">
            <a:normAutofit lnSpcReduction="10000"/>
          </a:bodyPr>
          <a:lstStyle/>
          <a:p>
            <a:pPr marL="0" indent="0" algn="l">
              <a:buNone/>
            </a:pPr>
            <a:r>
              <a:rPr lang="en-US" sz="3000" b="1" kern="0" spc="60" dirty="0">
                <a:solidFill>
                  <a:srgbClr val="FFFFFF"/>
                </a:solidFill>
                <a:latin typeface="Times New Roman" panose="02020603050405020304" pitchFamily="18" charset="0"/>
                <a:ea typeface="Arial" pitchFamily="34" charset="-122"/>
                <a:cs typeface="Times New Roman" panose="02020603050405020304" pitchFamily="18" charset="0"/>
              </a:rPr>
              <a:t>PROBLEMA</a:t>
            </a:r>
          </a:p>
        </p:txBody>
      </p:sp>
      <p:sp>
        <p:nvSpPr>
          <p:cNvPr id="7" name="Text 5"/>
          <p:cNvSpPr/>
          <p:nvPr/>
        </p:nvSpPr>
        <p:spPr>
          <a:xfrm>
            <a:off x="1085850" y="4667574"/>
            <a:ext cx="4316730" cy="1209675"/>
          </a:xfrm>
          <a:prstGeom prst="rect">
            <a:avLst/>
          </a:prstGeom>
          <a:noFill/>
          <a:ln/>
        </p:spPr>
        <p:txBody>
          <a:bodyPr wrap="square" lIns="25400" tIns="25400" rIns="25400" bIns="25400" rtlCol="0" anchor="t">
            <a:normAutofit lnSpcReduction="10000"/>
          </a:bodyPr>
          <a:lstStyle/>
          <a:p>
            <a:pPr marL="0" indent="0" algn="l">
              <a:lnSpc>
                <a:spcPct val="116250"/>
              </a:lnSpc>
              <a:buNone/>
            </a:pPr>
            <a:r>
              <a:rPr lang="en-US" sz="2325" dirty="0">
                <a:solidFill>
                  <a:srgbClr val="FFFFFF"/>
                </a:solidFill>
                <a:latin typeface="Times New Roman" panose="02020603050405020304" pitchFamily="18" charset="0"/>
                <a:ea typeface="Arial" pitchFamily="34" charset="-122"/>
                <a:cs typeface="Times New Roman" panose="02020603050405020304" pitchFamily="18" charset="0"/>
              </a:rPr>
              <a:t>Shor riesce al 75% già senza errori; errori di porta, decoerenza e misura lo abbassano ancora.</a:t>
            </a:r>
          </a:p>
        </p:txBody>
      </p:sp>
      <p:sp>
        <p:nvSpPr>
          <p:cNvPr id="8" name="Text 6"/>
          <p:cNvSpPr/>
          <p:nvPr/>
        </p:nvSpPr>
        <p:spPr>
          <a:xfrm>
            <a:off x="5972175" y="4953324"/>
            <a:ext cx="514350" cy="552450"/>
          </a:xfrm>
          <a:prstGeom prst="rect">
            <a:avLst/>
          </a:prstGeom>
          <a:noFill/>
          <a:ln/>
        </p:spPr>
        <p:txBody>
          <a:bodyPr wrap="square" lIns="25400" tIns="25400" rIns="25400" bIns="25400" rtlCol="0" anchor="t">
            <a:noAutofit/>
          </a:bodyPr>
          <a:lstStyle/>
          <a:p>
            <a:pPr marL="0" indent="0" algn="l">
              <a:buNone/>
            </a:pPr>
            <a:r>
              <a:rPr lang="en-US" sz="4000" b="1" dirty="0">
                <a:solidFill>
                  <a:srgbClr val="14567E"/>
                </a:solidFill>
                <a:latin typeface="Times New Roman" panose="02020603050405020304" pitchFamily="18" charset="0"/>
                <a:ea typeface="Arial" pitchFamily="34" charset="-122"/>
                <a:cs typeface="Times New Roman" panose="02020603050405020304" pitchFamily="18" charset="0"/>
              </a:rPr>
              <a:t>→</a:t>
            </a:r>
            <a:endParaRPr lang="en-US" sz="4000" dirty="0">
              <a:latin typeface="Times New Roman" panose="02020603050405020304" pitchFamily="18" charset="0"/>
              <a:cs typeface="Times New Roman" panose="02020603050405020304" pitchFamily="18" charset="0"/>
            </a:endParaRPr>
          </a:p>
        </p:txBody>
      </p:sp>
      <p:sp>
        <p:nvSpPr>
          <p:cNvPr id="9" name="Shape 7"/>
          <p:cNvSpPr/>
          <p:nvPr/>
        </p:nvSpPr>
        <p:spPr>
          <a:xfrm>
            <a:off x="6724650" y="3800799"/>
            <a:ext cx="4838700" cy="2857500"/>
          </a:xfrm>
          <a:prstGeom prst="roundRect">
            <a:avLst>
              <a:gd name="adj" fmla="val 8667"/>
            </a:avLst>
          </a:prstGeom>
          <a:solidFill>
            <a:srgbClr val="14567E"/>
          </a:solidFill>
          <a:ln/>
        </p:spPr>
        <p:txBody>
          <a:bodyPr/>
          <a:lstStyle/>
          <a:p>
            <a:endParaRPr lang="it-IT">
              <a:latin typeface="Times New Roman" panose="02020603050405020304" pitchFamily="18" charset="0"/>
              <a:cs typeface="Times New Roman" panose="02020603050405020304" pitchFamily="18" charset="0"/>
            </a:endParaRPr>
          </a:p>
        </p:txBody>
      </p:sp>
      <p:sp>
        <p:nvSpPr>
          <p:cNvPr id="10" name="Text 8"/>
          <p:cNvSpPr/>
          <p:nvPr/>
        </p:nvSpPr>
        <p:spPr>
          <a:xfrm>
            <a:off x="6986588" y="4212573"/>
            <a:ext cx="271314" cy="361950"/>
          </a:xfrm>
          <a:prstGeom prst="rect">
            <a:avLst/>
          </a:prstGeom>
          <a:noFill/>
          <a:ln/>
        </p:spPr>
        <p:txBody>
          <a:bodyPr wrap="square" lIns="25400" tIns="25400" rIns="25400" bIns="25400" rtlCol="0" anchor="t">
            <a:normAutofit fontScale="92500" lnSpcReduction="10000"/>
          </a:bodyPr>
          <a:lstStyle/>
          <a:p>
            <a:pPr marL="0" indent="0" algn="l">
              <a:lnSpc>
                <a:spcPct val="87179"/>
              </a:lnSpc>
              <a:buNone/>
            </a:pPr>
            <a:r>
              <a:rPr lang="en-US" sz="2550" dirty="0">
                <a:solidFill>
                  <a:srgbClr val="FFFFFF"/>
                </a:solidFill>
                <a:latin typeface="Times New Roman" panose="02020603050405020304" pitchFamily="18" charset="0"/>
                <a:ea typeface="Arial" pitchFamily="34" charset="-122"/>
                <a:cs typeface="Times New Roman" panose="02020603050405020304" pitchFamily="18" charset="0"/>
              </a:rPr>
              <a:t>⚙</a:t>
            </a:r>
            <a:endParaRPr lang="en-US" sz="2550" dirty="0">
              <a:latin typeface="Times New Roman" panose="02020603050405020304" pitchFamily="18" charset="0"/>
              <a:cs typeface="Times New Roman" panose="02020603050405020304" pitchFamily="18" charset="0"/>
            </a:endParaRPr>
          </a:p>
        </p:txBody>
      </p:sp>
      <p:sp>
        <p:nvSpPr>
          <p:cNvPr id="11" name="Text 9"/>
          <p:cNvSpPr/>
          <p:nvPr/>
        </p:nvSpPr>
        <p:spPr>
          <a:xfrm>
            <a:off x="7376964" y="4086549"/>
            <a:ext cx="2520330" cy="466725"/>
          </a:xfrm>
          <a:prstGeom prst="rect">
            <a:avLst/>
          </a:prstGeom>
          <a:noFill/>
          <a:ln/>
        </p:spPr>
        <p:txBody>
          <a:bodyPr wrap="square" lIns="25400" tIns="25400" rIns="25400" bIns="25400" rtlCol="0" anchor="t">
            <a:normAutofit lnSpcReduction="10000"/>
          </a:bodyPr>
          <a:lstStyle/>
          <a:p>
            <a:pPr marL="0" indent="0" algn="l">
              <a:buNone/>
            </a:pPr>
            <a:r>
              <a:rPr lang="en-US" sz="3000" b="1" kern="0" spc="60" dirty="0">
                <a:solidFill>
                  <a:srgbClr val="FFFFFF"/>
                </a:solidFill>
                <a:latin typeface="Times New Roman" panose="02020603050405020304" pitchFamily="18" charset="0"/>
                <a:ea typeface="Arial" pitchFamily="34" charset="-122"/>
                <a:cs typeface="Times New Roman" panose="02020603050405020304" pitchFamily="18" charset="0"/>
              </a:rPr>
              <a:t>STRATEGIE</a:t>
            </a:r>
          </a:p>
        </p:txBody>
      </p:sp>
      <p:sp>
        <p:nvSpPr>
          <p:cNvPr id="12" name="Text 10"/>
          <p:cNvSpPr/>
          <p:nvPr/>
        </p:nvSpPr>
        <p:spPr>
          <a:xfrm>
            <a:off x="7048500" y="4667574"/>
            <a:ext cx="4316730" cy="1209675"/>
          </a:xfrm>
          <a:prstGeom prst="rect">
            <a:avLst/>
          </a:prstGeom>
          <a:noFill/>
          <a:ln/>
        </p:spPr>
        <p:txBody>
          <a:bodyPr wrap="square" lIns="25400" tIns="25400" rIns="25400" bIns="25400" rtlCol="0" anchor="t">
            <a:normAutofit lnSpcReduction="10000"/>
          </a:bodyPr>
          <a:lstStyle/>
          <a:p>
            <a:pPr marL="0" indent="0" algn="l">
              <a:lnSpc>
                <a:spcPct val="116250"/>
              </a:lnSpc>
              <a:buNone/>
            </a:pPr>
            <a:r>
              <a:rPr lang="en-US" sz="2325" dirty="0">
                <a:solidFill>
                  <a:srgbClr val="FFFFFF"/>
                </a:solidFill>
                <a:latin typeface="Times New Roman" panose="02020603050405020304" pitchFamily="18" charset="0"/>
                <a:ea typeface="Arial" pitchFamily="34" charset="-122"/>
                <a:cs typeface="Times New Roman" panose="02020603050405020304" pitchFamily="18" charset="0"/>
              </a:rPr>
              <a:t>Machine learning sui risultati, correzione degli errori e QFT approssimata, in simulazione.</a:t>
            </a:r>
          </a:p>
        </p:txBody>
      </p:sp>
      <p:sp>
        <p:nvSpPr>
          <p:cNvPr id="13" name="Text 11"/>
          <p:cNvSpPr/>
          <p:nvPr/>
        </p:nvSpPr>
        <p:spPr>
          <a:xfrm>
            <a:off x="11887200" y="4876800"/>
            <a:ext cx="514350" cy="533400"/>
          </a:xfrm>
          <a:prstGeom prst="rect">
            <a:avLst/>
          </a:prstGeom>
          <a:noFill/>
          <a:ln/>
        </p:spPr>
        <p:txBody>
          <a:bodyPr wrap="square" lIns="25400" tIns="25400" rIns="25400" bIns="25400" rtlCol="0" anchor="t">
            <a:noAutofit/>
          </a:bodyPr>
          <a:lstStyle/>
          <a:p>
            <a:pPr marL="0" indent="0" algn="l">
              <a:buNone/>
            </a:pPr>
            <a:r>
              <a:rPr lang="en-US" sz="4000" b="1" dirty="0">
                <a:solidFill>
                  <a:srgbClr val="14567E"/>
                </a:solidFill>
                <a:latin typeface="Times New Roman" panose="02020603050405020304" pitchFamily="18" charset="0"/>
                <a:ea typeface="Arial" pitchFamily="34" charset="-122"/>
                <a:cs typeface="Times New Roman" panose="02020603050405020304" pitchFamily="18" charset="0"/>
              </a:rPr>
              <a:t>→</a:t>
            </a:r>
            <a:endParaRPr lang="en-US" sz="4000" dirty="0">
              <a:latin typeface="Times New Roman" panose="02020603050405020304" pitchFamily="18" charset="0"/>
              <a:cs typeface="Times New Roman" panose="02020603050405020304" pitchFamily="18" charset="0"/>
            </a:endParaRPr>
          </a:p>
        </p:txBody>
      </p:sp>
      <p:sp>
        <p:nvSpPr>
          <p:cNvPr id="14" name="Shape 12"/>
          <p:cNvSpPr/>
          <p:nvPr/>
        </p:nvSpPr>
        <p:spPr>
          <a:xfrm>
            <a:off x="12687300" y="3800799"/>
            <a:ext cx="4838700" cy="2857500"/>
          </a:xfrm>
          <a:prstGeom prst="roundRect">
            <a:avLst>
              <a:gd name="adj" fmla="val 8667"/>
            </a:avLst>
          </a:prstGeom>
          <a:solidFill>
            <a:srgbClr val="14567E"/>
          </a:solidFill>
          <a:ln/>
        </p:spPr>
        <p:txBody>
          <a:bodyPr/>
          <a:lstStyle/>
          <a:p>
            <a:endParaRPr lang="it-IT">
              <a:latin typeface="Times New Roman" panose="02020603050405020304" pitchFamily="18" charset="0"/>
              <a:cs typeface="Times New Roman" panose="02020603050405020304" pitchFamily="18" charset="0"/>
            </a:endParaRPr>
          </a:p>
        </p:txBody>
      </p:sp>
      <p:sp>
        <p:nvSpPr>
          <p:cNvPr id="15" name="Text 13"/>
          <p:cNvSpPr/>
          <p:nvPr/>
        </p:nvSpPr>
        <p:spPr>
          <a:xfrm>
            <a:off x="13011150" y="4138937"/>
            <a:ext cx="323701" cy="361950"/>
          </a:xfrm>
          <a:prstGeom prst="rect">
            <a:avLst/>
          </a:prstGeom>
          <a:noFill/>
          <a:ln/>
        </p:spPr>
        <p:txBody>
          <a:bodyPr wrap="square" lIns="25400" tIns="25400" rIns="25400" bIns="25400" rtlCol="0" anchor="t">
            <a:normAutofit lnSpcReduction="10000"/>
          </a:bodyPr>
          <a:lstStyle/>
          <a:p>
            <a:pPr marL="0" indent="0" algn="l">
              <a:lnSpc>
                <a:spcPct val="87179"/>
              </a:lnSpc>
              <a:buNone/>
            </a:pPr>
            <a:r>
              <a:rPr lang="en-US" sz="2550" dirty="0">
                <a:solidFill>
                  <a:srgbClr val="FFFFFF"/>
                </a:solidFill>
                <a:latin typeface="Times New Roman" panose="02020603050405020304" pitchFamily="18" charset="0"/>
                <a:ea typeface="Arial" pitchFamily="34" charset="-122"/>
                <a:cs typeface="Times New Roman" panose="02020603050405020304" pitchFamily="18" charset="0"/>
              </a:rPr>
              <a:t>✓</a:t>
            </a:r>
            <a:endParaRPr lang="en-US" sz="2550" dirty="0">
              <a:latin typeface="Times New Roman" panose="02020603050405020304" pitchFamily="18" charset="0"/>
              <a:cs typeface="Times New Roman" panose="02020603050405020304" pitchFamily="18" charset="0"/>
            </a:endParaRPr>
          </a:p>
        </p:txBody>
      </p:sp>
      <p:sp>
        <p:nvSpPr>
          <p:cNvPr id="16" name="Text 14"/>
          <p:cNvSpPr/>
          <p:nvPr/>
        </p:nvSpPr>
        <p:spPr>
          <a:xfrm>
            <a:off x="13451962" y="4043386"/>
            <a:ext cx="2372663" cy="466725"/>
          </a:xfrm>
          <a:prstGeom prst="rect">
            <a:avLst/>
          </a:prstGeom>
          <a:noFill/>
          <a:ln/>
        </p:spPr>
        <p:txBody>
          <a:bodyPr wrap="square" lIns="25400" tIns="25400" rIns="25400" bIns="25400" rtlCol="0" anchor="t">
            <a:normAutofit lnSpcReduction="10000"/>
          </a:bodyPr>
          <a:lstStyle/>
          <a:p>
            <a:pPr marL="0" indent="0" algn="l">
              <a:buNone/>
            </a:pPr>
            <a:r>
              <a:rPr lang="en-US" sz="3000" b="1" kern="0" spc="60" dirty="0">
                <a:solidFill>
                  <a:srgbClr val="FFFFFF"/>
                </a:solidFill>
                <a:latin typeface="Times New Roman" panose="02020603050405020304" pitchFamily="18" charset="0"/>
                <a:ea typeface="Arial" pitchFamily="34" charset="-122"/>
                <a:cs typeface="Times New Roman" panose="02020603050405020304" pitchFamily="18" charset="0"/>
              </a:rPr>
              <a:t>RISULTATO</a:t>
            </a:r>
          </a:p>
        </p:txBody>
      </p:sp>
      <p:sp>
        <p:nvSpPr>
          <p:cNvPr id="17" name="Text 15"/>
          <p:cNvSpPr/>
          <p:nvPr/>
        </p:nvSpPr>
        <p:spPr>
          <a:xfrm>
            <a:off x="13011150" y="4667574"/>
            <a:ext cx="4316730" cy="1209675"/>
          </a:xfrm>
          <a:prstGeom prst="rect">
            <a:avLst/>
          </a:prstGeom>
          <a:noFill/>
          <a:ln/>
        </p:spPr>
        <p:txBody>
          <a:bodyPr wrap="square" lIns="25400" tIns="25400" rIns="25400" bIns="25400" rtlCol="0" anchor="t">
            <a:normAutofit lnSpcReduction="10000"/>
          </a:bodyPr>
          <a:lstStyle/>
          <a:p>
            <a:pPr marL="0" indent="0" algn="l">
              <a:lnSpc>
                <a:spcPct val="116250"/>
              </a:lnSpc>
              <a:buNone/>
            </a:pPr>
            <a:r>
              <a:rPr lang="en-US" sz="2325" dirty="0">
                <a:solidFill>
                  <a:srgbClr val="FFFFFF"/>
                </a:solidFill>
                <a:latin typeface="Times New Roman" panose="02020603050405020304" pitchFamily="18" charset="0"/>
                <a:ea typeface="Arial" pitchFamily="34" charset="-122"/>
                <a:cs typeface="Times New Roman" panose="02020603050405020304" pitchFamily="18" charset="0"/>
              </a:rPr>
              <a:t>Il ML non aggiunge informazione; la correzione funziona sotto soglia; l'AQFT dà +14,87 punti.</a:t>
            </a:r>
          </a:p>
        </p:txBody>
      </p:sp>
      <p:sp>
        <p:nvSpPr>
          <p:cNvPr id="18" name="Shape 16"/>
          <p:cNvSpPr/>
          <p:nvPr/>
        </p:nvSpPr>
        <p:spPr>
          <a:xfrm>
            <a:off x="0" y="9467850"/>
            <a:ext cx="18288000" cy="819150"/>
          </a:xfrm>
          <a:prstGeom prst="rect">
            <a:avLst/>
          </a:prstGeom>
          <a:solidFill>
            <a:srgbClr val="1170C8"/>
          </a:solidFill>
          <a:ln/>
        </p:spPr>
        <p:txBody>
          <a:bodyPr/>
          <a:lstStyle/>
          <a:p>
            <a:endParaRPr lang="it-IT"/>
          </a:p>
        </p:txBody>
      </p:sp>
      <p:pic>
        <p:nvPicPr>
          <p:cNvPr id="19" name="Picture 18" descr="image.png"/>
          <p:cNvPicPr>
            <a:picLocks noChangeAspect="1"/>
          </p:cNvPicPr>
          <p:nvPr/>
        </p:nvPicPr>
        <p:blipFill>
          <a:blip r:embed="rId2"/>
          <a:stretch>
            <a:fillRect/>
          </a:stretch>
        </p:blipFill>
        <p:spPr>
          <a:xfrm>
            <a:off x="16904021" y="9218222"/>
            <a:ext cx="1243958" cy="10326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1446244" y="1663826"/>
            <a:ext cx="3394496" cy="2466104"/>
          </a:xfrm>
          <a:prstGeom prst="roundRect">
            <a:avLst>
              <a:gd name="adj" fmla="val 7226"/>
            </a:avLst>
          </a:prstGeom>
          <a:solidFill>
            <a:srgbClr val="3F73B0"/>
          </a:solidFill>
          <a:ln/>
        </p:spPr>
        <p:txBody>
          <a:bodyPr/>
          <a:lstStyle/>
          <a:p>
            <a:endParaRPr lang="en-GB">
              <a:latin typeface="Times New Roman"/>
            </a:endParaRPr>
          </a:p>
        </p:txBody>
      </p:sp>
      <p:sp>
        <p:nvSpPr>
          <p:cNvPr id="7" name="Text 3"/>
          <p:cNvSpPr/>
          <p:nvPr/>
        </p:nvSpPr>
        <p:spPr>
          <a:xfrm>
            <a:off x="1588795" y="1824196"/>
            <a:ext cx="498928" cy="498928"/>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2525"/>
              </a:lnSpc>
              <a:buNone/>
            </a:pPr>
            <a:r>
              <a:rPr lang="en-US" sz="2526" b="1" dirty="0">
                <a:solidFill>
                  <a:srgbClr val="125C97"/>
                </a:solidFill>
                <a:latin typeface="Times New Roman"/>
                <a:ea typeface="Arial" pitchFamily="34" charset="-122"/>
                <a:cs typeface="Arial" pitchFamily="34" charset="-120"/>
              </a:rPr>
              <a:t>1</a:t>
            </a:r>
            <a:endParaRPr lang="en-US" sz="2526" dirty="0">
              <a:latin typeface="Times New Roman"/>
            </a:endParaRPr>
          </a:p>
        </p:txBody>
      </p:sp>
      <p:sp>
        <p:nvSpPr>
          <p:cNvPr id="8" name="Text 4"/>
          <p:cNvSpPr/>
          <p:nvPr/>
        </p:nvSpPr>
        <p:spPr>
          <a:xfrm>
            <a:off x="1588795" y="2394400"/>
            <a:ext cx="3202676" cy="890943"/>
          </a:xfrm>
          <a:prstGeom prst="rect">
            <a:avLst/>
          </a:prstGeom>
          <a:noFill/>
          <a:ln/>
        </p:spPr>
        <p:txBody>
          <a:bodyPr wrap="square" lIns="0" tIns="0" rIns="0" bIns="0" rtlCol="0" anchor="t">
            <a:normAutofit/>
          </a:bodyPr>
          <a:lstStyle/>
          <a:p>
            <a:pPr marL="0" indent="0" algn="l">
              <a:lnSpc>
                <a:spcPts val="3367"/>
              </a:lnSpc>
              <a:buNone/>
            </a:pPr>
            <a:r>
              <a:rPr lang="en-US" sz="2806" b="1" dirty="0">
                <a:solidFill>
                  <a:srgbClr val="FFFFFF"/>
                </a:solidFill>
                <a:latin typeface="Times New Roman"/>
                <a:ea typeface="Arial" pitchFamily="34" charset="-122"/>
                <a:cs typeface="Arial" pitchFamily="34" charset="-120"/>
              </a:rPr>
              <a:t>Pre-processing</a:t>
            </a:r>
            <a:endParaRPr lang="en-US" sz="2806" dirty="0">
              <a:latin typeface="Times New Roman"/>
            </a:endParaRPr>
          </a:p>
          <a:p>
            <a:pPr marL="0" indent="0" algn="l">
              <a:lnSpc>
                <a:spcPts val="3367"/>
              </a:lnSpc>
              <a:buNone/>
            </a:pPr>
            <a:r>
              <a:rPr lang="en-US" sz="2806" b="1" dirty="0">
                <a:solidFill>
                  <a:srgbClr val="FFFFFF"/>
                </a:solidFill>
                <a:latin typeface="Times New Roman"/>
                <a:ea typeface="Arial" pitchFamily="34" charset="-122"/>
                <a:cs typeface="Arial" pitchFamily="34" charset="-120"/>
              </a:rPr>
              <a:t>classico</a:t>
            </a:r>
            <a:endParaRPr lang="en-US" sz="2806" dirty="0">
              <a:latin typeface="Times New Roman"/>
            </a:endParaRPr>
          </a:p>
        </p:txBody>
      </p:sp>
      <p:sp>
        <p:nvSpPr>
          <p:cNvPr id="9" name="Text 5"/>
          <p:cNvSpPr/>
          <p:nvPr/>
        </p:nvSpPr>
        <p:spPr>
          <a:xfrm>
            <a:off x="1588795" y="3320982"/>
            <a:ext cx="3202676" cy="712755"/>
          </a:xfrm>
          <a:prstGeom prst="rect">
            <a:avLst/>
          </a:prstGeom>
          <a:noFill/>
          <a:ln/>
        </p:spPr>
        <p:txBody>
          <a:bodyPr wrap="square" lIns="0" tIns="0" rIns="0" bIns="0" rtlCol="0" anchor="t">
            <a:noAutofit/>
          </a:bodyPr>
          <a:lstStyle/>
          <a:p>
            <a:pPr marL="0" indent="0" algn="l">
              <a:lnSpc>
                <a:spcPts val="2553"/>
              </a:lnSpc>
              <a:buNone/>
            </a:pPr>
            <a:r>
              <a:rPr lang="en-US" sz="1824" dirty="0">
                <a:solidFill>
                  <a:srgbClr val="FFFFFF"/>
                </a:solidFill>
                <a:latin typeface="Times New Roman"/>
                <a:ea typeface="Arial" pitchFamily="34" charset="-122"/>
                <a:cs typeface="Arial" pitchFamily="34" charset="-120"/>
              </a:rPr>
              <a:t>base a con MCD(a, N) = 1</a:t>
            </a:r>
            <a:endParaRPr lang="en-US" sz="1824" dirty="0">
              <a:latin typeface="Times New Roman"/>
            </a:endParaRPr>
          </a:p>
        </p:txBody>
      </p:sp>
      <p:pic>
        <p:nvPicPr>
          <p:cNvPr id="10" name="Image 2" descr="arrow-right"/>
          <p:cNvPicPr>
            <a:picLocks noChangeAspect="1"/>
          </p:cNvPicPr>
          <p:nvPr/>
        </p:nvPicPr>
        <p:blipFill>
          <a:blip r:embed="rId3"/>
          <a:srcRect/>
          <a:stretch/>
        </p:blipFill>
        <p:spPr>
          <a:xfrm>
            <a:off x="4947654" y="2772146"/>
            <a:ext cx="392015" cy="249464"/>
          </a:xfrm>
          <a:prstGeom prst="rect">
            <a:avLst/>
          </a:prstGeom>
        </p:spPr>
      </p:pic>
      <p:sp>
        <p:nvSpPr>
          <p:cNvPr id="11" name="Shape 6"/>
          <p:cNvSpPr/>
          <p:nvPr/>
        </p:nvSpPr>
        <p:spPr>
          <a:xfrm>
            <a:off x="5446582" y="1663826"/>
            <a:ext cx="3394496" cy="2466104"/>
          </a:xfrm>
          <a:prstGeom prst="roundRect">
            <a:avLst>
              <a:gd name="adj" fmla="val 7226"/>
            </a:avLst>
          </a:prstGeom>
          <a:solidFill>
            <a:srgbClr val="125C97"/>
          </a:solidFill>
          <a:ln/>
        </p:spPr>
        <p:txBody>
          <a:bodyPr/>
          <a:lstStyle/>
          <a:p>
            <a:endParaRPr lang="en-GB">
              <a:latin typeface="Times New Roman"/>
            </a:endParaRPr>
          </a:p>
        </p:txBody>
      </p:sp>
      <p:sp>
        <p:nvSpPr>
          <p:cNvPr id="12" name="Text 7"/>
          <p:cNvSpPr/>
          <p:nvPr/>
        </p:nvSpPr>
        <p:spPr>
          <a:xfrm>
            <a:off x="5589133" y="1824196"/>
            <a:ext cx="498928" cy="498928"/>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2525"/>
              </a:lnSpc>
              <a:buNone/>
            </a:pPr>
            <a:r>
              <a:rPr lang="en-US" sz="2526" b="1" dirty="0">
                <a:solidFill>
                  <a:srgbClr val="125C97"/>
                </a:solidFill>
                <a:latin typeface="Times New Roman"/>
                <a:ea typeface="Arial" pitchFamily="34" charset="-122"/>
                <a:cs typeface="Arial" pitchFamily="34" charset="-120"/>
              </a:rPr>
              <a:t>2</a:t>
            </a:r>
            <a:endParaRPr lang="en-US" sz="2526" dirty="0">
              <a:latin typeface="Times New Roman"/>
            </a:endParaRPr>
          </a:p>
        </p:txBody>
      </p:sp>
      <p:sp>
        <p:nvSpPr>
          <p:cNvPr id="13" name="Text 8"/>
          <p:cNvSpPr/>
          <p:nvPr/>
        </p:nvSpPr>
        <p:spPr>
          <a:xfrm>
            <a:off x="5589133" y="2394400"/>
            <a:ext cx="3202676" cy="890943"/>
          </a:xfrm>
          <a:prstGeom prst="rect">
            <a:avLst/>
          </a:prstGeom>
          <a:noFill/>
          <a:ln/>
        </p:spPr>
        <p:txBody>
          <a:bodyPr wrap="square" lIns="0" tIns="0" rIns="0" bIns="0" rtlCol="0" anchor="t">
            <a:normAutofit/>
          </a:bodyPr>
          <a:lstStyle/>
          <a:p>
            <a:pPr marL="0" indent="0" algn="l">
              <a:lnSpc>
                <a:spcPts val="3367"/>
              </a:lnSpc>
              <a:buNone/>
            </a:pPr>
            <a:r>
              <a:rPr lang="en-US" sz="2806" b="1" dirty="0">
                <a:solidFill>
                  <a:srgbClr val="FFFFFF"/>
                </a:solidFill>
                <a:latin typeface="Times New Roman"/>
                <a:ea typeface="Arial" pitchFamily="34" charset="-122"/>
                <a:cs typeface="Arial" pitchFamily="34" charset="-120"/>
              </a:rPr>
              <a:t>Ricerca</a:t>
            </a:r>
            <a:endParaRPr lang="en-US" sz="2806" dirty="0">
              <a:latin typeface="Times New Roman"/>
            </a:endParaRPr>
          </a:p>
          <a:p>
            <a:pPr marL="0" indent="0" algn="l">
              <a:lnSpc>
                <a:spcPts val="3367"/>
              </a:lnSpc>
              <a:buNone/>
            </a:pPr>
            <a:r>
              <a:rPr lang="en-US" sz="2806" b="1" dirty="0">
                <a:solidFill>
                  <a:srgbClr val="FFFFFF"/>
                </a:solidFill>
                <a:latin typeface="Times New Roman"/>
                <a:ea typeface="Arial" pitchFamily="34" charset="-122"/>
                <a:cs typeface="Arial" pitchFamily="34" charset="-120"/>
              </a:rPr>
              <a:t>del periodo</a:t>
            </a:r>
            <a:endParaRPr lang="en-US" sz="2806" dirty="0">
              <a:latin typeface="Times New Roman"/>
            </a:endParaRPr>
          </a:p>
        </p:txBody>
      </p:sp>
      <p:sp>
        <p:nvSpPr>
          <p:cNvPr id="14" name="Text 9"/>
          <p:cNvSpPr/>
          <p:nvPr/>
        </p:nvSpPr>
        <p:spPr>
          <a:xfrm>
            <a:off x="5589133" y="3320982"/>
            <a:ext cx="3202676" cy="712755"/>
          </a:xfrm>
          <a:prstGeom prst="rect">
            <a:avLst/>
          </a:prstGeom>
          <a:noFill/>
          <a:ln/>
        </p:spPr>
        <p:txBody>
          <a:bodyPr wrap="square" lIns="0" tIns="0" rIns="0" bIns="0" rtlCol="0" anchor="t">
            <a:noAutofit/>
          </a:bodyPr>
          <a:lstStyle/>
          <a:p>
            <a:pPr marL="0" indent="0" algn="l">
              <a:lnSpc>
                <a:spcPts val="2553"/>
              </a:lnSpc>
              <a:buNone/>
            </a:pPr>
            <a:r>
              <a:rPr lang="en-US" sz="1824" dirty="0">
                <a:solidFill>
                  <a:srgbClr val="FFFFFF"/>
                </a:solidFill>
                <a:latin typeface="Times New Roman"/>
                <a:ea typeface="Arial" pitchFamily="34" charset="-122"/>
                <a:cs typeface="Arial" pitchFamily="34" charset="-120"/>
              </a:rPr>
              <a:t>esponenziazione modulare e QPE (stima di fase)</a:t>
            </a:r>
            <a:endParaRPr lang="en-US" sz="1824" dirty="0">
              <a:latin typeface="Times New Roman"/>
            </a:endParaRPr>
          </a:p>
        </p:txBody>
      </p:sp>
      <p:pic>
        <p:nvPicPr>
          <p:cNvPr id="15" name="Image 3" descr="arrow-right"/>
          <p:cNvPicPr>
            <a:picLocks noChangeAspect="1"/>
          </p:cNvPicPr>
          <p:nvPr/>
        </p:nvPicPr>
        <p:blipFill>
          <a:blip r:embed="rId3"/>
          <a:srcRect/>
          <a:stretch/>
        </p:blipFill>
        <p:spPr>
          <a:xfrm>
            <a:off x="8947992" y="2772146"/>
            <a:ext cx="392015" cy="249464"/>
          </a:xfrm>
          <a:prstGeom prst="rect">
            <a:avLst/>
          </a:prstGeom>
        </p:spPr>
      </p:pic>
      <p:sp>
        <p:nvSpPr>
          <p:cNvPr id="16" name="Shape 10"/>
          <p:cNvSpPr/>
          <p:nvPr/>
        </p:nvSpPr>
        <p:spPr>
          <a:xfrm>
            <a:off x="9446920" y="1663826"/>
            <a:ext cx="3394496" cy="2466104"/>
          </a:xfrm>
          <a:prstGeom prst="roundRect">
            <a:avLst>
              <a:gd name="adj" fmla="val 7226"/>
            </a:avLst>
          </a:prstGeom>
          <a:solidFill>
            <a:srgbClr val="3F73B0"/>
          </a:solidFill>
          <a:ln/>
        </p:spPr>
        <p:txBody>
          <a:bodyPr/>
          <a:lstStyle/>
          <a:p>
            <a:endParaRPr lang="en-GB">
              <a:latin typeface="Times New Roman"/>
            </a:endParaRPr>
          </a:p>
        </p:txBody>
      </p:sp>
      <p:sp>
        <p:nvSpPr>
          <p:cNvPr id="17" name="Text 11"/>
          <p:cNvSpPr/>
          <p:nvPr/>
        </p:nvSpPr>
        <p:spPr>
          <a:xfrm>
            <a:off x="9589471" y="1824196"/>
            <a:ext cx="498928" cy="498928"/>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2525"/>
              </a:lnSpc>
              <a:buNone/>
            </a:pPr>
            <a:r>
              <a:rPr lang="en-US" sz="2526" b="1" dirty="0">
                <a:solidFill>
                  <a:srgbClr val="125C97"/>
                </a:solidFill>
                <a:latin typeface="Times New Roman"/>
                <a:ea typeface="Arial" pitchFamily="34" charset="-122"/>
                <a:cs typeface="Arial" pitchFamily="34" charset="-120"/>
              </a:rPr>
              <a:t>3</a:t>
            </a:r>
            <a:endParaRPr lang="en-US" sz="2526" dirty="0">
              <a:latin typeface="Times New Roman"/>
            </a:endParaRPr>
          </a:p>
        </p:txBody>
      </p:sp>
      <p:sp>
        <p:nvSpPr>
          <p:cNvPr id="18" name="Text 12"/>
          <p:cNvSpPr/>
          <p:nvPr/>
        </p:nvSpPr>
        <p:spPr>
          <a:xfrm>
            <a:off x="9589471" y="2394400"/>
            <a:ext cx="3202676" cy="890943"/>
          </a:xfrm>
          <a:prstGeom prst="rect">
            <a:avLst/>
          </a:prstGeom>
          <a:noFill/>
          <a:ln/>
        </p:spPr>
        <p:txBody>
          <a:bodyPr wrap="square" lIns="0" tIns="0" rIns="0" bIns="0" rtlCol="0" anchor="t">
            <a:normAutofit/>
          </a:bodyPr>
          <a:lstStyle/>
          <a:p>
            <a:pPr marL="0" indent="0" algn="l">
              <a:lnSpc>
                <a:spcPts val="3367"/>
              </a:lnSpc>
              <a:buNone/>
            </a:pPr>
            <a:r>
              <a:rPr lang="en-US" sz="2806" b="1" dirty="0">
                <a:solidFill>
                  <a:srgbClr val="FFFFFF"/>
                </a:solidFill>
                <a:latin typeface="Times New Roman"/>
                <a:ea typeface="Arial" pitchFamily="34" charset="-122"/>
                <a:cs typeface="Arial" pitchFamily="34" charset="-120"/>
              </a:rPr>
              <a:t>QFT inversa</a:t>
            </a:r>
            <a:endParaRPr lang="en-US" sz="2806" dirty="0">
              <a:latin typeface="Times New Roman"/>
            </a:endParaRPr>
          </a:p>
          <a:p>
            <a:pPr marL="0" indent="0" algn="l">
              <a:lnSpc>
                <a:spcPts val="3367"/>
              </a:lnSpc>
              <a:buNone/>
            </a:pPr>
            <a:r>
              <a:rPr lang="en-US" sz="2806" b="1" dirty="0">
                <a:solidFill>
                  <a:srgbClr val="FFFFFF"/>
                </a:solidFill>
                <a:latin typeface="Times New Roman"/>
                <a:ea typeface="Arial" pitchFamily="34" charset="-122"/>
                <a:cs typeface="Arial" pitchFamily="34" charset="-120"/>
              </a:rPr>
              <a:t>e misura</a:t>
            </a:r>
            <a:endParaRPr lang="en-US" sz="2806" dirty="0">
              <a:latin typeface="Times New Roman"/>
            </a:endParaRPr>
          </a:p>
        </p:txBody>
      </p:sp>
      <p:sp>
        <p:nvSpPr>
          <p:cNvPr id="19" name="Text 13"/>
          <p:cNvSpPr/>
          <p:nvPr/>
        </p:nvSpPr>
        <p:spPr>
          <a:xfrm>
            <a:off x="9589471" y="3320982"/>
            <a:ext cx="3202676" cy="712755"/>
          </a:xfrm>
          <a:prstGeom prst="rect">
            <a:avLst/>
          </a:prstGeom>
          <a:noFill/>
          <a:ln/>
        </p:spPr>
        <p:txBody>
          <a:bodyPr wrap="square" lIns="0" tIns="0" rIns="0" bIns="0" rtlCol="0" anchor="t">
            <a:noAutofit/>
          </a:bodyPr>
          <a:lstStyle/>
          <a:p>
            <a:pPr marL="0" indent="0" algn="l">
              <a:lnSpc>
                <a:spcPts val="2553"/>
              </a:lnSpc>
              <a:buNone/>
            </a:pPr>
            <a:r>
              <a:rPr lang="es-ES" sz="1824">
                <a:solidFill>
                  <a:srgbClr val="FFFFFF"/>
                </a:solidFill>
                <a:latin typeface="Times New Roman"/>
                <a:ea typeface="Arial" pitchFamily="34" charset="-122"/>
                <a:cs typeface="Arial" pitchFamily="34" charset="-120"/>
              </a:rPr>
              <a:t>esito y: y / </a:t>
            </a:r>
            <a:r>
              <a:rPr lang="es-ES" sz="1824">
                <a:solidFill>
                  <a:srgbClr val="FFFFFF"/>
                </a:solidFill>
                <a:latin typeface="Times New Roman"/>
                <a:ea typeface="Arial" pitchFamily="34" charset="-122"/>
                <a:cs typeface="Arial" pitchFamily="34" charset="-120"/>
              </a:rPr>
              <a:t>2</a:t>
            </a:r>
            <a:r>
              <a:rPr lang="es-ES" sz="1824" baseline="30000">
                <a:solidFill>
                  <a:srgbClr val="FFFFFF"/>
                </a:solidFill>
                <a:latin typeface="Times New Roman"/>
                <a:ea typeface="Arial" pitchFamily="34" charset="-122"/>
                <a:cs typeface="Arial" pitchFamily="34" charset="-120"/>
              </a:rPr>
              <a:t>m</a:t>
            </a:r>
            <a:r>
              <a:rPr lang="es-ES" sz="1824">
                <a:solidFill>
                  <a:srgbClr val="FFFFFF"/>
                </a:solidFill>
                <a:latin typeface="Times New Roman"/>
                <a:ea typeface="Arial" pitchFamily="34" charset="-122"/>
                <a:cs typeface="Arial" pitchFamily="34" charset="-120"/>
              </a:rPr>
              <a:t> ≈ s / r</a:t>
            </a:r>
            <a:endParaRPr lang="en-US" sz="1824" dirty="0">
              <a:latin typeface="Times New Roman"/>
            </a:endParaRPr>
          </a:p>
        </p:txBody>
      </p:sp>
      <p:pic>
        <p:nvPicPr>
          <p:cNvPr id="20" name="Image 4" descr="arrow-right"/>
          <p:cNvPicPr>
            <a:picLocks noChangeAspect="1"/>
          </p:cNvPicPr>
          <p:nvPr/>
        </p:nvPicPr>
        <p:blipFill>
          <a:blip r:embed="rId3"/>
          <a:srcRect/>
          <a:stretch/>
        </p:blipFill>
        <p:spPr>
          <a:xfrm>
            <a:off x="12948330" y="2772146"/>
            <a:ext cx="392015" cy="249464"/>
          </a:xfrm>
          <a:prstGeom prst="rect">
            <a:avLst/>
          </a:prstGeom>
        </p:spPr>
      </p:pic>
      <p:sp>
        <p:nvSpPr>
          <p:cNvPr id="21" name="Shape 14"/>
          <p:cNvSpPr/>
          <p:nvPr/>
        </p:nvSpPr>
        <p:spPr>
          <a:xfrm>
            <a:off x="13447258" y="1663826"/>
            <a:ext cx="3394496" cy="2466104"/>
          </a:xfrm>
          <a:prstGeom prst="roundRect">
            <a:avLst>
              <a:gd name="adj" fmla="val 7226"/>
            </a:avLst>
          </a:prstGeom>
          <a:solidFill>
            <a:srgbClr val="125C97"/>
          </a:solidFill>
          <a:ln/>
        </p:spPr>
        <p:txBody>
          <a:bodyPr/>
          <a:lstStyle/>
          <a:p>
            <a:endParaRPr lang="en-GB">
              <a:latin typeface="Times New Roman"/>
            </a:endParaRPr>
          </a:p>
        </p:txBody>
      </p:sp>
      <p:sp>
        <p:nvSpPr>
          <p:cNvPr id="22" name="Text 15"/>
          <p:cNvSpPr/>
          <p:nvPr/>
        </p:nvSpPr>
        <p:spPr>
          <a:xfrm>
            <a:off x="13589809" y="1824196"/>
            <a:ext cx="498928" cy="498928"/>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2525"/>
              </a:lnSpc>
              <a:buNone/>
            </a:pPr>
            <a:r>
              <a:rPr lang="en-US" sz="2526" b="1" dirty="0">
                <a:solidFill>
                  <a:srgbClr val="125C97"/>
                </a:solidFill>
                <a:latin typeface="Times New Roman"/>
                <a:ea typeface="Arial" pitchFamily="34" charset="-122"/>
                <a:cs typeface="Arial" pitchFamily="34" charset="-120"/>
              </a:rPr>
              <a:t>4</a:t>
            </a:r>
            <a:endParaRPr lang="en-US" sz="2526" dirty="0">
              <a:latin typeface="Times New Roman"/>
            </a:endParaRPr>
          </a:p>
        </p:txBody>
      </p:sp>
      <p:sp>
        <p:nvSpPr>
          <p:cNvPr id="23" name="Text 16"/>
          <p:cNvSpPr/>
          <p:nvPr/>
        </p:nvSpPr>
        <p:spPr>
          <a:xfrm>
            <a:off x="13589809" y="2394400"/>
            <a:ext cx="3202676" cy="890943"/>
          </a:xfrm>
          <a:prstGeom prst="rect">
            <a:avLst/>
          </a:prstGeom>
          <a:noFill/>
          <a:ln/>
        </p:spPr>
        <p:txBody>
          <a:bodyPr wrap="square" lIns="0" tIns="0" rIns="0" bIns="0" rtlCol="0" anchor="t">
            <a:normAutofit/>
          </a:bodyPr>
          <a:lstStyle/>
          <a:p>
            <a:pPr marL="0" indent="0" algn="l">
              <a:lnSpc>
                <a:spcPts val="3367"/>
              </a:lnSpc>
              <a:buNone/>
            </a:pPr>
            <a:r>
              <a:rPr lang="en-US" sz="2806" b="1" dirty="0">
                <a:solidFill>
                  <a:srgbClr val="FFFFFF"/>
                </a:solidFill>
                <a:latin typeface="Times New Roman"/>
                <a:ea typeface="Arial" pitchFamily="34" charset="-122"/>
                <a:cs typeface="Arial" pitchFamily="34" charset="-120"/>
              </a:rPr>
              <a:t>Post-processing</a:t>
            </a:r>
            <a:endParaRPr lang="en-US" sz="2806" dirty="0">
              <a:latin typeface="Times New Roman"/>
            </a:endParaRPr>
          </a:p>
          <a:p>
            <a:pPr marL="0" indent="0" algn="l">
              <a:lnSpc>
                <a:spcPts val="3367"/>
              </a:lnSpc>
              <a:buNone/>
            </a:pPr>
            <a:r>
              <a:rPr lang="en-US" sz="2806" b="1" dirty="0">
                <a:solidFill>
                  <a:srgbClr val="FFFFFF"/>
                </a:solidFill>
                <a:latin typeface="Times New Roman"/>
                <a:ea typeface="Arial" pitchFamily="34" charset="-122"/>
                <a:cs typeface="Arial" pitchFamily="34" charset="-120"/>
              </a:rPr>
              <a:t>classico</a:t>
            </a:r>
            <a:endParaRPr lang="en-US" sz="2806" dirty="0">
              <a:latin typeface="Times New Roman"/>
            </a:endParaRPr>
          </a:p>
        </p:txBody>
      </p:sp>
      <p:sp>
        <p:nvSpPr>
          <p:cNvPr id="24" name="Text 17"/>
          <p:cNvSpPr/>
          <p:nvPr/>
        </p:nvSpPr>
        <p:spPr>
          <a:xfrm>
            <a:off x="13589809" y="3320982"/>
            <a:ext cx="3202676" cy="712755"/>
          </a:xfrm>
          <a:prstGeom prst="rect">
            <a:avLst/>
          </a:prstGeom>
          <a:noFill/>
          <a:ln/>
        </p:spPr>
        <p:txBody>
          <a:bodyPr wrap="square" lIns="0" tIns="0" rIns="0" bIns="0" rtlCol="0" anchor="t">
            <a:noAutofit/>
          </a:bodyPr>
          <a:lstStyle/>
          <a:p>
            <a:pPr marL="0" indent="0" algn="l">
              <a:lnSpc>
                <a:spcPts val="2553"/>
              </a:lnSpc>
              <a:buNone/>
            </a:pPr>
            <a:r>
              <a:rPr lang="en-US" sz="1824">
                <a:solidFill>
                  <a:srgbClr val="FFFFFF"/>
                </a:solidFill>
                <a:latin typeface="Times New Roman"/>
                <a:ea typeface="Arial" pitchFamily="34" charset="-122"/>
                <a:cs typeface="Arial" pitchFamily="34" charset="-120"/>
              </a:rPr>
              <a:t>frazioni continue e MCD</a:t>
            </a:r>
            <a:endParaRPr lang="en-US" sz="1824" dirty="0">
              <a:latin typeface="Times New Roman"/>
            </a:endParaRPr>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1446244" y="4379395"/>
            <a:ext cx="9265816" cy="3011390"/>
          </a:xfrm>
          <a:prstGeom prst="rect">
            <a:avLst/>
          </a:prstGeom>
        </p:spPr>
      </p:pic>
      <p:sp>
        <p:nvSpPr>
          <p:cNvPr id="26" name="Text 18"/>
          <p:cNvSpPr/>
          <p:nvPr/>
        </p:nvSpPr>
        <p:spPr>
          <a:xfrm>
            <a:off x="1446244" y="7568974"/>
            <a:ext cx="9543790" cy="962219"/>
          </a:xfrm>
          <a:prstGeom prst="rect">
            <a:avLst/>
          </a:prstGeom>
          <a:noFill/>
          <a:ln/>
        </p:spPr>
        <p:txBody>
          <a:bodyPr wrap="square" lIns="0" tIns="0" rIns="0" bIns="0" rtlCol="0" anchor="t">
            <a:normAutofit fontScale="77500" lnSpcReduction="20000"/>
          </a:bodyPr>
          <a:lstStyle/>
          <a:p>
            <a:pPr marL="0" indent="0" algn="l">
              <a:lnSpc>
                <a:spcPts val="3647"/>
              </a:lnSpc>
              <a:buNone/>
            </a:pPr>
            <a:r>
              <a:rPr lang="en-US" sz="2806" dirty="0">
                <a:solidFill>
                  <a:srgbClr val="1F2933"/>
                </a:solidFill>
                <a:latin typeface="Times New Roman"/>
                <a:ea typeface="Arial" pitchFamily="34" charset="-122"/>
                <a:cs typeface="Arial" pitchFamily="34" charset="-120"/>
              </a:rPr>
              <a:t>N da fattorizzare, a base coprima con N, r periodo di </a:t>
            </a:r>
            <a:r>
              <a:rPr lang="en-US" sz="2806" dirty="0">
                <a:solidFill>
                  <a:srgbClr val="1F2933"/>
                </a:solidFill>
                <a:latin typeface="Times New Roman"/>
                <a:ea typeface="Arial" pitchFamily="34" charset="-122"/>
                <a:cs typeface="Arial" pitchFamily="34" charset="-120"/>
              </a:rPr>
              <a:t>a</a:t>
            </a:r>
            <a:r>
              <a:rPr lang="en-US" sz="2806" dirty="0" baseline="30000">
                <a:solidFill>
                  <a:srgbClr val="1F2933"/>
                </a:solidFill>
                <a:latin typeface="Times New Roman"/>
                <a:ea typeface="Arial" pitchFamily="34" charset="-122"/>
                <a:cs typeface="Arial" pitchFamily="34" charset="-120"/>
              </a:rPr>
              <a:t>x</a:t>
            </a:r>
            <a:r>
              <a:rPr lang="en-US" sz="2806" dirty="0">
                <a:solidFill>
                  <a:srgbClr val="1F2933"/>
                </a:solidFill>
                <a:latin typeface="Times New Roman"/>
                <a:ea typeface="Arial" pitchFamily="34" charset="-122"/>
                <a:cs typeface="Arial" pitchFamily="34" charset="-120"/>
              </a:rPr>
              <a:t> mod N. Con N = 15 e a = 7, </a:t>
            </a:r>
            <a:r>
              <a:rPr lang="en-US" sz="2806" dirty="0">
                <a:solidFill>
                  <a:srgbClr val="1F2933"/>
                </a:solidFill>
                <a:latin typeface="Times New Roman"/>
                <a:ea typeface="Arial" pitchFamily="34" charset="-122"/>
                <a:cs typeface="Arial" pitchFamily="34" charset="-120"/>
              </a:rPr>
              <a:t>7</a:t>
            </a:r>
            <a:r>
              <a:rPr lang="en-US" sz="2806" dirty="0" baseline="30000">
                <a:solidFill>
                  <a:srgbClr val="1F2933"/>
                </a:solidFill>
                <a:latin typeface="Times New Roman"/>
                <a:ea typeface="Arial" pitchFamily="34" charset="-122"/>
                <a:cs typeface="Arial" pitchFamily="34" charset="-120"/>
              </a:rPr>
              <a:t>x</a:t>
            </a:r>
            <a:r>
              <a:rPr lang="en-US" sz="2806" dirty="0">
                <a:solidFill>
                  <a:srgbClr val="1F2933"/>
                </a:solidFill>
                <a:latin typeface="Times New Roman"/>
                <a:ea typeface="Arial" pitchFamily="34" charset="-122"/>
                <a:cs typeface="Arial" pitchFamily="34" charset="-120"/>
              </a:rPr>
              <a:t> mod 15 si ripete ogni 4 valori: </a:t>
            </a:r>
            <a:r>
              <a:rPr lang="en-US" sz="2806" b="1" dirty="0">
                <a:solidFill>
                  <a:srgbClr val="1F2933"/>
                </a:solidFill>
                <a:latin typeface="Times New Roman"/>
                <a:ea typeface="Arial" pitchFamily="34" charset="-122"/>
                <a:cs typeface="Arial" pitchFamily="34" charset="-120"/>
              </a:rPr>
              <a:t>r = 4</a:t>
            </a:r>
            <a:r>
              <a:rPr lang="en-US" sz="2806" dirty="0">
                <a:solidFill>
                  <a:srgbClr val="1F2933"/>
                </a:solidFill>
                <a:latin typeface="Times New Roman"/>
                <a:ea typeface="Arial" pitchFamily="34" charset="-122"/>
                <a:cs typeface="Arial" pitchFamily="34" charset="-120"/>
              </a:rPr>
              <a:t>, da cui </a:t>
            </a:r>
            <a:r>
              <a:rPr lang="en-US" sz="2806" b="1" dirty="0">
                <a:solidFill>
                  <a:srgbClr val="1F2933"/>
                </a:solidFill>
                <a:latin typeface="Times New Roman"/>
                <a:ea typeface="Arial" pitchFamily="34" charset="-122"/>
                <a:cs typeface="Arial" pitchFamily="34" charset="-120"/>
              </a:rPr>
              <a:t>15 = 3 × 5</a:t>
            </a:r>
            <a:r>
              <a:rPr lang="en-US" sz="2806" dirty="0">
                <a:solidFill>
                  <a:srgbClr val="1F2933"/>
                </a:solidFill>
                <a:latin typeface="Times New Roman"/>
                <a:ea typeface="Arial" pitchFamily="34" charset="-122"/>
                <a:cs typeface="Arial" pitchFamily="34" charset="-120"/>
              </a:rPr>
              <a:t>.</a:t>
            </a:r>
            <a:endParaRPr lang="en-US" sz="2806" dirty="0">
              <a:latin typeface="Times New Roman"/>
            </a:endParaRPr>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13545262" y="4379395"/>
            <a:ext cx="3296492" cy="3189579"/>
          </a:xfrm>
          <a:prstGeom prst="rect">
            <a:avLst/>
          </a:prstGeom>
        </p:spPr>
      </p:pic>
      <p:sp>
        <p:nvSpPr>
          <p:cNvPr id="28" name="Text 19"/>
          <p:cNvSpPr/>
          <p:nvPr/>
        </p:nvSpPr>
        <p:spPr>
          <a:xfrm>
            <a:off x="11282265" y="7675887"/>
            <a:ext cx="5559489" cy="1008506"/>
          </a:xfrm>
          <a:prstGeom prst="rect">
            <a:avLst/>
          </a:prstGeom>
          <a:noFill/>
          <a:ln/>
        </p:spPr>
        <p:txBody>
          <a:bodyPr wrap="square" lIns="0" tIns="0" rIns="0" bIns="0" rtlCol="0" anchor="t">
            <a:normAutofit/>
          </a:bodyPr>
          <a:lstStyle/>
          <a:p>
            <a:pPr marL="0" indent="0" algn="l">
              <a:lnSpc>
                <a:spcPts val="2553"/>
              </a:lnSpc>
              <a:buNone/>
            </a:pPr>
            <a:r>
              <a:rPr lang="en-US" sz="1964" dirty="0">
                <a:solidFill>
                  <a:srgbClr val="5B6573"/>
                </a:solidFill>
                <a:latin typeface="Times New Roman"/>
                <a:ea typeface="Arial" pitchFamily="34" charset="-122"/>
                <a:cs typeface="Arial" pitchFamily="34" charset="-120"/>
              </a:rPr>
              <a:t>Circuito per N = 15: 8 qubit di controllo (C) e 4 di lavoro (T), esponenziazione modulare controllata, QFT inversa e misura</a:t>
            </a:r>
            <a:endParaRPr lang="en-US" sz="1964" dirty="0">
              <a:latin typeface="Times New Roman"/>
            </a:endParaRPr>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762000" y="380000"/>
            <a:ext cx="16764000" cy="950000"/>
          </a:xfrm>
          <a:prstGeom prst="rect">
            <a:avLst/>
          </a:prstGeom>
          <a:noFill/>
          <a:ln w="0">
            <a:noFill/>
          </a:ln>
        </p:spPr>
        <p:txBody>
          <a:bodyPr wrap="square">
            <a:noAutofit/>
          </a:bodyPr>
          <a:lstStyle/>
          <a:p>
            <a:pPr>
              <a:defRPr sz="2700" b="0">
                <a:solidFill>
                  <a:srgbClr val="003366"/>
                </a:solidFill>
                <a:latin typeface="Times New Roman"/>
                <a:ea typeface="Arial"/>
                <a:cs typeface="Arial"/>
              </a:defRPr>
            </a:pPr>
            <a:r>
              <a:rPr lang="it-IT" sz="4000" b="1">
                <a:solidFill>
                  <a:srgbClr val="111111"/>
                </a:solidFill>
                <a:latin typeface="Times New Roman"/>
                <a:ea typeface="Arial"/>
                <a:cs typeface="Arial"/>
              </a:rPr>
              <a:t>COME FUNZIONA L'ALGORITMO DI SHOR</a:t>
            </a:r>
            <a:endParaRPr sz="2700" b="0">
              <a:solidFill>
                <a:srgbClr val="003366"/>
              </a:solidFill>
              <a:latin typeface="Times New Roman"/>
              <a:ea typeface="Arial"/>
              <a:cs typeface="Arial"/>
            </a:endParaRPr>
          </a:p>
        </p:txBody>
      </p:sp>
      <p:sp>
        <p:nvSpPr>
          <p:cNvPr id="28" name="Shape 26"/>
          <p:cNvSpPr/>
          <p:nvPr/>
        </p:nvSpPr>
        <p:spPr>
          <a:xfrm>
            <a:off x="0" y="9467850"/>
            <a:ext cx="18288000" cy="819150"/>
          </a:xfrm>
          <a:prstGeom prst="rect">
            <a:avLst/>
          </a:prstGeom>
          <a:solidFill>
            <a:srgbClr val="1170C8"/>
          </a:solidFill>
          <a:ln/>
        </p:spPr>
        <p:txBody>
          <a:bodyPr/>
          <a:lstStyle/>
          <a:p>
            <a:endParaRPr lang="it-IT">
              <a:latin typeface="Times New Roman" panose="02020603050405020304" pitchFamily="18" charset="0"/>
              <a:cs typeface="Times New Roman" panose="02020603050405020304" pitchFamily="18" charset="0"/>
            </a:endParaRPr>
          </a:p>
        </p:txBody>
      </p:sp>
      <p:pic>
        <p:nvPicPr>
          <p:cNvPr id="32" name="Picture 31" descr="image.png"/>
          <p:cNvPicPr>
            <a:picLocks noChangeAspect="1"/>
          </p:cNvPicPr>
          <p:nvPr/>
        </p:nvPicPr>
        <p:blipFill>
          <a:blip r:embed="rId7"/>
          <a:stretch>
            <a:fillRect/>
          </a:stretch>
        </p:blipFill>
        <p:spPr>
          <a:xfrm>
            <a:off x="16904021" y="9218222"/>
            <a:ext cx="1243958" cy="1032656"/>
          </a:xfrm>
          <a:prstGeom prst="rect">
            <a:avLst/>
          </a:prstGeom>
        </p:spPr>
      </p:pic>
    </p:spTree>
    <p:extLst>
      <p:ext uri="{BB962C8B-B14F-4D97-AF65-F5344CB8AC3E}">
        <p14:creationId xmlns:p14="http://schemas.microsoft.com/office/powerpoint/2010/main" val="413659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3_shor_successo_vs_pg.png"/>
          <p:cNvPicPr>
            <a:picLocks noChangeAspect="1"/>
          </p:cNvPicPr>
          <p:nvPr/>
        </p:nvPicPr>
        <p:blipFill>
          <a:blip r:embed="rId5"/>
          <a:stretch>
            <a:fillRect/>
          </a:stretch>
        </p:blipFill>
        <p:spPr>
          <a:xfrm>
            <a:off x="1446244" y="1672735"/>
            <a:ext cx="8934796" cy="5746588"/>
          </a:xfrm>
          <a:prstGeom prst="rect">
            <a:avLst/>
          </a:prstGeom>
        </p:spPr>
      </p:pic>
      <p:sp>
        <p:nvSpPr>
          <p:cNvPr id="11" name="Rectangle 10">
            <a:extLst>
              <a:ext uri="{FF2B5EF4-FFF2-40B4-BE49-F238E27FC236}">
                <a16:creationId xmlns:a16="http://schemas.microsoft.com/office/drawing/2014/main" id="{95D582BE-7568-4FB4-B778-5A7052E72D90}"/>
              </a:ext>
            </a:extLst>
          </p:cNvPr>
          <p:cNvSpPr>
            <a:spLocks noGrp="1"/>
          </p:cNvSpPr>
          <p:nvPr/>
        </p:nvSpPr>
        <p:spPr>
          <a:xfrm>
            <a:off x="762000" y="380000"/>
            <a:ext cx="16764000" cy="950000"/>
          </a:xfrm>
          <a:prstGeom prst="rect">
            <a:avLst/>
          </a:prstGeom>
          <a:noFill/>
          <a:ln w="0">
            <a:noFill/>
          </a:ln>
        </p:spPr>
        <p:txBody>
          <a:bodyPr wrap="square">
            <a:noAutofit/>
          </a:bodyPr>
          <a:lstStyle/>
          <a:p>
            <a:pPr>
              <a:defRPr sz="2700" b="0">
                <a:solidFill>
                  <a:srgbClr val="003366"/>
                </a:solidFill>
                <a:latin typeface="Times New Roman"/>
                <a:ea typeface="Arial"/>
                <a:cs typeface="Arial"/>
              </a:defRPr>
            </a:pPr>
            <a:r>
              <a:rPr lang="it-IT" sz="4000" b="1">
                <a:solidFill>
                  <a:srgbClr val="111111"/>
                </a:solidFill>
                <a:latin typeface="Times New Roman"/>
                <a:ea typeface="Arial"/>
                <a:cs typeface="Arial"/>
              </a:rPr>
              <a:t>QUANTO IL RUMORE DEGRADA SHOR</a:t>
            </a:r>
            <a:endParaRPr sz="2700" b="0">
              <a:solidFill>
                <a:srgbClr val="003366"/>
              </a:solidFill>
              <a:latin typeface="Times New Roman"/>
              <a:ea typeface="Arial"/>
              <a:cs typeface="Arial"/>
            </a:endParaRPr>
          </a:p>
        </p:txBody>
      </p:sp>
      <p:sp>
        <p:nvSpPr>
          <p:cNvPr id="6" name="Rectangle 5">
            <a:extLst>
              <a:ext uri="{FF2B5EF4-FFF2-40B4-BE49-F238E27FC236}">
                <a16:creationId xmlns:a16="http://schemas.microsoft.com/office/drawing/2014/main" id="{697603FF-05F2-4F40-B8B9-3DC8702E9642}"/>
              </a:ext>
            </a:extLst>
          </p:cNvPr>
          <p:cNvSpPr>
            <a:spLocks noGrp="1"/>
          </p:cNvSpPr>
          <p:nvPr/>
        </p:nvSpPr>
        <p:spPr>
          <a:xfrm>
            <a:off x="11549548" y="1926654"/>
            <a:ext cx="5292206" cy="1122589"/>
          </a:xfrm>
          <a:prstGeom prst="rect">
            <a:avLst/>
          </a:prstGeom>
          <a:noFill/>
          <a:ln w="0">
            <a:noFill/>
          </a:ln>
        </p:spPr>
        <p:txBody>
          <a:bodyPr>
            <a:noAutofit/>
          </a:bodyPr>
          <a:lstStyle/>
          <a:p>
            <a:pPr>
              <a:defRPr sz="6314" b="1">
                <a:solidFill>
                  <a:srgbClr val="175F99"/>
                </a:solidFill>
                <a:latin typeface="Times New Roman"/>
                <a:ea typeface="Arial"/>
                <a:cs typeface="Arial"/>
              </a:defRPr>
            </a:pPr>
            <a:r>
              <a:rPr sz="6314" b="1">
                <a:solidFill>
                  <a:srgbClr val="175F99"/>
                </a:solidFill>
                <a:latin typeface="Times New Roman"/>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11549548" y="2924655"/>
            <a:ext cx="5292206" cy="890943"/>
          </a:xfrm>
          <a:prstGeom prst="rect">
            <a:avLst/>
          </a:prstGeom>
          <a:noFill/>
          <a:ln w="0">
            <a:noFill/>
          </a:ln>
        </p:spPr>
        <p:txBody>
          <a:bodyPr>
            <a:noAutofit/>
          </a:bodyPr>
          <a:lstStyle/>
          <a:p>
            <a:pPr>
              <a:defRPr sz="2841" b="0">
                <a:solidFill>
                  <a:srgbClr val="203344"/>
                </a:solidFill>
                <a:latin typeface="Times New Roman"/>
                <a:ea typeface="Arial"/>
                <a:cs typeface="Arial"/>
              </a:defRPr>
            </a:pPr>
            <a:r>
              <a:rPr sz="2841" b="0">
                <a:solidFill>
                  <a:srgbClr val="203344"/>
                </a:solidFill>
                <a:latin typeface="Times New Roman"/>
                <a:ea typeface="Arial"/>
                <a:cs typeface="Arial"/>
              </a:rPr>
              <a:t>Successo senza rumore</a:t>
            </a:r>
          </a:p>
          <a:p>
            <a:pPr>
              <a:defRPr sz="2841" b="0">
                <a:solidFill>
                  <a:srgbClr val="203344"/>
                </a:solidFill>
                <a:latin typeface="Times New Roman"/>
                <a:ea typeface="Arial"/>
                <a:cs typeface="Arial"/>
              </a:defRPr>
            </a:pPr>
            <a:r>
              <a:rPr sz="2841" b="0">
                <a:solidFill>
                  <a:srgbClr val="203344"/>
                </a:solidFill>
                <a:latin typeface="Times New Roman"/>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11549548" y="5619617"/>
            <a:ext cx="5292206" cy="1781887"/>
          </a:xfrm>
          <a:prstGeom prst="rect">
            <a:avLst/>
          </a:prstGeom>
          <a:noFill/>
          <a:ln w="0">
            <a:noFill/>
          </a:ln>
        </p:spPr>
        <p:txBody>
          <a:bodyPr>
            <a:noAutofit/>
          </a:bodyPr>
          <a:lstStyle/>
          <a:p>
            <a:pPr>
              <a:defRPr sz="2946" b="0">
                <a:solidFill>
                  <a:srgbClr val="203344"/>
                </a:solidFill>
                <a:latin typeface="Times New Roman"/>
                <a:ea typeface="Arial"/>
                <a:cs typeface="Arial"/>
              </a:defRPr>
            </a:pPr>
            <a:r>
              <a:rPr lang="it-IT">
                <a:solidFill>
                  <a:srgbClr val="203344"/>
                </a:solidFill>
                <a:latin typeface="Times New Roman"/>
                <a:ea typeface="Arial"/>
                <a:cs typeface="Arial"/>
              </a:rPr>
              <a:t>45,2% con il 2%</a:t>
            </a:r>
          </a:p>
          <a:p>
            <a:pPr>
              <a:defRPr sz="2946" b="0">
                <a:solidFill>
                  <a:srgbClr val="203344"/>
                </a:solidFill>
                <a:latin typeface="Times New Roman"/>
                <a:ea typeface="Arial"/>
                <a:cs typeface="Arial"/>
              </a:defRPr>
            </a:pPr>
            <a:r>
              <a:rPr lang="it-IT">
                <a:solidFill>
                  <a:srgbClr val="203344"/>
                </a:solidFill>
                <a:latin typeface="Times New Roman"/>
                <a:ea typeface="Arial"/>
                <a:cs typeface="Arial"/>
              </a:rPr>
              <a:t>29,5% con il 5%</a:t>
            </a:r>
          </a:p>
          <a:p>
            <a:pPr>
              <a:defRPr sz="2946" b="0">
                <a:solidFill>
                  <a:srgbClr val="203344"/>
                </a:solidFill>
                <a:latin typeface="Times New Roman"/>
                <a:ea typeface="Arial"/>
                <a:cs typeface="Arial"/>
              </a:defRPr>
            </a:pPr>
            <a:r>
              <a:rPr lang="it-IT" sz="1789">
                <a:solidFill>
                  <a:srgbClr val="647487"/>
                </a:solidFill>
                <a:latin typeface="Times New Roman"/>
                <a:ea typeface="Arial"/>
                <a:cs typeface="Arial"/>
              </a:rPr>
              <a:t/>
            </a:r>
            <a:r>
              <a:rPr lang="it-IT" sz="1789">
                <a:solidFill>
                  <a:srgbClr val="647487"/>
                </a:solidFill>
                <a:latin typeface="Times New Roman"/>
                <a:ea typeface="Arial"/>
                <a:cs typeface="Arial"/>
              </a:rPr>
              <a:t>p</a:t>
            </a:r>
            <a:r>
              <a:rPr lang="it-IT" sz="1789" baseline="-25000">
                <a:solidFill>
                  <a:srgbClr val="647487"/>
                </a:solidFill>
                <a:latin typeface="Times New Roman"/>
                <a:ea typeface="Arial"/>
                <a:cs typeface="Arial"/>
              </a:rPr>
              <a:t>g</a:t>
            </a:r>
            <a:r>
              <a:rPr lang="it-IT" sz="1789">
                <a:solidFill>
                  <a:srgbClr val="647487"/>
                </a:solidFill>
                <a:latin typeface="Times New Roman"/>
                <a:ea typeface="Arial"/>
                <a:cs typeface="Arial"/>
              </a:rPr>
              <a:t>: probabilità di un operatore di Pauli casuale (X, Y, Z) dopo ogni porta</a:t>
            </a:r>
            <a:endParaRPr sz="1789" dirty="0">
              <a:solidFill>
                <a:srgbClr val="647487"/>
              </a:solidFill>
              <a:latin typeface="Times New Roman"/>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1446244" y="8399362"/>
            <a:ext cx="15395510" cy="748392"/>
          </a:xfrm>
          <a:prstGeom prst="rect">
            <a:avLst/>
          </a:prstGeom>
          <a:noFill/>
          <a:ln w="0">
            <a:noFill/>
          </a:ln>
        </p:spPr>
        <p:txBody>
          <a:bodyPr>
            <a:noAutofit/>
          </a:bodyPr>
          <a:lstStyle/>
          <a:p>
            <a:pPr>
              <a:defRPr sz="2736" b="1">
                <a:solidFill>
                  <a:srgbClr val="175F99"/>
                </a:solidFill>
                <a:latin typeface="Times New Roman"/>
                <a:ea typeface="Arial"/>
                <a:cs typeface="Arial"/>
              </a:defRPr>
            </a:pPr>
            <a:r>
              <a:rPr lang="it-IT" sz="2736" b="1">
                <a:solidFill>
                  <a:srgbClr val="175F99"/>
                </a:solidFill>
                <a:latin typeface="Times New Roman"/>
                <a:ea typeface="Arial"/>
                <a:cs typeface="Arial"/>
              </a:rPr>
              <a:t>Oltre il 10% di errore per porta, Shor è al livello del caso.</a:t>
            </a:r>
            <a:endParaRPr sz="2736" b="1">
              <a:solidFill>
                <a:srgbClr val="175F99"/>
              </a:solidFill>
              <a:latin typeface="Times New Roman"/>
              <a:ea typeface="Arial"/>
              <a:cs typeface="Arial"/>
            </a:endParaRPr>
          </a:p>
        </p:txBody>
      </p:sp>
      <p:sp>
        <p:nvSpPr>
          <p:cNvPr id="2" name="TextBox 1">
            <a:extLst>
              <a:ext uri="{FF2B5EF4-FFF2-40B4-BE49-F238E27FC236}">
                <a16:creationId xmlns:a16="http://schemas.microsoft.com/office/drawing/2014/main" id="{301B95E6-8F6E-174E-84E7-F52380DAC9A1}"/>
              </a:ext>
            </a:extLst>
          </p:cNvPr>
          <p:cNvSpPr txBox="1"/>
          <p:nvPr/>
        </p:nvSpPr>
        <p:spPr>
          <a:xfrm>
            <a:off x="11549548" y="3944642"/>
            <a:ext cx="5292206" cy="518195"/>
          </a:xfrm>
          <a:prstGeom prst="rect">
            <a:avLst/>
          </a:prstGeom>
          <a:noFill/>
        </p:spPr>
        <p:txBody>
          <a:bodyPr vert="horz" rtlCol="0">
            <a:spAutoFit/>
          </a:bodyPr>
          <a:lstStyle/>
          <a:p>
            <a:r>
              <a:rPr lang="en-GB" sz="2420" b="1">
                <a:solidFill>
                  <a:srgbClr val="175F99"/>
                </a:solidFill>
                <a:latin typeface="Times New Roman"/>
              </a:rPr>
              <a:t>Con rumore</a:t>
            </a:r>
          </a:p>
        </p:txBody>
      </p:sp>
      <p:sp>
        <p:nvSpPr>
          <p:cNvPr id="5" name="Rectangle: Rounded Corners 4">
            <a:extLst>
              <a:ext uri="{FF2B5EF4-FFF2-40B4-BE49-F238E27FC236}">
                <a16:creationId xmlns:a16="http://schemas.microsoft.com/office/drawing/2014/main" id="{68AF8C5D-BA12-A0D3-9003-1497B334212A}"/>
              </a:ext>
            </a:extLst>
          </p:cNvPr>
          <p:cNvSpPr/>
          <p:nvPr/>
        </p:nvSpPr>
        <p:spPr>
          <a:xfrm>
            <a:off x="11549548" y="4479209"/>
            <a:ext cx="5292206" cy="1033494"/>
          </a:xfrm>
          <a:prstGeom prst="roundRect">
            <a:avLst/>
          </a:prstGeom>
          <a:solidFill>
            <a:srgbClr val="FDF1E4"/>
          </a:solidFill>
          <a:ln w="26728">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lIns="178188" tIns="35637" bIns="35637" rtlCol="0" anchor="ctr"/>
          <a:lstStyle/>
          <a:p>
            <a:r>
              <a:rPr lang="it-IT" sz="3648" b="1">
                <a:solidFill>
                  <a:srgbClr val="B5641A"/>
                </a:solidFill>
                <a:latin typeface="Times New Roman"/>
              </a:rPr>
              <a:t>56,5%</a:t>
            </a:r>
          </a:p>
          <a:p>
            <a:r>
              <a:rPr lang="it-IT" sz="2105">
                <a:solidFill>
                  <a:srgbClr val="203344"/>
                </a:solidFill>
                <a:latin typeface="Times New Roman"/>
              </a:rPr>
              <a:t>già con l'1% di errore per porta</a:t>
            </a:r>
            <a:endParaRPr lang="en-GB" sz="2105">
              <a:solidFill>
                <a:srgbClr val="203344"/>
              </a:solidFill>
              <a:latin typeface="Times New Roman"/>
            </a:endParaRPr>
          </a:p>
        </p:txBody>
      </p:sp>
      <p:sp>
        <p:nvSpPr>
          <p:cNvPr id="28" name="Shape 26"/>
          <p:cNvSpPr/>
          <p:nvPr/>
        </p:nvSpPr>
        <p:spPr>
          <a:xfrm>
            <a:off x="0" y="9467850"/>
            <a:ext cx="18288000" cy="819150"/>
          </a:xfrm>
          <a:prstGeom prst="rect">
            <a:avLst/>
          </a:prstGeom>
          <a:solidFill>
            <a:srgbClr val="1170C8"/>
          </a:solidFill>
          <a:ln/>
        </p:spPr>
        <p:txBody>
          <a:bodyPr/>
          <a:lstStyle/>
          <a:p>
            <a:endParaRPr lang="it-IT">
              <a:latin typeface="Times New Roman" panose="02020603050405020304" pitchFamily="18" charset="0"/>
              <a:cs typeface="Times New Roman" panose="02020603050405020304" pitchFamily="18" charset="0"/>
            </a:endParaRPr>
          </a:p>
        </p:txBody>
      </p:sp>
      <p:pic>
        <p:nvPicPr>
          <p:cNvPr id="29" name="Picture 28" descr="image.png"/>
          <p:cNvPicPr>
            <a:picLocks noChangeAspect="1"/>
          </p:cNvPicPr>
          <p:nvPr/>
        </p:nvPicPr>
        <p:blipFill>
          <a:blip r:embed="rId6"/>
          <a:stretch>
            <a:fillRect/>
          </a:stretch>
        </p:blipFill>
        <p:spPr>
          <a:xfrm>
            <a:off x="16904021" y="9218222"/>
            <a:ext cx="1243958" cy="1032656"/>
          </a:xfrm>
          <a:prstGeom prst="rect">
            <a:avLst/>
          </a:prstGeom>
        </p:spPr>
      </p:pic>
    </p:spTree>
    <p:extLst>
      <p:ext uri="{BB962C8B-B14F-4D97-AF65-F5344CB8AC3E}">
        <p14:creationId xmlns:p14="http://schemas.microsoft.com/office/powerpoint/2010/main" val="771501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4756946" y="5191964"/>
            <a:ext cx="0" cy="356377"/>
          </a:xfrm>
          <a:prstGeom prst="line">
            <a:avLst/>
          </a:prstGeom>
          <a:ln w="31183">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4756946" y="3338801"/>
            <a:ext cx="0" cy="534566"/>
          </a:xfrm>
          <a:prstGeom prst="line">
            <a:avLst/>
          </a:prstGeom>
          <a:ln w="31183">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10979344" y="3338801"/>
            <a:ext cx="0" cy="2209540"/>
          </a:xfrm>
          <a:prstGeom prst="line">
            <a:avLst/>
          </a:prstGeom>
          <a:ln w="31183">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7201742" y="3338801"/>
            <a:ext cx="0" cy="534566"/>
          </a:xfrm>
          <a:prstGeom prst="line">
            <a:avLst/>
          </a:prstGeom>
          <a:ln w="31183">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762000" y="380000"/>
            <a:ext cx="16764000" cy="950000"/>
          </a:xfrm>
          <a:prstGeom prst="rect">
            <a:avLst/>
          </a:prstGeom>
          <a:noFill/>
          <a:ln w="0">
            <a:noFill/>
          </a:ln>
        </p:spPr>
        <p:txBody>
          <a:bodyPr wrap="square">
            <a:noAutofit/>
          </a:bodyPr>
          <a:lstStyle/>
          <a:p>
            <a:pPr>
              <a:defRPr sz="2700" b="0">
                <a:solidFill>
                  <a:srgbClr val="003366"/>
                </a:solidFill>
                <a:latin typeface="Times New Roman"/>
                <a:ea typeface="Arial"/>
                <a:cs typeface="Arial"/>
              </a:defRPr>
            </a:pPr>
            <a:r>
              <a:rPr lang="it-IT" sz="4000" b="1">
                <a:solidFill>
                  <a:srgbClr val="111111"/>
                </a:solidFill>
                <a:latin typeface="Times New Roman"/>
                <a:ea typeface="Arial"/>
                <a:cs typeface="Arial"/>
              </a:rPr>
              <a:t>OBIETTIVI: DOVE INTERVIENE CIASCUNA STRATEGIA</a:t>
            </a:r>
            <a:endParaRPr sz="2700" b="0">
              <a:solidFill>
                <a:srgbClr val="003366"/>
              </a:solidFill>
              <a:latin typeface="Times New Roman"/>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1446244" y="1450000"/>
            <a:ext cx="15395510" cy="2102627"/>
          </a:xfrm>
          <a:prstGeom prst="roundRect">
            <a:avLst>
              <a:gd name="adj" fmla="val 8000"/>
            </a:avLst>
          </a:prstGeom>
          <a:solidFill>
            <a:srgbClr val="F7EDCB"/>
          </a:solidFill>
          <a:ln w="26728">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6" name="TextBox 5">
            <a:extLst>
              <a:ext uri="{FF2B5EF4-FFF2-40B4-BE49-F238E27FC236}">
                <a16:creationId xmlns:a16="http://schemas.microsoft.com/office/drawing/2014/main" id="{B203B3D3-C539-C346-D1CF-D1F6ACEB3D39}"/>
              </a:ext>
            </a:extLst>
          </p:cNvPr>
          <p:cNvSpPr txBox="1"/>
          <p:nvPr/>
        </p:nvSpPr>
        <p:spPr>
          <a:xfrm>
            <a:off x="1660071" y="1521275"/>
            <a:ext cx="7127551" cy="518195"/>
          </a:xfrm>
          <a:prstGeom prst="rect">
            <a:avLst/>
          </a:prstGeom>
          <a:noFill/>
        </p:spPr>
        <p:txBody>
          <a:bodyPr vert="horz" wrap="square" rtlCol="0">
            <a:noAutofit/>
          </a:bodyPr>
          <a:lstStyle/>
          <a:p>
            <a:r>
              <a:rPr lang="en-GB" sz="2105" b="1">
                <a:solidFill>
                  <a:srgbClr val="7A5C12"/>
                </a:solidFill>
                <a:latin typeface="Times New Roman"/>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1695709" y="1984566"/>
            <a:ext cx="3456862" cy="1354234"/>
          </a:xfrm>
          <a:prstGeom prst="roundRect">
            <a:avLst>
              <a:gd name="adj" fmla="val 8000"/>
            </a:avLst>
          </a:prstGeom>
          <a:solidFill>
            <a:srgbClr val="FFFFFF"/>
          </a:solidFill>
          <a:ln w="22273">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latin typeface="Times New Roman"/>
            </a:endParaRPr>
          </a:p>
        </p:txBody>
      </p:sp>
      <p:sp>
        <p:nvSpPr>
          <p:cNvPr id="8" name="TextBox 7">
            <a:extLst>
              <a:ext uri="{FF2B5EF4-FFF2-40B4-BE49-F238E27FC236}">
                <a16:creationId xmlns:a16="http://schemas.microsoft.com/office/drawing/2014/main" id="{379D2604-111F-A13D-FD56-97652F0186E6}"/>
              </a:ext>
            </a:extLst>
          </p:cNvPr>
          <p:cNvSpPr txBox="1"/>
          <p:nvPr/>
        </p:nvSpPr>
        <p:spPr>
          <a:xfrm>
            <a:off x="1810899" y="2055841"/>
            <a:ext cx="3243035" cy="518195"/>
          </a:xfrm>
          <a:prstGeom prst="rect">
            <a:avLst/>
          </a:prstGeom>
          <a:noFill/>
        </p:spPr>
        <p:txBody>
          <a:bodyPr vert="horz" wrap="square" rtlCol="0">
            <a:noAutofit/>
          </a:bodyPr>
          <a:lstStyle/>
          <a:p>
            <a:r>
              <a:rPr lang="en-GB" sz="2105" b="1">
                <a:solidFill>
                  <a:srgbClr val="003366"/>
                </a:solidFill>
                <a:latin typeface="Times New Roman"/>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1802622" y="2875510"/>
            <a:ext cx="3243035" cy="534566"/>
          </a:xfrm>
          <a:prstGeom prst="rect">
            <a:avLst/>
          </a:prstGeom>
          <a:noFill/>
        </p:spPr>
        <p:txBody>
          <a:bodyPr vert="horz" wrap="square" rtlCol="0">
            <a:noAutofit/>
          </a:bodyPr>
          <a:lstStyle/>
          <a:p>
            <a:r>
              <a:rPr lang="en-GB" sz="1894">
                <a:solidFill>
                  <a:srgbClr val="203344"/>
                </a:solidFill>
                <a:latin typeface="Times New Roman"/>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5188209" y="2554770"/>
            <a:ext cx="249464" cy="213826"/>
          </a:xfrm>
          <a:prstGeom prst="rightArrow">
            <a:avLst/>
          </a:prstGeom>
          <a:solidFill>
            <a:srgbClr val="8A7A4A"/>
          </a:solidFill>
          <a:ln w="26728">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5473311" y="1984566"/>
            <a:ext cx="3456862" cy="1354234"/>
          </a:xfrm>
          <a:prstGeom prst="roundRect">
            <a:avLst>
              <a:gd name="adj" fmla="val 8000"/>
            </a:avLst>
          </a:prstGeom>
          <a:solidFill>
            <a:srgbClr val="FFFFFF"/>
          </a:solidFill>
          <a:ln w="22273">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12" name="TextBox 11">
            <a:extLst>
              <a:ext uri="{FF2B5EF4-FFF2-40B4-BE49-F238E27FC236}">
                <a16:creationId xmlns:a16="http://schemas.microsoft.com/office/drawing/2014/main" id="{EF43BCDA-4513-C925-0E03-AEBDB0987056}"/>
              </a:ext>
            </a:extLst>
          </p:cNvPr>
          <p:cNvSpPr txBox="1"/>
          <p:nvPr/>
        </p:nvSpPr>
        <p:spPr>
          <a:xfrm>
            <a:off x="5580224" y="2055841"/>
            <a:ext cx="3243035" cy="518195"/>
          </a:xfrm>
          <a:prstGeom prst="rect">
            <a:avLst/>
          </a:prstGeom>
          <a:noFill/>
        </p:spPr>
        <p:txBody>
          <a:bodyPr vert="horz" wrap="square" rtlCol="0">
            <a:noAutofit/>
          </a:bodyPr>
          <a:lstStyle/>
          <a:p>
            <a:r>
              <a:rPr lang="en-GB" sz="2105" b="1">
                <a:solidFill>
                  <a:srgbClr val="003366"/>
                </a:solidFill>
                <a:latin typeface="Times New Roman"/>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5580224" y="2875510"/>
            <a:ext cx="3243035" cy="534566"/>
          </a:xfrm>
          <a:prstGeom prst="rect">
            <a:avLst/>
          </a:prstGeom>
          <a:noFill/>
        </p:spPr>
        <p:txBody>
          <a:bodyPr vert="horz" wrap="square" rtlCol="0">
            <a:noAutofit/>
          </a:bodyPr>
          <a:lstStyle/>
          <a:p>
            <a:r>
              <a:rPr lang="en-GB" sz="1894">
                <a:solidFill>
                  <a:srgbClr val="203344"/>
                </a:solidFill>
                <a:latin typeface="Times New Roman"/>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8965811" y="2554770"/>
            <a:ext cx="249464" cy="213826"/>
          </a:xfrm>
          <a:prstGeom prst="rightArrow">
            <a:avLst/>
          </a:prstGeom>
          <a:solidFill>
            <a:srgbClr val="8A7A4A"/>
          </a:solidFill>
          <a:ln w="26728">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9250913" y="1984566"/>
            <a:ext cx="3456862" cy="1354234"/>
          </a:xfrm>
          <a:prstGeom prst="roundRect">
            <a:avLst>
              <a:gd name="adj" fmla="val 8000"/>
            </a:avLst>
          </a:prstGeom>
          <a:solidFill>
            <a:srgbClr val="FFFFFF"/>
          </a:solidFill>
          <a:ln w="22273">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16" name="TextBox 15">
            <a:extLst>
              <a:ext uri="{FF2B5EF4-FFF2-40B4-BE49-F238E27FC236}">
                <a16:creationId xmlns:a16="http://schemas.microsoft.com/office/drawing/2014/main" id="{10BC7FA2-A5A5-149C-EABE-EA68AB38DC09}"/>
              </a:ext>
            </a:extLst>
          </p:cNvPr>
          <p:cNvSpPr txBox="1"/>
          <p:nvPr/>
        </p:nvSpPr>
        <p:spPr>
          <a:xfrm>
            <a:off x="9357826" y="2055841"/>
            <a:ext cx="3243035" cy="518195"/>
          </a:xfrm>
          <a:prstGeom prst="rect">
            <a:avLst/>
          </a:prstGeom>
          <a:noFill/>
        </p:spPr>
        <p:txBody>
          <a:bodyPr vert="horz" wrap="square" rtlCol="0">
            <a:noAutofit/>
          </a:bodyPr>
          <a:lstStyle/>
          <a:p>
            <a:r>
              <a:rPr lang="en-GB" sz="2105" b="1">
                <a:solidFill>
                  <a:srgbClr val="003366"/>
                </a:solidFill>
                <a:latin typeface="Times New Roman"/>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9357826" y="2875510"/>
            <a:ext cx="3243035" cy="534566"/>
          </a:xfrm>
          <a:prstGeom prst="rect">
            <a:avLst/>
          </a:prstGeom>
          <a:noFill/>
        </p:spPr>
        <p:txBody>
          <a:bodyPr vert="horz" wrap="square" rtlCol="0">
            <a:noAutofit/>
          </a:bodyPr>
          <a:lstStyle/>
          <a:p>
            <a:r>
              <a:rPr lang="en-GB" sz="1894">
                <a:solidFill>
                  <a:srgbClr val="203344"/>
                </a:solidFill>
                <a:latin typeface="Times New Roman"/>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12743413" y="2554770"/>
            <a:ext cx="249464" cy="213826"/>
          </a:xfrm>
          <a:prstGeom prst="rightArrow">
            <a:avLst/>
          </a:prstGeom>
          <a:solidFill>
            <a:srgbClr val="8A7A4A"/>
          </a:solidFill>
          <a:ln w="26728">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13028515" y="1984566"/>
            <a:ext cx="3456862" cy="1354234"/>
          </a:xfrm>
          <a:prstGeom prst="roundRect">
            <a:avLst>
              <a:gd name="adj" fmla="val 8000"/>
            </a:avLst>
          </a:prstGeom>
          <a:solidFill>
            <a:srgbClr val="FFFFFF"/>
          </a:solidFill>
          <a:ln w="22273">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52" name="TextBox 51">
            <a:extLst>
              <a:ext uri="{FF2B5EF4-FFF2-40B4-BE49-F238E27FC236}">
                <a16:creationId xmlns:a16="http://schemas.microsoft.com/office/drawing/2014/main" id="{646B5660-21FE-82E2-FF02-0E010D013066}"/>
              </a:ext>
            </a:extLst>
          </p:cNvPr>
          <p:cNvSpPr txBox="1"/>
          <p:nvPr/>
        </p:nvSpPr>
        <p:spPr>
          <a:xfrm>
            <a:off x="13135428" y="2055841"/>
            <a:ext cx="3243035" cy="518195"/>
          </a:xfrm>
          <a:prstGeom prst="rect">
            <a:avLst/>
          </a:prstGeom>
          <a:noFill/>
        </p:spPr>
        <p:txBody>
          <a:bodyPr vert="horz" wrap="square" rtlCol="0">
            <a:noAutofit/>
          </a:bodyPr>
          <a:lstStyle/>
          <a:p>
            <a:r>
              <a:rPr lang="en-GB" sz="2105" b="1">
                <a:solidFill>
                  <a:srgbClr val="003366"/>
                </a:solidFill>
                <a:latin typeface="Times New Roman"/>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13135428" y="2875510"/>
            <a:ext cx="3243035" cy="534566"/>
          </a:xfrm>
          <a:prstGeom prst="rect">
            <a:avLst/>
          </a:prstGeom>
          <a:noFill/>
        </p:spPr>
        <p:txBody>
          <a:bodyPr vert="horz" wrap="square" rtlCol="0">
            <a:noAutofit/>
          </a:bodyPr>
          <a:lstStyle/>
          <a:p>
            <a:r>
              <a:rPr lang="en-GB" sz="1894">
                <a:solidFill>
                  <a:srgbClr val="203344"/>
                </a:solidFill>
                <a:latin typeface="Times New Roman"/>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9250913" y="5548341"/>
            <a:ext cx="3456862" cy="1318596"/>
          </a:xfrm>
          <a:prstGeom prst="roundRect">
            <a:avLst>
              <a:gd name="adj" fmla="val 8000"/>
            </a:avLst>
          </a:prstGeom>
          <a:solidFill>
            <a:srgbClr val="EEE7F7"/>
          </a:solidFill>
          <a:ln w="22273">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57" name="TextBox 56">
            <a:extLst>
              <a:ext uri="{FF2B5EF4-FFF2-40B4-BE49-F238E27FC236}">
                <a16:creationId xmlns:a16="http://schemas.microsoft.com/office/drawing/2014/main" id="{86D805D8-D26E-2153-32FC-2D467B951E73}"/>
              </a:ext>
            </a:extLst>
          </p:cNvPr>
          <p:cNvSpPr txBox="1"/>
          <p:nvPr/>
        </p:nvSpPr>
        <p:spPr>
          <a:xfrm>
            <a:off x="9429102" y="5637436"/>
            <a:ext cx="3100484" cy="518195"/>
          </a:xfrm>
          <a:prstGeom prst="rect">
            <a:avLst/>
          </a:prstGeom>
          <a:noFill/>
        </p:spPr>
        <p:txBody>
          <a:bodyPr vert="horz" wrap="square" rtlCol="0">
            <a:noAutofit/>
          </a:bodyPr>
          <a:lstStyle/>
          <a:p>
            <a:r>
              <a:rPr lang="en-GB" sz="2105" b="1">
                <a:solidFill>
                  <a:srgbClr val="4B2E83"/>
                </a:solidFill>
                <a:latin typeface="Times New Roman"/>
              </a:rPr>
              <a:t>QFT approssimata</a:t>
            </a:r>
            <a:endParaRPr lang="en-GB" sz="2105" b="1" dirty="0">
              <a:solidFill>
                <a:srgbClr val="4B2E83"/>
              </a:solidFill>
              <a:latin typeface="Times New Roman"/>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9429102" y="6082908"/>
            <a:ext cx="3100484" cy="518195"/>
          </a:xfrm>
          <a:prstGeom prst="rect">
            <a:avLst/>
          </a:prstGeom>
          <a:noFill/>
        </p:spPr>
        <p:txBody>
          <a:bodyPr vert="horz" wrap="square" rtlCol="0">
            <a:noAutofit/>
          </a:bodyPr>
          <a:lstStyle/>
          <a:p>
            <a:r>
              <a:rPr lang="it-IT" sz="1789" dirty="0">
                <a:solidFill>
                  <a:srgbClr val="203344"/>
                </a:solidFill>
                <a:latin typeface="Times New Roman"/>
              </a:rPr>
              <a:t>toglie le rotazioni di piccolo angolo</a:t>
            </a:r>
            <a:endParaRPr lang="en-GB" sz="1789" dirty="0">
              <a:solidFill>
                <a:srgbClr val="203344"/>
              </a:solidFill>
              <a:latin typeface="Times New Roman"/>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13028515" y="3873367"/>
            <a:ext cx="3456862" cy="1318596"/>
          </a:xfrm>
          <a:prstGeom prst="roundRect">
            <a:avLst>
              <a:gd name="adj" fmla="val 8000"/>
            </a:avLst>
          </a:prstGeom>
          <a:solidFill>
            <a:srgbClr val="EEE7F7"/>
          </a:solidFill>
          <a:ln w="22273">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60" name="TextBox 59">
            <a:extLst>
              <a:ext uri="{FF2B5EF4-FFF2-40B4-BE49-F238E27FC236}">
                <a16:creationId xmlns:a16="http://schemas.microsoft.com/office/drawing/2014/main" id="{DD1271B2-1BD1-2C08-298C-BB17D381E5F9}"/>
              </a:ext>
            </a:extLst>
          </p:cNvPr>
          <p:cNvSpPr txBox="1"/>
          <p:nvPr/>
        </p:nvSpPr>
        <p:spPr>
          <a:xfrm>
            <a:off x="13206704" y="3962461"/>
            <a:ext cx="3100484" cy="518195"/>
          </a:xfrm>
          <a:prstGeom prst="rect">
            <a:avLst/>
          </a:prstGeom>
          <a:noFill/>
        </p:spPr>
        <p:txBody>
          <a:bodyPr vert="horz" wrap="square" rtlCol="0">
            <a:noAutofit/>
          </a:bodyPr>
          <a:lstStyle/>
          <a:p>
            <a:r>
              <a:rPr lang="en-GB" sz="2105" b="1">
                <a:solidFill>
                  <a:srgbClr val="4B2E83"/>
                </a:solidFill>
                <a:latin typeface="Times New Roman"/>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13206704" y="4407933"/>
            <a:ext cx="3100484" cy="518195"/>
          </a:xfrm>
          <a:prstGeom prst="rect">
            <a:avLst/>
          </a:prstGeom>
          <a:noFill/>
        </p:spPr>
        <p:txBody>
          <a:bodyPr vert="horz" wrap="square" rtlCol="0">
            <a:noAutofit/>
          </a:bodyPr>
          <a:lstStyle/>
          <a:p>
            <a:r>
              <a:rPr lang="it-IT" sz="1789">
                <a:solidFill>
                  <a:srgbClr val="203344"/>
                </a:solidFill>
                <a:latin typeface="Times New Roman"/>
              </a:rPr>
              <a:t>verifica classica degli esiti misurati</a:t>
            </a:r>
            <a:endParaRPr lang="en-GB" sz="1789">
              <a:solidFill>
                <a:srgbClr val="203344"/>
              </a:solidFill>
              <a:latin typeface="Times New Roman"/>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13028515" y="5548341"/>
            <a:ext cx="3456862" cy="1318596"/>
          </a:xfrm>
          <a:prstGeom prst="roundRect">
            <a:avLst>
              <a:gd name="adj" fmla="val 8000"/>
            </a:avLst>
          </a:prstGeom>
          <a:solidFill>
            <a:srgbClr val="EEE7F7"/>
          </a:solidFill>
          <a:ln w="22273">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64" name="TextBox 63">
            <a:extLst>
              <a:ext uri="{FF2B5EF4-FFF2-40B4-BE49-F238E27FC236}">
                <a16:creationId xmlns:a16="http://schemas.microsoft.com/office/drawing/2014/main" id="{326F084D-93F3-CFB3-2AEF-0176AA102007}"/>
              </a:ext>
            </a:extLst>
          </p:cNvPr>
          <p:cNvSpPr txBox="1"/>
          <p:nvPr/>
        </p:nvSpPr>
        <p:spPr>
          <a:xfrm>
            <a:off x="13206704" y="5637436"/>
            <a:ext cx="3100484" cy="518195"/>
          </a:xfrm>
          <a:prstGeom prst="rect">
            <a:avLst/>
          </a:prstGeom>
          <a:noFill/>
        </p:spPr>
        <p:txBody>
          <a:bodyPr vert="horz" wrap="square" rtlCol="0">
            <a:noAutofit/>
          </a:bodyPr>
          <a:lstStyle/>
          <a:p>
            <a:r>
              <a:rPr lang="en-GB" sz="2105" b="1">
                <a:solidFill>
                  <a:srgbClr val="4B2E83"/>
                </a:solidFill>
                <a:latin typeface="Times New Roman"/>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13206704" y="6082908"/>
            <a:ext cx="3100484" cy="518195"/>
          </a:xfrm>
          <a:prstGeom prst="rect">
            <a:avLst/>
          </a:prstGeom>
          <a:noFill/>
        </p:spPr>
        <p:txBody>
          <a:bodyPr vert="horz" wrap="square" rtlCol="0">
            <a:noAutofit/>
          </a:bodyPr>
          <a:lstStyle/>
          <a:p>
            <a:r>
              <a:rPr lang="it-IT" sz="1789">
                <a:solidFill>
                  <a:srgbClr val="203344"/>
                </a:solidFill>
                <a:latin typeface="Times New Roman"/>
              </a:rPr>
              <a:t>TOP-1, TOP-4, Metodo 2: quali esiti verificare</a:t>
            </a:r>
            <a:endParaRPr lang="en-GB" sz="1789">
              <a:solidFill>
                <a:srgbClr val="203344"/>
              </a:solidFill>
              <a:latin typeface="Times New Roman"/>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1446244" y="8149897"/>
            <a:ext cx="15395510" cy="518195"/>
          </a:xfrm>
          <a:prstGeom prst="rect">
            <a:avLst/>
          </a:prstGeom>
          <a:noFill/>
        </p:spPr>
        <p:txBody>
          <a:bodyPr vert="horz" wrap="square" rtlCol="0">
            <a:noAutofit/>
          </a:bodyPr>
          <a:lstStyle/>
          <a:p>
            <a:r>
              <a:rPr lang="it-IT" sz="2736" b="1">
                <a:solidFill>
                  <a:srgbClr val="175F99"/>
                </a:solidFill>
                <a:latin typeface="Times New Roman"/>
              </a:rPr>
              <a:t>In giallo l'algoritmo di Shor, in viola i punti in cui ho lavorato.</a:t>
            </a:r>
            <a:endParaRPr lang="en-GB" sz="2736" b="1">
              <a:solidFill>
                <a:srgbClr val="175F99"/>
              </a:solidFill>
              <a:latin typeface="Times New Roman"/>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5473311" y="3873367"/>
            <a:ext cx="7234464" cy="1318596"/>
          </a:xfrm>
          <a:prstGeom prst="roundRect">
            <a:avLst>
              <a:gd name="adj" fmla="val 8000"/>
            </a:avLst>
          </a:prstGeom>
          <a:solidFill>
            <a:srgbClr val="EEE7F7"/>
          </a:solidFill>
          <a:ln w="22273">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69" name="TextBox 68">
            <a:extLst>
              <a:ext uri="{FF2B5EF4-FFF2-40B4-BE49-F238E27FC236}">
                <a16:creationId xmlns:a16="http://schemas.microsoft.com/office/drawing/2014/main" id="{C97455E7-7CCA-BE6A-D77C-5C64732A886B}"/>
              </a:ext>
            </a:extLst>
          </p:cNvPr>
          <p:cNvSpPr txBox="1"/>
          <p:nvPr/>
        </p:nvSpPr>
        <p:spPr>
          <a:xfrm>
            <a:off x="5651499" y="3962461"/>
            <a:ext cx="6878086" cy="518195"/>
          </a:xfrm>
          <a:prstGeom prst="rect">
            <a:avLst/>
          </a:prstGeom>
          <a:noFill/>
        </p:spPr>
        <p:txBody>
          <a:bodyPr vert="horz" wrap="square" rtlCol="0">
            <a:noAutofit/>
          </a:bodyPr>
          <a:lstStyle/>
          <a:p>
            <a:r>
              <a:rPr lang="en-GB" sz="2105" b="1">
                <a:solidFill>
                  <a:srgbClr val="4B2E83"/>
                </a:solidFill>
                <a:latin typeface="Times New Roman"/>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5651499" y="4407933"/>
            <a:ext cx="6878086" cy="518195"/>
          </a:xfrm>
          <a:prstGeom prst="rect">
            <a:avLst/>
          </a:prstGeom>
          <a:noFill/>
        </p:spPr>
        <p:txBody>
          <a:bodyPr vert="horz" wrap="square" rtlCol="0">
            <a:noAutofit/>
          </a:bodyPr>
          <a:lstStyle/>
          <a:p>
            <a:r>
              <a:rPr lang="it-IT" sz="1789" dirty="0" err="1">
                <a:solidFill>
                  <a:srgbClr val="203344"/>
                </a:solidFill>
                <a:latin typeface="Times New Roman"/>
              </a:rPr>
              <a:t>surface</a:t>
            </a:r>
            <a:r>
              <a:rPr lang="it-IT" sz="1789" dirty="0">
                <a:solidFill>
                  <a:srgbClr val="203344"/>
                </a:solidFill>
                <a:latin typeface="Times New Roman"/>
              </a:rPr>
              <a:t> code e Gross code di IBM: proteggono i qubit durante il calcolo (</a:t>
            </a:r>
            <a:r>
              <a:rPr lang="it-IT" sz="1789" dirty="0" err="1">
                <a:solidFill>
                  <a:srgbClr val="203344"/>
                </a:solidFill>
                <a:latin typeface="Times New Roman"/>
              </a:rPr>
              <a:t>esponenziazione</a:t>
            </a:r>
            <a:r>
              <a:rPr lang="it-IT" sz="1789" dirty="0">
                <a:solidFill>
                  <a:srgbClr val="203344"/>
                </a:solidFill>
                <a:latin typeface="Times New Roman"/>
              </a:rPr>
              <a:t> e QFT)</a:t>
            </a:r>
            <a:endParaRPr lang="en-GB" sz="1789" dirty="0">
              <a:solidFill>
                <a:srgbClr val="203344"/>
              </a:solidFill>
              <a:latin typeface="Times New Roman"/>
            </a:endParaRPr>
          </a:p>
        </p:txBody>
      </p:sp>
      <p:sp>
        <p:nvSpPr>
          <p:cNvPr id="28" name="Shape 26"/>
          <p:cNvSpPr/>
          <p:nvPr/>
        </p:nvSpPr>
        <p:spPr>
          <a:xfrm>
            <a:off x="0" y="9467850"/>
            <a:ext cx="18288000" cy="819150"/>
          </a:xfrm>
          <a:prstGeom prst="rect">
            <a:avLst/>
          </a:prstGeom>
          <a:solidFill>
            <a:srgbClr val="1170C8"/>
          </a:solidFill>
          <a:ln/>
        </p:spPr>
        <p:txBody>
          <a:bodyPr/>
          <a:lstStyle/>
          <a:p>
            <a:endParaRPr lang="it-IT">
              <a:latin typeface="Times New Roman" panose="02020603050405020304" pitchFamily="18" charset="0"/>
              <a:cs typeface="Times New Roman" panose="02020603050405020304" pitchFamily="18" charset="0"/>
            </a:endParaRPr>
          </a:p>
        </p:txBody>
      </p:sp>
      <p:pic>
        <p:nvPicPr>
          <p:cNvPr id="73" name="Picture 72" descr="image.png"/>
          <p:cNvPicPr>
            <a:picLocks noChangeAspect="1"/>
          </p:cNvPicPr>
          <p:nvPr/>
        </p:nvPicPr>
        <p:blipFill>
          <a:blip r:embed="rId4"/>
          <a:stretch>
            <a:fillRect/>
          </a:stretch>
        </p:blipFill>
        <p:spPr>
          <a:xfrm>
            <a:off x="16904021" y="9218222"/>
            <a:ext cx="1243958" cy="1032656"/>
          </a:xfrm>
          <a:prstGeom prst="rect">
            <a:avLst/>
          </a:prstGeom>
        </p:spPr>
      </p:pic>
    </p:spTree>
    <p:extLst>
      <p:ext uri="{BB962C8B-B14F-4D97-AF65-F5344CB8AC3E}">
        <p14:creationId xmlns:p14="http://schemas.microsoft.com/office/powerpoint/2010/main" val="2417219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762000" y="380000"/>
            <a:ext cx="16764000" cy="950000"/>
          </a:xfrm>
          <a:prstGeom prst="rect">
            <a:avLst/>
          </a:prstGeom>
          <a:noFill/>
          <a:ln w="0">
            <a:noFill/>
          </a:ln>
        </p:spPr>
        <p:txBody>
          <a:bodyPr wrap="square">
            <a:noAutofit/>
          </a:bodyPr>
          <a:lstStyle/>
          <a:p>
            <a:pPr>
              <a:defRPr sz="2700" b="0">
                <a:solidFill>
                  <a:srgbClr val="003366"/>
                </a:solidFill>
                <a:latin typeface="Times New Roman"/>
                <a:ea typeface="Arial"/>
                <a:cs typeface="Arial"/>
              </a:defRPr>
            </a:pPr>
            <a:r>
              <a:rPr lang="it-IT" sz="4000" b="1">
                <a:solidFill>
                  <a:srgbClr val="111111"/>
                </a:solidFill>
                <a:latin typeface="Times New Roman"/>
                <a:ea typeface="Arial"/>
                <a:cs typeface="Arial"/>
              </a:rPr>
              <a:t>STRATEGIA 1: POST-PROCESSING E ABLAZIONE ML</a:t>
            </a:r>
            <a:endParaRPr sz="2700" b="0">
              <a:solidFill>
                <a:srgbClr val="003366"/>
              </a:solidFill>
              <a:latin typeface="Times New Roman"/>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1446244" y="1592551"/>
            <a:ext cx="15395510" cy="712755"/>
          </a:xfrm>
          <a:prstGeom prst="rect">
            <a:avLst/>
          </a:prstGeom>
          <a:solidFill>
            <a:srgbClr val="175F99"/>
          </a:solidFill>
          <a:ln w="0">
            <a:noFill/>
          </a:ln>
        </p:spPr>
        <p:txBody>
          <a:bodyPr anchor="ctr">
            <a:noAutofit/>
          </a:bodyPr>
          <a:lstStyle/>
          <a:p>
            <a:pPr algn="ctr">
              <a:defRPr sz="2946" b="1">
                <a:solidFill>
                  <a:srgbClr val="FFFFFF"/>
                </a:solidFill>
                <a:latin typeface="Times New Roman"/>
                <a:ea typeface="Arial"/>
                <a:cs typeface="Arial"/>
              </a:defRPr>
            </a:pPr>
            <a:r>
              <a:rPr lang="it-IT" sz="2946" b="1">
                <a:solidFill>
                  <a:srgbClr val="FFFFFF"/>
                </a:solidFill>
                <a:latin typeface="Times New Roman"/>
                <a:ea typeface="Arial"/>
                <a:cs typeface="Arial"/>
              </a:rPr>
              <a:t>Istogramma degli esiti misurati (1024 esecuzioni)</a:t>
            </a:r>
            <a:endParaRPr sz="2946" b="1">
              <a:solidFill>
                <a:srgbClr val="FFFFFF"/>
              </a:solidFill>
              <a:latin typeface="Times New Roman"/>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1446244" y="2911146"/>
            <a:ext cx="4410172" cy="2672831"/>
          </a:xfrm>
          <a:prstGeom prst="roundRect">
            <a:avLst>
              <a:gd name="adj" fmla="val 6135"/>
            </a:avLst>
          </a:prstGeom>
          <a:solidFill>
            <a:srgbClr val="EEF4F8"/>
          </a:solidFill>
          <a:ln w="20046">
            <a:solidFill>
              <a:srgbClr val="5084BF"/>
            </a:solidFill>
          </a:ln>
        </p:spPr>
        <p:txBody>
          <a:bodyPr/>
          <a:lstStyle/>
          <a:p>
            <a:endParaRPr lang="en-GB">
              <a:latin typeface="Times New Roman"/>
            </a:endParaRPr>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1700163" y="3124974"/>
            <a:ext cx="3902334" cy="775121"/>
          </a:xfrm>
          <a:prstGeom prst="rect">
            <a:avLst/>
          </a:prstGeom>
          <a:noFill/>
          <a:ln w="0">
            <a:noFill/>
          </a:ln>
        </p:spPr>
        <p:txBody>
          <a:bodyPr>
            <a:noAutofit/>
          </a:bodyPr>
          <a:lstStyle/>
          <a:p>
            <a:pPr>
              <a:defRPr sz="3052" b="1">
                <a:solidFill>
                  <a:srgbClr val="003366"/>
                </a:solidFill>
                <a:latin typeface="Times New Roman"/>
                <a:ea typeface="Arial"/>
                <a:cs typeface="Arial"/>
              </a:defRPr>
            </a:pPr>
            <a:r>
              <a:rPr lang="it-IT" sz="3052" b="1">
                <a:solidFill>
                  <a:srgbClr val="003366"/>
                </a:solidFill>
                <a:latin typeface="Times New Roman"/>
                <a:ea typeface="Arial"/>
                <a:cs typeface="Arial"/>
              </a:rPr>
              <a:t>TOP-1</a:t>
            </a:r>
            <a:endParaRPr sz="3052" b="1">
              <a:solidFill>
                <a:srgbClr val="003366"/>
              </a:solidFill>
              <a:latin typeface="Times New Roman"/>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1700163" y="3909003"/>
            <a:ext cx="3902334" cy="1568061"/>
          </a:xfrm>
          <a:prstGeom prst="rect">
            <a:avLst/>
          </a:prstGeom>
          <a:noFill/>
          <a:ln w="0">
            <a:noFill/>
          </a:ln>
        </p:spPr>
        <p:txBody>
          <a:bodyPr>
            <a:noAutofit/>
          </a:bodyPr>
          <a:lstStyle/>
          <a:p>
            <a:pPr>
              <a:defRPr sz="2631" b="0">
                <a:solidFill>
                  <a:srgbClr val="203344"/>
                </a:solidFill>
                <a:latin typeface="Times New Roman"/>
                <a:ea typeface="Arial"/>
                <a:cs typeface="Arial"/>
              </a:defRPr>
            </a:pPr>
            <a:r>
              <a:rPr lang="it-IT" sz="2631" b="0">
                <a:solidFill>
                  <a:srgbClr val="203344"/>
                </a:solidFill>
                <a:latin typeface="Times New Roman"/>
                <a:ea typeface="Arial"/>
                <a:cs typeface="Arial"/>
              </a:rPr>
              <a:t>Verifica solo l'esito più frequente</a:t>
            </a:r>
            <a:endParaRPr sz="2631" b="0">
              <a:solidFill>
                <a:srgbClr val="203344"/>
              </a:solidFill>
              <a:latin typeface="Times New Roman"/>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6938913" y="2911146"/>
            <a:ext cx="4410172" cy="2672831"/>
          </a:xfrm>
          <a:prstGeom prst="roundRect">
            <a:avLst>
              <a:gd name="adj" fmla="val 6135"/>
            </a:avLst>
          </a:prstGeom>
          <a:solidFill>
            <a:srgbClr val="EEF4F8"/>
          </a:solidFill>
          <a:ln w="20046">
            <a:solidFill>
              <a:srgbClr val="5084BF"/>
            </a:solidFill>
          </a:ln>
        </p:spPr>
        <p:txBody>
          <a:bodyPr/>
          <a:lstStyle/>
          <a:p>
            <a:endParaRPr lang="en-GB">
              <a:latin typeface="Times New Roman"/>
            </a:endParaRPr>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7192832" y="3124974"/>
            <a:ext cx="3902334" cy="775121"/>
          </a:xfrm>
          <a:prstGeom prst="rect">
            <a:avLst/>
          </a:prstGeom>
          <a:noFill/>
          <a:ln w="0">
            <a:noFill/>
          </a:ln>
        </p:spPr>
        <p:txBody>
          <a:bodyPr>
            <a:noAutofit/>
          </a:bodyPr>
          <a:lstStyle/>
          <a:p>
            <a:pPr>
              <a:defRPr sz="3052" b="1">
                <a:solidFill>
                  <a:srgbClr val="003366"/>
                </a:solidFill>
                <a:latin typeface="Times New Roman"/>
                <a:ea typeface="Arial"/>
                <a:cs typeface="Arial"/>
              </a:defRPr>
            </a:pPr>
            <a:r>
              <a:rPr lang="it-IT" sz="3052" b="1">
                <a:solidFill>
                  <a:srgbClr val="003366"/>
                </a:solidFill>
                <a:latin typeface="Times New Roman"/>
                <a:ea typeface="Arial"/>
                <a:cs typeface="Arial"/>
              </a:rPr>
              <a:t>TOP-4</a:t>
            </a:r>
            <a:endParaRPr sz="3052" b="1">
              <a:solidFill>
                <a:srgbClr val="003366"/>
              </a:solidFill>
              <a:latin typeface="Times New Roman"/>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7192832" y="3909003"/>
            <a:ext cx="3902334" cy="1568061"/>
          </a:xfrm>
          <a:prstGeom prst="rect">
            <a:avLst/>
          </a:prstGeom>
          <a:noFill/>
          <a:ln w="0">
            <a:noFill/>
          </a:ln>
        </p:spPr>
        <p:txBody>
          <a:bodyPr>
            <a:noAutofit/>
          </a:bodyPr>
          <a:lstStyle/>
          <a:p>
            <a:pPr>
              <a:defRPr sz="2631" b="0">
                <a:solidFill>
                  <a:srgbClr val="203344"/>
                </a:solidFill>
                <a:latin typeface="Times New Roman"/>
                <a:ea typeface="Arial"/>
                <a:cs typeface="Arial"/>
              </a:defRPr>
            </a:pPr>
            <a:r>
              <a:rPr lang="it-IT" sz="2631" b="0">
                <a:solidFill>
                  <a:srgbClr val="203344"/>
                </a:solidFill>
                <a:latin typeface="Times New Roman"/>
                <a:ea typeface="Arial"/>
                <a:cs typeface="Arial"/>
              </a:rPr>
              <a:t>Verifica i quattro esiti più frequenti, uno alla volta, finché trova i fattori</a:t>
            </a:r>
            <a:endParaRPr sz="2631" b="0">
              <a:solidFill>
                <a:srgbClr val="203344"/>
              </a:solidFill>
              <a:latin typeface="Times New Roman"/>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12431582" y="2911146"/>
            <a:ext cx="4410172" cy="2672831"/>
          </a:xfrm>
          <a:prstGeom prst="roundRect">
            <a:avLst>
              <a:gd name="adj" fmla="val 6135"/>
            </a:avLst>
          </a:prstGeom>
          <a:solidFill>
            <a:srgbClr val="EEF4F8"/>
          </a:solidFill>
          <a:ln w="20046">
            <a:solidFill>
              <a:srgbClr val="5084BF"/>
            </a:solidFill>
          </a:ln>
        </p:spPr>
        <p:txBody>
          <a:bodyPr/>
          <a:lstStyle/>
          <a:p>
            <a:endParaRPr lang="en-GB">
              <a:latin typeface="Times New Roman"/>
            </a:endParaRPr>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12685501" y="3124974"/>
            <a:ext cx="3902334" cy="775121"/>
          </a:xfrm>
          <a:prstGeom prst="rect">
            <a:avLst/>
          </a:prstGeom>
          <a:noFill/>
          <a:ln w="0">
            <a:noFill/>
          </a:ln>
        </p:spPr>
        <p:txBody>
          <a:bodyPr>
            <a:noAutofit/>
          </a:bodyPr>
          <a:lstStyle/>
          <a:p>
            <a:pPr>
              <a:defRPr sz="3052" b="1">
                <a:solidFill>
                  <a:srgbClr val="003366"/>
                </a:solidFill>
                <a:latin typeface="Times New Roman"/>
                <a:ea typeface="Arial"/>
                <a:cs typeface="Arial"/>
              </a:defRPr>
            </a:pPr>
            <a:r>
              <a:rPr lang="it-IT" sz="3052" b="1">
                <a:solidFill>
                  <a:srgbClr val="003366"/>
                </a:solidFill>
                <a:latin typeface="Times New Roman"/>
                <a:ea typeface="Arial"/>
                <a:cs typeface="Arial"/>
              </a:rPr>
              <a:t>Metodo 2</a:t>
            </a:r>
            <a:endParaRPr sz="3052" b="1">
              <a:solidFill>
                <a:srgbClr val="003366"/>
              </a:solidFill>
              <a:latin typeface="Times New Roman"/>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12685501" y="3909003"/>
            <a:ext cx="3902334" cy="1568061"/>
          </a:xfrm>
          <a:prstGeom prst="rect">
            <a:avLst/>
          </a:prstGeom>
          <a:noFill/>
          <a:ln w="0">
            <a:noFill/>
          </a:ln>
        </p:spPr>
        <p:txBody>
          <a:bodyPr>
            <a:noAutofit/>
          </a:bodyPr>
          <a:lstStyle/>
          <a:p>
            <a:pPr>
              <a:defRPr sz="2631" b="0">
                <a:solidFill>
                  <a:srgbClr val="203344"/>
                </a:solidFill>
                <a:latin typeface="Times New Roman"/>
                <a:ea typeface="Arial"/>
                <a:cs typeface="Arial"/>
              </a:defRPr>
            </a:pPr>
            <a:r>
              <a:rPr lang="it-IT" sz="2631" b="0">
                <a:solidFill>
                  <a:srgbClr val="203344"/>
                </a:solidFill>
                <a:latin typeface="Times New Roman"/>
                <a:ea typeface="Arial"/>
                <a:cs typeface="Arial"/>
              </a:rPr>
              <a:t>Applica TOP-4 solo se un classificatore ML lo approva</a:t>
            </a:r>
            <a:endParaRPr sz="2631" b="0">
              <a:solidFill>
                <a:srgbClr val="203344"/>
              </a:solidFill>
              <a:latin typeface="Times New Roman"/>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3490961" y="2447857"/>
            <a:ext cx="320739" cy="285102"/>
          </a:xfrm>
          <a:prstGeom prst="downArrow">
            <a:avLst/>
          </a:prstGeom>
          <a:solidFill>
            <a:srgbClr val="647487"/>
          </a:solidFill>
          <a:ln w="26728">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21" name="Arrow: Down 20">
            <a:extLst>
              <a:ext uri="{FF2B5EF4-FFF2-40B4-BE49-F238E27FC236}">
                <a16:creationId xmlns:a16="http://schemas.microsoft.com/office/drawing/2014/main" id="{3D70808E-B7B3-BDB5-55B7-351033EBED55}"/>
              </a:ext>
            </a:extLst>
          </p:cNvPr>
          <p:cNvSpPr/>
          <p:nvPr/>
        </p:nvSpPr>
        <p:spPr>
          <a:xfrm>
            <a:off x="3490961" y="5726530"/>
            <a:ext cx="320739" cy="285102"/>
          </a:xfrm>
          <a:prstGeom prst="downArrow">
            <a:avLst/>
          </a:prstGeom>
          <a:solidFill>
            <a:srgbClr val="647487"/>
          </a:solidFill>
          <a:ln w="26728">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22" name="Arrow: Down 21">
            <a:extLst>
              <a:ext uri="{FF2B5EF4-FFF2-40B4-BE49-F238E27FC236}">
                <a16:creationId xmlns:a16="http://schemas.microsoft.com/office/drawing/2014/main" id="{D423980A-B534-E5EC-5903-37B0C4136F54}"/>
              </a:ext>
            </a:extLst>
          </p:cNvPr>
          <p:cNvSpPr/>
          <p:nvPr/>
        </p:nvSpPr>
        <p:spPr>
          <a:xfrm>
            <a:off x="8983630" y="2447857"/>
            <a:ext cx="320739" cy="285102"/>
          </a:xfrm>
          <a:prstGeom prst="downArrow">
            <a:avLst/>
          </a:prstGeom>
          <a:solidFill>
            <a:srgbClr val="647487"/>
          </a:solidFill>
          <a:ln w="26728">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23" name="Arrow: Down 22">
            <a:extLst>
              <a:ext uri="{FF2B5EF4-FFF2-40B4-BE49-F238E27FC236}">
                <a16:creationId xmlns:a16="http://schemas.microsoft.com/office/drawing/2014/main" id="{C6B68448-7E61-3309-F0A1-DE27F018B49C}"/>
              </a:ext>
            </a:extLst>
          </p:cNvPr>
          <p:cNvSpPr/>
          <p:nvPr/>
        </p:nvSpPr>
        <p:spPr>
          <a:xfrm>
            <a:off x="8983630" y="5726530"/>
            <a:ext cx="320739" cy="285102"/>
          </a:xfrm>
          <a:prstGeom prst="downArrow">
            <a:avLst/>
          </a:prstGeom>
          <a:solidFill>
            <a:srgbClr val="647487"/>
          </a:solidFill>
          <a:ln w="26728">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24" name="Arrow: Down 23">
            <a:extLst>
              <a:ext uri="{FF2B5EF4-FFF2-40B4-BE49-F238E27FC236}">
                <a16:creationId xmlns:a16="http://schemas.microsoft.com/office/drawing/2014/main" id="{FDD4F7C2-3C29-B429-391D-8209019EE7DB}"/>
              </a:ext>
            </a:extLst>
          </p:cNvPr>
          <p:cNvSpPr/>
          <p:nvPr/>
        </p:nvSpPr>
        <p:spPr>
          <a:xfrm>
            <a:off x="14476299" y="2447857"/>
            <a:ext cx="320739" cy="285102"/>
          </a:xfrm>
          <a:prstGeom prst="downArrow">
            <a:avLst/>
          </a:prstGeom>
          <a:solidFill>
            <a:srgbClr val="647487"/>
          </a:solidFill>
          <a:ln w="26728">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25" name="Arrow: Down 24">
            <a:extLst>
              <a:ext uri="{FF2B5EF4-FFF2-40B4-BE49-F238E27FC236}">
                <a16:creationId xmlns:a16="http://schemas.microsoft.com/office/drawing/2014/main" id="{EBBA9AE0-D3D5-3C10-C16D-089BDBF025D6}"/>
              </a:ext>
            </a:extLst>
          </p:cNvPr>
          <p:cNvSpPr/>
          <p:nvPr/>
        </p:nvSpPr>
        <p:spPr>
          <a:xfrm>
            <a:off x="14476299" y="5726530"/>
            <a:ext cx="320739" cy="285102"/>
          </a:xfrm>
          <a:prstGeom prst="downArrow">
            <a:avLst/>
          </a:prstGeom>
          <a:solidFill>
            <a:srgbClr val="647487"/>
          </a:solidFill>
          <a:ln w="26728">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27" name="Rectangle 26">
            <a:extLst>
              <a:ext uri="{FF2B5EF4-FFF2-40B4-BE49-F238E27FC236}">
                <a16:creationId xmlns:a16="http://schemas.microsoft.com/office/drawing/2014/main" id="{B611238E-C082-6AF6-60EE-43C467FDADAA}"/>
              </a:ext>
            </a:extLst>
          </p:cNvPr>
          <p:cNvSpPr/>
          <p:nvPr/>
        </p:nvSpPr>
        <p:spPr>
          <a:xfrm>
            <a:off x="1446244" y="6154183"/>
            <a:ext cx="15395510" cy="712755"/>
          </a:xfrm>
          <a:prstGeom prst="rect">
            <a:avLst/>
          </a:prstGeom>
          <a:solidFill>
            <a:srgbClr val="EEF4F8"/>
          </a:solidFill>
          <a:ln w="20046">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Times New Roman"/>
              </a:rPr>
              <a:t>Verifica classica (frazioni continue e MCD) → fattori di N</a:t>
            </a:r>
            <a:endParaRPr lang="en-GB" b="1">
              <a:solidFill>
                <a:srgbClr val="003366"/>
              </a:solidFill>
              <a:latin typeface="Times New Roman"/>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1446244" y="7508418"/>
            <a:ext cx="15395510" cy="518195"/>
          </a:xfrm>
          <a:prstGeom prst="rect">
            <a:avLst/>
          </a:prstGeom>
          <a:noFill/>
        </p:spPr>
        <p:txBody>
          <a:bodyPr vert="horz" wrap="square" rtlCol="0">
            <a:noAutofit/>
          </a:bodyPr>
          <a:lstStyle/>
          <a:p>
            <a:r>
              <a:rPr lang="it-IT" sz="2841" b="1">
                <a:solidFill>
                  <a:srgbClr val="175F99"/>
                </a:solidFill>
                <a:latin typeface="Times New Roman"/>
              </a:rPr>
              <a:t>Confronto chiave: Metodo 2 contro TOP-4.</a:t>
            </a:r>
          </a:p>
          <a:p>
            <a:r>
              <a:rPr lang="it-IT" sz="2841" b="1">
                <a:solidFill>
                  <a:srgbClr val="175F99"/>
                </a:solidFill>
                <a:latin typeface="Times New Roman"/>
              </a:rPr>
              <a:t>Così si vede quanto conta davvero il machine learning.</a:t>
            </a:r>
            <a:endParaRPr lang="en-GB" sz="2841" b="1">
              <a:solidFill>
                <a:srgbClr val="175F99"/>
              </a:solidFill>
              <a:latin typeface="Times New Roman"/>
            </a:endParaRPr>
          </a:p>
        </p:txBody>
      </p:sp>
      <p:sp>
        <p:nvSpPr>
          <p:cNvPr id="28" name="Shape 26"/>
          <p:cNvSpPr/>
          <p:nvPr/>
        </p:nvSpPr>
        <p:spPr>
          <a:xfrm>
            <a:off x="0" y="9467850"/>
            <a:ext cx="18288000" cy="819150"/>
          </a:xfrm>
          <a:prstGeom prst="rect">
            <a:avLst/>
          </a:prstGeom>
          <a:solidFill>
            <a:srgbClr val="1170C8"/>
          </a:solidFill>
          <a:ln/>
        </p:spPr>
        <p:txBody>
          <a:bodyPr/>
          <a:lstStyle/>
          <a:p>
            <a:endParaRPr lang="it-IT">
              <a:latin typeface="Times New Roman" panose="02020603050405020304" pitchFamily="18" charset="0"/>
              <a:cs typeface="Times New Roman" panose="02020603050405020304" pitchFamily="18" charset="0"/>
            </a:endParaRPr>
          </a:p>
        </p:txBody>
      </p:sp>
      <p:pic>
        <p:nvPicPr>
          <p:cNvPr id="29" name="Picture 28" descr="image.png"/>
          <p:cNvPicPr>
            <a:picLocks noChangeAspect="1"/>
          </p:cNvPicPr>
          <p:nvPr/>
        </p:nvPicPr>
        <p:blipFill>
          <a:blip r:embed="rId4"/>
          <a:stretch>
            <a:fillRect/>
          </a:stretch>
        </p:blipFill>
        <p:spPr>
          <a:xfrm>
            <a:off x="16904021" y="9218222"/>
            <a:ext cx="1243958" cy="1032656"/>
          </a:xfrm>
          <a:prstGeom prst="rect">
            <a:avLst/>
          </a:prstGeom>
        </p:spPr>
      </p:pic>
    </p:spTree>
    <p:extLst>
      <p:ext uri="{BB962C8B-B14F-4D97-AF65-F5344CB8AC3E}">
        <p14:creationId xmlns:p14="http://schemas.microsoft.com/office/powerpoint/2010/main" val="187774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4_iterazioni_primo_successo.png"/>
          <p:cNvPicPr>
            <a:picLocks noChangeAspect="1"/>
          </p:cNvPicPr>
          <p:nvPr/>
        </p:nvPicPr>
        <p:blipFill>
          <a:blip r:embed="rId5"/>
          <a:stretch>
            <a:fillRect/>
          </a:stretch>
        </p:blipFill>
        <p:spPr>
          <a:xfrm>
            <a:off x="1446244" y="1672735"/>
            <a:ext cx="8886187" cy="5746588"/>
          </a:xfrm>
          <a:prstGeom prst="rect">
            <a:avLst/>
          </a:prstGeom>
        </p:spPr>
      </p:pic>
      <p:sp>
        <p:nvSpPr>
          <p:cNvPr id="11" name="Rectangle 10">
            <a:extLst>
              <a:ext uri="{FF2B5EF4-FFF2-40B4-BE49-F238E27FC236}">
                <a16:creationId xmlns:a16="http://schemas.microsoft.com/office/drawing/2014/main" id="{9E95F82B-CDE8-448E-B6D8-A3E05F218E05}"/>
              </a:ext>
            </a:extLst>
          </p:cNvPr>
          <p:cNvSpPr>
            <a:spLocks noGrp="1"/>
          </p:cNvSpPr>
          <p:nvPr/>
        </p:nvSpPr>
        <p:spPr>
          <a:xfrm>
            <a:off x="762000" y="380000"/>
            <a:ext cx="16764000" cy="950000"/>
          </a:xfrm>
          <a:prstGeom prst="rect">
            <a:avLst/>
          </a:prstGeom>
          <a:noFill/>
          <a:ln w="0">
            <a:noFill/>
          </a:ln>
        </p:spPr>
        <p:txBody>
          <a:bodyPr wrap="square">
            <a:noAutofit/>
          </a:bodyPr>
          <a:lstStyle/>
          <a:p>
            <a:pPr>
              <a:defRPr sz="2700" b="0">
                <a:solidFill>
                  <a:srgbClr val="003366"/>
                </a:solidFill>
                <a:latin typeface="Times New Roman"/>
                <a:ea typeface="Arial"/>
                <a:cs typeface="Arial"/>
              </a:defRPr>
            </a:pPr>
            <a:r>
              <a:rPr lang="it-IT" sz="4000" b="1">
                <a:solidFill>
                  <a:srgbClr val="111111"/>
                </a:solidFill>
                <a:latin typeface="Times New Roman"/>
                <a:ea typeface="Arial"/>
                <a:cs typeface="Arial"/>
              </a:rPr>
              <a:t>RISULTATO 1: IL BENEFICIO VIENE DA TOP-4</a:t>
            </a:r>
            <a:endParaRPr sz="2700" b="0">
              <a:solidFill>
                <a:srgbClr val="003366"/>
              </a:solidFill>
              <a:latin typeface="Times New Roman"/>
              <a:ea typeface="Arial"/>
              <a:cs typeface="Arial"/>
            </a:endParaRPr>
          </a:p>
        </p:txBody>
      </p:sp>
      <p:sp>
        <p:nvSpPr>
          <p:cNvPr id="6" name="Rectangle 5">
            <a:extLst>
              <a:ext uri="{FF2B5EF4-FFF2-40B4-BE49-F238E27FC236}">
                <a16:creationId xmlns:a16="http://schemas.microsoft.com/office/drawing/2014/main" id="{37BF5463-337E-49AE-80CA-06E347012199}"/>
              </a:ext>
            </a:extLst>
          </p:cNvPr>
          <p:cNvSpPr>
            <a:spLocks noGrp="1"/>
          </p:cNvSpPr>
          <p:nvPr/>
        </p:nvSpPr>
        <p:spPr>
          <a:xfrm>
            <a:off x="11549548" y="1953383"/>
            <a:ext cx="5292206" cy="1122589"/>
          </a:xfrm>
          <a:prstGeom prst="rect">
            <a:avLst/>
          </a:prstGeom>
          <a:noFill/>
          <a:ln w="0">
            <a:noFill/>
          </a:ln>
        </p:spPr>
        <p:txBody>
          <a:bodyPr>
            <a:noAutofit/>
          </a:bodyPr>
          <a:lstStyle/>
          <a:p>
            <a:pPr>
              <a:defRPr sz="7366" b="1">
                <a:solidFill>
                  <a:srgbClr val="175F99"/>
                </a:solidFill>
                <a:latin typeface="Times New Roman"/>
                <a:ea typeface="Arial"/>
                <a:cs typeface="Arial"/>
              </a:defRPr>
            </a:pPr>
            <a:r>
              <a:rPr sz="7366" b="1">
                <a:solidFill>
                  <a:srgbClr val="B5641A"/>
                </a:solidFill>
                <a:latin typeface="Times New Roman"/>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11549548" y="3129429"/>
            <a:ext cx="5292206" cy="1536878"/>
          </a:xfrm>
          <a:prstGeom prst="rect">
            <a:avLst/>
          </a:prstGeom>
          <a:noFill/>
          <a:ln w="0">
            <a:noFill/>
          </a:ln>
        </p:spPr>
        <p:txBody>
          <a:bodyPr>
            <a:noAutofit/>
          </a:bodyPr>
          <a:lstStyle/>
          <a:p>
            <a:pPr>
              <a:defRPr sz="2841" b="0">
                <a:solidFill>
                  <a:srgbClr val="203344"/>
                </a:solidFill>
                <a:latin typeface="Times New Roman"/>
                <a:ea typeface="Arial"/>
                <a:cs typeface="Arial"/>
              </a:defRPr>
            </a:pPr>
            <a:r>
              <a:rPr lang="it-IT" sz="2841" b="0">
                <a:solidFill>
                  <a:srgbClr val="203344"/>
                </a:solidFill>
                <a:latin typeface="Times New Roman"/>
                <a:ea typeface="Arial"/>
                <a:cs typeface="Arial"/>
              </a:rPr>
              <a:t>tentativi medi con TOP-4</a:t>
            </a:r>
          </a:p>
          <a:p>
            <a:pPr>
              <a:defRPr sz="2841" b="0">
                <a:solidFill>
                  <a:srgbClr val="203344"/>
                </a:solidFill>
                <a:latin typeface="Times New Roman"/>
                <a:ea typeface="Arial"/>
                <a:cs typeface="Arial"/>
              </a:defRPr>
            </a:pPr>
            <a:r>
              <a:rPr lang="it-IT" sz="2841" b="0">
                <a:solidFill>
                  <a:srgbClr val="203344"/>
                </a:solidFill>
                <a:latin typeface="Times New Roman"/>
                <a:ea typeface="Arial"/>
                <a:cs typeface="Arial"/>
              </a:rPr>
              <a:t>(30 repliche su 30)</a:t>
            </a:r>
            <a:endParaRPr sz="2841" b="0">
              <a:solidFill>
                <a:srgbClr val="203344"/>
              </a:solidFill>
              <a:latin typeface="Times New Roman"/>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11549548" y="4880133"/>
            <a:ext cx="5292206" cy="1470057"/>
          </a:xfrm>
          <a:prstGeom prst="rect">
            <a:avLst/>
          </a:prstGeom>
          <a:noFill/>
          <a:ln w="0">
            <a:noFill/>
          </a:ln>
        </p:spPr>
        <p:txBody>
          <a:bodyPr>
            <a:noAutofit/>
          </a:bodyPr>
          <a:lstStyle/>
          <a:p>
            <a:pPr>
              <a:defRPr sz="3052" b="0">
                <a:solidFill>
                  <a:srgbClr val="203344"/>
                </a:solidFill>
                <a:latin typeface="Times New Roman"/>
                <a:ea typeface="Arial"/>
                <a:cs typeface="Arial"/>
              </a:defRPr>
            </a:pPr>
            <a:r>
              <a:rPr lang="it-IT" sz="2420" b="1">
                <a:solidFill>
                  <a:srgbClr val="175F99"/>
                </a:solidFill>
                <a:latin typeface="Times New Roman"/>
                <a:ea typeface="Arial"/>
                <a:cs typeface="Arial"/>
              </a:rPr>
              <a:t>Gli altri metodi (UC1 · UC2)</a:t>
            </a:r>
          </a:p>
          <a:p>
            <a:pPr>
              <a:defRPr sz="3052" b="0">
                <a:solidFill>
                  <a:srgbClr val="203344"/>
                </a:solidFill>
                <a:latin typeface="Times New Roman"/>
                <a:ea typeface="Arial"/>
                <a:cs typeface="Arial"/>
              </a:defRPr>
            </a:pPr>
            <a:r>
              <a:rPr lang="it-IT">
                <a:solidFill>
                  <a:srgbClr val="203344"/>
                </a:solidFill>
                <a:latin typeface="Times New Roman"/>
                <a:ea typeface="Arial"/>
                <a:cs typeface="Arial"/>
              </a:rPr>
              <a:t>TOP-1: 1,37 · 1,50</a:t>
            </a:r>
          </a:p>
          <a:p>
            <a:pPr>
              <a:defRPr sz="3052" b="0">
                <a:solidFill>
                  <a:srgbClr val="203344"/>
                </a:solidFill>
                <a:latin typeface="Times New Roman"/>
                <a:ea typeface="Arial"/>
                <a:cs typeface="Arial"/>
              </a:defRPr>
            </a:pPr>
            <a:r>
              <a:rPr lang="it-IT">
                <a:solidFill>
                  <a:srgbClr val="203344"/>
                </a:solidFill>
                <a:latin typeface="Times New Roman"/>
                <a:ea typeface="Arial"/>
                <a:cs typeface="Arial"/>
              </a:rPr>
              <a:t>Metodo 2: 1,50 · 1,37</a:t>
            </a:r>
            <a:endParaRPr>
              <a:solidFill>
                <a:srgbClr val="203344"/>
              </a:solidFill>
              <a:latin typeface="Times New Roman"/>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1446244" y="8408271"/>
            <a:ext cx="15395510" cy="694936"/>
          </a:xfrm>
          <a:prstGeom prst="rect">
            <a:avLst/>
          </a:prstGeom>
          <a:noFill/>
          <a:ln w="0">
            <a:noFill/>
          </a:ln>
        </p:spPr>
        <p:txBody>
          <a:bodyPr>
            <a:noAutofit/>
          </a:bodyPr>
          <a:lstStyle/>
          <a:p>
            <a:pPr>
              <a:defRPr sz="2736" b="1">
                <a:solidFill>
                  <a:srgbClr val="175F99"/>
                </a:solidFill>
                <a:latin typeface="Times New Roman"/>
                <a:ea typeface="Arial"/>
                <a:cs typeface="Arial"/>
              </a:defRPr>
            </a:pPr>
            <a:r>
              <a:rPr lang="it-IT" sz="2736" b="1">
                <a:solidFill>
                  <a:srgbClr val="175F99"/>
                </a:solidFill>
                <a:latin typeface="Times New Roman"/>
                <a:ea typeface="Arial"/>
                <a:cs typeface="Arial"/>
              </a:rPr>
              <a:t>Il vantaggio viene dai candidati in più, non dal machine learning.</a:t>
            </a:r>
            <a:endParaRPr sz="2736" b="1">
              <a:solidFill>
                <a:srgbClr val="175F99"/>
              </a:solidFill>
              <a:latin typeface="Times New Roman"/>
              <a:ea typeface="Arial"/>
              <a:cs typeface="Arial"/>
            </a:endParaRPr>
          </a:p>
        </p:txBody>
      </p:sp>
      <p:sp>
        <p:nvSpPr>
          <p:cNvPr id="14" name="TextBox 13"/>
          <p:cNvSpPr txBox="1"/>
          <p:nvPr/>
        </p:nvSpPr>
        <p:spPr>
          <a:xfrm>
            <a:off x="11549548" y="6483832"/>
            <a:ext cx="5292206" cy="668207"/>
          </a:xfrm>
          <a:prstGeom prst="rect">
            <a:avLst/>
          </a:prstGeom>
          <a:noFill/>
        </p:spPr>
        <p:txBody>
          <a:bodyPr wrap="square">
            <a:spAutoFit/>
          </a:bodyPr>
          <a:lstStyle/>
          <a:p>
            <a:r>
              <a:rPr sz="1824" b="1">
                <a:solidFill>
                  <a:srgbClr val="B8621B"/>
                </a:solidFill>
                <a:latin typeface="Times New Roman"/>
              </a:rPr>
              <a:t>Metodo 2 peggiore di TOP-4: p = 0,003 (UC1) e 0,010 (UC2), test appaiato con correzione di Holm</a:t>
            </a:r>
          </a:p>
        </p:txBody>
      </p:sp>
      <p:sp>
        <p:nvSpPr>
          <p:cNvPr id="15" name="TextBox 14"/>
          <p:cNvSpPr txBox="1"/>
          <p:nvPr/>
        </p:nvSpPr>
        <p:spPr>
          <a:xfrm>
            <a:off x="11549548" y="7352503"/>
            <a:ext cx="5292206" cy="534566"/>
          </a:xfrm>
          <a:prstGeom prst="rect">
            <a:avLst/>
          </a:prstGeom>
          <a:noFill/>
        </p:spPr>
        <p:txBody>
          <a:bodyPr wrap="square">
            <a:spAutoFit/>
          </a:bodyPr>
          <a:lstStyle/>
          <a:p>
            <a:r>
              <a:rPr sz="1684" b="0">
                <a:solidFill>
                  <a:srgbClr val="5B6573"/>
                </a:solidFill>
                <a:latin typeface="Times New Roman"/>
              </a:rPr>
              <a:t>UC1 e UC2: due preset di rumore uniforme, illustrativi; 30 repliche ciascuno.</a:t>
            </a:r>
          </a:p>
        </p:txBody>
      </p:sp>
      <p:sp>
        <p:nvSpPr>
          <p:cNvPr id="28" name="Shape 26"/>
          <p:cNvSpPr/>
          <p:nvPr/>
        </p:nvSpPr>
        <p:spPr>
          <a:xfrm>
            <a:off x="0" y="9467850"/>
            <a:ext cx="18288000" cy="819150"/>
          </a:xfrm>
          <a:prstGeom prst="rect">
            <a:avLst/>
          </a:prstGeom>
          <a:solidFill>
            <a:srgbClr val="1170C8"/>
          </a:solidFill>
          <a:ln/>
        </p:spPr>
        <p:txBody>
          <a:bodyPr/>
          <a:lstStyle/>
          <a:p>
            <a:endParaRPr lang="it-IT">
              <a:latin typeface="Times New Roman" panose="02020603050405020304" pitchFamily="18" charset="0"/>
              <a:cs typeface="Times New Roman" panose="02020603050405020304" pitchFamily="18" charset="0"/>
            </a:endParaRPr>
          </a:p>
        </p:txBody>
      </p:sp>
      <p:pic>
        <p:nvPicPr>
          <p:cNvPr id="29" name="Picture 28" descr="image.png"/>
          <p:cNvPicPr>
            <a:picLocks noChangeAspect="1"/>
          </p:cNvPicPr>
          <p:nvPr/>
        </p:nvPicPr>
        <p:blipFill>
          <a:blip r:embed="rId6"/>
          <a:stretch>
            <a:fillRect/>
          </a:stretch>
        </p:blipFill>
        <p:spPr>
          <a:xfrm>
            <a:off x="16904021" y="9218222"/>
            <a:ext cx="1243958" cy="1032656"/>
          </a:xfrm>
          <a:prstGeom prst="rect">
            <a:avLst/>
          </a:prstGeom>
        </p:spPr>
      </p:pic>
    </p:spTree>
    <p:extLst>
      <p:ext uri="{BB962C8B-B14F-4D97-AF65-F5344CB8AC3E}">
        <p14:creationId xmlns:p14="http://schemas.microsoft.com/office/powerpoint/2010/main" val="627115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762000" y="380000"/>
            <a:ext cx="16764000" cy="950000"/>
          </a:xfrm>
          <a:prstGeom prst="rect">
            <a:avLst/>
          </a:prstGeom>
          <a:noFill/>
          <a:ln w="0">
            <a:noFill/>
          </a:ln>
        </p:spPr>
        <p:txBody>
          <a:bodyPr wrap="square">
            <a:noAutofit/>
          </a:bodyPr>
          <a:lstStyle/>
          <a:p>
            <a:pPr>
              <a:defRPr sz="2700" b="0">
                <a:solidFill>
                  <a:srgbClr val="003366"/>
                </a:solidFill>
                <a:latin typeface="Times New Roman"/>
                <a:ea typeface="Arial"/>
                <a:cs typeface="Arial"/>
              </a:defRPr>
            </a:pPr>
            <a:r>
              <a:rPr lang="it-IT" sz="4000" b="1">
                <a:solidFill>
                  <a:srgbClr val="111111"/>
                </a:solidFill>
                <a:latin typeface="Times New Roman"/>
                <a:ea typeface="Arial"/>
                <a:cs typeface="Arial"/>
              </a:rPr>
              <a:t>STRATEGIA 2: CORREZIONE QUANTISTICA DEGLI ERRORI</a:t>
            </a:r>
            <a:endParaRPr sz="2700" b="0">
              <a:solidFill>
                <a:srgbClr val="003366"/>
              </a:solidFill>
              <a:latin typeface="Times New Roman"/>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1446244" y="1414362"/>
            <a:ext cx="15395510" cy="518195"/>
          </a:xfrm>
          <a:prstGeom prst="rect">
            <a:avLst/>
          </a:prstGeom>
          <a:noFill/>
        </p:spPr>
        <p:txBody>
          <a:bodyPr vert="horz" wrap="square" rtlCol="0">
            <a:noAutofit/>
          </a:bodyPr>
          <a:lstStyle/>
          <a:p>
            <a:r>
              <a:rPr lang="it-IT" sz="2420">
                <a:solidFill>
                  <a:srgbClr val="203344"/>
                </a:solidFill>
                <a:latin typeface="Times New Roman"/>
              </a:rPr>
              <a:t>Idea comune: più qubit fisici proteggono un qubit logico; un decoder legge le sindromi (i segnali d'errore) e sceglie la correzione.</a:t>
            </a:r>
            <a:endParaRPr lang="en-GB" sz="2420">
              <a:solidFill>
                <a:srgbClr val="203344"/>
              </a:solidFill>
              <a:latin typeface="Times New Roman"/>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1446244" y="2340943"/>
            <a:ext cx="7483928" cy="3813239"/>
          </a:xfrm>
          <a:prstGeom prst="roundRect">
            <a:avLst>
              <a:gd name="adj" fmla="val 6000"/>
            </a:avLst>
          </a:prstGeom>
          <a:solidFill>
            <a:srgbClr val="EEF4F8"/>
          </a:solidFill>
          <a:ln w="20046">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9357826" y="2340943"/>
            <a:ext cx="7483928" cy="3813239"/>
          </a:xfrm>
          <a:prstGeom prst="roundRect">
            <a:avLst>
              <a:gd name="adj" fmla="val 6000"/>
            </a:avLst>
          </a:prstGeom>
          <a:solidFill>
            <a:srgbClr val="EEF4F8"/>
          </a:solidFill>
          <a:ln w="20046">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20" name="TextBox 19">
            <a:extLst>
              <a:ext uri="{FF2B5EF4-FFF2-40B4-BE49-F238E27FC236}">
                <a16:creationId xmlns:a16="http://schemas.microsoft.com/office/drawing/2014/main" id="{869506C8-FC11-2811-D894-827E70F8AA96}"/>
              </a:ext>
            </a:extLst>
          </p:cNvPr>
          <p:cNvSpPr txBox="1"/>
          <p:nvPr/>
        </p:nvSpPr>
        <p:spPr>
          <a:xfrm>
            <a:off x="1695709" y="2519132"/>
            <a:ext cx="6985000" cy="518195"/>
          </a:xfrm>
          <a:prstGeom prst="rect">
            <a:avLst/>
          </a:prstGeom>
          <a:noFill/>
        </p:spPr>
        <p:txBody>
          <a:bodyPr vert="horz" wrap="square" rtlCol="0">
            <a:noAutofit/>
          </a:bodyPr>
          <a:lstStyle/>
          <a:p>
            <a:r>
              <a:rPr lang="en-GB" sz="2841" b="1">
                <a:solidFill>
                  <a:srgbClr val="003366"/>
                </a:solidFill>
                <a:latin typeface="Times New Roman"/>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1695709" y="3124974"/>
            <a:ext cx="6985000" cy="518195"/>
          </a:xfrm>
          <a:prstGeom prst="rect">
            <a:avLst/>
          </a:prstGeom>
          <a:noFill/>
        </p:spPr>
        <p:txBody>
          <a:bodyPr vert="horz" wrap="square" rtlCol="0">
            <a:noAutofit/>
          </a:bodyPr>
          <a:lstStyle/>
          <a:p>
            <a:pPr>
              <a:spcAft>
                <a:spcPts val="841"/>
              </a:spcAft>
            </a:pPr>
            <a:r>
              <a:rPr lang="it-IT" sz="2210">
                <a:solidFill>
                  <a:srgbClr val="203344"/>
                </a:solidFill>
                <a:latin typeface="Times New Roman"/>
              </a:rPr>
              <a:t>Il codice più studiato e robusto, ma costoso: per 12 qubit logici servono circa 2000 qubit di dato.</a:t>
            </a:r>
          </a:p>
          <a:p>
            <a:pPr>
              <a:spcAft>
                <a:spcPts val="841"/>
              </a:spcAft>
            </a:pPr>
            <a:r>
              <a:rPr lang="it-IT" sz="2210">
                <a:solidFill>
                  <a:srgbClr val="203344"/>
                </a:solidFill>
                <a:latin typeface="Times New Roman"/>
              </a:rPr>
              <a:t>Qui ho confrontato i decoder: MWPM (classico), rete neurale, ibrido e BP+OSD.</a:t>
            </a:r>
          </a:p>
          <a:p>
            <a:pPr>
              <a:spcAft>
                <a:spcPts val="841"/>
              </a:spcAft>
            </a:pPr>
            <a:r>
              <a:rPr lang="it-IT" sz="2210">
                <a:solidFill>
                  <a:srgbClr val="203344"/>
                </a:solidFill>
                <a:latin typeface="Times New Roman"/>
              </a:rPr>
              <a:t>Rumore su porte e misure, anche crosstalk.</a:t>
            </a:r>
            <a:endParaRPr lang="en-GB" sz="2210">
              <a:solidFill>
                <a:srgbClr val="203344"/>
              </a:solidFill>
              <a:latin typeface="Times New Roman"/>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9607290" y="2519132"/>
            <a:ext cx="6985000" cy="518195"/>
          </a:xfrm>
          <a:prstGeom prst="rect">
            <a:avLst/>
          </a:prstGeom>
          <a:noFill/>
        </p:spPr>
        <p:txBody>
          <a:bodyPr vert="horz" wrap="square" rtlCol="0">
            <a:noAutofit/>
          </a:bodyPr>
          <a:lstStyle/>
          <a:p>
            <a:r>
              <a:rPr lang="it-IT" sz="2841" b="1">
                <a:solidFill>
                  <a:srgbClr val="003366"/>
                </a:solidFill>
                <a:latin typeface="Times New Roman"/>
              </a:rPr>
              <a:t>Gross code · l'alternativa di IBM</a:t>
            </a:r>
            <a:endParaRPr lang="en-GB" sz="2841" b="1">
              <a:solidFill>
                <a:srgbClr val="003366"/>
              </a:solidFill>
              <a:latin typeface="Times New Roman"/>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9607290" y="3124974"/>
            <a:ext cx="6985000" cy="518195"/>
          </a:xfrm>
          <a:prstGeom prst="rect">
            <a:avLst/>
          </a:prstGeom>
          <a:noFill/>
        </p:spPr>
        <p:txBody>
          <a:bodyPr vert="horz" wrap="square" rtlCol="0">
            <a:noAutofit/>
          </a:bodyPr>
          <a:lstStyle/>
          <a:p>
            <a:pPr>
              <a:spcAft>
                <a:spcPts val="841"/>
              </a:spcAft>
            </a:pPr>
            <a:r>
              <a:rPr lang="it-IT" sz="2210">
                <a:solidFill>
                  <a:srgbClr val="203344"/>
                </a:solidFill>
                <a:latin typeface="Times New Roman"/>
              </a:rPr>
              <a:t>Codice qLDPC proposto da IBM: protegge gli stessi 12 qubit logici con 144 qubit di dato.</a:t>
            </a:r>
          </a:p>
          <a:p>
            <a:pPr>
              <a:spcAft>
                <a:spcPts val="841"/>
              </a:spcAft>
            </a:pPr>
            <a:r>
              <a:rPr lang="it-IT" sz="2210">
                <a:solidFill>
                  <a:srgbClr val="203344"/>
                </a:solidFill>
                <a:latin typeface="Times New Roman"/>
              </a:rPr>
              <a:t>Decoder BP+OSD.</a:t>
            </a:r>
          </a:p>
          <a:p>
            <a:pPr>
              <a:spcAft>
                <a:spcPts val="841"/>
              </a:spcAft>
            </a:pPr>
            <a:r>
              <a:rPr lang="it-IT" sz="2210">
                <a:solidFill>
                  <a:srgbClr val="203344"/>
                </a:solidFill>
                <a:latin typeface="Times New Roman"/>
              </a:rPr>
              <a:t>Simulo gli errori come sequenze di 144 bit, non lo stato quantistico.</a:t>
            </a:r>
            <a:endParaRPr lang="en-GB" sz="2210">
              <a:solidFill>
                <a:srgbClr val="203344"/>
              </a:solidFill>
              <a:latin typeface="Times New Roman"/>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1446244" y="6368010"/>
            <a:ext cx="15395510" cy="1354234"/>
          </a:xfrm>
          <a:prstGeom prst="roundRect">
            <a:avLst>
              <a:gd name="adj" fmla="val 6000"/>
            </a:avLst>
          </a:prstGeom>
          <a:solidFill>
            <a:srgbClr val="FDF1E4"/>
          </a:solidFill>
          <a:ln w="26728">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25" name="TextBox 24">
            <a:extLst>
              <a:ext uri="{FF2B5EF4-FFF2-40B4-BE49-F238E27FC236}">
                <a16:creationId xmlns:a16="http://schemas.microsoft.com/office/drawing/2014/main" id="{CE9970CF-B93F-E493-A038-3F9BE7D46CE6}"/>
              </a:ext>
            </a:extLst>
          </p:cNvPr>
          <p:cNvSpPr txBox="1"/>
          <p:nvPr/>
        </p:nvSpPr>
        <p:spPr>
          <a:xfrm>
            <a:off x="1695709" y="6439285"/>
            <a:ext cx="14896581" cy="518195"/>
          </a:xfrm>
          <a:prstGeom prst="rect">
            <a:avLst/>
          </a:prstGeom>
          <a:noFill/>
        </p:spPr>
        <p:txBody>
          <a:bodyPr vert="horz" wrap="square" rtlCol="0">
            <a:noAutofit/>
          </a:bodyPr>
          <a:lstStyle/>
          <a:p>
            <a:r>
              <a:rPr lang="it-IT" sz="2420" b="1">
                <a:solidFill>
                  <a:srgbClr val="B5641A"/>
                </a:solidFill>
                <a:latin typeface="Times New Roman"/>
              </a:rPr>
              <a:t>Perché due codici?</a:t>
            </a:r>
          </a:p>
          <a:p>
            <a:r>
              <a:rPr lang="it-IT" sz="2210">
                <a:solidFill>
                  <a:srgbClr val="203344"/>
                </a:solidFill>
                <a:latin typeface="Times New Roman"/>
              </a:rPr>
              <a:t>Il surface code è lo standard ma richiede molti qubit; il Gross code promette una protezione simile con 10–14 volte meno qubit. Confrontarli dice quanto si può risparmiare.</a:t>
            </a:r>
            <a:endParaRPr lang="en-GB" sz="2210">
              <a:solidFill>
                <a:srgbClr val="203344"/>
              </a:solidFill>
              <a:latin typeface="Times New Roman"/>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1446244" y="7829158"/>
            <a:ext cx="15395510" cy="518195"/>
          </a:xfrm>
          <a:prstGeom prst="rect">
            <a:avLst/>
          </a:prstGeom>
          <a:noFill/>
        </p:spPr>
        <p:txBody>
          <a:bodyPr vert="horz" wrap="square" rtlCol="0">
            <a:noAutofit/>
          </a:bodyPr>
          <a:lstStyle/>
          <a:p>
            <a:r>
              <a:rPr lang="it-IT" sz="1789">
                <a:solidFill>
                  <a:srgbClr val="647487"/>
                </a:solidFill>
                <a:latin typeface="Times New Roman"/>
              </a:rPr>
              <a:t>Simulazioni con Stim e PyMatching (surface code) e ldpc (Gross code). La correzione degli errori è studiata separatamente da Shor.</a:t>
            </a:r>
            <a:endParaRPr lang="en-GB" sz="1789">
              <a:solidFill>
                <a:srgbClr val="647487"/>
              </a:solidFill>
              <a:latin typeface="Times New Roman"/>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1446244" y="8363724"/>
            <a:ext cx="15395510" cy="518195"/>
          </a:xfrm>
          <a:prstGeom prst="rect">
            <a:avLst/>
          </a:prstGeom>
          <a:noFill/>
        </p:spPr>
        <p:txBody>
          <a:bodyPr vert="horz" wrap="square" rtlCol="0">
            <a:noAutofit/>
          </a:bodyPr>
          <a:lstStyle/>
          <a:p>
            <a:r>
              <a:rPr lang="it-IT" sz="2736" b="1">
                <a:solidFill>
                  <a:srgbClr val="175F99"/>
                </a:solidFill>
                <a:latin typeface="Times New Roman"/>
              </a:rPr>
              <a:t>Stessa idea, due compromessi diversi tra protezione e numero di qubit.</a:t>
            </a:r>
            <a:endParaRPr lang="en-GB" sz="2736" b="1">
              <a:solidFill>
                <a:srgbClr val="175F99"/>
              </a:solidFill>
              <a:latin typeface="Times New Roman"/>
            </a:endParaRPr>
          </a:p>
        </p:txBody>
      </p:sp>
      <p:sp>
        <p:nvSpPr>
          <p:cNvPr id="28" name="Shape 26"/>
          <p:cNvSpPr/>
          <p:nvPr/>
        </p:nvSpPr>
        <p:spPr>
          <a:xfrm>
            <a:off x="0" y="9467850"/>
            <a:ext cx="18288000" cy="819150"/>
          </a:xfrm>
          <a:prstGeom prst="rect">
            <a:avLst/>
          </a:prstGeom>
          <a:solidFill>
            <a:srgbClr val="1170C8"/>
          </a:solidFill>
          <a:ln/>
        </p:spPr>
        <p:txBody>
          <a:bodyPr/>
          <a:lstStyle/>
          <a:p>
            <a:endParaRPr lang="it-IT">
              <a:latin typeface="Times New Roman" panose="02020603050405020304" pitchFamily="18" charset="0"/>
              <a:cs typeface="Times New Roman" panose="02020603050405020304" pitchFamily="18" charset="0"/>
            </a:endParaRPr>
          </a:p>
        </p:txBody>
      </p:sp>
      <p:pic>
        <p:nvPicPr>
          <p:cNvPr id="29" name="Picture 28" descr="image.png"/>
          <p:cNvPicPr>
            <a:picLocks noChangeAspect="1"/>
          </p:cNvPicPr>
          <p:nvPr/>
        </p:nvPicPr>
        <p:blipFill>
          <a:blip r:embed="rId4"/>
          <a:stretch>
            <a:fillRect/>
          </a:stretch>
        </p:blipFill>
        <p:spPr>
          <a:xfrm>
            <a:off x="16904021" y="9218222"/>
            <a:ext cx="1243958" cy="1032656"/>
          </a:xfrm>
          <a:prstGeom prst="rect">
            <a:avLst/>
          </a:prstGeom>
        </p:spPr>
      </p:pic>
    </p:spTree>
    <p:extLst>
      <p:ext uri="{BB962C8B-B14F-4D97-AF65-F5344CB8AC3E}">
        <p14:creationId xmlns:p14="http://schemas.microsoft.com/office/powerpoint/2010/main" val="384824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descr="v2_s15_surface_code_soglia_z.png"/>
          <p:cNvPicPr>
            <a:picLocks noChangeAspect="1"/>
          </p:cNvPicPr>
          <p:nvPr/>
        </p:nvPicPr>
        <p:blipFill>
          <a:blip r:embed="rId5"/>
          <a:stretch>
            <a:fillRect/>
          </a:stretch>
        </p:blipFill>
        <p:spPr>
          <a:xfrm>
            <a:off x="1446244" y="1672735"/>
            <a:ext cx="9115446" cy="5746588"/>
          </a:xfrm>
          <a:prstGeom prst="rect">
            <a:avLst/>
          </a:prstGeom>
        </p:spPr>
      </p:pic>
      <p:sp>
        <p:nvSpPr>
          <p:cNvPr id="11" name="Rectangle 10">
            <a:extLst>
              <a:ext uri="{FF2B5EF4-FFF2-40B4-BE49-F238E27FC236}">
                <a16:creationId xmlns:a16="http://schemas.microsoft.com/office/drawing/2014/main" id="{4AA26051-CE9A-44FC-98B2-DC8331178E93}"/>
              </a:ext>
            </a:extLst>
          </p:cNvPr>
          <p:cNvSpPr>
            <a:spLocks noGrp="1"/>
          </p:cNvSpPr>
          <p:nvPr/>
        </p:nvSpPr>
        <p:spPr>
          <a:xfrm>
            <a:off x="762000" y="380000"/>
            <a:ext cx="16764000" cy="950000"/>
          </a:xfrm>
          <a:prstGeom prst="rect">
            <a:avLst/>
          </a:prstGeom>
          <a:noFill/>
          <a:ln w="0">
            <a:noFill/>
          </a:ln>
        </p:spPr>
        <p:txBody>
          <a:bodyPr wrap="square">
            <a:noAutofit/>
          </a:bodyPr>
          <a:lstStyle/>
          <a:p>
            <a:pPr>
              <a:defRPr sz="2700" b="0">
                <a:solidFill>
                  <a:srgbClr val="003366"/>
                </a:solidFill>
                <a:latin typeface="Times New Roman"/>
                <a:ea typeface="Arial"/>
                <a:cs typeface="Arial"/>
              </a:defRPr>
            </a:pPr>
            <a:r>
              <a:rPr lang="it-IT" sz="4000" b="1">
                <a:solidFill>
                  <a:srgbClr val="111111"/>
                </a:solidFill>
                <a:latin typeface="Times New Roman"/>
                <a:ea typeface="Arial"/>
                <a:cs typeface="Arial"/>
              </a:rPr>
              <a:t>RISULTATO 2: LA QEC AIUTA SOTTO SOGLIA</a:t>
            </a:r>
            <a:endParaRPr sz="2700" b="0">
              <a:solidFill>
                <a:srgbClr val="003366"/>
              </a:solidFill>
              <a:latin typeface="Times New Roman"/>
              <a:ea typeface="Arial"/>
              <a:cs typeface="Arial"/>
            </a:endParaRPr>
          </a:p>
        </p:txBody>
      </p:sp>
      <p:sp>
        <p:nvSpPr>
          <p:cNvPr id="6" name="Rectangle 5">
            <a:extLst>
              <a:ext uri="{FF2B5EF4-FFF2-40B4-BE49-F238E27FC236}">
                <a16:creationId xmlns:a16="http://schemas.microsoft.com/office/drawing/2014/main" id="{0C456B77-8485-4875-A49F-280A5006DBAD}"/>
              </a:ext>
            </a:extLst>
          </p:cNvPr>
          <p:cNvSpPr>
            <a:spLocks noGrp="1"/>
          </p:cNvSpPr>
          <p:nvPr/>
        </p:nvSpPr>
        <p:spPr>
          <a:xfrm>
            <a:off x="11549548" y="2060296"/>
            <a:ext cx="5292206" cy="1122589"/>
          </a:xfrm>
          <a:prstGeom prst="rect">
            <a:avLst/>
          </a:prstGeom>
          <a:noFill/>
          <a:ln w="0">
            <a:noFill/>
          </a:ln>
        </p:spPr>
        <p:txBody>
          <a:bodyPr>
            <a:noAutofit/>
          </a:bodyPr>
          <a:lstStyle/>
          <a:p>
            <a:pPr>
              <a:defRPr sz="6419" b="1">
                <a:solidFill>
                  <a:srgbClr val="175F99"/>
                </a:solidFill>
                <a:latin typeface="Times New Roman"/>
                <a:ea typeface="Arial"/>
                <a:cs typeface="Arial"/>
              </a:defRPr>
            </a:pPr>
            <a:r>
              <a:rPr sz="6419" b="1">
                <a:solidFill>
                  <a:srgbClr val="175F99"/>
                </a:solidFill>
                <a:latin typeface="Times New Roman"/>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11549548" y="3236342"/>
            <a:ext cx="5292206" cy="1536878"/>
          </a:xfrm>
          <a:prstGeom prst="rect">
            <a:avLst/>
          </a:prstGeom>
          <a:noFill/>
          <a:ln w="0">
            <a:noFill/>
          </a:ln>
        </p:spPr>
        <p:txBody>
          <a:bodyPr>
            <a:noAutofit/>
          </a:bodyPr>
          <a:lstStyle/>
          <a:p>
            <a:pPr>
              <a:defRPr sz="2841" b="0">
                <a:solidFill>
                  <a:srgbClr val="203344"/>
                </a:solidFill>
                <a:latin typeface="Times New Roman"/>
                <a:ea typeface="Arial"/>
                <a:cs typeface="Arial"/>
              </a:defRPr>
            </a:pPr>
            <a:r>
              <a:rPr lang="it-IT" sz="2841" b="0">
                <a:solidFill>
                  <a:srgbClr val="203344"/>
                </a:solidFill>
                <a:latin typeface="Times New Roman"/>
                <a:ea typeface="Arial"/>
                <a:cs typeface="Arial"/>
              </a:rPr>
              <a:t>Soglia in base Z (fit)</a:t>
            </a:r>
          </a:p>
          <a:p>
            <a:pPr>
              <a:defRPr sz="2841" b="0">
                <a:solidFill>
                  <a:srgbClr val="203344"/>
                </a:solidFill>
                <a:latin typeface="Times New Roman"/>
                <a:ea typeface="Arial"/>
                <a:cs typeface="Arial"/>
              </a:defRPr>
            </a:pPr>
            <a:r>
              <a:rPr lang="it-IT" sz="2841" b="0">
                <a:solidFill>
                  <a:srgbClr val="203344"/>
                </a:solidFill>
                <a:latin typeface="Times New Roman"/>
                <a:ea typeface="Arial"/>
                <a:cs typeface="Arial"/>
              </a:rPr>
              <a:t>base X: 0,81%</a:t>
            </a:r>
            <a:endParaRPr sz="2841" b="0">
              <a:solidFill>
                <a:srgbClr val="203344"/>
              </a:solidFill>
              <a:latin typeface="Times New Roman"/>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1446244" y="8488456"/>
            <a:ext cx="15395510" cy="588022"/>
          </a:xfrm>
          <a:prstGeom prst="rect">
            <a:avLst/>
          </a:prstGeom>
          <a:noFill/>
          <a:ln w="0">
            <a:noFill/>
          </a:ln>
        </p:spPr>
        <p:txBody>
          <a:bodyPr>
            <a:noAutofit/>
          </a:bodyPr>
          <a:lstStyle/>
          <a:p>
            <a:pPr>
              <a:defRPr sz="2841" b="1">
                <a:solidFill>
                  <a:srgbClr val="175F99"/>
                </a:solidFill>
                <a:latin typeface="Times New Roman"/>
                <a:ea typeface="Arial"/>
                <a:cs typeface="Arial"/>
              </a:defRPr>
            </a:pPr>
            <a:r>
              <a:rPr lang="it-IT" sz="2841" b="1">
                <a:solidFill>
                  <a:srgbClr val="175F99"/>
                </a:solidFill>
                <a:latin typeface="Times New Roman"/>
                <a:ea typeface="Arial"/>
                <a:cs typeface="Arial"/>
              </a:rPr>
              <a:t>Sotto soglia, codici più grandi correggono meglio; sopra soglia peggiorano.</a:t>
            </a:r>
            <a:endParaRPr sz="2841" b="1">
              <a:solidFill>
                <a:srgbClr val="175F99"/>
              </a:solidFill>
              <a:latin typeface="Times New Roman"/>
              <a:ea typeface="Arial"/>
              <a:cs typeface="Arial"/>
            </a:endParaRPr>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11549548" y="5013775"/>
            <a:ext cx="5292206" cy="1853163"/>
          </a:xfrm>
          <a:prstGeom prst="roundRect">
            <a:avLst>
              <a:gd name="adj" fmla="val 6000"/>
            </a:avLst>
          </a:prstGeom>
          <a:solidFill>
            <a:srgbClr val="FDF1E4"/>
          </a:solidFill>
          <a:ln w="26728">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14" name="TextBox 13">
            <a:extLst>
              <a:ext uri="{FF2B5EF4-FFF2-40B4-BE49-F238E27FC236}">
                <a16:creationId xmlns:a16="http://schemas.microsoft.com/office/drawing/2014/main" id="{882D396C-6EB7-5831-1F5F-F7D23910526B}"/>
              </a:ext>
            </a:extLst>
          </p:cNvPr>
          <p:cNvSpPr txBox="1"/>
          <p:nvPr/>
        </p:nvSpPr>
        <p:spPr>
          <a:xfrm>
            <a:off x="11549548" y="5120688"/>
            <a:ext cx="5292206" cy="518195"/>
          </a:xfrm>
          <a:prstGeom prst="rect">
            <a:avLst/>
          </a:prstGeom>
          <a:noFill/>
        </p:spPr>
        <p:txBody>
          <a:bodyPr vert="horz" wrap="square" rtlCol="0">
            <a:noAutofit/>
          </a:bodyPr>
          <a:lstStyle/>
          <a:p>
            <a:r>
              <a:rPr lang="it-IT" sz="2420" b="1">
                <a:solidFill>
                  <a:srgbClr val="B5641A"/>
                </a:solidFill>
                <a:latin typeface="Times New Roman"/>
              </a:rPr>
              <a:t>La soglia</a:t>
            </a:r>
          </a:p>
          <a:p>
            <a:r>
              <a:rPr lang="it-IT" sz="2210">
                <a:solidFill>
                  <a:srgbClr val="203344"/>
                </a:solidFill>
                <a:latin typeface="Times New Roman"/>
              </a:rPr>
              <a:t>è il punto in cui le curve si incrociano (cerchio arancione)</a:t>
            </a:r>
            <a:endParaRPr lang="en-GB" sz="2210">
              <a:solidFill>
                <a:srgbClr val="203344"/>
              </a:solidFill>
              <a:latin typeface="Times New Roman"/>
            </a:endParaRPr>
          </a:p>
        </p:txBody>
      </p:sp>
      <p:sp>
        <p:nvSpPr>
          <p:cNvPr id="16" name="TextBox 15"/>
          <p:cNvSpPr txBox="1"/>
          <p:nvPr/>
        </p:nvSpPr>
        <p:spPr>
          <a:xfrm>
            <a:off x="11549548" y="7152040"/>
            <a:ext cx="5292206" cy="801849"/>
          </a:xfrm>
          <a:prstGeom prst="rect">
            <a:avLst/>
          </a:prstGeom>
          <a:noFill/>
        </p:spPr>
        <p:txBody>
          <a:bodyPr wrap="square">
            <a:spAutoFit/>
          </a:bodyPr>
          <a:lstStyle/>
          <a:p>
            <a:r>
              <a:rPr sz="1684">
                <a:solidFill>
                  <a:srgbClr val="5B6573"/>
                </a:solidFill>
                <a:latin typeface="Times New Roman"/>
              </a:rPr>
              <a:t>Grafico: base Z, decoder MWPM, d = 3–9, rumore circuit-level, 200 000 shot per punto.</a:t>
            </a:r>
          </a:p>
        </p:txBody>
      </p:sp>
      <p:sp>
        <p:nvSpPr>
          <p:cNvPr id="28" name="Shape 26"/>
          <p:cNvSpPr/>
          <p:nvPr/>
        </p:nvSpPr>
        <p:spPr>
          <a:xfrm>
            <a:off x="0" y="9467850"/>
            <a:ext cx="18288000" cy="819150"/>
          </a:xfrm>
          <a:prstGeom prst="rect">
            <a:avLst/>
          </a:prstGeom>
          <a:solidFill>
            <a:srgbClr val="1170C8"/>
          </a:solidFill>
          <a:ln/>
        </p:spPr>
        <p:txBody>
          <a:bodyPr/>
          <a:lstStyle/>
          <a:p>
            <a:endParaRPr lang="it-IT">
              <a:latin typeface="Times New Roman" panose="02020603050405020304" pitchFamily="18" charset="0"/>
              <a:cs typeface="Times New Roman" panose="02020603050405020304" pitchFamily="18" charset="0"/>
            </a:endParaRPr>
          </a:p>
        </p:txBody>
      </p:sp>
      <p:pic>
        <p:nvPicPr>
          <p:cNvPr id="29" name="Picture 28" descr="image.png"/>
          <p:cNvPicPr>
            <a:picLocks noChangeAspect="1"/>
          </p:cNvPicPr>
          <p:nvPr/>
        </p:nvPicPr>
        <p:blipFill>
          <a:blip r:embed="rId6"/>
          <a:stretch>
            <a:fillRect/>
          </a:stretch>
        </p:blipFill>
        <p:spPr>
          <a:xfrm>
            <a:off x="16904021" y="9218222"/>
            <a:ext cx="1243958" cy="1032656"/>
          </a:xfrm>
          <a:prstGeom prst="rect">
            <a:avLst/>
          </a:prstGeom>
        </p:spPr>
      </p:pic>
    </p:spTree>
    <p:extLst>
      <p:ext uri="{BB962C8B-B14F-4D97-AF65-F5344CB8AC3E}">
        <p14:creationId xmlns:p14="http://schemas.microsoft.com/office/powerpoint/2010/main" val="1581526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6_decoder_bposd_ibrido.png"/>
          <p:cNvPicPr>
            <a:picLocks noChangeAspect="1"/>
          </p:cNvPicPr>
          <p:nvPr/>
        </p:nvPicPr>
        <p:blipFill>
          <a:blip r:embed="rId5"/>
          <a:stretch>
            <a:fillRect/>
          </a:stretch>
        </p:blipFill>
        <p:spPr>
          <a:xfrm>
            <a:off x="1446244" y="1672735"/>
            <a:ext cx="9480361" cy="5746588"/>
          </a:xfrm>
          <a:prstGeom prst="rect">
            <a:avLst/>
          </a:prstGeom>
        </p:spPr>
      </p:pic>
      <p:sp>
        <p:nvSpPr>
          <p:cNvPr id="11" name="Rectangle 10">
            <a:extLst>
              <a:ext uri="{FF2B5EF4-FFF2-40B4-BE49-F238E27FC236}">
                <a16:creationId xmlns:a16="http://schemas.microsoft.com/office/drawing/2014/main" id="{102FDD2B-0B15-4559-A78F-7510806E9E7B}"/>
              </a:ext>
            </a:extLst>
          </p:cNvPr>
          <p:cNvSpPr>
            <a:spLocks noGrp="1"/>
          </p:cNvSpPr>
          <p:nvPr/>
        </p:nvSpPr>
        <p:spPr>
          <a:xfrm>
            <a:off x="762000" y="380000"/>
            <a:ext cx="16764000" cy="950000"/>
          </a:xfrm>
          <a:prstGeom prst="rect">
            <a:avLst/>
          </a:prstGeom>
          <a:noFill/>
          <a:ln w="0">
            <a:noFill/>
          </a:ln>
        </p:spPr>
        <p:txBody>
          <a:bodyPr wrap="square">
            <a:noAutofit/>
          </a:bodyPr>
          <a:lstStyle/>
          <a:p>
            <a:pPr>
              <a:defRPr sz="2700" b="0">
                <a:solidFill>
                  <a:srgbClr val="003366"/>
                </a:solidFill>
                <a:latin typeface="Times New Roman"/>
                <a:ea typeface="Arial"/>
                <a:cs typeface="Arial"/>
              </a:defRPr>
            </a:pPr>
            <a:r>
              <a:rPr lang="it-IT" sz="4000" b="1">
                <a:solidFill>
                  <a:srgbClr val="111111"/>
                </a:solidFill>
                <a:latin typeface="Times New Roman"/>
                <a:ea typeface="Arial"/>
                <a:cs typeface="Arial"/>
              </a:rPr>
              <a:t>RISULTATO 2: DECODER IBRIDO CON CROSSTALK</a:t>
            </a:r>
            <a:endParaRPr sz="2700" b="0">
              <a:solidFill>
                <a:srgbClr val="003366"/>
              </a:solidFill>
              <a:latin typeface="Times New Roman"/>
              <a:ea typeface="Arial"/>
              <a:cs typeface="Arial"/>
            </a:endParaRPr>
          </a:p>
        </p:txBody>
      </p:sp>
      <p:sp>
        <p:nvSpPr>
          <p:cNvPr id="6" name="Rectangle 5">
            <a:extLst>
              <a:ext uri="{FF2B5EF4-FFF2-40B4-BE49-F238E27FC236}">
                <a16:creationId xmlns:a16="http://schemas.microsoft.com/office/drawing/2014/main" id="{B20ABF44-F325-4D36-BD1F-ABAF3859847D}"/>
              </a:ext>
            </a:extLst>
          </p:cNvPr>
          <p:cNvSpPr>
            <a:spLocks noGrp="1"/>
          </p:cNvSpPr>
          <p:nvPr/>
        </p:nvSpPr>
        <p:spPr>
          <a:xfrm>
            <a:off x="11549548" y="1966747"/>
            <a:ext cx="5292206" cy="1122589"/>
          </a:xfrm>
          <a:prstGeom prst="rect">
            <a:avLst/>
          </a:prstGeom>
          <a:noFill/>
          <a:ln w="0">
            <a:noFill/>
          </a:ln>
        </p:spPr>
        <p:txBody>
          <a:bodyPr>
            <a:noAutofit/>
          </a:bodyPr>
          <a:lstStyle/>
          <a:p>
            <a:pPr>
              <a:defRPr sz="6419" b="1">
                <a:solidFill>
                  <a:srgbClr val="175F99"/>
                </a:solidFill>
                <a:latin typeface="Times New Roman"/>
                <a:ea typeface="Arial"/>
                <a:cs typeface="Arial"/>
              </a:defRPr>
            </a:pPr>
            <a:r>
              <a:rPr sz="6419" b="1">
                <a:solidFill>
                  <a:srgbClr val="B5641A"/>
                </a:solidFill>
                <a:latin typeface="Times New Roman"/>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11549548" y="3142793"/>
            <a:ext cx="5292206" cy="1536878"/>
          </a:xfrm>
          <a:prstGeom prst="rect">
            <a:avLst/>
          </a:prstGeom>
          <a:noFill/>
          <a:ln w="0">
            <a:noFill/>
          </a:ln>
        </p:spPr>
        <p:txBody>
          <a:bodyPr>
            <a:noAutofit/>
          </a:bodyPr>
          <a:lstStyle/>
          <a:p>
            <a:pPr>
              <a:defRPr sz="2841" b="0">
                <a:solidFill>
                  <a:srgbClr val="203344"/>
                </a:solidFill>
                <a:latin typeface="Times New Roman"/>
                <a:ea typeface="Arial"/>
                <a:cs typeface="Arial"/>
              </a:defRPr>
            </a:pPr>
            <a:r>
              <a:rPr sz="2841" b="0">
                <a:solidFill>
                  <a:srgbClr val="203344"/>
                </a:solidFill>
                <a:latin typeface="Times New Roman"/>
                <a:ea typeface="Arial"/>
                <a:cs typeface="Arial"/>
              </a:rPr>
              <a:t>Riduzione relativa di </a:t>
            </a:r>
            <a:r>
              <a:rPr sz="2841" b="0">
                <a:solidFill>
                  <a:srgbClr val="203344"/>
                </a:solidFill>
                <a:latin typeface="Times New Roman"/>
                <a:ea typeface="Arial"/>
                <a:cs typeface="Arial"/>
              </a:rPr>
              <a:t>p</a:t>
            </a:r>
            <a:r>
              <a:rPr sz="2841" b="0" baseline="-25000">
                <a:solidFill>
                  <a:srgbClr val="203344"/>
                </a:solidFill>
                <a:latin typeface="Times New Roman"/>
                <a:ea typeface="Arial"/>
                <a:cs typeface="Arial"/>
              </a:rPr>
              <a:t>L</a:t>
            </a:r>
            <a:r>
              <a:rPr sz="2841" b="0" baseline="-25000">
                <a:solidFill>
                  <a:srgbClr val="203344"/>
                </a:solidFill>
                <a:latin typeface="Times New Roman"/>
                <a:ea typeface="Arial"/>
                <a:cs typeface="Arial"/>
              </a:rPr>
              <a:t/>
            </a:r>
          </a:p>
          <a:p>
            <a:pPr>
              <a:defRPr sz="2841" b="0">
                <a:solidFill>
                  <a:srgbClr val="203344"/>
                </a:solidFill>
                <a:latin typeface="Times New Roman"/>
                <a:ea typeface="Arial"/>
                <a:cs typeface="Arial"/>
              </a:defRPr>
            </a:pPr>
            <a:r>
              <a:rPr sz="2841" b="0">
                <a:solidFill>
                  <a:srgbClr val="203344"/>
                </a:solidFill>
                <a:latin typeface="Times New Roman"/>
                <a:ea typeface="Arial"/>
                <a:cs typeface="Arial"/>
              </a:rPr>
              <a:t>a d = 3, errore fisico 0,3%</a:t>
            </a:r>
          </a:p>
          <a:p>
            <a:pPr>
              <a:defRPr sz="2841" b="0">
                <a:solidFill>
                  <a:srgbClr val="203344"/>
                </a:solidFill>
                <a:latin typeface="Times New Roman"/>
                <a:ea typeface="Arial"/>
                <a:cs typeface="Arial"/>
              </a:defRPr>
            </a:pPr>
            <a:r>
              <a:rPr sz="2841" b="0">
                <a:solidFill>
                  <a:srgbClr val="203344"/>
                </a:solidFill>
                <a:latin typeface="Times New Roman"/>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11549548" y="4880133"/>
            <a:ext cx="5292206" cy="1643791"/>
          </a:xfrm>
          <a:prstGeom prst="rect">
            <a:avLst/>
          </a:prstGeom>
          <a:noFill/>
          <a:ln w="0">
            <a:noFill/>
          </a:ln>
        </p:spPr>
        <p:txBody>
          <a:bodyPr>
            <a:noAutofit/>
          </a:bodyPr>
          <a:lstStyle/>
          <a:p>
            <a:pPr>
              <a:defRPr sz="2736" b="0">
                <a:solidFill>
                  <a:srgbClr val="203344"/>
                </a:solidFill>
                <a:latin typeface="Times New Roman"/>
                <a:ea typeface="Arial"/>
                <a:cs typeface="Arial"/>
              </a:defRPr>
            </a:pPr>
            <a:r>
              <a:rPr sz="2736" b="0">
                <a:solidFill>
                  <a:srgbClr val="203344"/>
                </a:solidFill>
                <a:latin typeface="Times New Roman"/>
                <a:ea typeface="Arial"/>
                <a:cs typeface="Arial"/>
              </a:rPr>
              <a:t>0,05829 → 0,04851</a:t>
            </a:r>
          </a:p>
          <a:p>
            <a:pPr>
              <a:defRPr sz="2736" b="0">
                <a:solidFill>
                  <a:srgbClr val="203344"/>
                </a:solidFill>
                <a:latin typeface="Times New Roman"/>
                <a:ea typeface="Arial"/>
                <a:cs typeface="Arial"/>
              </a:defRPr>
            </a:pPr>
            <a:r>
              <a:rPr sz="2736" b="0">
                <a:solidFill>
                  <a:srgbClr val="203344"/>
                </a:solidFill>
                <a:latin typeface="Times New Roman"/>
                <a:ea typeface="Arial"/>
                <a:cs typeface="Arial"/>
              </a:rPr>
              <a:t>Test appaiato di McNemar:</a:t>
            </a:r>
          </a:p>
          <a:p>
            <a:pPr>
              <a:defRPr sz="2736" b="0">
                <a:solidFill>
                  <a:srgbClr val="203344"/>
                </a:solidFill>
                <a:latin typeface="Times New Roman"/>
                <a:ea typeface="Arial"/>
                <a:cs typeface="Arial"/>
              </a:defRPr>
            </a:pPr>
            <a:r>
              <a:rPr sz="2736" b="0">
                <a:solidFill>
                  <a:srgbClr val="203344"/>
                </a:solidFill>
                <a:latin typeface="Times New Roman"/>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1446244" y="8515184"/>
            <a:ext cx="15395510" cy="561294"/>
          </a:xfrm>
          <a:prstGeom prst="rect">
            <a:avLst/>
          </a:prstGeom>
          <a:noFill/>
          <a:ln w="0">
            <a:noFill/>
          </a:ln>
        </p:spPr>
        <p:txBody>
          <a:bodyPr>
            <a:noAutofit/>
          </a:bodyPr>
          <a:lstStyle/>
          <a:p>
            <a:pPr>
              <a:defRPr sz="2736" b="1">
                <a:solidFill>
                  <a:srgbClr val="175F99"/>
                </a:solidFill>
                <a:latin typeface="Times New Roman"/>
                <a:ea typeface="Arial"/>
                <a:cs typeface="Arial"/>
              </a:defRPr>
            </a:pPr>
            <a:r>
              <a:rPr lang="it-IT" b="1">
                <a:solidFill>
                  <a:srgbClr val="175F99"/>
                </a:solidFill>
                <a:latin typeface="Times New Roman"/>
                <a:ea typeface="Arial"/>
                <a:cs typeface="Arial"/>
              </a:rPr>
              <a:t>Il ML aiuta come correttore di MWPM; il vantaggio cala sui codici più grandi.</a:t>
            </a:r>
            <a:endParaRPr b="1">
              <a:solidFill>
                <a:srgbClr val="175F99"/>
              </a:solidFill>
              <a:latin typeface="Times New Roman"/>
              <a:ea typeface="Arial"/>
              <a:cs typeface="Arial"/>
            </a:endParaRPr>
          </a:p>
        </p:txBody>
      </p:sp>
      <p:sp>
        <p:nvSpPr>
          <p:cNvPr id="14" name="TextBox 13"/>
          <p:cNvSpPr txBox="1"/>
          <p:nvPr/>
        </p:nvSpPr>
        <p:spPr>
          <a:xfrm>
            <a:off x="11549548" y="6884757"/>
            <a:ext cx="5292206" cy="801849"/>
          </a:xfrm>
          <a:prstGeom prst="rect">
            <a:avLst/>
          </a:prstGeom>
          <a:noFill/>
        </p:spPr>
        <p:txBody>
          <a:bodyPr wrap="square">
            <a:spAutoFit/>
          </a:bodyPr>
          <a:lstStyle/>
          <a:p>
            <a:r>
              <a:rPr sz="1684">
                <a:solidFill>
                  <a:srgbClr val="5B6573"/>
                </a:solidFill>
                <a:latin typeface="Times New Roman"/>
              </a:rPr>
              <a:t>In grigio BP+OSD, decoder classico più potente: a d = 5 supera l'ibrido.</a:t>
            </a:r>
          </a:p>
        </p:txBody>
      </p:sp>
      <p:sp>
        <p:nvSpPr>
          <p:cNvPr id="28" name="Shape 26"/>
          <p:cNvSpPr/>
          <p:nvPr/>
        </p:nvSpPr>
        <p:spPr>
          <a:xfrm>
            <a:off x="0" y="9467850"/>
            <a:ext cx="18288000" cy="819150"/>
          </a:xfrm>
          <a:prstGeom prst="rect">
            <a:avLst/>
          </a:prstGeom>
          <a:solidFill>
            <a:srgbClr val="1170C8"/>
          </a:solidFill>
          <a:ln/>
        </p:spPr>
        <p:txBody>
          <a:bodyPr/>
          <a:lstStyle/>
          <a:p>
            <a:endParaRPr lang="it-IT">
              <a:latin typeface="Times New Roman" panose="02020603050405020304" pitchFamily="18" charset="0"/>
              <a:cs typeface="Times New Roman" panose="02020603050405020304" pitchFamily="18" charset="0"/>
            </a:endParaRPr>
          </a:p>
        </p:txBody>
      </p:sp>
      <p:pic>
        <p:nvPicPr>
          <p:cNvPr id="29" name="Picture 28" descr="image.png"/>
          <p:cNvPicPr>
            <a:picLocks noChangeAspect="1"/>
          </p:cNvPicPr>
          <p:nvPr/>
        </p:nvPicPr>
        <p:blipFill>
          <a:blip r:embed="rId6"/>
          <a:stretch>
            <a:fillRect/>
          </a:stretch>
        </p:blipFill>
        <p:spPr>
          <a:xfrm>
            <a:off x="16904021" y="9218222"/>
            <a:ext cx="1243958" cy="1032656"/>
          </a:xfrm>
          <a:prstGeom prst="rect">
            <a:avLst/>
          </a:prstGeom>
        </p:spPr>
      </p:pic>
    </p:spTree>
    <p:extLst>
      <p:ext uri="{BB962C8B-B14F-4D97-AF65-F5344CB8AC3E}">
        <p14:creationId xmlns:p14="http://schemas.microsoft.com/office/powerpoint/2010/main" val="1922446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762000" y="380000"/>
            <a:ext cx="16764000" cy="950000"/>
          </a:xfrm>
          <a:prstGeom prst="rect">
            <a:avLst/>
          </a:prstGeom>
          <a:noFill/>
          <a:ln w="0">
            <a:noFill/>
          </a:ln>
        </p:spPr>
        <p:txBody>
          <a:bodyPr wrap="square">
            <a:noAutofit/>
          </a:bodyPr>
          <a:lstStyle/>
          <a:p>
            <a:pPr>
              <a:defRPr sz="2700" b="0">
                <a:solidFill>
                  <a:srgbClr val="003366"/>
                </a:solidFill>
                <a:latin typeface="Times New Roman"/>
                <a:ea typeface="Arial"/>
                <a:cs typeface="Arial"/>
              </a:defRPr>
            </a:pPr>
            <a:r>
              <a:rPr lang="it-IT" sz="4000" b="1">
                <a:solidFill>
                  <a:srgbClr val="111111"/>
                </a:solidFill>
                <a:latin typeface="Times New Roman"/>
                <a:ea typeface="Arial"/>
                <a:cs typeface="Arial"/>
              </a:rPr>
              <a:t>RISULTATO 2: GROSS CODE E NUMERO DI QUBIT</a:t>
            </a:r>
            <a:endParaRPr sz="2700" b="0">
              <a:solidFill>
                <a:srgbClr val="003366"/>
              </a:solidFill>
              <a:latin typeface="Times New Roman"/>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1446244" y="1699464"/>
            <a:ext cx="15395510" cy="935491"/>
          </a:xfrm>
          <a:prstGeom prst="rect">
            <a:avLst/>
          </a:prstGeom>
          <a:noFill/>
          <a:ln w="0">
            <a:noFill/>
          </a:ln>
        </p:spPr>
        <p:txBody>
          <a:bodyPr>
            <a:noAutofit/>
          </a:bodyPr>
          <a:lstStyle/>
          <a:p>
            <a:pPr>
              <a:defRPr sz="3052" b="0">
                <a:solidFill>
                  <a:srgbClr val="203344"/>
                </a:solidFill>
                <a:latin typeface="Times New Roman"/>
                <a:ea typeface="Arial"/>
                <a:cs typeface="Arial"/>
              </a:defRPr>
            </a:pPr>
            <a:r>
              <a:rPr lang="it-IT" sz="3052" b="0">
                <a:solidFill>
                  <a:srgbClr val="203344"/>
                </a:solidFill>
                <a:latin typeface="Times New Roman"/>
                <a:ea typeface="Arial"/>
                <a:cs typeface="Arial"/>
              </a:rPr>
              <a:t>Qubit di dato per 12 qubit logici ed errore logico a p = 1% · code-capacity</a:t>
            </a:r>
            <a:endParaRPr sz="3052" b="0">
              <a:solidFill>
                <a:srgbClr val="203344"/>
              </a:solidFill>
              <a:latin typeface="Times New Roman"/>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1446244" y="6764480"/>
            <a:ext cx="15395510" cy="1095860"/>
          </a:xfrm>
          <a:prstGeom prst="rect">
            <a:avLst/>
          </a:prstGeom>
          <a:noFill/>
          <a:ln w="0">
            <a:noFill/>
          </a:ln>
        </p:spPr>
        <p:txBody>
          <a:bodyPr>
            <a:noAutofit/>
          </a:bodyPr>
          <a:lstStyle/>
          <a:p>
            <a:pPr>
              <a:defRPr sz="2841" b="0">
                <a:solidFill>
                  <a:srgbClr val="203344"/>
                </a:solidFill>
                <a:latin typeface="Times New Roman"/>
                <a:ea typeface="Arial"/>
                <a:cs typeface="Arial"/>
              </a:defRPr>
            </a:pPr>
            <a:r>
              <a:rPr lang="it-IT" sz="2841" b="0">
                <a:solidFill>
                  <a:srgbClr val="203344"/>
                </a:solidFill>
                <a:latin typeface="Times New Roman"/>
                <a:ea typeface="Arial"/>
                <a:cs typeface="Arial"/>
              </a:rPr>
              <a:t>Gross code migliore delle patch d = 11 a ogni livello; delle patch d = 13 solo per p ≥ 0,75% (a 0,5% pari, più in basso vince d = 13).</a:t>
            </a:r>
            <a:endParaRPr sz="2841" b="0">
              <a:solidFill>
                <a:srgbClr val="203344"/>
              </a:solidFill>
              <a:latin typeface="Times New Roman"/>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1446244" y="8261265"/>
            <a:ext cx="15395510" cy="788485"/>
          </a:xfrm>
          <a:prstGeom prst="rect">
            <a:avLst/>
          </a:prstGeom>
          <a:noFill/>
          <a:ln w="0">
            <a:noFill/>
          </a:ln>
        </p:spPr>
        <p:txBody>
          <a:bodyPr>
            <a:noAutofit/>
          </a:bodyPr>
          <a:lstStyle/>
          <a:p>
            <a:pPr>
              <a:defRPr sz="2736" b="1">
                <a:solidFill>
                  <a:srgbClr val="175F99"/>
                </a:solidFill>
                <a:latin typeface="Times New Roman"/>
                <a:ea typeface="Arial"/>
                <a:cs typeface="Arial"/>
              </a:defRPr>
            </a:pPr>
            <a:r>
              <a:rPr sz="2736" b="1">
                <a:solidFill>
                  <a:srgbClr val="175F99"/>
                </a:solidFill>
                <a:latin typeface="Times New Roman"/>
                <a:ea typeface="Arial"/>
                <a:cs typeface="Arial"/>
              </a:rPr>
              <a:t>BP+OSD seriale riduce il fallimento di circa 100× rispetto all’aggiornamento parallelo.</a:t>
            </a:r>
          </a:p>
        </p:txBody>
      </p:sp>
      <p:sp>
        <p:nvSpPr>
          <p:cNvPr id="40" name="Nota simulazione"/>
          <p:cNvSpPr>
            <a:spLocks noGrp="1"/>
          </p:cNvSpPr>
          <p:nvPr/>
        </p:nvSpPr>
        <p:spPr>
          <a:xfrm>
            <a:off x="1446244" y="5687244"/>
            <a:ext cx="15395510" cy="785714"/>
          </a:xfrm>
          <a:prstGeom prst="rect">
            <a:avLst/>
          </a:prstGeom>
          <a:noFill/>
          <a:ln w="0">
            <a:noFill/>
          </a:ln>
        </p:spPr>
        <p:txBody>
          <a:bodyPr>
            <a:noAutofit/>
          </a:bodyPr>
          <a:lstStyle/>
          <a:p>
            <a:pPr>
              <a:defRPr sz="2105" b="0">
                <a:solidFill>
                  <a:srgbClr val="5A6B7B"/>
                </a:solidFill>
                <a:latin typeface="Times New Roman"/>
                <a:ea typeface="Arial"/>
                <a:cs typeface="Arial"/>
              </a:defRPr>
            </a:pPr>
            <a:r>
              <a:rPr lang="it-IT" sz="2105" b="0">
                <a:solidFill>
                  <a:srgbClr val="5A6B7B"/>
                </a:solidFill>
                <a:latin typeface="Times New Roman"/>
                <a:ea typeface="Arial"/>
                <a:cs typeface="Arial"/>
              </a:rPr>
              <a:t>Simulazione classica degli errori: sequenze di 144 bit, sindrome e decodifica. Lo stato quantistico di 144 qubit non viene simulato.</a:t>
            </a:r>
            <a:endParaRPr sz="2105" b="0">
              <a:solidFill>
                <a:srgbClr val="5A6B7B"/>
              </a:solidFill>
              <a:latin typeface="Times New Roman"/>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1446244" y="2839872"/>
            <a:ext cx="4989285" cy="534566"/>
          </a:xfrm>
          <a:prstGeom prst="rect">
            <a:avLst/>
          </a:prstGeom>
          <a:noFill/>
        </p:spPr>
        <p:txBody>
          <a:bodyPr vert="horz" wrap="square" rtlCol="0">
            <a:noAutofit/>
          </a:bodyPr>
          <a:lstStyle/>
          <a:p>
            <a:r>
              <a:rPr lang="en-GB" sz="2420" b="1">
                <a:solidFill>
                  <a:srgbClr val="203344"/>
                </a:solidFill>
                <a:latin typeface="Times New Roman"/>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6471168" y="2875510"/>
            <a:ext cx="364574" cy="463290"/>
          </a:xfrm>
          <a:prstGeom prst="rect">
            <a:avLst/>
          </a:prstGeom>
          <a:solidFill>
            <a:srgbClr val="D9822B"/>
          </a:solidFill>
          <a:ln w="26728">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18" name="TextBox 17">
            <a:extLst>
              <a:ext uri="{FF2B5EF4-FFF2-40B4-BE49-F238E27FC236}">
                <a16:creationId xmlns:a16="http://schemas.microsoft.com/office/drawing/2014/main" id="{7BF7674F-7718-D766-7EEB-A9A243251484}"/>
              </a:ext>
            </a:extLst>
          </p:cNvPr>
          <p:cNvSpPr txBox="1"/>
          <p:nvPr/>
        </p:nvSpPr>
        <p:spPr>
          <a:xfrm>
            <a:off x="7166104" y="2822053"/>
            <a:ext cx="9354910" cy="534566"/>
          </a:xfrm>
          <a:prstGeom prst="rect">
            <a:avLst/>
          </a:prstGeom>
          <a:noFill/>
        </p:spPr>
        <p:txBody>
          <a:bodyPr vert="horz" wrap="square" rtlCol="0">
            <a:noAutofit/>
          </a:bodyPr>
          <a:lstStyle/>
          <a:p>
            <a:r>
              <a:rPr lang="it-IT" sz="2736" b="1">
                <a:solidFill>
                  <a:srgbClr val="B5641A"/>
                </a:solidFill>
                <a:latin typeface="Times New Roman"/>
              </a:rPr>
              <a:t>144  ·  </a:t>
            </a:r>
            <a:r>
              <a:rPr lang="it-IT" sz="2736" b="1">
                <a:solidFill>
                  <a:srgbClr val="B5641A"/>
                </a:solidFill>
                <a:latin typeface="Times New Roman"/>
              </a:rPr>
              <a:t>p</a:t>
            </a:r>
            <a:r>
              <a:rPr lang="it-IT" sz="2736" b="1" baseline="-25000">
                <a:solidFill>
                  <a:srgbClr val="B5641A"/>
                </a:solidFill>
                <a:latin typeface="Times New Roman"/>
              </a:rPr>
              <a:t>L</a:t>
            </a:r>
            <a:r>
              <a:rPr lang="it-IT" sz="2736" b="1">
                <a:solidFill>
                  <a:srgbClr val="B5641A"/>
                </a:solidFill>
                <a:latin typeface="Times New Roman"/>
              </a:rPr>
              <a:t> = 1,0×10⁻⁶  ·  10–14× meno qubit</a:t>
            </a:r>
            <a:endParaRPr lang="en-GB" sz="2736" b="1">
              <a:solidFill>
                <a:srgbClr val="B5641A"/>
              </a:solidFill>
              <a:latin typeface="Times New Roman"/>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1446244" y="3659540"/>
            <a:ext cx="4989285" cy="534566"/>
          </a:xfrm>
          <a:prstGeom prst="rect">
            <a:avLst/>
          </a:prstGeom>
          <a:noFill/>
        </p:spPr>
        <p:txBody>
          <a:bodyPr vert="horz" wrap="square" rtlCol="0">
            <a:noAutofit/>
          </a:bodyPr>
          <a:lstStyle/>
          <a:p>
            <a:r>
              <a:rPr lang="fr-FR" sz="2420">
                <a:solidFill>
                  <a:srgbClr val="203344"/>
                </a:solidFill>
                <a:latin typeface="Times New Roman"/>
              </a:rPr>
              <a:t>12 patch surface code, d = 11</a:t>
            </a:r>
            <a:endParaRPr lang="en-GB" sz="2420">
              <a:solidFill>
                <a:srgbClr val="203344"/>
              </a:solidFill>
              <a:latin typeface="Times New Roman"/>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6471168" y="3695178"/>
            <a:ext cx="3723076" cy="463290"/>
          </a:xfrm>
          <a:prstGeom prst="rect">
            <a:avLst/>
          </a:prstGeom>
          <a:solidFill>
            <a:srgbClr val="B8C7D9"/>
          </a:solidFill>
          <a:ln w="26728">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21" name="TextBox 20">
            <a:extLst>
              <a:ext uri="{FF2B5EF4-FFF2-40B4-BE49-F238E27FC236}">
                <a16:creationId xmlns:a16="http://schemas.microsoft.com/office/drawing/2014/main" id="{985FA1F8-8FD8-D08F-6193-F42B82486A22}"/>
              </a:ext>
            </a:extLst>
          </p:cNvPr>
          <p:cNvSpPr txBox="1"/>
          <p:nvPr/>
        </p:nvSpPr>
        <p:spPr>
          <a:xfrm>
            <a:off x="10325125" y="3641721"/>
            <a:ext cx="5612946" cy="534566"/>
          </a:xfrm>
          <a:prstGeom prst="rect">
            <a:avLst/>
          </a:prstGeom>
          <a:noFill/>
        </p:spPr>
        <p:txBody>
          <a:bodyPr vert="horz" wrap="square" rtlCol="0">
            <a:noAutofit/>
          </a:bodyPr>
          <a:lstStyle/>
          <a:p>
            <a:r>
              <a:rPr lang="en-GB" sz="2736" b="1">
                <a:solidFill>
                  <a:srgbClr val="203344"/>
                </a:solidFill>
                <a:latin typeface="Times New Roman"/>
              </a:rPr>
              <a:t>1 452  ·  </a:t>
            </a:r>
            <a:r>
              <a:rPr lang="en-GB" sz="2736" b="1">
                <a:solidFill>
                  <a:srgbClr val="203344"/>
                </a:solidFill>
                <a:latin typeface="Times New Roman"/>
              </a:rPr>
              <a:t>p</a:t>
            </a:r>
            <a:r>
              <a:rPr lang="en-GB" sz="2736" b="1" baseline="-25000">
                <a:solidFill>
                  <a:srgbClr val="203344"/>
                </a:solidFill>
                <a:latin typeface="Times New Roman"/>
              </a:rPr>
              <a:t>L</a:t>
            </a:r>
            <a:r>
              <a:rPr lang="en-GB" sz="2736" b="1">
                <a:solidFill>
                  <a:srgbClr val="203344"/>
                </a:solidFill>
                <a:latin typeface="Times New Roman"/>
              </a:rPr>
              <a:t> = 1,2×10⁻⁵</a:t>
            </a:r>
          </a:p>
        </p:txBody>
      </p:sp>
      <p:sp>
        <p:nvSpPr>
          <p:cNvPr id="22" name="TextBox 21">
            <a:extLst>
              <a:ext uri="{FF2B5EF4-FFF2-40B4-BE49-F238E27FC236}">
                <a16:creationId xmlns:a16="http://schemas.microsoft.com/office/drawing/2014/main" id="{07F3761C-CB28-DF95-8288-1CF2A85D3EB3}"/>
              </a:ext>
            </a:extLst>
          </p:cNvPr>
          <p:cNvSpPr txBox="1"/>
          <p:nvPr/>
        </p:nvSpPr>
        <p:spPr>
          <a:xfrm>
            <a:off x="1446244" y="4479209"/>
            <a:ext cx="4989285" cy="534566"/>
          </a:xfrm>
          <a:prstGeom prst="rect">
            <a:avLst/>
          </a:prstGeom>
          <a:noFill/>
        </p:spPr>
        <p:txBody>
          <a:bodyPr vert="horz" wrap="square" rtlCol="0">
            <a:noAutofit/>
          </a:bodyPr>
          <a:lstStyle/>
          <a:p>
            <a:r>
              <a:rPr lang="fr-FR" sz="2420">
                <a:solidFill>
                  <a:srgbClr val="203344"/>
                </a:solidFill>
                <a:latin typeface="Times New Roman"/>
              </a:rPr>
              <a:t>12 patch surface code, d = 13</a:t>
            </a:r>
            <a:endParaRPr lang="en-GB" sz="2420">
              <a:solidFill>
                <a:srgbClr val="203344"/>
              </a:solidFill>
              <a:latin typeface="Times New Roman"/>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6471168" y="4514846"/>
            <a:ext cx="5192420" cy="463290"/>
          </a:xfrm>
          <a:prstGeom prst="rect">
            <a:avLst/>
          </a:prstGeom>
          <a:solidFill>
            <a:srgbClr val="B8C7D9"/>
          </a:solidFill>
          <a:ln w="26728">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24" name="TextBox 23">
            <a:extLst>
              <a:ext uri="{FF2B5EF4-FFF2-40B4-BE49-F238E27FC236}">
                <a16:creationId xmlns:a16="http://schemas.microsoft.com/office/drawing/2014/main" id="{F9CCD019-9513-713C-464B-129DFFF0690F}"/>
              </a:ext>
            </a:extLst>
          </p:cNvPr>
          <p:cNvSpPr txBox="1"/>
          <p:nvPr/>
        </p:nvSpPr>
        <p:spPr>
          <a:xfrm>
            <a:off x="11799992" y="4461390"/>
            <a:ext cx="5612946" cy="534566"/>
          </a:xfrm>
          <a:prstGeom prst="rect">
            <a:avLst/>
          </a:prstGeom>
          <a:noFill/>
        </p:spPr>
        <p:txBody>
          <a:bodyPr vert="horz" wrap="square" rtlCol="0">
            <a:noAutofit/>
          </a:bodyPr>
          <a:lstStyle/>
          <a:p>
            <a:r>
              <a:rPr lang="en-GB" sz="2736" b="1">
                <a:solidFill>
                  <a:srgbClr val="203344"/>
                </a:solidFill>
                <a:latin typeface="Times New Roman"/>
              </a:rPr>
              <a:t>2 028  ·  </a:t>
            </a:r>
            <a:r>
              <a:rPr lang="en-GB" sz="2736" b="1">
                <a:solidFill>
                  <a:srgbClr val="203344"/>
                </a:solidFill>
                <a:latin typeface="Times New Roman"/>
              </a:rPr>
              <a:t>p</a:t>
            </a:r>
            <a:r>
              <a:rPr lang="en-GB" sz="2736" b="1" baseline="-25000">
                <a:solidFill>
                  <a:srgbClr val="203344"/>
                </a:solidFill>
                <a:latin typeface="Times New Roman"/>
              </a:rPr>
              <a:t>L</a:t>
            </a:r>
            <a:r>
              <a:rPr lang="en-GB" sz="2736" b="1">
                <a:solidFill>
                  <a:srgbClr val="203344"/>
                </a:solidFill>
                <a:latin typeface="Times New Roman"/>
              </a:rPr>
              <a:t> = 1,6×10⁻⁶</a:t>
            </a:r>
          </a:p>
        </p:txBody>
      </p:sp>
      <p:sp>
        <p:nvSpPr>
          <p:cNvPr id="28" name="Shape 26"/>
          <p:cNvSpPr/>
          <p:nvPr/>
        </p:nvSpPr>
        <p:spPr>
          <a:xfrm>
            <a:off x="0" y="9467850"/>
            <a:ext cx="18288000" cy="819150"/>
          </a:xfrm>
          <a:prstGeom prst="rect">
            <a:avLst/>
          </a:prstGeom>
          <a:solidFill>
            <a:srgbClr val="1170C8"/>
          </a:solidFill>
          <a:ln/>
        </p:spPr>
        <p:txBody>
          <a:bodyPr/>
          <a:lstStyle/>
          <a:p>
            <a:endParaRPr lang="it-IT">
              <a:latin typeface="Times New Roman" panose="02020603050405020304" pitchFamily="18" charset="0"/>
              <a:cs typeface="Times New Roman" panose="02020603050405020304" pitchFamily="18" charset="0"/>
            </a:endParaRPr>
          </a:p>
        </p:txBody>
      </p:sp>
      <p:pic>
        <p:nvPicPr>
          <p:cNvPr id="41" name="Picture 40" descr="image.png"/>
          <p:cNvPicPr>
            <a:picLocks noChangeAspect="1"/>
          </p:cNvPicPr>
          <p:nvPr/>
        </p:nvPicPr>
        <p:blipFill>
          <a:blip r:embed="rId4"/>
          <a:stretch>
            <a:fillRect/>
          </a:stretch>
        </p:blipFill>
        <p:spPr>
          <a:xfrm>
            <a:off x="16904021" y="9218222"/>
            <a:ext cx="1243958" cy="1032656"/>
          </a:xfrm>
          <a:prstGeom prst="rect">
            <a:avLst/>
          </a:prstGeom>
        </p:spPr>
      </p:pic>
    </p:spTree>
    <p:extLst>
      <p:ext uri="{BB962C8B-B14F-4D97-AF65-F5344CB8AC3E}">
        <p14:creationId xmlns:p14="http://schemas.microsoft.com/office/powerpoint/2010/main" val="498351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762000" y="380000"/>
            <a:ext cx="16764000" cy="950000"/>
          </a:xfrm>
          <a:prstGeom prst="rect">
            <a:avLst/>
          </a:prstGeom>
          <a:noFill/>
          <a:ln w="0">
            <a:noFill/>
          </a:ln>
        </p:spPr>
        <p:txBody>
          <a:bodyPr wrap="square">
            <a:noAutofit/>
          </a:bodyPr>
          <a:lstStyle/>
          <a:p>
            <a:pPr>
              <a:defRPr sz="2700" b="0">
                <a:solidFill>
                  <a:srgbClr val="003366"/>
                </a:solidFill>
                <a:latin typeface="Times New Roman"/>
                <a:ea typeface="Arial"/>
                <a:cs typeface="Arial"/>
              </a:defRPr>
            </a:pPr>
            <a:r>
              <a:rPr lang="it-IT" sz="4000" b="1">
                <a:solidFill>
                  <a:srgbClr val="111111"/>
                </a:solidFill>
                <a:latin typeface="Times New Roman"/>
                <a:ea typeface="Arial"/>
                <a:cs typeface="Arial"/>
              </a:rPr>
              <a:t>STRATEGIA 3: QFT APPROSSIMATA (AQFT)</a:t>
            </a:r>
            <a:endParaRPr sz="2700" b="0">
              <a:solidFill>
                <a:srgbClr val="003366"/>
              </a:solidFill>
              <a:latin typeface="Times New Roman"/>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1446244" y="1414362"/>
            <a:ext cx="15395510" cy="518195"/>
          </a:xfrm>
          <a:prstGeom prst="rect">
            <a:avLst/>
          </a:prstGeom>
          <a:noFill/>
        </p:spPr>
        <p:txBody>
          <a:bodyPr vert="horz" wrap="square" rtlCol="0">
            <a:noAutofit/>
          </a:bodyPr>
          <a:lstStyle/>
          <a:p>
            <a:r>
              <a:rPr lang="it-IT" sz="2420">
                <a:solidFill>
                  <a:srgbClr val="203344"/>
                </a:solidFill>
                <a:latin typeface="Times New Roman"/>
              </a:rPr>
              <a:t>Più porte significa più errori. Nella QFT molte rotazioni sono piccolissime: spostano la fase quasi di nulla, ma costano porte.</a:t>
            </a:r>
            <a:endParaRPr lang="en-GB" sz="2420">
              <a:solidFill>
                <a:srgbClr val="203344"/>
              </a:solidFill>
              <a:latin typeface="Times New Roman"/>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1446244" y="2447857"/>
            <a:ext cx="7056275" cy="1995714"/>
          </a:xfrm>
          <a:prstGeom prst="roundRect">
            <a:avLst>
              <a:gd name="adj" fmla="val 6000"/>
            </a:avLst>
          </a:prstGeom>
          <a:solidFill>
            <a:srgbClr val="EEF4F8"/>
          </a:solidFill>
          <a:ln w="20046">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9785479" y="2447857"/>
            <a:ext cx="7056275" cy="1995714"/>
          </a:xfrm>
          <a:prstGeom prst="roundRect">
            <a:avLst>
              <a:gd name="adj" fmla="val 6000"/>
            </a:avLst>
          </a:prstGeom>
          <a:solidFill>
            <a:srgbClr val="EEF4F8"/>
          </a:solidFill>
          <a:ln w="20046">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27" name="TextBox 26">
            <a:extLst>
              <a:ext uri="{FF2B5EF4-FFF2-40B4-BE49-F238E27FC236}">
                <a16:creationId xmlns:a16="http://schemas.microsoft.com/office/drawing/2014/main" id="{0FE43342-5019-9F0B-BE0F-51B5406A711A}"/>
              </a:ext>
            </a:extLst>
          </p:cNvPr>
          <p:cNvSpPr txBox="1"/>
          <p:nvPr/>
        </p:nvSpPr>
        <p:spPr>
          <a:xfrm>
            <a:off x="1695709" y="2590408"/>
            <a:ext cx="6557346" cy="518195"/>
          </a:xfrm>
          <a:prstGeom prst="rect">
            <a:avLst/>
          </a:prstGeom>
          <a:noFill/>
        </p:spPr>
        <p:txBody>
          <a:bodyPr vert="horz" wrap="square" rtlCol="0">
            <a:noAutofit/>
          </a:bodyPr>
          <a:lstStyle/>
          <a:p>
            <a:r>
              <a:rPr lang="en-GB" sz="2841" b="1">
                <a:solidFill>
                  <a:srgbClr val="003366"/>
                </a:solidFill>
                <a:latin typeface="Times New Roman"/>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1695709" y="3160612"/>
            <a:ext cx="6557346" cy="518195"/>
          </a:xfrm>
          <a:prstGeom prst="rect">
            <a:avLst/>
          </a:prstGeom>
          <a:noFill/>
        </p:spPr>
        <p:txBody>
          <a:bodyPr vert="horz" wrap="square" rtlCol="0">
            <a:noAutofit/>
          </a:bodyPr>
          <a:lstStyle/>
          <a:p>
            <a:r>
              <a:rPr lang="it-IT" sz="2210">
                <a:solidFill>
                  <a:srgbClr val="203344"/>
                </a:solidFill>
                <a:latin typeface="Times New Roman"/>
              </a:rPr>
              <a:t>tutte le rotazioni, dalle più grandi alle più piccole (π/2, π/4, …, π/128)</a:t>
            </a:r>
            <a:endParaRPr lang="en-GB" sz="2210">
              <a:solidFill>
                <a:srgbClr val="203344"/>
              </a:solidFill>
              <a:latin typeface="Times New Roman"/>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8716346" y="3231887"/>
            <a:ext cx="855306" cy="427653"/>
          </a:xfrm>
          <a:prstGeom prst="rightArrow">
            <a:avLst/>
          </a:prstGeom>
          <a:solidFill>
            <a:srgbClr val="647487"/>
          </a:solidFill>
          <a:ln w="26728">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30" name="TextBox 29">
            <a:extLst>
              <a:ext uri="{FF2B5EF4-FFF2-40B4-BE49-F238E27FC236}">
                <a16:creationId xmlns:a16="http://schemas.microsoft.com/office/drawing/2014/main" id="{5E1B3776-88E2-3E55-98D8-03693B4B2752}"/>
              </a:ext>
            </a:extLst>
          </p:cNvPr>
          <p:cNvSpPr txBox="1"/>
          <p:nvPr/>
        </p:nvSpPr>
        <p:spPr>
          <a:xfrm>
            <a:off x="10034943" y="2590408"/>
            <a:ext cx="6557346" cy="518195"/>
          </a:xfrm>
          <a:prstGeom prst="rect">
            <a:avLst/>
          </a:prstGeom>
          <a:noFill/>
        </p:spPr>
        <p:txBody>
          <a:bodyPr vert="horz" wrap="square" rtlCol="0">
            <a:noAutofit/>
          </a:bodyPr>
          <a:lstStyle/>
          <a:p>
            <a:r>
              <a:rPr lang="en-GB" sz="2841" b="1">
                <a:solidFill>
                  <a:srgbClr val="003366"/>
                </a:solidFill>
                <a:latin typeface="Times New Roman"/>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10034943" y="3160612"/>
            <a:ext cx="6557346" cy="518195"/>
          </a:xfrm>
          <a:prstGeom prst="rect">
            <a:avLst/>
          </a:prstGeom>
          <a:noFill/>
        </p:spPr>
        <p:txBody>
          <a:bodyPr vert="horz" wrap="square" rtlCol="0">
            <a:noAutofit/>
          </a:bodyPr>
          <a:lstStyle/>
          <a:p>
            <a:r>
              <a:rPr lang="it-IT" sz="2210">
                <a:solidFill>
                  <a:srgbClr val="203344"/>
                </a:solidFill>
                <a:latin typeface="Times New Roman"/>
              </a:rPr>
              <a:t>tolgo le rotazioni più piccole; per N = 15 bastano quelle tra qubit vicini</a:t>
            </a:r>
            <a:endParaRPr lang="en-GB" sz="2210">
              <a:solidFill>
                <a:srgbClr val="203344"/>
              </a:solidFill>
              <a:latin typeface="Times New Roman"/>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1446244" y="4657397"/>
            <a:ext cx="15395510" cy="1140408"/>
          </a:xfrm>
          <a:prstGeom prst="roundRect">
            <a:avLst>
              <a:gd name="adj" fmla="val 6000"/>
            </a:avLst>
          </a:prstGeom>
          <a:solidFill>
            <a:srgbClr val="FDF1E4"/>
          </a:solidFill>
          <a:ln w="26728">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33" name="TextBox 32">
            <a:extLst>
              <a:ext uri="{FF2B5EF4-FFF2-40B4-BE49-F238E27FC236}">
                <a16:creationId xmlns:a16="http://schemas.microsoft.com/office/drawing/2014/main" id="{413C35CB-ACBA-D28E-971E-1FB45EA81156}"/>
              </a:ext>
            </a:extLst>
          </p:cNvPr>
          <p:cNvSpPr txBox="1"/>
          <p:nvPr/>
        </p:nvSpPr>
        <p:spPr>
          <a:xfrm>
            <a:off x="1695709" y="4728673"/>
            <a:ext cx="14896581" cy="518195"/>
          </a:xfrm>
          <a:prstGeom prst="rect">
            <a:avLst/>
          </a:prstGeom>
          <a:noFill/>
        </p:spPr>
        <p:txBody>
          <a:bodyPr vert="horz" wrap="square" rtlCol="0">
            <a:noAutofit/>
          </a:bodyPr>
          <a:lstStyle/>
          <a:p>
            <a:r>
              <a:rPr lang="it-IT" sz="2420" b="1">
                <a:solidFill>
                  <a:srgbClr val="B5641A"/>
                </a:solidFill>
                <a:latin typeface="Times New Roman"/>
              </a:rPr>
              <a:t>Perché funziona</a:t>
            </a:r>
          </a:p>
          <a:p>
            <a:r>
              <a:rPr lang="it-IT" sz="2210">
                <a:solidFill>
                  <a:srgbClr val="203344"/>
                </a:solidFill>
                <a:latin typeface="Times New Roman"/>
              </a:rPr>
              <a:t>Shor non ha bisogno della fase esatta: basta un valore abbastanza vicino perché il calcolo classico ritrovi il periodo.</a:t>
            </a:r>
            <a:endParaRPr lang="en-GB" sz="2210">
              <a:solidFill>
                <a:srgbClr val="203344"/>
              </a:solidFill>
              <a:latin typeface="Times New Roman"/>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1446244" y="6011632"/>
            <a:ext cx="4811096" cy="1354234"/>
          </a:xfrm>
          <a:prstGeom prst="roundRect">
            <a:avLst>
              <a:gd name="adj" fmla="val 6000"/>
            </a:avLst>
          </a:prstGeom>
          <a:solidFill>
            <a:srgbClr val="EEF4F8"/>
          </a:solidFill>
          <a:ln w="20046">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35" name="TextBox 34">
            <a:extLst>
              <a:ext uri="{FF2B5EF4-FFF2-40B4-BE49-F238E27FC236}">
                <a16:creationId xmlns:a16="http://schemas.microsoft.com/office/drawing/2014/main" id="{EBECDAA2-08BE-E059-2ECE-6596D3F633D6}"/>
              </a:ext>
            </a:extLst>
          </p:cNvPr>
          <p:cNvSpPr txBox="1"/>
          <p:nvPr/>
        </p:nvSpPr>
        <p:spPr>
          <a:xfrm>
            <a:off x="1660071" y="6118545"/>
            <a:ext cx="4383443" cy="518195"/>
          </a:xfrm>
          <a:prstGeom prst="rect">
            <a:avLst/>
          </a:prstGeom>
          <a:noFill/>
        </p:spPr>
        <p:txBody>
          <a:bodyPr vert="horz" wrap="square" rtlCol="0">
            <a:noAutofit/>
          </a:bodyPr>
          <a:lstStyle/>
          <a:p>
            <a:r>
              <a:rPr lang="en-GB" sz="2420" b="1">
                <a:solidFill>
                  <a:srgbClr val="003366"/>
                </a:solidFill>
                <a:latin typeface="Times New Roman"/>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1660071" y="6653112"/>
            <a:ext cx="4383443" cy="518195"/>
          </a:xfrm>
          <a:prstGeom prst="rect">
            <a:avLst/>
          </a:prstGeom>
          <a:noFill/>
        </p:spPr>
        <p:txBody>
          <a:bodyPr vert="horz" wrap="square" rtlCol="0">
            <a:noAutofit/>
          </a:bodyPr>
          <a:lstStyle/>
          <a:p>
            <a:r>
              <a:rPr lang="en-GB" sz="1999">
                <a:solidFill>
                  <a:srgbClr val="203344"/>
                </a:solidFill>
                <a:latin typeface="Times New Roman"/>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6738451" y="6011632"/>
            <a:ext cx="4811096" cy="1354234"/>
          </a:xfrm>
          <a:prstGeom prst="roundRect">
            <a:avLst>
              <a:gd name="adj" fmla="val 6000"/>
            </a:avLst>
          </a:prstGeom>
          <a:solidFill>
            <a:srgbClr val="EEF4F8"/>
          </a:solidFill>
          <a:ln w="20046">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38" name="TextBox 37">
            <a:extLst>
              <a:ext uri="{FF2B5EF4-FFF2-40B4-BE49-F238E27FC236}">
                <a16:creationId xmlns:a16="http://schemas.microsoft.com/office/drawing/2014/main" id="{0BF72B91-2111-8551-D1D4-C5F9DA973716}"/>
              </a:ext>
            </a:extLst>
          </p:cNvPr>
          <p:cNvSpPr txBox="1"/>
          <p:nvPr/>
        </p:nvSpPr>
        <p:spPr>
          <a:xfrm>
            <a:off x="6952278" y="6118545"/>
            <a:ext cx="4383443" cy="518195"/>
          </a:xfrm>
          <a:prstGeom prst="rect">
            <a:avLst/>
          </a:prstGeom>
          <a:noFill/>
        </p:spPr>
        <p:txBody>
          <a:bodyPr vert="horz" wrap="square" rtlCol="0">
            <a:noAutofit/>
          </a:bodyPr>
          <a:lstStyle/>
          <a:p>
            <a:r>
              <a:rPr lang="en-GB" sz="2420" b="1">
                <a:solidFill>
                  <a:srgbClr val="003366"/>
                </a:solidFill>
                <a:latin typeface="Times New Roman"/>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6952278" y="6653112"/>
            <a:ext cx="4383443" cy="518195"/>
          </a:xfrm>
          <a:prstGeom prst="rect">
            <a:avLst/>
          </a:prstGeom>
          <a:noFill/>
        </p:spPr>
        <p:txBody>
          <a:bodyPr vert="horz" wrap="square" rtlCol="0">
            <a:noAutofit/>
          </a:bodyPr>
          <a:lstStyle/>
          <a:p>
            <a:r>
              <a:rPr lang="en-GB" sz="1999">
                <a:solidFill>
                  <a:srgbClr val="203344"/>
                </a:solidFill>
                <a:latin typeface="Times New Roman"/>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12030658" y="6011632"/>
            <a:ext cx="4811096" cy="1354234"/>
          </a:xfrm>
          <a:prstGeom prst="roundRect">
            <a:avLst>
              <a:gd name="adj" fmla="val 6000"/>
            </a:avLst>
          </a:prstGeom>
          <a:solidFill>
            <a:srgbClr val="EEF4F8"/>
          </a:solidFill>
          <a:ln w="20046">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a:endParaRPr>
          </a:p>
        </p:txBody>
      </p:sp>
      <p:sp>
        <p:nvSpPr>
          <p:cNvPr id="41" name="TextBox 40">
            <a:extLst>
              <a:ext uri="{FF2B5EF4-FFF2-40B4-BE49-F238E27FC236}">
                <a16:creationId xmlns:a16="http://schemas.microsoft.com/office/drawing/2014/main" id="{E567FCEB-699E-E744-BC31-A3A44CFB6874}"/>
              </a:ext>
            </a:extLst>
          </p:cNvPr>
          <p:cNvSpPr txBox="1"/>
          <p:nvPr/>
        </p:nvSpPr>
        <p:spPr>
          <a:xfrm>
            <a:off x="12244484" y="6118545"/>
            <a:ext cx="4383443" cy="518195"/>
          </a:xfrm>
          <a:prstGeom prst="rect">
            <a:avLst/>
          </a:prstGeom>
          <a:noFill/>
        </p:spPr>
        <p:txBody>
          <a:bodyPr vert="horz" wrap="square" rtlCol="0">
            <a:noAutofit/>
          </a:bodyPr>
          <a:lstStyle/>
          <a:p>
            <a:r>
              <a:rPr lang="en-GB" sz="2420" b="1">
                <a:solidFill>
                  <a:srgbClr val="003366"/>
                </a:solidFill>
                <a:latin typeface="Times New Roman"/>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12244484" y="6653112"/>
            <a:ext cx="4383443" cy="518195"/>
          </a:xfrm>
          <a:prstGeom prst="rect">
            <a:avLst/>
          </a:prstGeom>
          <a:noFill/>
        </p:spPr>
        <p:txBody>
          <a:bodyPr vert="horz" wrap="square" rtlCol="0">
            <a:noAutofit/>
          </a:bodyPr>
          <a:lstStyle/>
          <a:p>
            <a:r>
              <a:rPr lang="it-IT" sz="1999">
                <a:solidFill>
                  <a:srgbClr val="203344"/>
                </a:solidFill>
                <a:latin typeface="Times New Roman"/>
              </a:rPr>
              <a:t>test isolati, da 6 a 10 qubit</a:t>
            </a:r>
            <a:endParaRPr lang="en-GB" sz="1999">
              <a:solidFill>
                <a:srgbClr val="203344"/>
              </a:solidFill>
              <a:latin typeface="Times New Roman"/>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1446244" y="7508418"/>
            <a:ext cx="15395510" cy="518195"/>
          </a:xfrm>
          <a:prstGeom prst="rect">
            <a:avLst/>
          </a:prstGeom>
          <a:noFill/>
        </p:spPr>
        <p:txBody>
          <a:bodyPr vert="horz" wrap="square" rtlCol="0">
            <a:noAutofit/>
          </a:bodyPr>
          <a:lstStyle/>
          <a:p>
            <a:r>
              <a:rPr lang="it-IT" sz="1789">
                <a:solidFill>
                  <a:srgbClr val="647487"/>
                </a:solidFill>
                <a:latin typeface="Times New Roman"/>
              </a:rPr>
              <a:t>Rumore preso dalla calibrazione di un computer IBM (FakeSherbrooke). Il grado di approssimazione è scelto su metà dei dati e verificato sull'altra metà.</a:t>
            </a:r>
            <a:endParaRPr lang="en-GB" sz="1789">
              <a:solidFill>
                <a:srgbClr val="647487"/>
              </a:solidFill>
              <a:latin typeface="Times New Roman"/>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1446244" y="8363724"/>
            <a:ext cx="15395510" cy="518195"/>
          </a:xfrm>
          <a:prstGeom prst="rect">
            <a:avLst/>
          </a:prstGeom>
          <a:noFill/>
        </p:spPr>
        <p:txBody>
          <a:bodyPr vert="horz" wrap="square" rtlCol="0">
            <a:noAutofit/>
          </a:bodyPr>
          <a:lstStyle/>
          <a:p>
            <a:r>
              <a:rPr lang="it-IT" sz="2736" b="1">
                <a:solidFill>
                  <a:srgbClr val="175F99"/>
                </a:solidFill>
                <a:latin typeface="Times New Roman"/>
              </a:rPr>
              <a:t>Meno rotazioni = meno porte e meno rumore, al prezzo di un po' di precisione.</a:t>
            </a:r>
            <a:endParaRPr lang="en-GB" sz="2736" b="1">
              <a:solidFill>
                <a:srgbClr val="175F99"/>
              </a:solidFill>
              <a:latin typeface="Times New Roman"/>
            </a:endParaRPr>
          </a:p>
        </p:txBody>
      </p:sp>
      <p:sp>
        <p:nvSpPr>
          <p:cNvPr id="28" name="Shape 26"/>
          <p:cNvSpPr/>
          <p:nvPr/>
        </p:nvSpPr>
        <p:spPr>
          <a:xfrm>
            <a:off x="0" y="9467850"/>
            <a:ext cx="18288000" cy="819150"/>
          </a:xfrm>
          <a:prstGeom prst="rect">
            <a:avLst/>
          </a:prstGeom>
          <a:solidFill>
            <a:srgbClr val="1170C8"/>
          </a:solidFill>
          <a:ln/>
        </p:spPr>
        <p:txBody>
          <a:bodyPr/>
          <a:lstStyle/>
          <a:p>
            <a:endParaRPr lang="it-IT">
              <a:latin typeface="Times New Roman" panose="02020603050405020304" pitchFamily="18" charset="0"/>
              <a:cs typeface="Times New Roman" panose="02020603050405020304" pitchFamily="18" charset="0"/>
            </a:endParaRPr>
          </a:p>
        </p:txBody>
      </p:sp>
      <p:pic>
        <p:nvPicPr>
          <p:cNvPr id="45" name="Picture 44" descr="image.png"/>
          <p:cNvPicPr>
            <a:picLocks noChangeAspect="1"/>
          </p:cNvPicPr>
          <p:nvPr/>
        </p:nvPicPr>
        <p:blipFill>
          <a:blip r:embed="rId4"/>
          <a:stretch>
            <a:fillRect/>
          </a:stretch>
        </p:blipFill>
        <p:spPr>
          <a:xfrm>
            <a:off x="16904021" y="9218222"/>
            <a:ext cx="1243958" cy="1032656"/>
          </a:xfrm>
          <a:prstGeom prst="rect">
            <a:avLst/>
          </a:prstGeom>
        </p:spPr>
      </p:pic>
    </p:spTree>
    <p:extLst>
      <p:ext uri="{BB962C8B-B14F-4D97-AF65-F5344CB8AC3E}">
        <p14:creationId xmlns:p14="http://schemas.microsoft.com/office/powerpoint/2010/main" val="49079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5"/>
          <a:stretch>
            <a:fillRect/>
          </a:stretch>
        </p:blipFill>
        <p:spPr>
          <a:xfrm>
            <a:off x="1446244" y="1672735"/>
            <a:ext cx="9119159" cy="5746588"/>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762000" y="380000"/>
            <a:ext cx="16764000" cy="950000"/>
          </a:xfrm>
          <a:prstGeom prst="rect">
            <a:avLst/>
          </a:prstGeom>
          <a:noFill/>
          <a:ln w="0">
            <a:noFill/>
          </a:ln>
        </p:spPr>
        <p:txBody>
          <a:bodyPr wrap="square">
            <a:noAutofit/>
          </a:bodyPr>
          <a:lstStyle/>
          <a:p>
            <a:pPr>
              <a:defRPr sz="2700" b="0">
                <a:solidFill>
                  <a:srgbClr val="003366"/>
                </a:solidFill>
                <a:latin typeface="Times New Roman"/>
                <a:ea typeface="Arial"/>
                <a:cs typeface="Arial"/>
              </a:defRPr>
            </a:pPr>
            <a:r>
              <a:rPr lang="it-IT" sz="4000" b="1">
                <a:solidFill>
                  <a:srgbClr val="111111"/>
                </a:solidFill>
                <a:latin typeface="Times New Roman"/>
                <a:ea typeface="Arial"/>
                <a:cs typeface="Arial"/>
              </a:rPr>
              <a:t>RISULTATO 3: AQFT SU N = 15</a:t>
            </a:r>
            <a:endParaRPr sz="2700" b="0">
              <a:solidFill>
                <a:srgbClr val="003366"/>
              </a:solidFill>
              <a:latin typeface="Times New Roman"/>
              <a:ea typeface="Arial"/>
              <a:cs typeface="Arial"/>
            </a:endParaRPr>
          </a:p>
        </p:txBody>
      </p:sp>
      <p:sp>
        <p:nvSpPr>
          <p:cNvPr id="6" name="Rectangle 5">
            <a:extLst>
              <a:ext uri="{FF2B5EF4-FFF2-40B4-BE49-F238E27FC236}">
                <a16:creationId xmlns:a16="http://schemas.microsoft.com/office/drawing/2014/main" id="{68AFD0C9-328E-4D63-A4D9-E371C130FD82}"/>
              </a:ext>
            </a:extLst>
          </p:cNvPr>
          <p:cNvSpPr>
            <a:spLocks noGrp="1"/>
          </p:cNvSpPr>
          <p:nvPr/>
        </p:nvSpPr>
        <p:spPr>
          <a:xfrm>
            <a:off x="11549548" y="1926654"/>
            <a:ext cx="5292206" cy="1122589"/>
          </a:xfrm>
          <a:prstGeom prst="rect">
            <a:avLst/>
          </a:prstGeom>
          <a:noFill/>
          <a:ln w="0">
            <a:noFill/>
          </a:ln>
        </p:spPr>
        <p:txBody>
          <a:bodyPr>
            <a:noAutofit/>
          </a:bodyPr>
          <a:lstStyle/>
          <a:p>
            <a:pPr>
              <a:defRPr sz="6629" b="1">
                <a:solidFill>
                  <a:srgbClr val="175F99"/>
                </a:solidFill>
                <a:latin typeface="Times New Roman"/>
                <a:ea typeface="Arial"/>
                <a:cs typeface="Arial"/>
              </a:defRPr>
            </a:pPr>
            <a:r>
              <a:rPr sz="6629" b="1">
                <a:solidFill>
                  <a:srgbClr val="B5641A"/>
                </a:solidFill>
                <a:latin typeface="Times New Roman"/>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11549548" y="3102700"/>
            <a:ext cx="5292206" cy="1536878"/>
          </a:xfrm>
          <a:prstGeom prst="rect">
            <a:avLst/>
          </a:prstGeom>
          <a:noFill/>
          <a:ln w="0">
            <a:noFill/>
          </a:ln>
        </p:spPr>
        <p:txBody>
          <a:bodyPr>
            <a:noAutofit/>
          </a:bodyPr>
          <a:lstStyle/>
          <a:p>
            <a:pPr>
              <a:defRPr sz="2841" b="0">
                <a:solidFill>
                  <a:srgbClr val="203344"/>
                </a:solidFill>
                <a:latin typeface="Times New Roman"/>
                <a:ea typeface="Arial"/>
                <a:cs typeface="Arial"/>
              </a:defRPr>
            </a:pPr>
            <a:r>
              <a:rPr sz="2841" b="0">
                <a:solidFill>
                  <a:srgbClr val="203344"/>
                </a:solidFill>
                <a:latin typeface="Times New Roman"/>
                <a:ea typeface="Arial"/>
                <a:cs typeface="Arial"/>
              </a:rPr>
              <a:t>Punti percentuali di successo</a:t>
            </a:r>
          </a:p>
          <a:p>
            <a:pPr>
              <a:defRPr sz="2841" b="0">
                <a:solidFill>
                  <a:srgbClr val="203344"/>
                </a:solidFill>
                <a:latin typeface="Times New Roman"/>
                <a:ea typeface="Arial"/>
                <a:cs typeface="Arial"/>
              </a:defRPr>
            </a:pPr>
            <a:r>
              <a:rPr sz="2841" b="0">
                <a:solidFill>
                  <a:srgbClr val="203344"/>
                </a:solidFill>
                <a:latin typeface="Times New Roman"/>
                <a:ea typeface="Arial"/>
                <a:cs typeface="Arial"/>
              </a:rPr>
              <a:t>su dati di verifica</a:t>
            </a:r>
          </a:p>
          <a:p>
            <a:r>
              <a:rPr sz="2245">
                <a:solidFill>
                  <a:srgbClr val="5B6573"/>
                </a:solidFill>
                <a:latin typeface="Times New Roman"/>
              </a:rPr>
              <a:t>IC 95%: da +12,7 a +17,0</a:t>
            </a:r>
          </a:p>
        </p:txBody>
      </p:sp>
      <p:graphicFrame>
        <p:nvGraphicFramePr>
          <p:cNvPr id="18" name="Table 17"/>
          <p:cNvGraphicFramePr/>
          <p:nvPr/>
        </p:nvGraphicFramePr>
        <p:xfrm>
          <a:off x="11549548" y="4759856"/>
          <a:ext cx="5292206" cy="2659468"/>
        </p:xfrm>
        <a:graphic>
          <a:graphicData uri="http://schemas.openxmlformats.org/drawingml/2006/table">
            <a:tbl>
              <a:tblPr/>
              <a:tblGrid>
                <a:gridCol w="2116882">
                  <a:extLst>
                    <a:ext uri="{9D8B030D-6E8A-4147-A177-3AD203B41FA5}">
                      <a16:colId xmlns:a16="http://schemas.microsoft.com/office/drawing/2014/main" val="20000"/>
                    </a:ext>
                  </a:extLst>
                </a:gridCol>
                <a:gridCol w="1587661">
                  <a:extLst>
                    <a:ext uri="{9D8B030D-6E8A-4147-A177-3AD203B41FA5}">
                      <a16:colId xmlns:a16="http://schemas.microsoft.com/office/drawing/2014/main" val="20001"/>
                    </a:ext>
                  </a:extLst>
                </a:gridCol>
                <a:gridCol w="1587661">
                  <a:extLst>
                    <a:ext uri="{9D8B030D-6E8A-4147-A177-3AD203B41FA5}">
                      <a16:colId xmlns:a16="http://schemas.microsoft.com/office/drawing/2014/main" val="20002"/>
                    </a:ext>
                  </a:extLst>
                </a:gridCol>
              </a:tblGrid>
              <a:tr h="664867">
                <a:tc>
                  <a:txBody>
                    <a:bodyPr/>
                    <a:lstStyle/>
                    <a:p>
                      <a:endParaRPr>
                        <a:latin typeface="Times New Roman"/>
                      </a:endParaRPr>
                    </a:p>
                  </a:txBody>
                  <a:tcPr>
                    <a:solidFill>
                      <a:srgbClr val="175F99"/>
                    </a:solidFill>
                  </a:tcPr>
                </a:tc>
                <a:tc>
                  <a:txBody>
                    <a:bodyPr/>
                    <a:lstStyle/>
                    <a:p>
                      <a:r>
                        <a:rPr sz="2420" b="1">
                          <a:solidFill>
                            <a:srgbClr val="FFFFFF"/>
                          </a:solidFill>
                          <a:latin typeface="Times New Roman"/>
                          <a:ea typeface="Arial"/>
                          <a:cs typeface="Arial"/>
                        </a:rPr>
                        <a:t>QFT piena</a:t>
                      </a:r>
                    </a:p>
                  </a:txBody>
                  <a:tcPr>
                    <a:solidFill>
                      <a:srgbClr val="175F99"/>
                    </a:solidFill>
                  </a:tcPr>
                </a:tc>
                <a:tc>
                  <a:txBody>
                    <a:bodyPr/>
                    <a:lstStyle/>
                    <a:p>
                      <a:r>
                        <a:rPr sz="2420" b="1">
                          <a:solidFill>
                            <a:srgbClr val="FFFFFF"/>
                          </a:solidFill>
                          <a:latin typeface="Times New Roman"/>
                          <a:ea typeface="Arial"/>
                          <a:cs typeface="Arial"/>
                        </a:rPr>
                        <a:t>AQFT</a:t>
                      </a:r>
                    </a:p>
                  </a:txBody>
                  <a:tcPr>
                    <a:solidFill>
                      <a:srgbClr val="175F99"/>
                    </a:solidFill>
                  </a:tcPr>
                </a:tc>
                <a:extLst>
                  <a:ext uri="{0D108BD9-81ED-4DB2-BD59-A6C34878D82A}">
                    <a16:rowId xmlns:a16="http://schemas.microsoft.com/office/drawing/2014/main" val="10000"/>
                  </a:ext>
                </a:extLst>
              </a:tr>
              <a:tr h="664867">
                <a:tc>
                  <a:txBody>
                    <a:bodyPr/>
                    <a:lstStyle/>
                    <a:p>
                      <a:r>
                        <a:rPr sz="2420" b="0">
                          <a:solidFill>
                            <a:srgbClr val="203344"/>
                          </a:solidFill>
                          <a:latin typeface="Times New Roman"/>
                          <a:ea typeface="Arial"/>
                          <a:cs typeface="Arial"/>
                        </a:rPr>
                        <a:t>Successo</a:t>
                      </a:r>
                    </a:p>
                  </a:txBody>
                  <a:tcPr>
                    <a:solidFill>
                      <a:srgbClr val="EEF4F8"/>
                    </a:solidFill>
                  </a:tcPr>
                </a:tc>
                <a:tc>
                  <a:txBody>
                    <a:bodyPr/>
                    <a:lstStyle/>
                    <a:p>
                      <a:r>
                        <a:rPr sz="2420" b="0">
                          <a:solidFill>
                            <a:srgbClr val="203344"/>
                          </a:solidFill>
                          <a:latin typeface="Times New Roman"/>
                          <a:ea typeface="Arial"/>
                          <a:cs typeface="Arial"/>
                        </a:rPr>
                        <a:t>47,92%</a:t>
                      </a:r>
                    </a:p>
                  </a:txBody>
                  <a:tcPr>
                    <a:solidFill>
                      <a:srgbClr val="EEF4F8"/>
                    </a:solidFill>
                  </a:tcPr>
                </a:tc>
                <a:tc>
                  <a:txBody>
                    <a:bodyPr/>
                    <a:lstStyle/>
                    <a:p>
                      <a:r>
                        <a:rPr sz="2420" b="0">
                          <a:solidFill>
                            <a:srgbClr val="203344"/>
                          </a:solidFill>
                          <a:latin typeface="Times New Roman"/>
                          <a:ea typeface="Arial"/>
                          <a:cs typeface="Arial"/>
                        </a:rPr>
                        <a:t>62,79%</a:t>
                      </a:r>
                    </a:p>
                  </a:txBody>
                  <a:tcPr>
                    <a:solidFill>
                      <a:srgbClr val="EEF4F8"/>
                    </a:solidFill>
                  </a:tcPr>
                </a:tc>
                <a:extLst>
                  <a:ext uri="{0D108BD9-81ED-4DB2-BD59-A6C34878D82A}">
                    <a16:rowId xmlns:a16="http://schemas.microsoft.com/office/drawing/2014/main" val="10001"/>
                  </a:ext>
                </a:extLst>
              </a:tr>
              <a:tr h="664867">
                <a:tc>
                  <a:txBody>
                    <a:bodyPr/>
                    <a:lstStyle/>
                    <a:p>
                      <a:r>
                        <a:rPr sz="2420" b="0">
                          <a:solidFill>
                            <a:srgbClr val="203344"/>
                          </a:solidFill>
                          <a:latin typeface="Times New Roman"/>
                          <a:ea typeface="Arial"/>
                          <a:cs typeface="Arial"/>
                        </a:rPr>
                        <a:t>Porte a 2 qubit (ECR)</a:t>
                      </a:r>
                    </a:p>
                  </a:txBody>
                  <a:tcPr>
                    <a:solidFill>
                      <a:srgbClr val="FFFFFF"/>
                    </a:solidFill>
                  </a:tcPr>
                </a:tc>
                <a:tc>
                  <a:txBody>
                    <a:bodyPr/>
                    <a:lstStyle/>
                    <a:p>
                      <a:r>
                        <a:rPr sz="2420" b="0">
                          <a:solidFill>
                            <a:srgbClr val="203344"/>
                          </a:solidFill>
                          <a:latin typeface="Times New Roman"/>
                          <a:ea typeface="Arial"/>
                          <a:cs typeface="Arial"/>
                        </a:rPr>
                        <a:t>362</a:t>
                      </a:r>
                    </a:p>
                  </a:txBody>
                  <a:tcPr>
                    <a:solidFill>
                      <a:srgbClr val="FFFFFF"/>
                    </a:solidFill>
                  </a:tcPr>
                </a:tc>
                <a:tc>
                  <a:txBody>
                    <a:bodyPr/>
                    <a:lstStyle/>
                    <a:p>
                      <a:r>
                        <a:rPr sz="2420" b="0">
                          <a:solidFill>
                            <a:srgbClr val="203344"/>
                          </a:solidFill>
                          <a:latin typeface="Times New Roman"/>
                          <a:ea typeface="Arial"/>
                          <a:cs typeface="Arial"/>
                        </a:rPr>
                        <a:t>279</a:t>
                      </a:r>
                    </a:p>
                  </a:txBody>
                  <a:tcPr>
                    <a:solidFill>
                      <a:srgbClr val="FFFFFF"/>
                    </a:solidFill>
                  </a:tcPr>
                </a:tc>
                <a:extLst>
                  <a:ext uri="{0D108BD9-81ED-4DB2-BD59-A6C34878D82A}">
                    <a16:rowId xmlns:a16="http://schemas.microsoft.com/office/drawing/2014/main" val="10002"/>
                  </a:ext>
                </a:extLst>
              </a:tr>
              <a:tr h="664867">
                <a:tc>
                  <a:txBody>
                    <a:bodyPr/>
                    <a:lstStyle/>
                    <a:p>
                      <a:r>
                        <a:rPr sz="2420" b="0">
                          <a:solidFill>
                            <a:srgbClr val="203344"/>
                          </a:solidFill>
                          <a:latin typeface="Times New Roman"/>
                          <a:ea typeface="Arial"/>
                          <a:cs typeface="Arial"/>
                        </a:rPr>
                        <a:t>Profondità</a:t>
                      </a:r>
                    </a:p>
                  </a:txBody>
                  <a:tcPr>
                    <a:solidFill>
                      <a:srgbClr val="EEF4F8"/>
                    </a:solidFill>
                  </a:tcPr>
                </a:tc>
                <a:tc>
                  <a:txBody>
                    <a:bodyPr/>
                    <a:lstStyle/>
                    <a:p>
                      <a:r>
                        <a:rPr sz="2420" b="0">
                          <a:solidFill>
                            <a:srgbClr val="203344"/>
                          </a:solidFill>
                          <a:latin typeface="Times New Roman"/>
                          <a:ea typeface="Arial"/>
                          <a:cs typeface="Arial"/>
                        </a:rPr>
                        <a:t>1351</a:t>
                      </a:r>
                    </a:p>
                  </a:txBody>
                  <a:tcPr>
                    <a:solidFill>
                      <a:srgbClr val="EEF4F8"/>
                    </a:solidFill>
                  </a:tcPr>
                </a:tc>
                <a:tc>
                  <a:txBody>
                    <a:bodyPr/>
                    <a:lstStyle/>
                    <a:p>
                      <a:r>
                        <a:rPr sz="2420" b="0">
                          <a:solidFill>
                            <a:srgbClr val="203344"/>
                          </a:solidFill>
                          <a:latin typeface="Times New Roman"/>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1446244" y="8501820"/>
            <a:ext cx="15395510" cy="574658"/>
          </a:xfrm>
          <a:prstGeom prst="rect">
            <a:avLst/>
          </a:prstGeom>
          <a:noFill/>
          <a:ln w="0">
            <a:noFill/>
          </a:ln>
        </p:spPr>
        <p:txBody>
          <a:bodyPr>
            <a:noAutofit/>
          </a:bodyPr>
          <a:lstStyle/>
          <a:p>
            <a:pPr>
              <a:defRPr sz="2841" b="1">
                <a:solidFill>
                  <a:srgbClr val="175F99"/>
                </a:solidFill>
                <a:latin typeface="Times New Roman"/>
                <a:ea typeface="Arial"/>
                <a:cs typeface="Arial"/>
              </a:defRPr>
            </a:pPr>
            <a:r>
              <a:rPr lang="it-IT" b="1">
                <a:solidFill>
                  <a:srgbClr val="175F99"/>
                </a:solidFill>
                <a:latin typeface="Times New Roman"/>
                <a:ea typeface="Arial"/>
                <a:cs typeface="Arial"/>
              </a:rPr>
              <a:t>Su N = 15: più successo con il 22,9% di porte in meno; caso favorevole.</a:t>
            </a:r>
            <a:endParaRPr b="1">
              <a:solidFill>
                <a:srgbClr val="175F99"/>
              </a:solidFill>
              <a:latin typeface="Times New Roman"/>
              <a:ea typeface="Arial"/>
              <a:cs typeface="Arial"/>
            </a:endParaRPr>
          </a:p>
        </p:txBody>
      </p:sp>
      <p:sp>
        <p:nvSpPr>
          <p:cNvPr id="28" name="Shape 26"/>
          <p:cNvSpPr/>
          <p:nvPr/>
        </p:nvSpPr>
        <p:spPr>
          <a:xfrm>
            <a:off x="0" y="9467850"/>
            <a:ext cx="18288000" cy="819150"/>
          </a:xfrm>
          <a:prstGeom prst="rect">
            <a:avLst/>
          </a:prstGeom>
          <a:solidFill>
            <a:srgbClr val="1170C8"/>
          </a:solidFill>
          <a:ln/>
        </p:spPr>
        <p:txBody>
          <a:bodyPr/>
          <a:lstStyle/>
          <a:p>
            <a:endParaRPr lang="it-IT">
              <a:latin typeface="Times New Roman" panose="02020603050405020304" pitchFamily="18" charset="0"/>
              <a:cs typeface="Times New Roman" panose="02020603050405020304" pitchFamily="18" charset="0"/>
            </a:endParaRPr>
          </a:p>
        </p:txBody>
      </p:sp>
      <p:pic>
        <p:nvPicPr>
          <p:cNvPr id="29" name="Picture 28" descr="image.png"/>
          <p:cNvPicPr>
            <a:picLocks noChangeAspect="1"/>
          </p:cNvPicPr>
          <p:nvPr/>
        </p:nvPicPr>
        <p:blipFill>
          <a:blip r:embed="rId6"/>
          <a:stretch>
            <a:fillRect/>
          </a:stretch>
        </p:blipFill>
        <p:spPr>
          <a:xfrm>
            <a:off x="16904021" y="9218222"/>
            <a:ext cx="1243958" cy="1032656"/>
          </a:xfrm>
          <a:prstGeom prst="rect">
            <a:avLst/>
          </a:prstGeom>
        </p:spPr>
      </p:pic>
    </p:spTree>
    <p:extLst>
      <p:ext uri="{BB962C8B-B14F-4D97-AF65-F5344CB8AC3E}">
        <p14:creationId xmlns:p14="http://schemas.microsoft.com/office/powerpoint/2010/main" val="102393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762000" y="380000"/>
            <a:ext cx="16764000" cy="950000"/>
          </a:xfrm>
          <a:prstGeom prst="rect">
            <a:avLst/>
          </a:prstGeom>
          <a:noFill/>
          <a:ln w="0">
            <a:noFill/>
          </a:ln>
        </p:spPr>
        <p:txBody>
          <a:bodyPr wrap="square">
            <a:noAutofit/>
          </a:bodyPr>
          <a:lstStyle/>
          <a:p>
            <a:pPr>
              <a:defRPr sz="2700" b="0">
                <a:solidFill>
                  <a:srgbClr val="003366"/>
                </a:solidFill>
                <a:latin typeface="Times New Roman"/>
                <a:ea typeface="Arial"/>
                <a:cs typeface="Arial"/>
              </a:defRPr>
            </a:pPr>
            <a:r>
              <a:rPr lang="it-IT" sz="4000" b="1">
                <a:solidFill>
                  <a:srgbClr val="111111"/>
                </a:solidFill>
                <a:latin typeface="Times New Roman"/>
                <a:ea typeface="Arial"/>
                <a:cs typeface="Arial"/>
              </a:rPr>
              <a:t>DEMO: SHOR PASSO PER PASSO, CON E SENZA RUMORE</a:t>
            </a:r>
            <a:endParaRPr sz="2700" b="0">
              <a:solidFill>
                <a:srgbClr val="003366"/>
              </a:solidFill>
              <a:latin typeface="Times New Roman"/>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871755" y="1450000"/>
            <a:ext cx="12544489" cy="7056275"/>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1446244" y="8720102"/>
            <a:ext cx="15395510" cy="404840"/>
          </a:xfrm>
          <a:prstGeom prst="rect">
            <a:avLst/>
          </a:prstGeom>
          <a:noFill/>
        </p:spPr>
        <p:txBody>
          <a:bodyPr vert="horz" wrap="square" rtlCol="0">
            <a:spAutoFit/>
          </a:bodyPr>
          <a:lstStyle/>
          <a:p>
            <a:pPr algn="ctr"/>
            <a:r>
              <a:rPr lang="it-IT" sz="1789">
                <a:solidFill>
                  <a:srgbClr val="647487"/>
                </a:solidFill>
                <a:latin typeface="Times New Roman"/>
              </a:rPr>
              <a:t>Demo web illustrativa: modello di rumore uniforme (preset UC1). I numeri della demo non sono risultati della tesi.</a:t>
            </a:r>
            <a:endParaRPr lang="en-GB" sz="1789">
              <a:solidFill>
                <a:srgbClr val="647487"/>
              </a:solidFill>
              <a:latin typeface="Times New Roman"/>
            </a:endParaRPr>
          </a:p>
        </p:txBody>
      </p:sp>
      <p:sp>
        <p:nvSpPr>
          <p:cNvPr id="28" name="Shape 26"/>
          <p:cNvSpPr/>
          <p:nvPr/>
        </p:nvSpPr>
        <p:spPr>
          <a:xfrm>
            <a:off x="0" y="9467850"/>
            <a:ext cx="18288000" cy="819150"/>
          </a:xfrm>
          <a:prstGeom prst="rect">
            <a:avLst/>
          </a:prstGeom>
          <a:solidFill>
            <a:srgbClr val="1170C8"/>
          </a:solidFill>
          <a:ln/>
        </p:spPr>
        <p:txBody>
          <a:bodyPr/>
          <a:lstStyle/>
          <a:p>
            <a:endParaRPr lang="it-IT">
              <a:latin typeface="Times New Roman" panose="02020603050405020304" pitchFamily="18" charset="0"/>
              <a:cs typeface="Times New Roman" panose="02020603050405020304" pitchFamily="18" charset="0"/>
            </a:endParaRPr>
          </a:p>
        </p:txBody>
      </p:sp>
      <p:pic>
        <p:nvPicPr>
          <p:cNvPr id="29" name="Picture 28" descr="image.png"/>
          <p:cNvPicPr>
            <a:picLocks noChangeAspect="1"/>
          </p:cNvPicPr>
          <p:nvPr/>
        </p:nvPicPr>
        <p:blipFill>
          <a:blip r:embed="rId7"/>
          <a:stretch>
            <a:fillRect/>
          </a:stretch>
        </p:blipFill>
        <p:spPr>
          <a:xfrm>
            <a:off x="16904021" y="9218222"/>
            <a:ext cx="1243958" cy="1032656"/>
          </a:xfrm>
          <a:prstGeom prst="rect">
            <a:avLst/>
          </a:prstGeom>
        </p:spPr>
      </p:pic>
    </p:spTree>
    <p:extLst>
      <p:ext uri="{BB962C8B-B14F-4D97-AF65-F5344CB8AC3E}">
        <p14:creationId xmlns:p14="http://schemas.microsoft.com/office/powerpoint/2010/main" val="33786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762000" y="552450"/>
            <a:ext cx="18440400" cy="647700"/>
          </a:xfrm>
          <a:prstGeom prst="rect">
            <a:avLst/>
          </a:prstGeom>
          <a:noFill/>
          <a:ln/>
        </p:spPr>
        <p:txBody>
          <a:bodyPr wrap="square" lIns="25400" tIns="25400" rIns="25400" bIns="25400" rtlCol="0" anchor="t">
            <a:noAutofit/>
          </a:bodyPr>
          <a:lstStyle/>
          <a:p>
            <a:pPr marL="0" indent="0" algn="l">
              <a:lnSpc>
                <a:spcPct val="95294"/>
              </a:lnSpc>
              <a:buNone/>
            </a:pPr>
            <a:r>
              <a:rPr lang="en-US" sz="5400" b="1" dirty="0">
                <a:solidFill>
                  <a:srgbClr val="111111"/>
                </a:solidFill>
                <a:latin typeface="Times New Roman" panose="02020603050405020304" pitchFamily="18" charset="0"/>
                <a:ea typeface="Georgia" pitchFamily="34" charset="-122"/>
                <a:cs typeface="Times New Roman" panose="02020603050405020304" pitchFamily="18" charset="0"/>
              </a:rPr>
              <a:t>COSA RESTA DI QUESTO LAVORO</a:t>
            </a:r>
            <a:endParaRPr lang="en-US" sz="5400" dirty="0">
              <a:latin typeface="Times New Roman" panose="02020603050405020304" pitchFamily="18" charset="0"/>
              <a:cs typeface="Times New Roman" panose="02020603050405020304" pitchFamily="18" charset="0"/>
            </a:endParaRPr>
          </a:p>
        </p:txBody>
      </p:sp>
      <p:sp>
        <p:nvSpPr>
          <p:cNvPr id="3" name="Shape 1"/>
          <p:cNvSpPr/>
          <p:nvPr/>
        </p:nvSpPr>
        <p:spPr>
          <a:xfrm>
            <a:off x="762000" y="2207366"/>
            <a:ext cx="5410200" cy="3033713"/>
          </a:xfrm>
          <a:prstGeom prst="rect">
            <a:avLst/>
          </a:prstGeom>
          <a:solidFill>
            <a:srgbClr val="F6F8FA"/>
          </a:solidFill>
          <a:ln/>
        </p:spPr>
        <p:txBody>
          <a:bodyPr/>
          <a:lstStyle/>
          <a:p>
            <a:endParaRPr lang="it-IT">
              <a:latin typeface="Times New Roman" panose="02020603050405020304" pitchFamily="18" charset="0"/>
              <a:cs typeface="Times New Roman" panose="02020603050405020304" pitchFamily="18" charset="0"/>
            </a:endParaRPr>
          </a:p>
        </p:txBody>
      </p:sp>
      <p:sp>
        <p:nvSpPr>
          <p:cNvPr id="4" name="Shape 2"/>
          <p:cNvSpPr/>
          <p:nvPr/>
        </p:nvSpPr>
        <p:spPr>
          <a:xfrm>
            <a:off x="762000" y="2207366"/>
            <a:ext cx="5410200" cy="57150"/>
          </a:xfrm>
          <a:prstGeom prst="rect">
            <a:avLst/>
          </a:prstGeom>
          <a:solidFill>
            <a:srgbClr val="14567E"/>
          </a:solidFill>
          <a:ln/>
        </p:spPr>
        <p:txBody>
          <a:bodyPr/>
          <a:lstStyle/>
          <a:p>
            <a:endParaRPr lang="it-IT">
              <a:latin typeface="Times New Roman" panose="02020603050405020304" pitchFamily="18" charset="0"/>
              <a:cs typeface="Times New Roman" panose="02020603050405020304" pitchFamily="18" charset="0"/>
            </a:endParaRPr>
          </a:p>
        </p:txBody>
      </p:sp>
      <p:sp>
        <p:nvSpPr>
          <p:cNvPr id="5" name="Text 3"/>
          <p:cNvSpPr/>
          <p:nvPr/>
        </p:nvSpPr>
        <p:spPr>
          <a:xfrm>
            <a:off x="1009650" y="2458985"/>
            <a:ext cx="5406390" cy="352425"/>
          </a:xfrm>
          <a:prstGeom prst="rect">
            <a:avLst/>
          </a:prstGeom>
          <a:noFill/>
          <a:ln/>
        </p:spPr>
        <p:txBody>
          <a:bodyPr wrap="square" lIns="25400" tIns="25400" rIns="25400" bIns="25400" rtlCol="0" anchor="t">
            <a:noAutofit/>
          </a:bodyPr>
          <a:lstStyle/>
          <a:p>
            <a:pPr marL="0" indent="0" algn="l">
              <a:buNone/>
            </a:pPr>
            <a:r>
              <a:rPr lang="en-US" sz="2400" b="1" dirty="0">
                <a:solidFill>
                  <a:srgbClr val="111111"/>
                </a:solidFill>
                <a:latin typeface="Times New Roman" panose="02020603050405020304" pitchFamily="18" charset="0"/>
                <a:ea typeface="Arial" pitchFamily="34" charset="-122"/>
                <a:cs typeface="Times New Roman" panose="02020603050405020304" pitchFamily="18" charset="0"/>
              </a:rPr>
              <a:t>Il vantaggio viene da TOP-4, non dal ML</a:t>
            </a:r>
          </a:p>
        </p:txBody>
      </p:sp>
      <p:sp>
        <p:nvSpPr>
          <p:cNvPr id="6" name="Text 4"/>
          <p:cNvSpPr/>
          <p:nvPr/>
        </p:nvSpPr>
        <p:spPr>
          <a:xfrm>
            <a:off x="1009650" y="3188969"/>
            <a:ext cx="5062347" cy="704850"/>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20242A"/>
                </a:solidFill>
                <a:latin typeface="Times New Roman" panose="02020603050405020304" pitchFamily="18" charset="0"/>
                <a:ea typeface="Arial" pitchFamily="34" charset="-122"/>
                <a:cs typeface="Times New Roman" panose="02020603050405020304" pitchFamily="18" charset="0"/>
              </a:rPr>
              <a:t>Provare i quattro esiti più frequenti basta a trovare i fattori al primo tentativo; il classificatore non migliora il risultato.</a:t>
            </a:r>
          </a:p>
        </p:txBody>
      </p:sp>
      <p:sp>
        <p:nvSpPr>
          <p:cNvPr id="7" name="Shape 5"/>
          <p:cNvSpPr/>
          <p:nvPr/>
        </p:nvSpPr>
        <p:spPr>
          <a:xfrm>
            <a:off x="6438900" y="2207366"/>
            <a:ext cx="5410200" cy="3033713"/>
          </a:xfrm>
          <a:prstGeom prst="rect">
            <a:avLst/>
          </a:prstGeom>
          <a:solidFill>
            <a:srgbClr val="F6F8FA"/>
          </a:solidFill>
          <a:ln/>
        </p:spPr>
        <p:txBody>
          <a:bodyPr/>
          <a:lstStyle/>
          <a:p>
            <a:endParaRPr lang="it-IT">
              <a:latin typeface="Times New Roman" panose="02020603050405020304" pitchFamily="18" charset="0"/>
              <a:cs typeface="Times New Roman" panose="02020603050405020304" pitchFamily="18" charset="0"/>
            </a:endParaRPr>
          </a:p>
        </p:txBody>
      </p:sp>
      <p:sp>
        <p:nvSpPr>
          <p:cNvPr id="8" name="Shape 6"/>
          <p:cNvSpPr/>
          <p:nvPr/>
        </p:nvSpPr>
        <p:spPr>
          <a:xfrm>
            <a:off x="6438900" y="2207366"/>
            <a:ext cx="5410200" cy="57150"/>
          </a:xfrm>
          <a:prstGeom prst="rect">
            <a:avLst/>
          </a:prstGeom>
          <a:solidFill>
            <a:srgbClr val="1E8A5B"/>
          </a:solidFill>
          <a:ln/>
        </p:spPr>
        <p:txBody>
          <a:bodyPr/>
          <a:lstStyle/>
          <a:p>
            <a:endParaRPr lang="it-IT">
              <a:latin typeface="Times New Roman" panose="02020603050405020304" pitchFamily="18" charset="0"/>
              <a:cs typeface="Times New Roman" panose="02020603050405020304" pitchFamily="18" charset="0"/>
            </a:endParaRPr>
          </a:p>
        </p:txBody>
      </p:sp>
      <p:sp>
        <p:nvSpPr>
          <p:cNvPr id="9" name="Text 7"/>
          <p:cNvSpPr/>
          <p:nvPr/>
        </p:nvSpPr>
        <p:spPr>
          <a:xfrm>
            <a:off x="6709410" y="2458985"/>
            <a:ext cx="5406390" cy="352425"/>
          </a:xfrm>
          <a:prstGeom prst="rect">
            <a:avLst/>
          </a:prstGeom>
          <a:noFill/>
          <a:ln/>
        </p:spPr>
        <p:txBody>
          <a:bodyPr wrap="square" lIns="25400" tIns="25400" rIns="25400" bIns="25400" rtlCol="0" anchor="t">
            <a:noAutofit/>
          </a:bodyPr>
          <a:lstStyle/>
          <a:p>
            <a:pPr marL="0" indent="0" algn="l">
              <a:buNone/>
            </a:pPr>
            <a:r>
              <a:rPr lang="en-US" sz="2400" b="1" dirty="0">
                <a:solidFill>
                  <a:srgbClr val="111111"/>
                </a:solidFill>
                <a:latin typeface="Times New Roman" panose="02020603050405020304" pitchFamily="18" charset="0"/>
                <a:ea typeface="Arial" pitchFamily="34" charset="-122"/>
                <a:cs typeface="Times New Roman" panose="02020603050405020304" pitchFamily="18" charset="0"/>
              </a:rPr>
              <a:t>La correzione funziona sotto soglia</a:t>
            </a:r>
          </a:p>
        </p:txBody>
      </p:sp>
      <p:sp>
        <p:nvSpPr>
          <p:cNvPr id="10" name="Text 8"/>
          <p:cNvSpPr/>
          <p:nvPr/>
        </p:nvSpPr>
        <p:spPr>
          <a:xfrm>
            <a:off x="6709410" y="2953057"/>
            <a:ext cx="5062347" cy="704850"/>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20242A"/>
                </a:solidFill>
                <a:latin typeface="Times New Roman" panose="02020603050405020304" pitchFamily="18" charset="0"/>
                <a:ea typeface="Arial" pitchFamily="34" charset="-122"/>
                <a:cs typeface="Times New Roman" panose="02020603050405020304" pitchFamily="18" charset="0"/>
              </a:rPr>
              <a:t>Sotto lo 0,8–0,9% di errore i codici più grandi correggono meglio; codice e decoder contano insieme.</a:t>
            </a:r>
          </a:p>
        </p:txBody>
      </p:sp>
      <p:sp>
        <p:nvSpPr>
          <p:cNvPr id="11" name="Shape 9"/>
          <p:cNvSpPr/>
          <p:nvPr/>
        </p:nvSpPr>
        <p:spPr>
          <a:xfrm>
            <a:off x="12115800" y="2207366"/>
            <a:ext cx="5410200" cy="3033713"/>
          </a:xfrm>
          <a:prstGeom prst="rect">
            <a:avLst/>
          </a:prstGeom>
          <a:solidFill>
            <a:srgbClr val="F6F8FA"/>
          </a:solidFill>
          <a:ln/>
        </p:spPr>
        <p:txBody>
          <a:bodyPr/>
          <a:lstStyle/>
          <a:p>
            <a:endParaRPr lang="it-IT">
              <a:latin typeface="Times New Roman" panose="02020603050405020304" pitchFamily="18" charset="0"/>
              <a:cs typeface="Times New Roman" panose="02020603050405020304" pitchFamily="18" charset="0"/>
            </a:endParaRPr>
          </a:p>
        </p:txBody>
      </p:sp>
      <p:sp>
        <p:nvSpPr>
          <p:cNvPr id="12" name="Shape 10"/>
          <p:cNvSpPr/>
          <p:nvPr/>
        </p:nvSpPr>
        <p:spPr>
          <a:xfrm>
            <a:off x="12115800" y="2207366"/>
            <a:ext cx="5410200" cy="57150"/>
          </a:xfrm>
          <a:prstGeom prst="rect">
            <a:avLst/>
          </a:prstGeom>
          <a:solidFill>
            <a:srgbClr val="6C5CB5"/>
          </a:solidFill>
          <a:ln/>
        </p:spPr>
        <p:txBody>
          <a:bodyPr/>
          <a:lstStyle/>
          <a:p>
            <a:endParaRPr lang="it-IT">
              <a:latin typeface="Times New Roman" panose="02020603050405020304" pitchFamily="18" charset="0"/>
              <a:cs typeface="Times New Roman" panose="02020603050405020304" pitchFamily="18" charset="0"/>
            </a:endParaRPr>
          </a:p>
        </p:txBody>
      </p:sp>
      <p:sp>
        <p:nvSpPr>
          <p:cNvPr id="13" name="Text 11"/>
          <p:cNvSpPr/>
          <p:nvPr/>
        </p:nvSpPr>
        <p:spPr>
          <a:xfrm>
            <a:off x="12363450" y="2458984"/>
            <a:ext cx="5406390" cy="352425"/>
          </a:xfrm>
          <a:prstGeom prst="rect">
            <a:avLst/>
          </a:prstGeom>
          <a:noFill/>
          <a:ln/>
        </p:spPr>
        <p:txBody>
          <a:bodyPr wrap="square" lIns="25400" tIns="25400" rIns="25400" bIns="25400" rtlCol="0" anchor="t">
            <a:noAutofit/>
          </a:bodyPr>
          <a:lstStyle/>
          <a:p>
            <a:pPr marL="0" indent="0" algn="l">
              <a:buNone/>
            </a:pPr>
            <a:r>
              <a:rPr lang="en-US" sz="2400" b="1" dirty="0">
                <a:solidFill>
                  <a:srgbClr val="111111"/>
                </a:solidFill>
                <a:latin typeface="Times New Roman" panose="02020603050405020304" pitchFamily="18" charset="0"/>
                <a:ea typeface="Arial" pitchFamily="34" charset="-122"/>
                <a:cs typeface="Times New Roman" panose="02020603050405020304" pitchFamily="18" charset="0"/>
              </a:rPr>
              <a:t>L'AQFT aiuta, ma non sempre</a:t>
            </a:r>
          </a:p>
        </p:txBody>
      </p:sp>
      <p:sp>
        <p:nvSpPr>
          <p:cNvPr id="14" name="Text 12"/>
          <p:cNvSpPr/>
          <p:nvPr/>
        </p:nvSpPr>
        <p:spPr>
          <a:xfrm>
            <a:off x="12363450" y="2953057"/>
            <a:ext cx="5062347" cy="704850"/>
          </a:xfrm>
          <a:prstGeom prst="rect">
            <a:avLst/>
          </a:prstGeom>
          <a:noFill/>
          <a:ln/>
        </p:spPr>
        <p:txBody>
          <a:bodyPr wrap="square" lIns="25400" tIns="25400" rIns="25400" bIns="25400" rtlCol="0" anchor="t">
            <a:normAutofit/>
          </a:bodyPr>
          <a:lstStyle/>
          <a:p>
            <a:pPr marL="0" indent="0" algn="l">
              <a:lnSpc>
                <a:spcPct val="113226"/>
              </a:lnSpc>
              <a:buNone/>
            </a:pPr>
            <a:r>
              <a:rPr lang="en-US" sz="1950" dirty="0">
                <a:solidFill>
                  <a:srgbClr val="20242A"/>
                </a:solidFill>
                <a:latin typeface="Times New Roman" panose="02020603050405020304" pitchFamily="18" charset="0"/>
                <a:ea typeface="Arial" pitchFamily="34" charset="-122"/>
                <a:cs typeface="Times New Roman" panose="02020603050405020304" pitchFamily="18" charset="0"/>
              </a:rPr>
              <a:t>Su N = 15 +14,87 punti con il 23% di porte in meno; su N = 21 il vantaggio non è dimostrato.</a:t>
            </a:r>
          </a:p>
        </p:txBody>
      </p:sp>
      <p:sp>
        <p:nvSpPr>
          <p:cNvPr id="15" name="Text 13"/>
          <p:cNvSpPr/>
          <p:nvPr/>
        </p:nvSpPr>
        <p:spPr>
          <a:xfrm>
            <a:off x="762000" y="6211357"/>
            <a:ext cx="9010650" cy="352425"/>
          </a:xfrm>
          <a:prstGeom prst="rect">
            <a:avLst/>
          </a:prstGeom>
          <a:noFill/>
          <a:ln/>
        </p:spPr>
        <p:txBody>
          <a:bodyPr wrap="square" lIns="25400" tIns="25400" rIns="25400" bIns="25400" rtlCol="0" anchor="t">
            <a:noAutofit/>
          </a:bodyPr>
          <a:lstStyle/>
          <a:p>
            <a:pPr marL="0" indent="0" algn="l">
              <a:buNone/>
            </a:pPr>
            <a:r>
              <a:rPr lang="en-US" sz="2800" b="1" kern="0" spc="131" dirty="0">
                <a:solidFill>
                  <a:srgbClr val="0070C0"/>
                </a:solidFill>
                <a:latin typeface="Times New Roman" panose="02020603050405020304" pitchFamily="18" charset="0"/>
                <a:ea typeface="Arial" pitchFamily="34" charset="-122"/>
                <a:cs typeface="Times New Roman" panose="02020603050405020304" pitchFamily="18" charset="0"/>
              </a:rPr>
              <a:t>CONTRIBUTO PERSONALE</a:t>
            </a:r>
            <a:endParaRPr lang="en-US" sz="2800" dirty="0">
              <a:solidFill>
                <a:srgbClr val="0070C0"/>
              </a:solidFill>
              <a:latin typeface="Times New Roman" panose="02020603050405020304" pitchFamily="18" charset="0"/>
              <a:cs typeface="Times New Roman" panose="02020603050405020304" pitchFamily="18" charset="0"/>
            </a:endParaRPr>
          </a:p>
        </p:txBody>
      </p:sp>
      <p:sp>
        <p:nvSpPr>
          <p:cNvPr id="16" name="Text 14"/>
          <p:cNvSpPr/>
          <p:nvPr/>
        </p:nvSpPr>
        <p:spPr>
          <a:xfrm>
            <a:off x="762000" y="6657447"/>
            <a:ext cx="8437245" cy="1181100"/>
          </a:xfrm>
          <a:prstGeom prst="rect">
            <a:avLst/>
          </a:prstGeom>
          <a:noFill/>
          <a:ln/>
        </p:spPr>
        <p:txBody>
          <a:bodyPr wrap="square" lIns="25400" tIns="25400" rIns="25400" bIns="25400" rtlCol="0" anchor="t">
            <a:normAutofit lnSpcReduction="10000"/>
          </a:bodyPr>
          <a:lstStyle/>
          <a:p>
            <a:pPr marL="0" indent="0" algn="l">
              <a:lnSpc>
                <a:spcPct val="123030"/>
              </a:lnSpc>
              <a:buNone/>
            </a:pPr>
            <a:r>
              <a:rPr lang="en-US" sz="2175" dirty="0">
                <a:solidFill>
                  <a:srgbClr val="111111"/>
                </a:solidFill>
                <a:latin typeface="Times New Roman" panose="02020603050405020304" pitchFamily="18" charset="0"/>
                <a:ea typeface="Arial" pitchFamily="34" charset="-122"/>
                <a:cs typeface="Times New Roman" panose="02020603050405020304" pitchFamily="18" charset="0"/>
              </a:rPr>
              <a:t>Costruzione e verifica dei circuiti per N = 15, 21 e 35; confronti con baseline esplicite; pipeline riproducibile, con versioni, parametri e seed registrati.</a:t>
            </a:r>
          </a:p>
        </p:txBody>
      </p:sp>
      <p:sp>
        <p:nvSpPr>
          <p:cNvPr id="17" name="Text 15"/>
          <p:cNvSpPr/>
          <p:nvPr/>
        </p:nvSpPr>
        <p:spPr>
          <a:xfrm>
            <a:off x="9277350" y="6209550"/>
            <a:ext cx="9010650" cy="352425"/>
          </a:xfrm>
          <a:prstGeom prst="rect">
            <a:avLst/>
          </a:prstGeom>
          <a:noFill/>
          <a:ln/>
        </p:spPr>
        <p:txBody>
          <a:bodyPr wrap="square" lIns="25400" tIns="25400" rIns="25400" bIns="25400" rtlCol="0" anchor="t">
            <a:noAutofit/>
          </a:bodyPr>
          <a:lstStyle/>
          <a:p>
            <a:pPr marL="0" indent="0" algn="l">
              <a:buNone/>
            </a:pPr>
            <a:r>
              <a:rPr lang="en-US" sz="2800" b="1" kern="0" spc="131" dirty="0">
                <a:solidFill>
                  <a:schemeClr val="accent1"/>
                </a:solidFill>
                <a:latin typeface="Times New Roman" panose="02020603050405020304" pitchFamily="18" charset="0"/>
                <a:ea typeface="Arial" pitchFamily="34" charset="-122"/>
                <a:cs typeface="Times New Roman" panose="02020603050405020304" pitchFamily="18" charset="0"/>
              </a:rPr>
              <a:t>LIMITI E SVILUPPI FUTURI</a:t>
            </a:r>
          </a:p>
        </p:txBody>
      </p:sp>
      <p:sp>
        <p:nvSpPr>
          <p:cNvPr id="19" name="Text 17"/>
          <p:cNvSpPr/>
          <p:nvPr/>
        </p:nvSpPr>
        <p:spPr>
          <a:xfrm>
            <a:off x="9277350" y="6640771"/>
            <a:ext cx="9010650" cy="2600000"/>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2100" dirty="0">
                <a:solidFill>
                  <a:srgbClr val="111111"/>
                </a:solidFill>
                <a:latin typeface="Times New Roman" panose="02020603050405020304" pitchFamily="18" charset="0"/>
                <a:ea typeface="Arial" pitchFamily="34" charset="-122"/>
                <a:cs typeface="Times New Roman" panose="02020603050405020304" pitchFamily="18" charset="0"/>
              </a:rPr>
              <a:t>•    Solo simulazione, su poche istanze</a:t>
            </a:r>
          </a:p>
          <a:p>
            <a:pPr marL="0" indent="0" algn="l">
              <a:lnSpc>
                <a:spcPct val="113750"/>
              </a:lnSpc>
              <a:buNone/>
            </a:pPr>
            <a:r>
              <a:rPr lang="en-US" sz="2100" dirty="0">
                <a:solidFill>
                  <a:srgbClr val="111111"/>
                </a:solidFill>
                <a:latin typeface="Times New Roman" panose="02020603050405020304" pitchFamily="18" charset="0"/>
                <a:ea typeface="Arial" pitchFamily="34" charset="-122"/>
                <a:cs typeface="Times New Roman" panose="02020603050405020304" pitchFamily="18" charset="0"/>
              </a:rPr>
              <a:t>•    Nessuna esecuzione di Shor protetta dagli errori</a:t>
            </a:r>
          </a:p>
          <a:p>
            <a:pPr marL="0" indent="0" algn="l">
              <a:lnSpc>
                <a:spcPct val="113750"/>
              </a:lnSpc>
              <a:buNone/>
            </a:pPr>
            <a:r>
              <a:rPr lang="en-US" sz="2100" dirty="0">
                <a:solidFill>
                  <a:srgbClr val="111111"/>
                </a:solidFill>
                <a:latin typeface="Times New Roman" panose="02020603050405020304" pitchFamily="18" charset="0"/>
                <a:ea typeface="Arial" pitchFamily="34" charset="-122"/>
                <a:cs typeface="Times New Roman" panose="02020603050405020304" pitchFamily="18" charset="0"/>
              </a:rPr>
              <a:t>•    Ridurre ancora il costo dei circuiti</a:t>
            </a:r>
          </a:p>
          <a:p>
            <a:pPr marL="0" indent="0" algn="l">
              <a:lnSpc>
                <a:spcPct val="113750"/>
              </a:lnSpc>
              <a:buNone/>
            </a:pPr>
            <a:r>
              <a:rPr lang="en-US" sz="2100" dirty="0">
                <a:solidFill>
                  <a:srgbClr val="111111"/>
                </a:solidFill>
                <a:latin typeface="Times New Roman" panose="02020603050405020304" pitchFamily="18" charset="0"/>
                <a:ea typeface="Arial" pitchFamily="34" charset="-122"/>
                <a:cs typeface="Times New Roman" panose="02020603050405020304" pitchFamily="18" charset="0"/>
              </a:rPr>
              <a:t>•    Unire circuiti più leggeri e correzione degli errori</a:t>
            </a:r>
          </a:p>
        </p:txBody>
      </p:sp>
      <p:sp>
        <p:nvSpPr>
          <p:cNvPr id="23" name="Shape 21"/>
          <p:cNvSpPr/>
          <p:nvPr/>
        </p:nvSpPr>
        <p:spPr>
          <a:xfrm>
            <a:off x="0" y="9467850"/>
            <a:ext cx="18288000" cy="819150"/>
          </a:xfrm>
          <a:prstGeom prst="rect">
            <a:avLst/>
          </a:prstGeom>
          <a:solidFill>
            <a:srgbClr val="1170C8"/>
          </a:solidFill>
          <a:ln/>
        </p:spPr>
        <p:txBody>
          <a:bodyPr/>
          <a:lstStyle/>
          <a:p>
            <a:endParaRPr lang="it-IT"/>
          </a:p>
        </p:txBody>
      </p:sp>
      <p:pic>
        <p:nvPicPr>
          <p:cNvPr id="24" name="Picture 23" descr="image.png"/>
          <p:cNvPicPr>
            <a:picLocks noChangeAspect="1"/>
          </p:cNvPicPr>
          <p:nvPr/>
        </p:nvPicPr>
        <p:blipFill>
          <a:blip r:embed="rId2"/>
          <a:stretch>
            <a:fillRect/>
          </a:stretch>
        </p:blipFill>
        <p:spPr>
          <a:xfrm>
            <a:off x="16904021" y="9218222"/>
            <a:ext cx="1243958" cy="103265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5"/>
          <a:stretch>
            <a:fillRect/>
          </a:stretch>
        </p:blipFill>
        <p:spPr>
          <a:xfrm>
            <a:off x="-495801" y="-233916"/>
            <a:ext cx="18783799" cy="10565886"/>
          </a:xfrm>
          <a:prstGeom prst="rect">
            <a:avLst/>
          </a:prstGeom>
        </p:spPr>
      </p:pic>
      <p:pic>
        <p:nvPicPr>
          <p:cNvPr id="3" name="Picture 2" descr="image.png"/>
          <p:cNvPicPr>
            <a:picLocks noChangeAspect="1"/>
          </p:cNvPicPr>
          <p:nvPr/>
        </p:nvPicPr>
        <p:blipFill>
          <a:blip r:embed="rId6"/>
          <a:stretch>
            <a:fillRect/>
          </a:stretch>
        </p:blipFill>
        <p:spPr>
          <a:xfrm>
            <a:off x="7459307" y="1400000"/>
            <a:ext cx="3369235" cy="2796927"/>
          </a:xfrm>
          <a:prstGeom prst="rect">
            <a:avLst/>
          </a:prstGeom>
        </p:spPr>
      </p:pic>
      <p:sp>
        <p:nvSpPr>
          <p:cNvPr id="7" name="Text 5"/>
          <p:cNvSpPr/>
          <p:nvPr/>
        </p:nvSpPr>
        <p:spPr>
          <a:xfrm>
            <a:off x="745695" y="4700000"/>
            <a:ext cx="16796460" cy="1300000"/>
          </a:xfrm>
          <a:prstGeom prst="rect">
            <a:avLst/>
          </a:prstGeom>
          <a:noFill/>
          <a:ln/>
        </p:spPr>
        <p:txBody>
          <a:bodyPr wrap="square" lIns="25400" tIns="25400" rIns="25400" bIns="25400" rtlCol="0" anchor="t">
            <a:noAutofit/>
          </a:bodyPr>
          <a:lstStyle/>
          <a:p>
            <a:pPr marL="0" indent="0" algn="ctr">
              <a:lnSpc>
                <a:spcPct val="100098"/>
              </a:lnSpc>
              <a:buNone/>
            </a:pPr>
            <a:r>
              <a:rPr lang="en-US" sz="6000" b="1" dirty="0">
                <a:solidFill>
                  <a:srgbClr val="111111"/>
                </a:solidFill>
                <a:latin typeface="Times New Roman" panose="02020603050405020304" pitchFamily="18" charset="0"/>
                <a:ea typeface="Georgia" pitchFamily="34" charset="-122"/>
                <a:cs typeface="Times New Roman" panose="02020603050405020304" pitchFamily="18" charset="0"/>
              </a:rPr>
              <a:t>GRAZIE PER L'ATTENZIONE</a:t>
            </a:r>
          </a:p>
        </p:txBody>
      </p:sp>
      <p:sp>
        <p:nvSpPr>
          <p:cNvPr id="4" name="Text 2"/>
          <p:cNvSpPr/>
          <p:nvPr/>
        </p:nvSpPr>
        <p:spPr>
          <a:xfrm>
            <a:off x="745695" y="6300000"/>
            <a:ext cx="16796460" cy="600000"/>
          </a:xfrm>
          <a:prstGeom prst="rect">
            <a:avLst/>
          </a:prstGeom>
          <a:noFill/>
          <a:ln/>
        </p:spPr>
        <p:txBody>
          <a:bodyPr wrap="square" lIns="25400" tIns="25400" rIns="25400" bIns="25400" rtlCol="0" anchor="t">
            <a:noAutofit/>
          </a:bodyPr>
          <a:lstStyle/>
          <a:p>
            <a:pPr marL="0" indent="0" algn="ctr">
              <a:buNone/>
            </a:pPr>
            <a:r>
              <a:rPr lang="en-US" sz="3200" kern="0" spc="30" dirty="0">
                <a:solidFill>
                  <a:srgbClr val="20242A"/>
                </a:solidFill>
                <a:latin typeface="Times New Roman" panose="02020603050405020304" pitchFamily="18" charset="0"/>
                <a:ea typeface="Georgia" pitchFamily="34" charset="-122"/>
                <a:cs typeface="Times New Roman" panose="02020603050405020304" pitchFamily="18" charset="0"/>
              </a:rPr>
              <a:t>Claudio Dragotta · Ingegneria dei Sistemi Intelligenti</a:t>
            </a:r>
          </a:p>
        </p:txBody>
      </p:sp>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4111</Words>
  <Application>Microsoft Office PowerPoint</Application>
  <DocSecurity>0</DocSecurity>
  <PresentationFormat>Widescreen</PresentationFormat>
  <Paragraphs>372</Paragraphs>
  <Slides>22</Slides>
  <Notes>22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35</cp:revision>
  <dcterms:created xsi:type="dcterms:W3CDTF">2026-10-04T20:49:31Z</dcterms:created>
  <dcterms:modified xsi:type="dcterms:W3CDTF">2026-10-06T13:07:13Z</dcterms:modified>
</cp:coreProperties>
</file>