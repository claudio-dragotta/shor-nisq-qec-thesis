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8" r:id="rId5"/>
    <p:sldId id="279" r:id="rId6"/>
    <p:sldId id="287" r:id="rId8"/>
    <p:sldId id="267" r:id="rId14"/>
    <p:sldId id="263" r:id="rId11"/>
    <p:sldId id="268" r:id="rId15"/>
    <p:sldId id="265" r:id="rId12"/>
    <p:sldId id="269" r:id="rId16"/>
    <p:sldId id="270" r:id="rId17"/>
    <p:sldId id="271" r:id="rId18"/>
    <p:sldId id="266" r:id="rId13"/>
    <p:sldId id="272" r:id="rId19"/>
    <p:sldId id="275" r:id="rId20"/>
    <p:sldId id="276" r:id="rId21"/>
    <p:sldId id="289"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6.xml"/><Relationship Id="rId12" Type="http://schemas.openxmlformats.org/officeDocument/2006/relationships/slide" Target="slides/slide8.xml"/><Relationship Id="rId13" Type="http://schemas.openxmlformats.org/officeDocument/2006/relationships/slide" Target="slides/slide12.xml"/><Relationship Id="rId14" Type="http://schemas.openxmlformats.org/officeDocument/2006/relationships/slide" Target="slides/slide5.xml"/><Relationship Id="rId15" Type="http://schemas.openxmlformats.org/officeDocument/2006/relationships/slide" Target="slides/slide7.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Ringrazio il presidente e tutta la commissione per la parola. Sono Claudio Dragotta e vi presento la mia tesi, che ho svolto con il professor Soda e l'ingegner Caprio.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Parto da un dato oggettivo. I computer quantistici lavorano sugli stati quantistici della materia, che sono fragilissimi: basta una minima perturbazione per alterarli. Anche le macchine future dovranno convivere con gli errori.</a:t>
            </a:r>
          </a:p>
          <a:p>
            <a:r>
              <a:t>Un caso in cui questo pesa molto è l'algoritmo di Shor. La sicurezza di RSA, che protegge buona parte delle nostre comunicazioni, si basa sul fatto che fattorizzare un numero molto grande è difficilissimo per un computer classico. Shor ha dimostrato che un computer quantistico ideale lo farebbe in tempo polinomiale.</a:t>
            </a:r>
          </a:p>
          <a:p>
            <a:r>
              <a:t>Ma sulle macchine reali il rumore altera proprio l'informazione da cui Shor ricava la soluzione. Lo scopo della mia tesi è stato capire quali strategie permettono a Shor di dare comunque buoni risultati.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Vediamo come funziona. Abbiamo N, il numero da fattorizzare, e un parametro a, la base, che non ha divisori in comune con N. La funzione a alla x modulo N è periodica, e il compito del computer quantistico è trovarne il periodo r.</a:t>
            </a:r>
          </a:p>
          <a:p>
            <a:r>
              <a:t>Nel mio esempio N è 15 e a è 7: nel grafico i valori si ripetono ogni quattro passi, quindi r è 4. Da r un calcolo classico ricava un fattore, 3, e quindi anche l'altro, 5.</a:t>
            </a:r>
          </a:p>
          <a:p>
            <a:r>
              <a:t>Il circuito usa 8 qubit di controllo e 4 di lavoro, 12 qubit in tutto, ed è il caso su cui ho fatto tutte le prove con rumore. Ho costruito e verificato anche il circuito per N uguale a 21, con 20 qubit. Tutto è simulato al calcolatore, con strumenti open source.</a:t>
            </a:r>
          </a:p>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Contro il rumore la letteratura propone tre strade, ma raramente le confronta con un riferimento adeguato. Le vedete in viola; in giallo ci sono i passi di Shor: scelta di a, esponenziazione modulare, QFT inversa e misura.</a:t>
            </a:r>
          </a:p>
          <a:p>
            <a:r>
              <a:t>La prima strategia lavora dopo la misura: è il post-processing, e qui la domanda è se il machine learning migliora davvero la lettura dei risultati.</a:t>
            </a:r>
          </a:p>
          <a:p>
            <a:r>
              <a:t>La seconda è la correzione degli errori, che protegge i qubit durante il calcolo. L'ho studiata in esperimenti separati, non dentro il circuito di Shor, confrontando codici e decoder.</a:t>
            </a:r>
          </a:p>
          <a:p>
            <a:r>
              <a:t>La terza è la QFT approssimata, che toglie porte alla QFT inversa.</a:t>
            </a:r>
          </a:p>
          <a:p>
            <a:r>
              <a:t>Per ognuna vi mostro prima il metodo e subito dopo il risultato.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il post-processing. Ogni esecuzione di Shor dà un istogramma di risultati, e bisogna decidere quali verificare.</a:t>
            </a:r>
          </a:p>
          <a:p>
            <a:r>
              <a:t>TOP-1 verifica solo il più frequente. TOP-4 verifica, uno alla volta, i quattro più frequenti, finché trova i fattori. Il terzo metodo, che nella tesi chiamo Metodo 2, applica TOP-4 solo se un classificatore di machine learning lo approva. La verifica finale è sempre lo stesso calcolo classico.</a:t>
            </a:r>
          </a:p>
          <a:p>
            <a:r>
              <a:t>Il rischio è dare al machine learning un merito che viene invece dal provare più candidati. Per questo il confronto decisivo è tra il Metodo 2 e TOP-4.</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la correzione quantistica degli errori. Più qubit fisici proteggono un solo qubit logico: i controlli segnalano dove c'è un errore e un decoder decide come correggerlo.</a:t>
            </a:r>
          </a:p>
          <a:p>
            <a:r>
              <a:t>Ho usato due codici. Il surface code è il riferimento, robusto ma costoso: per 12 qubit logici servono circa 2000 qubit di dato. Su questo ho confrontato i decoder: quello classico, MWPM, una rete neurale, un ibrido e BP+OSD.</a:t>
            </a:r>
          </a:p>
          <a:p>
            <a:r>
              <a:t>Il Gross code, proposto da IBM, promette una protezione simile con da 10 a 14 volte meno qubit. Qui ho simulato gli errori come sequenze di 144 bit, non lo stato di 144 qubit.</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la QFT approssimata. L'idea è semplice: gli errori vengono dalle porte, quindi meno porte significa meno errori.</a:t>
            </a:r>
          </a:p>
          <a:p>
            <a: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t>L'ho provata su N uguale a 15, su N uguale a 21 e su test di stima di fase, con il rumore di un computer IBM reale.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però, vediamo quanto il rumore pesa su Shor. Per simularlo, dopo ogni porta inserisco con una certa probabilità un operatore di Pauli casuale, cioè un'inversione del bit, della fase o di entrambi.</a:t>
            </a:r>
          </a:p>
          <a:p>
            <a:r>
              <a:t>Il grafico va letto tra due linee. In alto c'è il 75%: senza errori Shor trova i fattori tre volte su quattro. In basso, tratteggiato, c'è circa il 25%: è quello che otterremmo con risultati completamente casuali, perché la verifica finale accetta 63 esiti su 256.</a:t>
            </a:r>
          </a:p>
          <a:p>
            <a:r>
              <a:t>Andando verso destra cresce l'errore per porta. Senza rumore otteniamo il 74,89%, come previsto. Basta l'1% di errore per porta, il punto cerchiato, per scendere al 56%, e oltre il 10% la curva tocca la linea del caso: lì Shor non funziona più.</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Barre più basse significano meno tentativi per trovare i fattori. Nel riquadro arancione, TOP-4 trova i fattori sempre al primo tentativo, in tutte le 30 repliche.</a:t>
            </a:r>
          </a:p>
          <a:p>
            <a:r>
              <a:t>Il classificatore è molto accurato, eppure il Metodo 2 non abbassa le barre, anzi fa peggio di TOP-4, perché a volte scarta proprio i risultati buoni.</a:t>
            </a:r>
          </a:p>
          <a:p>
            <a:r>
              <a:t>Quindi il vantaggio viene dal provare più candidati, non dal machine learning.</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più grande. Nella zona verde, sotto soglia, le curve dei codici grandi stanno più in basso: fanno meno errori. Nella zona rossa l'ordine si inverte e aggiungere qubit peggiora le cose.</a:t>
            </a:r>
          </a:p>
          <a:p>
            <a:r>
              <a:t>La soglia è il punto in cui le curve si incrociano, nel cerchio arancione: l'ho stimata tra lo 0,8 e lo 0,9% di errore. Anche i codici più semplici, a ripetizione e di Steane, si comportano come prevede la teoria.</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il machine learning trova un ruolo. Sopra la linea dell'1 il decoder sbaglia meno di quello classico. Senza crosstalk la rete da sola non batte il decoder classico. Con il crosstalk, cioè errori correlati tra qubit vicini, il decoder ibrido, la linea arancione continua, sta sopra: nel punto cerchiato gli errori scendono del 16,8%.</a:t>
            </a:r>
          </a:p>
          <a:p>
            <a:r>
              <a:t>Sui codici più grandi, le linee tratteggiate, il vantaggio quasi sparisce, e BP+OSD, in grigio, a distanza 5 fa ancora meglio. Quindi il machine learning aiuta come correttore del decoder classico, non come sostituto.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Infine il confronto tra i due codici. Per proteggere 12 qubit logici il Gross code, la barra arancione, usa 144 qubit di dato, da 10 a 14 volte meno del surface code.</a:t>
            </a:r>
          </a:p>
          <a:p>
            <a:r>
              <a:t>Nel modello semplificato che ho usato, con un errore fisico dallo 0,75% in su, protegge anche meglio. E anche qui il decoder è decisivo: con la versione giusta gli errori scendono di circa cento volte.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piena, verso sinistra si tolgono sempre più rotazioni. Il grado scelto, quello cerchiato, sta ben sopra la QFT piena: il successo passa dal 48 al 63%, con quasi il 23% di porte in meno.</a:t>
            </a:r>
          </a:p>
          <a:p>
            <a:r>
              <a:t>Va detto però che 15 è un caso favorevole. Su N uguale a 21 le porte si dimezzano, ma il vantaggio non è dimostrato: l'approssimazione va scelta caso per caso.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concludere: una tecnica vale quanto l'informazione che riesce a sfruttare, e va sempre confrontata con un riferimento adeguato.</a:t>
            </a:r>
          </a:p>
          <a:p>
            <a:r>
              <a:t>Il post-processing aiuta grazie ai candidati in più, non grazie al machine learning; la correzione degli errori funziona solo sotto soglia; la QFT approssimata aiuta, ma non sempre.</a:t>
            </a:r>
          </a:p>
          <a:p>
            <a:r>
              <a:t>Il mio contributo è stato costruire e verificare i circuiti, progettare confronti corretti e rendere tutto riproducibile.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limiti sono chiari: ho lavorato in simulazione, su pochi casi, e senza un'esecuzione completamente protetta dagli errori. Il passo successivo è ridurre ancora il costo dei circuiti e poi unirlo alla correzione degli errori.</a:t>
            </a:r>
          </a:p>
          <a:p>
            <a:r>
              <a:t>Prima di chiudere, vi mostro in due minuti una demo che ho sviluppato e che riassume visivamente il percorso.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La demo segue Shor passo per passo, prima senza errori e poi con il rumore.</a:t>
            </a:r>
          </a:p>
          <a:p>
            <a:r>
              <a:t>[0:06] Il caso è quello della tesi: N uguale a 15, base 7. Ogni riga è un qubit, e a destra c'è la sua sfera di Bloch, che mostra lo stato del qubit con una freccia.</a:t>
            </a:r>
          </a:p>
          <a:p>
            <a:r>
              <a:t>[0:17] Le porte di Hadamard mettono i qubit in sovrapposizione. Poi le moltiplicazioni per 7 modulo 15 scrivono il periodo nelle fasi; le frecce si accorciano, ma qui non è un errore: è entanglement.</a:t>
            </a:r>
          </a:p>
          <a:p>
            <a:r>
              <a:t>[0:30] La QFT inversa trasforma il periodo in quattro picchi, e alla misura il calcolo classico ricava 15 uguale 3 per 5.</a:t>
            </a:r>
          </a:p>
          <a:p>
            <a:r>
              <a:t>[0:48] Ora lo stesso circuito con il rumore. Le frecce che prima restavano intere si accorciano: lo stato perde coerenza.</a:t>
            </a:r>
          </a:p>
          <a:p>
            <a:r>
              <a:t>[1:08] Qui si vede dove entra il rumore: ogni porta ha il suo errore, le porte a due qubit sono le più fragili e la misura può sbagliare il bit.</a:t>
            </a:r>
          </a:p>
          <a:p>
            <a:r>
              <a:t>[1:15] Ripetendo il circuito molte volte, le misure si spargono su tutti gli esiti e i picchi si abbassano: è lo stesso calo che avete visto nel grafico del rumore.</a:t>
            </a:r>
          </a:p>
          <a:p>
            <a:r>
              <a:t>[1:33] Questa è informazione persa, che dopo non si recupera.</a:t>
            </a:r>
          </a:p>
          <a:p>
            <a:r>
              <a:t>[1:53] Ed è il messaggio della tesi: il rumore va affrontato durante il calcolo, perché dopo la misura l'informazione distrutta non si ricostruisce.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2</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609600"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a:t>
            </a:r>
            <a:r>
              <a:rPr lang="es-ES" sz="1300">
                <a:solidFill>
                  <a:srgbClr val="FFFFFF"/>
                </a:solidFill>
                <a:latin typeface="Arial" pitchFamily="34" charset="0"/>
                <a:ea typeface="Arial" pitchFamily="34" charset="-122"/>
                <a:cs typeface="Arial" pitchFamily="34" charset="-120"/>
              </a:rPr>
              <a:t>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t>
            </a:r>
            <a:r>
              <a:rPr lang="en-US" sz="2000" dirty="0">
                <a:solidFill>
                  <a:srgbClr val="1F2933"/>
                </a:solidFill>
                <a:latin typeface="Arial" pitchFamily="34" charset="0"/>
                <a:ea typeface="Arial" pitchFamily="34" charset="-122"/>
                <a:cs typeface="Arial" pitchFamily="34" charset="-120"/>
              </a:rPr>
              <a:t>a</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N. Con N = 15 e a = 7, </a:t>
            </a:r>
            <a:r>
              <a:rPr lang="en-US" sz="2000" dirty="0">
                <a:solidFill>
                  <a:srgbClr val="1F2933"/>
                </a:solidFill>
                <a:latin typeface="Arial" pitchFamily="34" charset="0"/>
                <a:ea typeface="Arial" pitchFamily="34" charset="-122"/>
                <a:cs typeface="Arial" pitchFamily="34" charset="-120"/>
              </a:rPr>
              <a:t>7</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9232900" y="3357860"/>
            <a:ext cx="2349500" cy="2273300"/>
          </a:xfrm>
          <a:prstGeom prst="rect">
            <a:avLst/>
          </a:prstGeom>
        </p:spPr>
      </p:pic>
      <p:sp>
        <p:nvSpPr>
          <p:cNvPr id="28" name="Text 19"/>
          <p:cNvSpPr/>
          <p:nvPr/>
        </p:nvSpPr>
        <p:spPr>
          <a:xfrm>
            <a:off x="7620000" y="5707360"/>
            <a:ext cx="396240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3</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3_shor_successo_vs_pg.png"/>
          <p:cNvPicPr>
            <a:picLocks noChangeAspect="1"/>
          </p:cNvPicPr>
          <p:nvPr/>
        </p:nvPicPr>
        <p:blipFill>
          <a:blip r:embed="rId5"/>
          <a:stretch>
            <a:fillRect/>
          </a:stretch>
        </p:blipFill>
        <p:spPr>
          <a:xfrm>
            <a:off x="609600" y="1428750"/>
            <a:ext cx="6368073" cy="4095750"/>
          </a:xfrm>
          <a:prstGeom prst="rect">
            <a:avLst/>
          </a:prstGeom>
        </p:spPr>
      </p:pic>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Punto di partenza | 5</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97603FF-05F2-4F40-B8B9-3DC8702E9642}"/>
              </a:ext>
            </a:extLst>
          </p:cNvPr>
          <p:cNvSpPr>
            <a:spLocks noGrp="1"/>
          </p:cNvSpPr>
          <p:nvPr/>
        </p:nvSpPr>
        <p:spPr>
          <a:xfrm>
            <a:off x="7810500" y="1609725"/>
            <a:ext cx="3771900"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7810500" y="2321027"/>
            <a:ext cx="3771900"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7810500" y="4241800"/>
            <a:ext cx="3771900"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
            </a:r>
            <a:r>
              <a:rPr lang="it-IT" sz="1275">
                <a:solidFill>
                  <a:srgbClr val="647487"/>
                </a:solidFill>
                <a:latin typeface="Arial" panose="020B0604020202020204" pitchFamily="34" charset="0"/>
                <a:ea typeface="Arial"/>
                <a:cs typeface="Arial"/>
              </a:rPr>
              <a:t>p</a:t>
            </a:r>
            <a:r>
              <a:rPr lang="it-IT" sz="1275" baseline="-25000">
                <a:solidFill>
                  <a:srgbClr val="647487"/>
                </a:solidFill>
                <a:latin typeface="Arial" panose="020B0604020202020204" pitchFamily="34" charset="0"/>
                <a:ea typeface="Arial"/>
                <a:cs typeface="Arial"/>
              </a:rPr>
              <a:t>g</a:t>
            </a:r>
            <a:r>
              <a:rPr lang="it-IT" sz="1275">
                <a:solidFill>
                  <a:srgbClr val="647487"/>
                </a:solidFill>
                <a:latin typeface="Arial" panose="020B0604020202020204" pitchFamily="34" charset="0"/>
                <a:ea typeface="Arial"/>
                <a:cs typeface="Arial"/>
              </a:rPr>
              <a:t>: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7810500" y="3048000"/>
            <a:ext cx="37719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7810500" y="3429000"/>
            <a:ext cx="37719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7</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9</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rumore circuit-level, 200 000 shot per punto.</a:t>
            </a:r>
          </a:p>
        </p:txBody>
      </p:sp>
    </p:spTree>
    <p:extLst>
      <p:ext uri="{BB962C8B-B14F-4D97-AF65-F5344CB8AC3E}">
        <p14:creationId xmlns:p14="http://schemas.microsoft.com/office/powerpoint/2010/main" val="1581526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10</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a:t>
            </a:r>
            <a:r>
              <a:rPr sz="2025" b="0">
                <a:solidFill>
                  <a:srgbClr val="203344"/>
                </a:solidFill>
                <a:latin typeface="Arial"/>
                <a:ea typeface="Arial"/>
                <a:cs typeface="Arial"/>
              </a:rPr>
              <a:t>p</a:t>
            </a:r>
            <a:r>
              <a:rPr sz="2025" b="0" baseline="-25000">
                <a:solidFill>
                  <a:srgbClr val="203344"/>
                </a:solidFill>
                <a:latin typeface="Arial"/>
                <a:ea typeface="Arial"/>
                <a:cs typeface="Arial"/>
              </a:rPr>
              <a:t>L</a:t>
            </a:r>
            <a:r>
              <a:rPr sz="2025" b="0" baseline="-25000">
                <a:solidFill>
                  <a:srgbClr val="203344"/>
                </a:solidFill>
                <a:latin typeface="Arial"/>
                <a:ea typeface="Arial"/>
                <a:cs typeface="Arial"/>
              </a:rPr>
              <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11</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a:t>
            </a:r>
            <a:r>
              <a:rPr lang="it-IT" sz="1950" b="1">
                <a:solidFill>
                  <a:srgbClr val="B5641A"/>
                </a:solidFill>
                <a:latin typeface="Arial" panose="020B0604020202020204" pitchFamily="34" charset="0"/>
              </a:rPr>
              <a:t>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13</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1895476"/>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21 e 35.</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15</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16</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