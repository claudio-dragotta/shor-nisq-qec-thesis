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rts/chart1.xml" ContentType="application/vnd.openxmlformats-officedocument.drawingml.chart+xml"/>
  <Override PartName="/ppt/notesSlides/notesSlide42.xml" ContentType="application/vnd.openxmlformats-officedocument.presentationml.notesSlide+xml"/>
  <Override PartName="/ppt/charts/chart2.xml" ContentType="application/vnd.openxmlformats-officedocument.drawingml.chart+xml"/>
  <Override PartName="/ppt/notesSlides/notesSlide43.xml" ContentType="application/vnd.openxmlformats-officedocument.presentationml.notesSlide+xml"/>
  <Override PartName="/ppt/charts/chart3.xml" ContentType="application/vnd.openxmlformats-officedocument.drawingml.chart+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9"/>
  </p:notesMasterIdLst>
  <p:sldIdLst>
    <p:sldId id="336" r:id="rId2"/>
    <p:sldId id="337" r:id="rId3"/>
    <p:sldId id="338" r:id="rId4"/>
    <p:sldId id="339" r:id="rId5"/>
    <p:sldId id="340" r:id="rId6"/>
    <p:sldId id="341" r:id="rId7"/>
    <p:sldId id="342" r:id="rId8"/>
    <p:sldId id="343" r:id="rId9"/>
    <p:sldId id="344" r:id="rId10"/>
    <p:sldId id="345" r:id="rId11"/>
    <p:sldId id="346" r:id="rId12"/>
    <p:sldId id="347" r:id="rId13"/>
    <p:sldId id="348" r:id="rId14"/>
    <p:sldId id="349" r:id="rId15"/>
    <p:sldId id="350" r:id="rId16"/>
    <p:sldId id="292" r:id="rId17"/>
    <p:sldId id="321" r:id="rId18"/>
    <p:sldId id="322" r:id="rId19"/>
    <p:sldId id="323" r:id="rId20"/>
    <p:sldId id="324" r:id="rId21"/>
    <p:sldId id="325" r:id="rId22"/>
    <p:sldId id="326" r:id="rId23"/>
    <p:sldId id="327" r:id="rId24"/>
    <p:sldId id="328" r:id="rId25"/>
    <p:sldId id="329" r:id="rId26"/>
    <p:sldId id="330" r:id="rId27"/>
    <p:sldId id="331" r:id="rId28"/>
    <p:sldId id="332" r:id="rId29"/>
    <p:sldId id="333" r:id="rId30"/>
    <p:sldId id="334" r:id="rId31"/>
    <p:sldId id="335" r:id="rId32"/>
    <p:sldId id="308" r:id="rId33"/>
    <p:sldId id="293" r:id="rId34"/>
    <p:sldId id="294" r:id="rId35"/>
    <p:sldId id="313" r:id="rId36"/>
    <p:sldId id="295" r:id="rId37"/>
    <p:sldId id="296" r:id="rId38"/>
    <p:sldId id="297" r:id="rId39"/>
    <p:sldId id="320" r:id="rId40"/>
    <p:sldId id="298" r:id="rId41"/>
    <p:sldId id="318" r:id="rId42"/>
    <p:sldId id="319" r:id="rId43"/>
    <p:sldId id="317" r:id="rId44"/>
    <p:sldId id="309" r:id="rId45"/>
    <p:sldId id="299" r:id="rId46"/>
    <p:sldId id="300" r:id="rId47"/>
    <p:sldId id="311" r:id="rId48"/>
    <p:sldId id="265" r:id="rId49"/>
    <p:sldId id="301" r:id="rId50"/>
    <p:sldId id="302" r:id="rId51"/>
    <p:sldId id="303" r:id="rId52"/>
    <p:sldId id="310" r:id="rId53"/>
    <p:sldId id="312" r:id="rId54"/>
    <p:sldId id="304" r:id="rId55"/>
    <p:sldId id="305" r:id="rId56"/>
    <p:sldId id="306" r:id="rId57"/>
    <p:sldId id="307" r:id="rId58"/>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4" dt="2026-10-08T10:57:36.740"/>
    <p1510:client id="{258DB659-D620-424E-B5D6-8B55FCF09D2D}" v="7" dt="2026-10-08T12:19:18.636"/>
    <p1510:client id="{A293AE43-6E40-CA6A-7984-F4BE4D31A260}" v="2" dt="2026-10-08T10:49:37.10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7" d="100"/>
          <a:sy n="147" d="100"/>
        </p:scale>
        <p:origin x="69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400">
                <a:solidFill>
                  <a:srgbClr val="0B2F5B"/>
                </a:solidFill>
              </a:defRPr>
            </a:pPr>
            <a:r>
              <a:rPr lang="it-IT"/>
              <a:t>Tentativi medi al primo successo</a:t>
            </a:r>
          </a:p>
        </c:rich>
      </c:tx>
      <c:overlay val="0"/>
    </c:title>
    <c:autoTitleDeleted val="0"/>
    <c:plotArea>
      <c:layout/>
      <c:barChart>
        <c:barDir val="bar"/>
        <c:grouping val="clustered"/>
        <c:varyColors val="0"/>
        <c:ser>
          <c:idx val="0"/>
          <c:order val="0"/>
          <c:tx>
            <c:strRef>
              <c:f>Sheet1!$B$1</c:f>
              <c:strCache>
                <c:ptCount val="1"/>
                <c:pt idx="0">
                  <c:v>UC1</c:v>
                </c:pt>
              </c:strCache>
            </c:strRef>
          </c:tx>
          <c:spPr>
            <a:solidFill>
              <a:srgbClr val="125C97"/>
            </a:solidFill>
            <a:ln>
              <a:noFill/>
            </a:ln>
            <a:effectLst/>
            <a:extLst>
              <a:ext uri="{91240B29-F687-4F45-9708-019B960494DF}">
                <a14:hiddenLine xmlns:a14="http://schemas.microsoft.com/office/drawing/2010/main">
                  <a:noFill/>
                </a14:hiddenLine>
              </a:ext>
            </a:extLst>
          </c:spPr>
          <c:invertIfNegative val="0"/>
          <c:dLbls>
            <c:dLbl>
              <c:idx val="0"/>
              <c:tx>
                <c:rich>
                  <a:bodyPr/>
                  <a:lstStyle/>
                  <a:p>
                    <a:r>
                      <a:rPr lang="en-US"/>
                      <a:t>1,37</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56AD-4095-9F41-1226A58C6FA1}"/>
                </c:ext>
              </c:extLst>
            </c:dLbl>
            <c:dLbl>
              <c:idx val="1"/>
              <c:tx>
                <c:rich>
                  <a:bodyPr/>
                  <a:lstStyle/>
                  <a:p>
                    <a:r>
                      <a:rPr lang="en-US"/>
                      <a:t>1,00</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56AD-4095-9F41-1226A58C6FA1}"/>
                </c:ext>
              </c:extLst>
            </c:dLbl>
            <c:dLbl>
              <c:idx val="2"/>
              <c:tx>
                <c:rich>
                  <a:bodyPr/>
                  <a:lstStyle/>
                  <a:p>
                    <a:r>
                      <a:rPr lang="en-US"/>
                      <a:t>1,50</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56AD-4095-9F41-1226A58C6FA1}"/>
                </c:ext>
              </c:extLst>
            </c:dLbl>
            <c:numFmt formatCode="0.00" sourceLinked="0"/>
            <c:spPr>
              <a:noFill/>
              <a:ln>
                <a:noFill/>
              </a:ln>
              <a:effectLst/>
            </c:spPr>
            <c:txPr>
              <a:bodyPr wrap="square" lIns="38100" tIns="19050" rIns="38100" bIns="19050" anchor="ctr">
                <a:spAutoFit/>
              </a:bodyPr>
              <a:lstStyle/>
              <a:p>
                <a:pPr>
                  <a:defRPr sz="1200" b="1"/>
                </a:pPr>
                <a:endParaRPr lang="it-IT"/>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TOP-1</c:v>
                </c:pt>
                <c:pt idx="1">
                  <c:v>TOP-4</c:v>
                </c:pt>
                <c:pt idx="2">
                  <c:v>Metodo 2</c:v>
                </c:pt>
              </c:strCache>
            </c:strRef>
          </c:cat>
          <c:val>
            <c:numRef>
              <c:f>Sheet1!$B$2:$B$4</c:f>
              <c:numCache>
                <c:formatCode>General</c:formatCode>
                <c:ptCount val="3"/>
                <c:pt idx="0">
                  <c:v>1.37</c:v>
                </c:pt>
                <c:pt idx="1">
                  <c:v>1</c:v>
                </c:pt>
                <c:pt idx="2">
                  <c:v>1.5</c:v>
                </c:pt>
              </c:numCache>
            </c:numRef>
          </c:val>
          <c:extLst>
            <c:ext xmlns:c16="http://schemas.microsoft.com/office/drawing/2014/chart" uri="{C3380CC4-5D6E-409C-BE32-E72D297353CC}">
              <c16:uniqueId val="{00000003-56AD-4095-9F41-1226A58C6FA1}"/>
            </c:ext>
          </c:extLst>
        </c:ser>
        <c:ser>
          <c:idx val="1"/>
          <c:order val="1"/>
          <c:tx>
            <c:strRef>
              <c:f>Sheet1!$C$1</c:f>
              <c:strCache>
                <c:ptCount val="1"/>
                <c:pt idx="0">
                  <c:v>UC2</c:v>
                </c:pt>
              </c:strCache>
            </c:strRef>
          </c:tx>
          <c:spPr>
            <a:solidFill>
              <a:srgbClr val="D9822B"/>
            </a:solidFill>
            <a:ln>
              <a:noFill/>
            </a:ln>
            <a:effectLst/>
            <a:extLst>
              <a:ext uri="{91240B29-F687-4F45-9708-019B960494DF}">
                <a14:hiddenLine xmlns:a14="http://schemas.microsoft.com/office/drawing/2010/main">
                  <a:noFill/>
                </a14:hiddenLine>
              </a:ext>
            </a:extLst>
          </c:spPr>
          <c:invertIfNegative val="0"/>
          <c:dLbls>
            <c:dLbl>
              <c:idx val="0"/>
              <c:tx>
                <c:rich>
                  <a:bodyPr/>
                  <a:lstStyle/>
                  <a:p>
                    <a:r>
                      <a:rPr lang="en-US"/>
                      <a:t>1,50</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56AD-4095-9F41-1226A58C6FA1}"/>
                </c:ext>
              </c:extLst>
            </c:dLbl>
            <c:dLbl>
              <c:idx val="1"/>
              <c:tx>
                <c:rich>
                  <a:bodyPr/>
                  <a:lstStyle/>
                  <a:p>
                    <a:r>
                      <a:rPr lang="en-US"/>
                      <a:t>1,00</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56AD-4095-9F41-1226A58C6FA1}"/>
                </c:ext>
              </c:extLst>
            </c:dLbl>
            <c:dLbl>
              <c:idx val="2"/>
              <c:tx>
                <c:rich>
                  <a:bodyPr/>
                  <a:lstStyle/>
                  <a:p>
                    <a:r>
                      <a:rPr lang="en-US"/>
                      <a:t>1,37</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56AD-4095-9F41-1226A58C6FA1}"/>
                </c:ext>
              </c:extLst>
            </c:dLbl>
            <c:numFmt formatCode="#,000" sourceLinked="0"/>
            <c:spPr>
              <a:noFill/>
              <a:ln>
                <a:noFill/>
              </a:ln>
              <a:effectLst/>
            </c:spPr>
            <c:txPr>
              <a:bodyPr wrap="square" lIns="38100" tIns="19050" rIns="38100" bIns="19050" anchor="ctr">
                <a:spAutoFit/>
              </a:bodyPr>
              <a:lstStyle/>
              <a:p>
                <a:pPr>
                  <a:defRPr sz="1200" b="1"/>
                </a:pPr>
                <a:endParaRPr lang="it-IT"/>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TOP-1</c:v>
                </c:pt>
                <c:pt idx="1">
                  <c:v>TOP-4</c:v>
                </c:pt>
                <c:pt idx="2">
                  <c:v>Metodo 2</c:v>
                </c:pt>
              </c:strCache>
            </c:strRef>
          </c:cat>
          <c:val>
            <c:numRef>
              <c:f>Sheet1!$C$2:$C$4</c:f>
              <c:numCache>
                <c:formatCode>General</c:formatCode>
                <c:ptCount val="3"/>
                <c:pt idx="0">
                  <c:v>1.5</c:v>
                </c:pt>
                <c:pt idx="1">
                  <c:v>1</c:v>
                </c:pt>
                <c:pt idx="2">
                  <c:v>1.37</c:v>
                </c:pt>
              </c:numCache>
            </c:numRef>
          </c:val>
          <c:extLst>
            <c:ext xmlns:c16="http://schemas.microsoft.com/office/drawing/2014/chart" uri="{C3380CC4-5D6E-409C-BE32-E72D297353CC}">
              <c16:uniqueId val="{00000007-56AD-4095-9F41-1226A58C6FA1}"/>
            </c:ext>
          </c:extLst>
        </c:ser>
        <c:dLbls>
          <c:showLegendKey val="0"/>
          <c:showVal val="0"/>
          <c:showCatName val="0"/>
          <c:showSerName val="0"/>
          <c:showPercent val="0"/>
          <c:showBubbleSize val="0"/>
        </c:dLbls>
        <c:gapWidth val="60"/>
        <c:axId val="1089357535"/>
        <c:axId val="1076271759"/>
      </c:barChart>
      <c:catAx>
        <c:axId val="1089357535"/>
        <c:scaling>
          <c:orientation val="maxMin"/>
        </c:scaling>
        <c:delete val="0"/>
        <c:axPos val="l"/>
        <c:numFmt formatCode="General" sourceLinked="1"/>
        <c:majorTickMark val="out"/>
        <c:minorTickMark val="none"/>
        <c:tickLblPos val="nextTo"/>
        <c:txPr>
          <a:bodyPr/>
          <a:lstStyle/>
          <a:p>
            <a:pPr>
              <a:defRPr sz="1300"/>
            </a:pPr>
            <a:endParaRPr lang="it-IT"/>
          </a:p>
        </c:txPr>
        <c:crossAx val="1076271759"/>
        <c:crosses val="autoZero"/>
        <c:auto val="1"/>
        <c:lblAlgn val="ctr"/>
        <c:lblOffset val="100"/>
        <c:noMultiLvlLbl val="0"/>
      </c:catAx>
      <c:valAx>
        <c:axId val="1076271759"/>
        <c:scaling>
          <c:orientation val="minMax"/>
          <c:max val="1.7"/>
          <c:min val="0"/>
        </c:scaling>
        <c:delete val="0"/>
        <c:axPos val="t"/>
        <c:majorGridlines>
          <c:spPr>
            <a:ln w="6350">
              <a:solidFill>
                <a:srgbClr val="E3E8EE"/>
              </a:solidFill>
            </a:ln>
          </c:spPr>
        </c:majorGridlines>
        <c:numFmt formatCode="General" sourceLinked="1"/>
        <c:majorTickMark val="out"/>
        <c:minorTickMark val="none"/>
        <c:tickLblPos val="nextTo"/>
        <c:txPr>
          <a:bodyPr/>
          <a:lstStyle/>
          <a:p>
            <a:pPr>
              <a:defRPr sz="1100"/>
            </a:pPr>
            <a:endParaRPr lang="it-IT"/>
          </a:p>
        </c:txPr>
        <c:crossAx val="1089357535"/>
        <c:crosses val="autoZero"/>
        <c:crossBetween val="between"/>
        <c:majorUnit val="0.5"/>
      </c:valAx>
    </c:plotArea>
    <c:legend>
      <c:legendPos val="b"/>
      <c:overlay val="0"/>
      <c:txPr>
        <a:bodyPr/>
        <a:lstStyle/>
        <a:p>
          <a:pPr>
            <a:defRPr sz="1100"/>
          </a:pPr>
          <a:endParaRPr lang="it-IT"/>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2700">
      <a:noFill/>
      <a:prstDash val="solid"/>
    </a:ln>
    <a:effectLst/>
    <a:extLst>
      <a:ext uri="{91240B29-F687-4F45-9708-019B960494DF}">
        <a14:hiddenLine xmlns:a14="http://schemas.microsoft.com/office/drawing/2010/main" w="12700">
          <a:noFill/>
          <a:prstDash val="solid"/>
        </a14:hiddenLine>
      </a:ext>
    </a:extLst>
  </c:spPr>
  <c:txPr>
    <a:bodyPr/>
    <a:lstStyle/>
    <a:p>
      <a:pPr>
        <a:defRPr sz="1800"/>
      </a:pPr>
      <a:endParaRPr lang="it-IT"/>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200"/>
            </a:pPr>
            <a:r>
              <a:rPr lang="en-GB"/>
              <a:t>Tentativi medi (meno = meglio)</a:t>
            </a:r>
          </a:p>
        </c:rich>
      </c:tx>
      <c:overlay val="0"/>
    </c:title>
    <c:autoTitleDeleted val="0"/>
    <c:plotArea>
      <c:layout/>
      <c:barChart>
        <c:barDir val="bar"/>
        <c:grouping val="clustered"/>
        <c:varyColors val="0"/>
        <c:ser>
          <c:idx val="0"/>
          <c:order val="0"/>
          <c:tx>
            <c:strRef>
              <c:f>Sheet1!$B$1</c:f>
              <c:strCache>
                <c:ptCount val="1"/>
                <c:pt idx="0">
                  <c:v>UC1</c:v>
                </c:pt>
              </c:strCache>
            </c:strRef>
          </c:tx>
          <c:spPr>
            <a:solidFill>
              <a:srgbClr val="125C97"/>
            </a:solidFill>
          </c:spPr>
          <c:invertIfNegative val="0"/>
          <c:dLbls>
            <c:dLbl>
              <c:idx val="0"/>
              <c:tx>
                <c:rich>
                  <a:bodyPr/>
                  <a:lstStyle/>
                  <a:p>
                    <a:r>
                      <a:rPr lang="en-US"/>
                      <a:t>1,37</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56AD-4095-9F41-1226A58C6FA1}"/>
                </c:ext>
              </c:extLst>
            </c:dLbl>
            <c:dLbl>
              <c:idx val="1"/>
              <c:tx>
                <c:rich>
                  <a:bodyPr/>
                  <a:lstStyle/>
                  <a:p>
                    <a:r>
                      <a:rPr lang="en-US"/>
                      <a:t>1,00</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56AD-4095-9F41-1226A58C6FA1}"/>
                </c:ext>
              </c:extLst>
            </c:dLbl>
            <c:dLbl>
              <c:idx val="2"/>
              <c:tx>
                <c:rich>
                  <a:bodyPr/>
                  <a:lstStyle/>
                  <a:p>
                    <a:r>
                      <a:rPr lang="en-US"/>
                      <a:t>1,50</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56AD-4095-9F41-1226A58C6FA1}"/>
                </c:ext>
              </c:extLst>
            </c:dLbl>
            <c:numFmt formatCode="0.00" sourceLinked="0"/>
            <c:spPr>
              <a:noFill/>
              <a:ln>
                <a:noFill/>
              </a:ln>
              <a:effectLst/>
            </c:spPr>
            <c:txPr>
              <a:bodyPr wrap="square" lIns="38100" tIns="19050" rIns="38100" bIns="19050" anchor="ctr">
                <a:spAutoFit/>
              </a:bodyPr>
              <a:lstStyle/>
              <a:p>
                <a:pPr>
                  <a:defRPr sz="1000"/>
                </a:pPr>
                <a:endParaRPr lang="it-IT"/>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TOP-1</c:v>
                </c:pt>
                <c:pt idx="1">
                  <c:v>TOP-4</c:v>
                </c:pt>
                <c:pt idx="2">
                  <c:v>Metodo 2</c:v>
                </c:pt>
              </c:strCache>
            </c:strRef>
          </c:cat>
          <c:val>
            <c:numRef>
              <c:f>Sheet1!$B$2:$B$4</c:f>
              <c:numCache>
                <c:formatCode>General</c:formatCode>
                <c:ptCount val="3"/>
                <c:pt idx="0">
                  <c:v>1.37</c:v>
                </c:pt>
                <c:pt idx="1">
                  <c:v>1</c:v>
                </c:pt>
                <c:pt idx="2">
                  <c:v>1.5</c:v>
                </c:pt>
              </c:numCache>
            </c:numRef>
          </c:val>
          <c:extLst>
            <c:ext xmlns:c16="http://schemas.microsoft.com/office/drawing/2014/chart" uri="{C3380CC4-5D6E-409C-BE32-E72D297353CC}">
              <c16:uniqueId val="{00000003-56AD-4095-9F41-1226A58C6FA1}"/>
            </c:ext>
          </c:extLst>
        </c:ser>
        <c:ser>
          <c:idx val="1"/>
          <c:order val="1"/>
          <c:tx>
            <c:strRef>
              <c:f>Sheet1!$C$1</c:f>
              <c:strCache>
                <c:ptCount val="1"/>
                <c:pt idx="0">
                  <c:v>UC2</c:v>
                </c:pt>
              </c:strCache>
            </c:strRef>
          </c:tx>
          <c:spPr>
            <a:solidFill>
              <a:srgbClr val="D9822B"/>
            </a:solidFill>
          </c:spPr>
          <c:invertIfNegative val="0"/>
          <c:dLbls>
            <c:dLbl>
              <c:idx val="0"/>
              <c:tx>
                <c:rich>
                  <a:bodyPr/>
                  <a:lstStyle/>
                  <a:p>
                    <a:r>
                      <a:rPr lang="en-US"/>
                      <a:t>1,50</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56AD-4095-9F41-1226A58C6FA1}"/>
                </c:ext>
              </c:extLst>
            </c:dLbl>
            <c:dLbl>
              <c:idx val="1"/>
              <c:tx>
                <c:rich>
                  <a:bodyPr/>
                  <a:lstStyle/>
                  <a:p>
                    <a:r>
                      <a:rPr lang="en-US"/>
                      <a:t>1,00</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56AD-4095-9F41-1226A58C6FA1}"/>
                </c:ext>
              </c:extLst>
            </c:dLbl>
            <c:dLbl>
              <c:idx val="2"/>
              <c:tx>
                <c:rich>
                  <a:bodyPr/>
                  <a:lstStyle/>
                  <a:p>
                    <a:r>
                      <a:rPr lang="en-US"/>
                      <a:t>1,37</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56AD-4095-9F41-1226A58C6FA1}"/>
                </c:ext>
              </c:extLst>
            </c:dLbl>
            <c:numFmt formatCode="#,000" sourceLinked="0"/>
            <c:spPr>
              <a:noFill/>
              <a:ln>
                <a:noFill/>
              </a:ln>
              <a:effectLst/>
            </c:spPr>
            <c:txPr>
              <a:bodyPr wrap="square" lIns="38100" tIns="19050" rIns="38100" bIns="19050" anchor="ctr">
                <a:spAutoFit/>
              </a:bodyPr>
              <a:lstStyle/>
              <a:p>
                <a:pPr>
                  <a:defRPr sz="1000"/>
                </a:pPr>
                <a:endParaRPr lang="it-IT"/>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TOP-1</c:v>
                </c:pt>
                <c:pt idx="1">
                  <c:v>TOP-4</c:v>
                </c:pt>
                <c:pt idx="2">
                  <c:v>Metodo 2</c:v>
                </c:pt>
              </c:strCache>
            </c:strRef>
          </c:cat>
          <c:val>
            <c:numRef>
              <c:f>Sheet1!$C$2:$C$4</c:f>
              <c:numCache>
                <c:formatCode>General</c:formatCode>
                <c:ptCount val="3"/>
                <c:pt idx="0">
                  <c:v>1.5</c:v>
                </c:pt>
                <c:pt idx="1">
                  <c:v>1</c:v>
                </c:pt>
                <c:pt idx="2">
                  <c:v>1.37</c:v>
                </c:pt>
              </c:numCache>
            </c:numRef>
          </c:val>
          <c:extLst>
            <c:ext xmlns:c16="http://schemas.microsoft.com/office/drawing/2014/chart" uri="{C3380CC4-5D6E-409C-BE32-E72D297353CC}">
              <c16:uniqueId val="{00000007-56AD-4095-9F41-1226A58C6FA1}"/>
            </c:ext>
          </c:extLst>
        </c:ser>
        <c:dLbls>
          <c:showLegendKey val="0"/>
          <c:showVal val="0"/>
          <c:showCatName val="0"/>
          <c:showSerName val="0"/>
          <c:showPercent val="0"/>
          <c:showBubbleSize val="0"/>
        </c:dLbls>
        <c:gapWidth val="150"/>
        <c:axId val="1089357535"/>
        <c:axId val="1076271759"/>
      </c:barChart>
      <c:catAx>
        <c:axId val="1089357535"/>
        <c:scaling>
          <c:orientation val="maxMin"/>
        </c:scaling>
        <c:delete val="0"/>
        <c:axPos val="l"/>
        <c:numFmt formatCode="General" sourceLinked="1"/>
        <c:majorTickMark val="out"/>
        <c:minorTickMark val="none"/>
        <c:tickLblPos val="nextTo"/>
        <c:txPr>
          <a:bodyPr/>
          <a:lstStyle/>
          <a:p>
            <a:pPr>
              <a:defRPr sz="1100"/>
            </a:pPr>
            <a:endParaRPr lang="it-IT"/>
          </a:p>
        </c:txPr>
        <c:crossAx val="1076271759"/>
        <c:crosses val="autoZero"/>
        <c:auto val="1"/>
        <c:lblAlgn val="ctr"/>
        <c:lblOffset val="100"/>
        <c:noMultiLvlLbl val="0"/>
      </c:catAx>
      <c:valAx>
        <c:axId val="1076271759"/>
        <c:scaling>
          <c:orientation val="minMax"/>
          <c:max val="1.8"/>
          <c:min val="0"/>
        </c:scaling>
        <c:delete val="0"/>
        <c:axPos val="t"/>
        <c:majorGridlines/>
        <c:numFmt formatCode="General" sourceLinked="1"/>
        <c:majorTickMark val="out"/>
        <c:minorTickMark val="none"/>
        <c:tickLblPos val="nextTo"/>
        <c:txPr>
          <a:bodyPr/>
          <a:lstStyle/>
          <a:p>
            <a:pPr>
              <a:defRPr sz="1000"/>
            </a:pPr>
            <a:endParaRPr lang="it-IT"/>
          </a:p>
        </c:txPr>
        <c:crossAx val="1089357535"/>
        <c:crosses val="autoZero"/>
        <c:crossBetween val="between"/>
        <c:majorUnit val="0.5"/>
      </c:valAx>
    </c:plotArea>
    <c:legend>
      <c:legendPos val="b"/>
      <c:overlay val="0"/>
      <c:txPr>
        <a:bodyPr/>
        <a:lstStyle/>
        <a:p>
          <a:pPr>
            <a:defRPr sz="1000"/>
          </a:pPr>
          <a:endParaRPr lang="it-IT"/>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2700">
      <a:noFill/>
      <a:prstDash val="solid"/>
    </a:ln>
    <a:effectLst/>
    <a:extLst>
      <a:ext uri="{91240B29-F687-4F45-9708-019B960494DF}">
        <a14:hiddenLine xmlns:a14="http://schemas.microsoft.com/office/drawing/2010/main" w="12700">
          <a:noFill/>
          <a:prstDash val="solid"/>
        </a14:hiddenLine>
      </a:ext>
    </a:extLst>
  </c:spPr>
  <c:txPr>
    <a:bodyPr/>
    <a:lstStyle/>
    <a:p>
      <a:pPr>
        <a:defRPr sz="1800"/>
      </a:pPr>
      <a:endParaRPr lang="it-IT"/>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UC1</c:v>
                </c:pt>
              </c:strCache>
            </c:strRef>
          </c:tx>
          <c:spPr>
            <a:solidFill>
              <a:srgbClr val="125C97"/>
            </a:solidFill>
          </c:spPr>
          <c:invertIfNegative val="0"/>
          <c:dLbls>
            <c:dLbl>
              <c:idx val="0"/>
              <c:tx>
                <c:rich>
                  <a:bodyPr/>
                  <a:lstStyle/>
                  <a:p>
                    <a:r>
                      <a:rPr lang="en-US"/>
                      <a:t>1,37</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56AD-4095-9F41-1226A58C6FA1}"/>
                </c:ext>
              </c:extLst>
            </c:dLbl>
            <c:dLbl>
              <c:idx val="1"/>
              <c:tx>
                <c:rich>
                  <a:bodyPr/>
                  <a:lstStyle/>
                  <a:p>
                    <a:r>
                      <a:rPr lang="en-US"/>
                      <a:t>1,00</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56AD-4095-9F41-1226A58C6FA1}"/>
                </c:ext>
              </c:extLst>
            </c:dLbl>
            <c:dLbl>
              <c:idx val="2"/>
              <c:tx>
                <c:rich>
                  <a:bodyPr/>
                  <a:lstStyle/>
                  <a:p>
                    <a:r>
                      <a:rPr lang="en-US"/>
                      <a:t>1,50</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56AD-4095-9F41-1226A58C6FA1}"/>
                </c:ext>
              </c:extLst>
            </c:dLbl>
            <c:numFmt formatCode="0.00" sourceLinked="0"/>
            <c:spPr>
              <a:noFill/>
              <a:ln>
                <a:noFill/>
              </a:ln>
              <a:effectLst/>
            </c:spPr>
            <c:txPr>
              <a:bodyPr wrap="square" lIns="38100" tIns="19050" rIns="38100" bIns="19050" anchor="ctr">
                <a:spAutoFit/>
              </a:bodyPr>
              <a:lstStyle/>
              <a:p>
                <a:pPr>
                  <a:defRPr sz="1200"/>
                </a:pPr>
                <a:endParaRPr lang="it-IT"/>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TOP-1</c:v>
                </c:pt>
                <c:pt idx="1">
                  <c:v>TOP-4</c:v>
                </c:pt>
                <c:pt idx="2">
                  <c:v>Metodo 2</c:v>
                </c:pt>
              </c:strCache>
            </c:strRef>
          </c:cat>
          <c:val>
            <c:numRef>
              <c:f>Sheet1!$B$2:$B$4</c:f>
              <c:numCache>
                <c:formatCode>General</c:formatCode>
                <c:ptCount val="3"/>
                <c:pt idx="0">
                  <c:v>1.37</c:v>
                </c:pt>
                <c:pt idx="1">
                  <c:v>1</c:v>
                </c:pt>
                <c:pt idx="2">
                  <c:v>1.5</c:v>
                </c:pt>
              </c:numCache>
            </c:numRef>
          </c:val>
          <c:extLst>
            <c:ext xmlns:c16="http://schemas.microsoft.com/office/drawing/2014/chart" uri="{C3380CC4-5D6E-409C-BE32-E72D297353CC}">
              <c16:uniqueId val="{00000003-56AD-4095-9F41-1226A58C6FA1}"/>
            </c:ext>
          </c:extLst>
        </c:ser>
        <c:ser>
          <c:idx val="1"/>
          <c:order val="1"/>
          <c:tx>
            <c:strRef>
              <c:f>Sheet1!$C$1</c:f>
              <c:strCache>
                <c:ptCount val="1"/>
                <c:pt idx="0">
                  <c:v>UC2</c:v>
                </c:pt>
              </c:strCache>
            </c:strRef>
          </c:tx>
          <c:spPr>
            <a:solidFill>
              <a:srgbClr val="D9822B"/>
            </a:solidFill>
          </c:spPr>
          <c:invertIfNegative val="0"/>
          <c:dLbls>
            <c:dLbl>
              <c:idx val="0"/>
              <c:tx>
                <c:rich>
                  <a:bodyPr/>
                  <a:lstStyle/>
                  <a:p>
                    <a:r>
                      <a:rPr lang="en-US"/>
                      <a:t>1,50</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56AD-4095-9F41-1226A58C6FA1}"/>
                </c:ext>
              </c:extLst>
            </c:dLbl>
            <c:dLbl>
              <c:idx val="1"/>
              <c:tx>
                <c:rich>
                  <a:bodyPr/>
                  <a:lstStyle/>
                  <a:p>
                    <a:r>
                      <a:rPr lang="en-US"/>
                      <a:t>1,00</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56AD-4095-9F41-1226A58C6FA1}"/>
                </c:ext>
              </c:extLst>
            </c:dLbl>
            <c:dLbl>
              <c:idx val="2"/>
              <c:tx>
                <c:rich>
                  <a:bodyPr/>
                  <a:lstStyle/>
                  <a:p>
                    <a:r>
                      <a:rPr lang="en-US"/>
                      <a:t>1,37</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56AD-4095-9F41-1226A58C6FA1}"/>
                </c:ext>
              </c:extLst>
            </c:dLbl>
            <c:numFmt formatCode="#,000" sourceLinked="0"/>
            <c:spPr>
              <a:noFill/>
              <a:ln>
                <a:noFill/>
              </a:ln>
              <a:effectLst/>
            </c:spPr>
            <c:txPr>
              <a:bodyPr wrap="square" lIns="38100" tIns="19050" rIns="38100" bIns="19050" anchor="ctr">
                <a:spAutoFit/>
              </a:bodyPr>
              <a:lstStyle/>
              <a:p>
                <a:pPr>
                  <a:defRPr sz="1200"/>
                </a:pPr>
                <a:endParaRPr lang="it-IT"/>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TOP-1</c:v>
                </c:pt>
                <c:pt idx="1">
                  <c:v>TOP-4</c:v>
                </c:pt>
                <c:pt idx="2">
                  <c:v>Metodo 2</c:v>
                </c:pt>
              </c:strCache>
            </c:strRef>
          </c:cat>
          <c:val>
            <c:numRef>
              <c:f>Sheet1!$C$2:$C$4</c:f>
              <c:numCache>
                <c:formatCode>General</c:formatCode>
                <c:ptCount val="3"/>
                <c:pt idx="0">
                  <c:v>1.5</c:v>
                </c:pt>
                <c:pt idx="1">
                  <c:v>1</c:v>
                </c:pt>
                <c:pt idx="2">
                  <c:v>1.37</c:v>
                </c:pt>
              </c:numCache>
            </c:numRef>
          </c:val>
          <c:extLst>
            <c:ext xmlns:c16="http://schemas.microsoft.com/office/drawing/2014/chart" uri="{C3380CC4-5D6E-409C-BE32-E72D297353CC}">
              <c16:uniqueId val="{00000007-56AD-4095-9F41-1226A58C6FA1}"/>
            </c:ext>
          </c:extLst>
        </c:ser>
        <c:dLbls>
          <c:showLegendKey val="0"/>
          <c:showVal val="0"/>
          <c:showCatName val="0"/>
          <c:showSerName val="0"/>
          <c:showPercent val="0"/>
          <c:showBubbleSize val="0"/>
        </c:dLbls>
        <c:gapWidth val="150"/>
        <c:axId val="1089357535"/>
        <c:axId val="1076271759"/>
      </c:barChart>
      <c:catAx>
        <c:axId val="1089357535"/>
        <c:scaling>
          <c:orientation val="maxMin"/>
        </c:scaling>
        <c:delete val="0"/>
        <c:axPos val="l"/>
        <c:numFmt formatCode="General" sourceLinked="1"/>
        <c:majorTickMark val="out"/>
        <c:minorTickMark val="none"/>
        <c:tickLblPos val="nextTo"/>
        <c:txPr>
          <a:bodyPr/>
          <a:lstStyle/>
          <a:p>
            <a:pPr>
              <a:defRPr sz="1100"/>
            </a:pPr>
            <a:endParaRPr lang="it-IT"/>
          </a:p>
        </c:txPr>
        <c:crossAx val="1076271759"/>
        <c:crosses val="autoZero"/>
        <c:auto val="1"/>
        <c:lblAlgn val="ctr"/>
        <c:lblOffset val="100"/>
        <c:noMultiLvlLbl val="0"/>
      </c:catAx>
      <c:valAx>
        <c:axId val="1076271759"/>
        <c:scaling>
          <c:orientation val="minMax"/>
          <c:max val="1.8"/>
          <c:min val="0"/>
        </c:scaling>
        <c:delete val="0"/>
        <c:axPos val="t"/>
        <c:majorGridlines/>
        <c:numFmt formatCode="General" sourceLinked="1"/>
        <c:majorTickMark val="out"/>
        <c:minorTickMark val="none"/>
        <c:tickLblPos val="nextTo"/>
        <c:txPr>
          <a:bodyPr/>
          <a:lstStyle/>
          <a:p>
            <a:pPr>
              <a:defRPr sz="1000"/>
            </a:pPr>
            <a:endParaRPr lang="it-IT"/>
          </a:p>
        </c:txPr>
        <c:crossAx val="1089357535"/>
        <c:crosses val="autoZero"/>
        <c:crossBetween val="between"/>
        <c:majorUnit val="0.5"/>
      </c:valAx>
    </c:plotArea>
    <c:legend>
      <c:legendPos val="b"/>
      <c:overlay val="0"/>
      <c:txPr>
        <a:bodyPr/>
        <a:lstStyle/>
        <a:p>
          <a:pPr>
            <a:defRPr sz="1000"/>
          </a:pPr>
          <a:endParaRPr lang="it-IT"/>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2700">
      <a:noFill/>
      <a:prstDash val="solid"/>
    </a:ln>
    <a:effectLst/>
    <a:extLst>
      <a:ext uri="{91240B29-F687-4F45-9708-019B960494DF}">
        <a14:hiddenLine xmlns:a14="http://schemas.microsoft.com/office/drawing/2010/main" w="12700">
          <a:noFill/>
          <a:prstDash val="solid"/>
        </a14:hiddenLine>
      </a:ext>
    </a:extLst>
  </c:spPr>
  <c:txPr>
    <a:bodyPr/>
    <a:lstStyle/>
    <a:p>
      <a:pPr>
        <a:defRPr sz="1800"/>
      </a:pPr>
      <a:endParaRPr lang="it-IT"/>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Buongiorno a tutti. Ringrazio la commissione per la parola. Sono Claudio Dragotta e vi presento la mia tesi, che ho svolto con il professor Soda e l'ingegner Caprio.</a:t>
            </a:r>
          </a:p>
          <a:p>
            <a:endParaRPr/>
          </a:p>
          <a:p>
            <a:r>
              <a:t>▶ CAMBIA SLIDE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134920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Il punto di partenza è la fattorizzazione: scomporre un intero nei suoi fattori primi. Per numeri grandi è computazionalmente difficile con i metodi classici. L'algoritmo di Shor risolve il problema in tempo polinomiale nel modello quantistico ideale. Ma il rumore altera i qubit e riduce la probabilità di successo. Il mio obiettivo è valutare tre strategie: usare meglio i risultati dopo la misura, proteggere i qubit durante il calcolo e ridurre le operazioni con la QFT approssimata. Gli esperimenti sono in simulazione, su piccole istanze.</a:t>
            </a:r>
            <a:endParaRPr lang="en-GB"/>
          </a:p>
        </p:txBody>
      </p:sp>
      <p:sp>
        <p:nvSpPr>
          <p:cNvPr id="4" name="Slide Number Placeholder 3"/>
          <p:cNvSpPr>
            <a:spLocks noGrp="1"/>
          </p:cNvSpPr>
          <p:nvPr>
            <p:ph type="sldNum" sz="quarter" idx="5"/>
          </p:nvPr>
        </p:nvSpPr>
        <p:spPr/>
        <p:txBody>
          <a:bodyPr/>
          <a:lstStyle/>
          <a:p>
            <a:endParaRPr lang="it-IT"/>
          </a:p>
        </p:txBody>
      </p:sp>
    </p:spTree>
    <p:extLst>
      <p:ext uri="{BB962C8B-B14F-4D97-AF65-F5344CB8AC3E}">
        <p14:creationId xmlns:p14="http://schemas.microsoft.com/office/powerpoint/2010/main" val="4838079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Come funziona Shor? Prendiamo il mio caso: fattorizzare 15. Scelgo un numero di partenza, il 7, e calcolo le sue potenze, guardando solo il resto della divisione per 15. Esce 1, 7, 4, 13, e poi di nuovo 1, 7, 4, 13: la sequenza si ripete ogni quattro passi, come un ritmo. Quel 4 si chiama periodo, ed è tutto ciò che serve: da lì un semplice calcolo restituisce i fattori, 15 uguale 3 per 5.</a:t>
            </a:r>
          </a:p>
          <a:p>
            <a:r>
              <a:t>Per numeri enormi questo ritmo è nascosto, e un computer classico non riesce a trovarlo. Il computer quantistico ci riesce perché esplora tutte le potenze insieme e fa emergere il ritmo grazie all'interferenza, come onde che si rinforzano. Nel mio caso il circuito usa 12 qubit.</a:t>
            </a:r>
          </a:p>
          <a:p>
            <a:r>
              <a:t>Il grafico a destra mostra cosa succede quando la macchina sbaglia. Ho simulato il rumore così: dopo ogni operazione, con una piccola probabilità, il qubit subisce un errore casuale, si capovolge oppure perde il suo segno. In alto c'è il 75% ideale; in basso, tratteggiato, circa il 25%, cioè il risultato che otterrei tirando a caso.</a:t>
            </a:r>
          </a:p>
          <a:p>
            <a:r>
              <a:t>Senza errori ottengo il 74,89%, esattamente come previsto. Ma basta un errore dell'1% per operazione, che sembra pochissimo, per scendere al 56%: il circuito contiene centinaia di operazioni e gli errori si sommano. Oltre il 10% Shor fa come chi tira a indovinare.</a:t>
            </a:r>
          </a:p>
          <a:p>
            <a:endParaRPr/>
          </a:p>
          <a:p>
            <a:r>
              <a:t>▶ CAMBIA SLIDE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3550281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Prima di descrivere le strategie, chiarisco come le ho valutate. Ho implementato e validato i circuiti di Shor e condotto confronti in presenza di errori simulati, usando baseline esplicite. Nel post-processing confronto TOP-1, TOP-4 e filtro ML a partire dallo stesso istogramma e considero i tentativi al primo successo. Per la QEC studio separatamente codici e decoder, valutando errori logici e risorse: non eseguo Shor protetto dagli errori. Per la QFT approssimata confronto la QFT piena con versioni troncate, mantenendo distinta la selezione dalla verifica e misurando successo e costo del circuito. Registro parametri, versioni e seed per rendere le prove riproducibili. I modelli e le metriche sono specifici di ciascun confronto.</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7286555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Per spiegare le tre strategie uso un'immagine. Pensate a una lettera che arriva rovinata dal viaggio. Avete tre possibilità: provare a interpretarla meglio dopo che è arrivata, proteggerla durante il viaggio, oppure scriverla più corta, così c'è meno da rovinare.</a:t>
            </a:r>
          </a:p>
          <a:p>
            <a:r>
              <a:t>In giallo vedete i passi di Shor, in viola dove sono intervenuto. La prima lavora dopo la misura: provo a leggere meglio i risultati, anche con il machine learning. La seconda è la correzione degli errori, che protegge i qubit durante il calcolo; l'ho studiata in esperimenti dedicati, separati dal circuito di Shor. La terza è la QFT approssimata, che toglie operazioni al circuito.</a:t>
            </a:r>
          </a:p>
          <a:p>
            <a:r>
              <a:t>Per ognuna vi mostro prima come funziona e subito dopo che cosa ho trovato.</a:t>
            </a:r>
          </a:p>
          <a:p>
            <a:endParaRPr/>
          </a:p>
          <a:p>
            <a:r>
              <a:t>▶ CAMBIA SLIDE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9840535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Prima strategia: leggere meglio i risultati. Un computer quantistico non dà una risposta sola. Eseguo il circuito 1024 volte e ottengo una classifica delle risposte, dalla più frequente alla meno frequente.</a:t>
            </a:r>
          </a:p>
          <a:p>
            <a:r>
              <a:t>Ho confrontato tre modi. TOP-1 controlla solo la risposta più frequente. TOP-4 controlla, una alla volta, le prime quattro, finché trova i fattori. Il terzo, che nella tesi chiamo Metodo 2, aggiunge l'intelligenza artificiale: un classificatore decide se la classifica è affidabile, e solo allora si provano le prime quattro.</a:t>
            </a:r>
          </a:p>
          <a:p>
            <a:r>
              <a:t>La domanda onesta è: se il Metodo 2 funziona, il merito è dell'intelligenza artificiale o dei tentativi in più? Per scoprirlo lo confronto con TOP-4, che fa gli stessi tentativi.</a:t>
            </a:r>
          </a:p>
          <a:p>
            <a:endParaRPr/>
          </a:p>
          <a:p>
            <a:r>
              <a:t>▶ CAMBIA SLIDE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2130783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Un qubit logico è informazione codificata collettivamente in più qubit fisici: non si tratta di copiare uno stato quantistico sconosciuto. Le misure di controllo, spesso attraverso qubit ausiliari detti ancilla, producono la sindrome: indizi sugli errori che non rivelano lo stato logico. Il decoder è un algoritmo classico che usa questi indizi per scegliere una correzione, che può anche essere registrata senza applicare immediatamente una porta. Codifica, misure e decodifica costituiscono un ciclo ripetuto. Questa è una spiegazione teorica della QEC; la tesi non esegue Shor protetto dagli errori.</a:t>
            </a:r>
          </a:p>
          <a:p>
            <a:r>
              <a:rPr lang="it-IT"/>
              <a:t>Fonte: https://www.ibm.com/quantum/blog/what-is-ftqc</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6898991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Il surface code usa controlli locali e una geometria a reticolo; aumentando la distanza si aumenta la protezione, con un costo in qubit. Il Gross code è un codice della famiglia qLDPC proposto da IBM: il risparmio in qubit va considerato insieme alla connettività e ai controlli necessari. I 144 qubit citati negli esperimenti della tesi sono qubit di dato; un'implementazione completa richiede anche qubit per i controlli, quindi il numero non indica l'hardware totale. Il decoder resta un algoritmo classico, e l'eventuale ML può essere un componente della decodifica. I confronti sperimentali della tesi sono approfondimenti separati dall'esecuzione di Shor e non dimostrano un'esecuzione fault tolerant dell'algoritmo.</a:t>
            </a:r>
          </a:p>
          <a:p>
            <a:r>
              <a:rPr lang="it-IT"/>
              <a:t>Fonti: https://www.ibm.com/quantum/blog/large-scale-ftqc ; https://learning.quantum.ibm.com/course/foundations-of-quantum-error-correction/quantum-code-constructions</a:t>
            </a:r>
          </a:p>
          <a:p>
            <a:r>
              <a:rPr lang="it-IT"/>
              <a:t>Il machine learning può affiancare la decodifica classica. La distanza del codice contribuisce alla protezione, ma l'effetto dipende dal regime di errore: sotto soglia, aumentarla può ridurre l'errore logico.</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1028412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67207-24D4-52D2-C768-F9CB9008CC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7B634C-0F66-2367-230D-FA5C751A40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8C6D09-F1D5-C274-06DF-B8F61409669C}"/>
              </a:ext>
            </a:extLst>
          </p:cNvPr>
          <p:cNvSpPr>
            <a:spLocks noGrp="1"/>
          </p:cNvSpPr>
          <p:nvPr>
            <p:ph type="body" idx="1"/>
          </p:nvPr>
        </p:nvSpPr>
        <p:spPr/>
        <p:txBody>
          <a:bodyPr/>
          <a:lstStyle/>
          <a:p>
            <a:r>
              <a:rPr lang="it-IT"/>
              <a:t>Il primo risultato è la soglia. Ogni colore è un codice con più qubit di protezione. Nella zona verde le curve dei codici più grandi stanno più in basso: aggiungere qubit riduce gli errori. Nella zona rossa succede il contrario: più qubit, più errori.</a:t>
            </a:r>
          </a:p>
          <a:p>
            <a:r>
              <a:rPr lang="it-IT"/>
              <a:t>È come una squadra: aggiungere persone aiuta solo se ognuno sa già fare bene il proprio lavoro. Il punto in cui le curve si incrociano è la soglia, che ho stimato tra lo 0,8 e lo 0,9% di errore per operazione.</a:t>
            </a:r>
          </a:p>
          <a:p>
            <a:r>
              <a:rPr lang="it-IT"/>
              <a:t>E per Shor cosa significa? Torniamo al grafico di prima. Se la correzione riduce l'errore che resta a 0,2% per operazione, Shor si mantiene intorno al 70%; a 0,5%, al 64%; senza correzione, all'1%, scende al 56%. La correzione aiuta, ma non riporta Shor al 75%. È una stima: ho simulato Shor con un errore residuo, non l'intero circuito protetto.</a:t>
            </a:r>
          </a:p>
          <a:p>
            <a:r>
              <a:rPr lang="it-IT"/>
              <a:t>Il valore 0,86% è la soglia per gli errori di tipo Z; per quelli di tipo X è 0,81%. Il grafico usa il decoder MWPM, distanze da 3 a 9, il circuito completo con le ancilla e rumore su porte e misure, con 200 000 esecuzioni per punto.</a:t>
            </a:r>
          </a:p>
          <a:p>
            <a:r>
              <a:rPr lang="it-IT"/>
              <a:t>Il valore 0,86% è la soglia per gli errori di tipo Z; per quelli di tipo X è 0,81%. Il grafico usa il decoder MWPM, distanze da 3 a 9, il circuito completo con le ancilla e rumore su porte e misure, con 200 000 esecuzioni per punto.</a:t>
            </a:r>
          </a:p>
          <a:p>
            <a:r>
              <a:rPr lang="it-IT"/>
              <a:t>Qui l'intelligenza artificiale trova finalmente un ruolo. Nella realtà i qubit vicini si disturbano a vicenda, come conversazioni in una stanza affollata: si chiama crosstalk. Il decoder classico non tiene conto di questi errori collegati.</a:t>
            </a:r>
          </a:p>
          <a:p>
            <a:r>
              <a:rPr lang="it-IT"/>
              <a:t>Una rete neurale da sola non batte il decoder classico. Ma usata come assistente che ne corregge le decisioni, il decoder ibrido, la linea arancione continua, funziona. Nel punto cerchiato gli errori scendono del 16,8%.</a:t>
            </a:r>
          </a:p>
          <a:p>
            <a:r>
              <a:rPr lang="it-IT"/>
              <a:t>Sui codici più grandi, le linee tratteggiate, il vantaggio quasi sparisce, e un decoder classico più potente, BP+OSD, le linee grigie, fa ancora meglio. L'intelligenza artificiale aiuta da assistente, non da sostituto.</a:t>
            </a:r>
          </a:p>
          <a:p>
            <a:r>
              <a:rPr lang="it-IT"/>
              <a:t>Il punto cerchiato è a distanza 3, con errore fisico dello 0,3% e crosstalk 0,01: l'errore logico passa da 0,05829 a 0,04851, e il test appaiato di McNemar conferma che il beneficio è significativo.</a:t>
            </a:r>
          </a:p>
          <a:p>
            <a:r>
              <a:rPr lang="it-IT"/>
              <a:t>Il punto cerchiato è a distanza 3, con errore fisico dello 0,3% e crosstalk 0,01: l'errore logico passa da 0,05829 a 0,04851, e il test appaiato di McNemar conferma che il beneficio è significativo.</a:t>
            </a:r>
          </a:p>
          <a:p>
            <a:r>
              <a:rPr lang="it-IT"/>
              <a:t>Infine il confronto tra i due codici. Per proteggere gli stessi 12 qubit, il Gross code, la barra arancione, usa 144 qubit; il surface code ne richiede da 1452 a 2028. Da 10 a 14 volte di meno.</a:t>
            </a:r>
          </a:p>
          <a:p>
            <a:r>
              <a:rPr lang="it-IT"/>
              <a:t>Un dettaglio importante: per un confronto alla pari, qui anche il surface code è simulato nello stesso modello semplificato, senza ancilla. Per questo questi numeri non vanno confrontati con la soglia di prima, che usa il circuito completo.</a:t>
            </a:r>
          </a:p>
          <a:p>
            <a:r>
              <a:rPr lang="it-IT"/>
              <a:t>E non protegge peggio: in questo modello, all'1% di errore sbaglia circa una volta su un milione, meglio delle soluzioni con il surface code. Anche qui il decoder conta: con la versione giusta gli errori calano di circa cento volte.</a:t>
            </a:r>
          </a:p>
          <a:p>
            <a:r>
              <a:rPr lang="it-IT"/>
              <a:t>I valori di errore logico sono all'1% di errore fisico. Contro le patch a distanza 11 il Gross code vince a ogni livello di errore studiato; contro quelle a distanza 13 vince dallo 0,75% in su, allo 0,5% sono pari e più in basso vince il surface code. Il decoder BP+OSD in versione seriale fallisce circa cento volte meno di quello parallelo.</a:t>
            </a:r>
          </a:p>
          <a:p>
            <a:r>
              <a:rPr lang="it-IT"/>
              <a:t>Contro le patch a distanza 11 il Gross code vince a ogni livello di errore studiato; contro quelle a distanza 13 vince dallo 0,75% in su, allo 0,5% sono pari e più in basso vince il surface code. Il decoder BP+OSD in versione seriale fallisce circa cento volte meno di quello parallelo.</a:t>
            </a:r>
          </a:p>
          <a:p>
            <a:r>
              <a:rPr lang="it-IT"/>
              <a:t>▶ CAMBIA SLIDE</a:t>
            </a:r>
          </a:p>
          <a:p>
            <a:r>
              <a:rPr lang="it-IT"/>
              <a:t>Il conteggio confronta un blocco Gross code da 12 qubit logici con 12 patch surface indipendenti. I qubit di dato sono 144 per Gross, 12 per 11 al quadrato uguale 1452 e 12 per 13 al quadrato uguale 2028 per surface. Il modello usa errori sui qubit di dato, senza ancilla e con sindromi perfette. Questi numeri non rappresentano il costo hardware totale né un'esecuzione di Shor protetta dalla QEC.</a:t>
            </a:r>
            <a:endParaRPr/>
          </a:p>
        </p:txBody>
      </p:sp>
      <p:sp>
        <p:nvSpPr>
          <p:cNvPr id="4" name="Slide Number Placeholder 3">
            <a:extLst>
              <a:ext uri="{FF2B5EF4-FFF2-40B4-BE49-F238E27FC236}">
                <a16:creationId xmlns:a16="http://schemas.microsoft.com/office/drawing/2014/main" id="{063AF058-A823-2087-E3EA-59C2FA78C21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714199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A8E46-B4B2-32AA-BA4E-C8FC617C47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B8AC7A-E052-C0DA-D47A-E4D07780AA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281FB4-8439-2EFF-3E4B-46C108DA76E9}"/>
              </a:ext>
            </a:extLst>
          </p:cNvPr>
          <p:cNvSpPr>
            <a:spLocks noGrp="1"/>
          </p:cNvSpPr>
          <p:nvPr>
            <p:ph type="body" idx="1"/>
          </p:nvPr>
        </p:nvSpPr>
        <p:spPr/>
        <p:txBody>
          <a:bodyPr/>
          <a:lstStyle/>
          <a:p>
            <a:r>
              <a:rPr lang="it-IT"/>
              <a:t>Il surface code usa controlli locali e una geometria a reticolo; aumentando la distanza si aumenta la protezione, con un costo in qubit. Il Gross code è un codice della famiglia qLDPC proposto da IBM: il risparmio in qubit va considerato insieme alla connettività e ai controlli necessari. I 144 qubit citati negli esperimenti della tesi sono qubit di dato; un'implementazione completa richiede anche qubit per i controlli, quindi il numero non indica l'hardware totale. Il decoder resta un algoritmo classico, e l'eventuale ML può essere un componente della decodifica. I confronti sperimentali della tesi sono approfondimenti separati dall'esecuzione di Shor e non dimostrano un'esecuzione fault tolerant dell'algoritmo.</a:t>
            </a:r>
          </a:p>
          <a:p>
            <a:r>
              <a:rPr lang="it-IT"/>
              <a:t>Fonti: https://www.ibm.com/quantum/blog/large-scale-ftqc ; https://learning.quantum.ibm.com/course/foundations-of-quantum-error-correction/quantum-code-constructions</a:t>
            </a:r>
          </a:p>
          <a:p>
            <a:r>
              <a:rPr lang="it-IT"/>
              <a:t>Il machine learning può affiancare la decodifica classica. La distanza del codice contribuisce alla protezione, ma l'effetto dipende dal regime di errore: sotto soglia, aumentarla può ridurre l'errore logico.</a:t>
            </a:r>
            <a:endParaRPr/>
          </a:p>
        </p:txBody>
      </p:sp>
      <p:sp>
        <p:nvSpPr>
          <p:cNvPr id="4" name="Slide Number Placeholder 3">
            <a:extLst>
              <a:ext uri="{FF2B5EF4-FFF2-40B4-BE49-F238E27FC236}">
                <a16:creationId xmlns:a16="http://schemas.microsoft.com/office/drawing/2014/main" id="{AB1FB193-64BA-E42A-836F-90178FDA2FFF}"/>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6882550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Il surface code usa controlli locali e una geometria a reticolo; aumentando la distanza si aumenta la protezione, con un costo in qubit. Il Gross code è un codice della famiglia qLDPC proposto da IBM: il risparmio in qubit va considerato insieme alla connettività e ai controlli necessari. I 144 qubit citati negli esperimenti della tesi sono qubit di dato; un'implementazione completa richiede anche qubit per i controlli, quindi il numero non indica l'hardware totale. Il decoder resta un algoritmo classico, e l'eventuale ML può essere un componente della decodifica. I confronti sperimentali della tesi sono approfondimenti separati dall'esecuzione di Shor e non dimostrano un'esecuzione fault tolerant dell'algoritmo.</a:t>
            </a:r>
          </a:p>
          <a:p>
            <a:r>
              <a:rPr lang="it-IT"/>
              <a:t>Fonti: https://www.ibm.com/quantum/blog/large-scale-ftqc ; https://learning.quantum.ibm.com/course/foundations-of-quantum-error-correction/quantum-code-constructions</a:t>
            </a:r>
          </a:p>
          <a:p>
            <a:r>
              <a:rPr lang="it-IT"/>
              <a:t>Il machine learning può affiancare la decodifica classica. La distanza del codice contribuisce alla protezione, ma l'effetto dipende dal regime di errore: sotto soglia, aumentarla può ridurre l'errore logico.</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0319231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PROVA: 1 intervento; 2 principio; 3 grafico senza evidenza; 4 cerchio, valore del punto e incremento di successo; 5 tabella; 6 limite su N = 21.</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7831596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Conclusioni basate sulla trascrizione del professore in conclusioni.docx. Il 75% è il riferimento del caso illustrato, non una soglia universale di Shor. Nella slide introduttiva il caso rumoroso è 56,5%. La soglia QEC 0,86% è specifica del modello studiato. Atomi neutri: connessioni riconfigurabili con pinze ottiche e coerenza dell'ordine dei secondi in piattaforme sperimentali. Non implicano entanglement simultaneo universale né garanzie sul successo di Shor. Fonte: Bluvstein et al., Logical quantum processor based on reconfigurable atom arrays, Nature (2024), https://www.nature.com/articles/s41586-023-06927-3</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1590429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 video parte da solo e dura 2 minuti. Parla sopra il video, seguendo le scritte in basso; i tempi tra parentesi sono quelli del video.]</a:t>
            </a:r>
          </a:p>
          <a:p>
            <a:r>
              <a:t>[0:00] Prima di concludere, vi faccio vedere il simulatore che ho realizzato. Segue Shor passo per passo, prima senza errori e poi con il rumore.</a:t>
            </a:r>
          </a:p>
          <a:p>
            <a:r>
              <a:t>[0:06] È lo stesso caso: fattorizzare 15 partendo da 7. Ogni riga è un qubit; a destra, ogni sfera mostra con una freccia lo stato del suo qubit.</a:t>
            </a:r>
          </a:p>
          <a:p>
            <a:r>
              <a:t>[0:17] Prima tutti i qubit vengono messi in sovrapposizione, cioè in più stati contemporaneamente. Poi le moltiplicazioni per 7 scrivono il ritmo nei qubit. Le frecce si accorciano, ma non è un errore: è l'entanglement, i qubit diventano legati tra loro.</a:t>
            </a:r>
          </a:p>
          <a:p>
            <a:r>
              <a:t>[0:30] La QFT trasforma il ritmo in quattro picchi, e dalla misura un calcolo classico ricava 15 uguale 3 per 5.</a:t>
            </a:r>
          </a:p>
          <a:p>
            <a:r>
              <a:t>[0:48] Ora lo stesso circuito con il rumore: le frecce si accorciano anche dove prima restavano intere. Lo stato si sta rovinando.</a:t>
            </a:r>
          </a:p>
          <a:p>
            <a:r>
              <a:t>[1:08] Qui si vede dove entra il rumore: ogni operazione ha il suo errore, quelle su due qubit sono le più fragili, e anche la lettura finale può sbagliare.</a:t>
            </a:r>
          </a:p>
          <a:p>
            <a:r>
              <a:t>[1:15] Ripetendo il circuito molte volte, i risultati si sparpagliano su tutte le risposte possibili e i picchi si abbassano: è lo stesso calo che avete visto nel grafico all'inizio.</a:t>
            </a:r>
          </a:p>
          <a:p>
            <a:r>
              <a:t>[1:33] Questa è informazione persa. Una volta misurata, non si recupera più.</a:t>
            </a:r>
          </a:p>
          <a:p>
            <a:r>
              <a:t>[1:53] Ed è proprio il messaggio della mia tesi: il rumore va affrontato durante il calcolo, perché dopo la misura l'informazione distrutta non si può ricostruire.</a:t>
            </a:r>
          </a:p>
          <a:p>
            <a:endParaRPr/>
          </a:p>
          <a:p>
            <a:r>
              <a:t>▶ CAMBIA SLIDE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3486842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Vi ringrazio per l'attenzione. Sono a disposizione per le vostre domande.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1182073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Buongiorno a tutti. Ringrazio la commissione per la parola. Sono Claudio Dragotta e vi presento la mia tesi, che ho svolto con il professor Soda e l'ingegner Caprio.</a:t>
            </a:r>
          </a:p>
          <a:p>
            <a:endParaRPr/>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Il punto di partenza è la fattorizzazione: scomporre un intero nei suoi fattori primi. Per numeri grandi è computazionalmente difficile con i metodi classici. L'algoritmo di Shor risolve il problema in tempo polinomiale nel modello quantistico ideale. Ma il rumore altera i qubit e riduce la probabilità di successo. Il mio obiettivo è valutare tre strategie: usare meglio i risultati dopo la misura, proteggere i qubit durante il calcolo e ridurre le operazioni con la QFT approssimata. Gli esperimenti sono in simulazione, su piccole istanze.</a:t>
            </a:r>
            <a:endParaRPr lang="en-GB"/>
          </a:p>
        </p:txBody>
      </p:sp>
      <p:sp>
        <p:nvSpPr>
          <p:cNvPr id="4" name="Slide Number Placeholder 3"/>
          <p:cNvSpPr>
            <a:spLocks noGrp="1"/>
          </p:cNvSpPr>
          <p:nvPr>
            <p:ph type="sldNum" sz="quarter" idx="5"/>
          </p:nvPr>
        </p:nvSpPr>
        <p:spPr/>
        <p:txBody>
          <a:bodyPr/>
          <a:lstStyle/>
          <a:p>
            <a:endParaRPr lang="it-IT"/>
          </a:p>
        </p:txBody>
      </p:sp>
    </p:spTree>
    <p:extLst>
      <p:ext uri="{BB962C8B-B14F-4D97-AF65-F5344CB8AC3E}">
        <p14:creationId xmlns:p14="http://schemas.microsoft.com/office/powerpoint/2010/main" val="36077658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Come funziona Shor? Prendiamo il mio caso: fattorizzare 15. Scelgo un numero di partenza, il 7, e calcolo le sue potenze, guardando solo il resto della divisione per 15. Esce 1, 7, 4, 13, e poi di nuovo 1, 7, 4, 13: la sequenza si ripete ogni quattro passi, come un ritmo. Quel 4 si chiama periodo, ed è tutto ciò che serve: da lì un semplice calcolo restituisce i fattori, 15 uguale 3 per 5.</a:t>
            </a:r>
          </a:p>
          <a:p>
            <a:r>
              <a:t>Per numeri enormi questo ritmo è nascosto, e un computer classico non riesce a trovarlo. Il computer quantistico ci riesce perché esplora tutte le potenze insieme e fa emergere il ritmo grazie all'interferenza, come onde che si rinforzano. Nel mio caso il circuito usa 12 qubit.</a:t>
            </a:r>
          </a:p>
          <a:p>
            <a:r>
              <a:t>Il grafico a destra mostra cosa succede quando la macchina sbaglia. Ho simulato il rumore così: dopo ogni operazione, con una piccola probabilità, il qubit subisce un errore casuale, si capovolge oppure perde il suo segno. In alto c'è il 75% ideale; in basso, tratteggiato, circa il 25%, cioè il risultato che otterrei tirando a caso.</a:t>
            </a:r>
          </a:p>
          <a:p>
            <a:r>
              <a:t>Senza errori ottengo il 74,89%, esattamente come previsto. Ma basta un errore dell'1% per operazione, che sembra pochissimo, per scendere al 56%: il circuito contiene centinaia di operazioni e gli errori si sommano. Oltre il 10% Shor fa come chi tira a indovinare.</a:t>
            </a:r>
          </a:p>
          <a:p>
            <a:endParaRPr/>
          </a:p>
          <a:p>
            <a:r>
              <a:t>▶ CAMBIA SLIDE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0917569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Per spiegare le tre strategie uso un'immagine. Pensate a una lettera che arriva rovinata dal viaggio. Avete tre possibilità: provare a interpretarla meglio dopo che è arrivata, proteggerla durante il viaggio, oppure scriverla più corta, così c'è meno da rovinare.</a:t>
            </a:r>
          </a:p>
          <a:p>
            <a:r>
              <a:t>In giallo vedete i passi di Shor, in viola dove sono intervenuto. La prima lavora dopo la misura: provo a leggere meglio i risultati, anche con il machine learning. La seconda è la correzione degli errori, che protegge i qubit durante il calcolo; l'ho studiata in esperimenti dedicati, separati dal circuito di Shor. La terza è la QFT approssimata, che toglie operazioni al circuito.</a:t>
            </a:r>
          </a:p>
          <a:p>
            <a:r>
              <a:t>Per ognuna vi mostro prima come funziona e subito dopo che cosa ho trovato.</a:t>
            </a:r>
          </a:p>
          <a:p>
            <a:endParaRPr/>
          </a:p>
          <a:p>
            <a:r>
              <a:t>▶ CAMBIA SLIDE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82285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Prima strategia: leggere meglio i risultati. Un computer quantistico non dà una risposta sola. Eseguo il circuito 1024 volte e ottengo una classifica delle risposte, dalla più frequente alla meno frequente.</a:t>
            </a:r>
          </a:p>
          <a:p>
            <a:r>
              <a:t>Ho confrontato tre modi. TOP-1 controlla solo la risposta più frequente. TOP-4 controlla, una alla volta, le prime quattro, finché trova i fattori. Il terzo, che nella tesi chiamo Metodo 2, aggiunge l'intelligenza artificiale: un classificatore decide se la classifica è affidabile, e solo allora si provano le prime quattro.</a:t>
            </a:r>
          </a:p>
          <a:p>
            <a:r>
              <a:t>La domanda onesta è: se il Metodo 2 funziona, il merito è dell'intelligenza artificiale o dei tentativi in più? Per scoprirlo lo confronto con TOP-4, che fa gli stessi tentativi.</a:t>
            </a:r>
          </a:p>
          <a:p>
            <a:endParaRPr/>
          </a:p>
          <a:p>
            <a:r>
              <a:t>▶ CAMBIA SLIDE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1219036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Seconda strategia: proteggere la lettera durante il viaggio. È la correzione quantistica degli errori. L'idea la conoscete: al telefono, se la linea è disturbata, ripetete la parola tre volte e vince la maggioranza.</a:t>
            </a:r>
          </a:p>
          <a:p>
            <a:r>
              <a:t>Con i qubit c'è una difficoltà: non posso copiarli, e se li guardo direttamente distruggo l'informazione. Allora uso qubit di servizio, detti ancilla, che controllano se i qubit vicini sono d'accordo tra loro senza leggerli. I loro segnali si chiamano sindromi, e funzionano come campanelli d'allarme. Il decoder è il detective che, dai campanelli che suonano, capisce dov'è l'errore e come correggerlo.</a:t>
            </a:r>
          </a:p>
          <a:p>
            <a:r>
              <a:t>Ho studiato due codici. Il surface code, il riferimento, è robusto ma costoso: per i 12 qubit di Shor ne servono circa 2000. L'ho simulato con il circuito completo, ancilla comprese, confrontando diversi decoder, tra cui una rete neurale. Il Gross code, proposto da IBM, promette una protezione simile con molti meno qubit; qui ho simulato solo gli errori, senza ancilla: un modello più semplice.</a:t>
            </a:r>
          </a:p>
          <a:p>
            <a:endParaRPr/>
          </a:p>
          <a:p>
            <a:r>
              <a:t>Per le simulazioni ho usato Stim e PyMatching per il surface code e la libreria ldpc per il Gross code. La correzione degli errori è studiata a parte, non dentro il circuito di Shor.</a:t>
            </a:r>
          </a:p>
          <a:p>
            <a:r>
              <a:rPr lang="it-IT"/>
              <a:t>Per le simulazioni ho usato Stim e PyMatching per il surface code e la libreria ldpc per il Gross code. La correzione degli errori è studiata a parte, non dentro il circuito di Shor. Vi mostro tre risultati: la soglia, un decoder ibrido che usa il machine learning e quanti qubit risparmia il Gross code.</a:t>
            </a:r>
          </a:p>
          <a:p>
            <a:r>
              <a:t>▶ CAMBIA SLIDE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27455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Seconda strategia: proteggere la lettera durante il viaggio. È la correzione quantistica degli errori. L'idea la conoscete: al telefono, se la linea è disturbata, ripetete la parola tre volte e vince la maggioranza.</a:t>
            </a:r>
          </a:p>
          <a:p>
            <a:r>
              <a:t>Con i qubit c'è una difficoltà: non posso copiarli, e se li guardo direttamente distruggo l'informazione. Allora uso qubit di servizio, detti ancilla, che controllano se i qubit vicini sono d'accordo tra loro senza leggerli. I loro segnali si chiamano sindromi, e funzionano come campanelli d'allarme. Il decoder è il detective che, dai campanelli che suonano, capisce dov'è l'errore e come correggerlo.</a:t>
            </a:r>
          </a:p>
          <a:p>
            <a:r>
              <a:t>Ho studiato due codici. Il surface code, il riferimento, è robusto ma costoso: per i 12 qubit di Shor ne servono circa 2000. L'ho simulato con il circuito completo, ancilla comprese, confrontando diversi decoder, tra cui una rete neurale. Il Gross code, proposto da IBM, promette una protezione simile con molti meno qubit; qui ho simulato solo gli errori, senza ancilla: un modello più semplice.</a:t>
            </a:r>
          </a:p>
          <a:p>
            <a:endParaRPr/>
          </a:p>
          <a:p>
            <a:r>
              <a:t>Per le simulazioni ho usato Stim e PyMatching per il surface code e la libreria ldpc per il Gross code. La correzione degli errori è studiata a parte, non dentro il circuito di Shor.</a:t>
            </a:r>
          </a:p>
          <a:p>
            <a:r>
              <a:rPr lang="it-IT"/>
              <a:t>Per le simulazioni ho usato Stim e PyMatching per il surface code e la libreria ldpc per il Gross code. La correzione degli errori è studiata a parte, non dentro il circuito di Shor. Vi mostro tre risultati: la soglia, un decoder ibrido che usa il machine learning e quanti qubit risparmia il Gross code.</a:t>
            </a:r>
          </a:p>
          <a:p>
            <a:r>
              <a:t>▶ CAMBIA SLIDE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8505175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Seconda strategia: proteggere la lettera durante il viaggio. È la correzione quantistica degli errori. L'idea la conoscete: al telefono, se la linea è disturbata, ripetete la parola tre volte e vince la maggioranza.</a:t>
            </a:r>
          </a:p>
          <a:p>
            <a:r>
              <a:t>Con i qubit c'è una difficoltà: non posso copiarli, e se li guardo direttamente distruggo l'informazione. Allora uso qubit di servizio, detti ancilla, che controllano se i qubit vicini sono d'accordo tra loro senza leggerli. I loro segnali si chiamano sindromi, e funzionano come campanelli d'allarme. Il decoder è il detective che, dai campanelli che suonano, capisce dov'è l'errore e come correggerlo.</a:t>
            </a:r>
          </a:p>
          <a:p>
            <a:r>
              <a:t>Ho studiato due codici. Il surface code, il riferimento, è robusto ma costoso: per i 12 qubit di Shor ne servono circa 2000. L'ho simulato con il circuito completo, ancilla comprese, confrontando diversi decoder, tra cui una rete neurale. Il Gross code, proposto da IBM, promette una protezione simile con molti meno qubit; qui ho simulato solo gli errori, senza ancilla: un modello più semplice.</a:t>
            </a:r>
          </a:p>
          <a:p>
            <a:endParaRPr/>
          </a:p>
          <a:p>
            <a:r>
              <a:t>▶ CAMBIA SLIDE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1184421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 primo risultato è la soglia. Ogni colore è un codice con più qubit di protezione. Nella zona verde le curve dei codici più grandi stanno più in basso: aggiungere qubit riduce gli errori. Nella zona rossa succede il contrario: più qubit, più errori.</a:t>
            </a:r>
          </a:p>
          <a:p>
            <a:r>
              <a:t>È come una squadra: aggiungere persone aiuta solo se ognuno sa già fare bene il proprio lavoro. Il punto in cui le curve si incrociano è la soglia, che ho stimato tra lo 0,8 e lo 0,9% di errore per operazione.</a:t>
            </a:r>
          </a:p>
          <a:p>
            <a:r>
              <a:t>E per Shor cosa significa? Torniamo al grafico di prima. Se la correzione riduce l'errore che resta a 0,2% per operazione, Shor si mantiene intorno al 70%; a 0,5%, al 64%; senza correzione, all'1%, scende al 56%. La correzione aiuta, ma non riporta Shor al 75%. È una stima: ho simulato Shor con un errore residuo, non l'intero circuito protetto.</a:t>
            </a:r>
          </a:p>
          <a:p>
            <a:r>
              <a:t>Il valore 0,86% è la soglia per gli errori di tipo Z; per quelli di tipo X è 0,81%. Il grafico usa il decoder MWPM, distanze da 3 a 9, il circuito completo con le ancilla e rumore su porte e misure, con 200 000 esecuzioni per punto.</a:t>
            </a:r>
          </a:p>
          <a:p>
            <a:r>
              <a:rPr lang="it-IT"/>
              <a:t>Il valore 0,86% è la soglia per gli errori di tipo Z; per quelli di tipo X è 0,81%. Il grafico usa il decoder MWPM, distanze da 3 a 9, il circuito completo con le ancilla e rumore su porte e misure, con 200 000 esecuzioni per punto.</a:t>
            </a:r>
          </a:p>
          <a:p>
            <a:r>
              <a:t>Qui l'intelligenza artificiale trova finalmente un ruolo. Nella realtà i qubit vicini si disturbano a vicenda, come conversazioni in una stanza affollata: si chiama crosstalk. Il decoder classico non tiene conto di questi errori collegati.</a:t>
            </a:r>
          </a:p>
          <a:p>
            <a:r>
              <a:t>Una rete neurale da sola non batte il decoder classico. Ma usata come assistente che ne corregge le decisioni, il decoder ibrido, la linea arancione continua, funziona. Nel punto cerchiato gli errori scendono del 16,8%.</a:t>
            </a:r>
          </a:p>
          <a:p>
            <a:r>
              <a:t>Sui codici più grandi, le linee tratteggiate, il vantaggio quasi sparisce, e un decoder classico più potente, BP+OSD, le linee grigie, fa ancora meglio. L'intelligenza artificiale aiuta da assistente, non da sostituto.</a:t>
            </a:r>
          </a:p>
          <a:p>
            <a:r>
              <a:t>Il punto cerchiato è a distanza 3, con errore fisico dello 0,3% e crosstalk 0,01: l'errore logico passa da 0,05829 a 0,04851, e il test appaiato di McNemar conferma che il beneficio è significativo.</a:t>
            </a:r>
          </a:p>
          <a:p>
            <a:r>
              <a:rPr lang="it-IT"/>
              <a:t>Il punto cerchiato è a distanza 3, con errore fisico dello 0,3% e crosstalk 0,01: l'errore logico passa da 0,05829 a 0,04851, e il test appaiato di McNemar conferma che il beneficio è significativo.</a:t>
            </a:r>
          </a:p>
          <a:p>
            <a:r>
              <a:t>Infine il confronto tra i due codici. Per proteggere gli stessi 12 qubit, il Gross code, la barra arancione, usa 144 qubit; il surface code ne richiede da 1452 a 2028. Da 10 a 14 volte di meno.</a:t>
            </a:r>
          </a:p>
          <a:p>
            <a:r>
              <a:t>Un dettaglio importante: per un confronto alla pari, qui anche il surface code è simulato nello stesso modello semplificato, senza ancilla. Per questo questi numeri non vanno confrontati con la soglia di prima, che usa il circuito completo.</a:t>
            </a:r>
          </a:p>
          <a:p>
            <a:r>
              <a:t>E non protegge peggio: in questo modello, all'1% di errore sbaglia circa una volta su un milione, meglio delle soluzioni con il surface code. Anche qui il decoder conta: con la versione giusta gli errori calano di circa cento volte.</a:t>
            </a:r>
          </a:p>
          <a:p>
            <a:r>
              <a:t>I valori di errore logico sono all'1% di errore fisico. Contro le patch a distanza 11 il Gross code vince a ogni livello di errore studiato; contro quelle a distanza 13 vince dallo 0,75% in su, allo 0,5% sono pari e più in basso vince il surface code. Il decoder BP+OSD in versione seriale fallisce circa cento volte meno di quello parallelo.</a:t>
            </a:r>
          </a:p>
          <a:p>
            <a:r>
              <a:rPr lang="it-IT"/>
              <a:t>Contro le patch a distanza 11 il Gross code vince a ogni livello di errore studiato; contro quelle a distanza 13 vince dallo 0,75% in su, allo 0,5% sono pari e più in basso vince il surface code. Il decoder BP+OSD in versione seriale fallisce circa cento volte meno di quello parallelo.</a:t>
            </a:r>
          </a:p>
          <a:p>
            <a:r>
              <a:t>▶ CAMBIA SLIDE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166337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Ed ecco il risultato. A destra c'è la QFT completa, verso sinistra tolgo sempre più rotazioni. Con la QFT completa Shor si ferma al 48%. Con la versione scelta, quella cerchiata, sale al 63%: quasi 15 punti in più, con il 23% di operazioni a due qubit in meno.</a:t>
            </a:r>
          </a:p>
          <a:p>
            <a:r>
              <a:t>Devo però essere onesto: 15 è un caso favorevole, perché il suo ritmo è di 4 e le rotazioni tolte non portavano informazione. Su 21 le operazioni si dimezzano, ma un vantaggio non è dimostrato. L'approssimazione va quindi scelta caso per caso.</a:t>
            </a:r>
          </a:p>
          <a:p>
            <a:endParaRPr/>
          </a:p>
          <a:p>
            <a:r>
              <a:t>▶ CAMBIA SLIDE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3545568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Terza strategia: scrivere una lettera più corta. Ogni operazione è un'occasione di errore, quindi meno operazioni significa meno errori.</a:t>
            </a:r>
          </a:p>
          <a:p>
            <a:r>
              <a:t>Ho lavorato sulla QFT, la trasformata di Fourier quantistica: la lente che trasforma il ritmo nascosto in picchi ben visibili. Al suo interno ci sono rotazioni sempre più piccole. Le ultime sono come girare una manopola di una frazione di grado: costano un'operazione intera, ma cambiano quasi nulla.</a:t>
            </a:r>
          </a:p>
          <a:p>
            <a:r>
              <a:t>Nella versione approssimata le tolgo. Funziona perché Shor non ha bisogno della fase esatta: gli basta un valore abbastanza vicino perché il calcolo finale ritrovi il ritmo. L'ho provata su 15, su 21 e su test dedicati, con il rumore misurato su un vero computer IBM e riprodotto in simulazione.</a:t>
            </a:r>
          </a:p>
          <a:p>
            <a:endParaRPr/>
          </a:p>
          <a:p>
            <a:r>
              <a:t>▶ CAMBIA SLIDE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4841553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Ed ecco il risultato. A destra c'è la QFT completa, verso sinistra tolgo sempre più rotazioni. Con la QFT completa Shor si ferma al 48%. Con la versione scelta, quella cerchiata, sale al 63%: quasi 15 punti in più, con il 23% di operazioni a due qubit in meno.</a:t>
            </a:r>
          </a:p>
          <a:p>
            <a:r>
              <a:t>Devo però essere onesto: 15 è un caso favorevole, perché il suo ritmo è di 4 e le rotazioni tolte non portavano informazione. Su 21 le operazioni si dimezzano, ma un vantaggio non è dimostrato. L'approssimazione va quindi scelta caso per caso.</a:t>
            </a:r>
          </a:p>
          <a:p>
            <a:endParaRPr/>
          </a:p>
          <a:p>
            <a:r>
              <a:t>▶ CAMBIA SLIDE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8761370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Ed ecco il risultato. A destra c'è la QFT completa, verso sinistra tolgo sempre più rotazioni. Con la QFT completa Shor si ferma al 48%. Con la versione scelta, quella cerchiata, sale al 63%: quasi 15 punti in più, con il 23% di operazioni a due qubit in meno.</a:t>
            </a:r>
          </a:p>
          <a:p>
            <a:r>
              <a:t>Devo però essere onesto: 15 è un caso favorevole, perché il suo ritmo è di 4 e le rotazioni tolte non portavano informazione. Su 21 le operazioni si dimezzano, ma un vantaggio non è dimostrato. L'approssimazione va quindi scelta caso per caso.</a:t>
            </a:r>
          </a:p>
          <a:p>
            <a:endParaRPr/>
          </a:p>
          <a:p>
            <a:r>
              <a:t>▶ CAMBIA SLIDE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985400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Il confronto riassume risultati su metriche diverse. Il post-processing riduce le iterazioni mediante TOP-4; il filtro ML non aggiunge un beneficio. La QEC è valutata in esperimenti separati da Shor: la soglia, il guadagno del decoder ibrido e il numero di qubit riguardano protocolli distinti. Per AQFT, su N = 15 e dati di verifica, il successo aumenta di 14,87 punti percentuali e le porte a due qubit si riducono del 22,9%. È il miglioramento diretto osservato rispetto alla QFT piena nel protocollo studiato; non una superiorità generale su QEC o post-processing. Su N = 21 il beneficio non è dimostrato.</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9625094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Torno alla lettera rovinata.</a:t>
            </a:r>
          </a:p>
          <a:p>
            <a:r>
              <a:t>Interpretarla meglio dopo che è arrivata aiuta poco: nel post-processing il vantaggio viene dal provare più risposte, non dall'intelligenza artificiale. Proteggerla durante il viaggio funziona, ma solo se la macchina è già abbastanza buona, sotto la soglia; e codice e decoder vanno scelti insieme. Accorciarla, con la QFT approssimata, aiuta, ma non in tutti i casi.</a:t>
            </a:r>
          </a:p>
          <a:p>
            <a:r>
              <a:t>Il mio contributo è stato costruire e verificare i circuiti, progettare confronti onesti e rendere ogni risultato riproducibile.</a:t>
            </a:r>
          </a:p>
          <a:p>
            <a:r>
              <a:t>I limiti li dichiaro: ho lavorato in simulazione, su pochi casi, e senza un'esecuzione di Shor completamente protetta. Il passo successivo è rendere i circuiti più leggeri e unirli alla correzione degli errori.</a:t>
            </a:r>
          </a:p>
          <a:p>
            <a:endParaRPr/>
          </a:p>
          <a:p>
            <a:r>
              <a:t>▶ CAMBIA SLIDE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5663278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 video parte da solo e dura 2 minuti. Parla sopra il video, seguendo le scritte in basso; i tempi tra parentesi sono quelli del video.]</a:t>
            </a:r>
          </a:p>
          <a:p>
            <a:r>
              <a:t>[0:00] Prima di concludere, vi faccio vedere il simulatore che ho realizzato. Segue Shor passo per passo, prima senza errori e poi con il rumore.</a:t>
            </a:r>
          </a:p>
          <a:p>
            <a:r>
              <a:t>[0:06] È lo stesso caso: fattorizzare 15 partendo da 7. Ogni riga è un qubit; a destra, ogni sfera mostra con una freccia lo stato del suo qubit.</a:t>
            </a:r>
          </a:p>
          <a:p>
            <a:r>
              <a:t>[0:17] Prima tutti i qubit vengono messi in sovrapposizione, cioè in più stati contemporaneamente. Poi le moltiplicazioni per 7 scrivono il ritmo nei qubit. Le frecce si accorciano, ma non è un errore: è l'entanglement, i qubit diventano legati tra loro.</a:t>
            </a:r>
          </a:p>
          <a:p>
            <a:r>
              <a:t>[0:30] La QFT trasforma il ritmo in quattro picchi, e dalla misura un calcolo classico ricava 15 uguale 3 per 5.</a:t>
            </a:r>
          </a:p>
          <a:p>
            <a:r>
              <a:t>[0:48] Ora lo stesso circuito con il rumore: le frecce si accorciano anche dove prima restavano intere. Lo stato si sta rovinando.</a:t>
            </a:r>
          </a:p>
          <a:p>
            <a:r>
              <a:t>[1:08] Qui si vede dove entra il rumore: ogni operazione ha il suo errore, quelle su due qubit sono le più fragili, e anche la lettura finale può sbagliare.</a:t>
            </a:r>
          </a:p>
          <a:p>
            <a:r>
              <a:t>[1:15] Ripetendo il circuito molte volte, i risultati si sparpagliano su tutte le risposte possibili e i picchi si abbassano: è lo stesso calo che avete visto nel grafico all'inizio.</a:t>
            </a:r>
          </a:p>
          <a:p>
            <a:r>
              <a:t>[1:33] Questa è informazione persa. Una volta misurata, non si recupera più.</a:t>
            </a:r>
          </a:p>
          <a:p>
            <a:r>
              <a:t>[1:53] Ed è proprio il messaggio della mia tesi: il rumore va affrontato durante il calcolo, perché dopo la misura l'informazione distrutta non si può ricostruire.</a:t>
            </a:r>
          </a:p>
          <a:p>
            <a:endParaRPr/>
          </a:p>
          <a:p>
            <a:r>
              <a:t>▶ CAMBIA SLIDE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27505161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Vi ringrazio per l'attenzione. Sono a disposizione per le vostre domande.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Ogni volta che pagate online o aprite la vostra banca dal telefono, i vostri dati sono protetti da un lucchetto matematico che si chiama RSA. Questo lucchetto regge su un'idea semplice: moltiplicare due numeri primi è facile, ma tornare indietro, per un numero di centinaia di cifre, è impossibile per qualunque computer di oggi.</a:t>
            </a:r>
          </a:p>
          <a:p>
            <a:r>
              <a:t>Nel 1994 Peter Shor ha dimostrato che un computer quantistico questo problema lo risolverebbe in modo efficiente.</a:t>
            </a:r>
          </a:p>
          <a:p>
            <a:r>
              <a:t>C'è però un ma. Anche in un mondo perfetto, Shor non è infallibile: trova i fattori circa tre volte su quattro, il 75% dei casi. E i computer quantistici veri non sono perfetti. I qubit, le unità di informazione quantistica, sono fragilissimi: un minimo disturbo li altera. Le operazioni sbagliano, i qubit perdono l'informazione col passare del tempo, e anche la lettura finale può sbagliare.</a:t>
            </a:r>
          </a:p>
          <a:p>
            <a:r>
              <a:t>La domanda della mia tesi è questa: cosa succede a Shor quando la macchina sbaglia, e che cosa posso fare per renderlo più resistente? Per rispondere ho simulato al computer questi errori e ho messo alla prova tre strategie.</a:t>
            </a:r>
          </a:p>
          <a:p>
            <a:endParaRPr/>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endParaRPr lang="it-IT"/>
          </a:p>
        </p:txBody>
      </p:sp>
    </p:spTree>
    <p:extLst>
      <p:ext uri="{BB962C8B-B14F-4D97-AF65-F5344CB8AC3E}">
        <p14:creationId xmlns:p14="http://schemas.microsoft.com/office/powerpoint/2010/main" val="235632179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Il punto di partenza è la fattorizzazione: scomporre un intero nei suoi fattori primi. Per numeri grandi è computazionalmente difficile con i metodi classici. L'algoritmo di Shor risolve il problema in tempo polinomiale nel modello quantistico ideale. Ma il rumore altera i qubit e riduce la probabilità di successo. Il mio obiettivo è valutare tre strategie: usare meglio i risultati dopo la misura, proteggere i qubit durante il calcolo e ridurre le operazioni con la QFT approssimata. Gli esperimenti sono in simulazione, su piccole istanze.</a:t>
            </a:r>
            <a:endParaRPr lang="en-GB"/>
          </a:p>
        </p:txBody>
      </p:sp>
      <p:sp>
        <p:nvSpPr>
          <p:cNvPr id="4" name="Slide Number Placeholder 3"/>
          <p:cNvSpPr>
            <a:spLocks noGrp="1"/>
          </p:cNvSpPr>
          <p:nvPr>
            <p:ph type="sldNum" sz="quarter" idx="5"/>
          </p:nvPr>
        </p:nvSpPr>
        <p:spPr/>
        <p:txBody>
          <a:bodyPr/>
          <a:lstStyle/>
          <a:p>
            <a:endParaRPr lang="it-IT"/>
          </a:p>
        </p:txBody>
      </p:sp>
    </p:spTree>
    <p:extLst>
      <p:ext uri="{BB962C8B-B14F-4D97-AF65-F5344CB8AC3E}">
        <p14:creationId xmlns:p14="http://schemas.microsoft.com/office/powerpoint/2010/main" val="381330763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endParaRPr lang="it-IT"/>
          </a:p>
        </p:txBody>
      </p:sp>
    </p:spTree>
    <p:extLst>
      <p:ext uri="{BB962C8B-B14F-4D97-AF65-F5344CB8AC3E}">
        <p14:creationId xmlns:p14="http://schemas.microsoft.com/office/powerpoint/2010/main" val="373627761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Come funziona Shor? Prendiamo il mio caso: fattorizzare 15. Scelgo un numero di partenza, il 7, e calcolo le sue potenze, guardando solo il resto della divisione per 15. Esce 1, 7, 4, 13, e poi di nuovo 1, 7, 4, 13: la sequenza si ripete ogni quattro passi, come un ritmo. Quel 4 si chiama periodo, ed è tutto ciò che serve: da lì un semplice calcolo restituisce i fattori, 15 uguale 3 per 5.</a:t>
            </a:r>
          </a:p>
          <a:p>
            <a:r>
              <a:t>Per numeri enormi questo ritmo è nascosto, e un computer classico non riesce a trovarlo. Il computer quantistico ci riesce perché esplora tutte le potenze insieme e fa emergere il ritmo grazie all'interferenza, come onde che si rinforzano. Nel mio caso il circuito usa 12 qubit.</a:t>
            </a:r>
          </a:p>
          <a:p>
            <a:r>
              <a:t>Il grafico a destra mostra cosa succede quando la macchina sbaglia. Ho simulato il rumore così: dopo ogni operazione, con una piccola probabilità, il qubit subisce un errore casuale, si capovolge oppure perde il suo segno. In alto c'è il 75% ideale; in basso, tratteggiato, circa il 25%, cioè il risultato che otterrei tirando a caso.</a:t>
            </a:r>
          </a:p>
          <a:p>
            <a:r>
              <a:t>Senza errori ottengo il 74,89%, esattamente come previsto. Ma basta un errore dell'1% per operazione, che sembra pochissimo, per scendere al 56%: il circuito contiene centinaia di operazioni e gli errori si sommano. Oltre il 10% Shor fa come chi tira a indovinare.</a:t>
            </a:r>
          </a:p>
          <a:p>
            <a:endParaRPr/>
          </a:p>
          <a:p>
            <a:r>
              <a:t>▶ CAMBIA SLIDE</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366057294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Per spiegare le tre strategie uso un'immagine. Pensate a una lettera che arriva rovinata dal viaggio. Avete tre possibilità: provare a interpretarla meglio dopo che è arrivata, proteggerla durante il viaggio, oppure scriverla più corta, così c'è meno da rovinare.</a:t>
            </a:r>
          </a:p>
          <a:p>
            <a:r>
              <a:t>In giallo vedete i passi di Shor, in viola dove sono intervenuto. La prima lavora dopo la misura: provo a leggere meglio i risultati, anche con il machine learning. La seconda è la correzione degli errori, che protegge i qubit durante il calcolo; l'ho studiata in esperimenti dedicati, separati dal circuito di Shor. La terza è la QFT approssimata, che toglie operazioni al circuito.</a:t>
            </a:r>
          </a:p>
          <a:p>
            <a:r>
              <a:t>Per ognuna vi mostro prima come funziona e subito dopo che cosa ho trovato.</a:t>
            </a:r>
          </a:p>
          <a:p>
            <a:endParaRPr/>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Prima strategia: leggere meglio i risultati. Un computer quantistico non dà una risposta sola. Eseguo il circuito 1024 volte e ottengo una classifica delle risposte, dalla più frequente alla meno frequente.</a:t>
            </a:r>
          </a:p>
          <a:p>
            <a:r>
              <a:t>Ho confrontato tre modi. TOP-1 controlla solo la risposta più frequente. TOP-4 controlla, una alla volta, le prime quattro, finché trova i fattori. Il terzo, che nella tesi chiamo Metodo 2, aggiunge l'intelligenza artificiale: un classificatore decide se la classifica è affidabile, e solo allora si provano le prime quattro.</a:t>
            </a:r>
          </a:p>
          <a:p>
            <a:r>
              <a:t>La domanda onesta è: se il Metodo 2 funziona, il merito è dell'intelligenza artificiale o dei tentativi in più? Per scoprirlo lo confronto con TOP-4, che fa gli stessi tentativi.</a:t>
            </a:r>
          </a:p>
          <a:p>
            <a:endParaRPr/>
          </a:p>
          <a:p>
            <a:r>
              <a:t>▶ CAMBIA SLIDE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85293253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Prima strategia: leggere meglio i risultati. Un computer quantistico non dà una risposta sola. Eseguo il circuito 1024 volte e ottengo una classifica delle risposte, dalla più frequente alla meno frequente.</a:t>
            </a:r>
          </a:p>
          <a:p>
            <a:r>
              <a:rPr lang="it-IT"/>
              <a:t>Ho confrontato tre modi. TOP-1 controlla solo la risposta più frequente. TOP-4 controlla, una alla volta, le prime quattro, finché trova i fattori. Il terzo, che nella tesi chiamo Metodo 2, aggiunge l'intelligenza artificiale: un classificatore decide se la classifica è affidabile, e solo allora si provano le prime quattro.</a:t>
            </a:r>
          </a:p>
          <a:p>
            <a:r>
              <a:rPr lang="it-IT"/>
              <a:t>La domanda onesta è: se il Metodo 2 funziona, il merito è dell'intelligenza artificiale o dei tentativi in più? Per scoprirlo lo confronto con TOP-4, che fa gli stessi tentativi.</a:t>
            </a:r>
          </a:p>
          <a:p>
            <a:endParaRPr lang="it-IT"/>
          </a:p>
          <a:p>
            <a:endParaRPr lang="it-IT"/>
          </a:p>
          <a:p>
            <a:endParaRPr lang="it-IT"/>
          </a:p>
          <a:p>
            <a:r>
              <a:rPr lang="it-IT"/>
              <a:t>Da dire sul setup sperimentale</a:t>
            </a:r>
          </a:p>
          <a:p>
            <a:r>
              <a:rPr lang="it-IT"/>
              <a:t>Il confronto riguarda la fattorizzazione di N = 15. Per ciascuno dei due scenari di rumore ho eseguito 30 repliche indipendenti. UC1 è lo scenario di riferimento, UC2 usa un rumore più severo. Sono simulazioni con un modello uniforme illustrativo: i parametri non derivano dalla calibrazione di uno specifico dispositivo quantistico.</a:t>
            </a:r>
          </a:p>
          <a:p>
            <a:endParaRPr lang="it-IT"/>
          </a:p>
          <a:p>
            <a:r>
              <a:rPr lang="it-IT"/>
              <a:t>▶ CAMBIA SLIDE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Prima strategia: leggere meglio i risultati. Un computer quantistico non dà una risposta sola. Eseguo il circuito 1024 volte e ottengo una classifica delle risposte, dalla più frequente alla meno frequente.</a:t>
            </a:r>
          </a:p>
          <a:p>
            <a:r>
              <a:t>Ho confrontato tre modi. TOP-1 controlla solo la risposta più frequente. TOP-4 controlla, una alla volta, le prime quattro, finché trova i fattori. Il terzo, che nella tesi chiamo Metodo 2, aggiunge l'intelligenza artificiale: un classificatore decide se la classifica è affidabile, e solo allora si provano le prime quattro.</a:t>
            </a:r>
          </a:p>
          <a:p>
            <a:r>
              <a:t>La domanda onesta è: se il Metodo 2 funziona, il merito è dell'intelligenza artificiale o dei tentativi in più? Per scoprirlo lo confronto con TOP-4, che fa gli stessi tentativi.</a:t>
            </a:r>
          </a:p>
          <a:p>
            <a:endParaRPr/>
          </a:p>
          <a:p>
            <a:r>
              <a:t>▶ CAMBIA SLIDE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1920599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Prima strategia: leggere meglio i risultati. Un computer quantistico non dà una risposta sola. Eseguo il circuito 1024 volte e ottengo una classifica delle risposte, dalla più frequente alla meno frequente.</a:t>
            </a:r>
          </a:p>
          <a:p>
            <a:r>
              <a:t>Ho confrontato tre modi. TOP-1 controlla solo la risposta più frequente. TOP-4 controlla, una alla volta, le prime quattro, finché trova i fattori. Il terzo, che nella tesi chiamo Metodo 2, aggiunge l'intelligenza artificiale: un classificatore decide se la classifica è affidabile, e solo allora si provano le prime quattro.</a:t>
            </a:r>
          </a:p>
          <a:p>
            <a:r>
              <a:t>La domanda onesta è: se il Metodo 2 funziona, il merito è dell'intelligenza artificiale o dei tentativi in più? Per scoprirlo lo confronto con TOP-4, che fa gli stessi tentativi.</a:t>
            </a:r>
          </a:p>
          <a:p>
            <a:endParaRPr/>
          </a:p>
          <a:p>
            <a:r>
              <a:t>▶ CAMBIA SLIDE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99135366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Prima strategia: leggere meglio i risultati. Un computer quantistico non dà una risposta sola. Eseguo il circuito 1024 volte e ottengo una classifica delle risposte, dalla più frequente alla meno frequente.</a:t>
            </a:r>
          </a:p>
          <a:p>
            <a:r>
              <a:t>Ho confrontato tre modi. TOP-1 controlla solo la risposta più frequente. TOP-4 controlla, una alla volta, le prime quattro, finché trova i fattori. Il terzo, che nella tesi chiamo Metodo 2, aggiunge l'intelligenza artificiale: un classificatore decide se la classifica è affidabile, e solo allora si provano le prime quattro.</a:t>
            </a:r>
          </a:p>
          <a:p>
            <a:r>
              <a:t>La domanda onesta è: se il Metodo 2 funziona, il merito è dell'intelligenza artificiale o dei tentativi in più? Per scoprirlo lo confronto con TOP-4, che fa gli stessi tentativi.</a:t>
            </a:r>
          </a:p>
          <a:p>
            <a:endParaRPr/>
          </a:p>
          <a:p>
            <a:r>
              <a:t>▶ CAMBIA SLIDE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85274690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Prima strategia: leggere meglio i risultati. Un computer quantistico non dà una risposta sola. Eseguo il circuito 1024 volte e ottengo una classifica delle risposte, dalla più frequente alla meno frequente.</a:t>
            </a:r>
          </a:p>
          <a:p>
            <a:r>
              <a:rPr lang="it-IT"/>
              <a:t>Ho confrontato tre modi. TOP-1 controlla solo la risposta più frequente. TOP-4 controlla, una alla volta, le prime quattro, finché trova i fattori. Il terzo, che nella tesi chiamo Metodo 2, aggiunge l'intelligenza artificiale: un classificatore decide se la classifica è affidabile, e solo allora si provano le prime quattro.</a:t>
            </a:r>
          </a:p>
          <a:p>
            <a:r>
              <a:rPr lang="it-IT"/>
              <a:t>La domanda onesta è: se il Metodo 2 funziona, il merito è dell'intelligenza artificiale o dei tentativi in più? Per scoprirlo lo confronto con TOP-4, che fa gli stessi tentativi.</a:t>
            </a:r>
          </a:p>
          <a:p>
            <a:r>
              <a:rPr lang="it-IT"/>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Ed ecco la risposta. Nel grafico, barre più basse significano meno tentativi per arrivare ai fattori. Nel riquadro arancione, TOP-4 trova i fattori sempre al primo colpo, in tutte le 30 ripetizioni dell'esperimento.</a:t>
            </a:r>
          </a:p>
          <a:p>
            <a:r>
              <a:t>Il classificatore è molto accurato, eppure il Metodo 2 non migliora nulla, anzi fa un po' peggio, perché ogni tanto scarta proprio i risultati buoni. In pratica il classificatore premia le stesse risposte frequenti che TOP-4 controlla già: non aggiunge informazione. Aggiungo un limite: è stato addestrato su dati simulati, non su una macchina reale.</a:t>
            </a:r>
          </a:p>
          <a:p>
            <a:r>
              <a:t>La lezione: uno strumento sofisticato va sempre confrontato con l'alternativa più semplice.</a:t>
            </a:r>
          </a:p>
          <a:p>
            <a:endParaRPr/>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Seconda strategia: proteggere la lettera durante il viaggio. È la correzione quantistica degli errori. L'idea la conoscete: al telefono, se la linea è disturbata, ripetete la parola tre volte e vince la maggioranza.</a:t>
            </a:r>
          </a:p>
          <a:p>
            <a:r>
              <a:t>Con i qubit c'è una difficoltà: non posso copiarli, e se li guardo direttamente distruggo l'informazione. Allora uso qubit di servizio, detti ancilla, che controllano se i qubit vicini sono d'accordo tra loro senza leggerli. I loro segnali si chiamano sindromi, e funzionano come campanelli d'allarme. Il decoder è il detective che, dai campanelli che suonano, capisce dov'è l'errore e come correggerlo.</a:t>
            </a:r>
          </a:p>
          <a:p>
            <a:r>
              <a:t>Ho studiato due codici. Il surface code, il riferimento, è robusto ma costoso: per i 12 qubit di Shor ne servono circa 2000. L'ho simulato con il circuito completo, ancilla comprese, confrontando diversi decoder, tra cui una rete neurale. Il Gross code, proposto da IBM, promette una protezione simile con molti meno qubit; qui ho simulato solo gli errori, senza ancilla: un modello più semplice.</a:t>
            </a:r>
          </a:p>
          <a:p>
            <a:endParaRPr/>
          </a:p>
          <a:p>
            <a:r>
              <a:t>Per le simulazioni ho usato Stim e PyMatching per il surface code e la libreria ldpc per il Gross code. La correzione degli errori è studiata a parte, non dentro il circuito di Shor.</a:t>
            </a:r>
          </a:p>
          <a:p>
            <a:r>
              <a:rPr lang="it-IT"/>
              <a:t>Per le simulazioni ho usato Stim e PyMatching per il surface code e la libreria ldpc per il Gross code. La correzione degli errori è studiata a parte, non dentro il circuito di Shor. Vi mostro tre risultati: la soglia, un decoder ibrido che usa il machine learning e quanti qubit risparmia il Gross code.</a:t>
            </a:r>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Seconda strategia: proteggere la lettera durante il viaggio. È la correzione quantistica degli errori. L'idea la conoscete: al telefono, se la linea è disturbata, ripetete la parola tre volte e vince la maggioranza.</a:t>
            </a:r>
          </a:p>
          <a:p>
            <a:r>
              <a:t>Con i qubit c'è una difficoltà: non posso copiarli, e se li guardo direttamente distruggo l'informazione. Allora uso qubit di servizio, detti ancilla, che controllano se i qubit vicini sono d'accordo tra loro senza leggerli. I loro segnali si chiamano sindromi, e funzionano come campanelli d'allarme. Il decoder è il detective che, dai campanelli che suonano, capisce dov'è l'errore e come correggerlo.</a:t>
            </a:r>
          </a:p>
          <a:p>
            <a:r>
              <a:t>Ho studiato due codici. Il surface code, il riferimento, è robusto ma costoso: per i 12 qubit di Shor ne servono circa 2000. L'ho simulato con il circuito completo, ancilla comprese, confrontando diversi decoder, tra cui una rete neurale. Il Gross code, proposto da IBM, promette una protezione simile con molti meno qubit; qui ho simulato solo gli errori, senza ancilla: un modello più semplice.</a:t>
            </a:r>
          </a:p>
          <a:p>
            <a:endParaRPr/>
          </a:p>
          <a:p>
            <a:r>
              <a:t>Per le simulazioni ho usato Stim e PyMatching per il surface code e la libreria ldpc per il Gross code. La correzione degli errori è studiata a parte, non dentro il circuito di Shor.</a:t>
            </a:r>
          </a:p>
          <a:p>
            <a:r>
              <a:rPr lang="it-IT"/>
              <a:t>Per le simulazioni ho usato Stim e PyMatching per il surface code e la libreria ldpc per il Gross code. La correzione degli errori è studiata a parte, non dentro il circuito di Shor. Vi mostro tre risultati: la soglia, un decoder ibrido che usa il machine learning e quanti qubit risparmia il Gross code.</a:t>
            </a:r>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Seconda strategia: proteggere la lettera durante il viaggio. È la correzione quantistica degli errori. L'idea la conoscete: al telefono, se la linea è disturbata, ripetete la parola tre volte e vince la maggioranza.</a:t>
            </a:r>
          </a:p>
          <a:p>
            <a:r>
              <a:t>Con i qubit c'è una difficoltà: non posso copiarli, e se li guardo direttamente distruggo l'informazione. Allora uso qubit di servizio, detti ancilla, che controllano se i qubit vicini sono d'accordo tra loro senza leggerli. I loro segnali si chiamano sindromi, e funzionano come campanelli d'allarme. Il decoder è il detective che, dai campanelli che suonano, capisce dov'è l'errore e come correggerlo.</a:t>
            </a:r>
          </a:p>
          <a:p>
            <a:r>
              <a:t>Ho studiato due codici. Il surface code, il riferimento, è robusto ma costoso: per i 12 qubit di Shor ne servono circa 2000. L'ho simulato con il circuito completo, ancilla comprese, confrontando diversi decoder, tra cui una rete neurale. Il Gross code, proposto da IBM, promette una protezione simile con molti meno qubit; qui ho simulato solo gli errori, senza ancilla: un modello più semplice.</a:t>
            </a:r>
          </a:p>
          <a:p>
            <a:endParaRPr/>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 primo risultato è la soglia. Ogni colore è un codice con più qubit di protezione. Nella zona verde le curve dei codici più grandi stanno più in basso: aggiungere qubit riduce gli errori. Nella zona rossa succede il contrario: più qubit, più errori.</a:t>
            </a:r>
          </a:p>
          <a:p>
            <a:r>
              <a:t>È come una squadra: aggiungere persone aiuta solo se ognuno sa già fare bene il proprio lavoro. Il punto in cui le curve si incrociano è la soglia, che ho stimato tra lo 0,8 e lo 0,9% di errore per operazione.</a:t>
            </a:r>
          </a:p>
          <a:p>
            <a:r>
              <a:t>E per Shor cosa significa? Torniamo al grafico di prima. Se la correzione riduce l'errore che resta a 0,2% per operazione, Shor si mantiene intorno al 70%; a 0,5%, al 64%; senza correzione, all'1%, scende al 56%. La correzione aiuta, ma non riporta Shor al 75%. È una stima: ho simulato Shor con un errore residuo, non l'intero circuito protetto.</a:t>
            </a:r>
          </a:p>
          <a:p>
            <a:endParaRPr/>
          </a:p>
          <a:p>
            <a:r>
              <a:t>Il valore 0,86% è la soglia per gli errori di tipo Z; per quelli di tipo X è 0,81%. Il grafico usa il decoder MWPM, distanze da 3 a 9, il circuito completo con le ancilla e rumore su porte e misure, con 200 000 esecuzioni per punto.</a:t>
            </a:r>
          </a:p>
          <a:p>
            <a:r>
              <a:rPr lang="it-IT"/>
              <a:t>Il valore 0,86% è la soglia per gli errori di tipo Z; per quelli di tipo X è 0,81%. Il grafico usa il decoder MWPM, distanze da 3 a 9, il circuito completo con le ancilla e rumore su porte e misure, con 200 000 esecuzioni per punto.</a:t>
            </a:r>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Qui l'intelligenza artificiale trova finalmente un ruolo. Nella realtà i qubit vicini si disturbano a vicenda, come conversazioni in una stanza affollata: si chiama crosstalk. Il decoder classico non tiene conto di questi errori collegati.</a:t>
            </a:r>
          </a:p>
          <a:p>
            <a:r>
              <a:t>Una rete neurale da sola non batte il decoder classico. Ma usata come assistente che ne corregge le decisioni, il decoder ibrido, la linea arancione continua, funziona. Nel punto cerchiato gli errori scendono del 16,8%.</a:t>
            </a:r>
          </a:p>
          <a:p>
            <a:r>
              <a:t>Sui codici più grandi, le linee tratteggiate, il vantaggio quasi sparisce, e un decoder classico più potente, BP+OSD, le linee grigie, fa ancora meglio. L'intelligenza artificiale aiuta da assistente, non da sostituto.</a:t>
            </a:r>
          </a:p>
          <a:p>
            <a:endParaRPr/>
          </a:p>
          <a:p>
            <a:r>
              <a:t>Il punto cerchiato è a distanza 3, con errore fisico dello 0,3% e crosstalk 0,01: l'errore logico passa da 0,05829 a 0,04851, e il test appaiato di McNemar conferma che il beneficio è significativo.</a:t>
            </a:r>
          </a:p>
          <a:p>
            <a:r>
              <a:rPr lang="it-IT"/>
              <a:t>Il punto cerchiato è a distanza 3, con errore fisico dello 0,3% e crosstalk 0,01: l'errore logico passa da 0,05829 a 0,04851, e il test appaiato di McNemar conferma che il beneficio è significativo.</a:t>
            </a:r>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Infine il confronto tra i due codici. Per proteggere gli stessi 12 qubit, il Gross code, la barra arancione, usa 144 qubit; il surface code ne richiede da 1452 a 2028. Da 10 a 14 volte di meno.</a:t>
            </a:r>
          </a:p>
          <a:p>
            <a:r>
              <a:t>Un dettaglio importante: per un confronto alla pari, qui anche il surface code è simulato nello stesso modello semplificato, senza ancilla. Per questo questi numeri non vanno confrontati con la soglia di prima, che usa il circuito completo.</a:t>
            </a:r>
          </a:p>
          <a:p>
            <a:r>
              <a:t>E non protegge peggio: in questo modello, all'1% di errore sbaglia circa una volta su un milione, meglio delle soluzioni con il surface code. Anche qui il decoder conta: con la versione giusta gli errori calano di circa cento volte.</a:t>
            </a:r>
          </a:p>
          <a:p>
            <a:endParaRPr/>
          </a:p>
          <a:p>
            <a:r>
              <a:t>I valori di errore logico sono all'1% di errore fisico. Contro le patch a distanza 11 il Gross code vince a ogni livello di errore studiato; contro quelle a distanza 13 vince dallo 0,75% in su, allo 0,5% sono pari e più in basso vince il surface code. Il decoder BP+OSD in versione seriale fallisce circa cento volte meno di quello parallelo.</a:t>
            </a:r>
          </a:p>
          <a:p>
            <a:r>
              <a:rPr lang="it-IT"/>
              <a:t>Contro le patch a distanza 11 il Gross code vince a ogni livello di errore studiato; contro quelle a distanza 13 vince dallo 0,75% in su, allo 0,5% sono pari e più in basso vince il surface code. Il decoder BP+OSD in versione seriale fallisce circa cento volte meno di quello parallelo.</a:t>
            </a:r>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 primo risultato è la soglia. Ogni colore è un codice con più qubit di protezione. Nella zona verde le curve dei codici più grandi stanno più in basso: aggiungere qubit riduce gli errori. Nella zona rossa succede il contrario: più qubit, più errori.</a:t>
            </a:r>
          </a:p>
          <a:p>
            <a:r>
              <a:t>È come una squadra: aggiungere persone aiuta solo se ognuno sa già fare bene il proprio lavoro. Il punto in cui le curve si incrociano è la soglia, che ho stimato tra lo 0,8 e lo 0,9% di errore per operazione.</a:t>
            </a:r>
          </a:p>
          <a:p>
            <a:r>
              <a:t>E per Shor cosa significa? Torniamo al grafico di prima. Se la correzione riduce l'errore che resta a 0,2% per operazione, Shor si mantiene intorno al 70%; a 0,5%, al 64%; senza correzione, all'1%, scende al 56%. La correzione aiuta, ma non riporta Shor al 75%. È una stima: ho simulato Shor con un errore residuo, non l'intero circuito protetto.</a:t>
            </a:r>
          </a:p>
          <a:p>
            <a:r>
              <a:t>Il valore 0,86% è la soglia per gli errori di tipo Z; per quelli di tipo X è 0,81%. Il grafico usa il decoder MWPM, distanze da 3 a 9, il circuito completo con le ancilla e rumore su porte e misure, con 200 000 esecuzioni per punto.</a:t>
            </a:r>
          </a:p>
          <a:p>
            <a:r>
              <a:rPr lang="it-IT"/>
              <a:t>Il valore 0,86% è la soglia per gli errori di tipo Z; per quelli di tipo X è 0,81%. Il grafico usa il decoder MWPM, distanze da 3 a 9, il circuito completo con le ancilla e rumore su porte e misure, con 200 000 esecuzioni per punto.</a:t>
            </a:r>
          </a:p>
          <a:p>
            <a:r>
              <a:t>Qui l'intelligenza artificiale trova finalmente un ruolo. Nella realtà i qubit vicini si disturbano a vicenda, come conversazioni in una stanza affollata: si chiama crosstalk. Il decoder classico non tiene conto di questi errori collegati.</a:t>
            </a:r>
          </a:p>
          <a:p>
            <a:r>
              <a:t>Una rete neurale da sola non batte il decoder classico. Ma usata come assistente che ne corregge le decisioni, il decoder ibrido, la linea arancione continua, funziona. Nel punto cerchiato gli errori scendono del 16,8%.</a:t>
            </a:r>
          </a:p>
          <a:p>
            <a:r>
              <a:t>Sui codici più grandi, le linee tratteggiate, il vantaggio quasi sparisce, e un decoder classico più potente, BP+OSD, le linee grigie, fa ancora meglio. L'intelligenza artificiale aiuta da assistente, non da sostituto.</a:t>
            </a:r>
          </a:p>
          <a:p>
            <a:r>
              <a:t>Il punto cerchiato è a distanza 3, con errore fisico dello 0,3% e crosstalk 0,01: l'errore logico passa da 0,05829 a 0,04851, e il test appaiato di McNemar conferma che il beneficio è significativo.</a:t>
            </a:r>
          </a:p>
          <a:p>
            <a:r>
              <a:rPr lang="it-IT"/>
              <a:t>Il punto cerchiato è a distanza 3, con errore fisico dello 0,3% e crosstalk 0,01: l'errore logico passa da 0,05829 a 0,04851, e il test appaiato di McNemar conferma che il beneficio è significativo.</a:t>
            </a:r>
          </a:p>
          <a:p>
            <a:r>
              <a:t>Infine il confronto tra i due codici. Per proteggere gli stessi 12 qubit, il Gross code, la barra arancione, usa 144 qubit; il surface code ne richiede da 1452 a 2028. Da 10 a 14 volte di meno.</a:t>
            </a:r>
          </a:p>
          <a:p>
            <a:r>
              <a:t>Un dettaglio importante: per un confronto alla pari, qui anche il surface code è simulato nello stesso modello semplificato, senza ancilla. Per questo questi numeri non vanno confrontati con la soglia di prima, che usa il circuito completo.</a:t>
            </a:r>
          </a:p>
          <a:p>
            <a:r>
              <a:t>E non protegge peggio: in questo modello, all'1% di errore sbaglia circa una volta su un milione, meglio delle soluzioni con il surface code. Anche qui il decoder conta: con la versione giusta gli errori calano di circa cento volte.</a:t>
            </a:r>
          </a:p>
          <a:p>
            <a:r>
              <a:t>I valori di errore logico sono all'1% di errore fisico. Contro le patch a distanza 11 il Gross code vince a ogni livello di errore studiato; contro quelle a distanza 13 vince dallo 0,75% in su, allo 0,5% sono pari e più in basso vince il surface code. Il decoder BP+OSD in versione seriale fallisce circa cento volte meno di quello parallelo.</a:t>
            </a:r>
          </a:p>
          <a:p>
            <a:r>
              <a:rPr lang="it-IT"/>
              <a:t>Contro le patch a distanza 11 il Gross code vince a ogni livello di errore studiato; contro quelle a distanza 13 vince dallo 0,75% in su, allo 0,5% sono pari e più in basso vince il surface code. Il decoder BP+OSD in versione seriale fallisce circa cento volte meno di quello parallelo.</a:t>
            </a:r>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Ed ecco il risultato. A destra c'è la QFT completa, verso sinistra tolgo sempre più rotazioni. Con la QFT completa Shor si ferma al 48%. Con la versione scelta, quella cerchiata, sale al 63%: quasi 15 punti in più, con il 23% di operazioni a due qubit in meno.</a:t>
            </a:r>
          </a:p>
          <a:p>
            <a:r>
              <a:t>Devo però essere onesto: 15 è un caso favorevole, perché il suo ritmo è di 4 e le rotazioni tolte non portavano informazione. Su 21 le operazioni si dimezzano, ma un vantaggio non è dimostrato. L'approssimazione va quindi scelta caso per caso.</a:t>
            </a:r>
          </a:p>
          <a:p>
            <a:endParaRPr/>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Terza strategia: scrivere una lettera più corta. Ogni operazione è un'occasione di errore, quindi meno operazioni significa meno errori.</a:t>
            </a:r>
          </a:p>
          <a:p>
            <a:r>
              <a:t>Ho lavorato sulla QFT, la trasformata di Fourier quantistica: la lente che trasforma il ritmo nascosto in picchi ben visibili. Al suo interno ci sono rotazioni sempre più piccole. Le ultime sono come girare una manopola di una frazione di grado: costano un'operazione intera, ma cambiano quasi nulla.</a:t>
            </a:r>
          </a:p>
          <a:p>
            <a:r>
              <a:t>Nella versione approssimata le tolgo. Funziona perché Shor non ha bisogno della fase esatta: gli basta un valore abbastanza vicino perché il calcolo finale ritrovi il ritmo. L'ho provata su 15, su 21 e su test dedicati, con il rumore misurato su un vero computer IBM e riprodotto in simulazione.</a:t>
            </a:r>
          </a:p>
          <a:p>
            <a:endParaRPr/>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Ed ecco il risultato. A destra c'è la QFT completa, verso sinistra tolgo sempre più rotazioni. Con la QFT completa Shor si ferma al 48%. Con la versione scelta, quella cerchiata, sale al 63%: quasi 15 punti in più, con il 23% di operazioni a due qubit in meno.</a:t>
            </a:r>
          </a:p>
          <a:p>
            <a:r>
              <a:t>Devo però essere onesto: 15 è un caso favorevole, perché il suo ritmo è di 4 e le rotazioni tolte non portavano informazione. Su 21 le operazioni si dimezzano, ma un vantaggio non è dimostrato. L'approssimazione va quindi scelta caso per caso.</a:t>
            </a:r>
          </a:p>
          <a:p>
            <a:endParaRPr/>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Torno alla lettera rovinata.</a:t>
            </a:r>
          </a:p>
          <a:p>
            <a:r>
              <a:t>Interpretarla meglio dopo che è arrivata aiuta poco: nel post-processing il vantaggio viene dal provare più risposte, non dall'intelligenza artificiale. Proteggerla durante il viaggio funziona, ma solo se la macchina è già abbastanza buona, sotto la soglia; e codice e decoder vanno scelti insieme. Accorciarla, con la QFT approssimata, aiuta, ma non in tutti i casi.</a:t>
            </a:r>
          </a:p>
          <a:p>
            <a:r>
              <a:t>Il mio contributo è stato costruire e verificare i circuiti, progettare confronti onesti e rendere ogni risultato riproducibile.</a:t>
            </a:r>
          </a:p>
          <a:p>
            <a:r>
              <a:t>I limiti li dichiaro: ho lavorato in simulazione, su pochi casi, e senza un'esecuzione di Shor completamente protetta. Il passo successivo è rendere i circuiti più leggeri e unirli alla correzione degli errori.</a:t>
            </a:r>
          </a:p>
          <a:p>
            <a:endParaRPr/>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 video parte da solo e dura 2 minuti. Parla sopra il video, seguendo le scritte in basso; i tempi tra parentesi sono quelli del video.]</a:t>
            </a:r>
          </a:p>
          <a:p>
            <a:r>
              <a:t>[0:00] Prima di concludere, vi faccio vedere il simulatore che ho realizzato. Segue Shor passo per passo, prima senza errori e poi con il rumore.</a:t>
            </a:r>
          </a:p>
          <a:p>
            <a:r>
              <a:t>[0:06] È lo stesso caso: fattorizzare 15 partendo da 7. Ogni riga è un qubit; a destra, ogni sfera mostra con una freccia lo stato del suo qubit.</a:t>
            </a:r>
          </a:p>
          <a:p>
            <a:r>
              <a:t>[0:17] Prima tutti i qubit vengono messi in sovrapposizione, cioè in più stati contemporaneamente. Poi le moltiplicazioni per 7 scrivono il ritmo nei qubit. Le frecce si accorciano, ma non è un errore: è l'entanglement, i qubit diventano legati tra loro.</a:t>
            </a:r>
          </a:p>
          <a:p>
            <a:r>
              <a:t>[0:30] La QFT trasforma il ritmo in quattro picchi, e dalla misura un calcolo classico ricava 15 uguale 3 per 5.</a:t>
            </a:r>
          </a:p>
          <a:p>
            <a:r>
              <a:t>[0:48] Ora lo stesso circuito con il rumore: le frecce si accorciano anche dove prima restavano intere. Lo stato si sta rovinando.</a:t>
            </a:r>
          </a:p>
          <a:p>
            <a:r>
              <a:t>[1:08] Qui si vede dove entra il rumore: ogni operazione ha il suo errore, quelle su due qubit sono le più fragili, e anche la lettura finale può sbagliare.</a:t>
            </a:r>
          </a:p>
          <a:p>
            <a:r>
              <a:t>[1:15] Ripetendo il circuito molte volte, i risultati si sparpagliano su tutte le risposte possibili e i picchi si abbassano: è lo stesso calo che avete visto nel grafico all'inizio.</a:t>
            </a:r>
          </a:p>
          <a:p>
            <a:r>
              <a:t>[1:33] Questa è informazione persa. Una volta misurata, non si recupera più.</a:t>
            </a:r>
          </a:p>
          <a:p>
            <a:r>
              <a:t>[1:53] Ed è proprio il messaggio della mia tesi: il rumore va affrontato durante il calcolo, perché dopo la misura l'informazione distrutta non si può ricostruire.</a:t>
            </a:r>
          </a:p>
          <a:p>
            <a:endParaRPr/>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F1858EE6-424E-4AB1-810E-A806DCA5570B}"/>
              </a:ext>
            </a:extLst>
          </p:cNvPr>
          <p:cNvSpPr>
            <a:spLocks noGrp="1"/>
          </p:cNvSpPr>
          <p:nvPr/>
        </p:nvSpPr>
        <p:spPr>
          <a:xfrm>
            <a:off x="5791200" y="22098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6514CB97-FAF0-4732-BC5E-17B6727A7832}"/>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Subtitle">
            <a:extLst>
              <a:ext uri="{FF2B5EF4-FFF2-40B4-BE49-F238E27FC236}">
                <a16:creationId xmlns:a16="http://schemas.microsoft.com/office/drawing/2014/main" id="{4CED97E8-227E-4885-98D6-50556E9F5B76}"/>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3" name="Accent rule">
            <a:extLst>
              <a:ext uri="{FF2B5EF4-FFF2-40B4-BE49-F238E27FC236}">
                <a16:creationId xmlns:a16="http://schemas.microsoft.com/office/drawing/2014/main" id="{A663DF4A-4087-4F6D-82DA-23E9FEC04352}"/>
              </a:ext>
            </a:extLst>
          </p:cNvPr>
          <p:cNvSpPr>
            <a:spLocks noGrp="1"/>
          </p:cNvSpPr>
          <p:nvPr/>
        </p:nvSpPr>
        <p:spPr>
          <a:xfrm>
            <a:off x="5791200" y="2476500"/>
            <a:ext cx="609600" cy="38100"/>
          </a:xfrm>
          <a:prstGeom prst="rect">
            <a:avLst/>
          </a:prstGeom>
          <a:solidFill>
            <a:schemeClr val="accent1"/>
          </a:solidFill>
          <a:ln>
            <a:noFill/>
            <a:prstDash val="solid"/>
          </a:ln>
        </p:spPr>
      </p:sp>
      <p:sp>
        <p:nvSpPr>
          <p:cNvPr id="2" name="Section title">
            <a:extLst>
              <a:ext uri="{FF2B5EF4-FFF2-40B4-BE49-F238E27FC236}">
                <a16:creationId xmlns:a16="http://schemas.microsoft.com/office/drawing/2014/main" id="{8B9A1AEB-1337-4FDB-8590-1B3D0E21C09B}"/>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A39FE0B0-283F-4103-BB99-25BC8D69CC94}"/>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304BBB57-2B77-4FAD-BE78-CF62A299E52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Body">
            <a:extLst>
              <a:ext uri="{FF2B5EF4-FFF2-40B4-BE49-F238E27FC236}">
                <a16:creationId xmlns:a16="http://schemas.microsoft.com/office/drawing/2014/main" id="{5F216316-52A7-4631-BF49-70DCCADAA9CA}"/>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5" name="Accent rule">
            <a:extLst>
              <a:ext uri="{FF2B5EF4-FFF2-40B4-BE49-F238E27FC236}">
                <a16:creationId xmlns:a16="http://schemas.microsoft.com/office/drawing/2014/main" id="{B633D398-86D8-4430-87C4-A0D518D99350}"/>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D36752AA-9A66-4626-854C-9FDD2D07F05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693C91F2-5F98-444D-9840-B7EF3D7398D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4" name="Right column">
            <a:extLst>
              <a:ext uri="{FF2B5EF4-FFF2-40B4-BE49-F238E27FC236}">
                <a16:creationId xmlns:a16="http://schemas.microsoft.com/office/drawing/2014/main" id="{0DD29D6C-3E54-4ED2-A05F-EB92359B7339}"/>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F28F2ADC-7267-455D-82A7-8F988504DFC1}"/>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AD1E56D0-BA82-4CC2-9BED-8D28510295F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2CB2DCDA-14F3-4D6A-993C-E6E4DB696497}"/>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1_Title and body">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562620"/>
            <a:ext cx="7874000" cy="377180"/>
          </a:xfrm>
          <a:prstGeom prst="rect">
            <a:avLst/>
          </a:prstGeom>
          <a:noFill/>
          <a:ln/>
        </p:spPr>
        <p:txBody>
          <a:bodyPr wrap="square" lIns="0" tIns="0" rIns="0" bIns="0" rtlCol="0" anchor="t"/>
          <a:lstStyle>
            <a:lvl1pPr marL="0" indent="0" algn="l">
              <a:lnSpc>
                <a:spcPct val="115000"/>
              </a:lnSpc>
              <a:buNone/>
              <a:defRPr lang="en-US" sz="2700" dirty="0">
                <a:solidFill>
                  <a:srgbClr val="125C97"/>
                </a:solidFill>
                <a:latin typeface="Arial" pitchFamily="34" charset="0"/>
                <a:ea typeface="Arial" pitchFamily="34" charset="-122"/>
                <a:cs typeface="Arial" pitchFamily="34" charset="-120"/>
              </a:defRPr>
            </a:lvl1pPr>
          </a:lstStyle>
          <a:p>
            <a:pPr marL="0" indent="0" algn="l">
              <a:lnSpc>
                <a:spcPct val="115000"/>
              </a:lnSpc>
              <a:buNone/>
            </a:pPr>
            <a:endParaRPr lang="en-US" sz="2700"/>
          </a:p>
        </p:txBody>
      </p:sp>
      <p:sp>
        <p:nvSpPr>
          <p:cNvPr id="3" name="Text Placeholder 2"/>
          <p:cNvSpPr>
            <a:spLocks noGrp="1"/>
          </p:cNvSpPr>
          <p:nvPr>
            <p:ph type="body" idx="101"/>
          </p:nvPr>
        </p:nvSpPr>
        <p:spPr>
          <a:xfrm>
            <a:off x="609600" y="1244600"/>
            <a:ext cx="10769600" cy="4800600"/>
          </a:xfrm>
          <a:prstGeom prst="rect">
            <a:avLst/>
          </a:prstGeom>
          <a:noFill/>
          <a:ln/>
        </p:spPr>
        <p:txBody>
          <a:bodyPr wrap="square" lIns="0" tIns="0" rIns="0" bIns="0" rtlCol="0" anchor="t"/>
          <a:lstStyle>
            <a:lvl1pPr marL="0" indent="0" algn="l">
              <a:lnSpc>
                <a:spcPct val="140000"/>
              </a:lnSpc>
              <a:buNone/>
              <a:defRPr lang="en-US" sz="1600" dirty="0">
                <a:solidFill>
                  <a:srgbClr val="125C97"/>
                </a:solidFill>
                <a:latin typeface="Arial" pitchFamily="34" charset="0"/>
                <a:ea typeface="Arial" pitchFamily="34" charset="-122"/>
                <a:cs typeface="Arial" pitchFamily="34" charset="-120"/>
              </a:defRPr>
            </a:lvl1pPr>
          </a:lstStyle>
          <a:p>
            <a:pPr marL="0" indent="0" algn="l">
              <a:lnSpc>
                <a:spcPct val="140000"/>
              </a:lnSpc>
              <a:buNone/>
            </a:pPr>
            <a:endParaRPr lang="en-US" sz="1600"/>
          </a:p>
        </p:txBody>
      </p:sp>
    </p:spTree>
    <p:extLst>
      <p:ext uri="{BB962C8B-B14F-4D97-AF65-F5344CB8AC3E}">
        <p14:creationId xmlns:p14="http://schemas.microsoft.com/office/powerpoint/2010/main" val="11777360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1.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9.png"/><Relationship Id="rId5" Type="http://schemas.openxmlformats.org/officeDocument/2006/relationships/image" Target="../media/image1.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0.jpeg"/><Relationship Id="rId7" Type="http://schemas.openxmlformats.org/officeDocument/2006/relationships/image" Target="../media/image14.jpe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13.jpeg"/><Relationship Id="rId11" Type="http://schemas.openxmlformats.org/officeDocument/2006/relationships/image" Target="../media/image18.jpg"/><Relationship Id="rId5" Type="http://schemas.openxmlformats.org/officeDocument/2006/relationships/image" Target="../media/image12.jpeg"/><Relationship Id="rId10" Type="http://schemas.openxmlformats.org/officeDocument/2006/relationships/image" Target="../media/image17.jpeg"/><Relationship Id="rId4" Type="http://schemas.openxmlformats.org/officeDocument/2006/relationships/image" Target="../media/image11.jpeg"/><Relationship Id="rId9" Type="http://schemas.openxmlformats.org/officeDocument/2006/relationships/image" Target="../media/image16.jpe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1.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6.xml"/><Relationship Id="rId5" Type="http://schemas.openxmlformats.org/officeDocument/2006/relationships/image" Target="../media/image19.png"/><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9.png"/><Relationship Id="rId5" Type="http://schemas.openxmlformats.org/officeDocument/2006/relationships/image" Target="../media/image1.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7.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1.png"/><Relationship Id="rId4" Type="http://schemas.openxmlformats.org/officeDocument/2006/relationships/image" Target="../media/image4.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6.xml"/><Relationship Id="rId4" Type="http://schemas.openxmlformats.org/officeDocument/2006/relationships/chart" Target="../charts/chart1.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6.xml"/><Relationship Id="rId4" Type="http://schemas.openxmlformats.org/officeDocument/2006/relationships/chart" Target="../charts/chart2.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6.xml"/><Relationship Id="rId4" Type="http://schemas.openxmlformats.org/officeDocument/2006/relationships/chart" Target="../charts/chart3.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5.xml"/><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9.xml"/><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5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0.xml"/><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6.xml"/><Relationship Id="rId5" Type="http://schemas.openxmlformats.org/officeDocument/2006/relationships/image" Target="../media/image19.png"/><Relationship Id="rId4" Type="http://schemas.openxmlformats.org/officeDocument/2006/relationships/image" Target="../media/image7.png"/></Relationships>
</file>

<file path=ppt/slides/_rels/slide5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3.xml"/><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5.xml"/><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6.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9.png"/><Relationship Id="rId5" Type="http://schemas.openxmlformats.org/officeDocument/2006/relationships/image" Target="../media/image1.png"/><Relationship Id="rId4"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3"/>
          <a:stretch/>
        </p:blipFill>
        <p:spPr>
          <a:xfrm>
            <a:off x="609600" y="405288"/>
            <a:ext cx="952500" cy="789624"/>
          </a:xfrm>
          <a:prstGeom prst="rect">
            <a:avLst/>
          </a:prstGeom>
        </p:spPr>
      </p:pic>
      <p:sp>
        <p:nvSpPr>
          <p:cNvPr id="2" name="Rectangle 1">
            <a:extLst>
              <a:ext uri="{FF2B5EF4-FFF2-40B4-BE49-F238E27FC236}">
                <a16:creationId xmlns:a16="http://schemas.microsoft.com/office/drawing/2014/main" id="{3C9F48EF-C541-4AB5-9D04-99775057D874}"/>
              </a:ext>
            </a:extLst>
          </p:cNvPr>
          <p:cNvSpPr>
            <a:spLocks noGrp="1"/>
          </p:cNvSpPr>
          <p:nvPr/>
        </p:nvSpPr>
        <p:spPr>
          <a:xfrm>
            <a:off x="1752600" y="438150"/>
            <a:ext cx="9239250" cy="323850"/>
          </a:xfrm>
          <a:prstGeom prst="rect">
            <a:avLst/>
          </a:prstGeom>
          <a:noFill/>
          <a:ln w="0">
            <a:noFill/>
          </a:ln>
        </p:spPr>
        <p:txBody>
          <a:bodyPr>
            <a:noAutofit/>
          </a:bodyPr>
          <a:lstStyle/>
          <a:p>
            <a:pPr>
              <a:defRPr sz="1725" b="1">
                <a:solidFill>
                  <a:srgbClr val="125C97"/>
                </a:solidFill>
                <a:latin typeface="Arial"/>
                <a:ea typeface="Arial"/>
                <a:cs typeface="Arial"/>
              </a:defRPr>
            </a:pPr>
            <a:r>
              <a:rPr sz="1725" b="1">
                <a:solidFill>
                  <a:srgbClr val="125C97"/>
                </a:solidFill>
                <a:latin typeface="Arial"/>
                <a:ea typeface="Arial"/>
                <a:cs typeface="Arial"/>
              </a:rPr>
              <a:t>Università Campus Bio-Medico di Roma</a:t>
            </a:r>
          </a:p>
        </p:txBody>
      </p:sp>
      <p:sp>
        <p:nvSpPr>
          <p:cNvPr id="3" name="Rectangle 2">
            <a:extLst>
              <a:ext uri="{FF2B5EF4-FFF2-40B4-BE49-F238E27FC236}">
                <a16:creationId xmlns:a16="http://schemas.microsoft.com/office/drawing/2014/main" id="{85D2D7C9-2F27-45C3-B3DC-01B26E0CA917}"/>
              </a:ext>
            </a:extLst>
          </p:cNvPr>
          <p:cNvSpPr>
            <a:spLocks noGrp="1"/>
          </p:cNvSpPr>
          <p:nvPr/>
        </p:nvSpPr>
        <p:spPr>
          <a:xfrm>
            <a:off x="1752600" y="809625"/>
            <a:ext cx="8858250" cy="647700"/>
          </a:xfrm>
          <a:prstGeom prst="rect">
            <a:avLst/>
          </a:prstGeom>
          <a:noFill/>
          <a:ln w="0">
            <a:noFill/>
          </a:ln>
        </p:spPr>
        <p:txBody>
          <a:bodyPr>
            <a:noAutofit/>
          </a:bodyPr>
          <a:lstStyle/>
          <a:p>
            <a:pPr>
              <a:defRPr sz="1575" b="0">
                <a:solidFill>
                  <a:srgbClr val="203344"/>
                </a:solidFill>
                <a:latin typeface="Arial"/>
                <a:ea typeface="Arial"/>
                <a:cs typeface="Arial"/>
              </a:defRPr>
            </a:pPr>
            <a:r>
              <a:rPr sz="1575" b="0">
                <a:solidFill>
                  <a:srgbClr val="203344"/>
                </a:solidFill>
                <a:latin typeface="Arial"/>
                <a:ea typeface="Arial"/>
                <a:cs typeface="Arial"/>
              </a:rPr>
              <a:t>Facoltà Dipartimentale di Ingegneria</a:t>
            </a:r>
          </a:p>
          <a:p>
            <a:pPr>
              <a:defRPr sz="1575" b="0">
                <a:solidFill>
                  <a:srgbClr val="203344"/>
                </a:solidFill>
                <a:latin typeface="Arial"/>
                <a:ea typeface="Arial"/>
                <a:cs typeface="Arial"/>
              </a:defRPr>
            </a:pPr>
            <a:r>
              <a:rPr sz="1575" b="0">
                <a:solidFill>
                  <a:srgbClr val="203344"/>
                </a:solidFill>
                <a:latin typeface="Arial"/>
                <a:ea typeface="Arial"/>
                <a:cs typeface="Arial"/>
              </a:rPr>
              <a:t>Laurea Magistrale in Ingegneria dei Sistemi Intelligenti</a:t>
            </a:r>
          </a:p>
        </p:txBody>
      </p:sp>
      <p:sp>
        <p:nvSpPr>
          <p:cNvPr id="4" name="Rectangle 3">
            <a:extLst>
              <a:ext uri="{FF2B5EF4-FFF2-40B4-BE49-F238E27FC236}">
                <a16:creationId xmlns:a16="http://schemas.microsoft.com/office/drawing/2014/main" id="{23642B9C-F891-4E0A-A9AD-6E326DDD4410}"/>
              </a:ext>
            </a:extLst>
          </p:cNvPr>
          <p:cNvSpPr>
            <a:spLocks noGrp="1"/>
          </p:cNvSpPr>
          <p:nvPr/>
        </p:nvSpPr>
        <p:spPr>
          <a:xfrm>
            <a:off x="609600" y="1990725"/>
            <a:ext cx="7334250" cy="1371600"/>
          </a:xfrm>
          <a:prstGeom prst="rect">
            <a:avLst/>
          </a:prstGeom>
          <a:noFill/>
          <a:ln w="0">
            <a:noFill/>
          </a:ln>
        </p:spPr>
        <p:txBody>
          <a:bodyPr>
            <a:noAutofit/>
          </a:bodyPr>
          <a:lstStyle/>
          <a:p>
            <a:pPr>
              <a:defRPr sz="4275" b="1">
                <a:solidFill>
                  <a:srgbClr val="003366"/>
                </a:solidFill>
                <a:latin typeface="Arial"/>
                <a:ea typeface="Arial"/>
                <a:cs typeface="Arial"/>
              </a:defRPr>
            </a:pPr>
            <a:r>
              <a:rPr sz="4275" b="1">
                <a:solidFill>
                  <a:srgbClr val="003366"/>
                </a:solidFill>
                <a:latin typeface="Arial"/>
                <a:ea typeface="Arial"/>
                <a:cs typeface="Arial"/>
              </a:rPr>
              <a:t>Shor’s algorithm</a:t>
            </a:r>
          </a:p>
          <a:p>
            <a:pPr>
              <a:defRPr sz="4275" b="1">
                <a:solidFill>
                  <a:srgbClr val="003366"/>
                </a:solidFill>
                <a:latin typeface="Arial"/>
                <a:ea typeface="Arial"/>
                <a:cs typeface="Arial"/>
              </a:defRPr>
            </a:pPr>
            <a:r>
              <a:rPr sz="4275" b="1">
                <a:solidFill>
                  <a:srgbClr val="003366"/>
                </a:solidFill>
                <a:latin typeface="Arial"/>
                <a:ea typeface="Arial"/>
                <a:cs typeface="Arial"/>
              </a:rPr>
              <a:t>under noise</a:t>
            </a:r>
          </a:p>
        </p:txBody>
      </p:sp>
      <p:sp>
        <p:nvSpPr>
          <p:cNvPr id="5" name="Rectangle 4">
            <a:extLst>
              <a:ext uri="{FF2B5EF4-FFF2-40B4-BE49-F238E27FC236}">
                <a16:creationId xmlns:a16="http://schemas.microsoft.com/office/drawing/2014/main" id="{F6A9A1EC-12DD-49BB-B82C-D1D7C02BC5F9}"/>
              </a:ext>
            </a:extLst>
          </p:cNvPr>
          <p:cNvSpPr>
            <a:spLocks noGrp="1"/>
          </p:cNvSpPr>
          <p:nvPr/>
        </p:nvSpPr>
        <p:spPr>
          <a:xfrm>
            <a:off x="609600" y="3581400"/>
            <a:ext cx="7067550" cy="1276350"/>
          </a:xfrm>
          <a:prstGeom prst="rect">
            <a:avLst/>
          </a:prstGeom>
          <a:noFill/>
          <a:ln w="0">
            <a:noFill/>
          </a:ln>
        </p:spPr>
        <p:txBody>
          <a:bodyPr>
            <a:noAutofit/>
          </a:bodyPr>
          <a:lstStyle/>
          <a:p>
            <a:pPr>
              <a:defRPr sz="2325" b="0">
                <a:solidFill>
                  <a:srgbClr val="203344"/>
                </a:solidFill>
                <a:latin typeface="Arial"/>
                <a:ea typeface="Arial"/>
                <a:cs typeface="Arial"/>
              </a:defRPr>
            </a:pPr>
            <a:r>
              <a:rPr sz="2325" b="0">
                <a:solidFill>
                  <a:srgbClr val="203344"/>
                </a:solidFill>
                <a:latin typeface="Arial"/>
                <a:ea typeface="Arial"/>
                <a:cs typeface="Arial"/>
              </a:rPr>
              <a:t>Machine-learning ablation,</a:t>
            </a:r>
          </a:p>
          <a:p>
            <a:pPr>
              <a:defRPr sz="2325" b="0">
                <a:solidFill>
                  <a:srgbClr val="203344"/>
                </a:solidFill>
                <a:latin typeface="Arial"/>
                <a:ea typeface="Arial"/>
                <a:cs typeface="Arial"/>
              </a:defRPr>
            </a:pPr>
            <a:r>
              <a:rPr sz="2325" b="0">
                <a:solidFill>
                  <a:srgbClr val="203344"/>
                </a:solidFill>
                <a:latin typeface="Arial"/>
                <a:ea typeface="Arial"/>
                <a:cs typeface="Arial"/>
              </a:rPr>
              <a:t>quantum error correction</a:t>
            </a:r>
          </a:p>
          <a:p>
            <a:pPr>
              <a:defRPr sz="2325" b="0">
                <a:solidFill>
                  <a:srgbClr val="203344"/>
                </a:solidFill>
                <a:latin typeface="Arial"/>
                <a:ea typeface="Arial"/>
                <a:cs typeface="Arial"/>
              </a:defRPr>
            </a:pPr>
            <a:r>
              <a:rPr sz="2325" b="0">
                <a:solidFill>
                  <a:srgbClr val="203344"/>
                </a:solidFill>
                <a:latin typeface="Arial"/>
                <a:ea typeface="Arial"/>
                <a:cs typeface="Arial"/>
              </a:rPr>
              <a:t>and approximate QFT</a:t>
            </a:r>
          </a:p>
        </p:txBody>
      </p:sp>
      <p:pic>
        <p:nvPicPr>
          <p:cNvPr id="16" name="Picture 15"/>
          <p:cNvPicPr>
            <a:picLocks noChangeAspect="1"/>
          </p:cNvPicPr>
          <p:nvPr/>
        </p:nvPicPr>
        <p:blipFill>
          <a:blip r:embed="rId4"/>
          <a:stretch/>
        </p:blipFill>
        <p:spPr>
          <a:xfrm>
            <a:off x="7829550" y="1990312"/>
            <a:ext cx="3695700" cy="3467927"/>
          </a:xfrm>
          <a:prstGeom prst="rect">
            <a:avLst/>
          </a:prstGeom>
        </p:spPr>
      </p:pic>
      <p:sp>
        <p:nvSpPr>
          <p:cNvPr id="7" name="Rectangle 6">
            <a:extLst>
              <a:ext uri="{FF2B5EF4-FFF2-40B4-BE49-F238E27FC236}">
                <a16:creationId xmlns:a16="http://schemas.microsoft.com/office/drawing/2014/main" id="{B3D49A18-4070-4177-B7DF-7692A24022DE}"/>
              </a:ext>
            </a:extLst>
          </p:cNvPr>
          <p:cNvSpPr>
            <a:spLocks noGrp="1"/>
          </p:cNvSpPr>
          <p:nvPr/>
        </p:nvSpPr>
        <p:spPr>
          <a:xfrm>
            <a:off x="609600" y="5457825"/>
            <a:ext cx="4381500" cy="323850"/>
          </a:xfrm>
          <a:prstGeom prst="rect">
            <a:avLst/>
          </a:prstGeom>
          <a:noFill/>
          <a:ln w="0">
            <a:noFill/>
          </a:ln>
        </p:spPr>
        <p:txBody>
          <a:bodyPr>
            <a:noAutofit/>
          </a:bodyPr>
          <a:lstStyle/>
          <a:p>
            <a:pPr>
              <a:defRPr sz="1725" b="1">
                <a:solidFill>
                  <a:srgbClr val="125C97"/>
                </a:solidFill>
                <a:latin typeface="Arial"/>
                <a:ea typeface="Arial"/>
                <a:cs typeface="Arial"/>
              </a:defRPr>
            </a:pPr>
            <a:r>
              <a:rPr sz="1725" b="1">
                <a:solidFill>
                  <a:srgbClr val="125C97"/>
                </a:solidFill>
                <a:latin typeface="Arial"/>
                <a:ea typeface="Arial"/>
                <a:cs typeface="Arial"/>
              </a:rPr>
              <a:t>Claudio Dragotta</a:t>
            </a:r>
          </a:p>
        </p:txBody>
      </p:sp>
      <p:sp>
        <p:nvSpPr>
          <p:cNvPr id="8" name="Rectangle 7">
            <a:extLst>
              <a:ext uri="{FF2B5EF4-FFF2-40B4-BE49-F238E27FC236}">
                <a16:creationId xmlns:a16="http://schemas.microsoft.com/office/drawing/2014/main" id="{F97B7AF3-F65D-47FE-AD63-B30D3BE685FA}"/>
              </a:ext>
            </a:extLst>
          </p:cNvPr>
          <p:cNvSpPr>
            <a:spLocks noGrp="1"/>
          </p:cNvSpPr>
          <p:nvPr/>
        </p:nvSpPr>
        <p:spPr>
          <a:xfrm>
            <a:off x="609600" y="5829300"/>
            <a:ext cx="3143250" cy="314325"/>
          </a:xfrm>
          <a:prstGeom prst="rect">
            <a:avLst/>
          </a:prstGeom>
          <a:noFill/>
          <a:ln w="0">
            <a:noFill/>
          </a:ln>
        </p:spPr>
        <p:txBody>
          <a:bodyPr>
            <a:noAutofit/>
          </a:bodyPr>
          <a:lstStyle/>
          <a:p>
            <a:pPr>
              <a:defRPr sz="1575" b="0">
                <a:solidFill>
                  <a:srgbClr val="203344"/>
                </a:solidFill>
                <a:latin typeface="Arial"/>
                <a:ea typeface="Arial"/>
                <a:cs typeface="Arial"/>
              </a:defRPr>
            </a:pPr>
            <a:r>
              <a:rPr sz="1575" b="0">
                <a:solidFill>
                  <a:srgbClr val="203344"/>
                </a:solidFill>
                <a:latin typeface="Arial"/>
                <a:ea typeface="Arial"/>
                <a:cs typeface="Arial"/>
              </a:rPr>
              <a:t>Laureando</a:t>
            </a:r>
          </a:p>
        </p:txBody>
      </p:sp>
      <p:sp>
        <p:nvSpPr>
          <p:cNvPr id="9" name="Rectangle 8">
            <a:extLst>
              <a:ext uri="{FF2B5EF4-FFF2-40B4-BE49-F238E27FC236}">
                <a16:creationId xmlns:a16="http://schemas.microsoft.com/office/drawing/2014/main" id="{B617E2E1-2F16-4949-80F2-901CB2C1A95D}"/>
              </a:ext>
            </a:extLst>
          </p:cNvPr>
          <p:cNvSpPr>
            <a:spLocks noGrp="1"/>
          </p:cNvSpPr>
          <p:nvPr/>
        </p:nvSpPr>
        <p:spPr>
          <a:xfrm>
            <a:off x="5172075" y="5457825"/>
            <a:ext cx="6286500" cy="733425"/>
          </a:xfrm>
          <a:prstGeom prst="rect">
            <a:avLst/>
          </a:prstGeom>
          <a:noFill/>
          <a:ln w="0">
            <a:noFill/>
          </a:ln>
        </p:spPr>
        <p:txBody>
          <a:bodyPr>
            <a:noAutofit/>
          </a:bodyPr>
          <a:lstStyle/>
          <a:p>
            <a:pPr>
              <a:defRPr sz="1725" b="0">
                <a:solidFill>
                  <a:srgbClr val="203344"/>
                </a:solidFill>
                <a:latin typeface="Arial"/>
                <a:ea typeface="Arial"/>
                <a:cs typeface="Arial"/>
              </a:defRPr>
            </a:pPr>
            <a:r>
              <a:rPr sz="1725" b="0">
                <a:solidFill>
                  <a:srgbClr val="203344"/>
                </a:solidFill>
                <a:latin typeface="Arial"/>
                <a:ea typeface="Arial"/>
                <a:cs typeface="Arial"/>
              </a:rPr>
              <a:t>Relatore  Prof. Paolo Soda</a:t>
            </a:r>
          </a:p>
          <a:p>
            <a:pPr>
              <a:defRPr sz="1725" b="0">
                <a:solidFill>
                  <a:srgbClr val="203344"/>
                </a:solidFill>
                <a:latin typeface="Arial"/>
                <a:ea typeface="Arial"/>
                <a:cs typeface="Arial"/>
              </a:defRPr>
            </a:pPr>
            <a:r>
              <a:rPr sz="1725" b="0">
                <a:solidFill>
                  <a:srgbClr val="203344"/>
                </a:solidFill>
                <a:latin typeface="Arial"/>
                <a:ea typeface="Arial"/>
                <a:cs typeface="Arial"/>
              </a:rPr>
              <a:t>Correlatore  Ing. Floriano Caprio</a:t>
            </a:r>
          </a:p>
        </p:txBody>
      </p:sp>
      <p:sp>
        <p:nvSpPr>
          <p:cNvPr id="10" name="Rectangle 9">
            <a:extLst>
              <a:ext uri="{FF2B5EF4-FFF2-40B4-BE49-F238E27FC236}">
                <a16:creationId xmlns:a16="http://schemas.microsoft.com/office/drawing/2014/main" id="{05208FE7-C760-4EA1-9A0B-58579754F642}"/>
              </a:ext>
            </a:extLst>
          </p:cNvPr>
          <p:cNvSpPr>
            <a:spLocks noGrp="1"/>
          </p:cNvSpPr>
          <p:nvPr/>
        </p:nvSpPr>
        <p:spPr>
          <a:xfrm>
            <a:off x="609600" y="6410325"/>
            <a:ext cx="5810250" cy="228600"/>
          </a:xfrm>
          <a:prstGeom prst="rect">
            <a:avLst/>
          </a:prstGeom>
          <a:noFill/>
          <a:ln w="0">
            <a:noFill/>
          </a:ln>
        </p:spPr>
        <p:txBody>
          <a:bodyPr>
            <a:noAutofit/>
          </a:bodyPr>
          <a:lstStyle/>
          <a:p>
            <a:pPr>
              <a:defRPr sz="1350" b="0">
                <a:solidFill>
                  <a:srgbClr val="647487"/>
                </a:solidFill>
                <a:latin typeface="Arial"/>
                <a:ea typeface="Arial"/>
                <a:cs typeface="Arial"/>
              </a:defRPr>
            </a:pPr>
            <a:r>
              <a:rPr sz="1350" b="0">
                <a:solidFill>
                  <a:srgbClr val="647487"/>
                </a:solidFill>
                <a:latin typeface="Arial"/>
                <a:ea typeface="Arial"/>
                <a:cs typeface="Arial"/>
              </a:rPr>
              <a:t>A.A. 2025/2026</a:t>
            </a:r>
          </a:p>
        </p:txBody>
      </p:sp>
    </p:spTree>
    <p:extLst>
      <p:ext uri="{BB962C8B-B14F-4D97-AF65-F5344CB8AC3E}">
        <p14:creationId xmlns:p14="http://schemas.microsoft.com/office/powerpoint/2010/main" val="33900704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93C3B39-6012-409D-8C55-2E1E8048285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Il problema e l'obiettivo</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82AFE8A-0115-4407-BDA2-396C170A082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BD900CC-09C6-4AFF-B224-9EC736B42A92}"/>
              </a:ext>
            </a:extLst>
          </p:cNvPr>
          <p:cNvSpPr>
            <a:spLocks noGrp="1"/>
          </p:cNvSpPr>
          <p:nvPr/>
        </p:nvSpPr>
        <p:spPr>
          <a:xfrm>
            <a:off x="7477125" y="828675"/>
            <a:ext cx="3228975" cy="219075"/>
          </a:xfrm>
          <a:prstGeom prst="rect">
            <a:avLst/>
          </a:prstGeom>
          <a:noFill/>
          <a:ln w="0">
            <a:noFill/>
          </a:ln>
        </p:spPr>
        <p:txBody>
          <a:bodyPr rIns="0" anchor="ctr">
            <a:noAutofit/>
          </a:bodyPr>
          <a:lstStyle/>
          <a:p>
            <a:pPr algn="r">
              <a:defRPr sz="1200" b="0">
                <a:solidFill>
                  <a:srgbClr val="203344"/>
                </a:solidFill>
                <a:latin typeface="Arial"/>
                <a:ea typeface="Arial"/>
                <a:cs typeface="Arial"/>
              </a:defRPr>
            </a:pPr>
            <a:r>
              <a:rPr lang="it-IT" sz="1050" b="0">
                <a:solidFill>
                  <a:srgbClr val="203344"/>
                </a:solidFill>
                <a:latin typeface="Arial"/>
                <a:ea typeface="Arial"/>
                <a:cs typeface="Arial"/>
              </a:rPr>
              <a:t>Introduzione | 2</a:t>
            </a:r>
            <a:endParaRPr sz="1050" b="0">
              <a:solidFill>
                <a:srgbClr val="203344"/>
              </a:solidFill>
              <a:latin typeface="Arial"/>
              <a:ea typeface="Arial"/>
              <a:cs typeface="Arial"/>
            </a:endParaRPr>
          </a:p>
        </p:txBody>
      </p:sp>
      <p:sp>
        <p:nvSpPr>
          <p:cNvPr id="101" name="A card 0"/>
          <p:cNvSpPr/>
          <p:nvPr/>
        </p:nvSpPr>
        <p:spPr>
          <a:xfrm>
            <a:off x="609600" y="1550000"/>
            <a:ext cx="3200000" cy="1850000"/>
          </a:xfrm>
          <a:prstGeom prst="roundRect">
            <a:avLst>
              <a:gd name="adj" fmla="val 8000"/>
            </a:avLst>
          </a:prstGeom>
          <a:solidFill>
            <a:srgbClr val="EEF4F8"/>
          </a:solidFill>
          <a:ln w="14288">
            <a:solidFill>
              <a:srgbClr val="5084BF"/>
            </a:solidFill>
          </a:ln>
        </p:spPr>
        <p:txBody>
          <a:bodyPr wrap="square" lIns="182880" tIns="330000" rIns="182880" bIns="182880" rtlCol="0" anchor="t">
            <a:noAutofit/>
          </a:bodyPr>
          <a:lstStyle/>
          <a:p>
            <a:pPr algn="ctr">
              <a:spcAft>
                <a:spcPts val="1000"/>
              </a:spcAft>
              <a:buNone/>
            </a:pPr>
            <a:r>
              <a:rPr lang="it-IT" sz="2600" b="1">
                <a:solidFill>
                  <a:srgbClr val="003366"/>
                </a:solidFill>
                <a:latin typeface="Arial" panose="020B0604020202020204" pitchFamily="34" charset="0"/>
                <a:cs typeface="Arial"/>
              </a:rPr>
              <a:t>Fattorizzazione</a:t>
            </a:r>
          </a:p>
          <a:p>
            <a:pPr algn="ctr">
              <a:spcAft>
                <a:spcPts val="1000"/>
              </a:spcAft>
              <a:buNone/>
            </a:pPr>
            <a:r>
              <a:rPr lang="it-IT" sz="1600">
                <a:solidFill>
                  <a:srgbClr val="003366"/>
                </a:solidFill>
                <a:latin typeface="Arial" panose="020B0604020202020204" pitchFamily="34" charset="0"/>
                <a:cs typeface="Arial"/>
              </a:rPr>
              <a:t>Non è noto un algoritmo classico polinomiale per fattorizzare grandi interi.</a:t>
            </a:r>
            <a:endParaRPr lang="it-IT" sz="1600">
              <a:solidFill>
                <a:srgbClr val="203344"/>
              </a:solidFill>
              <a:latin typeface="Arial" panose="020B0604020202020204" pitchFamily="34" charset="0"/>
              <a:cs typeface="Arial"/>
            </a:endParaRPr>
          </a:p>
        </p:txBody>
      </p:sp>
      <p:sp>
        <p:nvSpPr>
          <p:cNvPr id="102" name="A arrow 0"/>
          <p:cNvSpPr/>
          <p:nvPr/>
        </p:nvSpPr>
        <p:spPr>
          <a:xfrm>
            <a:off x="4002800" y="2350000"/>
            <a:ext cx="300000" cy="250000"/>
          </a:xfrm>
          <a:prstGeom prst="rightArrow">
            <a:avLst/>
          </a:prstGeom>
          <a:solidFill>
            <a:srgbClr val="003366"/>
          </a:solidFill>
          <a:ln>
            <a:noFill/>
          </a:ln>
        </p:spPr>
        <p:txBody>
          <a:bodyPr wrap="square" lIns="91440" tIns="91440" rIns="91440" bIns="91440" rtlCol="0" anchor="ctr">
            <a:noAutofit/>
          </a:bodyPr>
          <a:lstStyle/>
          <a:p>
            <a:endParaRPr lang="it-IT"/>
          </a:p>
        </p:txBody>
      </p:sp>
      <p:sp>
        <p:nvSpPr>
          <p:cNvPr id="103" name="A card 1"/>
          <p:cNvSpPr/>
          <p:nvPr/>
        </p:nvSpPr>
        <p:spPr>
          <a:xfrm>
            <a:off x="4496000" y="1550000"/>
            <a:ext cx="3200000" cy="1850000"/>
          </a:xfrm>
          <a:prstGeom prst="roundRect">
            <a:avLst>
              <a:gd name="adj" fmla="val 8000"/>
            </a:avLst>
          </a:prstGeom>
          <a:solidFill>
            <a:srgbClr val="EEF4F8"/>
          </a:solidFill>
          <a:ln w="14288">
            <a:solidFill>
              <a:srgbClr val="5084BF"/>
            </a:solidFill>
          </a:ln>
        </p:spPr>
        <p:txBody>
          <a:bodyPr wrap="square" lIns="182880" tIns="330000" rIns="182880" bIns="182880" rtlCol="0" anchor="t">
            <a:noAutofit/>
          </a:bodyPr>
          <a:lstStyle/>
          <a:p>
            <a:pPr algn="ctr">
              <a:spcAft>
                <a:spcPts val="1000"/>
              </a:spcAft>
              <a:buNone/>
            </a:pPr>
            <a:r>
              <a:rPr lang="it-IT" sz="2600" b="1">
                <a:solidFill>
                  <a:srgbClr val="003366"/>
                </a:solidFill>
                <a:latin typeface="Arial" panose="020B0604020202020204" pitchFamily="34" charset="0"/>
                <a:cs typeface="Arial"/>
              </a:rPr>
              <a:t>Shor</a:t>
            </a:r>
          </a:p>
          <a:p>
            <a:pPr algn="ctr">
              <a:spcAft>
                <a:spcPts val="900"/>
              </a:spcAft>
              <a:buNone/>
            </a:pPr>
            <a:r>
              <a:rPr lang="it-IT" sz="1500">
                <a:solidFill>
                  <a:srgbClr val="003366"/>
                </a:solidFill>
                <a:latin typeface="Arial" panose="020B0604020202020204" pitchFamily="34" charset="0"/>
                <a:cs typeface="Arial"/>
              </a:rPr>
              <a:t>Nel modello quantistico ideale, trova i fattori in tempo polinomiale</a:t>
            </a:r>
            <a:endParaRPr lang="it-IT" sz="1500">
              <a:solidFill>
                <a:srgbClr val="203344"/>
              </a:solidFill>
              <a:latin typeface="Arial" panose="020B0604020202020204" pitchFamily="34" charset="0"/>
              <a:cs typeface="Arial"/>
            </a:endParaRPr>
          </a:p>
        </p:txBody>
      </p:sp>
      <p:sp>
        <p:nvSpPr>
          <p:cNvPr id="104" name="A arrow 1"/>
          <p:cNvSpPr/>
          <p:nvPr/>
        </p:nvSpPr>
        <p:spPr>
          <a:xfrm>
            <a:off x="7889200" y="2350000"/>
            <a:ext cx="300000" cy="250000"/>
          </a:xfrm>
          <a:prstGeom prst="rightArrow">
            <a:avLst/>
          </a:prstGeom>
          <a:solidFill>
            <a:srgbClr val="003366"/>
          </a:solidFill>
          <a:ln>
            <a:noFill/>
          </a:ln>
        </p:spPr>
        <p:txBody>
          <a:bodyPr wrap="square" lIns="91440" tIns="91440" rIns="91440" bIns="91440" rtlCol="0" anchor="ctr">
            <a:noAutofit/>
          </a:bodyPr>
          <a:lstStyle/>
          <a:p>
            <a:endParaRPr lang="it-IT"/>
          </a:p>
        </p:txBody>
      </p:sp>
      <p:sp>
        <p:nvSpPr>
          <p:cNvPr id="105" name="A card 2"/>
          <p:cNvSpPr/>
          <p:nvPr/>
        </p:nvSpPr>
        <p:spPr>
          <a:xfrm>
            <a:off x="8382400" y="1550000"/>
            <a:ext cx="3200000" cy="1850000"/>
          </a:xfrm>
          <a:prstGeom prst="roundRect">
            <a:avLst>
              <a:gd name="adj" fmla="val 8000"/>
            </a:avLst>
          </a:prstGeom>
          <a:solidFill>
            <a:srgbClr val="FCEFE3"/>
          </a:solidFill>
          <a:ln w="14288">
            <a:solidFill>
              <a:srgbClr val="D9822B"/>
            </a:solidFill>
          </a:ln>
        </p:spPr>
        <p:txBody>
          <a:bodyPr wrap="square" lIns="182880" tIns="330000" rIns="182880" bIns="182880" rtlCol="0" anchor="t">
            <a:noAutofit/>
          </a:bodyPr>
          <a:lstStyle/>
          <a:p>
            <a:pPr algn="ctr">
              <a:spcAft>
                <a:spcPts val="900"/>
              </a:spcAft>
              <a:buNone/>
            </a:pPr>
            <a:r>
              <a:rPr lang="it-IT" sz="2800" b="1">
                <a:solidFill>
                  <a:srgbClr val="D9822B"/>
                </a:solidFill>
                <a:latin typeface="Arial" panose="020B0604020202020204" pitchFamily="34" charset="0"/>
                <a:cs typeface="Arial"/>
              </a:rPr>
              <a:t>Rumorosità</a:t>
            </a:r>
          </a:p>
          <a:p>
            <a:pPr algn="ctr">
              <a:buNone/>
            </a:pPr>
            <a:r>
              <a:rPr lang="it-IT" sz="1600">
                <a:solidFill>
                  <a:srgbClr val="203344"/>
                </a:solidFill>
                <a:latin typeface="Arial" panose="020B0604020202020204" pitchFamily="34" charset="0"/>
                <a:cs typeface="Arial"/>
              </a:rPr>
              <a:t>sull'hardware reale gli errori abbassano il successo di Shor</a:t>
            </a:r>
          </a:p>
        </p:txBody>
      </p:sp>
      <p:sp>
        <p:nvSpPr>
          <p:cNvPr id="106" name="A obiettivo"/>
          <p:cNvSpPr/>
          <p:nvPr/>
        </p:nvSpPr>
        <p:spPr>
          <a:xfrm>
            <a:off x="609600" y="3750000"/>
            <a:ext cx="10972800" cy="1150000"/>
          </a:xfrm>
          <a:prstGeom prst="roundRect">
            <a:avLst>
              <a:gd name="adj" fmla="val 12000"/>
            </a:avLst>
          </a:prstGeom>
          <a:solidFill>
            <a:srgbClr val="125C97"/>
          </a:solidFill>
          <a:ln>
            <a:noFill/>
          </a:ln>
        </p:spPr>
        <p:txBody>
          <a:bodyPr wrap="square" lIns="91440" tIns="91440" rIns="91440" bIns="91440" rtlCol="0" anchor="ctr">
            <a:noAutofit/>
          </a:bodyPr>
          <a:lstStyle/>
          <a:p>
            <a:pPr algn="ctr">
              <a:spcAft>
                <a:spcPts val="300"/>
              </a:spcAft>
              <a:buNone/>
            </a:pPr>
            <a:r>
              <a:rPr lang="it-IT" sz="1400" b="1">
                <a:solidFill>
                  <a:srgbClr val="CFE0F1"/>
                </a:solidFill>
                <a:latin typeface="Arial" panose="020B0604020202020204" pitchFamily="34" charset="0"/>
                <a:cs typeface="Arial"/>
              </a:rPr>
              <a:t>OBIETTIVO</a:t>
            </a:r>
          </a:p>
          <a:p>
            <a:pPr algn="ctr">
              <a:spcAft>
                <a:spcPts val="300"/>
              </a:spcAft>
              <a:buNone/>
            </a:pPr>
            <a:r>
              <a:rPr lang="it-IT" sz="1400" b="1">
                <a:solidFill>
                  <a:srgbClr val="CFE0F1"/>
                </a:solidFill>
                <a:latin typeface="Arial" panose="020B0604020202020204" pitchFamily="34" charset="0"/>
                <a:cs typeface="Arial"/>
              </a:rPr>
              <a:t>Migliorare il successo di Shor in presenza di rumore</a:t>
            </a:r>
            <a:endParaRPr lang="it-IT" sz="2800" b="1">
              <a:solidFill>
                <a:srgbClr val="FFFFFF"/>
              </a:solidFill>
              <a:latin typeface="Arial" panose="020B0604020202020204" pitchFamily="34" charset="0"/>
              <a:cs typeface="Arial"/>
            </a:endParaRPr>
          </a:p>
        </p:txBody>
      </p:sp>
      <p:sp>
        <p:nvSpPr>
          <p:cNvPr id="107" name="A strategia 0"/>
          <p:cNvSpPr/>
          <p:nvPr/>
        </p:nvSpPr>
        <p:spPr>
          <a:xfrm>
            <a:off x="609600" y="5250000"/>
            <a:ext cx="3429000" cy="900000"/>
          </a:xfrm>
          <a:prstGeom prst="roundRect">
            <a:avLst>
              <a:gd name="adj" fmla="val 12000"/>
            </a:avLst>
          </a:prstGeom>
          <a:solidFill>
            <a:srgbClr val="FFFFFF"/>
          </a:solidFill>
          <a:ln w="14288">
            <a:solidFill>
              <a:srgbClr val="5084BF"/>
            </a:solidFill>
          </a:ln>
        </p:spPr>
        <p:txBody>
          <a:bodyPr wrap="square" lIns="91440" tIns="91440" rIns="91440" bIns="91440" rtlCol="0" anchor="ctr">
            <a:noAutofit/>
          </a:bodyPr>
          <a:lstStyle/>
          <a:p>
            <a:pPr algn="ctr">
              <a:spcAft>
                <a:spcPts val="200"/>
              </a:spcAft>
              <a:buNone/>
            </a:pPr>
            <a:r>
              <a:rPr lang="it-IT" sz="1700" b="1">
                <a:solidFill>
                  <a:srgbClr val="003366"/>
                </a:solidFill>
                <a:latin typeface="Arial" panose="020B0604020202020204" pitchFamily="34" charset="0"/>
                <a:cs typeface="Arial"/>
              </a:rPr>
              <a:t>1. Machine learning</a:t>
            </a:r>
          </a:p>
          <a:p>
            <a:pPr algn="ctr">
              <a:buNone/>
            </a:pPr>
            <a:r>
              <a:rPr lang="it-IT" sz="1500">
                <a:solidFill>
                  <a:srgbClr val="203344"/>
                </a:solidFill>
                <a:latin typeface="Arial" panose="020B0604020202020204" pitchFamily="34" charset="0"/>
                <a:cs typeface="Arial"/>
              </a:rPr>
              <a:t>dopo la misura</a:t>
            </a:r>
          </a:p>
        </p:txBody>
      </p:sp>
      <p:sp>
        <p:nvSpPr>
          <p:cNvPr id="108" name="A strategia 1"/>
          <p:cNvSpPr/>
          <p:nvPr/>
        </p:nvSpPr>
        <p:spPr>
          <a:xfrm>
            <a:off x="4381500" y="5250000"/>
            <a:ext cx="3429000" cy="900000"/>
          </a:xfrm>
          <a:prstGeom prst="roundRect">
            <a:avLst>
              <a:gd name="adj" fmla="val 12000"/>
            </a:avLst>
          </a:prstGeom>
          <a:solidFill>
            <a:srgbClr val="FFFFFF"/>
          </a:solidFill>
          <a:ln w="14288">
            <a:solidFill>
              <a:srgbClr val="5084BF"/>
            </a:solidFill>
          </a:ln>
        </p:spPr>
        <p:txBody>
          <a:bodyPr wrap="square" lIns="91440" tIns="91440" rIns="91440" bIns="91440" rtlCol="0" anchor="ctr">
            <a:noAutofit/>
          </a:bodyPr>
          <a:lstStyle/>
          <a:p>
            <a:pPr algn="ctr">
              <a:spcAft>
                <a:spcPts val="200"/>
              </a:spcAft>
              <a:buNone/>
            </a:pPr>
            <a:r>
              <a:rPr lang="it-IT" sz="1700" b="1">
                <a:solidFill>
                  <a:srgbClr val="003366"/>
                </a:solidFill>
                <a:latin typeface="Arial" panose="020B0604020202020204" pitchFamily="34" charset="0"/>
                <a:cs typeface="Arial"/>
              </a:rPr>
              <a:t>2. Correzione degli errori</a:t>
            </a:r>
          </a:p>
          <a:p>
            <a:pPr algn="ctr">
              <a:buNone/>
            </a:pPr>
            <a:r>
              <a:rPr lang="it-IT" sz="1500">
                <a:solidFill>
                  <a:srgbClr val="203344"/>
                </a:solidFill>
                <a:latin typeface="Arial" panose="020B0604020202020204" pitchFamily="34" charset="0"/>
                <a:cs typeface="Arial"/>
              </a:rPr>
              <a:t>durante il calcolo</a:t>
            </a:r>
          </a:p>
        </p:txBody>
      </p:sp>
      <p:sp>
        <p:nvSpPr>
          <p:cNvPr id="109" name="A strategia 2"/>
          <p:cNvSpPr/>
          <p:nvPr/>
        </p:nvSpPr>
        <p:spPr>
          <a:xfrm>
            <a:off x="8153400" y="5250000"/>
            <a:ext cx="3429000" cy="900000"/>
          </a:xfrm>
          <a:prstGeom prst="roundRect">
            <a:avLst>
              <a:gd name="adj" fmla="val 12000"/>
            </a:avLst>
          </a:prstGeom>
          <a:solidFill>
            <a:srgbClr val="FFFFFF"/>
          </a:solidFill>
          <a:ln w="14288">
            <a:solidFill>
              <a:srgbClr val="5084BF"/>
            </a:solidFill>
          </a:ln>
        </p:spPr>
        <p:txBody>
          <a:bodyPr wrap="square" lIns="91440" tIns="91440" rIns="91440" bIns="91440" rtlCol="0" anchor="ctr">
            <a:noAutofit/>
          </a:bodyPr>
          <a:lstStyle/>
          <a:p>
            <a:pPr algn="ctr">
              <a:spcAft>
                <a:spcPts val="200"/>
              </a:spcAft>
              <a:buNone/>
            </a:pPr>
            <a:r>
              <a:rPr lang="it-IT" sz="1700" b="1">
                <a:solidFill>
                  <a:srgbClr val="003366"/>
                </a:solidFill>
                <a:latin typeface="Arial" panose="020B0604020202020204" pitchFamily="34" charset="0"/>
                <a:cs typeface="Arial"/>
              </a:rPr>
              <a:t>3. QFT approssimata</a:t>
            </a:r>
          </a:p>
          <a:p>
            <a:pPr algn="ctr">
              <a:buNone/>
            </a:pPr>
            <a:r>
              <a:rPr lang="it-IT" sz="1500">
                <a:solidFill>
                  <a:srgbClr val="203344"/>
                </a:solidFill>
                <a:latin typeface="Arial" panose="020B0604020202020204" pitchFamily="34" charset="0"/>
                <a:cs typeface="Arial"/>
              </a:rPr>
              <a:t>meno porte, meno errori</a:t>
            </a:r>
          </a:p>
        </p:txBody>
      </p:sp>
    </p:spTree>
    <p:extLst>
      <p:ext uri="{BB962C8B-B14F-4D97-AF65-F5344CB8AC3E}">
        <p14:creationId xmlns:p14="http://schemas.microsoft.com/office/powerpoint/2010/main" val="927812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9"/>
                                          </p:stCondLst>
                                        </p:cTn>
                                        <p:tgtEl>
                                          <p:spTgt spid="10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9"/>
                                          </p:stCondLst>
                                        </p:cTn>
                                        <p:tgtEl>
                                          <p:spTgt spid="10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9"/>
                                          </p:stCondLst>
                                        </p:cTn>
                                        <p:tgtEl>
                                          <p:spTgt spid="10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9"/>
                                          </p:stCondLst>
                                        </p:cTn>
                                        <p:tgtEl>
                                          <p:spTgt spid="10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9"/>
                                          </p:stCondLst>
                                        </p:cTn>
                                        <p:tgtEl>
                                          <p:spTgt spid="10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9"/>
                                          </p:stCondLst>
                                        </p:cTn>
                                        <p:tgtEl>
                                          <p:spTgt spid="10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9"/>
                                          </p:stCondLst>
                                        </p:cTn>
                                        <p:tgtEl>
                                          <p:spTgt spid="10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9"/>
                                          </p:stCondLst>
                                        </p:cTn>
                                        <p:tgtEl>
                                          <p:spTgt spid="10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9"/>
                                          </p:stCondLst>
                                        </p:cTn>
                                        <p:tgtEl>
                                          <p:spTgt spid="1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02" grpId="0" animBg="1"/>
      <p:bldP spid="103" grpId="0" animBg="1"/>
      <p:bldP spid="104" grpId="0" animBg="1"/>
      <p:bldP spid="105" grpId="0" animBg="1"/>
      <p:bldP spid="106" grpId="0" animBg="1"/>
      <p:bldP spid="107" grpId="0" animBg="1"/>
      <p:bldP spid="108" grpId="0" animBg="1"/>
      <p:bldP spid="10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2"/>
          <p:cNvSpPr/>
          <p:nvPr/>
        </p:nvSpPr>
        <p:spPr>
          <a:xfrm>
            <a:off x="609600" y="1422400"/>
            <a:ext cx="2419350" cy="1757660"/>
          </a:xfrm>
          <a:prstGeom prst="roundRect">
            <a:avLst>
              <a:gd name="adj" fmla="val 7226"/>
            </a:avLst>
          </a:prstGeom>
          <a:solidFill>
            <a:srgbClr val="125C97"/>
          </a:solidFill>
          <a:ln/>
        </p:spPr>
        <p:txBody>
          <a:bodyPr/>
          <a:lstStyle/>
          <a:p>
            <a:endParaRPr lang="en-GB"/>
          </a:p>
        </p:txBody>
      </p:sp>
      <p:sp>
        <p:nvSpPr>
          <p:cNvPr id="8" name="Text 4"/>
          <p:cNvSpPr/>
          <p:nvPr/>
        </p:nvSpPr>
        <p:spPr>
          <a:xfrm>
            <a:off x="711200" y="1422400"/>
            <a:ext cx="2216150" cy="1757660"/>
          </a:xfrm>
          <a:prstGeom prst="rect">
            <a:avLst/>
          </a:prstGeom>
          <a:noFill/>
          <a:ln/>
        </p:spPr>
        <p:txBody>
          <a:bodyPr wrap="square" lIns="0" tIns="0" rIns="0" bIns="0" rtlCol="0" anchor="ctr">
            <a:noAutofit/>
          </a:bodyPr>
          <a:lstStyle/>
          <a:p>
            <a:pPr marL="0" indent="0" algn="ctr">
              <a:lnSpc>
                <a:spcPts val="2400"/>
              </a:lnSpc>
              <a:buNone/>
            </a:pPr>
            <a:r>
              <a:rPr lang="en-US" sz="2000" b="1">
                <a:solidFill>
                  <a:srgbClr val="FFFFFF"/>
                </a:solidFill>
                <a:latin typeface="Arial" pitchFamily="34" charset="0"/>
                <a:ea typeface="Arial" pitchFamily="34" charset="-122"/>
                <a:cs typeface="Arial" pitchFamily="34" charset="-120"/>
              </a:rPr>
              <a:t>Pre-processing</a:t>
            </a:r>
            <a:endParaRPr lang="en-US" sz="2000"/>
          </a:p>
          <a:p>
            <a:pPr marL="0" indent="0" algn="ctr">
              <a:lnSpc>
                <a:spcPts val="2400"/>
              </a:lnSpc>
              <a:buNone/>
            </a:pPr>
            <a:r>
              <a:rPr lang="en-US" sz="2000" b="1">
                <a:solidFill>
                  <a:srgbClr val="FFFFFF"/>
                </a:solidFill>
                <a:latin typeface="Arial" pitchFamily="34" charset="0"/>
                <a:ea typeface="Arial" pitchFamily="34" charset="-122"/>
                <a:cs typeface="Arial" pitchFamily="34" charset="-120"/>
              </a:rPr>
              <a:t>classico</a:t>
            </a:r>
            <a:endParaRPr lang="en-US" sz="2000"/>
          </a:p>
          <a:p>
            <a:pPr marL="0" indent="0" algn="ctr">
              <a:spcBef>
                <a:spcPts val="600"/>
              </a:spcBef>
              <a:buNone/>
            </a:pPr>
            <a:r>
              <a:rPr lang="en-US" sz="1300">
                <a:solidFill>
                  <a:srgbClr val="FFFFFF"/>
                </a:solidFill>
                <a:latin typeface="Arial" pitchFamily="34" charset="0"/>
                <a:ea typeface="Arial" pitchFamily="34" charset="-122"/>
                <a:cs typeface="Arial" pitchFamily="34" charset="-120"/>
              </a:rPr>
              <a:t>base a con MCD(a, N) = 1</a:t>
            </a:r>
            <a:endParaRPr lang="en-US" sz="1300"/>
          </a:p>
        </p:txBody>
      </p:sp>
      <p:pic>
        <p:nvPicPr>
          <p:cNvPr id="10" name="Image 2" descr="arrow-right"/>
          <p:cNvPicPr>
            <a:picLocks noChangeAspect="1"/>
          </p:cNvPicPr>
          <p:nvPr/>
        </p:nvPicPr>
        <p:blipFill>
          <a:blip r:embed="rId3"/>
          <a:srcRect/>
          <a:stretch/>
        </p:blipFill>
        <p:spPr>
          <a:xfrm>
            <a:off x="3105150" y="2212330"/>
            <a:ext cx="279400" cy="177800"/>
          </a:xfrm>
          <a:prstGeom prst="rect">
            <a:avLst/>
          </a:prstGeom>
        </p:spPr>
      </p:pic>
      <p:sp>
        <p:nvSpPr>
          <p:cNvPr id="11" name="Shape 6"/>
          <p:cNvSpPr/>
          <p:nvPr/>
        </p:nvSpPr>
        <p:spPr>
          <a:xfrm>
            <a:off x="3460750" y="1422400"/>
            <a:ext cx="2419350" cy="1757660"/>
          </a:xfrm>
          <a:prstGeom prst="roundRect">
            <a:avLst>
              <a:gd name="adj" fmla="val 7226"/>
            </a:avLst>
          </a:prstGeom>
          <a:solidFill>
            <a:srgbClr val="125C97"/>
          </a:solidFill>
          <a:ln/>
        </p:spPr>
        <p:txBody>
          <a:bodyPr/>
          <a:lstStyle/>
          <a:p>
            <a:endParaRPr lang="en-GB"/>
          </a:p>
        </p:txBody>
      </p:sp>
      <p:sp>
        <p:nvSpPr>
          <p:cNvPr id="13" name="Text 8"/>
          <p:cNvSpPr/>
          <p:nvPr/>
        </p:nvSpPr>
        <p:spPr>
          <a:xfrm>
            <a:off x="3562350" y="1422400"/>
            <a:ext cx="2216150" cy="1757660"/>
          </a:xfrm>
          <a:prstGeom prst="rect">
            <a:avLst/>
          </a:prstGeom>
          <a:noFill/>
          <a:ln/>
        </p:spPr>
        <p:txBody>
          <a:bodyPr wrap="square" lIns="0" tIns="0" rIns="0" bIns="0" rtlCol="0" anchor="ctr">
            <a:noAutofit/>
          </a:bodyPr>
          <a:lstStyle/>
          <a:p>
            <a:pPr marL="0" indent="0" algn="ctr">
              <a:lnSpc>
                <a:spcPts val="2400"/>
              </a:lnSpc>
              <a:buNone/>
            </a:pPr>
            <a:r>
              <a:rPr lang="en-US" sz="2000" b="1" err="1">
                <a:solidFill>
                  <a:srgbClr val="FFFFFF"/>
                </a:solidFill>
                <a:latin typeface="Arial" pitchFamily="34" charset="0"/>
                <a:ea typeface="Arial" pitchFamily="34" charset="-122"/>
                <a:cs typeface="Arial" pitchFamily="34" charset="-120"/>
              </a:rPr>
              <a:t>Ricerca</a:t>
            </a:r>
            <a:endParaRPr lang="en-US" sz="2000"/>
          </a:p>
          <a:p>
            <a:pPr marL="0" indent="0" algn="ctr">
              <a:lnSpc>
                <a:spcPts val="2400"/>
              </a:lnSpc>
              <a:buNone/>
            </a:pPr>
            <a:r>
              <a:rPr lang="en-US" sz="2000" b="1">
                <a:solidFill>
                  <a:srgbClr val="FFFFFF"/>
                </a:solidFill>
                <a:latin typeface="Arial" pitchFamily="34" charset="0"/>
                <a:ea typeface="Arial" pitchFamily="34" charset="-122"/>
                <a:cs typeface="Arial" pitchFamily="34" charset="-120"/>
              </a:rPr>
              <a:t>del </a:t>
            </a:r>
            <a:r>
              <a:rPr lang="en-US" sz="2000" b="1" err="1">
                <a:solidFill>
                  <a:srgbClr val="FFFFFF"/>
                </a:solidFill>
                <a:latin typeface="Arial" pitchFamily="34" charset="0"/>
                <a:ea typeface="Arial" pitchFamily="34" charset="-122"/>
                <a:cs typeface="Arial" pitchFamily="34" charset="-120"/>
              </a:rPr>
              <a:t>periodo</a:t>
            </a:r>
            <a:endParaRPr lang="en-US" sz="2000"/>
          </a:p>
          <a:p>
            <a:pPr marL="0" indent="0" algn="ctr">
              <a:spcBef>
                <a:spcPts val="600"/>
              </a:spcBef>
              <a:buNone/>
            </a:pPr>
            <a:r>
              <a:rPr lang="it-IT" sz="1300">
                <a:solidFill>
                  <a:srgbClr val="FFFFFF"/>
                </a:solidFill>
                <a:latin typeface="Arial" pitchFamily="34" charset="0"/>
                <a:ea typeface="Arial" pitchFamily="34" charset="-122"/>
                <a:cs typeface="Arial" pitchFamily="34" charset="-120"/>
              </a:rPr>
              <a:t>stima di fase (QPE) per ricavare r</a:t>
            </a:r>
            <a:endParaRPr lang="en-US" sz="1300"/>
          </a:p>
        </p:txBody>
      </p:sp>
      <p:pic>
        <p:nvPicPr>
          <p:cNvPr id="15" name="Image 3" descr="arrow-right"/>
          <p:cNvPicPr>
            <a:picLocks noChangeAspect="1"/>
          </p:cNvPicPr>
          <p:nvPr/>
        </p:nvPicPr>
        <p:blipFill>
          <a:blip r:embed="rId3"/>
          <a:srcRect/>
          <a:stretch/>
        </p:blipFill>
        <p:spPr>
          <a:xfrm>
            <a:off x="5956300" y="2212330"/>
            <a:ext cx="279400" cy="177800"/>
          </a:xfrm>
          <a:prstGeom prst="rect">
            <a:avLst/>
          </a:prstGeom>
        </p:spPr>
      </p:pic>
      <p:sp>
        <p:nvSpPr>
          <p:cNvPr id="16" name="Shape 10"/>
          <p:cNvSpPr/>
          <p:nvPr/>
        </p:nvSpPr>
        <p:spPr>
          <a:xfrm>
            <a:off x="6311902" y="1422400"/>
            <a:ext cx="2419350" cy="1757660"/>
          </a:xfrm>
          <a:prstGeom prst="roundRect">
            <a:avLst>
              <a:gd name="adj" fmla="val 7226"/>
            </a:avLst>
          </a:prstGeom>
          <a:solidFill>
            <a:srgbClr val="125C97"/>
          </a:solidFill>
          <a:ln/>
        </p:spPr>
        <p:txBody>
          <a:bodyPr/>
          <a:lstStyle/>
          <a:p>
            <a:endParaRPr lang="en-GB"/>
          </a:p>
        </p:txBody>
      </p:sp>
      <p:sp>
        <p:nvSpPr>
          <p:cNvPr id="18" name="Text 12"/>
          <p:cNvSpPr/>
          <p:nvPr/>
        </p:nvSpPr>
        <p:spPr>
          <a:xfrm>
            <a:off x="6413500" y="1422400"/>
            <a:ext cx="2216150" cy="1757660"/>
          </a:xfrm>
          <a:prstGeom prst="rect">
            <a:avLst/>
          </a:prstGeom>
          <a:noFill/>
          <a:ln/>
        </p:spPr>
        <p:txBody>
          <a:bodyPr wrap="square" lIns="0" tIns="0" rIns="0" bIns="0" rtlCol="0" anchor="ctr">
            <a:noAutofit/>
          </a:bodyPr>
          <a:lstStyle/>
          <a:p>
            <a:pPr marL="0" indent="0" algn="ctr">
              <a:lnSpc>
                <a:spcPts val="2400"/>
              </a:lnSpc>
              <a:buNone/>
            </a:pPr>
            <a:r>
              <a:rPr lang="en-US" sz="2000" b="1">
                <a:solidFill>
                  <a:srgbClr val="FFFFFF"/>
                </a:solidFill>
                <a:latin typeface="Arial" pitchFamily="34" charset="0"/>
                <a:ea typeface="Arial" pitchFamily="34" charset="-122"/>
                <a:cs typeface="Arial" pitchFamily="34" charset="-120"/>
              </a:rPr>
              <a:t>QFT inversa</a:t>
            </a:r>
            <a:endParaRPr lang="en-US" sz="2000"/>
          </a:p>
          <a:p>
            <a:pPr marL="0" indent="0" algn="ctr">
              <a:lnSpc>
                <a:spcPts val="2400"/>
              </a:lnSpc>
              <a:buNone/>
            </a:pPr>
            <a:r>
              <a:rPr lang="en-US" sz="2000" b="1">
                <a:solidFill>
                  <a:srgbClr val="FFFFFF"/>
                </a:solidFill>
                <a:latin typeface="Arial" pitchFamily="34" charset="0"/>
                <a:ea typeface="Arial" pitchFamily="34" charset="-122"/>
                <a:cs typeface="Arial" pitchFamily="34" charset="-120"/>
              </a:rPr>
              <a:t>e misura</a:t>
            </a:r>
            <a:endParaRPr lang="en-US" sz="2000"/>
          </a:p>
          <a:p>
            <a:pPr marL="0" indent="0" algn="ctr">
              <a:spcBef>
                <a:spcPts val="600"/>
              </a:spcBef>
              <a:buNone/>
            </a:pPr>
            <a:r>
              <a:rPr lang="es-ES" sz="1300">
                <a:solidFill>
                  <a:srgbClr val="FFFFFF"/>
                </a:solidFill>
                <a:latin typeface="Arial" pitchFamily="34" charset="0"/>
                <a:ea typeface="Arial" pitchFamily="34" charset="-122"/>
                <a:cs typeface="Arial" pitchFamily="34" charset="-120"/>
              </a:rPr>
              <a:t>esito y: y / 2</a:t>
            </a:r>
            <a:r>
              <a:rPr lang="es-ES" sz="1300" baseline="30000">
                <a:solidFill>
                  <a:srgbClr val="FFFFFF"/>
                </a:solidFill>
                <a:latin typeface="Arial" pitchFamily="34" charset="0"/>
                <a:ea typeface="Arial" pitchFamily="34" charset="-122"/>
                <a:cs typeface="Arial" pitchFamily="34" charset="-120"/>
              </a:rPr>
              <a:t>m</a:t>
            </a:r>
            <a:r>
              <a:rPr lang="es-ES" sz="1300">
                <a:solidFill>
                  <a:srgbClr val="FFFFFF"/>
                </a:solidFill>
                <a:latin typeface="Arial" pitchFamily="34" charset="0"/>
                <a:ea typeface="Arial" pitchFamily="34" charset="-122"/>
                <a:cs typeface="Arial" pitchFamily="34" charset="-120"/>
              </a:rPr>
              <a:t> ≈ s / r</a:t>
            </a:r>
            <a:endParaRPr lang="en-US" sz="1300"/>
          </a:p>
        </p:txBody>
      </p:sp>
      <p:pic>
        <p:nvPicPr>
          <p:cNvPr id="20" name="Image 4" descr="arrow-right"/>
          <p:cNvPicPr>
            <a:picLocks noChangeAspect="1"/>
          </p:cNvPicPr>
          <p:nvPr/>
        </p:nvPicPr>
        <p:blipFill>
          <a:blip r:embed="rId3"/>
          <a:srcRect/>
          <a:stretch/>
        </p:blipFill>
        <p:spPr>
          <a:xfrm>
            <a:off x="8807450" y="2212330"/>
            <a:ext cx="279400" cy="177800"/>
          </a:xfrm>
          <a:prstGeom prst="rect">
            <a:avLst/>
          </a:prstGeom>
        </p:spPr>
      </p:pic>
      <p:sp>
        <p:nvSpPr>
          <p:cNvPr id="21" name="Shape 14"/>
          <p:cNvSpPr/>
          <p:nvPr/>
        </p:nvSpPr>
        <p:spPr>
          <a:xfrm>
            <a:off x="9163050" y="1422400"/>
            <a:ext cx="2419350" cy="1757660"/>
          </a:xfrm>
          <a:prstGeom prst="roundRect">
            <a:avLst>
              <a:gd name="adj" fmla="val 7226"/>
            </a:avLst>
          </a:prstGeom>
          <a:solidFill>
            <a:srgbClr val="125C97"/>
          </a:solidFill>
          <a:ln/>
        </p:spPr>
        <p:txBody>
          <a:bodyPr/>
          <a:lstStyle/>
          <a:p>
            <a:endParaRPr lang="en-GB"/>
          </a:p>
        </p:txBody>
      </p:sp>
      <p:sp>
        <p:nvSpPr>
          <p:cNvPr id="23" name="Text 16"/>
          <p:cNvSpPr/>
          <p:nvPr/>
        </p:nvSpPr>
        <p:spPr>
          <a:xfrm>
            <a:off x="9264650" y="1422400"/>
            <a:ext cx="2216150" cy="1757660"/>
          </a:xfrm>
          <a:prstGeom prst="rect">
            <a:avLst/>
          </a:prstGeom>
          <a:noFill/>
          <a:ln/>
        </p:spPr>
        <p:txBody>
          <a:bodyPr wrap="square" lIns="0" tIns="0" rIns="0" bIns="0" rtlCol="0" anchor="ctr">
            <a:noAutofit/>
          </a:bodyPr>
          <a:lstStyle/>
          <a:p>
            <a:pPr marL="0" indent="0" algn="ctr">
              <a:lnSpc>
                <a:spcPts val="2400"/>
              </a:lnSpc>
              <a:buNone/>
            </a:pPr>
            <a:r>
              <a:rPr lang="en-US" sz="2000" b="1">
                <a:solidFill>
                  <a:srgbClr val="FFFFFF"/>
                </a:solidFill>
                <a:latin typeface="Arial" pitchFamily="34" charset="0"/>
                <a:ea typeface="Arial" pitchFamily="34" charset="-122"/>
                <a:cs typeface="Arial" pitchFamily="34" charset="-120"/>
              </a:rPr>
              <a:t>Post-processing</a:t>
            </a:r>
            <a:endParaRPr lang="en-US" sz="2000"/>
          </a:p>
          <a:p>
            <a:pPr marL="0" indent="0" algn="ctr">
              <a:lnSpc>
                <a:spcPts val="2400"/>
              </a:lnSpc>
              <a:buNone/>
            </a:pPr>
            <a:r>
              <a:rPr lang="en-US" sz="2000" b="1">
                <a:solidFill>
                  <a:srgbClr val="FFFFFF"/>
                </a:solidFill>
                <a:latin typeface="Arial" pitchFamily="34" charset="0"/>
                <a:ea typeface="Arial" pitchFamily="34" charset="-122"/>
                <a:cs typeface="Arial" pitchFamily="34" charset="-120"/>
              </a:rPr>
              <a:t>classico</a:t>
            </a:r>
            <a:endParaRPr lang="en-US" sz="2000"/>
          </a:p>
          <a:p>
            <a:pPr marL="0" indent="0" algn="ctr">
              <a:spcBef>
                <a:spcPts val="600"/>
              </a:spcBef>
              <a:buNone/>
            </a:pPr>
            <a:r>
              <a:rPr lang="en-US" sz="1300" err="1">
                <a:solidFill>
                  <a:srgbClr val="FFFFFF"/>
                </a:solidFill>
                <a:latin typeface="Arial" pitchFamily="34" charset="0"/>
                <a:ea typeface="Arial" pitchFamily="34" charset="-122"/>
                <a:cs typeface="Arial" pitchFamily="34" charset="-120"/>
              </a:rPr>
              <a:t>frazioni</a:t>
            </a:r>
            <a:r>
              <a:rPr lang="en-US" sz="1300">
                <a:solidFill>
                  <a:srgbClr val="FFFFFF"/>
                </a:solidFill>
                <a:latin typeface="Arial" pitchFamily="34" charset="0"/>
                <a:ea typeface="Arial" pitchFamily="34" charset="-122"/>
                <a:cs typeface="Arial" pitchFamily="34" charset="-120"/>
              </a:rPr>
              <a:t> continue e MCD</a:t>
            </a:r>
            <a:endParaRPr lang="en-US" sz="1300"/>
          </a:p>
        </p:txBody>
      </p:sp>
      <p:pic>
        <p:nvPicPr>
          <p:cNvPr id="25" name="Image 5" descr="Grafico di 7^x mod 15 per x da 0 a 11: la sequenza 1, 7, 4, 13 si ripete ogni quattro valori"/>
          <p:cNvPicPr>
            <a:picLocks noChangeAspect="1"/>
          </p:cNvPicPr>
          <p:nvPr/>
        </p:nvPicPr>
        <p:blipFill>
          <a:blip r:embed="rId4"/>
          <a:srcRect t="-50" b="-50"/>
          <a:stretch/>
        </p:blipFill>
        <p:spPr>
          <a:xfrm>
            <a:off x="709600" y="3703750"/>
            <a:ext cx="4900000" cy="1592500"/>
          </a:xfrm>
          <a:prstGeom prst="rect">
            <a:avLst/>
          </a:prstGeom>
        </p:spPr>
      </p:pic>
      <p:sp>
        <p:nvSpPr>
          <p:cNvPr id="26" name="Text 18"/>
          <p:cNvSpPr/>
          <p:nvPr/>
        </p:nvSpPr>
        <p:spPr>
          <a:xfrm>
            <a:off x="609600" y="5750000"/>
            <a:ext cx="5100000" cy="400000"/>
          </a:xfrm>
          <a:prstGeom prst="rect">
            <a:avLst/>
          </a:prstGeom>
          <a:noFill/>
          <a:ln/>
        </p:spPr>
        <p:txBody>
          <a:bodyPr wrap="square" lIns="0" tIns="0" rIns="0" bIns="0" rtlCol="0" anchor="t">
            <a:noAutofit/>
          </a:bodyPr>
          <a:lstStyle/>
          <a:p>
            <a:pPr marL="0" indent="0" algn="ctr">
              <a:buNone/>
            </a:pPr>
            <a:r>
              <a:rPr lang="it-IT" sz="2000">
                <a:solidFill>
                  <a:srgbClr val="203344"/>
                </a:solidFill>
                <a:latin typeface="Arial" pitchFamily="34" charset="0"/>
                <a:ea typeface="Arial" pitchFamily="34" charset="-122"/>
                <a:cs typeface="Arial" pitchFamily="34" charset="-120"/>
              </a:rPr>
              <a:t>N = 15, a = 7  →  </a:t>
            </a:r>
            <a:r>
              <a:rPr lang="it-IT" sz="2000" b="1">
                <a:solidFill>
                  <a:srgbClr val="203344"/>
                </a:solidFill>
                <a:latin typeface="Arial" pitchFamily="34" charset="0"/>
                <a:ea typeface="Arial" pitchFamily="34" charset="-122"/>
                <a:cs typeface="Arial" pitchFamily="34" charset="-120"/>
              </a:rPr>
              <a:t>r = 4</a:t>
            </a:r>
            <a:r>
              <a:rPr lang="it-IT" sz="2000">
                <a:solidFill>
                  <a:srgbClr val="203344"/>
                </a:solidFill>
                <a:latin typeface="Arial" pitchFamily="34" charset="0"/>
                <a:ea typeface="Arial" pitchFamily="34" charset="-122"/>
                <a:cs typeface="Arial" pitchFamily="34" charset="-120"/>
              </a:rPr>
              <a:t>  →  </a:t>
            </a:r>
            <a:r>
              <a:rPr lang="it-IT" sz="2000" b="1">
                <a:solidFill>
                  <a:srgbClr val="203344"/>
                </a:solidFill>
                <a:latin typeface="Arial" pitchFamily="34" charset="0"/>
                <a:ea typeface="Arial" pitchFamily="34" charset="-122"/>
                <a:cs typeface="Arial" pitchFamily="34" charset="-120"/>
              </a:rPr>
              <a:t>15 = 3 × 5</a:t>
            </a:r>
          </a:p>
        </p:txBody>
      </p:sp>
      <p:sp>
        <p:nvSpPr>
          <p:cNvPr id="31" name="Rectangle 30">
            <a:extLst>
              <a:ext uri="{FF2B5EF4-FFF2-40B4-BE49-F238E27FC236}">
                <a16:creationId xmlns:a16="http://schemas.microsoft.com/office/drawing/2014/main" id="{8936EAE4-D3F4-CE9C-7102-79F539B5E879}"/>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Come funziona Shor</a:t>
            </a:r>
            <a:r>
              <a:rPr lang="it-IT" sz="2700">
                <a:solidFill>
                  <a:srgbClr val="003366"/>
                </a:solidFill>
                <a:latin typeface="Arial"/>
                <a:ea typeface="Arial"/>
                <a:cs typeface="Arial"/>
              </a:rPr>
              <a:t> </a:t>
            </a:r>
            <a:r>
              <a:rPr lang="it-IT" sz="2700" b="0">
                <a:solidFill>
                  <a:srgbClr val="003366"/>
                </a:solidFill>
                <a:latin typeface="Arial"/>
                <a:ea typeface="Arial"/>
                <a:cs typeface="Arial"/>
              </a:rPr>
              <a:t>e cosa gli fa il rumore</a:t>
            </a:r>
            <a:endParaRPr sz="2700" b="0">
              <a:solidFill>
                <a:srgbClr val="003366"/>
              </a:solidFill>
              <a:latin typeface="Arial"/>
              <a:ea typeface="Arial"/>
              <a:cs typeface="Arial"/>
            </a:endParaRPr>
          </a:p>
        </p:txBody>
      </p:sp>
      <p:pic>
        <p:nvPicPr>
          <p:cNvPr id="32" name="Picture 31">
            <a:extLst>
              <a:ext uri="{FF2B5EF4-FFF2-40B4-BE49-F238E27FC236}">
                <a16:creationId xmlns:a16="http://schemas.microsoft.com/office/drawing/2014/main" id="{51215FA5-569D-E798-EB49-460B98022349}"/>
              </a:ext>
            </a:extLst>
          </p:cNvPr>
          <p:cNvPicPr>
            <a:picLocks noChangeAspect="1"/>
          </p:cNvPicPr>
          <p:nvPr/>
        </p:nvPicPr>
        <p:blipFill>
          <a:blip r:embed="rId5"/>
          <a:stretch/>
        </p:blipFill>
        <p:spPr>
          <a:xfrm>
            <a:off x="10896600" y="243116"/>
            <a:ext cx="838200" cy="694869"/>
          </a:xfrm>
          <a:prstGeom prst="rect">
            <a:avLst/>
          </a:prstGeom>
        </p:spPr>
      </p:pic>
      <p:sp>
        <p:nvSpPr>
          <p:cNvPr id="33" name="Rectangle 32">
            <a:extLst>
              <a:ext uri="{FF2B5EF4-FFF2-40B4-BE49-F238E27FC236}">
                <a16:creationId xmlns:a16="http://schemas.microsoft.com/office/drawing/2014/main" id="{13330CE6-81CE-3B3E-6A94-7253F8038753}"/>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34" name="Rectangle 33">
            <a:extLst>
              <a:ext uri="{FF2B5EF4-FFF2-40B4-BE49-F238E27FC236}">
                <a16:creationId xmlns:a16="http://schemas.microsoft.com/office/drawing/2014/main" id="{5D040118-4907-CF50-04A9-BED2E35E4273}"/>
              </a:ext>
            </a:extLst>
          </p:cNvPr>
          <p:cNvSpPr>
            <a:spLocks noGrp="1"/>
          </p:cNvSpPr>
          <p:nvPr/>
        </p:nvSpPr>
        <p:spPr>
          <a:xfrm>
            <a:off x="7477125" y="828675"/>
            <a:ext cx="3228975" cy="219075"/>
          </a:xfrm>
          <a:prstGeom prst="rect">
            <a:avLst/>
          </a:prstGeom>
          <a:noFill/>
          <a:ln w="0">
            <a:noFill/>
          </a:ln>
        </p:spPr>
        <p:txBody>
          <a:bodyPr rIns="0" anchor="ctr">
            <a:noAutofit/>
          </a:bodyPr>
          <a:lstStyle/>
          <a:p>
            <a:pPr algn="r">
              <a:defRPr sz="1200" b="0">
                <a:solidFill>
                  <a:srgbClr val="203344"/>
                </a:solidFill>
                <a:latin typeface="Arial"/>
                <a:ea typeface="Arial"/>
                <a:cs typeface="Arial"/>
              </a:defRPr>
            </a:pPr>
            <a:r>
              <a:rPr lang="it-IT" sz="1050" b="0">
                <a:solidFill>
                  <a:srgbClr val="203344"/>
                </a:solidFill>
                <a:latin typeface="Arial"/>
                <a:ea typeface="Arial"/>
                <a:cs typeface="Arial"/>
              </a:rPr>
              <a:t>Introduzione | 3</a:t>
            </a:r>
            <a:endParaRPr sz="1050" b="0">
              <a:solidFill>
                <a:srgbClr val="203344"/>
              </a:solidFill>
              <a:latin typeface="Arial"/>
              <a:ea typeface="Arial"/>
              <a:cs typeface="Arial"/>
            </a:endParaRPr>
          </a:p>
        </p:txBody>
      </p:sp>
      <p:pic>
        <p:nvPicPr>
          <p:cNvPr id="2" name="Picture 12" descr="v2_s13_shor_successo_vs_pg.png"/>
          <p:cNvPicPr>
            <a:picLocks noChangeAspect="1"/>
          </p:cNvPicPr>
          <p:nvPr/>
        </p:nvPicPr>
        <p:blipFill>
          <a:blip r:embed="rId6"/>
          <a:stretch>
            <a:fillRect/>
          </a:stretch>
        </p:blipFill>
        <p:spPr>
          <a:xfrm>
            <a:off x="7244379" y="3350000"/>
            <a:ext cx="3576043" cy="2300000"/>
          </a:xfrm>
          <a:prstGeom prst="rect">
            <a:avLst/>
          </a:prstGeom>
        </p:spPr>
      </p:pic>
      <p:sp>
        <p:nvSpPr>
          <p:cNvPr id="3" name="Text 18"/>
          <p:cNvSpPr/>
          <p:nvPr/>
        </p:nvSpPr>
        <p:spPr>
          <a:xfrm>
            <a:off x="6482400" y="5750000"/>
            <a:ext cx="5100000" cy="400000"/>
          </a:xfrm>
          <a:prstGeom prst="rect">
            <a:avLst/>
          </a:prstGeom>
          <a:noFill/>
          <a:ln/>
        </p:spPr>
        <p:txBody>
          <a:bodyPr wrap="square" lIns="0" tIns="0" rIns="0" bIns="0" rtlCol="0" anchor="t">
            <a:noAutofit/>
          </a:bodyPr>
          <a:lstStyle/>
          <a:p>
            <a:pPr marL="0" indent="0" algn="ctr">
              <a:buNone/>
            </a:pPr>
            <a:r>
              <a:rPr lang="it-IT" sz="2000" b="1" dirty="0">
                <a:solidFill>
                  <a:srgbClr val="203344"/>
                </a:solidFill>
                <a:latin typeface="Arial" pitchFamily="34" charset="0"/>
                <a:ea typeface="Arial" pitchFamily="34" charset="-122"/>
                <a:cs typeface="Arial" pitchFamily="34" charset="-120"/>
              </a:rPr>
              <a:t>75%</a:t>
            </a:r>
            <a:r>
              <a:rPr lang="it-IT" sz="2000" dirty="0">
                <a:solidFill>
                  <a:srgbClr val="203344"/>
                </a:solidFill>
                <a:latin typeface="Arial" pitchFamily="34" charset="0"/>
                <a:ea typeface="Arial" pitchFamily="34" charset="-122"/>
                <a:cs typeface="Arial" pitchFamily="34" charset="-120"/>
              </a:rPr>
              <a:t>  →  </a:t>
            </a:r>
            <a:r>
              <a:rPr lang="it-IT" sz="2000" b="1" dirty="0">
                <a:solidFill>
                  <a:srgbClr val="203344"/>
                </a:solidFill>
                <a:latin typeface="Arial" pitchFamily="34" charset="0"/>
                <a:ea typeface="Arial" pitchFamily="34" charset="-122"/>
                <a:cs typeface="Arial" pitchFamily="34" charset="-120"/>
              </a:rPr>
              <a:t>56,5%</a:t>
            </a:r>
            <a:r>
              <a:rPr lang="it-IT" sz="2000" dirty="0">
                <a:solidFill>
                  <a:srgbClr val="203344"/>
                </a:solidFill>
                <a:latin typeface="Arial" pitchFamily="34" charset="0"/>
                <a:ea typeface="Arial" pitchFamily="34" charset="-122"/>
                <a:cs typeface="Arial" pitchFamily="34" charset="-120"/>
              </a:rPr>
              <a:t> &lt;=1% </a:t>
            </a:r>
            <a:r>
              <a:rPr lang="it-IT" sz="2000" dirty="0" err="1">
                <a:solidFill>
                  <a:srgbClr val="203344"/>
                </a:solidFill>
                <a:latin typeface="Arial" pitchFamily="34" charset="0"/>
                <a:ea typeface="Arial" pitchFamily="34" charset="-122"/>
                <a:cs typeface="Arial" pitchFamily="34" charset="-120"/>
              </a:rPr>
              <a:t>error</a:t>
            </a:r>
            <a:endParaRPr lang="it-IT" sz="2000" dirty="0">
              <a:solidFill>
                <a:srgbClr val="203344"/>
              </a:solidFill>
              <a:latin typeface="Arial" pitchFamily="34" charset="0"/>
              <a:ea typeface="Arial" pitchFamily="34" charset="-122"/>
              <a:cs typeface="Arial" pitchFamily="34" charset="-120"/>
            </a:endParaRPr>
          </a:p>
        </p:txBody>
      </p:sp>
      <p:sp>
        <p:nvSpPr>
          <p:cNvPr id="4" name="Oval 3">
            <a:extLst>
              <a:ext uri="{FF2B5EF4-FFF2-40B4-BE49-F238E27FC236}">
                <a16:creationId xmlns:a16="http://schemas.microsoft.com/office/drawing/2014/main" id="{3AA1BEF2-90F0-5F54-7CB0-D8E7E1615FEC}"/>
              </a:ext>
            </a:extLst>
          </p:cNvPr>
          <p:cNvSpPr/>
          <p:nvPr/>
        </p:nvSpPr>
        <p:spPr>
          <a:xfrm>
            <a:off x="9249410" y="4084320"/>
            <a:ext cx="170180" cy="170180"/>
          </a:xfrm>
          <a:prstGeom prst="ellipse">
            <a:avLst/>
          </a:prstGeom>
          <a:noFill/>
          <a:ln w="41910">
            <a:solidFill>
              <a:srgbClr val="FFFFFF"/>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Oval 4">
            <a:extLst>
              <a:ext uri="{FF2B5EF4-FFF2-40B4-BE49-F238E27FC236}">
                <a16:creationId xmlns:a16="http://schemas.microsoft.com/office/drawing/2014/main" id="{F0F46044-2FDF-379C-8DE8-68D69B6C9901}"/>
              </a:ext>
            </a:extLst>
          </p:cNvPr>
          <p:cNvSpPr/>
          <p:nvPr/>
        </p:nvSpPr>
        <p:spPr>
          <a:xfrm>
            <a:off x="9249410" y="4084320"/>
            <a:ext cx="170180" cy="170180"/>
          </a:xfrm>
          <a:prstGeom prst="ellipse">
            <a:avLst/>
          </a:prstGeom>
          <a:noFill/>
          <a:ln w="17780">
            <a:solidFill>
              <a:srgbClr val="D9822B"/>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406247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9"/>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9"/>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9"/>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9"/>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9"/>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9"/>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9"/>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9"/>
                                          </p:stCondLst>
                                        </p:cTn>
                                        <p:tgtEl>
                                          <p:spTgt spid="1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9"/>
                                          </p:stCondLst>
                                        </p:cTn>
                                        <p:tgtEl>
                                          <p:spTgt spid="2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9"/>
                                          </p:stCondLst>
                                        </p:cTn>
                                        <p:tgtEl>
                                          <p:spTgt spid="2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9"/>
                                          </p:stCondLst>
                                        </p:cTn>
                                        <p:tgtEl>
                                          <p:spTgt spid="2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9"/>
                                          </p:stCondLst>
                                        </p:cTn>
                                        <p:tgtEl>
                                          <p:spTgt spid="2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9"/>
                                          </p:stCondLst>
                                        </p:cTn>
                                        <p:tgtEl>
                                          <p:spTgt spid="2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9"/>
                                          </p:stCondLst>
                                        </p:cTn>
                                        <p:tgtEl>
                                          <p:spTgt spid="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9"/>
                                          </p:stCondLst>
                                        </p:cTn>
                                        <p:tgtEl>
                                          <p:spTgt spid="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9"/>
                                          </p:stCondLst>
                                        </p:cTn>
                                        <p:tgtEl>
                                          <p:spTgt spid="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1" grpId="0" animBg="1"/>
      <p:bldP spid="13" grpId="0" animBg="1"/>
      <p:bldP spid="16" grpId="0" animBg="1"/>
      <p:bldP spid="18" grpId="0" animBg="1"/>
      <p:bldP spid="21" grpId="0" animBg="1"/>
      <p:bldP spid="23" grpId="0" animBg="1"/>
      <p:bldP spid="26" grpId="0" animBg="1"/>
      <p:bldP spid="3" grpId="0" animBg="1"/>
      <p:bldP spid="4" grpId="0" animBg="1"/>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D44FC83-C70B-46CD-8C70-92D7C3D9C2AC}"/>
              </a:ext>
            </a:extLst>
          </p:cNvPr>
          <p:cNvSpPr>
            <a:spLocks noGrp="1"/>
          </p:cNvSpPr>
          <p:nvPr/>
        </p:nvSpPr>
        <p:spPr>
          <a:xfrm>
            <a:off x="609600" y="400050"/>
            <a:ext cx="9906000" cy="622300"/>
          </a:xfrm>
          <a:prstGeom prst="rect">
            <a:avLst/>
          </a:prstGeom>
          <a:noFill/>
          <a:ln w="0">
            <a:noFill/>
          </a:ln>
        </p:spPr>
        <p:txBody>
          <a:bodyPr tIns="0" bIns="0">
            <a:noAutofit/>
          </a:bodyPr>
          <a:lstStyle/>
          <a:p>
            <a:pPr>
              <a:defRPr sz="2700" b="0">
                <a:solidFill>
                  <a:srgbClr val="003366"/>
                </a:solidFill>
                <a:latin typeface="Arial"/>
                <a:ea typeface="Arial"/>
                <a:cs typeface="Arial"/>
              </a:defRPr>
            </a:pPr>
            <a:r>
              <a:rPr lang="it-IT" sz="2800">
                <a:solidFill>
                  <a:srgbClr val="003366"/>
                </a:solidFill>
                <a:latin typeface="Arial"/>
                <a:ea typeface="Arial"/>
                <a:cs typeface="Arial"/>
              </a:rPr>
              <a:t>Metodologia della tesi</a:t>
            </a:r>
            <a:endParaRPr sz="2800">
              <a:solidFill>
                <a:srgbClr val="003366"/>
              </a:solidFill>
              <a:latin typeface="Arial"/>
              <a:ea typeface="Arial"/>
              <a:cs typeface="Arial"/>
            </a:endParaRPr>
          </a:p>
        </p:txBody>
      </p:sp>
      <p:pic>
        <p:nvPicPr>
          <p:cNvPr id="13" name="Picture 12"/>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20B7C71E-845D-4B6E-BAC4-41119EECCBA9}"/>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61EF0B45-22BD-40BF-B86A-74F485774734}"/>
              </a:ext>
            </a:extLst>
          </p:cNvPr>
          <p:cNvSpPr>
            <a:spLocks noGrp="1"/>
          </p:cNvSpPr>
          <p:nvPr/>
        </p:nvSpPr>
        <p:spPr>
          <a:xfrm>
            <a:off x="7477125" y="828675"/>
            <a:ext cx="3228975" cy="228600"/>
          </a:xfrm>
          <a:prstGeom prst="rect">
            <a:avLst/>
          </a:prstGeom>
          <a:noFill/>
          <a:ln w="0">
            <a:noFill/>
          </a:ln>
        </p:spPr>
        <p:txBody>
          <a:bodyPr tIns="0" rIns="0" bIns="0" anchor="ctr">
            <a:noAutofit/>
          </a:bodyPr>
          <a:lstStyle/>
          <a:p>
            <a:pPr algn="r">
              <a:defRPr sz="1200" b="0">
                <a:solidFill>
                  <a:srgbClr val="203344"/>
                </a:solidFill>
                <a:latin typeface="Arial"/>
                <a:ea typeface="Arial"/>
                <a:cs typeface="Arial"/>
              </a:defRPr>
            </a:pPr>
            <a:r>
              <a:rPr lang="it-IT" sz="1000">
                <a:solidFill>
                  <a:srgbClr val="203344"/>
                </a:solidFill>
                <a:latin typeface="Arial"/>
                <a:ea typeface="Arial"/>
                <a:cs typeface="Arial"/>
              </a:rPr>
              <a:t>Introduzione · Metodologia | 4</a:t>
            </a:r>
            <a:endParaRPr sz="1000">
              <a:solidFill>
                <a:srgbClr val="203344"/>
              </a:solidFill>
              <a:latin typeface="Arial"/>
              <a:ea typeface="Arial"/>
              <a:cs typeface="Arial"/>
            </a:endParaRPr>
          </a:p>
        </p:txBody>
      </p:sp>
      <p:sp>
        <p:nvSpPr>
          <p:cNvPr id="9" name="TextBox 8">
            <a:extLst>
              <a:ext uri="{FF2B5EF4-FFF2-40B4-BE49-F238E27FC236}">
                <a16:creationId xmlns:a16="http://schemas.microsoft.com/office/drawing/2014/main" id="{FF2072FA-F8F7-FEB2-2D3F-8846A227F047}"/>
              </a:ext>
            </a:extLst>
          </p:cNvPr>
          <p:cNvSpPr txBox="1"/>
          <p:nvPr/>
        </p:nvSpPr>
        <p:spPr>
          <a:xfrm>
            <a:off x="609600" y="1371600"/>
            <a:ext cx="10972800" cy="323165"/>
          </a:xfrm>
          <a:prstGeom prst="rect">
            <a:avLst/>
          </a:prstGeom>
          <a:noFill/>
        </p:spPr>
        <p:txBody>
          <a:bodyPr vert="horz" lIns="0" tIns="0" rIns="0" bIns="0" rtlCol="0">
            <a:spAutoFit/>
          </a:bodyPr>
          <a:lstStyle/>
          <a:p>
            <a:r>
              <a:rPr lang="it-IT" sz="2100" b="1">
                <a:solidFill>
                  <a:srgbClr val="125C97"/>
                </a:solidFill>
                <a:latin typeface="Arial" panose="020B0604020202020204" pitchFamily="34" charset="0"/>
              </a:rPr>
              <a:t>Confrontare le strategie in presenza di errori simulati</a:t>
            </a:r>
            <a:endParaRPr lang="en-GB" sz="2100" b="1">
              <a:solidFill>
                <a:srgbClr val="125C97"/>
              </a:solidFill>
              <a:latin typeface="Arial" panose="020B0604020202020204" pitchFamily="34" charset="0"/>
            </a:endParaRPr>
          </a:p>
        </p:txBody>
      </p:sp>
      <p:graphicFrame>
        <p:nvGraphicFramePr>
          <p:cNvPr id="10" name="Table 9">
            <a:extLst>
              <a:ext uri="{FF2B5EF4-FFF2-40B4-BE49-F238E27FC236}">
                <a16:creationId xmlns:a16="http://schemas.microsoft.com/office/drawing/2014/main" id="{3654918F-9CF1-BCA5-C64D-2B8CCE099355}"/>
              </a:ext>
            </a:extLst>
          </p:cNvPr>
          <p:cNvGraphicFramePr>
            <a:graphicFrameLocks noGrp="1"/>
          </p:cNvGraphicFramePr>
          <p:nvPr>
            <p:extLst>
              <p:ext uri="{D42A27DB-BD31-4B8C-83A1-F6EECF244321}">
                <p14:modId xmlns:p14="http://schemas.microsoft.com/office/powerpoint/2010/main" val="3562175999"/>
              </p:ext>
            </p:extLst>
          </p:nvPr>
        </p:nvGraphicFramePr>
        <p:xfrm>
          <a:off x="609600" y="2717800"/>
          <a:ext cx="10972800" cy="2425700"/>
        </p:xfrm>
        <a:graphic>
          <a:graphicData uri="http://schemas.openxmlformats.org/drawingml/2006/table">
            <a:tbl>
              <a:tblPr firstRow="1" bandRow="1">
                <a:tableStyleId>{5C22544A-7EE6-4342-B048-85BDC9FD1C3A}</a:tableStyleId>
              </a:tblPr>
              <a:tblGrid>
                <a:gridCol w="2413000">
                  <a:extLst>
                    <a:ext uri="{9D8B030D-6E8A-4147-A177-3AD203B41FA5}">
                      <a16:colId xmlns:a16="http://schemas.microsoft.com/office/drawing/2014/main" val="3854607918"/>
                    </a:ext>
                  </a:extLst>
                </a:gridCol>
                <a:gridCol w="4914900">
                  <a:extLst>
                    <a:ext uri="{9D8B030D-6E8A-4147-A177-3AD203B41FA5}">
                      <a16:colId xmlns:a16="http://schemas.microsoft.com/office/drawing/2014/main" val="3366601679"/>
                    </a:ext>
                  </a:extLst>
                </a:gridCol>
                <a:gridCol w="3644900">
                  <a:extLst>
                    <a:ext uri="{9D8B030D-6E8A-4147-A177-3AD203B41FA5}">
                      <a16:colId xmlns:a16="http://schemas.microsoft.com/office/drawing/2014/main" val="842063534"/>
                    </a:ext>
                  </a:extLst>
                </a:gridCol>
              </a:tblGrid>
              <a:tr h="482600">
                <a:tc>
                  <a:txBody>
                    <a:bodyPr/>
                    <a:lstStyle/>
                    <a:p>
                      <a:r>
                        <a:rPr lang="en-GB" sz="1600" b="1">
                          <a:solidFill>
                            <a:srgbClr val="FFFFFF"/>
                          </a:solidFill>
                          <a:latin typeface="Arial" panose="020B0604020202020204" pitchFamily="34" charset="0"/>
                        </a:rPr>
                        <a:t>Strategia</a:t>
                      </a:r>
                    </a:p>
                  </a:txBody>
                  <a:tcPr marL="127000" marR="127000" anchor="ctr">
                    <a:solidFill>
                      <a:srgbClr val="125C97"/>
                    </a:solidFill>
                  </a:tcPr>
                </a:tc>
                <a:tc>
                  <a:txBody>
                    <a:bodyPr/>
                    <a:lstStyle/>
                    <a:p>
                      <a:r>
                        <a:rPr lang="en-GB" sz="1600" b="1">
                          <a:solidFill>
                            <a:srgbClr val="FFFFFF"/>
                          </a:solidFill>
                          <a:latin typeface="Arial" panose="020B0604020202020204" pitchFamily="34" charset="0"/>
                        </a:rPr>
                        <a:t>Confronto</a:t>
                      </a:r>
                    </a:p>
                  </a:txBody>
                  <a:tcPr marL="127000" marR="127000" anchor="ctr">
                    <a:solidFill>
                      <a:srgbClr val="125C97"/>
                    </a:solidFill>
                  </a:tcPr>
                </a:tc>
                <a:tc>
                  <a:txBody>
                    <a:bodyPr/>
                    <a:lstStyle/>
                    <a:p>
                      <a:r>
                        <a:rPr lang="en-GB" sz="1600" b="1">
                          <a:solidFill>
                            <a:srgbClr val="FFFFFF"/>
                          </a:solidFill>
                          <a:latin typeface="Arial" panose="020B0604020202020204" pitchFamily="34" charset="0"/>
                        </a:rPr>
                        <a:t>Criterio di valutazione</a:t>
                      </a:r>
                    </a:p>
                  </a:txBody>
                  <a:tcPr marL="127000" marR="127000" anchor="ctr">
                    <a:solidFill>
                      <a:srgbClr val="125C97"/>
                    </a:solidFill>
                  </a:tcPr>
                </a:tc>
                <a:extLst>
                  <a:ext uri="{0D108BD9-81ED-4DB2-BD59-A6C34878D82A}">
                    <a16:rowId xmlns:a16="http://schemas.microsoft.com/office/drawing/2014/main" val="118980560"/>
                  </a:ext>
                </a:extLst>
              </a:tr>
              <a:tr h="647700">
                <a:tc>
                  <a:txBody>
                    <a:bodyPr/>
                    <a:lstStyle/>
                    <a:p>
                      <a:r>
                        <a:rPr lang="en-GB" sz="1600" b="0">
                          <a:solidFill>
                            <a:srgbClr val="203344"/>
                          </a:solidFill>
                          <a:latin typeface="Arial" panose="020B0604020202020204" pitchFamily="34" charset="0"/>
                        </a:rPr>
                        <a:t>Post-processing</a:t>
                      </a:r>
                    </a:p>
                  </a:txBody>
                  <a:tcPr marL="127000" marR="127000" anchor="ctr">
                    <a:solidFill>
                      <a:srgbClr val="EEF4F8"/>
                    </a:solidFill>
                  </a:tcPr>
                </a:tc>
                <a:tc>
                  <a:txBody>
                    <a:bodyPr/>
                    <a:lstStyle/>
                    <a:p>
                      <a:r>
                        <a:rPr lang="it-IT" sz="1600" b="0">
                          <a:solidFill>
                            <a:srgbClr val="203344"/>
                          </a:solidFill>
                          <a:latin typeface="Arial" panose="020B0604020202020204" pitchFamily="34" charset="0"/>
                        </a:rPr>
                        <a:t>TOP-1, TOP-4 e filtro ML</a:t>
                      </a:r>
                    </a:p>
                    <a:p>
                      <a:r>
                        <a:rPr lang="it-IT" sz="1600" b="0">
                          <a:solidFill>
                            <a:srgbClr val="203344"/>
                          </a:solidFill>
                          <a:latin typeface="Arial" panose="020B0604020202020204" pitchFamily="34" charset="0"/>
                        </a:rPr>
                        <a:t>Stesso istogramma di partenza</a:t>
                      </a:r>
                      <a:endParaRPr lang="en-GB" sz="1600" b="0">
                        <a:solidFill>
                          <a:srgbClr val="203344"/>
                        </a:solidFill>
                        <a:latin typeface="Arial" panose="020B0604020202020204" pitchFamily="34" charset="0"/>
                      </a:endParaRPr>
                    </a:p>
                  </a:txBody>
                  <a:tcPr marL="127000" marR="127000" anchor="ctr">
                    <a:solidFill>
                      <a:srgbClr val="EEF4F8"/>
                    </a:solidFill>
                  </a:tcPr>
                </a:tc>
                <a:tc>
                  <a:txBody>
                    <a:bodyPr/>
                    <a:lstStyle/>
                    <a:p>
                      <a:r>
                        <a:rPr lang="it-IT" sz="1600" b="0">
                          <a:solidFill>
                            <a:srgbClr val="203344"/>
                          </a:solidFill>
                          <a:latin typeface="Arial" panose="020B0604020202020204" pitchFamily="34" charset="0"/>
                        </a:rPr>
                        <a:t>Tentativi al primo successo</a:t>
                      </a:r>
                      <a:endParaRPr lang="en-GB" sz="1600" b="0">
                        <a:solidFill>
                          <a:srgbClr val="203344"/>
                        </a:solidFill>
                        <a:latin typeface="Arial" panose="020B0604020202020204" pitchFamily="34" charset="0"/>
                      </a:endParaRPr>
                    </a:p>
                  </a:txBody>
                  <a:tcPr marL="127000" marR="127000" anchor="ctr">
                    <a:solidFill>
                      <a:srgbClr val="EEF4F8"/>
                    </a:solidFill>
                  </a:tcPr>
                </a:tc>
                <a:extLst>
                  <a:ext uri="{0D108BD9-81ED-4DB2-BD59-A6C34878D82A}">
                    <a16:rowId xmlns:a16="http://schemas.microsoft.com/office/drawing/2014/main" val="54497988"/>
                  </a:ext>
                </a:extLst>
              </a:tr>
              <a:tr h="647700">
                <a:tc>
                  <a:txBody>
                    <a:bodyPr/>
                    <a:lstStyle/>
                    <a:p>
                      <a:r>
                        <a:rPr lang="en-GB" sz="1600" b="0">
                          <a:solidFill>
                            <a:srgbClr val="203344"/>
                          </a:solidFill>
                          <a:latin typeface="Arial" panose="020B0604020202020204" pitchFamily="34" charset="0"/>
                        </a:rPr>
                        <a:t>Correzione degli errori</a:t>
                      </a:r>
                    </a:p>
                  </a:txBody>
                  <a:tcPr marL="127000" marR="127000" anchor="ctr">
                    <a:solidFill>
                      <a:srgbClr val="EEF4F8"/>
                    </a:solidFill>
                  </a:tcPr>
                </a:tc>
                <a:tc>
                  <a:txBody>
                    <a:bodyPr/>
                    <a:lstStyle/>
                    <a:p>
                      <a:r>
                        <a:rPr lang="it-IT" sz="1600" b="0">
                          <a:solidFill>
                            <a:srgbClr val="203344"/>
                          </a:solidFill>
                          <a:latin typeface="Arial" panose="020B0604020202020204" pitchFamily="34" charset="0"/>
                        </a:rPr>
                        <a:t>Codici e decoder</a:t>
                      </a:r>
                    </a:p>
                    <a:p>
                      <a:r>
                        <a:rPr lang="it-IT" sz="1600" b="0">
                          <a:solidFill>
                            <a:srgbClr val="203344"/>
                          </a:solidFill>
                          <a:latin typeface="Arial" panose="020B0604020202020204" pitchFamily="34" charset="0"/>
                        </a:rPr>
                        <a:t>Studi separati da Shor</a:t>
                      </a:r>
                      <a:endParaRPr lang="en-GB" sz="1600" b="0">
                        <a:solidFill>
                          <a:srgbClr val="203344"/>
                        </a:solidFill>
                        <a:latin typeface="Arial" panose="020B0604020202020204" pitchFamily="34" charset="0"/>
                      </a:endParaRPr>
                    </a:p>
                  </a:txBody>
                  <a:tcPr marL="127000" marR="127000" anchor="ctr">
                    <a:solidFill>
                      <a:srgbClr val="EEF4F8"/>
                    </a:solidFill>
                  </a:tcPr>
                </a:tc>
                <a:tc>
                  <a:txBody>
                    <a:bodyPr/>
                    <a:lstStyle/>
                    <a:p>
                      <a:r>
                        <a:rPr lang="it-IT" sz="1600" b="0">
                          <a:solidFill>
                            <a:srgbClr val="203344"/>
                          </a:solidFill>
                          <a:latin typeface="Arial" panose="020B0604020202020204" pitchFamily="34" charset="0"/>
                        </a:rPr>
                        <a:t>Errore logico e risorse</a:t>
                      </a:r>
                      <a:endParaRPr lang="en-GB" sz="1600" b="0">
                        <a:solidFill>
                          <a:srgbClr val="203344"/>
                        </a:solidFill>
                        <a:latin typeface="Arial" panose="020B0604020202020204" pitchFamily="34" charset="0"/>
                      </a:endParaRPr>
                    </a:p>
                  </a:txBody>
                  <a:tcPr marL="127000" marR="127000" anchor="ctr">
                    <a:solidFill>
                      <a:srgbClr val="EEF4F8"/>
                    </a:solidFill>
                  </a:tcPr>
                </a:tc>
                <a:extLst>
                  <a:ext uri="{0D108BD9-81ED-4DB2-BD59-A6C34878D82A}">
                    <a16:rowId xmlns:a16="http://schemas.microsoft.com/office/drawing/2014/main" val="73522484"/>
                  </a:ext>
                </a:extLst>
              </a:tr>
              <a:tr h="647700">
                <a:tc>
                  <a:txBody>
                    <a:bodyPr/>
                    <a:lstStyle/>
                    <a:p>
                      <a:r>
                        <a:rPr lang="en-GB" sz="1600" b="0">
                          <a:solidFill>
                            <a:srgbClr val="203344"/>
                          </a:solidFill>
                          <a:latin typeface="Arial" panose="020B0604020202020204" pitchFamily="34" charset="0"/>
                        </a:rPr>
                        <a:t>QFT approssimata</a:t>
                      </a:r>
                    </a:p>
                  </a:txBody>
                  <a:tcPr marL="127000" marR="127000" anchor="ctr">
                    <a:solidFill>
                      <a:srgbClr val="EEF4F8"/>
                    </a:solidFill>
                  </a:tcPr>
                </a:tc>
                <a:tc>
                  <a:txBody>
                    <a:bodyPr/>
                    <a:lstStyle/>
                    <a:p>
                      <a:r>
                        <a:rPr lang="it-IT" sz="1600" b="0">
                          <a:solidFill>
                            <a:srgbClr val="203344"/>
                          </a:solidFill>
                          <a:latin typeface="Arial" panose="020B0604020202020204" pitchFamily="34" charset="0"/>
                        </a:rPr>
                        <a:t>QFT piena e versioni troncate</a:t>
                      </a:r>
                    </a:p>
                    <a:p>
                      <a:r>
                        <a:rPr lang="it-IT" sz="1600" b="0">
                          <a:solidFill>
                            <a:srgbClr val="203344"/>
                          </a:solidFill>
                          <a:latin typeface="Arial" panose="020B0604020202020204" pitchFamily="34" charset="0"/>
                        </a:rPr>
                        <a:t>Selezione e verifica distinte</a:t>
                      </a:r>
                      <a:endParaRPr lang="en-GB" sz="1600" b="0">
                        <a:solidFill>
                          <a:srgbClr val="203344"/>
                        </a:solidFill>
                        <a:latin typeface="Arial" panose="020B0604020202020204" pitchFamily="34" charset="0"/>
                      </a:endParaRPr>
                    </a:p>
                  </a:txBody>
                  <a:tcPr marL="127000" marR="127000" anchor="ctr">
                    <a:solidFill>
                      <a:srgbClr val="EEF4F8"/>
                    </a:solidFill>
                  </a:tcPr>
                </a:tc>
                <a:tc>
                  <a:txBody>
                    <a:bodyPr/>
                    <a:lstStyle/>
                    <a:p>
                      <a:r>
                        <a:rPr lang="it-IT" sz="1600" b="0">
                          <a:solidFill>
                            <a:srgbClr val="203344"/>
                          </a:solidFill>
                          <a:latin typeface="Arial" panose="020B0604020202020204" pitchFamily="34" charset="0"/>
                        </a:rPr>
                        <a:t>Successo, porte e profondità</a:t>
                      </a:r>
                      <a:endParaRPr lang="en-GB" sz="1600" b="0" dirty="0">
                        <a:solidFill>
                          <a:srgbClr val="203344"/>
                        </a:solidFill>
                        <a:latin typeface="Arial" panose="020B0604020202020204" pitchFamily="34" charset="0"/>
                      </a:endParaRPr>
                    </a:p>
                  </a:txBody>
                  <a:tcPr marL="127000" marR="127000" anchor="ctr">
                    <a:solidFill>
                      <a:srgbClr val="EEF4F8"/>
                    </a:solidFill>
                  </a:tcPr>
                </a:tc>
                <a:extLst>
                  <a:ext uri="{0D108BD9-81ED-4DB2-BD59-A6C34878D82A}">
                    <a16:rowId xmlns:a16="http://schemas.microsoft.com/office/drawing/2014/main" val="4162107245"/>
                  </a:ext>
                </a:extLst>
              </a:tr>
            </a:tbl>
          </a:graphicData>
        </a:graphic>
      </p:graphicFrame>
      <p:sp>
        <p:nvSpPr>
          <p:cNvPr id="11" name="TextBox 10">
            <a:extLst>
              <a:ext uri="{FF2B5EF4-FFF2-40B4-BE49-F238E27FC236}">
                <a16:creationId xmlns:a16="http://schemas.microsoft.com/office/drawing/2014/main" id="{952E7225-BDCD-358B-86C3-0D2417959FA4}"/>
              </a:ext>
            </a:extLst>
          </p:cNvPr>
          <p:cNvSpPr txBox="1"/>
          <p:nvPr/>
        </p:nvSpPr>
        <p:spPr>
          <a:xfrm>
            <a:off x="609600" y="5334000"/>
            <a:ext cx="10972800" cy="323165"/>
          </a:xfrm>
          <a:prstGeom prst="rect">
            <a:avLst/>
          </a:prstGeom>
          <a:noFill/>
        </p:spPr>
        <p:txBody>
          <a:bodyPr vert="horz" lIns="0" tIns="0" rIns="0" bIns="0" rtlCol="0">
            <a:spAutoFit/>
          </a:bodyPr>
          <a:lstStyle/>
          <a:p>
            <a:r>
              <a:rPr lang="it-IT" sz="2100" b="1">
                <a:solidFill>
                  <a:srgbClr val="D9822B"/>
                </a:solidFill>
                <a:latin typeface="Arial" panose="020B0604020202020204" pitchFamily="34" charset="0"/>
              </a:rPr>
              <a:t>Ogni strategia è valutata rispetto alla propria baseline.</a:t>
            </a:r>
            <a:endParaRPr lang="en-GB" sz="2100" b="1">
              <a:solidFill>
                <a:srgbClr val="D9822B"/>
              </a:solidFill>
              <a:latin typeface="Arial" panose="020B0604020202020204" pitchFamily="34" charset="0"/>
            </a:endParaRPr>
          </a:p>
        </p:txBody>
      </p:sp>
      <p:sp>
        <p:nvSpPr>
          <p:cNvPr id="20" name="TextBox 19">
            <a:extLst>
              <a:ext uri="{FF2B5EF4-FFF2-40B4-BE49-F238E27FC236}">
                <a16:creationId xmlns:a16="http://schemas.microsoft.com/office/drawing/2014/main" id="{4685D094-A78F-F5FB-D8A5-E6063A864229}"/>
              </a:ext>
            </a:extLst>
          </p:cNvPr>
          <p:cNvSpPr txBox="1"/>
          <p:nvPr/>
        </p:nvSpPr>
        <p:spPr>
          <a:xfrm>
            <a:off x="609600" y="1803400"/>
            <a:ext cx="10972800" cy="523220"/>
          </a:xfrm>
          <a:prstGeom prst="rect">
            <a:avLst/>
          </a:prstGeom>
          <a:noFill/>
        </p:spPr>
        <p:txBody>
          <a:bodyPr vert="horz" lIns="0" tIns="0" rIns="0" bIns="0" rtlCol="0">
            <a:spAutoFit/>
          </a:bodyPr>
          <a:lstStyle/>
          <a:p>
            <a:r>
              <a:rPr lang="it-IT" sz="1700">
                <a:solidFill>
                  <a:srgbClr val="203344"/>
                </a:solidFill>
                <a:latin typeface="Arial" panose="020B0604020202020204" pitchFamily="34" charset="0"/>
              </a:rPr>
              <a:t>Circuiti di Shor implementati e validati; confronto con baseline esplicite.</a:t>
            </a:r>
          </a:p>
          <a:p>
            <a:r>
              <a:rPr lang="it-IT" sz="1700">
                <a:solidFill>
                  <a:srgbClr val="203344"/>
                </a:solidFill>
                <a:latin typeface="Arial" panose="020B0604020202020204" pitchFamily="34" charset="0"/>
              </a:rPr>
              <a:t>Parametri, versioni e seed registrati per rendere le prove riproducibili.</a:t>
            </a:r>
            <a:endParaRPr lang="en-GB" sz="1700" dirty="0">
              <a:solidFill>
                <a:srgbClr val="203344"/>
              </a:solidFill>
              <a:latin typeface="Arial" panose="020B0604020202020204" pitchFamily="34" charset="0"/>
            </a:endParaRPr>
          </a:p>
        </p:txBody>
      </p:sp>
    </p:spTree>
    <p:extLst>
      <p:ext uri="{BB962C8B-B14F-4D97-AF65-F5344CB8AC3E}">
        <p14:creationId xmlns:p14="http://schemas.microsoft.com/office/powerpoint/2010/main" val="2157553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9"/>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9"/>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9"/>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9"/>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2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CDE1CEA5-D38D-13AD-8C1D-B082F56983AE}"/>
              </a:ext>
            </a:extLst>
          </p:cNvPr>
          <p:cNvCxnSpPr/>
          <p:nvPr/>
        </p:nvCxnSpPr>
        <p:spPr>
          <a:xfrm>
            <a:off x="10096500" y="4722812"/>
            <a:ext cx="0" cy="2540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FB078F3-1E38-1156-C358-FBCEF54B21FD}"/>
              </a:ext>
            </a:extLst>
          </p:cNvPr>
          <p:cNvCxnSpPr/>
          <p:nvPr/>
        </p:nvCxnSpPr>
        <p:spPr>
          <a:xfrm>
            <a:off x="10096500" y="3402012"/>
            <a:ext cx="0" cy="3810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5DFDC7D-D9C4-A354-277B-AC1BD6237B5B}"/>
              </a:ext>
            </a:extLst>
          </p:cNvPr>
          <p:cNvCxnSpPr/>
          <p:nvPr/>
        </p:nvCxnSpPr>
        <p:spPr>
          <a:xfrm>
            <a:off x="7404100" y="3402012"/>
            <a:ext cx="0" cy="15748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7C54456-225C-9E0A-3038-DD3974C96199}"/>
              </a:ext>
            </a:extLst>
          </p:cNvPr>
          <p:cNvCxnSpPr/>
          <p:nvPr/>
        </p:nvCxnSpPr>
        <p:spPr>
          <a:xfrm>
            <a:off x="4711700" y="3402012"/>
            <a:ext cx="0" cy="3810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993C3B39-6012-409D-8C55-2E1E8048285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Obiettivi: dove interviene ciascuna strategia</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82AFE8A-0115-4407-BDA2-396C170A082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BD900CC-09C6-4AFF-B224-9EC736B42A92}"/>
              </a:ext>
            </a:extLst>
          </p:cNvPr>
          <p:cNvSpPr>
            <a:spLocks noGrp="1"/>
          </p:cNvSpPr>
          <p:nvPr/>
        </p:nvSpPr>
        <p:spPr>
          <a:xfrm>
            <a:off x="7477125" y="828675"/>
            <a:ext cx="3228975" cy="219075"/>
          </a:xfrm>
          <a:prstGeom prst="rect">
            <a:avLst/>
          </a:prstGeom>
          <a:noFill/>
          <a:ln w="0">
            <a:noFill/>
          </a:ln>
        </p:spPr>
        <p:txBody>
          <a:bodyPr rIns="0" anchor="ctr">
            <a:noAutofit/>
          </a:bodyPr>
          <a:lstStyle/>
          <a:p>
            <a:pPr algn="r">
              <a:defRPr sz="1200" b="0">
                <a:solidFill>
                  <a:srgbClr val="203344"/>
                </a:solidFill>
                <a:latin typeface="Arial"/>
                <a:ea typeface="Arial"/>
                <a:cs typeface="Arial"/>
              </a:defRPr>
            </a:pPr>
            <a:r>
              <a:rPr lang="it-IT" sz="1050" b="0">
                <a:solidFill>
                  <a:srgbClr val="203344"/>
                </a:solidFill>
                <a:latin typeface="Arial"/>
                <a:ea typeface="Arial"/>
                <a:cs typeface="Arial"/>
              </a:rPr>
              <a:t>Introduzione | 5</a:t>
            </a:r>
            <a:endParaRPr sz="1050" b="0">
              <a:solidFill>
                <a:srgbClr val="203344"/>
              </a:solidFill>
              <a:latin typeface="Arial"/>
              <a:ea typeface="Arial"/>
              <a:cs typeface="Arial"/>
            </a:endParaRPr>
          </a:p>
        </p:txBody>
      </p:sp>
      <p:sp>
        <p:nvSpPr>
          <p:cNvPr id="5" name="Rectangle: Rounded Corners 4">
            <a:extLst>
              <a:ext uri="{FF2B5EF4-FFF2-40B4-BE49-F238E27FC236}">
                <a16:creationId xmlns:a16="http://schemas.microsoft.com/office/drawing/2014/main" id="{71A406BA-430E-F9F0-8B64-5BEFA86E6FCC}"/>
              </a:ext>
            </a:extLst>
          </p:cNvPr>
          <p:cNvSpPr/>
          <p:nvPr/>
        </p:nvSpPr>
        <p:spPr>
          <a:xfrm>
            <a:off x="609600" y="2055812"/>
            <a:ext cx="10972800" cy="1498600"/>
          </a:xfrm>
          <a:prstGeom prst="roundRect">
            <a:avLst>
              <a:gd name="adj" fmla="val 8000"/>
            </a:avLst>
          </a:prstGeom>
          <a:solidFill>
            <a:srgbClr val="F7EDCB"/>
          </a:solidFill>
          <a:ln w="19050">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a:extLst>
              <a:ext uri="{FF2B5EF4-FFF2-40B4-BE49-F238E27FC236}">
                <a16:creationId xmlns:a16="http://schemas.microsoft.com/office/drawing/2014/main" id="{B203B3D3-C539-C346-D1CF-D1F6ACEB3D39}"/>
              </a:ext>
            </a:extLst>
          </p:cNvPr>
          <p:cNvSpPr txBox="1"/>
          <p:nvPr/>
        </p:nvSpPr>
        <p:spPr>
          <a:xfrm>
            <a:off x="762000" y="2106612"/>
            <a:ext cx="5080000" cy="369332"/>
          </a:xfrm>
          <a:prstGeom prst="rect">
            <a:avLst/>
          </a:prstGeom>
          <a:noFill/>
        </p:spPr>
        <p:txBody>
          <a:bodyPr vert="horz" wrap="square" rtlCol="0">
            <a:noAutofit/>
          </a:bodyPr>
          <a:lstStyle/>
          <a:p>
            <a:r>
              <a:rPr lang="en-GB" sz="1500" b="1">
                <a:solidFill>
                  <a:srgbClr val="7A5C12"/>
                </a:solidFill>
                <a:latin typeface="Arial" panose="020B0604020202020204" pitchFamily="34" charset="0"/>
              </a:rPr>
              <a:t>Algoritmo di Shor</a:t>
            </a:r>
          </a:p>
        </p:txBody>
      </p:sp>
      <p:sp>
        <p:nvSpPr>
          <p:cNvPr id="7" name="Rectangle: Rounded Corners 6">
            <a:extLst>
              <a:ext uri="{FF2B5EF4-FFF2-40B4-BE49-F238E27FC236}">
                <a16:creationId xmlns:a16="http://schemas.microsoft.com/office/drawing/2014/main" id="{BD9FE72F-AB6F-CE56-3C1B-0CE1FF3977B9}"/>
              </a:ext>
            </a:extLst>
          </p:cNvPr>
          <p:cNvSpPr/>
          <p:nvPr/>
        </p:nvSpPr>
        <p:spPr>
          <a:xfrm>
            <a:off x="787400" y="2436812"/>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379D2604-111F-A13D-FD56-97652F0186E6}"/>
              </a:ext>
            </a:extLst>
          </p:cNvPr>
          <p:cNvSpPr txBox="1"/>
          <p:nvPr/>
        </p:nvSpPr>
        <p:spPr>
          <a:xfrm>
            <a:off x="869499" y="2487612"/>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Scelta di a</a:t>
            </a:r>
          </a:p>
        </p:txBody>
      </p:sp>
      <p:sp>
        <p:nvSpPr>
          <p:cNvPr id="9" name="TextBox 8">
            <a:extLst>
              <a:ext uri="{FF2B5EF4-FFF2-40B4-BE49-F238E27FC236}">
                <a16:creationId xmlns:a16="http://schemas.microsoft.com/office/drawing/2014/main" id="{7F8CE3D5-7F36-50F1-4688-D82C9F52A02A}"/>
              </a:ext>
            </a:extLst>
          </p:cNvPr>
          <p:cNvSpPr txBox="1"/>
          <p:nvPr/>
        </p:nvSpPr>
        <p:spPr>
          <a:xfrm>
            <a:off x="863600" y="3071812"/>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MCD(a, N) = 1</a:t>
            </a:r>
          </a:p>
        </p:txBody>
      </p:sp>
      <p:sp>
        <p:nvSpPr>
          <p:cNvPr id="10" name="Arrow: Right 9">
            <a:extLst>
              <a:ext uri="{FF2B5EF4-FFF2-40B4-BE49-F238E27FC236}">
                <a16:creationId xmlns:a16="http://schemas.microsoft.com/office/drawing/2014/main" id="{4FA152F5-7E2E-B567-3239-3CB985534EAA}"/>
              </a:ext>
            </a:extLst>
          </p:cNvPr>
          <p:cNvSpPr/>
          <p:nvPr/>
        </p:nvSpPr>
        <p:spPr>
          <a:xfrm>
            <a:off x="3276600" y="2843212"/>
            <a:ext cx="177800" cy="152400"/>
          </a:xfrm>
          <a:prstGeom prst="rightArrow">
            <a:avLst/>
          </a:prstGeom>
          <a:solidFill>
            <a:srgbClr val="8A7A4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Rounded Corners 10">
            <a:extLst>
              <a:ext uri="{FF2B5EF4-FFF2-40B4-BE49-F238E27FC236}">
                <a16:creationId xmlns:a16="http://schemas.microsoft.com/office/drawing/2014/main" id="{B2F76A79-3800-1435-88FB-8FB9609CB385}"/>
              </a:ext>
            </a:extLst>
          </p:cNvPr>
          <p:cNvSpPr/>
          <p:nvPr/>
        </p:nvSpPr>
        <p:spPr>
          <a:xfrm>
            <a:off x="3479800" y="2436812"/>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EF43BCDA-4513-C925-0E03-AEBDB0987056}"/>
              </a:ext>
            </a:extLst>
          </p:cNvPr>
          <p:cNvSpPr txBox="1"/>
          <p:nvPr/>
        </p:nvSpPr>
        <p:spPr>
          <a:xfrm>
            <a:off x="3556000" y="2487612"/>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Esponenziazione modulare</a:t>
            </a:r>
          </a:p>
        </p:txBody>
      </p:sp>
      <p:sp>
        <p:nvSpPr>
          <p:cNvPr id="13" name="TextBox 12">
            <a:extLst>
              <a:ext uri="{FF2B5EF4-FFF2-40B4-BE49-F238E27FC236}">
                <a16:creationId xmlns:a16="http://schemas.microsoft.com/office/drawing/2014/main" id="{64378A2F-F034-45ED-9900-8392E8A977BA}"/>
              </a:ext>
            </a:extLst>
          </p:cNvPr>
          <p:cNvSpPr txBox="1"/>
          <p:nvPr/>
        </p:nvSpPr>
        <p:spPr>
          <a:xfrm>
            <a:off x="3556000" y="3071812"/>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stima di fase (QPE)</a:t>
            </a:r>
          </a:p>
        </p:txBody>
      </p:sp>
      <p:sp>
        <p:nvSpPr>
          <p:cNvPr id="14" name="Arrow: Right 13">
            <a:extLst>
              <a:ext uri="{FF2B5EF4-FFF2-40B4-BE49-F238E27FC236}">
                <a16:creationId xmlns:a16="http://schemas.microsoft.com/office/drawing/2014/main" id="{FAD6E5CD-208C-6E07-9B48-CABEB14C5734}"/>
              </a:ext>
            </a:extLst>
          </p:cNvPr>
          <p:cNvSpPr/>
          <p:nvPr/>
        </p:nvSpPr>
        <p:spPr>
          <a:xfrm>
            <a:off x="5969000" y="2843212"/>
            <a:ext cx="177800" cy="152400"/>
          </a:xfrm>
          <a:prstGeom prst="rightArrow">
            <a:avLst/>
          </a:prstGeom>
          <a:solidFill>
            <a:srgbClr val="8A7A4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Rounded Corners 14">
            <a:extLst>
              <a:ext uri="{FF2B5EF4-FFF2-40B4-BE49-F238E27FC236}">
                <a16:creationId xmlns:a16="http://schemas.microsoft.com/office/drawing/2014/main" id="{C91D1915-4C4B-71BF-1D11-C89B7D8B7222}"/>
              </a:ext>
            </a:extLst>
          </p:cNvPr>
          <p:cNvSpPr/>
          <p:nvPr/>
        </p:nvSpPr>
        <p:spPr>
          <a:xfrm>
            <a:off x="6172200" y="2436812"/>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10BC7FA2-A5A5-149C-EABE-EA68AB38DC09}"/>
              </a:ext>
            </a:extLst>
          </p:cNvPr>
          <p:cNvSpPr txBox="1"/>
          <p:nvPr/>
        </p:nvSpPr>
        <p:spPr>
          <a:xfrm>
            <a:off x="6248400" y="2487612"/>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QFT inversa</a:t>
            </a:r>
          </a:p>
        </p:txBody>
      </p:sp>
      <p:sp>
        <p:nvSpPr>
          <p:cNvPr id="17" name="TextBox 16">
            <a:extLst>
              <a:ext uri="{FF2B5EF4-FFF2-40B4-BE49-F238E27FC236}">
                <a16:creationId xmlns:a16="http://schemas.microsoft.com/office/drawing/2014/main" id="{3B513393-831B-C90D-5BCD-591EB8FE277A}"/>
              </a:ext>
            </a:extLst>
          </p:cNvPr>
          <p:cNvSpPr txBox="1"/>
          <p:nvPr/>
        </p:nvSpPr>
        <p:spPr>
          <a:xfrm>
            <a:off x="6248400" y="3071812"/>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rotazioni controllate</a:t>
            </a:r>
          </a:p>
        </p:txBody>
      </p:sp>
      <p:sp>
        <p:nvSpPr>
          <p:cNvPr id="50" name="Arrow: Right 49">
            <a:extLst>
              <a:ext uri="{FF2B5EF4-FFF2-40B4-BE49-F238E27FC236}">
                <a16:creationId xmlns:a16="http://schemas.microsoft.com/office/drawing/2014/main" id="{29DEC9FE-10C7-271F-ABEB-4B97B4321FCD}"/>
              </a:ext>
            </a:extLst>
          </p:cNvPr>
          <p:cNvSpPr/>
          <p:nvPr/>
        </p:nvSpPr>
        <p:spPr>
          <a:xfrm>
            <a:off x="8661400" y="2843212"/>
            <a:ext cx="177800" cy="152400"/>
          </a:xfrm>
          <a:prstGeom prst="rightArrow">
            <a:avLst/>
          </a:prstGeom>
          <a:solidFill>
            <a:srgbClr val="8A7A4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Rounded Corners 50">
            <a:extLst>
              <a:ext uri="{FF2B5EF4-FFF2-40B4-BE49-F238E27FC236}">
                <a16:creationId xmlns:a16="http://schemas.microsoft.com/office/drawing/2014/main" id="{5804AC16-C84A-4973-1E3A-33EF6EF0CE42}"/>
              </a:ext>
            </a:extLst>
          </p:cNvPr>
          <p:cNvSpPr/>
          <p:nvPr/>
        </p:nvSpPr>
        <p:spPr>
          <a:xfrm>
            <a:off x="8864600" y="2436812"/>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TextBox 51">
            <a:extLst>
              <a:ext uri="{FF2B5EF4-FFF2-40B4-BE49-F238E27FC236}">
                <a16:creationId xmlns:a16="http://schemas.microsoft.com/office/drawing/2014/main" id="{646B5660-21FE-82E2-FF02-0E010D013066}"/>
              </a:ext>
            </a:extLst>
          </p:cNvPr>
          <p:cNvSpPr txBox="1"/>
          <p:nvPr/>
        </p:nvSpPr>
        <p:spPr>
          <a:xfrm>
            <a:off x="8940800" y="2487612"/>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Misura</a:t>
            </a:r>
          </a:p>
        </p:txBody>
      </p:sp>
      <p:sp>
        <p:nvSpPr>
          <p:cNvPr id="53" name="TextBox 52">
            <a:extLst>
              <a:ext uri="{FF2B5EF4-FFF2-40B4-BE49-F238E27FC236}">
                <a16:creationId xmlns:a16="http://schemas.microsoft.com/office/drawing/2014/main" id="{1A21D735-A996-BECE-47BE-974260D6411D}"/>
              </a:ext>
            </a:extLst>
          </p:cNvPr>
          <p:cNvSpPr txBox="1"/>
          <p:nvPr/>
        </p:nvSpPr>
        <p:spPr>
          <a:xfrm>
            <a:off x="8940800" y="3071812"/>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istogramma degli esiti</a:t>
            </a:r>
          </a:p>
        </p:txBody>
      </p:sp>
      <p:sp>
        <p:nvSpPr>
          <p:cNvPr id="56" name="Rectangle: Rounded Corners 55">
            <a:extLst>
              <a:ext uri="{FF2B5EF4-FFF2-40B4-BE49-F238E27FC236}">
                <a16:creationId xmlns:a16="http://schemas.microsoft.com/office/drawing/2014/main" id="{F8702F06-AC41-A784-75A6-8A63F848BF2E}"/>
              </a:ext>
            </a:extLst>
          </p:cNvPr>
          <p:cNvSpPr/>
          <p:nvPr/>
        </p:nvSpPr>
        <p:spPr>
          <a:xfrm>
            <a:off x="6172200" y="4976812"/>
            <a:ext cx="2463800" cy="939800"/>
          </a:xfrm>
          <a:prstGeom prst="roundRect">
            <a:avLst>
              <a:gd name="adj" fmla="val 8000"/>
            </a:avLst>
          </a:prstGeom>
          <a:solidFill>
            <a:srgbClr val="EEE7F7"/>
          </a:solidFill>
          <a:ln w="15875">
            <a:solidFill>
              <a:srgbClr val="6B4F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TextBox 56">
            <a:extLst>
              <a:ext uri="{FF2B5EF4-FFF2-40B4-BE49-F238E27FC236}">
                <a16:creationId xmlns:a16="http://schemas.microsoft.com/office/drawing/2014/main" id="{86D805D8-D26E-2153-32FC-2D467B951E73}"/>
              </a:ext>
            </a:extLst>
          </p:cNvPr>
          <p:cNvSpPr txBox="1"/>
          <p:nvPr/>
        </p:nvSpPr>
        <p:spPr>
          <a:xfrm>
            <a:off x="6299200" y="5040312"/>
            <a:ext cx="22098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QFT approssimata</a:t>
            </a:r>
          </a:p>
        </p:txBody>
      </p:sp>
      <p:sp>
        <p:nvSpPr>
          <p:cNvPr id="58" name="TextBox 57">
            <a:extLst>
              <a:ext uri="{FF2B5EF4-FFF2-40B4-BE49-F238E27FC236}">
                <a16:creationId xmlns:a16="http://schemas.microsoft.com/office/drawing/2014/main" id="{70E09711-6032-D441-5BEC-D255762B5C0F}"/>
              </a:ext>
            </a:extLst>
          </p:cNvPr>
          <p:cNvSpPr txBox="1"/>
          <p:nvPr/>
        </p:nvSpPr>
        <p:spPr>
          <a:xfrm>
            <a:off x="6299200" y="5357812"/>
            <a:ext cx="2209800" cy="369332"/>
          </a:xfrm>
          <a:prstGeom prst="rect">
            <a:avLst/>
          </a:prstGeom>
          <a:noFill/>
        </p:spPr>
        <p:txBody>
          <a:bodyPr vert="horz" wrap="square" rtlCol="0">
            <a:noAutofit/>
          </a:bodyPr>
          <a:lstStyle/>
          <a:p>
            <a:r>
              <a:rPr lang="it-IT" sz="1275">
                <a:solidFill>
                  <a:srgbClr val="203344"/>
                </a:solidFill>
                <a:latin typeface="Arial" panose="020B0604020202020204" pitchFamily="34" charset="0"/>
              </a:rPr>
              <a:t>toglie le rotazioni di piccolo angolo</a:t>
            </a:r>
            <a:endParaRPr lang="en-GB" sz="1275">
              <a:solidFill>
                <a:srgbClr val="203344"/>
              </a:solidFill>
              <a:latin typeface="Arial" panose="020B0604020202020204" pitchFamily="34" charset="0"/>
            </a:endParaRPr>
          </a:p>
        </p:txBody>
      </p:sp>
      <p:sp>
        <p:nvSpPr>
          <p:cNvPr id="59" name="Rectangle: Rounded Corners 58">
            <a:extLst>
              <a:ext uri="{FF2B5EF4-FFF2-40B4-BE49-F238E27FC236}">
                <a16:creationId xmlns:a16="http://schemas.microsoft.com/office/drawing/2014/main" id="{7D7FE52C-2C69-C699-AE2B-42253A1D7671}"/>
              </a:ext>
            </a:extLst>
          </p:cNvPr>
          <p:cNvSpPr/>
          <p:nvPr/>
        </p:nvSpPr>
        <p:spPr>
          <a:xfrm>
            <a:off x="8864600" y="3783012"/>
            <a:ext cx="2463800" cy="939800"/>
          </a:xfrm>
          <a:prstGeom prst="roundRect">
            <a:avLst>
              <a:gd name="adj" fmla="val 8000"/>
            </a:avLst>
          </a:prstGeom>
          <a:solidFill>
            <a:srgbClr val="EEE7F7"/>
          </a:solidFill>
          <a:ln w="15875">
            <a:solidFill>
              <a:srgbClr val="6B4F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TextBox 59">
            <a:extLst>
              <a:ext uri="{FF2B5EF4-FFF2-40B4-BE49-F238E27FC236}">
                <a16:creationId xmlns:a16="http://schemas.microsoft.com/office/drawing/2014/main" id="{DD1271B2-1BD1-2C08-298C-BB17D381E5F9}"/>
              </a:ext>
            </a:extLst>
          </p:cNvPr>
          <p:cNvSpPr txBox="1"/>
          <p:nvPr/>
        </p:nvSpPr>
        <p:spPr>
          <a:xfrm>
            <a:off x="8991600" y="3846512"/>
            <a:ext cx="22098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Post-processing</a:t>
            </a:r>
          </a:p>
        </p:txBody>
      </p:sp>
      <p:sp>
        <p:nvSpPr>
          <p:cNvPr id="61" name="TextBox 60">
            <a:extLst>
              <a:ext uri="{FF2B5EF4-FFF2-40B4-BE49-F238E27FC236}">
                <a16:creationId xmlns:a16="http://schemas.microsoft.com/office/drawing/2014/main" id="{B32AF17F-33DD-27A1-2503-DFC2B928164A}"/>
              </a:ext>
            </a:extLst>
          </p:cNvPr>
          <p:cNvSpPr txBox="1"/>
          <p:nvPr/>
        </p:nvSpPr>
        <p:spPr>
          <a:xfrm>
            <a:off x="8991600" y="4164012"/>
            <a:ext cx="2209800" cy="369332"/>
          </a:xfrm>
          <a:prstGeom prst="rect">
            <a:avLst/>
          </a:prstGeom>
          <a:noFill/>
        </p:spPr>
        <p:txBody>
          <a:bodyPr vert="horz" wrap="square" rtlCol="0">
            <a:noAutofit/>
          </a:bodyPr>
          <a:lstStyle/>
          <a:p>
            <a:r>
              <a:rPr lang="it-IT" sz="1275">
                <a:solidFill>
                  <a:srgbClr val="203344"/>
                </a:solidFill>
                <a:latin typeface="Arial" panose="020B0604020202020204" pitchFamily="34" charset="0"/>
              </a:rPr>
              <a:t>verifica classica degli esiti misurati</a:t>
            </a:r>
            <a:endParaRPr lang="en-GB" sz="1275">
              <a:solidFill>
                <a:srgbClr val="203344"/>
              </a:solidFill>
              <a:latin typeface="Arial" panose="020B0604020202020204" pitchFamily="34" charset="0"/>
            </a:endParaRPr>
          </a:p>
        </p:txBody>
      </p:sp>
      <p:sp>
        <p:nvSpPr>
          <p:cNvPr id="63" name="Rectangle: Rounded Corners 62">
            <a:extLst>
              <a:ext uri="{FF2B5EF4-FFF2-40B4-BE49-F238E27FC236}">
                <a16:creationId xmlns:a16="http://schemas.microsoft.com/office/drawing/2014/main" id="{899DB2B1-FCD0-8D4F-AE5F-917B564E2B10}"/>
              </a:ext>
            </a:extLst>
          </p:cNvPr>
          <p:cNvSpPr/>
          <p:nvPr/>
        </p:nvSpPr>
        <p:spPr>
          <a:xfrm>
            <a:off x="8864600" y="4976812"/>
            <a:ext cx="2463800" cy="939800"/>
          </a:xfrm>
          <a:prstGeom prst="roundRect">
            <a:avLst>
              <a:gd name="adj" fmla="val 8000"/>
            </a:avLst>
          </a:prstGeom>
          <a:solidFill>
            <a:srgbClr val="EEE7F7"/>
          </a:solidFill>
          <a:ln w="15875">
            <a:solidFill>
              <a:srgbClr val="6B4F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TextBox 63">
            <a:extLst>
              <a:ext uri="{FF2B5EF4-FFF2-40B4-BE49-F238E27FC236}">
                <a16:creationId xmlns:a16="http://schemas.microsoft.com/office/drawing/2014/main" id="{326F084D-93F3-CFB3-2AEF-0176AA102007}"/>
              </a:ext>
            </a:extLst>
          </p:cNvPr>
          <p:cNvSpPr txBox="1"/>
          <p:nvPr/>
        </p:nvSpPr>
        <p:spPr>
          <a:xfrm>
            <a:off x="8991600" y="5040312"/>
            <a:ext cx="22098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TOP-K e ML</a:t>
            </a:r>
          </a:p>
        </p:txBody>
      </p:sp>
      <p:sp>
        <p:nvSpPr>
          <p:cNvPr id="65" name="TextBox 64">
            <a:extLst>
              <a:ext uri="{FF2B5EF4-FFF2-40B4-BE49-F238E27FC236}">
                <a16:creationId xmlns:a16="http://schemas.microsoft.com/office/drawing/2014/main" id="{273609B0-B17D-A477-1EAC-F52183F7EA23}"/>
              </a:ext>
            </a:extLst>
          </p:cNvPr>
          <p:cNvSpPr txBox="1"/>
          <p:nvPr/>
        </p:nvSpPr>
        <p:spPr>
          <a:xfrm>
            <a:off x="8991600" y="5357812"/>
            <a:ext cx="2209800" cy="369332"/>
          </a:xfrm>
          <a:prstGeom prst="rect">
            <a:avLst/>
          </a:prstGeom>
          <a:noFill/>
        </p:spPr>
        <p:txBody>
          <a:bodyPr vert="horz" wrap="square" rtlCol="0">
            <a:noAutofit/>
          </a:bodyPr>
          <a:lstStyle/>
          <a:p>
            <a:r>
              <a:rPr lang="it-IT" sz="1275">
                <a:solidFill>
                  <a:srgbClr val="203344"/>
                </a:solidFill>
                <a:latin typeface="Arial" panose="020B0604020202020204" pitchFamily="34" charset="0"/>
              </a:rPr>
              <a:t>TOP-1, TOP-4, Metodo 2: quali esiti verificare</a:t>
            </a:r>
            <a:endParaRPr lang="en-GB" sz="1275">
              <a:solidFill>
                <a:srgbClr val="203344"/>
              </a:solidFill>
              <a:latin typeface="Arial" panose="020B0604020202020204" pitchFamily="34" charset="0"/>
            </a:endParaRPr>
          </a:p>
        </p:txBody>
      </p:sp>
      <p:sp>
        <p:nvSpPr>
          <p:cNvPr id="68" name="Rectangle: Rounded Corners 67">
            <a:extLst>
              <a:ext uri="{FF2B5EF4-FFF2-40B4-BE49-F238E27FC236}">
                <a16:creationId xmlns:a16="http://schemas.microsoft.com/office/drawing/2014/main" id="{591DD65E-84D6-869C-A834-5BCCD873E3BA}"/>
              </a:ext>
            </a:extLst>
          </p:cNvPr>
          <p:cNvSpPr/>
          <p:nvPr/>
        </p:nvSpPr>
        <p:spPr>
          <a:xfrm>
            <a:off x="3479800" y="3783012"/>
            <a:ext cx="5156200" cy="939800"/>
          </a:xfrm>
          <a:prstGeom prst="roundRect">
            <a:avLst>
              <a:gd name="adj" fmla="val 8000"/>
            </a:avLst>
          </a:prstGeom>
          <a:solidFill>
            <a:srgbClr val="EEE7F7"/>
          </a:solidFill>
          <a:ln w="15875">
            <a:solidFill>
              <a:srgbClr val="6B4F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TextBox 68">
            <a:extLst>
              <a:ext uri="{FF2B5EF4-FFF2-40B4-BE49-F238E27FC236}">
                <a16:creationId xmlns:a16="http://schemas.microsoft.com/office/drawing/2014/main" id="{C97455E7-7CCA-BE6A-D77C-5C64732A886B}"/>
              </a:ext>
            </a:extLst>
          </p:cNvPr>
          <p:cNvSpPr txBox="1"/>
          <p:nvPr/>
        </p:nvSpPr>
        <p:spPr>
          <a:xfrm>
            <a:off x="3606800" y="3846512"/>
            <a:ext cx="49022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Correzione degli errori (QEC)</a:t>
            </a:r>
          </a:p>
        </p:txBody>
      </p:sp>
      <p:sp>
        <p:nvSpPr>
          <p:cNvPr id="70" name="TextBox 69">
            <a:extLst>
              <a:ext uri="{FF2B5EF4-FFF2-40B4-BE49-F238E27FC236}">
                <a16:creationId xmlns:a16="http://schemas.microsoft.com/office/drawing/2014/main" id="{09239A3F-A0D9-B54E-B6EB-603D0B37DEC0}"/>
              </a:ext>
            </a:extLst>
          </p:cNvPr>
          <p:cNvSpPr txBox="1"/>
          <p:nvPr/>
        </p:nvSpPr>
        <p:spPr>
          <a:xfrm>
            <a:off x="3606800" y="4164012"/>
            <a:ext cx="4902200" cy="369332"/>
          </a:xfrm>
          <a:prstGeom prst="rect">
            <a:avLst/>
          </a:prstGeom>
          <a:noFill/>
        </p:spPr>
        <p:txBody>
          <a:bodyPr vert="horz" wrap="square" rtlCol="0">
            <a:noAutofit/>
          </a:bodyPr>
          <a:lstStyle/>
          <a:p>
            <a:r>
              <a:rPr lang="it-IT" sz="1275" err="1">
                <a:solidFill>
                  <a:srgbClr val="203344"/>
                </a:solidFill>
                <a:latin typeface="Arial" panose="020B0604020202020204" pitchFamily="34" charset="0"/>
              </a:rPr>
              <a:t>surface</a:t>
            </a:r>
            <a:r>
              <a:rPr lang="it-IT" sz="1275">
                <a:solidFill>
                  <a:srgbClr val="203344"/>
                </a:solidFill>
                <a:latin typeface="Arial" panose="020B0604020202020204" pitchFamily="34" charset="0"/>
              </a:rPr>
              <a:t> code e Gross code di IBM: proteggono i qubit durante il calcolo (</a:t>
            </a:r>
            <a:r>
              <a:rPr lang="it-IT" sz="1275" err="1">
                <a:solidFill>
                  <a:srgbClr val="203344"/>
                </a:solidFill>
                <a:latin typeface="Arial" panose="020B0604020202020204" pitchFamily="34" charset="0"/>
              </a:rPr>
              <a:t>esponenziazione</a:t>
            </a:r>
            <a:r>
              <a:rPr lang="it-IT" sz="1275">
                <a:solidFill>
                  <a:srgbClr val="203344"/>
                </a:solidFill>
                <a:latin typeface="Arial" panose="020B0604020202020204" pitchFamily="34" charset="0"/>
              </a:rPr>
              <a:t> e QFT)</a:t>
            </a:r>
            <a:endParaRPr lang="en-GB" sz="1275">
              <a:solidFill>
                <a:srgbClr val="203344"/>
              </a:solidFill>
              <a:latin typeface="Arial" panose="020B0604020202020204" pitchFamily="34" charset="0"/>
            </a:endParaRPr>
          </a:p>
        </p:txBody>
      </p:sp>
    </p:spTree>
    <p:extLst>
      <p:ext uri="{BB962C8B-B14F-4D97-AF65-F5344CB8AC3E}">
        <p14:creationId xmlns:p14="http://schemas.microsoft.com/office/powerpoint/2010/main" val="3745407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9"/>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9"/>
                                          </p:stCondLst>
                                        </p:cTn>
                                        <p:tgtEl>
                                          <p:spTgt spid="5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9"/>
                                          </p:stCondLst>
                                        </p:cTn>
                                        <p:tgtEl>
                                          <p:spTgt spid="6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9"/>
                                          </p:stCondLst>
                                        </p:cTn>
                                        <p:tgtEl>
                                          <p:spTgt spid="6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9"/>
                                          </p:stCondLst>
                                        </p:cTn>
                                        <p:tgtEl>
                                          <p:spTgt spid="2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9"/>
                                          </p:stCondLst>
                                        </p:cTn>
                                        <p:tgtEl>
                                          <p:spTgt spid="6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9"/>
                                          </p:stCondLst>
                                        </p:cTn>
                                        <p:tgtEl>
                                          <p:spTgt spid="6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9"/>
                                          </p:stCondLst>
                                        </p:cTn>
                                        <p:tgtEl>
                                          <p:spTgt spid="6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9"/>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9"/>
                                          </p:stCondLst>
                                        </p:cTn>
                                        <p:tgtEl>
                                          <p:spTgt spid="6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9"/>
                                          </p:stCondLst>
                                        </p:cTn>
                                        <p:tgtEl>
                                          <p:spTgt spid="6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9"/>
                                          </p:stCondLst>
                                        </p:cTn>
                                        <p:tgtEl>
                                          <p:spTgt spid="7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9"/>
                                          </p:stCondLst>
                                        </p:cTn>
                                        <p:tgtEl>
                                          <p:spTgt spid="2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9"/>
                                          </p:stCondLst>
                                        </p:cTn>
                                        <p:tgtEl>
                                          <p:spTgt spid="5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9"/>
                                          </p:stCondLst>
                                        </p:cTn>
                                        <p:tgtEl>
                                          <p:spTgt spid="5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9"/>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57" grpId="0"/>
      <p:bldP spid="58" grpId="0"/>
      <p:bldP spid="59" grpId="0" animBg="1"/>
      <p:bldP spid="60" grpId="0"/>
      <p:bldP spid="61" grpId="0"/>
      <p:bldP spid="63" grpId="0" animBg="1"/>
      <p:bldP spid="64" grpId="0"/>
      <p:bldP spid="65" grpId="0"/>
      <p:bldP spid="68" grpId="0" animBg="1"/>
      <p:bldP spid="69" grpId="0"/>
      <p:bldP spid="7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E63F5E73-50EB-4DE5-A1E1-7932B59E91B5}"/>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800" b="0">
                <a:solidFill>
                  <a:srgbClr val="003366"/>
                </a:solidFill>
                <a:latin typeface="Arial"/>
                <a:ea typeface="Arial"/>
                <a:cs typeface="Arial"/>
              </a:rPr>
              <a:t>Strategia 1: post-processing e risultati</a:t>
            </a:r>
            <a:endParaRPr sz="28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478C359-BEA8-4AFD-944F-9175CC4F4295}"/>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8134F752-5082-496F-BC77-8A8C1F34CF24}"/>
              </a:ext>
            </a:extLst>
          </p:cNvPr>
          <p:cNvSpPr>
            <a:spLocks noGrp="1"/>
          </p:cNvSpPr>
          <p:nvPr/>
        </p:nvSpPr>
        <p:spPr>
          <a:xfrm>
            <a:off x="7477125" y="828675"/>
            <a:ext cx="3228975" cy="219075"/>
          </a:xfrm>
          <a:prstGeom prst="rect">
            <a:avLst/>
          </a:prstGeom>
          <a:noFill/>
          <a:ln w="0">
            <a:noFill/>
          </a:ln>
        </p:spPr>
        <p:txBody>
          <a:bodyPr rIns="0" anchor="ctr">
            <a:noAutofit/>
          </a:bodyPr>
          <a:lstStyle/>
          <a:p>
            <a:pPr algn="r">
              <a:defRPr sz="1200" b="0">
                <a:solidFill>
                  <a:srgbClr val="203344"/>
                </a:solidFill>
                <a:latin typeface="Arial"/>
                <a:ea typeface="Arial"/>
                <a:cs typeface="Arial"/>
              </a:defRPr>
            </a:pPr>
            <a:r>
              <a:rPr lang="it-IT" sz="1050" b="0">
                <a:solidFill>
                  <a:srgbClr val="203344"/>
                </a:solidFill>
                <a:latin typeface="Arial"/>
                <a:ea typeface="Arial"/>
                <a:cs typeface="Arial"/>
              </a:rPr>
              <a:t>Strategia 1 · Post-processing | 6</a:t>
            </a:r>
            <a:endParaRPr sz="105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CC35D492-ABDB-46BA-AE16-026C7410C362}"/>
              </a:ext>
            </a:extLst>
          </p:cNvPr>
          <p:cNvSpPr>
            <a:spLocks noGrp="1"/>
          </p:cNvSpPr>
          <p:nvPr/>
        </p:nvSpPr>
        <p:spPr>
          <a:xfrm>
            <a:off x="609600" y="1371600"/>
            <a:ext cx="10972800" cy="508000"/>
          </a:xfrm>
          <a:prstGeom prst="rect">
            <a:avLst/>
          </a:prstGeom>
          <a:solidFill>
            <a:srgbClr val="125C97"/>
          </a:solidFill>
          <a:ln w="0">
            <a:noFill/>
          </a:ln>
        </p:spPr>
        <p:txBody>
          <a:bodyPr anchor="ctr">
            <a:noAutofit/>
          </a:bodyPr>
          <a:lstStyle/>
          <a:p>
            <a:pPr algn="ctr">
              <a:defRPr sz="2100" b="1">
                <a:solidFill>
                  <a:srgbClr val="FFFFFF"/>
                </a:solidFill>
                <a:latin typeface="Arial"/>
                <a:ea typeface="Arial"/>
                <a:cs typeface="Arial"/>
              </a:defRPr>
            </a:pPr>
            <a:r>
              <a:rPr lang="it-IT" sz="2200" b="1">
                <a:solidFill>
                  <a:srgbClr val="FFFFFF"/>
                </a:solidFill>
                <a:latin typeface="Arial"/>
                <a:ea typeface="Arial"/>
                <a:cs typeface="Arial"/>
              </a:rPr>
              <a:t>Stesso istogramma di partenza: 1024 esecuzioni</a:t>
            </a:r>
            <a:endParaRPr sz="2200" b="1">
              <a:solidFill>
                <a:srgbClr val="FFFFFF"/>
              </a:solidFill>
              <a:latin typeface="Arial"/>
              <a:ea typeface="Arial"/>
              <a:cs typeface="Arial"/>
            </a:endParaRPr>
          </a:p>
        </p:txBody>
      </p:sp>
      <p:sp>
        <p:nvSpPr>
          <p:cNvPr id="6" name="Rectangle: Rounded Corners 5">
            <a:extLst>
              <a:ext uri="{FF2B5EF4-FFF2-40B4-BE49-F238E27FC236}">
                <a16:creationId xmlns:a16="http://schemas.microsoft.com/office/drawing/2014/main" id="{6C6B2847-EFC1-4D02-B73B-9163FA7FF42D}"/>
              </a:ext>
            </a:extLst>
          </p:cNvPr>
          <p:cNvSpPr>
            <a:spLocks noGrp="1"/>
          </p:cNvSpPr>
          <p:nvPr/>
        </p:nvSpPr>
        <p:spPr>
          <a:xfrm>
            <a:off x="609600" y="1993900"/>
            <a:ext cx="3143250" cy="1104900"/>
          </a:xfrm>
          <a:prstGeom prst="roundRect">
            <a:avLst>
              <a:gd name="adj" fmla="val 6135"/>
            </a:avLst>
          </a:prstGeom>
          <a:solidFill>
            <a:srgbClr val="EEF4F8"/>
          </a:solidFill>
          <a:ln w="14288">
            <a:solidFill>
              <a:srgbClr val="5084BF"/>
            </a:solidFill>
          </a:ln>
        </p:spPr>
        <p:txBody>
          <a:bodyPr/>
          <a:lstStyle/>
          <a:p>
            <a:endParaRPr lang="en-GB"/>
          </a:p>
        </p:txBody>
      </p:sp>
      <p:sp>
        <p:nvSpPr>
          <p:cNvPr id="7" name="Rectangle 6">
            <a:extLst>
              <a:ext uri="{FF2B5EF4-FFF2-40B4-BE49-F238E27FC236}">
                <a16:creationId xmlns:a16="http://schemas.microsoft.com/office/drawing/2014/main" id="{50207F82-D486-4618-9019-4A9B6B896244}"/>
              </a:ext>
            </a:extLst>
          </p:cNvPr>
          <p:cNvSpPr>
            <a:spLocks noGrp="1"/>
          </p:cNvSpPr>
          <p:nvPr/>
        </p:nvSpPr>
        <p:spPr>
          <a:xfrm>
            <a:off x="790575" y="2057400"/>
            <a:ext cx="2781300" cy="406400"/>
          </a:xfrm>
          <a:prstGeom prst="rect">
            <a:avLst/>
          </a:prstGeom>
          <a:noFill/>
          <a:ln w="0">
            <a:noFill/>
          </a:ln>
        </p:spPr>
        <p:txBody>
          <a:bodyPr lIns="38100" rIns="38100" anchor="ctr">
            <a:noAutofit/>
          </a:bodyPr>
          <a:lstStyle/>
          <a:p>
            <a:pPr algn="ctr">
              <a:defRPr sz="2175" b="1">
                <a:solidFill>
                  <a:srgbClr val="003366"/>
                </a:solidFill>
                <a:latin typeface="Arial"/>
                <a:ea typeface="Arial"/>
                <a:cs typeface="Arial"/>
              </a:defRPr>
            </a:pPr>
            <a:r>
              <a:rPr lang="it-IT" sz="2200" b="1">
                <a:solidFill>
                  <a:srgbClr val="003366"/>
                </a:solidFill>
                <a:latin typeface="Arial"/>
                <a:ea typeface="Arial"/>
                <a:cs typeface="Arial"/>
              </a:rPr>
              <a:t>TOP-1</a:t>
            </a:r>
            <a:endParaRPr sz="2200" b="1">
              <a:solidFill>
                <a:srgbClr val="003366"/>
              </a:solidFill>
              <a:latin typeface="Arial"/>
              <a:ea typeface="Arial"/>
              <a:cs typeface="Arial"/>
            </a:endParaRPr>
          </a:p>
        </p:txBody>
      </p:sp>
      <p:sp>
        <p:nvSpPr>
          <p:cNvPr id="8" name="Rectangle 7">
            <a:extLst>
              <a:ext uri="{FF2B5EF4-FFF2-40B4-BE49-F238E27FC236}">
                <a16:creationId xmlns:a16="http://schemas.microsoft.com/office/drawing/2014/main" id="{448DCFE9-33F7-45E1-A769-1CD6F8ABDA24}"/>
              </a:ext>
            </a:extLst>
          </p:cNvPr>
          <p:cNvSpPr>
            <a:spLocks noGrp="1"/>
          </p:cNvSpPr>
          <p:nvPr/>
        </p:nvSpPr>
        <p:spPr>
          <a:xfrm>
            <a:off x="790575" y="2489200"/>
            <a:ext cx="2781300" cy="584200"/>
          </a:xfrm>
          <a:prstGeom prst="rect">
            <a:avLst/>
          </a:prstGeom>
          <a:noFill/>
          <a:ln w="0">
            <a:noFill/>
          </a:ln>
        </p:spPr>
        <p:txBody>
          <a:bodyPr lIns="38100" rIns="38100" anchor="ctr">
            <a:noAutofit/>
          </a:bodyPr>
          <a:lstStyle/>
          <a:p>
            <a:pPr algn="ctr">
              <a:defRPr sz="1875" b="0">
                <a:solidFill>
                  <a:srgbClr val="203344"/>
                </a:solidFill>
                <a:latin typeface="Arial"/>
                <a:ea typeface="Arial"/>
                <a:cs typeface="Arial"/>
              </a:defRPr>
            </a:pPr>
            <a:r>
              <a:rPr lang="it-IT" sz="1550" b="0">
                <a:solidFill>
                  <a:srgbClr val="203344"/>
                </a:solidFill>
                <a:latin typeface="Arial"/>
                <a:ea typeface="Arial"/>
                <a:cs typeface="Arial"/>
              </a:rPr>
              <a:t>Verifica il risultato più frequente</a:t>
            </a:r>
            <a:endParaRPr sz="1550" b="0">
              <a:solidFill>
                <a:srgbClr val="203344"/>
              </a:solidFill>
              <a:latin typeface="Arial"/>
              <a:ea typeface="Arial"/>
              <a:cs typeface="Arial"/>
            </a:endParaRPr>
          </a:p>
        </p:txBody>
      </p:sp>
      <p:sp>
        <p:nvSpPr>
          <p:cNvPr id="9" name="Rectangle: Rounded Corners 8">
            <a:extLst>
              <a:ext uri="{FF2B5EF4-FFF2-40B4-BE49-F238E27FC236}">
                <a16:creationId xmlns:a16="http://schemas.microsoft.com/office/drawing/2014/main" id="{A7ED80C4-3A04-48D9-8600-16713139334D}"/>
              </a:ext>
            </a:extLst>
          </p:cNvPr>
          <p:cNvSpPr>
            <a:spLocks noGrp="1"/>
          </p:cNvSpPr>
          <p:nvPr/>
        </p:nvSpPr>
        <p:spPr>
          <a:xfrm>
            <a:off x="4524375" y="1993900"/>
            <a:ext cx="3143250" cy="1104900"/>
          </a:xfrm>
          <a:prstGeom prst="roundRect">
            <a:avLst>
              <a:gd name="adj" fmla="val 6135"/>
            </a:avLst>
          </a:prstGeom>
          <a:solidFill>
            <a:srgbClr val="EEF4F8"/>
          </a:solidFill>
          <a:ln w="14288">
            <a:solidFill>
              <a:srgbClr val="5084BF"/>
            </a:solidFill>
          </a:ln>
        </p:spPr>
        <p:txBody>
          <a:bodyPr/>
          <a:lstStyle/>
          <a:p>
            <a:endParaRPr lang="en-GB"/>
          </a:p>
        </p:txBody>
      </p:sp>
      <p:sp>
        <p:nvSpPr>
          <p:cNvPr id="10" name="Rectangle 9">
            <a:extLst>
              <a:ext uri="{FF2B5EF4-FFF2-40B4-BE49-F238E27FC236}">
                <a16:creationId xmlns:a16="http://schemas.microsoft.com/office/drawing/2014/main" id="{B7718673-DDE6-4B0E-80B1-2DEB783CDC31}"/>
              </a:ext>
            </a:extLst>
          </p:cNvPr>
          <p:cNvSpPr>
            <a:spLocks noGrp="1"/>
          </p:cNvSpPr>
          <p:nvPr/>
        </p:nvSpPr>
        <p:spPr>
          <a:xfrm>
            <a:off x="4705350" y="2057400"/>
            <a:ext cx="2781300" cy="406400"/>
          </a:xfrm>
          <a:prstGeom prst="rect">
            <a:avLst/>
          </a:prstGeom>
          <a:noFill/>
          <a:ln w="0">
            <a:noFill/>
          </a:ln>
        </p:spPr>
        <p:txBody>
          <a:bodyPr lIns="38100" rIns="38100" anchor="ctr">
            <a:noAutofit/>
          </a:bodyPr>
          <a:lstStyle/>
          <a:p>
            <a:pPr algn="ctr">
              <a:defRPr sz="2175" b="1">
                <a:solidFill>
                  <a:srgbClr val="003366"/>
                </a:solidFill>
                <a:latin typeface="Arial"/>
                <a:ea typeface="Arial"/>
                <a:cs typeface="Arial"/>
              </a:defRPr>
            </a:pPr>
            <a:r>
              <a:rPr lang="it-IT" sz="2200" b="1">
                <a:solidFill>
                  <a:srgbClr val="003366"/>
                </a:solidFill>
                <a:latin typeface="Arial"/>
                <a:ea typeface="Arial"/>
                <a:cs typeface="Arial"/>
              </a:rPr>
              <a:t>TOP-4</a:t>
            </a:r>
            <a:endParaRPr sz="2200" b="1">
              <a:solidFill>
                <a:srgbClr val="003366"/>
              </a:solidFill>
              <a:latin typeface="Arial"/>
              <a:ea typeface="Arial"/>
              <a:cs typeface="Arial"/>
            </a:endParaRPr>
          </a:p>
        </p:txBody>
      </p:sp>
      <p:sp>
        <p:nvSpPr>
          <p:cNvPr id="11" name="Rectangle 10">
            <a:extLst>
              <a:ext uri="{FF2B5EF4-FFF2-40B4-BE49-F238E27FC236}">
                <a16:creationId xmlns:a16="http://schemas.microsoft.com/office/drawing/2014/main" id="{428CE012-A819-412F-A649-3EAB47BC23F5}"/>
              </a:ext>
            </a:extLst>
          </p:cNvPr>
          <p:cNvSpPr>
            <a:spLocks noGrp="1"/>
          </p:cNvSpPr>
          <p:nvPr/>
        </p:nvSpPr>
        <p:spPr>
          <a:xfrm>
            <a:off x="4705350" y="2489200"/>
            <a:ext cx="2781300" cy="584200"/>
          </a:xfrm>
          <a:prstGeom prst="rect">
            <a:avLst/>
          </a:prstGeom>
          <a:noFill/>
          <a:ln w="0">
            <a:noFill/>
          </a:ln>
        </p:spPr>
        <p:txBody>
          <a:bodyPr lIns="38100" rIns="38100" anchor="ctr">
            <a:noAutofit/>
          </a:bodyPr>
          <a:lstStyle/>
          <a:p>
            <a:pPr algn="ctr">
              <a:defRPr sz="1875" b="0">
                <a:solidFill>
                  <a:srgbClr val="203344"/>
                </a:solidFill>
                <a:latin typeface="Arial"/>
                <a:ea typeface="Arial"/>
                <a:cs typeface="Arial"/>
              </a:defRPr>
            </a:pPr>
            <a:r>
              <a:rPr lang="it-IT" sz="1550" b="0">
                <a:solidFill>
                  <a:srgbClr val="203344"/>
                </a:solidFill>
                <a:latin typeface="Arial"/>
                <a:ea typeface="Arial"/>
                <a:cs typeface="Arial"/>
              </a:rPr>
              <a:t>Verifica fino a quattro esiti, in ordine di frequenza</a:t>
            </a:r>
            <a:endParaRPr sz="1550" b="0">
              <a:solidFill>
                <a:srgbClr val="203344"/>
              </a:solidFill>
              <a:latin typeface="Arial"/>
              <a:ea typeface="Arial"/>
              <a:cs typeface="Arial"/>
            </a:endParaRPr>
          </a:p>
        </p:txBody>
      </p:sp>
      <p:sp>
        <p:nvSpPr>
          <p:cNvPr id="12" name="Rectangle: Rounded Corners 11">
            <a:extLst>
              <a:ext uri="{FF2B5EF4-FFF2-40B4-BE49-F238E27FC236}">
                <a16:creationId xmlns:a16="http://schemas.microsoft.com/office/drawing/2014/main" id="{8E8D58EB-1F29-489F-84AA-EE5A27A893AB}"/>
              </a:ext>
            </a:extLst>
          </p:cNvPr>
          <p:cNvSpPr>
            <a:spLocks noGrp="1"/>
          </p:cNvSpPr>
          <p:nvPr/>
        </p:nvSpPr>
        <p:spPr>
          <a:xfrm>
            <a:off x="8439150" y="1993900"/>
            <a:ext cx="3143250" cy="1104900"/>
          </a:xfrm>
          <a:prstGeom prst="roundRect">
            <a:avLst>
              <a:gd name="adj" fmla="val 6135"/>
            </a:avLst>
          </a:prstGeom>
          <a:solidFill>
            <a:srgbClr val="EEF4F8"/>
          </a:solidFill>
          <a:ln w="14288">
            <a:solidFill>
              <a:srgbClr val="5084BF"/>
            </a:solidFill>
          </a:ln>
        </p:spPr>
        <p:txBody>
          <a:bodyPr/>
          <a:lstStyle/>
          <a:p>
            <a:endParaRPr lang="en-GB"/>
          </a:p>
        </p:txBody>
      </p:sp>
      <p:sp>
        <p:nvSpPr>
          <p:cNvPr id="13" name="Rectangle 12">
            <a:extLst>
              <a:ext uri="{FF2B5EF4-FFF2-40B4-BE49-F238E27FC236}">
                <a16:creationId xmlns:a16="http://schemas.microsoft.com/office/drawing/2014/main" id="{530CC7E4-D9E5-44BA-A967-3C00C77DC3EC}"/>
              </a:ext>
            </a:extLst>
          </p:cNvPr>
          <p:cNvSpPr>
            <a:spLocks noGrp="1"/>
          </p:cNvSpPr>
          <p:nvPr/>
        </p:nvSpPr>
        <p:spPr>
          <a:xfrm>
            <a:off x="8620125" y="2057400"/>
            <a:ext cx="2781300" cy="406400"/>
          </a:xfrm>
          <a:prstGeom prst="rect">
            <a:avLst/>
          </a:prstGeom>
          <a:noFill/>
          <a:ln w="0">
            <a:noFill/>
          </a:ln>
        </p:spPr>
        <p:txBody>
          <a:bodyPr lIns="38100" rIns="38100" anchor="ctr">
            <a:noAutofit/>
          </a:bodyPr>
          <a:lstStyle/>
          <a:p>
            <a:pPr algn="ctr">
              <a:defRPr sz="2175" b="1">
                <a:solidFill>
                  <a:srgbClr val="003366"/>
                </a:solidFill>
                <a:latin typeface="Arial"/>
                <a:ea typeface="Arial"/>
                <a:cs typeface="Arial"/>
              </a:defRPr>
            </a:pPr>
            <a:r>
              <a:rPr lang="it-IT" sz="2200" b="1">
                <a:solidFill>
                  <a:srgbClr val="003366"/>
                </a:solidFill>
                <a:latin typeface="Arial"/>
                <a:ea typeface="Arial"/>
                <a:cs typeface="Arial"/>
              </a:rPr>
              <a:t>Metodo 2</a:t>
            </a:r>
            <a:endParaRPr sz="2200" b="1">
              <a:solidFill>
                <a:srgbClr val="003366"/>
              </a:solidFill>
              <a:latin typeface="Arial"/>
              <a:ea typeface="Arial"/>
              <a:cs typeface="Arial"/>
            </a:endParaRPr>
          </a:p>
        </p:txBody>
      </p:sp>
      <p:sp>
        <p:nvSpPr>
          <p:cNvPr id="14" name="Rectangle 13">
            <a:extLst>
              <a:ext uri="{FF2B5EF4-FFF2-40B4-BE49-F238E27FC236}">
                <a16:creationId xmlns:a16="http://schemas.microsoft.com/office/drawing/2014/main" id="{247C1F09-0415-4CBC-9397-423247F26ABF}"/>
              </a:ext>
            </a:extLst>
          </p:cNvPr>
          <p:cNvSpPr>
            <a:spLocks noGrp="1"/>
          </p:cNvSpPr>
          <p:nvPr/>
        </p:nvSpPr>
        <p:spPr>
          <a:xfrm>
            <a:off x="8620125" y="2489200"/>
            <a:ext cx="2781300" cy="584200"/>
          </a:xfrm>
          <a:prstGeom prst="rect">
            <a:avLst/>
          </a:prstGeom>
          <a:noFill/>
          <a:ln w="0">
            <a:noFill/>
          </a:ln>
        </p:spPr>
        <p:txBody>
          <a:bodyPr lIns="38100" rIns="38100" anchor="ctr">
            <a:noAutofit/>
          </a:bodyPr>
          <a:lstStyle/>
          <a:p>
            <a:pPr algn="ctr">
              <a:defRPr sz="1875" b="0">
                <a:solidFill>
                  <a:srgbClr val="203344"/>
                </a:solidFill>
                <a:latin typeface="Arial"/>
                <a:ea typeface="Arial"/>
                <a:cs typeface="Arial"/>
              </a:defRPr>
            </a:pPr>
            <a:r>
              <a:rPr lang="it-IT" sz="1550" b="0">
                <a:solidFill>
                  <a:srgbClr val="203344"/>
                </a:solidFill>
                <a:latin typeface="Arial"/>
                <a:ea typeface="Arial"/>
                <a:cs typeface="Arial"/>
              </a:rPr>
              <a:t>Applica TOP-4 se il classificatore ML approva</a:t>
            </a:r>
            <a:endParaRPr sz="1550" b="0">
              <a:solidFill>
                <a:srgbClr val="203344"/>
              </a:solidFill>
              <a:latin typeface="Arial"/>
              <a:ea typeface="Arial"/>
              <a:cs typeface="Arial"/>
            </a:endParaRPr>
          </a:p>
        </p:txBody>
      </p:sp>
      <p:sp>
        <p:nvSpPr>
          <p:cNvPr id="27" name="Rectangle 26">
            <a:extLst>
              <a:ext uri="{FF2B5EF4-FFF2-40B4-BE49-F238E27FC236}">
                <a16:creationId xmlns:a16="http://schemas.microsoft.com/office/drawing/2014/main" id="{B611238E-C082-6AF6-60EE-43C467FDADAA}"/>
              </a:ext>
            </a:extLst>
          </p:cNvPr>
          <p:cNvSpPr/>
          <p:nvPr/>
        </p:nvSpPr>
        <p:spPr>
          <a:xfrm>
            <a:off x="609600" y="3213100"/>
            <a:ext cx="10972800" cy="368300"/>
          </a:xfrm>
          <a:prstGeom prst="rect">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b="1">
                <a:solidFill>
                  <a:srgbClr val="003366"/>
                </a:solidFill>
                <a:latin typeface="Arial" panose="020B0604020202020204" pitchFamily="34" charset="0"/>
              </a:rPr>
              <a:t>Verifica classica: frazioni continue e MCD</a:t>
            </a:r>
            <a:endParaRPr lang="en-GB" b="1">
              <a:solidFill>
                <a:srgbClr val="003366"/>
              </a:solidFill>
              <a:latin typeface="Arial" panose="020B0604020202020204" pitchFamily="34" charset="0"/>
            </a:endParaRPr>
          </a:p>
        </p:txBody>
      </p:sp>
      <p:pic>
        <p:nvPicPr>
          <p:cNvPr id="21" name="Picture 20" descr="v2_s14_iterazioni_primo_successo.png">
            <a:extLst>
              <a:ext uri="{FF2B5EF4-FFF2-40B4-BE49-F238E27FC236}">
                <a16:creationId xmlns:a16="http://schemas.microsoft.com/office/drawing/2014/main" id="{01D409C6-6294-B810-6968-F5287CB64BAB}"/>
              </a:ext>
            </a:extLst>
          </p:cNvPr>
          <p:cNvPicPr>
            <a:picLocks noChangeAspect="1"/>
          </p:cNvPicPr>
          <p:nvPr/>
        </p:nvPicPr>
        <p:blipFill>
          <a:blip r:embed="rId4"/>
          <a:srcRect l="9003"/>
          <a:stretch>
            <a:fillRect/>
          </a:stretch>
        </p:blipFill>
        <p:spPr>
          <a:xfrm>
            <a:off x="5906890" y="3619500"/>
            <a:ext cx="4507109" cy="3203044"/>
          </a:xfrm>
          <a:prstGeom prst="rect">
            <a:avLst/>
          </a:prstGeom>
        </p:spPr>
      </p:pic>
      <p:sp>
        <p:nvSpPr>
          <p:cNvPr id="22" name="TextBox 21">
            <a:extLst>
              <a:ext uri="{FF2B5EF4-FFF2-40B4-BE49-F238E27FC236}">
                <a16:creationId xmlns:a16="http://schemas.microsoft.com/office/drawing/2014/main" id="{3B70A822-7D0C-00F2-1855-2E37C3DCEB88}"/>
              </a:ext>
            </a:extLst>
          </p:cNvPr>
          <p:cNvSpPr txBox="1"/>
          <p:nvPr/>
        </p:nvSpPr>
        <p:spPr>
          <a:xfrm>
            <a:off x="609600" y="4533900"/>
            <a:ext cx="4445000" cy="1205458"/>
          </a:xfrm>
          <a:prstGeom prst="rect">
            <a:avLst/>
          </a:prstGeom>
          <a:noFill/>
        </p:spPr>
        <p:txBody>
          <a:bodyPr vert="horz" lIns="0" rIns="0" rtlCol="0">
            <a:spAutoFit/>
          </a:bodyPr>
          <a:lstStyle/>
          <a:p>
            <a:pPr marL="177800" indent="-177800">
              <a:spcAft>
                <a:spcPts val="1100"/>
              </a:spcAft>
              <a:buFont typeface="+mj-lt"/>
              <a:buChar char="•"/>
            </a:pPr>
            <a:r>
              <a:rPr lang="it-IT" b="1">
                <a:solidFill>
                  <a:srgbClr val="003366"/>
                </a:solidFill>
                <a:latin typeface="Arial" panose="020B0604020202020204" pitchFamily="34" charset="0"/>
              </a:rPr>
              <a:t>TOP-4: </a:t>
            </a:r>
            <a:r>
              <a:rPr lang="it-IT" b="1">
                <a:solidFill>
                  <a:srgbClr val="D9822B"/>
                </a:solidFill>
                <a:latin typeface="Arial" panose="020B0604020202020204" pitchFamily="34" charset="0"/>
              </a:rPr>
              <a:t>fattori al primo tentativo</a:t>
            </a:r>
          </a:p>
          <a:p>
            <a:pPr marL="177800" indent="-177800">
              <a:spcAft>
                <a:spcPts val="1100"/>
              </a:spcAft>
              <a:buFont typeface="+mj-lt"/>
              <a:buChar char="•"/>
            </a:pPr>
            <a:r>
              <a:rPr lang="it-IT" b="1">
                <a:solidFill>
                  <a:srgbClr val="D9822B"/>
                </a:solidFill>
                <a:latin typeface="Arial" panose="020B0604020202020204" pitchFamily="34" charset="0"/>
              </a:rPr>
              <a:t>30/30 repliche</a:t>
            </a:r>
            <a:r>
              <a:rPr lang="it-IT" b="1">
                <a:solidFill>
                  <a:srgbClr val="003366"/>
                </a:solidFill>
                <a:latin typeface="Arial" panose="020B0604020202020204" pitchFamily="34" charset="0"/>
              </a:rPr>
              <a:t> in entrambi gli scenari</a:t>
            </a:r>
          </a:p>
          <a:p>
            <a:pPr marL="177800" indent="-177800">
              <a:spcAft>
                <a:spcPts val="1100"/>
              </a:spcAft>
              <a:buFont typeface="+mj-lt"/>
              <a:buChar char="•"/>
            </a:pPr>
            <a:r>
              <a:rPr lang="it-IT">
                <a:solidFill>
                  <a:srgbClr val="003366"/>
                </a:solidFill>
                <a:latin typeface="Arial" panose="020B0604020202020204" pitchFamily="34" charset="0"/>
              </a:rPr>
              <a:t>Il filtro ML non migliora il risultato</a:t>
            </a:r>
            <a:endParaRPr lang="en-GB">
              <a:solidFill>
                <a:srgbClr val="003366"/>
              </a:solidFill>
              <a:latin typeface="Arial" panose="020B0604020202020204" pitchFamily="34" charset="0"/>
            </a:endParaRPr>
          </a:p>
        </p:txBody>
      </p:sp>
      <p:sp>
        <p:nvSpPr>
          <p:cNvPr id="2" name="Rectangle: Rounded Corners 1">
            <a:extLst>
              <a:ext uri="{FF2B5EF4-FFF2-40B4-BE49-F238E27FC236}">
                <a16:creationId xmlns:a16="http://schemas.microsoft.com/office/drawing/2014/main" id="{037398B9-D2B2-FA2C-CFD9-613073228D30}"/>
              </a:ext>
            </a:extLst>
          </p:cNvPr>
          <p:cNvSpPr/>
          <p:nvPr/>
        </p:nvSpPr>
        <p:spPr>
          <a:xfrm>
            <a:off x="7665720" y="4645660"/>
            <a:ext cx="1193800" cy="1736090"/>
          </a:xfrm>
          <a:prstGeom prst="roundRect">
            <a:avLst>
              <a:gd name="adj" fmla="val 9000"/>
            </a:avLst>
          </a:prstGeom>
          <a:noFill/>
          <a:ln w="43180">
            <a:solidFill>
              <a:srgbClr val="FFFFFF"/>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Rounded Corners 14">
            <a:extLst>
              <a:ext uri="{FF2B5EF4-FFF2-40B4-BE49-F238E27FC236}">
                <a16:creationId xmlns:a16="http://schemas.microsoft.com/office/drawing/2014/main" id="{3E057249-D838-245F-8987-815DD47F4C6A}"/>
              </a:ext>
            </a:extLst>
          </p:cNvPr>
          <p:cNvSpPr/>
          <p:nvPr/>
        </p:nvSpPr>
        <p:spPr>
          <a:xfrm>
            <a:off x="7665720" y="4645660"/>
            <a:ext cx="1193800" cy="1736090"/>
          </a:xfrm>
          <a:prstGeom prst="roundRect">
            <a:avLst>
              <a:gd name="adj" fmla="val 9000"/>
            </a:avLst>
          </a:prstGeom>
          <a:noFill/>
          <a:ln w="19050">
            <a:solidFill>
              <a:srgbClr val="D9822B"/>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279871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9"/>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9"/>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9"/>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9"/>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9"/>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9"/>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9"/>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9"/>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9"/>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9"/>
                                          </p:stCondLst>
                                        </p:cTn>
                                        <p:tgtEl>
                                          <p:spTgt spid="2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9"/>
                                          </p:stCondLst>
                                        </p:cTn>
                                        <p:tgtEl>
                                          <p:spTgt spid="2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9"/>
                                          </p:stCondLst>
                                        </p:cTn>
                                        <p:tgtEl>
                                          <p:spTgt spid="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9"/>
                                          </p:stCondLst>
                                        </p:cTn>
                                        <p:tgtEl>
                                          <p:spTgt spid="1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9"/>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p:bldP spid="9" grpId="0" animBg="1"/>
      <p:bldP spid="10" grpId="0"/>
      <p:bldP spid="11" grpId="0"/>
      <p:bldP spid="12" grpId="0" animBg="1"/>
      <p:bldP spid="13" grpId="0"/>
      <p:bldP spid="14" grpId="0"/>
      <p:bldP spid="27" grpId="0" animBg="1"/>
      <p:bldP spid="22" grpId="0"/>
      <p:bldP spid="2" grpId="0" animBg="1"/>
      <p:bldP spid="1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D44FC83-C70B-46CD-8C70-92D7C3D9C2A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800" b="0">
                <a:solidFill>
                  <a:srgbClr val="003366"/>
                </a:solidFill>
                <a:latin typeface="Arial"/>
                <a:ea typeface="Arial"/>
                <a:cs typeface="Arial"/>
              </a:rPr>
              <a:t>Strategia 2: come funziona la QEC</a:t>
            </a:r>
            <a:endParaRPr sz="2800" b="0">
              <a:solidFill>
                <a:srgbClr val="003366"/>
              </a:solidFill>
              <a:latin typeface="Arial"/>
              <a:ea typeface="Arial"/>
              <a:cs typeface="Arial"/>
            </a:endParaRPr>
          </a:p>
        </p:txBody>
      </p:sp>
      <p:pic>
        <p:nvPicPr>
          <p:cNvPr id="13" name="Picture 12"/>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20B7C71E-845D-4B6E-BAC4-41119EECCBA9}"/>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61EF0B45-22BD-40BF-B86A-74F485774734}"/>
              </a:ext>
            </a:extLst>
          </p:cNvPr>
          <p:cNvSpPr>
            <a:spLocks noGrp="1"/>
          </p:cNvSpPr>
          <p:nvPr/>
        </p:nvSpPr>
        <p:spPr>
          <a:xfrm>
            <a:off x="7477125" y="828675"/>
            <a:ext cx="3228975" cy="219075"/>
          </a:xfrm>
          <a:prstGeom prst="rect">
            <a:avLst/>
          </a:prstGeom>
          <a:noFill/>
          <a:ln w="0">
            <a:noFill/>
          </a:ln>
        </p:spPr>
        <p:txBody>
          <a:bodyPr rIns="0" anchor="ctr">
            <a:noAutofit/>
          </a:bodyPr>
          <a:lstStyle/>
          <a:p>
            <a:pPr algn="r">
              <a:defRPr sz="1200" b="0">
                <a:solidFill>
                  <a:srgbClr val="203344"/>
                </a:solidFill>
                <a:latin typeface="Arial"/>
                <a:ea typeface="Arial"/>
                <a:cs typeface="Arial"/>
              </a:defRPr>
            </a:pPr>
            <a:r>
              <a:rPr lang="it-IT" sz="1000" b="0">
                <a:solidFill>
                  <a:srgbClr val="203344"/>
                </a:solidFill>
                <a:latin typeface="Arial"/>
                <a:ea typeface="Arial"/>
                <a:cs typeface="Arial"/>
              </a:rPr>
              <a:t>Strategia 2 · Principio della QEC | 7</a:t>
            </a:r>
            <a:endParaRPr sz="10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D9FD045C-2318-472B-9B26-08CDB5EF9595}"/>
              </a:ext>
            </a:extLst>
          </p:cNvPr>
          <p:cNvSpPr>
            <a:spLocks noGrp="1"/>
          </p:cNvSpPr>
          <p:nvPr/>
        </p:nvSpPr>
        <p:spPr>
          <a:xfrm>
            <a:off x="609600" y="1346200"/>
            <a:ext cx="10972800" cy="1016000"/>
          </a:xfrm>
          <a:prstGeom prst="rect">
            <a:avLst/>
          </a:prstGeom>
          <a:noFill/>
          <a:ln w="0">
            <a:noFill/>
          </a:ln>
        </p:spPr>
        <p:txBody>
          <a:bodyPr>
            <a:noAutofit/>
          </a:bodyPr>
          <a:lstStyle/>
          <a:p>
            <a:pPr>
              <a:defRPr sz="3450" b="1">
                <a:solidFill>
                  <a:srgbClr val="003366"/>
                </a:solidFill>
                <a:latin typeface="Arial"/>
                <a:ea typeface="Arial"/>
                <a:cs typeface="Arial"/>
              </a:defRPr>
            </a:pPr>
            <a:r>
              <a:rPr lang="it-IT" sz="2500" b="1">
                <a:solidFill>
                  <a:srgbClr val="003366"/>
                </a:solidFill>
                <a:latin typeface="Arial"/>
                <a:ea typeface="Arial"/>
                <a:cs typeface="Arial"/>
              </a:rPr>
              <a:t>Proteggere lʼinformazione quantistica durante il calcolo</a:t>
            </a:r>
            <a:endParaRPr sz="2500" b="1">
              <a:solidFill>
                <a:srgbClr val="003366"/>
              </a:solidFill>
              <a:latin typeface="Arial"/>
              <a:ea typeface="Arial"/>
              <a:cs typeface="Arial"/>
            </a:endParaRPr>
          </a:p>
        </p:txBody>
      </p:sp>
      <p:sp>
        <p:nvSpPr>
          <p:cNvPr id="2" name="Rectangle: Rounded Corners 1">
            <a:extLst>
              <a:ext uri="{FF2B5EF4-FFF2-40B4-BE49-F238E27FC236}">
                <a16:creationId xmlns:a16="http://schemas.microsoft.com/office/drawing/2014/main" id="{79DE2815-21B7-682F-A426-5F90BFDD3396}"/>
              </a:ext>
            </a:extLst>
          </p:cNvPr>
          <p:cNvSpPr/>
          <p:nvPr/>
        </p:nvSpPr>
        <p:spPr>
          <a:xfrm>
            <a:off x="609600" y="2603500"/>
            <a:ext cx="3457600" cy="3302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Rounded Corners 13">
            <a:extLst>
              <a:ext uri="{FF2B5EF4-FFF2-40B4-BE49-F238E27FC236}">
                <a16:creationId xmlns:a16="http://schemas.microsoft.com/office/drawing/2014/main" id="{A1C020A3-720D-427F-D9DE-ECE06638CA52}"/>
              </a:ext>
            </a:extLst>
          </p:cNvPr>
          <p:cNvSpPr/>
          <p:nvPr/>
        </p:nvSpPr>
        <p:spPr>
          <a:xfrm>
            <a:off x="4367200" y="2603500"/>
            <a:ext cx="3457600" cy="3302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F5790D89-B65C-CB3A-B26D-A612DB8546D8}"/>
              </a:ext>
            </a:extLst>
          </p:cNvPr>
          <p:cNvSpPr txBox="1"/>
          <p:nvPr/>
        </p:nvSpPr>
        <p:spPr>
          <a:xfrm>
            <a:off x="789600" y="2755900"/>
            <a:ext cx="3097600" cy="381000"/>
          </a:xfrm>
          <a:prstGeom prst="rect">
            <a:avLst/>
          </a:prstGeom>
          <a:noFill/>
        </p:spPr>
        <p:txBody>
          <a:bodyPr vert="horz" wrap="square" rtlCol="0">
            <a:noAutofit/>
          </a:bodyPr>
          <a:lstStyle/>
          <a:p>
            <a:r>
              <a:rPr lang="en-GB" sz="2200" b="1">
                <a:solidFill>
                  <a:srgbClr val="003366"/>
                </a:solidFill>
                <a:latin typeface="Arial" panose="020B0604020202020204" pitchFamily="34" charset="0"/>
              </a:rPr>
              <a:t>1  Codifica</a:t>
            </a:r>
          </a:p>
        </p:txBody>
      </p:sp>
      <p:sp>
        <p:nvSpPr>
          <p:cNvPr id="16" name="TextBox 15">
            <a:extLst>
              <a:ext uri="{FF2B5EF4-FFF2-40B4-BE49-F238E27FC236}">
                <a16:creationId xmlns:a16="http://schemas.microsoft.com/office/drawing/2014/main" id="{0B6CF6D8-7978-90DC-1925-74FEA6FB9763}"/>
              </a:ext>
            </a:extLst>
          </p:cNvPr>
          <p:cNvSpPr txBox="1"/>
          <p:nvPr/>
        </p:nvSpPr>
        <p:spPr>
          <a:xfrm>
            <a:off x="4547200" y="2755900"/>
            <a:ext cx="3097600" cy="381000"/>
          </a:xfrm>
          <a:prstGeom prst="rect">
            <a:avLst/>
          </a:prstGeom>
          <a:noFill/>
        </p:spPr>
        <p:txBody>
          <a:bodyPr vert="horz" wrap="square" rtlCol="0">
            <a:noAutofit/>
          </a:bodyPr>
          <a:lstStyle/>
          <a:p>
            <a:r>
              <a:rPr lang="en-GB" sz="2200" b="1">
                <a:solidFill>
                  <a:srgbClr val="003366"/>
                </a:solidFill>
                <a:latin typeface="Arial" panose="020B0604020202020204" pitchFamily="34" charset="0"/>
              </a:rPr>
              <a:t>2  Sindrome</a:t>
            </a:r>
            <a:endParaRPr lang="en-GB" sz="2200" b="1" dirty="0">
              <a:solidFill>
                <a:srgbClr val="003366"/>
              </a:solidFill>
              <a:latin typeface="Arial" panose="020B0604020202020204" pitchFamily="34" charset="0"/>
            </a:endParaRPr>
          </a:p>
        </p:txBody>
      </p:sp>
      <p:sp>
        <p:nvSpPr>
          <p:cNvPr id="17" name="TextBox 16">
            <a:extLst>
              <a:ext uri="{FF2B5EF4-FFF2-40B4-BE49-F238E27FC236}">
                <a16:creationId xmlns:a16="http://schemas.microsoft.com/office/drawing/2014/main" id="{BE5014B6-44D1-DC9B-7BB9-F99AF83A1D2A}"/>
              </a:ext>
            </a:extLst>
          </p:cNvPr>
          <p:cNvSpPr txBox="1"/>
          <p:nvPr/>
        </p:nvSpPr>
        <p:spPr>
          <a:xfrm>
            <a:off x="789600" y="3251200"/>
            <a:ext cx="3097600" cy="2451100"/>
          </a:xfrm>
          <a:prstGeom prst="rect">
            <a:avLst/>
          </a:prstGeom>
          <a:noFill/>
        </p:spPr>
        <p:txBody>
          <a:bodyPr vert="horz" wrap="square" rtlCol="0">
            <a:noAutofit/>
          </a:bodyPr>
          <a:lstStyle/>
          <a:p>
            <a:pPr>
              <a:spcAft>
                <a:spcPts val="1000"/>
              </a:spcAft>
            </a:pPr>
            <a:r>
              <a:rPr lang="it-IT">
                <a:solidFill>
                  <a:srgbClr val="203344"/>
                </a:solidFill>
                <a:latin typeface="Arial" panose="020B0604020202020204" pitchFamily="34" charset="0"/>
              </a:rPr>
              <a:t>L'informazione logica è distribuita su più qubit fisici.</a:t>
            </a:r>
          </a:p>
          <a:p>
            <a:pPr>
              <a:spcAft>
                <a:spcPts val="1000"/>
              </a:spcAft>
            </a:pPr>
            <a:r>
              <a:rPr lang="it-IT">
                <a:solidFill>
                  <a:srgbClr val="203344"/>
                </a:solidFill>
                <a:latin typeface="Arial" panose="020B0604020202020204" pitchFamily="34" charset="0"/>
              </a:rPr>
              <a:t>Il codice introduce ridondanza.</a:t>
            </a:r>
            <a:endParaRPr lang="en-GB">
              <a:solidFill>
                <a:srgbClr val="203344"/>
              </a:solidFill>
              <a:latin typeface="Arial" panose="020B0604020202020204" pitchFamily="34" charset="0"/>
            </a:endParaRPr>
          </a:p>
        </p:txBody>
      </p:sp>
      <p:sp>
        <p:nvSpPr>
          <p:cNvPr id="18" name="TextBox 17">
            <a:extLst>
              <a:ext uri="{FF2B5EF4-FFF2-40B4-BE49-F238E27FC236}">
                <a16:creationId xmlns:a16="http://schemas.microsoft.com/office/drawing/2014/main" id="{3F45B240-B8AE-8BB8-DDD9-8B7D9D18CA56}"/>
              </a:ext>
            </a:extLst>
          </p:cNvPr>
          <p:cNvSpPr txBox="1"/>
          <p:nvPr/>
        </p:nvSpPr>
        <p:spPr>
          <a:xfrm>
            <a:off x="4547200" y="3251200"/>
            <a:ext cx="3097600" cy="2451100"/>
          </a:xfrm>
          <a:prstGeom prst="rect">
            <a:avLst/>
          </a:prstGeom>
          <a:noFill/>
        </p:spPr>
        <p:txBody>
          <a:bodyPr vert="horz" wrap="square" rtlCol="0">
            <a:noAutofit/>
          </a:bodyPr>
          <a:lstStyle/>
          <a:p>
            <a:pPr>
              <a:spcAft>
                <a:spcPts val="1000"/>
              </a:spcAft>
            </a:pPr>
            <a:r>
              <a:rPr lang="it-IT">
                <a:solidFill>
                  <a:srgbClr val="203344"/>
                </a:solidFill>
                <a:latin typeface="Arial" panose="020B0604020202020204" pitchFamily="34" charset="0"/>
              </a:rPr>
              <a:t>Le misure di controllo segnalano gli errori senza leggere l'informazione logica.</a:t>
            </a:r>
            <a:endParaRPr lang="it-IT" dirty="0">
              <a:solidFill>
                <a:srgbClr val="203344"/>
              </a:solidFill>
              <a:latin typeface="Arial" panose="020B0604020202020204" pitchFamily="34" charset="0"/>
            </a:endParaRPr>
          </a:p>
        </p:txBody>
      </p:sp>
      <p:sp>
        <p:nvSpPr>
          <p:cNvPr id="19" name="TextBox 18">
            <a:extLst>
              <a:ext uri="{FF2B5EF4-FFF2-40B4-BE49-F238E27FC236}">
                <a16:creationId xmlns:a16="http://schemas.microsoft.com/office/drawing/2014/main" id="{007C03F3-6ECC-0A57-515F-008B8206761D}"/>
              </a:ext>
            </a:extLst>
          </p:cNvPr>
          <p:cNvSpPr txBox="1"/>
          <p:nvPr/>
        </p:nvSpPr>
        <p:spPr>
          <a:xfrm>
            <a:off x="609600" y="6096000"/>
            <a:ext cx="10972800" cy="369332"/>
          </a:xfrm>
          <a:prstGeom prst="rect">
            <a:avLst/>
          </a:prstGeom>
          <a:noFill/>
        </p:spPr>
        <p:txBody>
          <a:bodyPr vert="horz" wrap="square" rtlCol="0">
            <a:noAutofit/>
          </a:bodyPr>
          <a:lstStyle/>
          <a:p>
            <a:r>
              <a:rPr lang="it-IT" b="1" dirty="0">
                <a:solidFill>
                  <a:srgbClr val="125C97"/>
                </a:solidFill>
                <a:latin typeface="Arial" panose="020B0604020202020204" pitchFamily="34" charset="0"/>
              </a:rPr>
              <a:t>La sindrome è il risultato dei controlli. Le ancilla sono i qubit ausiliari usati per misurarli.</a:t>
            </a:r>
            <a:endParaRPr lang="en-GB" b="1" dirty="0">
              <a:solidFill>
                <a:srgbClr val="125C97"/>
              </a:solidFill>
              <a:latin typeface="Arial" panose="020B0604020202020204" pitchFamily="34" charset="0"/>
            </a:endParaRPr>
          </a:p>
        </p:txBody>
      </p:sp>
      <p:sp>
        <p:nvSpPr>
          <p:cNvPr id="6" name="Rectangle: Rounded Corners 13">
            <a:extLst>
              <a:ext uri="{FF2B5EF4-FFF2-40B4-BE49-F238E27FC236}">
                <a16:creationId xmlns:a16="http://schemas.microsoft.com/office/drawing/2014/main" id="{A1C020A3-720D-427F-D9DE-ECE06638CA52}"/>
              </a:ext>
            </a:extLst>
          </p:cNvPr>
          <p:cNvSpPr/>
          <p:nvPr/>
        </p:nvSpPr>
        <p:spPr>
          <a:xfrm>
            <a:off x="8124800" y="2603500"/>
            <a:ext cx="3457600" cy="3302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15">
            <a:extLst>
              <a:ext uri="{FF2B5EF4-FFF2-40B4-BE49-F238E27FC236}">
                <a16:creationId xmlns:a16="http://schemas.microsoft.com/office/drawing/2014/main" id="{0B6CF6D8-7978-90DC-1925-74FEA6FB9763}"/>
              </a:ext>
            </a:extLst>
          </p:cNvPr>
          <p:cNvSpPr txBox="1"/>
          <p:nvPr/>
        </p:nvSpPr>
        <p:spPr>
          <a:xfrm>
            <a:off x="8304800" y="2755900"/>
            <a:ext cx="3097600" cy="381000"/>
          </a:xfrm>
          <a:prstGeom prst="rect">
            <a:avLst/>
          </a:prstGeom>
          <a:noFill/>
        </p:spPr>
        <p:txBody>
          <a:bodyPr vert="horz" wrap="square" rtlCol="0">
            <a:noAutofit/>
          </a:bodyPr>
          <a:lstStyle/>
          <a:p>
            <a:r>
              <a:rPr lang="en-GB" sz="2200" b="1">
                <a:solidFill>
                  <a:srgbClr val="003366"/>
                </a:solidFill>
                <a:latin typeface="Arial" panose="020B0604020202020204" pitchFamily="34" charset="0"/>
              </a:rPr>
              <a:t>3  Decoder</a:t>
            </a:r>
          </a:p>
        </p:txBody>
      </p:sp>
      <p:sp>
        <p:nvSpPr>
          <p:cNvPr id="8" name="TextBox 17">
            <a:extLst>
              <a:ext uri="{FF2B5EF4-FFF2-40B4-BE49-F238E27FC236}">
                <a16:creationId xmlns:a16="http://schemas.microsoft.com/office/drawing/2014/main" id="{3F45B240-B8AE-8BB8-DDD9-8B7D9D18CA56}"/>
              </a:ext>
            </a:extLst>
          </p:cNvPr>
          <p:cNvSpPr txBox="1"/>
          <p:nvPr/>
        </p:nvSpPr>
        <p:spPr>
          <a:xfrm>
            <a:off x="8304800" y="3251200"/>
            <a:ext cx="3097600" cy="2451100"/>
          </a:xfrm>
          <a:prstGeom prst="rect">
            <a:avLst/>
          </a:prstGeom>
          <a:noFill/>
        </p:spPr>
        <p:txBody>
          <a:bodyPr vert="horz" wrap="square" rtlCol="0">
            <a:noAutofit/>
          </a:bodyPr>
          <a:lstStyle/>
          <a:p>
            <a:pPr>
              <a:spcAft>
                <a:spcPts val="1000"/>
              </a:spcAft>
            </a:pPr>
            <a:r>
              <a:rPr lang="it-IT">
                <a:solidFill>
                  <a:srgbClr val="203344"/>
                </a:solidFill>
                <a:latin typeface="Arial" panose="020B0604020202020204" pitchFamily="34" charset="0"/>
              </a:rPr>
              <a:t>Un algoritmo classico interpreta la sindrome e sceglie una correzione.</a:t>
            </a:r>
          </a:p>
          <a:p>
            <a:pPr>
              <a:spcAft>
                <a:spcPts val="1000"/>
              </a:spcAft>
            </a:pPr>
            <a:r>
              <a:rPr lang="it-IT">
                <a:solidFill>
                  <a:srgbClr val="203344"/>
                </a:solidFill>
                <a:latin typeface="Arial" panose="020B0604020202020204" pitchFamily="34" charset="0"/>
              </a:rPr>
              <a:t>Il ciclo viene ripetuto.</a:t>
            </a:r>
          </a:p>
        </p:txBody>
      </p:sp>
      <p:sp>
        <p:nvSpPr>
          <p:cNvPr id="9" name="QEC - passaggio del processo">
            <a:extLst>
              <a:ext uri="{FF2B5EF4-FFF2-40B4-BE49-F238E27FC236}">
                <a16:creationId xmlns:a16="http://schemas.microsoft.com/office/drawing/2014/main" id="{D1A7D7C7-2BFE-48EB-7365-8BC8A7951DD6}"/>
              </a:ext>
            </a:extLst>
          </p:cNvPr>
          <p:cNvSpPr/>
          <p:nvPr/>
        </p:nvSpPr>
        <p:spPr>
          <a:xfrm>
            <a:off x="4083050" y="4000500"/>
            <a:ext cx="254000" cy="152400"/>
          </a:xfrm>
          <a:prstGeom prst="rightArrow">
            <a:avLst/>
          </a:prstGeom>
          <a:solidFill>
            <a:srgbClr val="125C9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QEC - passaggio del processo">
            <a:extLst>
              <a:ext uri="{FF2B5EF4-FFF2-40B4-BE49-F238E27FC236}">
                <a16:creationId xmlns:a16="http://schemas.microsoft.com/office/drawing/2014/main" id="{BD587417-FA41-A3F0-883A-0A5B665CE302}"/>
              </a:ext>
            </a:extLst>
          </p:cNvPr>
          <p:cNvSpPr/>
          <p:nvPr/>
        </p:nvSpPr>
        <p:spPr>
          <a:xfrm>
            <a:off x="7839710" y="4000500"/>
            <a:ext cx="254000" cy="152400"/>
          </a:xfrm>
          <a:prstGeom prst="rightArrow">
            <a:avLst/>
          </a:prstGeom>
          <a:solidFill>
            <a:srgbClr val="125C9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016285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9"/>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9"/>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9"/>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9"/>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9"/>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9"/>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9"/>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9"/>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9"/>
                                          </p:stCondLst>
                                        </p:cTn>
                                        <p:tgtEl>
                                          <p:spTgt spid="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9"/>
                                          </p:stCondLst>
                                        </p:cTn>
                                        <p:tgtEl>
                                          <p:spTgt spid="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9"/>
                                          </p:stCondLst>
                                        </p:cTn>
                                        <p:tgtEl>
                                          <p:spTgt spid="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9"/>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4" grpId="0" animBg="1"/>
      <p:bldP spid="15" grpId="0"/>
      <p:bldP spid="16" grpId="0"/>
      <p:bldP spid="17" grpId="0"/>
      <p:bldP spid="18" grpId="0"/>
      <p:bldP spid="19" grpId="0"/>
      <p:bldP spid="6" grpId="0" animBg="1"/>
      <p:bldP spid="7" grpId="0"/>
      <p:bldP spid="8" grpId="0"/>
      <p:bldP spid="9" grpId="0" animBg="1"/>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1A0FE10-7D08-45A5-9369-B8A8D92211C3}"/>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800" b="0">
                <a:solidFill>
                  <a:srgbClr val="003366"/>
                </a:solidFill>
                <a:latin typeface="Arial"/>
                <a:ea typeface="Arial"/>
                <a:cs typeface="Arial"/>
              </a:rPr>
              <a:t>Strategia 2: due approcci alla protezione</a:t>
            </a:r>
            <a:endParaRPr sz="2800" b="0">
              <a:solidFill>
                <a:srgbClr val="003366"/>
              </a:solidFill>
              <a:latin typeface="Arial"/>
              <a:ea typeface="Arial"/>
              <a:cs typeface="Arial"/>
            </a:endParaRPr>
          </a:p>
        </p:txBody>
      </p:sp>
      <p:pic>
        <p:nvPicPr>
          <p:cNvPr id="17" name="Picture 16"/>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C63BB1C7-E1F5-4EAD-96B7-5E2DB8BF621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CD7F7CC-AA63-4989-8F76-D977A27FE480}"/>
              </a:ext>
            </a:extLst>
          </p:cNvPr>
          <p:cNvSpPr>
            <a:spLocks noGrp="1"/>
          </p:cNvSpPr>
          <p:nvPr/>
        </p:nvSpPr>
        <p:spPr>
          <a:xfrm>
            <a:off x="7477125" y="828675"/>
            <a:ext cx="3228975" cy="219075"/>
          </a:xfrm>
          <a:prstGeom prst="rect">
            <a:avLst/>
          </a:prstGeom>
          <a:noFill/>
          <a:ln w="0">
            <a:noFill/>
          </a:ln>
        </p:spPr>
        <p:txBody>
          <a:bodyPr rIns="0" anchor="ctr">
            <a:noAutofit/>
          </a:bodyPr>
          <a:lstStyle/>
          <a:p>
            <a:pPr algn="r">
              <a:defRPr sz="1200" b="0">
                <a:solidFill>
                  <a:srgbClr val="203344"/>
                </a:solidFill>
                <a:latin typeface="Arial"/>
                <a:ea typeface="Arial"/>
                <a:cs typeface="Arial"/>
              </a:defRPr>
            </a:pPr>
            <a:r>
              <a:rPr lang="it-IT" sz="1000" b="0">
                <a:solidFill>
                  <a:srgbClr val="203344"/>
                </a:solidFill>
                <a:latin typeface="Arial"/>
                <a:ea typeface="Arial"/>
                <a:cs typeface="Arial"/>
              </a:rPr>
              <a:t>Strategia 2 · Codici e decoder | 8</a:t>
            </a:r>
            <a:endParaRPr sz="1000" b="0">
              <a:solidFill>
                <a:srgbClr val="203344"/>
              </a:solidFill>
              <a:latin typeface="Arial"/>
              <a:ea typeface="Arial"/>
              <a:cs typeface="Arial"/>
            </a:endParaRPr>
          </a:p>
        </p:txBody>
      </p:sp>
      <p:sp>
        <p:nvSpPr>
          <p:cNvPr id="2" name="TextBox 1">
            <a:extLst>
              <a:ext uri="{FF2B5EF4-FFF2-40B4-BE49-F238E27FC236}">
                <a16:creationId xmlns:a16="http://schemas.microsoft.com/office/drawing/2014/main" id="{02CC2BCD-8065-AF14-A761-223B420003D9}"/>
              </a:ext>
            </a:extLst>
          </p:cNvPr>
          <p:cNvSpPr txBox="1"/>
          <p:nvPr/>
        </p:nvSpPr>
        <p:spPr>
          <a:xfrm>
            <a:off x="609600" y="1244600"/>
            <a:ext cx="10972800" cy="369332"/>
          </a:xfrm>
          <a:prstGeom prst="rect">
            <a:avLst/>
          </a:prstGeom>
          <a:noFill/>
        </p:spPr>
        <p:txBody>
          <a:bodyPr vert="horz" wrap="square" rtlCol="0">
            <a:noAutofit/>
          </a:bodyPr>
          <a:lstStyle/>
          <a:p>
            <a:r>
              <a:rPr lang="it-IT" dirty="0">
                <a:solidFill>
                  <a:srgbClr val="203344"/>
                </a:solidFill>
                <a:latin typeface="Arial" panose="020B0604020202020204" pitchFamily="34" charset="0"/>
              </a:rPr>
              <a:t>Stesso obiettivo: proteggere </a:t>
            </a:r>
            <a:r>
              <a:rPr lang="it-IT" dirty="0" err="1">
                <a:solidFill>
                  <a:srgbClr val="203344"/>
                </a:solidFill>
                <a:latin typeface="Arial" panose="020B0604020202020204" pitchFamily="34" charset="0"/>
              </a:rPr>
              <a:t>lʼinformazione</a:t>
            </a:r>
            <a:r>
              <a:rPr lang="it-IT" dirty="0">
                <a:solidFill>
                  <a:srgbClr val="203344"/>
                </a:solidFill>
                <a:latin typeface="Arial" panose="020B0604020202020204" pitchFamily="34" charset="0"/>
              </a:rPr>
              <a:t> logica. </a:t>
            </a:r>
            <a:r>
              <a:rPr lang="it-IT">
                <a:solidFill>
                  <a:srgbClr val="203344"/>
                </a:solidFill>
                <a:latin typeface="Arial" panose="020B0604020202020204" pitchFamily="34" charset="0"/>
              </a:rPr>
              <a:t>Compromessi diversi tra risorse e controlli.</a:t>
            </a:r>
            <a:endParaRPr lang="en-GB" dirty="0">
              <a:solidFill>
                <a:srgbClr val="203344"/>
              </a:solidFill>
              <a:latin typeface="Arial" panose="020B0604020202020204" pitchFamily="34" charset="0"/>
            </a:endParaRPr>
          </a:p>
        </p:txBody>
      </p:sp>
      <p:sp>
        <p:nvSpPr>
          <p:cNvPr id="18" name="Rectangle: Rounded Corners 17">
            <a:extLst>
              <a:ext uri="{FF2B5EF4-FFF2-40B4-BE49-F238E27FC236}">
                <a16:creationId xmlns:a16="http://schemas.microsoft.com/office/drawing/2014/main" id="{AC9DEF35-39AA-F617-3B4C-E858BF45BBB0}"/>
              </a:ext>
            </a:extLst>
          </p:cNvPr>
          <p:cNvSpPr/>
          <p:nvPr/>
        </p:nvSpPr>
        <p:spPr>
          <a:xfrm>
            <a:off x="609600" y="1905000"/>
            <a:ext cx="5334000" cy="3175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Rounded Corners 18">
            <a:extLst>
              <a:ext uri="{FF2B5EF4-FFF2-40B4-BE49-F238E27FC236}">
                <a16:creationId xmlns:a16="http://schemas.microsoft.com/office/drawing/2014/main" id="{95661C65-2684-3063-6807-9D8EF5ABDD01}"/>
              </a:ext>
            </a:extLst>
          </p:cNvPr>
          <p:cNvSpPr/>
          <p:nvPr/>
        </p:nvSpPr>
        <p:spPr>
          <a:xfrm>
            <a:off x="6248400" y="1905000"/>
            <a:ext cx="5334000" cy="3175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TextBox 19">
            <a:extLst>
              <a:ext uri="{FF2B5EF4-FFF2-40B4-BE49-F238E27FC236}">
                <a16:creationId xmlns:a16="http://schemas.microsoft.com/office/drawing/2014/main" id="{869506C8-FC11-2811-D894-827E70F8AA96}"/>
              </a:ext>
            </a:extLst>
          </p:cNvPr>
          <p:cNvSpPr txBox="1"/>
          <p:nvPr/>
        </p:nvSpPr>
        <p:spPr>
          <a:xfrm>
            <a:off x="787400" y="2032000"/>
            <a:ext cx="4978400" cy="369332"/>
          </a:xfrm>
          <a:prstGeom prst="rect">
            <a:avLst/>
          </a:prstGeom>
          <a:noFill/>
        </p:spPr>
        <p:txBody>
          <a:bodyPr vert="horz" wrap="square" rtlCol="0">
            <a:noAutofit/>
          </a:bodyPr>
          <a:lstStyle/>
          <a:p>
            <a:r>
              <a:rPr lang="en-GB" sz="2200" b="1">
                <a:solidFill>
                  <a:srgbClr val="003366"/>
                </a:solidFill>
                <a:latin typeface="Arial" panose="020B0604020202020204" pitchFamily="34" charset="0"/>
              </a:rPr>
              <a:t>Surface code</a:t>
            </a:r>
          </a:p>
        </p:txBody>
      </p:sp>
      <p:sp>
        <p:nvSpPr>
          <p:cNvPr id="21" name="TextBox 20">
            <a:extLst>
              <a:ext uri="{FF2B5EF4-FFF2-40B4-BE49-F238E27FC236}">
                <a16:creationId xmlns:a16="http://schemas.microsoft.com/office/drawing/2014/main" id="{857FD32E-EA8E-B329-B336-DE0EE6795F38}"/>
              </a:ext>
            </a:extLst>
          </p:cNvPr>
          <p:cNvSpPr txBox="1"/>
          <p:nvPr/>
        </p:nvSpPr>
        <p:spPr>
          <a:xfrm>
            <a:off x="787400" y="2717800"/>
            <a:ext cx="4978400" cy="2184400"/>
          </a:xfrm>
          <a:prstGeom prst="rect">
            <a:avLst/>
          </a:prstGeom>
          <a:noFill/>
        </p:spPr>
        <p:txBody>
          <a:bodyPr vert="horz" wrap="square" rtlCol="0">
            <a:noAutofit/>
          </a:bodyPr>
          <a:lstStyle/>
          <a:p>
            <a:pPr>
              <a:spcAft>
                <a:spcPts val="800"/>
              </a:spcAft>
            </a:pPr>
            <a:r>
              <a:rPr lang="it-IT" sz="2000">
                <a:solidFill>
                  <a:srgbClr val="203344"/>
                </a:solidFill>
                <a:latin typeface="Arial" panose="020B0604020202020204" pitchFamily="34" charset="0"/>
              </a:rPr>
              <a:t>Controlli locali su un reticolo.</a:t>
            </a:r>
          </a:p>
          <a:p>
            <a:pPr>
              <a:spcAft>
                <a:spcPts val="800"/>
              </a:spcAft>
            </a:pPr>
            <a:r>
              <a:rPr lang="it-IT" sz="2000">
                <a:solidFill>
                  <a:srgbClr val="203344"/>
                </a:solidFill>
                <a:latin typeface="Arial" panose="020B0604020202020204" pitchFamily="34" charset="0"/>
              </a:rPr>
              <a:t>Aumentare la distanza rafforza la protezione sotto soglia.</a:t>
            </a:r>
          </a:p>
          <a:p>
            <a:pPr>
              <a:spcAft>
                <a:spcPts val="800"/>
              </a:spcAft>
            </a:pPr>
            <a:r>
              <a:rPr lang="it-IT" sz="2000">
                <a:solidFill>
                  <a:srgbClr val="203344"/>
                </a:solidFill>
                <a:latin typeface="Arial" panose="020B0604020202020204" pitchFamily="34" charset="0"/>
              </a:rPr>
              <a:t>Il costo in qubit cresce con la distanza.</a:t>
            </a:r>
            <a:endParaRPr lang="en-GB" sz="2000" dirty="0">
              <a:solidFill>
                <a:srgbClr val="203344"/>
              </a:solidFill>
              <a:latin typeface="Arial" panose="020B0604020202020204" pitchFamily="34" charset="0"/>
            </a:endParaRPr>
          </a:p>
        </p:txBody>
      </p:sp>
      <p:sp>
        <p:nvSpPr>
          <p:cNvPr id="22" name="TextBox 21">
            <a:extLst>
              <a:ext uri="{FF2B5EF4-FFF2-40B4-BE49-F238E27FC236}">
                <a16:creationId xmlns:a16="http://schemas.microsoft.com/office/drawing/2014/main" id="{8846A3DB-8C7A-059A-3406-00678FBF6068}"/>
              </a:ext>
            </a:extLst>
          </p:cNvPr>
          <p:cNvSpPr txBox="1"/>
          <p:nvPr/>
        </p:nvSpPr>
        <p:spPr>
          <a:xfrm>
            <a:off x="6426200" y="2032000"/>
            <a:ext cx="4978400" cy="609600"/>
          </a:xfrm>
          <a:prstGeom prst="rect">
            <a:avLst/>
          </a:prstGeom>
          <a:noFill/>
        </p:spPr>
        <p:txBody>
          <a:bodyPr vert="horz" wrap="square" rtlCol="0">
            <a:noAutofit/>
          </a:bodyPr>
          <a:lstStyle/>
          <a:p>
            <a:r>
              <a:rPr lang="en-US" sz="2200" b="1">
                <a:solidFill>
                  <a:srgbClr val="003366"/>
                </a:solidFill>
                <a:latin typeface="Arial" panose="020B0604020202020204" pitchFamily="34" charset="0"/>
              </a:rPr>
              <a:t>Gross code · famiglia qLDPC</a:t>
            </a:r>
          </a:p>
          <a:p>
            <a:r>
              <a:rPr lang="en-US" sz="1300">
                <a:solidFill>
                  <a:srgbClr val="647487"/>
                </a:solidFill>
                <a:latin typeface="Arial" panose="020B0604020202020204" pitchFamily="34" charset="0"/>
              </a:rPr>
              <a:t>Quantum Low-Density Parity-Check</a:t>
            </a:r>
            <a:endParaRPr lang="en-GB" sz="1300" dirty="0">
              <a:solidFill>
                <a:srgbClr val="647487"/>
              </a:solidFill>
              <a:latin typeface="Arial" panose="020B0604020202020204" pitchFamily="34" charset="0"/>
            </a:endParaRPr>
          </a:p>
        </p:txBody>
      </p:sp>
      <p:sp>
        <p:nvSpPr>
          <p:cNvPr id="23" name="TextBox 22">
            <a:extLst>
              <a:ext uri="{FF2B5EF4-FFF2-40B4-BE49-F238E27FC236}">
                <a16:creationId xmlns:a16="http://schemas.microsoft.com/office/drawing/2014/main" id="{D67C5876-F2AC-D4AC-554A-2845DA338BE9}"/>
              </a:ext>
            </a:extLst>
          </p:cNvPr>
          <p:cNvSpPr txBox="1"/>
          <p:nvPr/>
        </p:nvSpPr>
        <p:spPr>
          <a:xfrm>
            <a:off x="6426200" y="2717800"/>
            <a:ext cx="4978400" cy="2184400"/>
          </a:xfrm>
          <a:prstGeom prst="rect">
            <a:avLst/>
          </a:prstGeom>
          <a:noFill/>
        </p:spPr>
        <p:txBody>
          <a:bodyPr vert="horz" wrap="square" rtlCol="0">
            <a:noAutofit/>
          </a:bodyPr>
          <a:lstStyle/>
          <a:p>
            <a:pPr>
              <a:spcAft>
                <a:spcPts val="800"/>
              </a:spcAft>
            </a:pPr>
            <a:r>
              <a:rPr lang="it-IT" sz="2000" dirty="0">
                <a:solidFill>
                  <a:srgbClr val="203344"/>
                </a:solidFill>
                <a:latin typeface="Arial" panose="020B0604020202020204" pitchFamily="34" charset="0"/>
              </a:rPr>
              <a:t>Controlli sparsi della famiglia </a:t>
            </a:r>
            <a:r>
              <a:rPr lang="it-IT" sz="2000" dirty="0" err="1">
                <a:solidFill>
                  <a:srgbClr val="203344"/>
                </a:solidFill>
                <a:latin typeface="Arial" panose="020B0604020202020204" pitchFamily="34" charset="0"/>
              </a:rPr>
              <a:t>qLDPC</a:t>
            </a:r>
            <a:r>
              <a:rPr lang="it-IT" sz="2000" dirty="0">
                <a:solidFill>
                  <a:srgbClr val="203344"/>
                </a:solidFill>
                <a:latin typeface="Arial" panose="020B0604020202020204" pitchFamily="34" charset="0"/>
              </a:rPr>
              <a:t>.</a:t>
            </a:r>
          </a:p>
          <a:p>
            <a:pPr>
              <a:spcAft>
                <a:spcPts val="800"/>
              </a:spcAft>
            </a:pPr>
            <a:r>
              <a:rPr lang="it-IT" sz="2000" dirty="0">
                <a:solidFill>
                  <a:srgbClr val="203344"/>
                </a:solidFill>
                <a:latin typeface="Arial" panose="020B0604020202020204" pitchFamily="34" charset="0"/>
              </a:rPr>
              <a:t>Minore costo in qubit di dato.</a:t>
            </a:r>
          </a:p>
          <a:p>
            <a:pPr>
              <a:spcAft>
                <a:spcPts val="800"/>
              </a:spcAft>
            </a:pPr>
            <a:r>
              <a:rPr lang="it-IT" sz="2000" dirty="0">
                <a:solidFill>
                  <a:srgbClr val="203344"/>
                </a:solidFill>
                <a:latin typeface="Arial" panose="020B0604020202020204" pitchFamily="34" charset="0"/>
              </a:rPr>
              <a:t>Richiede collegamenti adatti ai controlli del codice.</a:t>
            </a:r>
            <a:endParaRPr lang="en-GB" sz="2000" dirty="0">
              <a:solidFill>
                <a:srgbClr val="203344"/>
              </a:solidFill>
              <a:latin typeface="Arial" panose="020B0604020202020204" pitchFamily="34" charset="0"/>
            </a:endParaRPr>
          </a:p>
        </p:txBody>
      </p:sp>
      <p:sp>
        <p:nvSpPr>
          <p:cNvPr id="24" name="Rectangle: Rounded Corners 23">
            <a:extLst>
              <a:ext uri="{FF2B5EF4-FFF2-40B4-BE49-F238E27FC236}">
                <a16:creationId xmlns:a16="http://schemas.microsoft.com/office/drawing/2014/main" id="{8A433B95-FA57-CBF7-76F8-A6D5100B633C}"/>
              </a:ext>
            </a:extLst>
          </p:cNvPr>
          <p:cNvSpPr/>
          <p:nvPr/>
        </p:nvSpPr>
        <p:spPr>
          <a:xfrm>
            <a:off x="609600" y="5257800"/>
            <a:ext cx="10972800" cy="914400"/>
          </a:xfrm>
          <a:prstGeom prst="roundRect">
            <a:avLst>
              <a:gd name="adj" fmla="val 6000"/>
            </a:avLst>
          </a:prstGeom>
          <a:solidFill>
            <a:srgbClr val="FDF1E4"/>
          </a:solidFill>
          <a:ln w="19050">
            <a:solidFill>
              <a:srgbClr val="D982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Box 24">
            <a:extLst>
              <a:ext uri="{FF2B5EF4-FFF2-40B4-BE49-F238E27FC236}">
                <a16:creationId xmlns:a16="http://schemas.microsoft.com/office/drawing/2014/main" id="{CE9970CF-B93F-E493-A038-3F9BE7D46CE6}"/>
              </a:ext>
            </a:extLst>
          </p:cNvPr>
          <p:cNvSpPr txBox="1"/>
          <p:nvPr/>
        </p:nvSpPr>
        <p:spPr>
          <a:xfrm>
            <a:off x="787400" y="5334000"/>
            <a:ext cx="10617200" cy="762000"/>
          </a:xfrm>
          <a:prstGeom prst="rect">
            <a:avLst/>
          </a:prstGeom>
          <a:noFill/>
        </p:spPr>
        <p:txBody>
          <a:bodyPr vert="horz" wrap="square" rtlCol="0" anchor="ctr">
            <a:noAutofit/>
          </a:bodyPr>
          <a:lstStyle/>
          <a:p>
            <a:r>
              <a:rPr lang="it-IT" b="1" dirty="0">
                <a:solidFill>
                  <a:srgbClr val="D9822B"/>
                </a:solidFill>
                <a:latin typeface="Arial" panose="020B0604020202020204" pitchFamily="34" charset="0"/>
              </a:rPr>
              <a:t>Ruolo del decoder</a:t>
            </a:r>
          </a:p>
          <a:p>
            <a:r>
              <a:rPr lang="it-IT" b="1" dirty="0">
                <a:solidFill>
                  <a:srgbClr val="D9822B"/>
                </a:solidFill>
                <a:latin typeface="Arial" panose="020B0604020202020204" pitchFamily="34" charset="0"/>
              </a:rPr>
              <a:t>Interpreta le sindromi e sceglie la correzione più plausibile.</a:t>
            </a:r>
            <a:endParaRPr lang="en-GB" dirty="0">
              <a:solidFill>
                <a:srgbClr val="203344"/>
              </a:solidFill>
              <a:latin typeface="Arial" panose="020B0604020202020204" pitchFamily="34" charset="0"/>
            </a:endParaRPr>
          </a:p>
        </p:txBody>
      </p:sp>
    </p:spTree>
    <p:extLst>
      <p:ext uri="{BB962C8B-B14F-4D97-AF65-F5344CB8AC3E}">
        <p14:creationId xmlns:p14="http://schemas.microsoft.com/office/powerpoint/2010/main" val="1971496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9"/>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9"/>
                                          </p:stCondLst>
                                        </p:cTn>
                                        <p:tgtEl>
                                          <p:spTgt spid="2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9"/>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9"/>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9"/>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9"/>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9"/>
                                          </p:stCondLst>
                                        </p:cTn>
                                        <p:tgtEl>
                                          <p:spTgt spid="2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9"/>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p:bldP spid="21" grpId="0"/>
      <p:bldP spid="22" grpId="0"/>
      <p:bldP spid="23" grpId="0"/>
      <p:bldP spid="24" grpId="0" animBg="1"/>
      <p:bldP spid="25" grpId="0"/>
    </p:bld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6328AA7-32A3-5C05-95AC-581E8E57F666}"/>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B27849F9-2E85-520D-9428-A8FCC8F0B453}"/>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Strategia 2: risultati della correzione degli errori</a:t>
            </a:r>
            <a:endParaRPr sz="2700" b="0">
              <a:solidFill>
                <a:srgbClr val="003366"/>
              </a:solidFill>
              <a:latin typeface="Arial"/>
              <a:ea typeface="Arial"/>
              <a:cs typeface="Arial"/>
            </a:endParaRPr>
          </a:p>
        </p:txBody>
      </p:sp>
      <p:pic>
        <p:nvPicPr>
          <p:cNvPr id="12" name="Picture 11">
            <a:extLst>
              <a:ext uri="{FF2B5EF4-FFF2-40B4-BE49-F238E27FC236}">
                <a16:creationId xmlns:a16="http://schemas.microsoft.com/office/drawing/2014/main" id="{2E1CEAF7-D70F-07D0-080B-18D4975FB87F}"/>
              </a:ext>
            </a:extLst>
          </p:cNvPr>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AEA3FF27-4D79-62E0-6F10-B8D42BBCAA6B}"/>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4B9608F5-ADFF-B2C2-229C-81317CFC37AA}"/>
              </a:ext>
            </a:extLst>
          </p:cNvPr>
          <p:cNvSpPr>
            <a:spLocks noGrp="1"/>
          </p:cNvSpPr>
          <p:nvPr/>
        </p:nvSpPr>
        <p:spPr>
          <a:xfrm>
            <a:off x="7477125" y="828675"/>
            <a:ext cx="3228975" cy="219075"/>
          </a:xfrm>
          <a:prstGeom prst="rect">
            <a:avLst/>
          </a:prstGeom>
          <a:noFill/>
          <a:ln w="0">
            <a:noFill/>
          </a:ln>
        </p:spPr>
        <p:txBody>
          <a:bodyPr rIns="0" anchor="ctr">
            <a:noAutofit/>
          </a:bodyPr>
          <a:lstStyle/>
          <a:p>
            <a:pPr algn="r">
              <a:defRPr sz="1200" b="0">
                <a:solidFill>
                  <a:srgbClr val="203344"/>
                </a:solidFill>
                <a:latin typeface="Arial"/>
                <a:ea typeface="Arial"/>
                <a:cs typeface="Arial"/>
              </a:defRPr>
            </a:pPr>
            <a:r>
              <a:rPr lang="it-IT" sz="1050" b="0">
                <a:solidFill>
                  <a:srgbClr val="203344"/>
                </a:solidFill>
                <a:latin typeface="Arial"/>
                <a:ea typeface="Arial"/>
                <a:cs typeface="Arial"/>
              </a:rPr>
              <a:t>Strategia 2 · Risultati della QEC | 9</a:t>
            </a:r>
            <a:endParaRPr sz="1050" b="0">
              <a:solidFill>
                <a:srgbClr val="203344"/>
              </a:solidFill>
              <a:latin typeface="Arial"/>
              <a:ea typeface="Arial"/>
              <a:cs typeface="Arial"/>
            </a:endParaRPr>
          </a:p>
        </p:txBody>
      </p:sp>
      <p:sp>
        <p:nvSpPr>
          <p:cNvPr id="801" name="Pill 0">
            <a:extLst>
              <a:ext uri="{FF2B5EF4-FFF2-40B4-BE49-F238E27FC236}">
                <a16:creationId xmlns:a16="http://schemas.microsoft.com/office/drawing/2014/main" id="{D464E0C2-65B3-6953-A5EA-92300C605E62}"/>
              </a:ext>
            </a:extLst>
          </p:cNvPr>
          <p:cNvSpPr/>
          <p:nvPr/>
        </p:nvSpPr>
        <p:spPr>
          <a:xfrm>
            <a:off x="1259600" y="1330000"/>
            <a:ext cx="3400000" cy="380000"/>
          </a:xfrm>
          <a:prstGeom prst="roundRect">
            <a:avLst>
              <a:gd name="adj" fmla="val 50000"/>
            </a:avLst>
          </a:prstGeom>
          <a:solidFill>
            <a:srgbClr val="125C97"/>
          </a:solidFill>
          <a:ln>
            <a:noFill/>
          </a:ln>
        </p:spPr>
        <p:txBody>
          <a:bodyPr wrap="square" lIns="0" tIns="0" rIns="0" bIns="0" rtlCol="0" anchor="ctr">
            <a:noAutofit/>
          </a:bodyPr>
          <a:lstStyle/>
          <a:p>
            <a:pPr algn="ctr">
              <a:buNone/>
            </a:pPr>
            <a:r>
              <a:rPr lang="it-IT" sz="1400" b="1">
                <a:solidFill>
                  <a:srgbClr val="FFFFFF"/>
                </a:solidFill>
                <a:latin typeface="Arial" panose="020B0604020202020204" pitchFamily="34" charset="0"/>
                <a:cs typeface="Arial"/>
              </a:rPr>
              <a:t>1  Soglia</a:t>
            </a:r>
          </a:p>
        </p:txBody>
      </p:sp>
      <p:sp>
        <p:nvSpPr>
          <p:cNvPr id="803" name="Pill 2">
            <a:extLst>
              <a:ext uri="{FF2B5EF4-FFF2-40B4-BE49-F238E27FC236}">
                <a16:creationId xmlns:a16="http://schemas.microsoft.com/office/drawing/2014/main" id="{86AD7D76-C38B-5126-E473-2DF873843295}"/>
              </a:ext>
            </a:extLst>
          </p:cNvPr>
          <p:cNvSpPr/>
          <p:nvPr/>
        </p:nvSpPr>
        <p:spPr>
          <a:xfrm>
            <a:off x="6801072" y="1330000"/>
            <a:ext cx="3400000" cy="380000"/>
          </a:xfrm>
          <a:prstGeom prst="roundRect">
            <a:avLst>
              <a:gd name="adj" fmla="val 50000"/>
            </a:avLst>
          </a:prstGeom>
          <a:solidFill>
            <a:srgbClr val="125C97"/>
          </a:solidFill>
          <a:ln>
            <a:noFill/>
          </a:ln>
        </p:spPr>
        <p:txBody>
          <a:bodyPr wrap="square" lIns="0" tIns="0" rIns="0" bIns="0" rtlCol="0" anchor="ctr">
            <a:noAutofit/>
          </a:bodyPr>
          <a:lstStyle/>
          <a:p>
            <a:pPr algn="ctr">
              <a:buNone/>
            </a:pPr>
            <a:r>
              <a:rPr lang="it-IT" sz="1400" b="1" dirty="0">
                <a:solidFill>
                  <a:srgbClr val="FFFFFF"/>
                </a:solidFill>
                <a:latin typeface="Arial" panose="020B0604020202020204" pitchFamily="34" charset="0"/>
                <a:cs typeface="Arial"/>
              </a:rPr>
              <a:t>2  Qubit</a:t>
            </a:r>
          </a:p>
        </p:txBody>
      </p:sp>
      <p:pic>
        <p:nvPicPr>
          <p:cNvPr id="804" name="Grafico 0" descr="Errore logico contro errore fisico per distanze 3-9: le curve si incrociano alla soglia">
            <a:extLst>
              <a:ext uri="{FF2B5EF4-FFF2-40B4-BE49-F238E27FC236}">
                <a16:creationId xmlns:a16="http://schemas.microsoft.com/office/drawing/2014/main" id="{95D94B3F-7DAA-766D-AA17-2BF772A9B0D5}"/>
              </a:ext>
            </a:extLst>
          </p:cNvPr>
          <p:cNvPicPr>
            <a:picLocks noChangeAspect="1"/>
          </p:cNvPicPr>
          <p:nvPr/>
        </p:nvPicPr>
        <p:blipFill>
          <a:blip r:embed="rId4"/>
          <a:stretch>
            <a:fillRect/>
          </a:stretch>
        </p:blipFill>
        <p:spPr>
          <a:xfrm>
            <a:off x="1259601" y="3276600"/>
            <a:ext cx="3399998" cy="2143438"/>
          </a:xfrm>
          <a:prstGeom prst="rect">
            <a:avLst/>
          </a:prstGeom>
        </p:spPr>
      </p:pic>
      <p:sp>
        <p:nvSpPr>
          <p:cNvPr id="806" name="Barra lab 0">
            <a:extLst>
              <a:ext uri="{FF2B5EF4-FFF2-40B4-BE49-F238E27FC236}">
                <a16:creationId xmlns:a16="http://schemas.microsoft.com/office/drawing/2014/main" id="{578EBAD4-9FC8-4F19-0098-D371E5D71CF4}"/>
              </a:ext>
            </a:extLst>
          </p:cNvPr>
          <p:cNvSpPr/>
          <p:nvPr/>
        </p:nvSpPr>
        <p:spPr>
          <a:xfrm>
            <a:off x="6413500" y="3426200"/>
            <a:ext cx="2349500" cy="558800"/>
          </a:xfrm>
          <a:prstGeom prst="rect">
            <a:avLst/>
          </a:prstGeom>
          <a:noFill/>
          <a:ln>
            <a:noFill/>
          </a:ln>
        </p:spPr>
        <p:txBody>
          <a:bodyPr wrap="square" lIns="0" tIns="0" rIns="0" bIns="0" rtlCol="0" anchor="ctr">
            <a:noAutofit/>
          </a:bodyPr>
          <a:lstStyle/>
          <a:p>
            <a:pPr algn="l">
              <a:buNone/>
            </a:pPr>
            <a:r>
              <a:rPr lang="it-IT" sz="1400" b="1">
                <a:solidFill>
                  <a:srgbClr val="203344"/>
                </a:solidFill>
                <a:latin typeface="Arial" panose="020B0604020202020204" pitchFamily="34" charset="0"/>
                <a:cs typeface="Arial"/>
              </a:rPr>
              <a:t>Gross code</a:t>
            </a:r>
          </a:p>
          <a:p>
            <a:pPr algn="l">
              <a:buNone/>
            </a:pPr>
            <a:r>
              <a:rPr lang="it-IT" sz="1400" b="1">
                <a:solidFill>
                  <a:srgbClr val="203344"/>
                </a:solidFill>
                <a:latin typeface="Arial" panose="020B0604020202020204" pitchFamily="34" charset="0"/>
                <a:cs typeface="Arial"/>
              </a:rPr>
              <a:t>1 blocco × 144 qubit</a:t>
            </a:r>
            <a:endParaRPr lang="it-IT" sz="1400" dirty="0">
              <a:solidFill>
                <a:srgbClr val="203344"/>
              </a:solidFill>
              <a:latin typeface="Arial" panose="020B0604020202020204" pitchFamily="34" charset="0"/>
              <a:cs typeface="Arial"/>
            </a:endParaRPr>
          </a:p>
        </p:txBody>
      </p:sp>
      <p:sp>
        <p:nvSpPr>
          <p:cNvPr id="807" name="Barra 0">
            <a:extLst>
              <a:ext uri="{FF2B5EF4-FFF2-40B4-BE49-F238E27FC236}">
                <a16:creationId xmlns:a16="http://schemas.microsoft.com/office/drawing/2014/main" id="{82712A45-515C-D2CC-78C1-5D789A45335C}"/>
              </a:ext>
            </a:extLst>
          </p:cNvPr>
          <p:cNvSpPr/>
          <p:nvPr/>
        </p:nvSpPr>
        <p:spPr>
          <a:xfrm>
            <a:off x="8915400" y="3476200"/>
            <a:ext cx="99408" cy="300000"/>
          </a:xfrm>
          <a:prstGeom prst="rect">
            <a:avLst/>
          </a:prstGeom>
          <a:solidFill>
            <a:srgbClr val="D9822B"/>
          </a:solidFill>
          <a:ln>
            <a:noFill/>
          </a:ln>
        </p:spPr>
        <p:txBody>
          <a:bodyPr wrap="square" lIns="91440" tIns="91440" rIns="91440" bIns="91440" rtlCol="0" anchor="ctr">
            <a:noAutofit/>
          </a:bodyPr>
          <a:lstStyle/>
          <a:p>
            <a:endParaRPr lang="it-IT"/>
          </a:p>
        </p:txBody>
      </p:sp>
      <p:sp>
        <p:nvSpPr>
          <p:cNvPr id="808" name="Barra val 0">
            <a:extLst>
              <a:ext uri="{FF2B5EF4-FFF2-40B4-BE49-F238E27FC236}">
                <a16:creationId xmlns:a16="http://schemas.microsoft.com/office/drawing/2014/main" id="{9055660E-28AA-3D75-3AE9-20965CF1767B}"/>
              </a:ext>
            </a:extLst>
          </p:cNvPr>
          <p:cNvSpPr/>
          <p:nvPr/>
        </p:nvSpPr>
        <p:spPr>
          <a:xfrm>
            <a:off x="9080500" y="3426200"/>
            <a:ext cx="825500" cy="400000"/>
          </a:xfrm>
          <a:prstGeom prst="rect">
            <a:avLst/>
          </a:prstGeom>
          <a:noFill/>
          <a:ln>
            <a:noFill/>
          </a:ln>
        </p:spPr>
        <p:txBody>
          <a:bodyPr wrap="square" lIns="0" tIns="0" rIns="0" bIns="0" rtlCol="0" anchor="ctr">
            <a:noAutofit/>
          </a:bodyPr>
          <a:lstStyle/>
          <a:p>
            <a:pPr algn="l">
              <a:buNone/>
            </a:pPr>
            <a:r>
              <a:rPr lang="it-IT" sz="1300" b="1">
                <a:solidFill>
                  <a:srgbClr val="D9822B"/>
                </a:solidFill>
                <a:latin typeface="Arial" panose="020B0604020202020204" pitchFamily="34" charset="0"/>
                <a:cs typeface="Arial"/>
              </a:rPr>
              <a:t>144</a:t>
            </a:r>
          </a:p>
        </p:txBody>
      </p:sp>
      <p:sp>
        <p:nvSpPr>
          <p:cNvPr id="810" name="Barra 1">
            <a:extLst>
              <a:ext uri="{FF2B5EF4-FFF2-40B4-BE49-F238E27FC236}">
                <a16:creationId xmlns:a16="http://schemas.microsoft.com/office/drawing/2014/main" id="{42AB8CDD-AC55-43A6-29A5-0B4DF0E76582}"/>
              </a:ext>
            </a:extLst>
          </p:cNvPr>
          <p:cNvSpPr/>
          <p:nvPr/>
        </p:nvSpPr>
        <p:spPr>
          <a:xfrm>
            <a:off x="8915400" y="4096200"/>
            <a:ext cx="1002366" cy="300000"/>
          </a:xfrm>
          <a:prstGeom prst="rect">
            <a:avLst/>
          </a:prstGeom>
          <a:solidFill>
            <a:srgbClr val="B8C7D9"/>
          </a:solidFill>
          <a:ln>
            <a:noFill/>
          </a:ln>
        </p:spPr>
        <p:txBody>
          <a:bodyPr wrap="square" lIns="91440" tIns="91440" rIns="91440" bIns="91440" rtlCol="0" anchor="ctr">
            <a:noAutofit/>
          </a:bodyPr>
          <a:lstStyle/>
          <a:p>
            <a:endParaRPr lang="it-IT"/>
          </a:p>
        </p:txBody>
      </p:sp>
      <p:sp>
        <p:nvSpPr>
          <p:cNvPr id="811" name="Barra val 1">
            <a:extLst>
              <a:ext uri="{FF2B5EF4-FFF2-40B4-BE49-F238E27FC236}">
                <a16:creationId xmlns:a16="http://schemas.microsoft.com/office/drawing/2014/main" id="{DAEE0755-6E4C-B502-B939-287022A9A28F}"/>
              </a:ext>
            </a:extLst>
          </p:cNvPr>
          <p:cNvSpPr/>
          <p:nvPr/>
        </p:nvSpPr>
        <p:spPr>
          <a:xfrm>
            <a:off x="9994900" y="4046200"/>
            <a:ext cx="825500" cy="400000"/>
          </a:xfrm>
          <a:prstGeom prst="rect">
            <a:avLst/>
          </a:prstGeom>
          <a:noFill/>
          <a:ln>
            <a:noFill/>
          </a:ln>
        </p:spPr>
        <p:txBody>
          <a:bodyPr wrap="square" lIns="0" tIns="0" rIns="0" bIns="0" rtlCol="0" anchor="ctr">
            <a:noAutofit/>
          </a:bodyPr>
          <a:lstStyle/>
          <a:p>
            <a:pPr algn="l">
              <a:buNone/>
            </a:pPr>
            <a:r>
              <a:rPr lang="it-IT" sz="1300" b="1">
                <a:solidFill>
                  <a:srgbClr val="203344"/>
                </a:solidFill>
                <a:latin typeface="Arial" panose="020B0604020202020204" pitchFamily="34" charset="0"/>
                <a:cs typeface="Arial"/>
              </a:rPr>
              <a:t>1 452</a:t>
            </a:r>
          </a:p>
        </p:txBody>
      </p:sp>
      <p:sp>
        <p:nvSpPr>
          <p:cNvPr id="813" name="Barra 2">
            <a:extLst>
              <a:ext uri="{FF2B5EF4-FFF2-40B4-BE49-F238E27FC236}">
                <a16:creationId xmlns:a16="http://schemas.microsoft.com/office/drawing/2014/main" id="{FA458096-844D-053C-FC74-91FC71C5AD21}"/>
              </a:ext>
            </a:extLst>
          </p:cNvPr>
          <p:cNvSpPr/>
          <p:nvPr/>
        </p:nvSpPr>
        <p:spPr>
          <a:xfrm>
            <a:off x="8915400" y="4716200"/>
            <a:ext cx="1400000" cy="300000"/>
          </a:xfrm>
          <a:prstGeom prst="rect">
            <a:avLst/>
          </a:prstGeom>
          <a:solidFill>
            <a:srgbClr val="B8C7D9"/>
          </a:solidFill>
          <a:ln>
            <a:noFill/>
          </a:ln>
        </p:spPr>
        <p:txBody>
          <a:bodyPr wrap="square" lIns="91440" tIns="91440" rIns="91440" bIns="91440" rtlCol="0" anchor="ctr">
            <a:noAutofit/>
          </a:bodyPr>
          <a:lstStyle/>
          <a:p>
            <a:endParaRPr lang="it-IT"/>
          </a:p>
        </p:txBody>
      </p:sp>
      <p:sp>
        <p:nvSpPr>
          <p:cNvPr id="814" name="Barra val 2">
            <a:extLst>
              <a:ext uri="{FF2B5EF4-FFF2-40B4-BE49-F238E27FC236}">
                <a16:creationId xmlns:a16="http://schemas.microsoft.com/office/drawing/2014/main" id="{6884CFA5-1E2C-F8DF-F567-FAFA4E8F86D6}"/>
              </a:ext>
            </a:extLst>
          </p:cNvPr>
          <p:cNvSpPr/>
          <p:nvPr/>
        </p:nvSpPr>
        <p:spPr>
          <a:xfrm>
            <a:off x="10388600" y="4666200"/>
            <a:ext cx="825500" cy="400000"/>
          </a:xfrm>
          <a:prstGeom prst="rect">
            <a:avLst/>
          </a:prstGeom>
          <a:noFill/>
          <a:ln>
            <a:noFill/>
          </a:ln>
        </p:spPr>
        <p:txBody>
          <a:bodyPr wrap="square" lIns="0" tIns="0" rIns="0" bIns="0" rtlCol="0" anchor="ctr">
            <a:noAutofit/>
          </a:bodyPr>
          <a:lstStyle/>
          <a:p>
            <a:pPr algn="l">
              <a:buNone/>
            </a:pPr>
            <a:r>
              <a:rPr lang="it-IT" sz="1300" b="1">
                <a:solidFill>
                  <a:srgbClr val="203344"/>
                </a:solidFill>
                <a:latin typeface="Arial" panose="020B0604020202020204" pitchFamily="34" charset="0"/>
                <a:cs typeface="Arial"/>
              </a:rPr>
              <a:t>2 028</a:t>
            </a:r>
          </a:p>
        </p:txBody>
      </p:sp>
      <p:sp>
        <p:nvSpPr>
          <p:cNvPr id="816" name="Numero 0">
            <a:extLst>
              <a:ext uri="{FF2B5EF4-FFF2-40B4-BE49-F238E27FC236}">
                <a16:creationId xmlns:a16="http://schemas.microsoft.com/office/drawing/2014/main" id="{906243E0-2830-029A-2CA6-54C7B13973AC}"/>
              </a:ext>
            </a:extLst>
          </p:cNvPr>
          <p:cNvSpPr/>
          <p:nvPr/>
        </p:nvSpPr>
        <p:spPr>
          <a:xfrm>
            <a:off x="1259600" y="1879600"/>
            <a:ext cx="3400000" cy="660400"/>
          </a:xfrm>
          <a:prstGeom prst="rect">
            <a:avLst/>
          </a:prstGeom>
          <a:noFill/>
          <a:ln>
            <a:noFill/>
          </a:ln>
        </p:spPr>
        <p:txBody>
          <a:bodyPr wrap="square" lIns="0" tIns="0" rIns="0" bIns="0" rtlCol="0" anchor="ctr">
            <a:noAutofit/>
          </a:bodyPr>
          <a:lstStyle/>
          <a:p>
            <a:pPr algn="ctr">
              <a:buNone/>
            </a:pPr>
            <a:r>
              <a:rPr lang="it-IT" sz="3400" b="1">
                <a:solidFill>
                  <a:srgbClr val="125C97"/>
                </a:solidFill>
                <a:latin typeface="Arial" panose="020B0604020202020204" pitchFamily="34" charset="0"/>
                <a:cs typeface="Arial"/>
              </a:rPr>
              <a:t>0,86%</a:t>
            </a:r>
          </a:p>
        </p:txBody>
      </p:sp>
      <p:sp>
        <p:nvSpPr>
          <p:cNvPr id="817" name="Etichetta 0">
            <a:extLst>
              <a:ext uri="{FF2B5EF4-FFF2-40B4-BE49-F238E27FC236}">
                <a16:creationId xmlns:a16="http://schemas.microsoft.com/office/drawing/2014/main" id="{EB68DDEC-1716-452E-F6DB-9B4870AE280B}"/>
              </a:ext>
            </a:extLst>
          </p:cNvPr>
          <p:cNvSpPr/>
          <p:nvPr/>
        </p:nvSpPr>
        <p:spPr>
          <a:xfrm>
            <a:off x="1259600" y="2565400"/>
            <a:ext cx="3400000" cy="698500"/>
          </a:xfrm>
          <a:prstGeom prst="rect">
            <a:avLst/>
          </a:prstGeom>
          <a:noFill/>
          <a:ln>
            <a:noFill/>
          </a:ln>
        </p:spPr>
        <p:txBody>
          <a:bodyPr wrap="square" lIns="0" tIns="0" rIns="0" bIns="0" rtlCol="0" anchor="t">
            <a:noAutofit/>
          </a:bodyPr>
          <a:lstStyle/>
          <a:p>
            <a:pPr algn="ctr">
              <a:buNone/>
            </a:pPr>
            <a:r>
              <a:rPr lang="it-IT" sz="1500">
                <a:solidFill>
                  <a:srgbClr val="203344"/>
                </a:solidFill>
                <a:latin typeface="Arial" panose="020B0604020202020204" pitchFamily="34" charset="0"/>
                <a:cs typeface="Arial"/>
              </a:rPr>
              <a:t>Soglia stimata del Surface code</a:t>
            </a:r>
          </a:p>
          <a:p>
            <a:pPr algn="ctr">
              <a:buNone/>
            </a:pPr>
            <a:r>
              <a:rPr lang="it-IT" sz="1500">
                <a:solidFill>
                  <a:srgbClr val="203344"/>
                </a:solidFill>
                <a:latin typeface="Arial" panose="020B0604020202020204" pitchFamily="34" charset="0"/>
                <a:cs typeface="Arial"/>
              </a:rPr>
              <a:t>nel modello studiato</a:t>
            </a:r>
          </a:p>
        </p:txBody>
      </p:sp>
      <p:sp>
        <p:nvSpPr>
          <p:cNvPr id="820" name="Numero 2">
            <a:extLst>
              <a:ext uri="{FF2B5EF4-FFF2-40B4-BE49-F238E27FC236}">
                <a16:creationId xmlns:a16="http://schemas.microsoft.com/office/drawing/2014/main" id="{CFDFDF4E-596A-007F-5906-27773EDF3461}"/>
              </a:ext>
            </a:extLst>
          </p:cNvPr>
          <p:cNvSpPr/>
          <p:nvPr/>
        </p:nvSpPr>
        <p:spPr>
          <a:xfrm>
            <a:off x="6801072" y="1879600"/>
            <a:ext cx="3400000" cy="660400"/>
          </a:xfrm>
          <a:prstGeom prst="rect">
            <a:avLst/>
          </a:prstGeom>
          <a:noFill/>
          <a:ln>
            <a:noFill/>
          </a:ln>
        </p:spPr>
        <p:txBody>
          <a:bodyPr wrap="square" lIns="0" tIns="0" rIns="0" bIns="0" rtlCol="0" anchor="ctr">
            <a:noAutofit/>
          </a:bodyPr>
          <a:lstStyle/>
          <a:p>
            <a:pPr algn="ctr">
              <a:buNone/>
            </a:pPr>
            <a:r>
              <a:rPr lang="it-IT" sz="3400" b="1">
                <a:solidFill>
                  <a:srgbClr val="D9822B"/>
                </a:solidFill>
                <a:latin typeface="Arial" panose="020B0604020202020204" pitchFamily="34" charset="0"/>
                <a:cs typeface="Arial"/>
              </a:rPr>
              <a:t>12 qubit logici</a:t>
            </a:r>
            <a:endParaRPr lang="it-IT" sz="3400" b="1" dirty="0">
              <a:solidFill>
                <a:srgbClr val="D9822B"/>
              </a:solidFill>
              <a:latin typeface="Arial" panose="020B0604020202020204" pitchFamily="34" charset="0"/>
              <a:cs typeface="Arial"/>
            </a:endParaRPr>
          </a:p>
        </p:txBody>
      </p:sp>
      <p:sp>
        <p:nvSpPr>
          <p:cNvPr id="821" name="Etichetta 2">
            <a:extLst>
              <a:ext uri="{FF2B5EF4-FFF2-40B4-BE49-F238E27FC236}">
                <a16:creationId xmlns:a16="http://schemas.microsoft.com/office/drawing/2014/main" id="{F9D18231-D8E8-2A36-27B6-EAB83031A36E}"/>
              </a:ext>
            </a:extLst>
          </p:cNvPr>
          <p:cNvSpPr/>
          <p:nvPr/>
        </p:nvSpPr>
        <p:spPr>
          <a:xfrm>
            <a:off x="6413500" y="2565400"/>
            <a:ext cx="4191000" cy="635000"/>
          </a:xfrm>
          <a:prstGeom prst="rect">
            <a:avLst/>
          </a:prstGeom>
          <a:noFill/>
          <a:ln>
            <a:noFill/>
          </a:ln>
        </p:spPr>
        <p:txBody>
          <a:bodyPr wrap="square" lIns="0" tIns="0" rIns="0" bIns="0" rtlCol="0" anchor="t">
            <a:noAutofit/>
          </a:bodyPr>
          <a:lstStyle/>
          <a:p>
            <a:pPr algn="ctr">
              <a:buNone/>
            </a:pPr>
            <a:r>
              <a:rPr lang="it-IT" sz="1600">
                <a:solidFill>
                  <a:srgbClr val="203344"/>
                </a:solidFill>
                <a:latin typeface="Arial" panose="020B0604020202020204" pitchFamily="34" charset="0"/>
                <a:cs typeface="Arial"/>
              </a:rPr>
              <a:t>Qubit di dato per gli stessi 12 qubit logici</a:t>
            </a:r>
            <a:endParaRPr lang="it-IT" sz="1600" dirty="0">
              <a:solidFill>
                <a:srgbClr val="203344"/>
              </a:solidFill>
              <a:latin typeface="Arial" panose="020B0604020202020204" pitchFamily="34" charset="0"/>
              <a:cs typeface="Arial"/>
            </a:endParaRPr>
          </a:p>
        </p:txBody>
      </p:sp>
      <p:sp>
        <p:nvSpPr>
          <p:cNvPr id="8" name="TextBox 7">
            <a:extLst>
              <a:ext uri="{FF2B5EF4-FFF2-40B4-BE49-F238E27FC236}">
                <a16:creationId xmlns:a16="http://schemas.microsoft.com/office/drawing/2014/main" id="{A8870F3F-8663-055E-78B3-6F887D5B9851}"/>
              </a:ext>
            </a:extLst>
          </p:cNvPr>
          <p:cNvSpPr txBox="1"/>
          <p:nvPr/>
        </p:nvSpPr>
        <p:spPr>
          <a:xfrm>
            <a:off x="6223000" y="5366104"/>
            <a:ext cx="5143500" cy="723275"/>
          </a:xfrm>
          <a:prstGeom prst="rect">
            <a:avLst/>
          </a:prstGeom>
          <a:noFill/>
        </p:spPr>
        <p:txBody>
          <a:bodyPr vert="horz" lIns="0" tIns="0" rIns="0" rtlCol="0" anchor="ctr">
            <a:spAutoFit/>
          </a:bodyPr>
          <a:lstStyle/>
          <a:p>
            <a:pPr algn="ctr">
              <a:spcAft>
                <a:spcPts val="300"/>
              </a:spcAft>
            </a:pPr>
            <a:r>
              <a:rPr lang="it-IT" sz="1300" b="1">
                <a:solidFill>
                  <a:srgbClr val="125C97"/>
                </a:solidFill>
                <a:latin typeface="Arial" panose="020B0604020202020204" pitchFamily="34" charset="0"/>
              </a:rPr>
              <a:t>Gross: 1 blocco protegge 12 qubit logici.</a:t>
            </a:r>
          </a:p>
          <a:p>
            <a:pPr algn="ctr">
              <a:spcAft>
                <a:spcPts val="300"/>
              </a:spcAft>
            </a:pPr>
            <a:r>
              <a:rPr lang="it-IT" sz="1300" b="1">
                <a:solidFill>
                  <a:srgbClr val="125C97"/>
                </a:solidFill>
                <a:latin typeface="Arial" panose="020B0604020202020204" pitchFamily="34" charset="0"/>
              </a:rPr>
              <a:t>Surface: 12 blocchi, uno per qubit logico.</a:t>
            </a:r>
          </a:p>
          <a:p>
            <a:pPr algn="ctr">
              <a:spcAft>
                <a:spcPts val="300"/>
              </a:spcAft>
            </a:pPr>
            <a:r>
              <a:rPr lang="it-IT" sz="1300" b="1">
                <a:solidFill>
                  <a:srgbClr val="125C97"/>
                </a:solidFill>
                <a:latin typeface="Arial" panose="020B0604020202020204" pitchFamily="34" charset="0"/>
              </a:rPr>
              <a:t>Qubit ausiliari esclusi, sindromi ideali.</a:t>
            </a:r>
            <a:endParaRPr lang="it-IT" sz="1300" b="1" dirty="0">
              <a:solidFill>
                <a:srgbClr val="125C97"/>
              </a:solidFill>
              <a:latin typeface="Arial" panose="020B0604020202020204" pitchFamily="34" charset="0"/>
            </a:endParaRPr>
          </a:p>
        </p:txBody>
      </p:sp>
      <p:sp>
        <p:nvSpPr>
          <p:cNvPr id="9" name="Barra lab 1">
            <a:extLst>
              <a:ext uri="{FF2B5EF4-FFF2-40B4-BE49-F238E27FC236}">
                <a16:creationId xmlns:a16="http://schemas.microsoft.com/office/drawing/2014/main" id="{4009260D-F492-9F11-CE05-11E8D36D12D7}"/>
              </a:ext>
            </a:extLst>
          </p:cNvPr>
          <p:cNvSpPr/>
          <p:nvPr/>
        </p:nvSpPr>
        <p:spPr>
          <a:xfrm>
            <a:off x="6413500" y="4046200"/>
            <a:ext cx="2349500" cy="558800"/>
          </a:xfrm>
          <a:prstGeom prst="rect">
            <a:avLst/>
          </a:prstGeom>
          <a:noFill/>
          <a:ln>
            <a:noFill/>
          </a:ln>
        </p:spPr>
        <p:txBody>
          <a:bodyPr wrap="square" lIns="0" tIns="0" rIns="0" bIns="0" rtlCol="0" anchor="ctr">
            <a:noAutofit/>
          </a:bodyPr>
          <a:lstStyle/>
          <a:p>
            <a:pPr algn="l">
              <a:buNone/>
            </a:pPr>
            <a:r>
              <a:rPr lang="it-IT" sz="1400" dirty="0">
                <a:solidFill>
                  <a:srgbClr val="203344"/>
                </a:solidFill>
                <a:latin typeface="Arial" panose="020B0604020202020204" pitchFamily="34" charset="0"/>
                <a:cs typeface="Arial"/>
              </a:rPr>
              <a:t>Surface d = 11</a:t>
            </a:r>
          </a:p>
          <a:p>
            <a:pPr algn="l">
              <a:buNone/>
            </a:pPr>
            <a:r>
              <a:rPr lang="it-IT" sz="1400" dirty="0">
                <a:solidFill>
                  <a:srgbClr val="203344"/>
                </a:solidFill>
                <a:latin typeface="Arial" panose="020B0604020202020204" pitchFamily="34" charset="0"/>
                <a:cs typeface="Arial"/>
              </a:rPr>
              <a:t>12 blocchi × 121 qubit</a:t>
            </a:r>
          </a:p>
        </p:txBody>
      </p:sp>
      <p:sp>
        <p:nvSpPr>
          <p:cNvPr id="10" name="Barra lab 2">
            <a:extLst>
              <a:ext uri="{FF2B5EF4-FFF2-40B4-BE49-F238E27FC236}">
                <a16:creationId xmlns:a16="http://schemas.microsoft.com/office/drawing/2014/main" id="{CA14ADA4-0537-FBD1-D2F9-3FC611F38341}"/>
              </a:ext>
            </a:extLst>
          </p:cNvPr>
          <p:cNvSpPr/>
          <p:nvPr/>
        </p:nvSpPr>
        <p:spPr>
          <a:xfrm>
            <a:off x="6413500" y="4666200"/>
            <a:ext cx="2349500" cy="558800"/>
          </a:xfrm>
          <a:prstGeom prst="rect">
            <a:avLst/>
          </a:prstGeom>
          <a:noFill/>
          <a:ln>
            <a:noFill/>
          </a:ln>
        </p:spPr>
        <p:txBody>
          <a:bodyPr wrap="square" lIns="0" tIns="0" rIns="0" bIns="0" rtlCol="0" anchor="ctr">
            <a:noAutofit/>
          </a:bodyPr>
          <a:lstStyle/>
          <a:p>
            <a:pPr algn="l">
              <a:buNone/>
            </a:pPr>
            <a:r>
              <a:rPr lang="it-IT" sz="1400">
                <a:solidFill>
                  <a:srgbClr val="203344"/>
                </a:solidFill>
                <a:latin typeface="Arial" panose="020B0604020202020204" pitchFamily="34" charset="0"/>
                <a:cs typeface="Arial"/>
              </a:rPr>
              <a:t>Surface d = 13</a:t>
            </a:r>
          </a:p>
          <a:p>
            <a:pPr algn="l">
              <a:buNone/>
            </a:pPr>
            <a:r>
              <a:rPr lang="it-IT" sz="1400">
                <a:solidFill>
                  <a:srgbClr val="203344"/>
                </a:solidFill>
                <a:latin typeface="Arial" panose="020B0604020202020204" pitchFamily="34" charset="0"/>
                <a:cs typeface="Arial"/>
              </a:rPr>
              <a:t>12 blocchi × 169 qubit</a:t>
            </a:r>
            <a:endParaRPr lang="it-IT" sz="1400" dirty="0">
              <a:solidFill>
                <a:srgbClr val="203344"/>
              </a:solidFill>
              <a:latin typeface="Arial" panose="020B0604020202020204" pitchFamily="34" charset="0"/>
              <a:cs typeface="Arial"/>
            </a:endParaRPr>
          </a:p>
        </p:txBody>
      </p:sp>
    </p:spTree>
    <p:extLst>
      <p:ext uri="{BB962C8B-B14F-4D97-AF65-F5344CB8AC3E}">
        <p14:creationId xmlns:p14="http://schemas.microsoft.com/office/powerpoint/2010/main" val="1904834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9"/>
                                          </p:stCondLst>
                                        </p:cTn>
                                        <p:tgtEl>
                                          <p:spTgt spid="80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9"/>
                                          </p:stCondLst>
                                        </p:cTn>
                                        <p:tgtEl>
                                          <p:spTgt spid="8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9"/>
                                          </p:stCondLst>
                                        </p:cTn>
                                        <p:tgtEl>
                                          <p:spTgt spid="8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9"/>
                                          </p:stCondLst>
                                        </p:cTn>
                                        <p:tgtEl>
                                          <p:spTgt spid="80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9"/>
                                          </p:stCondLst>
                                        </p:cTn>
                                        <p:tgtEl>
                                          <p:spTgt spid="80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9"/>
                                          </p:stCondLst>
                                        </p:cTn>
                                        <p:tgtEl>
                                          <p:spTgt spid="8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9"/>
                                          </p:stCondLst>
                                        </p:cTn>
                                        <p:tgtEl>
                                          <p:spTgt spid="8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9"/>
                                          </p:stCondLst>
                                        </p:cTn>
                                        <p:tgtEl>
                                          <p:spTgt spid="80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9"/>
                                          </p:stCondLst>
                                        </p:cTn>
                                        <p:tgtEl>
                                          <p:spTgt spid="80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9"/>
                                          </p:stCondLst>
                                        </p:cTn>
                                        <p:tgtEl>
                                          <p:spTgt spid="80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9"/>
                                          </p:stCondLst>
                                        </p:cTn>
                                        <p:tgtEl>
                                          <p:spTgt spid="81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9"/>
                                          </p:stCondLst>
                                        </p:cTn>
                                        <p:tgtEl>
                                          <p:spTgt spid="81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9"/>
                                          </p:stCondLst>
                                        </p:cTn>
                                        <p:tgtEl>
                                          <p:spTgt spid="81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9"/>
                                          </p:stCondLst>
                                        </p:cTn>
                                        <p:tgtEl>
                                          <p:spTgt spid="81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9"/>
                                          </p:stCondLst>
                                        </p:cTn>
                                        <p:tgtEl>
                                          <p:spTgt spid="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9"/>
                                          </p:stCondLst>
                                        </p:cTn>
                                        <p:tgtEl>
                                          <p:spTgt spid="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9"/>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1" grpId="0" animBg="1"/>
      <p:bldP spid="803" grpId="0" animBg="1"/>
      <p:bldP spid="806" grpId="0"/>
      <p:bldP spid="807" grpId="0" animBg="1"/>
      <p:bldP spid="808" grpId="0"/>
      <p:bldP spid="810" grpId="0" animBg="1"/>
      <p:bldP spid="811" grpId="0"/>
      <p:bldP spid="813" grpId="0" animBg="1"/>
      <p:bldP spid="814" grpId="0"/>
      <p:bldP spid="816" grpId="0"/>
      <p:bldP spid="817" grpId="0"/>
      <p:bldP spid="820" grpId="0"/>
      <p:bldP spid="821" grpId="0"/>
      <p:bldP spid="8" grpId="0"/>
      <p:bldP spid="9" grpId="0"/>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7AB99-9B2E-46D7-86BF-039FAAF2D5F0}"/>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DEEA8F51-747E-FAAC-5392-A907508B6969}"/>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800" b="0">
                <a:solidFill>
                  <a:srgbClr val="003366"/>
                </a:solidFill>
                <a:latin typeface="Arial"/>
                <a:ea typeface="Arial"/>
                <a:cs typeface="Arial"/>
              </a:rPr>
              <a:t>Strategia 2: codici e risultati</a:t>
            </a:r>
            <a:endParaRPr sz="2800" b="0">
              <a:solidFill>
                <a:srgbClr val="003366"/>
              </a:solidFill>
              <a:latin typeface="Arial"/>
              <a:ea typeface="Arial"/>
              <a:cs typeface="Arial"/>
            </a:endParaRPr>
          </a:p>
        </p:txBody>
      </p:sp>
      <p:pic>
        <p:nvPicPr>
          <p:cNvPr id="17" name="Picture 16">
            <a:extLst>
              <a:ext uri="{FF2B5EF4-FFF2-40B4-BE49-F238E27FC236}">
                <a16:creationId xmlns:a16="http://schemas.microsoft.com/office/drawing/2014/main" id="{2C1605F2-95DD-038E-F8A7-D2D214B33F8A}"/>
              </a:ext>
            </a:extLst>
          </p:cNvPr>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EC8F856-0E03-0B64-304D-E202EDC4CD11}"/>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D6434CD8-AFFD-F469-B16B-CBFCE25C31AB}"/>
              </a:ext>
            </a:extLst>
          </p:cNvPr>
          <p:cNvSpPr>
            <a:spLocks noGrp="1"/>
          </p:cNvSpPr>
          <p:nvPr/>
        </p:nvSpPr>
        <p:spPr>
          <a:xfrm>
            <a:off x="7477125" y="828675"/>
            <a:ext cx="3228975" cy="219075"/>
          </a:xfrm>
          <a:prstGeom prst="rect">
            <a:avLst/>
          </a:prstGeom>
          <a:noFill/>
          <a:ln w="0">
            <a:noFill/>
          </a:ln>
        </p:spPr>
        <p:txBody>
          <a:bodyPr rIns="0" anchor="ctr">
            <a:noAutofit/>
          </a:bodyPr>
          <a:lstStyle/>
          <a:p>
            <a:pPr algn="r">
              <a:defRPr sz="1200" b="0">
                <a:solidFill>
                  <a:srgbClr val="203344"/>
                </a:solidFill>
                <a:latin typeface="Arial"/>
                <a:ea typeface="Arial"/>
                <a:cs typeface="Arial"/>
              </a:defRPr>
            </a:pPr>
            <a:r>
              <a:rPr lang="it-IT" sz="1000" b="0">
                <a:solidFill>
                  <a:srgbClr val="203344"/>
                </a:solidFill>
                <a:latin typeface="Arial"/>
                <a:ea typeface="Arial"/>
                <a:cs typeface="Arial"/>
              </a:rPr>
              <a:t>Strategia 2 · Codici e risultati | 10</a:t>
            </a:r>
            <a:endParaRPr sz="1000" b="0">
              <a:solidFill>
                <a:srgbClr val="203344"/>
              </a:solidFill>
              <a:latin typeface="Arial"/>
              <a:ea typeface="Arial"/>
              <a:cs typeface="Arial"/>
            </a:endParaRPr>
          </a:p>
        </p:txBody>
      </p:sp>
      <p:sp>
        <p:nvSpPr>
          <p:cNvPr id="18" name="Rectangle: Rounded Corners 17">
            <a:extLst>
              <a:ext uri="{FF2B5EF4-FFF2-40B4-BE49-F238E27FC236}">
                <a16:creationId xmlns:a16="http://schemas.microsoft.com/office/drawing/2014/main" id="{AA17EA98-6355-9171-57EE-941E38FF8033}"/>
              </a:ext>
            </a:extLst>
          </p:cNvPr>
          <p:cNvSpPr/>
          <p:nvPr/>
        </p:nvSpPr>
        <p:spPr>
          <a:xfrm>
            <a:off x="609600" y="1752600"/>
            <a:ext cx="4191000" cy="22479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Rounded Corners 18">
            <a:extLst>
              <a:ext uri="{FF2B5EF4-FFF2-40B4-BE49-F238E27FC236}">
                <a16:creationId xmlns:a16="http://schemas.microsoft.com/office/drawing/2014/main" id="{EA9FEDC9-5E0F-F79E-513F-30D50995D5D9}"/>
              </a:ext>
            </a:extLst>
          </p:cNvPr>
          <p:cNvSpPr/>
          <p:nvPr/>
        </p:nvSpPr>
        <p:spPr>
          <a:xfrm>
            <a:off x="609600" y="4178300"/>
            <a:ext cx="4191000" cy="22479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TextBox 19">
            <a:extLst>
              <a:ext uri="{FF2B5EF4-FFF2-40B4-BE49-F238E27FC236}">
                <a16:creationId xmlns:a16="http://schemas.microsoft.com/office/drawing/2014/main" id="{6745C9E4-DF68-36B3-3F07-080A4E2A34F0}"/>
              </a:ext>
            </a:extLst>
          </p:cNvPr>
          <p:cNvSpPr txBox="1"/>
          <p:nvPr/>
        </p:nvSpPr>
        <p:spPr>
          <a:xfrm>
            <a:off x="787400" y="1879600"/>
            <a:ext cx="3835400" cy="369332"/>
          </a:xfrm>
          <a:prstGeom prst="rect">
            <a:avLst/>
          </a:prstGeom>
          <a:noFill/>
        </p:spPr>
        <p:txBody>
          <a:bodyPr vert="horz" wrap="square" rtlCol="0">
            <a:noAutofit/>
          </a:bodyPr>
          <a:lstStyle/>
          <a:p>
            <a:r>
              <a:rPr lang="en-GB" sz="2200" b="1">
                <a:solidFill>
                  <a:srgbClr val="003366"/>
                </a:solidFill>
                <a:latin typeface="Arial" panose="020B0604020202020204" pitchFamily="34" charset="0"/>
              </a:rPr>
              <a:t>Surface code</a:t>
            </a:r>
          </a:p>
        </p:txBody>
      </p:sp>
      <p:sp>
        <p:nvSpPr>
          <p:cNvPr id="21" name="TextBox 20">
            <a:extLst>
              <a:ext uri="{FF2B5EF4-FFF2-40B4-BE49-F238E27FC236}">
                <a16:creationId xmlns:a16="http://schemas.microsoft.com/office/drawing/2014/main" id="{903677EA-761E-A29D-2501-417A333174A8}"/>
              </a:ext>
            </a:extLst>
          </p:cNvPr>
          <p:cNvSpPr txBox="1"/>
          <p:nvPr/>
        </p:nvSpPr>
        <p:spPr>
          <a:xfrm>
            <a:off x="787400" y="2387600"/>
            <a:ext cx="3835400" cy="1435100"/>
          </a:xfrm>
          <a:prstGeom prst="rect">
            <a:avLst/>
          </a:prstGeom>
          <a:noFill/>
        </p:spPr>
        <p:txBody>
          <a:bodyPr vert="horz" wrap="square" rtlCol="0">
            <a:noAutofit/>
          </a:bodyPr>
          <a:lstStyle/>
          <a:p>
            <a:pPr>
              <a:spcAft>
                <a:spcPts val="200"/>
              </a:spcAft>
            </a:pPr>
            <a:r>
              <a:rPr lang="it-IT" sz="1700" dirty="0">
                <a:solidFill>
                  <a:srgbClr val="203344"/>
                </a:solidFill>
                <a:latin typeface="Arial" panose="020B0604020202020204" pitchFamily="34" charset="0"/>
              </a:rPr>
              <a:t>Controlli locali su un reticolo.</a:t>
            </a:r>
          </a:p>
          <a:p>
            <a:pPr>
              <a:spcAft>
                <a:spcPts val="200"/>
              </a:spcAft>
            </a:pPr>
            <a:r>
              <a:rPr lang="it-IT" sz="1700" b="1" dirty="0">
                <a:solidFill>
                  <a:srgbClr val="D9822B"/>
                </a:solidFill>
                <a:latin typeface="Arial" panose="020B0604020202020204" pitchFamily="34" charset="0"/>
              </a:rPr>
              <a:t>Più distanza: meno errore logico sotto soglia.</a:t>
            </a:r>
          </a:p>
          <a:p>
            <a:pPr>
              <a:spcAft>
                <a:spcPts val="200"/>
              </a:spcAft>
            </a:pPr>
            <a:r>
              <a:rPr lang="it-IT" sz="1700" dirty="0">
                <a:solidFill>
                  <a:srgbClr val="203344"/>
                </a:solidFill>
                <a:latin typeface="Arial" panose="020B0604020202020204" pitchFamily="34" charset="0"/>
              </a:rPr>
              <a:t>Il costo in qubit cresce con la distanza.</a:t>
            </a:r>
            <a:endParaRPr lang="en-GB" sz="1700" dirty="0">
              <a:solidFill>
                <a:srgbClr val="203344"/>
              </a:solidFill>
              <a:latin typeface="Arial" panose="020B0604020202020204" pitchFamily="34" charset="0"/>
            </a:endParaRPr>
          </a:p>
        </p:txBody>
      </p:sp>
      <p:sp>
        <p:nvSpPr>
          <p:cNvPr id="22" name="TextBox 21">
            <a:extLst>
              <a:ext uri="{FF2B5EF4-FFF2-40B4-BE49-F238E27FC236}">
                <a16:creationId xmlns:a16="http://schemas.microsoft.com/office/drawing/2014/main" id="{526EA117-4E23-A96A-8620-873EB4025ED1}"/>
              </a:ext>
            </a:extLst>
          </p:cNvPr>
          <p:cNvSpPr txBox="1"/>
          <p:nvPr/>
        </p:nvSpPr>
        <p:spPr>
          <a:xfrm>
            <a:off x="787400" y="4318000"/>
            <a:ext cx="3835400" cy="546100"/>
          </a:xfrm>
          <a:prstGeom prst="rect">
            <a:avLst/>
          </a:prstGeom>
          <a:noFill/>
        </p:spPr>
        <p:txBody>
          <a:bodyPr vert="horz" wrap="square" rtlCol="0">
            <a:noAutofit/>
          </a:bodyPr>
          <a:lstStyle/>
          <a:p>
            <a:r>
              <a:rPr lang="en-US" b="1" dirty="0">
                <a:solidFill>
                  <a:srgbClr val="003366"/>
                </a:solidFill>
                <a:latin typeface="Arial" panose="020B0604020202020204" pitchFamily="34" charset="0"/>
              </a:rPr>
              <a:t>Gross code · </a:t>
            </a:r>
            <a:r>
              <a:rPr lang="en-US" b="1" dirty="0" err="1">
                <a:solidFill>
                  <a:srgbClr val="003366"/>
                </a:solidFill>
                <a:latin typeface="Arial" panose="020B0604020202020204" pitchFamily="34" charset="0"/>
              </a:rPr>
              <a:t>famiglia</a:t>
            </a:r>
            <a:r>
              <a:rPr lang="en-US" b="1" dirty="0">
                <a:solidFill>
                  <a:srgbClr val="003366"/>
                </a:solidFill>
                <a:latin typeface="Arial" panose="020B0604020202020204" pitchFamily="34" charset="0"/>
              </a:rPr>
              <a:t> </a:t>
            </a:r>
            <a:r>
              <a:rPr lang="en-US" b="1" dirty="0" err="1">
                <a:solidFill>
                  <a:srgbClr val="003366"/>
                </a:solidFill>
                <a:latin typeface="Arial" panose="020B0604020202020204" pitchFamily="34" charset="0"/>
              </a:rPr>
              <a:t>qLDPC</a:t>
            </a:r>
            <a:endParaRPr lang="en-US" b="1" dirty="0">
              <a:solidFill>
                <a:srgbClr val="003366"/>
              </a:solidFill>
              <a:latin typeface="Arial" panose="020B0604020202020204" pitchFamily="34" charset="0"/>
            </a:endParaRPr>
          </a:p>
          <a:p>
            <a:r>
              <a:rPr lang="en-US" sz="1100" dirty="0">
                <a:solidFill>
                  <a:srgbClr val="647487"/>
                </a:solidFill>
                <a:latin typeface="Arial" panose="020B0604020202020204" pitchFamily="34" charset="0"/>
              </a:rPr>
              <a:t>Quantum Low-Density Parity-Check</a:t>
            </a:r>
            <a:endParaRPr lang="en-GB" sz="1100" dirty="0">
              <a:solidFill>
                <a:srgbClr val="647487"/>
              </a:solidFill>
              <a:latin typeface="Arial" panose="020B0604020202020204" pitchFamily="34" charset="0"/>
            </a:endParaRPr>
          </a:p>
        </p:txBody>
      </p:sp>
      <p:sp>
        <p:nvSpPr>
          <p:cNvPr id="23" name="TextBox 22">
            <a:extLst>
              <a:ext uri="{FF2B5EF4-FFF2-40B4-BE49-F238E27FC236}">
                <a16:creationId xmlns:a16="http://schemas.microsoft.com/office/drawing/2014/main" id="{9A2FD92B-DEA1-39A5-BEA3-273E01BF3957}"/>
              </a:ext>
            </a:extLst>
          </p:cNvPr>
          <p:cNvSpPr txBox="1"/>
          <p:nvPr/>
        </p:nvSpPr>
        <p:spPr>
          <a:xfrm>
            <a:off x="787400" y="4940300"/>
            <a:ext cx="3835400" cy="1346200"/>
          </a:xfrm>
          <a:prstGeom prst="rect">
            <a:avLst/>
          </a:prstGeom>
          <a:noFill/>
        </p:spPr>
        <p:txBody>
          <a:bodyPr vert="horz" wrap="square" rtlCol="0">
            <a:noAutofit/>
          </a:bodyPr>
          <a:lstStyle/>
          <a:p>
            <a:pPr>
              <a:spcAft>
                <a:spcPts val="500"/>
              </a:spcAft>
            </a:pPr>
            <a:r>
              <a:rPr lang="it-IT" sz="1700" dirty="0">
                <a:solidFill>
                  <a:srgbClr val="203344"/>
                </a:solidFill>
                <a:latin typeface="Arial" panose="020B0604020202020204" pitchFamily="34" charset="0"/>
              </a:rPr>
              <a:t>Controlli sparsi proposti da IBM.</a:t>
            </a:r>
          </a:p>
          <a:p>
            <a:pPr>
              <a:spcAft>
                <a:spcPts val="500"/>
              </a:spcAft>
            </a:pPr>
            <a:r>
              <a:rPr lang="it-IT" sz="1700" b="1" dirty="0">
                <a:solidFill>
                  <a:srgbClr val="D9822B"/>
                </a:solidFill>
                <a:latin typeface="Arial" panose="020B0604020202020204" pitchFamily="34" charset="0"/>
              </a:rPr>
              <a:t>Minore costo in qubit di dato.</a:t>
            </a:r>
          </a:p>
          <a:p>
            <a:pPr>
              <a:spcAft>
                <a:spcPts val="500"/>
              </a:spcAft>
            </a:pPr>
            <a:r>
              <a:rPr lang="it-IT" sz="1700" dirty="0">
                <a:solidFill>
                  <a:srgbClr val="203344"/>
                </a:solidFill>
                <a:latin typeface="Arial" panose="020B0604020202020204" pitchFamily="34" charset="0"/>
              </a:rPr>
              <a:t>Richiede collegamenti adatti ai controlli del codice.</a:t>
            </a:r>
            <a:endParaRPr lang="en-GB" sz="1700" dirty="0">
              <a:solidFill>
                <a:srgbClr val="203344"/>
              </a:solidFill>
              <a:latin typeface="Arial" panose="020B0604020202020204" pitchFamily="34" charset="0"/>
            </a:endParaRPr>
          </a:p>
        </p:txBody>
      </p:sp>
      <p:sp>
        <p:nvSpPr>
          <p:cNvPr id="24" name="Rectangle: Rounded Corners 23">
            <a:extLst>
              <a:ext uri="{FF2B5EF4-FFF2-40B4-BE49-F238E27FC236}">
                <a16:creationId xmlns:a16="http://schemas.microsoft.com/office/drawing/2014/main" id="{4E99A96B-39DD-71C9-F259-F3617B410600}"/>
              </a:ext>
            </a:extLst>
          </p:cNvPr>
          <p:cNvSpPr/>
          <p:nvPr/>
        </p:nvSpPr>
        <p:spPr>
          <a:xfrm>
            <a:off x="5003800" y="1752600"/>
            <a:ext cx="6578600" cy="2247900"/>
          </a:xfrm>
          <a:prstGeom prst="roundRect">
            <a:avLst>
              <a:gd name="adj" fmla="val 6000"/>
            </a:avLst>
          </a:prstGeom>
          <a:solidFill>
            <a:srgbClr val="EEF4F8"/>
          </a:solidFill>
          <a:ln w="19050">
            <a:solidFill>
              <a:srgbClr val="125C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Rounded Corners 4">
            <a:extLst>
              <a:ext uri="{FF2B5EF4-FFF2-40B4-BE49-F238E27FC236}">
                <a16:creationId xmlns:a16="http://schemas.microsoft.com/office/drawing/2014/main" id="{645C94BF-95F5-EE63-F09D-C42E62EBCA11}"/>
              </a:ext>
            </a:extLst>
          </p:cNvPr>
          <p:cNvSpPr/>
          <p:nvPr/>
        </p:nvSpPr>
        <p:spPr>
          <a:xfrm>
            <a:off x="5003800" y="4178300"/>
            <a:ext cx="6578600" cy="2247900"/>
          </a:xfrm>
          <a:prstGeom prst="roundRect">
            <a:avLst>
              <a:gd name="adj" fmla="val 6000"/>
            </a:avLst>
          </a:prstGeom>
          <a:solidFill>
            <a:srgbClr val="EEF4F8"/>
          </a:solidFill>
          <a:ln w="19050">
            <a:solidFill>
              <a:srgbClr val="125C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extBox 6">
            <a:extLst>
              <a:ext uri="{FF2B5EF4-FFF2-40B4-BE49-F238E27FC236}">
                <a16:creationId xmlns:a16="http://schemas.microsoft.com/office/drawing/2014/main" id="{665DAB0A-51CF-1F9F-39CA-83772D4FE88D}"/>
              </a:ext>
            </a:extLst>
          </p:cNvPr>
          <p:cNvSpPr txBox="1"/>
          <p:nvPr/>
        </p:nvSpPr>
        <p:spPr>
          <a:xfrm>
            <a:off x="5207000" y="4267200"/>
            <a:ext cx="6096000" cy="369332"/>
          </a:xfrm>
          <a:prstGeom prst="rect">
            <a:avLst/>
          </a:prstGeom>
          <a:noFill/>
        </p:spPr>
        <p:txBody>
          <a:bodyPr vert="horz" rtlCol="0">
            <a:spAutoFit/>
          </a:bodyPr>
          <a:lstStyle/>
          <a:p>
            <a:pPr algn="ctr">
              <a:spcAft>
                <a:spcPts val="200"/>
              </a:spcAft>
            </a:pPr>
            <a:r>
              <a:rPr lang="it-IT" b="1" dirty="0">
                <a:solidFill>
                  <a:srgbClr val="D9822B"/>
                </a:solidFill>
                <a:latin typeface="Arial" panose="020B0604020202020204" pitchFamily="34" charset="0"/>
              </a:rPr>
              <a:t>12 qubit logici in 144 qubit di dato.</a:t>
            </a:r>
          </a:p>
        </p:txBody>
      </p:sp>
      <p:sp>
        <p:nvSpPr>
          <p:cNvPr id="8" name="Barra lab 0">
            <a:extLst>
              <a:ext uri="{FF2B5EF4-FFF2-40B4-BE49-F238E27FC236}">
                <a16:creationId xmlns:a16="http://schemas.microsoft.com/office/drawing/2014/main" id="{A74CB5DC-DD04-F7A0-FD06-CD6B0D645765}"/>
              </a:ext>
            </a:extLst>
          </p:cNvPr>
          <p:cNvSpPr/>
          <p:nvPr/>
        </p:nvSpPr>
        <p:spPr>
          <a:xfrm>
            <a:off x="5207000" y="4711700"/>
            <a:ext cx="2324100" cy="508000"/>
          </a:xfrm>
          <a:prstGeom prst="rect">
            <a:avLst/>
          </a:prstGeom>
          <a:noFill/>
          <a:ln>
            <a:noFill/>
          </a:ln>
        </p:spPr>
        <p:txBody>
          <a:bodyPr wrap="square" lIns="0" tIns="0" rIns="0" bIns="0" rtlCol="0" anchor="ctr">
            <a:noAutofit/>
          </a:bodyPr>
          <a:lstStyle/>
          <a:p>
            <a:pPr algn="l">
              <a:buNone/>
            </a:pPr>
            <a:r>
              <a:rPr lang="it-IT" sz="1200" b="1">
                <a:solidFill>
                  <a:srgbClr val="203344"/>
                </a:solidFill>
                <a:latin typeface="Arial" panose="020B0604020202020204" pitchFamily="34" charset="0"/>
                <a:cs typeface="Arial"/>
              </a:rPr>
              <a:t>Gross code</a:t>
            </a:r>
          </a:p>
          <a:p>
            <a:pPr algn="l">
              <a:buNone/>
            </a:pPr>
            <a:r>
              <a:rPr lang="it-IT" sz="1200" b="1">
                <a:solidFill>
                  <a:srgbClr val="203344"/>
                </a:solidFill>
                <a:latin typeface="Arial" panose="020B0604020202020204" pitchFamily="34" charset="0"/>
                <a:cs typeface="Arial"/>
              </a:rPr>
              <a:t>1 blocco × 144 qubit</a:t>
            </a:r>
            <a:endParaRPr lang="it-IT" sz="1200" dirty="0">
              <a:solidFill>
                <a:srgbClr val="203344"/>
              </a:solidFill>
              <a:latin typeface="Arial" panose="020B0604020202020204" pitchFamily="34" charset="0"/>
              <a:cs typeface="Arial"/>
            </a:endParaRPr>
          </a:p>
        </p:txBody>
      </p:sp>
      <p:sp>
        <p:nvSpPr>
          <p:cNvPr id="9" name="Barra 0">
            <a:extLst>
              <a:ext uri="{FF2B5EF4-FFF2-40B4-BE49-F238E27FC236}">
                <a16:creationId xmlns:a16="http://schemas.microsoft.com/office/drawing/2014/main" id="{CA45746C-311A-10BC-E4E3-3AB6527D690A}"/>
              </a:ext>
            </a:extLst>
          </p:cNvPr>
          <p:cNvSpPr/>
          <p:nvPr/>
        </p:nvSpPr>
        <p:spPr>
          <a:xfrm>
            <a:off x="7772400" y="4775200"/>
            <a:ext cx="162306" cy="279400"/>
          </a:xfrm>
          <a:prstGeom prst="rect">
            <a:avLst/>
          </a:prstGeom>
          <a:solidFill>
            <a:srgbClr val="D9822B"/>
          </a:solidFill>
          <a:ln>
            <a:noFill/>
          </a:ln>
        </p:spPr>
        <p:txBody>
          <a:bodyPr wrap="square" lIns="91440" tIns="91440" rIns="91440" bIns="91440" rtlCol="0" anchor="ctr">
            <a:noAutofit/>
          </a:bodyPr>
          <a:lstStyle/>
          <a:p>
            <a:endParaRPr lang="it-IT"/>
          </a:p>
        </p:txBody>
      </p:sp>
      <p:sp>
        <p:nvSpPr>
          <p:cNvPr id="10" name="Barra val 0">
            <a:extLst>
              <a:ext uri="{FF2B5EF4-FFF2-40B4-BE49-F238E27FC236}">
                <a16:creationId xmlns:a16="http://schemas.microsoft.com/office/drawing/2014/main" id="{4CD555A6-6650-D27F-2D27-13ABBBEF76E2}"/>
              </a:ext>
            </a:extLst>
          </p:cNvPr>
          <p:cNvSpPr/>
          <p:nvPr/>
        </p:nvSpPr>
        <p:spPr>
          <a:xfrm>
            <a:off x="7998206" y="4711700"/>
            <a:ext cx="838200" cy="400000"/>
          </a:xfrm>
          <a:prstGeom prst="rect">
            <a:avLst/>
          </a:prstGeom>
          <a:noFill/>
          <a:ln>
            <a:noFill/>
          </a:ln>
        </p:spPr>
        <p:txBody>
          <a:bodyPr wrap="square" lIns="0" tIns="0" rIns="0" bIns="0" rtlCol="0" anchor="ctr">
            <a:noAutofit/>
          </a:bodyPr>
          <a:lstStyle/>
          <a:p>
            <a:pPr algn="l">
              <a:buNone/>
            </a:pPr>
            <a:r>
              <a:rPr lang="it-IT" sz="1500" b="1">
                <a:solidFill>
                  <a:srgbClr val="D9822B"/>
                </a:solidFill>
                <a:latin typeface="Arial" panose="020B0604020202020204" pitchFamily="34" charset="0"/>
                <a:cs typeface="Arial"/>
              </a:rPr>
              <a:t>144</a:t>
            </a:r>
          </a:p>
        </p:txBody>
      </p:sp>
      <p:sp>
        <p:nvSpPr>
          <p:cNvPr id="11" name="Barra lab 1">
            <a:extLst>
              <a:ext uri="{FF2B5EF4-FFF2-40B4-BE49-F238E27FC236}">
                <a16:creationId xmlns:a16="http://schemas.microsoft.com/office/drawing/2014/main" id="{4D4903E3-6594-A8E5-BBFE-C046421258C8}"/>
              </a:ext>
            </a:extLst>
          </p:cNvPr>
          <p:cNvSpPr/>
          <p:nvPr/>
        </p:nvSpPr>
        <p:spPr>
          <a:xfrm>
            <a:off x="5207000" y="5245100"/>
            <a:ext cx="2324100" cy="508000"/>
          </a:xfrm>
          <a:prstGeom prst="rect">
            <a:avLst/>
          </a:prstGeom>
          <a:noFill/>
          <a:ln>
            <a:noFill/>
          </a:ln>
        </p:spPr>
        <p:txBody>
          <a:bodyPr wrap="square" lIns="0" tIns="0" rIns="0" bIns="0" rtlCol="0" anchor="ctr">
            <a:noAutofit/>
          </a:bodyPr>
          <a:lstStyle/>
          <a:p>
            <a:pPr algn="l">
              <a:buNone/>
            </a:pPr>
            <a:r>
              <a:rPr lang="it-IT" sz="1200" dirty="0">
                <a:solidFill>
                  <a:srgbClr val="203344"/>
                </a:solidFill>
                <a:latin typeface="Arial" panose="020B0604020202020204" pitchFamily="34" charset="0"/>
                <a:cs typeface="Arial"/>
              </a:rPr>
              <a:t>Surface d = 11</a:t>
            </a:r>
          </a:p>
          <a:p>
            <a:pPr algn="l">
              <a:buNone/>
            </a:pPr>
            <a:r>
              <a:rPr lang="it-IT" sz="1200" dirty="0">
                <a:solidFill>
                  <a:srgbClr val="203344"/>
                </a:solidFill>
                <a:latin typeface="Arial" panose="020B0604020202020204" pitchFamily="34" charset="0"/>
                <a:cs typeface="Arial"/>
              </a:rPr>
              <a:t>12 blocchi × 121 qubit</a:t>
            </a:r>
          </a:p>
        </p:txBody>
      </p:sp>
      <p:sp>
        <p:nvSpPr>
          <p:cNvPr id="12" name="Barra 1">
            <a:extLst>
              <a:ext uri="{FF2B5EF4-FFF2-40B4-BE49-F238E27FC236}">
                <a16:creationId xmlns:a16="http://schemas.microsoft.com/office/drawing/2014/main" id="{44AC2470-BE50-4F6C-4D2A-E5F5D84713C9}"/>
              </a:ext>
            </a:extLst>
          </p:cNvPr>
          <p:cNvSpPr/>
          <p:nvPr/>
        </p:nvSpPr>
        <p:spPr>
          <a:xfrm>
            <a:off x="7772400" y="5308600"/>
            <a:ext cx="1636776" cy="279400"/>
          </a:xfrm>
          <a:prstGeom prst="rect">
            <a:avLst/>
          </a:prstGeom>
          <a:solidFill>
            <a:srgbClr val="B8C7D9"/>
          </a:solidFill>
          <a:ln>
            <a:noFill/>
          </a:ln>
        </p:spPr>
        <p:txBody>
          <a:bodyPr wrap="square" lIns="91440" tIns="91440" rIns="91440" bIns="91440" rtlCol="0" anchor="ctr">
            <a:noAutofit/>
          </a:bodyPr>
          <a:lstStyle/>
          <a:p>
            <a:endParaRPr lang="it-IT"/>
          </a:p>
        </p:txBody>
      </p:sp>
      <p:sp>
        <p:nvSpPr>
          <p:cNvPr id="13" name="Barra val 1">
            <a:extLst>
              <a:ext uri="{FF2B5EF4-FFF2-40B4-BE49-F238E27FC236}">
                <a16:creationId xmlns:a16="http://schemas.microsoft.com/office/drawing/2014/main" id="{B4443F80-5CA3-9011-0E14-947E79319C09}"/>
              </a:ext>
            </a:extLst>
          </p:cNvPr>
          <p:cNvSpPr/>
          <p:nvPr/>
        </p:nvSpPr>
        <p:spPr>
          <a:xfrm>
            <a:off x="9472676" y="5245100"/>
            <a:ext cx="838200" cy="400000"/>
          </a:xfrm>
          <a:prstGeom prst="rect">
            <a:avLst/>
          </a:prstGeom>
          <a:noFill/>
          <a:ln>
            <a:noFill/>
          </a:ln>
        </p:spPr>
        <p:txBody>
          <a:bodyPr wrap="square" lIns="0" tIns="0" rIns="0" bIns="0" rtlCol="0" anchor="ctr">
            <a:noAutofit/>
          </a:bodyPr>
          <a:lstStyle/>
          <a:p>
            <a:pPr algn="l">
              <a:buNone/>
            </a:pPr>
            <a:r>
              <a:rPr lang="it-IT" sz="1500" b="1">
                <a:solidFill>
                  <a:srgbClr val="203344"/>
                </a:solidFill>
                <a:latin typeface="Arial" panose="020B0604020202020204" pitchFamily="34" charset="0"/>
                <a:cs typeface="Arial"/>
              </a:rPr>
              <a:t>1 452</a:t>
            </a:r>
          </a:p>
        </p:txBody>
      </p:sp>
      <p:sp>
        <p:nvSpPr>
          <p:cNvPr id="14" name="Barra lab 2">
            <a:extLst>
              <a:ext uri="{FF2B5EF4-FFF2-40B4-BE49-F238E27FC236}">
                <a16:creationId xmlns:a16="http://schemas.microsoft.com/office/drawing/2014/main" id="{45F1B83E-7D4D-BDD7-DBA2-4006962DEC69}"/>
              </a:ext>
            </a:extLst>
          </p:cNvPr>
          <p:cNvSpPr/>
          <p:nvPr/>
        </p:nvSpPr>
        <p:spPr>
          <a:xfrm>
            <a:off x="5207000" y="5778500"/>
            <a:ext cx="2324100" cy="508000"/>
          </a:xfrm>
          <a:prstGeom prst="rect">
            <a:avLst/>
          </a:prstGeom>
          <a:noFill/>
          <a:ln>
            <a:noFill/>
          </a:ln>
        </p:spPr>
        <p:txBody>
          <a:bodyPr wrap="square" lIns="0" tIns="0" rIns="0" bIns="0" rtlCol="0" anchor="ctr">
            <a:noAutofit/>
          </a:bodyPr>
          <a:lstStyle/>
          <a:p>
            <a:pPr algn="l">
              <a:buNone/>
            </a:pPr>
            <a:r>
              <a:rPr lang="it-IT" sz="1200">
                <a:solidFill>
                  <a:srgbClr val="203344"/>
                </a:solidFill>
                <a:latin typeface="Arial" panose="020B0604020202020204" pitchFamily="34" charset="0"/>
                <a:cs typeface="Arial"/>
              </a:rPr>
              <a:t>Surface d = 13</a:t>
            </a:r>
          </a:p>
          <a:p>
            <a:pPr algn="l">
              <a:buNone/>
            </a:pPr>
            <a:r>
              <a:rPr lang="it-IT" sz="1200">
                <a:solidFill>
                  <a:srgbClr val="203344"/>
                </a:solidFill>
                <a:latin typeface="Arial" panose="020B0604020202020204" pitchFamily="34" charset="0"/>
                <a:cs typeface="Arial"/>
              </a:rPr>
              <a:t>12 blocchi × 169 qubit</a:t>
            </a:r>
            <a:endParaRPr lang="it-IT" sz="1200" dirty="0">
              <a:solidFill>
                <a:srgbClr val="203344"/>
              </a:solidFill>
              <a:latin typeface="Arial" panose="020B0604020202020204" pitchFamily="34" charset="0"/>
              <a:cs typeface="Arial"/>
            </a:endParaRPr>
          </a:p>
        </p:txBody>
      </p:sp>
      <p:sp>
        <p:nvSpPr>
          <p:cNvPr id="15" name="Barra 2">
            <a:extLst>
              <a:ext uri="{FF2B5EF4-FFF2-40B4-BE49-F238E27FC236}">
                <a16:creationId xmlns:a16="http://schemas.microsoft.com/office/drawing/2014/main" id="{4E95771A-936B-9853-18B2-C81AB085BD58}"/>
              </a:ext>
            </a:extLst>
          </p:cNvPr>
          <p:cNvSpPr/>
          <p:nvPr/>
        </p:nvSpPr>
        <p:spPr>
          <a:xfrm>
            <a:off x="7772400" y="5842000"/>
            <a:ext cx="2286000" cy="279400"/>
          </a:xfrm>
          <a:prstGeom prst="rect">
            <a:avLst/>
          </a:prstGeom>
          <a:solidFill>
            <a:srgbClr val="B8C7D9"/>
          </a:solidFill>
          <a:ln>
            <a:noFill/>
          </a:ln>
        </p:spPr>
        <p:txBody>
          <a:bodyPr wrap="square" lIns="91440" tIns="91440" rIns="91440" bIns="91440" rtlCol="0" anchor="ctr">
            <a:noAutofit/>
          </a:bodyPr>
          <a:lstStyle/>
          <a:p>
            <a:endParaRPr lang="it-IT"/>
          </a:p>
        </p:txBody>
      </p:sp>
      <p:sp>
        <p:nvSpPr>
          <p:cNvPr id="26" name="Barra val 2">
            <a:extLst>
              <a:ext uri="{FF2B5EF4-FFF2-40B4-BE49-F238E27FC236}">
                <a16:creationId xmlns:a16="http://schemas.microsoft.com/office/drawing/2014/main" id="{2CFA366F-2606-C7FC-3361-0948E918F896}"/>
              </a:ext>
            </a:extLst>
          </p:cNvPr>
          <p:cNvSpPr/>
          <p:nvPr/>
        </p:nvSpPr>
        <p:spPr>
          <a:xfrm>
            <a:off x="10121900" y="5778500"/>
            <a:ext cx="838200" cy="400000"/>
          </a:xfrm>
          <a:prstGeom prst="rect">
            <a:avLst/>
          </a:prstGeom>
          <a:noFill/>
          <a:ln>
            <a:noFill/>
          </a:ln>
        </p:spPr>
        <p:txBody>
          <a:bodyPr wrap="square" lIns="0" tIns="0" rIns="0" bIns="0" rtlCol="0" anchor="ctr">
            <a:noAutofit/>
          </a:bodyPr>
          <a:lstStyle/>
          <a:p>
            <a:pPr algn="l">
              <a:buNone/>
            </a:pPr>
            <a:r>
              <a:rPr lang="it-IT" sz="1500" b="1">
                <a:solidFill>
                  <a:srgbClr val="203344"/>
                </a:solidFill>
                <a:latin typeface="Arial" panose="020B0604020202020204" pitchFamily="34" charset="0"/>
                <a:cs typeface="Arial"/>
              </a:rPr>
              <a:t>2 028</a:t>
            </a:r>
          </a:p>
        </p:txBody>
      </p:sp>
      <p:pic>
        <p:nvPicPr>
          <p:cNvPr id="28" name="Grafico 0" descr="Errore logico contro errore fisico per distanze 3-9: le curve si incrociano alla soglia">
            <a:extLst>
              <a:ext uri="{FF2B5EF4-FFF2-40B4-BE49-F238E27FC236}">
                <a16:creationId xmlns:a16="http://schemas.microsoft.com/office/drawing/2014/main" id="{FB12ABD9-B28D-F674-7564-4BC4753C313A}"/>
              </a:ext>
            </a:extLst>
          </p:cNvPr>
          <p:cNvPicPr>
            <a:picLocks noChangeAspect="1"/>
          </p:cNvPicPr>
          <p:nvPr/>
        </p:nvPicPr>
        <p:blipFill>
          <a:blip r:embed="rId4"/>
          <a:stretch>
            <a:fillRect/>
          </a:stretch>
        </p:blipFill>
        <p:spPr>
          <a:xfrm>
            <a:off x="5207001" y="1816100"/>
            <a:ext cx="3364247" cy="2120900"/>
          </a:xfrm>
          <a:prstGeom prst="rect">
            <a:avLst/>
          </a:prstGeom>
        </p:spPr>
      </p:pic>
      <p:sp>
        <p:nvSpPr>
          <p:cNvPr id="29" name="Numero 0">
            <a:extLst>
              <a:ext uri="{FF2B5EF4-FFF2-40B4-BE49-F238E27FC236}">
                <a16:creationId xmlns:a16="http://schemas.microsoft.com/office/drawing/2014/main" id="{A7CB432E-ADE4-CEB0-80BF-89C3C8A76FF9}"/>
              </a:ext>
            </a:extLst>
          </p:cNvPr>
          <p:cNvSpPr/>
          <p:nvPr/>
        </p:nvSpPr>
        <p:spPr>
          <a:xfrm>
            <a:off x="9055100" y="2070100"/>
            <a:ext cx="2324100" cy="609600"/>
          </a:xfrm>
          <a:prstGeom prst="rect">
            <a:avLst/>
          </a:prstGeom>
          <a:noFill/>
          <a:ln>
            <a:noFill/>
          </a:ln>
        </p:spPr>
        <p:txBody>
          <a:bodyPr wrap="square" lIns="0" tIns="0" rIns="0" bIns="0" rtlCol="0" anchor="ctr">
            <a:noAutofit/>
          </a:bodyPr>
          <a:lstStyle/>
          <a:p>
            <a:pPr algn="ctr">
              <a:buNone/>
            </a:pPr>
            <a:r>
              <a:rPr lang="it-IT" sz="3200" b="1" dirty="0">
                <a:solidFill>
                  <a:srgbClr val="125C97"/>
                </a:solidFill>
                <a:latin typeface="Arial" panose="020B0604020202020204" pitchFamily="34" charset="0"/>
                <a:cs typeface="Arial"/>
              </a:rPr>
              <a:t>0,86%</a:t>
            </a:r>
          </a:p>
        </p:txBody>
      </p:sp>
      <p:sp>
        <p:nvSpPr>
          <p:cNvPr id="30" name="Etichetta 0">
            <a:extLst>
              <a:ext uri="{FF2B5EF4-FFF2-40B4-BE49-F238E27FC236}">
                <a16:creationId xmlns:a16="http://schemas.microsoft.com/office/drawing/2014/main" id="{C221DCD2-632E-174C-DDEC-62CC37394609}"/>
              </a:ext>
            </a:extLst>
          </p:cNvPr>
          <p:cNvSpPr/>
          <p:nvPr/>
        </p:nvSpPr>
        <p:spPr>
          <a:xfrm>
            <a:off x="9055100" y="2781300"/>
            <a:ext cx="2324100" cy="952500"/>
          </a:xfrm>
          <a:prstGeom prst="rect">
            <a:avLst/>
          </a:prstGeom>
          <a:noFill/>
          <a:ln>
            <a:noFill/>
          </a:ln>
        </p:spPr>
        <p:txBody>
          <a:bodyPr wrap="square" lIns="0" tIns="0" rIns="0" bIns="0" rtlCol="0" anchor="t">
            <a:noAutofit/>
          </a:bodyPr>
          <a:lstStyle/>
          <a:p>
            <a:pPr algn="ctr">
              <a:buNone/>
            </a:pPr>
            <a:r>
              <a:rPr lang="it-IT" sz="1500" dirty="0">
                <a:solidFill>
                  <a:srgbClr val="203344"/>
                </a:solidFill>
                <a:latin typeface="Arial" panose="020B0604020202020204" pitchFamily="34" charset="0"/>
                <a:cs typeface="Arial"/>
              </a:rPr>
              <a:t>Soglia stimata del Surface code</a:t>
            </a:r>
          </a:p>
          <a:p>
            <a:pPr algn="ctr">
              <a:buNone/>
            </a:pPr>
            <a:r>
              <a:rPr lang="it-IT" sz="1500" dirty="0">
                <a:solidFill>
                  <a:srgbClr val="203344"/>
                </a:solidFill>
                <a:latin typeface="Arial" panose="020B0604020202020204" pitchFamily="34" charset="0"/>
                <a:cs typeface="Arial"/>
              </a:rPr>
              <a:t>nel modello studiato</a:t>
            </a:r>
          </a:p>
        </p:txBody>
      </p:sp>
    </p:spTree>
    <p:extLst>
      <p:ext uri="{BB962C8B-B14F-4D97-AF65-F5344CB8AC3E}">
        <p14:creationId xmlns:p14="http://schemas.microsoft.com/office/powerpoint/2010/main" val="2491689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9"/>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9"/>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9"/>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9"/>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9"/>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9"/>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9"/>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9"/>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9"/>
                                          </p:stCondLst>
                                        </p:cTn>
                                        <p:tgtEl>
                                          <p:spTgt spid="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9"/>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9"/>
                                          </p:stCondLst>
                                        </p:cTn>
                                        <p:tgtEl>
                                          <p:spTgt spid="2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9"/>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9"/>
                                          </p:stCondLst>
                                        </p:cTn>
                                        <p:tgtEl>
                                          <p:spTgt spid="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9"/>
                                          </p:stCondLst>
                                        </p:cTn>
                                        <p:tgtEl>
                                          <p:spTgt spid="2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9"/>
                                          </p:stCondLst>
                                        </p:cTn>
                                        <p:tgtEl>
                                          <p:spTgt spid="2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9"/>
                                          </p:stCondLst>
                                        </p:cTn>
                                        <p:tgtEl>
                                          <p:spTgt spid="2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9"/>
                                          </p:stCondLst>
                                        </p:cTn>
                                        <p:tgtEl>
                                          <p:spTgt spid="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9"/>
                                          </p:stCondLst>
                                        </p:cTn>
                                        <p:tgtEl>
                                          <p:spTgt spid="7"/>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1" nodeType="clickEffect">
                                  <p:stCondLst>
                                    <p:cond delay="0"/>
                                  </p:stCondLst>
                                  <p:childTnLst>
                                    <p:set>
                                      <p:cBhvr>
                                        <p:cTn id="52" dur="1" fill="hold">
                                          <p:stCondLst>
                                            <p:cond delay="9"/>
                                          </p:stCondLst>
                                        </p:cTn>
                                        <p:tgtEl>
                                          <p:spTgt spid="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1" nodeType="clickEffect">
                                  <p:stCondLst>
                                    <p:cond delay="0"/>
                                  </p:stCondLst>
                                  <p:childTnLst>
                                    <p:set>
                                      <p:cBhvr>
                                        <p:cTn id="56" dur="1" fill="hold">
                                          <p:stCondLst>
                                            <p:cond delay="9"/>
                                          </p:stCondLst>
                                        </p:cTn>
                                        <p:tgtEl>
                                          <p:spTgt spid="9"/>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1" nodeType="clickEffect">
                                  <p:stCondLst>
                                    <p:cond delay="0"/>
                                  </p:stCondLst>
                                  <p:childTnLst>
                                    <p:set>
                                      <p:cBhvr>
                                        <p:cTn id="60" dur="1" fill="hold">
                                          <p:stCondLst>
                                            <p:cond delay="9"/>
                                          </p:stCondLst>
                                        </p:cTn>
                                        <p:tgtEl>
                                          <p:spTgt spid="10"/>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1" nodeType="clickEffect">
                                  <p:stCondLst>
                                    <p:cond delay="0"/>
                                  </p:stCondLst>
                                  <p:childTnLst>
                                    <p:set>
                                      <p:cBhvr>
                                        <p:cTn id="64" dur="1" fill="hold">
                                          <p:stCondLst>
                                            <p:cond delay="9"/>
                                          </p:stCondLst>
                                        </p:cTn>
                                        <p:tgtEl>
                                          <p:spTgt spid="11"/>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1" nodeType="clickEffect">
                                  <p:stCondLst>
                                    <p:cond delay="0"/>
                                  </p:stCondLst>
                                  <p:childTnLst>
                                    <p:set>
                                      <p:cBhvr>
                                        <p:cTn id="68" dur="1" fill="hold">
                                          <p:stCondLst>
                                            <p:cond delay="9"/>
                                          </p:stCondLst>
                                        </p:cTn>
                                        <p:tgtEl>
                                          <p:spTgt spid="12"/>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1" nodeType="clickEffect">
                                  <p:stCondLst>
                                    <p:cond delay="0"/>
                                  </p:stCondLst>
                                  <p:childTnLst>
                                    <p:set>
                                      <p:cBhvr>
                                        <p:cTn id="72" dur="1" fill="hold">
                                          <p:stCondLst>
                                            <p:cond delay="9"/>
                                          </p:stCondLst>
                                        </p:cTn>
                                        <p:tgtEl>
                                          <p:spTgt spid="13"/>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1" nodeType="clickEffect">
                                  <p:stCondLst>
                                    <p:cond delay="0"/>
                                  </p:stCondLst>
                                  <p:childTnLst>
                                    <p:set>
                                      <p:cBhvr>
                                        <p:cTn id="76" dur="1" fill="hold">
                                          <p:stCondLst>
                                            <p:cond delay="9"/>
                                          </p:stCondLst>
                                        </p:cTn>
                                        <p:tgtEl>
                                          <p:spTgt spid="14"/>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1" nodeType="clickEffect">
                                  <p:stCondLst>
                                    <p:cond delay="0"/>
                                  </p:stCondLst>
                                  <p:childTnLst>
                                    <p:set>
                                      <p:cBhvr>
                                        <p:cTn id="80" dur="1" fill="hold">
                                          <p:stCondLst>
                                            <p:cond delay="9"/>
                                          </p:stCondLst>
                                        </p:cTn>
                                        <p:tgtEl>
                                          <p:spTgt spid="15"/>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1" nodeType="clickEffect">
                                  <p:stCondLst>
                                    <p:cond delay="0"/>
                                  </p:stCondLst>
                                  <p:childTnLst>
                                    <p:set>
                                      <p:cBhvr>
                                        <p:cTn id="84" dur="1" fill="hold">
                                          <p:stCondLst>
                                            <p:cond delay="9"/>
                                          </p:stCondLst>
                                        </p:cTn>
                                        <p:tgtEl>
                                          <p:spTgt spid="26"/>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9"/>
                                          </p:stCondLst>
                                        </p:cTn>
                                        <p:tgtEl>
                                          <p:spTgt spid="29"/>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9"/>
                                          </p:stCondLst>
                                        </p:cTn>
                                        <p:tgtEl>
                                          <p:spTgt spid="30"/>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9"/>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p:bldP spid="21" grpId="0"/>
      <p:bldP spid="22" grpId="0"/>
      <p:bldP spid="23" grpId="0"/>
      <p:bldP spid="24" grpId="0" animBg="1"/>
      <p:bldP spid="5" grpId="0" animBg="1"/>
      <p:bldP spid="7" grpId="0"/>
      <p:bldP spid="8" grpId="0"/>
      <p:bldP spid="8" grpId="1"/>
      <p:bldP spid="9" grpId="0" animBg="1"/>
      <p:bldP spid="9" grpId="1" animBg="1"/>
      <p:bldP spid="10" grpId="0"/>
      <p:bldP spid="10" grpId="1"/>
      <p:bldP spid="11" grpId="0"/>
      <p:bldP spid="11" grpId="1"/>
      <p:bldP spid="12" grpId="0" animBg="1"/>
      <p:bldP spid="12" grpId="1" animBg="1"/>
      <p:bldP spid="13" grpId="0"/>
      <p:bldP spid="13" grpId="1"/>
      <p:bldP spid="14" grpId="0"/>
      <p:bldP spid="14" grpId="1"/>
      <p:bldP spid="15" grpId="0" animBg="1"/>
      <p:bldP spid="15" grpId="1" animBg="1"/>
      <p:bldP spid="26" grpId="0"/>
      <p:bldP spid="26" grpId="1"/>
      <p:bldP spid="29" grpId="0"/>
      <p:bldP spid="3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1A0FE10-7D08-45A5-9369-B8A8D92211C3}"/>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800" b="0">
                <a:solidFill>
                  <a:srgbClr val="003366"/>
                </a:solidFill>
                <a:latin typeface="Arial"/>
                <a:ea typeface="Arial"/>
                <a:cs typeface="Arial"/>
              </a:rPr>
              <a:t>Strategia 2: protezione e costo in qubit</a:t>
            </a:r>
            <a:endParaRPr sz="2800" b="0">
              <a:solidFill>
                <a:srgbClr val="003366"/>
              </a:solidFill>
              <a:latin typeface="Arial"/>
              <a:ea typeface="Arial"/>
              <a:cs typeface="Arial"/>
            </a:endParaRPr>
          </a:p>
        </p:txBody>
      </p:sp>
      <p:pic>
        <p:nvPicPr>
          <p:cNvPr id="17" name="Picture 16"/>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C63BB1C7-E1F5-4EAD-96B7-5E2DB8BF621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CD7F7CC-AA63-4989-8F76-D977A27FE480}"/>
              </a:ext>
            </a:extLst>
          </p:cNvPr>
          <p:cNvSpPr>
            <a:spLocks noGrp="1"/>
          </p:cNvSpPr>
          <p:nvPr/>
        </p:nvSpPr>
        <p:spPr>
          <a:xfrm>
            <a:off x="7477125" y="828675"/>
            <a:ext cx="3228975" cy="219075"/>
          </a:xfrm>
          <a:prstGeom prst="rect">
            <a:avLst/>
          </a:prstGeom>
          <a:noFill/>
          <a:ln w="0">
            <a:noFill/>
          </a:ln>
        </p:spPr>
        <p:txBody>
          <a:bodyPr rIns="0" anchor="ctr">
            <a:noAutofit/>
          </a:bodyPr>
          <a:lstStyle/>
          <a:p>
            <a:pPr algn="r">
              <a:defRPr sz="1200" b="0">
                <a:solidFill>
                  <a:srgbClr val="203344"/>
                </a:solidFill>
                <a:latin typeface="Arial"/>
                <a:ea typeface="Arial"/>
                <a:cs typeface="Arial"/>
              </a:defRPr>
            </a:pPr>
            <a:r>
              <a:rPr lang="it-IT" sz="1000" b="0">
                <a:solidFill>
                  <a:srgbClr val="203344"/>
                </a:solidFill>
                <a:latin typeface="Arial"/>
                <a:ea typeface="Arial"/>
                <a:cs typeface="Arial"/>
              </a:rPr>
              <a:t>Strategia 2 · Sintesi QEC | 10</a:t>
            </a:r>
            <a:endParaRPr sz="1000" b="0">
              <a:solidFill>
                <a:srgbClr val="203344"/>
              </a:solidFill>
              <a:latin typeface="Arial"/>
              <a:ea typeface="Arial"/>
              <a:cs typeface="Arial"/>
            </a:endParaRPr>
          </a:p>
        </p:txBody>
      </p:sp>
      <p:sp>
        <p:nvSpPr>
          <p:cNvPr id="2" name="TextBox 1">
            <a:extLst>
              <a:ext uri="{FF2B5EF4-FFF2-40B4-BE49-F238E27FC236}">
                <a16:creationId xmlns:a16="http://schemas.microsoft.com/office/drawing/2014/main" id="{02CC2BCD-8065-AF14-A761-223B420003D9}"/>
              </a:ext>
            </a:extLst>
          </p:cNvPr>
          <p:cNvSpPr txBox="1"/>
          <p:nvPr/>
        </p:nvSpPr>
        <p:spPr>
          <a:xfrm>
            <a:off x="609600" y="1244600"/>
            <a:ext cx="10972800" cy="369332"/>
          </a:xfrm>
          <a:prstGeom prst="rect">
            <a:avLst/>
          </a:prstGeom>
          <a:noFill/>
        </p:spPr>
        <p:txBody>
          <a:bodyPr vert="horz" wrap="square" rtlCol="0">
            <a:noAutofit/>
          </a:bodyPr>
          <a:lstStyle/>
          <a:p>
            <a:r>
              <a:rPr lang="it-IT" b="1">
                <a:solidFill>
                  <a:srgbClr val="203344"/>
                </a:solidFill>
                <a:latin typeface="Arial" panose="020B0604020202020204" pitchFamily="34" charset="0"/>
              </a:rPr>
              <a:t>Due codici, stesso obiettivo: proteggere lʼinformazione logica</a:t>
            </a:r>
            <a:endParaRPr lang="en-GB" b="1" dirty="0">
              <a:solidFill>
                <a:srgbClr val="203344"/>
              </a:solidFill>
              <a:latin typeface="Arial" panose="020B0604020202020204" pitchFamily="34" charset="0"/>
            </a:endParaRPr>
          </a:p>
        </p:txBody>
      </p:sp>
      <p:sp>
        <p:nvSpPr>
          <p:cNvPr id="18" name="Rectangle: Rounded Corners 17">
            <a:extLst>
              <a:ext uri="{FF2B5EF4-FFF2-40B4-BE49-F238E27FC236}">
                <a16:creationId xmlns:a16="http://schemas.microsoft.com/office/drawing/2014/main" id="{AC9DEF35-39AA-F617-3B4C-E858BF45BBB0}"/>
              </a:ext>
            </a:extLst>
          </p:cNvPr>
          <p:cNvSpPr/>
          <p:nvPr/>
        </p:nvSpPr>
        <p:spPr>
          <a:xfrm>
            <a:off x="609600" y="1752600"/>
            <a:ext cx="5334000" cy="14732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Rounded Corners 18">
            <a:extLst>
              <a:ext uri="{FF2B5EF4-FFF2-40B4-BE49-F238E27FC236}">
                <a16:creationId xmlns:a16="http://schemas.microsoft.com/office/drawing/2014/main" id="{95661C65-2684-3063-6807-9D8EF5ABDD01}"/>
              </a:ext>
            </a:extLst>
          </p:cNvPr>
          <p:cNvSpPr/>
          <p:nvPr/>
        </p:nvSpPr>
        <p:spPr>
          <a:xfrm>
            <a:off x="6248400" y="1752600"/>
            <a:ext cx="5334000" cy="14732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TextBox 19">
            <a:extLst>
              <a:ext uri="{FF2B5EF4-FFF2-40B4-BE49-F238E27FC236}">
                <a16:creationId xmlns:a16="http://schemas.microsoft.com/office/drawing/2014/main" id="{869506C8-FC11-2811-D894-827E70F8AA96}"/>
              </a:ext>
            </a:extLst>
          </p:cNvPr>
          <p:cNvSpPr txBox="1"/>
          <p:nvPr/>
        </p:nvSpPr>
        <p:spPr>
          <a:xfrm>
            <a:off x="787400" y="1854200"/>
            <a:ext cx="4978400" cy="369332"/>
          </a:xfrm>
          <a:prstGeom prst="rect">
            <a:avLst/>
          </a:prstGeom>
          <a:noFill/>
        </p:spPr>
        <p:txBody>
          <a:bodyPr vert="horz" wrap="square" rtlCol="0">
            <a:noAutofit/>
          </a:bodyPr>
          <a:lstStyle/>
          <a:p>
            <a:r>
              <a:rPr lang="en-GB" sz="2200" b="1">
                <a:solidFill>
                  <a:srgbClr val="003366"/>
                </a:solidFill>
                <a:latin typeface="Arial" panose="020B0604020202020204" pitchFamily="34" charset="0"/>
              </a:rPr>
              <a:t>Surface code</a:t>
            </a:r>
          </a:p>
        </p:txBody>
      </p:sp>
      <p:sp>
        <p:nvSpPr>
          <p:cNvPr id="21" name="TextBox 20">
            <a:extLst>
              <a:ext uri="{FF2B5EF4-FFF2-40B4-BE49-F238E27FC236}">
                <a16:creationId xmlns:a16="http://schemas.microsoft.com/office/drawing/2014/main" id="{857FD32E-EA8E-B329-B336-DE0EE6795F38}"/>
              </a:ext>
            </a:extLst>
          </p:cNvPr>
          <p:cNvSpPr txBox="1"/>
          <p:nvPr/>
        </p:nvSpPr>
        <p:spPr>
          <a:xfrm>
            <a:off x="787400" y="2286000"/>
            <a:ext cx="4978400" cy="889000"/>
          </a:xfrm>
          <a:prstGeom prst="rect">
            <a:avLst/>
          </a:prstGeom>
          <a:noFill/>
        </p:spPr>
        <p:txBody>
          <a:bodyPr vert="horz" wrap="square" rtlCol="0">
            <a:noAutofit/>
          </a:bodyPr>
          <a:lstStyle/>
          <a:p>
            <a:pPr>
              <a:spcAft>
                <a:spcPts val="200"/>
              </a:spcAft>
            </a:pPr>
            <a:r>
              <a:rPr lang="it-IT" sz="1500">
                <a:solidFill>
                  <a:srgbClr val="203344"/>
                </a:solidFill>
                <a:latin typeface="Arial" panose="020B0604020202020204" pitchFamily="34" charset="0"/>
              </a:rPr>
              <a:t>Controlli locali su un reticolo.</a:t>
            </a:r>
          </a:p>
          <a:p>
            <a:pPr>
              <a:spcAft>
                <a:spcPts val="200"/>
              </a:spcAft>
            </a:pPr>
            <a:r>
              <a:rPr lang="it-IT" sz="1500" b="1">
                <a:solidFill>
                  <a:srgbClr val="D9822B"/>
                </a:solidFill>
                <a:latin typeface="Arial" panose="020B0604020202020204" pitchFamily="34" charset="0"/>
              </a:rPr>
              <a:t>Più distanza: meno errore logico sotto soglia.</a:t>
            </a:r>
          </a:p>
          <a:p>
            <a:pPr>
              <a:spcAft>
                <a:spcPts val="200"/>
              </a:spcAft>
            </a:pPr>
            <a:r>
              <a:rPr lang="it-IT" sz="1500">
                <a:solidFill>
                  <a:srgbClr val="203344"/>
                </a:solidFill>
                <a:latin typeface="Arial" panose="020B0604020202020204" pitchFamily="34" charset="0"/>
              </a:rPr>
              <a:t>Il costo in qubit cresce con la distanza.</a:t>
            </a:r>
            <a:endParaRPr lang="en-GB" sz="1500" dirty="0">
              <a:solidFill>
                <a:srgbClr val="203344"/>
              </a:solidFill>
              <a:latin typeface="Arial" panose="020B0604020202020204" pitchFamily="34" charset="0"/>
            </a:endParaRPr>
          </a:p>
        </p:txBody>
      </p:sp>
      <p:sp>
        <p:nvSpPr>
          <p:cNvPr id="22" name="TextBox 21">
            <a:extLst>
              <a:ext uri="{FF2B5EF4-FFF2-40B4-BE49-F238E27FC236}">
                <a16:creationId xmlns:a16="http://schemas.microsoft.com/office/drawing/2014/main" id="{8846A3DB-8C7A-059A-3406-00678FBF6068}"/>
              </a:ext>
            </a:extLst>
          </p:cNvPr>
          <p:cNvSpPr txBox="1"/>
          <p:nvPr/>
        </p:nvSpPr>
        <p:spPr>
          <a:xfrm>
            <a:off x="6426200" y="1854200"/>
            <a:ext cx="4978400" cy="508000"/>
          </a:xfrm>
          <a:prstGeom prst="rect">
            <a:avLst/>
          </a:prstGeom>
          <a:noFill/>
        </p:spPr>
        <p:txBody>
          <a:bodyPr vert="horz" wrap="square" rtlCol="0">
            <a:noAutofit/>
          </a:bodyPr>
          <a:lstStyle/>
          <a:p>
            <a:r>
              <a:rPr lang="en-US" sz="1900" b="1">
                <a:solidFill>
                  <a:srgbClr val="003366"/>
                </a:solidFill>
                <a:latin typeface="Arial" panose="020B0604020202020204" pitchFamily="34" charset="0"/>
              </a:rPr>
              <a:t>Gross code · famiglia qLDPC</a:t>
            </a:r>
          </a:p>
          <a:p>
            <a:r>
              <a:rPr lang="en-US" sz="1100">
                <a:solidFill>
                  <a:srgbClr val="647487"/>
                </a:solidFill>
                <a:latin typeface="Arial" panose="020B0604020202020204" pitchFamily="34" charset="0"/>
              </a:rPr>
              <a:t>Quantum Low-Density Parity-Check</a:t>
            </a:r>
            <a:endParaRPr lang="en-GB" sz="1100" dirty="0">
              <a:solidFill>
                <a:srgbClr val="647487"/>
              </a:solidFill>
              <a:latin typeface="Arial" panose="020B0604020202020204" pitchFamily="34" charset="0"/>
            </a:endParaRPr>
          </a:p>
        </p:txBody>
      </p:sp>
      <p:sp>
        <p:nvSpPr>
          <p:cNvPr id="23" name="TextBox 22">
            <a:extLst>
              <a:ext uri="{FF2B5EF4-FFF2-40B4-BE49-F238E27FC236}">
                <a16:creationId xmlns:a16="http://schemas.microsoft.com/office/drawing/2014/main" id="{D67C5876-F2AC-D4AC-554A-2845DA338BE9}"/>
              </a:ext>
            </a:extLst>
          </p:cNvPr>
          <p:cNvSpPr txBox="1"/>
          <p:nvPr/>
        </p:nvSpPr>
        <p:spPr>
          <a:xfrm>
            <a:off x="6426200" y="2387600"/>
            <a:ext cx="4978400" cy="825500"/>
          </a:xfrm>
          <a:prstGeom prst="rect">
            <a:avLst/>
          </a:prstGeom>
          <a:noFill/>
        </p:spPr>
        <p:txBody>
          <a:bodyPr vert="horz" wrap="square" rtlCol="0">
            <a:noAutofit/>
          </a:bodyPr>
          <a:lstStyle/>
          <a:p>
            <a:pPr>
              <a:spcAft>
                <a:spcPts val="200"/>
              </a:spcAft>
            </a:pPr>
            <a:r>
              <a:rPr lang="it-IT" sz="1500">
                <a:solidFill>
                  <a:srgbClr val="203344"/>
                </a:solidFill>
                <a:latin typeface="Arial" panose="020B0604020202020204" pitchFamily="34" charset="0"/>
              </a:rPr>
              <a:t>Controlli sparsi proposti da IBM.</a:t>
            </a:r>
          </a:p>
          <a:p>
            <a:pPr>
              <a:spcAft>
                <a:spcPts val="200"/>
              </a:spcAft>
            </a:pPr>
            <a:r>
              <a:rPr lang="it-IT" sz="1500" b="1">
                <a:solidFill>
                  <a:srgbClr val="D9822B"/>
                </a:solidFill>
                <a:latin typeface="Arial" panose="020B0604020202020204" pitchFamily="34" charset="0"/>
              </a:rPr>
              <a:t>12 qubit logici in 144 qubit di dato.</a:t>
            </a:r>
          </a:p>
          <a:p>
            <a:pPr>
              <a:spcAft>
                <a:spcPts val="200"/>
              </a:spcAft>
            </a:pPr>
            <a:r>
              <a:rPr lang="it-IT" sz="1500">
                <a:solidFill>
                  <a:srgbClr val="203344"/>
                </a:solidFill>
                <a:latin typeface="Arial" panose="020B0604020202020204" pitchFamily="34" charset="0"/>
              </a:rPr>
              <a:t>Richiede collegamenti adatti al codice.</a:t>
            </a:r>
            <a:endParaRPr lang="en-GB" sz="1500" dirty="0">
              <a:solidFill>
                <a:srgbClr val="203344"/>
              </a:solidFill>
              <a:latin typeface="Arial" panose="020B0604020202020204" pitchFamily="34" charset="0"/>
            </a:endParaRPr>
          </a:p>
        </p:txBody>
      </p:sp>
      <p:sp>
        <p:nvSpPr>
          <p:cNvPr id="24" name="Rectangle: Rounded Corners 23">
            <a:extLst>
              <a:ext uri="{FF2B5EF4-FFF2-40B4-BE49-F238E27FC236}">
                <a16:creationId xmlns:a16="http://schemas.microsoft.com/office/drawing/2014/main" id="{8A433B95-FA57-CBF7-76F8-A6D5100B633C}"/>
              </a:ext>
            </a:extLst>
          </p:cNvPr>
          <p:cNvSpPr/>
          <p:nvPr/>
        </p:nvSpPr>
        <p:spPr>
          <a:xfrm>
            <a:off x="609600" y="3390900"/>
            <a:ext cx="5334000" cy="3098800"/>
          </a:xfrm>
          <a:prstGeom prst="roundRect">
            <a:avLst>
              <a:gd name="adj" fmla="val 6000"/>
            </a:avLst>
          </a:prstGeom>
          <a:solidFill>
            <a:srgbClr val="EEF4F8"/>
          </a:solidFill>
          <a:ln w="19050">
            <a:solidFill>
              <a:srgbClr val="125C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Box 24">
            <a:extLst>
              <a:ext uri="{FF2B5EF4-FFF2-40B4-BE49-F238E27FC236}">
                <a16:creationId xmlns:a16="http://schemas.microsoft.com/office/drawing/2014/main" id="{CE9970CF-B93F-E493-A038-3F9BE7D46CE6}"/>
              </a:ext>
            </a:extLst>
          </p:cNvPr>
          <p:cNvSpPr txBox="1"/>
          <p:nvPr/>
        </p:nvSpPr>
        <p:spPr>
          <a:xfrm>
            <a:off x="787400" y="3492500"/>
            <a:ext cx="4978400" cy="558800"/>
          </a:xfrm>
          <a:prstGeom prst="rect">
            <a:avLst/>
          </a:prstGeom>
          <a:noFill/>
        </p:spPr>
        <p:txBody>
          <a:bodyPr vert="horz" wrap="square" rtlCol="0" anchor="ctr">
            <a:noAutofit/>
          </a:bodyPr>
          <a:lstStyle/>
          <a:p>
            <a:r>
              <a:rPr lang="it-IT" sz="1600" b="1">
                <a:solidFill>
                  <a:srgbClr val="125C97"/>
                </a:solidFill>
                <a:latin typeface="Arial" panose="020B0604020202020204" pitchFamily="34" charset="0"/>
              </a:rPr>
              <a:t>Surface: soglia stimata 0,86%</a:t>
            </a:r>
          </a:p>
          <a:p>
            <a:r>
              <a:rPr lang="it-IT" sz="1600" b="1">
                <a:solidFill>
                  <a:srgbClr val="125C97"/>
                </a:solidFill>
                <a:latin typeface="Arial" panose="020B0604020202020204" pitchFamily="34" charset="0"/>
              </a:rPr>
              <a:t>nel modello studiato</a:t>
            </a:r>
            <a:endParaRPr lang="en-GB" sz="1600" dirty="0">
              <a:solidFill>
                <a:srgbClr val="125C97"/>
              </a:solidFill>
              <a:latin typeface="Arial" panose="020B0604020202020204" pitchFamily="34" charset="0"/>
            </a:endParaRPr>
          </a:p>
        </p:txBody>
      </p:sp>
      <p:sp>
        <p:nvSpPr>
          <p:cNvPr id="5" name="Rectangle: Rounded Corners 4">
            <a:extLst>
              <a:ext uri="{FF2B5EF4-FFF2-40B4-BE49-F238E27FC236}">
                <a16:creationId xmlns:a16="http://schemas.microsoft.com/office/drawing/2014/main" id="{C9FFB102-2761-A020-244C-62211174192D}"/>
              </a:ext>
            </a:extLst>
          </p:cNvPr>
          <p:cNvSpPr/>
          <p:nvPr/>
        </p:nvSpPr>
        <p:spPr>
          <a:xfrm>
            <a:off x="6248400" y="3390900"/>
            <a:ext cx="5334000" cy="3098800"/>
          </a:xfrm>
          <a:prstGeom prst="roundRect">
            <a:avLst>
              <a:gd name="adj" fmla="val 6000"/>
            </a:avLst>
          </a:prstGeom>
          <a:solidFill>
            <a:srgbClr val="EEF4F8"/>
          </a:solidFill>
          <a:ln w="19050">
            <a:solidFill>
              <a:srgbClr val="125C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Grafico 0" descr="Errore logico contro errore fisico per distanze 3-9: le curve si incrociano alla soglia">
            <a:extLst>
              <a:ext uri="{FF2B5EF4-FFF2-40B4-BE49-F238E27FC236}">
                <a16:creationId xmlns:a16="http://schemas.microsoft.com/office/drawing/2014/main" id="{59FEB2E4-A2B9-1576-5C9F-12194C0EC493}"/>
              </a:ext>
            </a:extLst>
          </p:cNvPr>
          <p:cNvPicPr>
            <a:picLocks noChangeAspect="1"/>
          </p:cNvPicPr>
          <p:nvPr/>
        </p:nvPicPr>
        <p:blipFill>
          <a:blip r:embed="rId4"/>
          <a:stretch>
            <a:fillRect/>
          </a:stretch>
        </p:blipFill>
        <p:spPr>
          <a:xfrm>
            <a:off x="1054100" y="4089400"/>
            <a:ext cx="3525408" cy="2222500"/>
          </a:xfrm>
          <a:prstGeom prst="rect">
            <a:avLst/>
          </a:prstGeom>
        </p:spPr>
      </p:pic>
      <p:sp>
        <p:nvSpPr>
          <p:cNvPr id="7" name="TextBox 6">
            <a:extLst>
              <a:ext uri="{FF2B5EF4-FFF2-40B4-BE49-F238E27FC236}">
                <a16:creationId xmlns:a16="http://schemas.microsoft.com/office/drawing/2014/main" id="{9BFDEB37-2C88-B574-0AFC-F313A984E2A0}"/>
              </a:ext>
            </a:extLst>
          </p:cNvPr>
          <p:cNvSpPr txBox="1"/>
          <p:nvPr/>
        </p:nvSpPr>
        <p:spPr>
          <a:xfrm>
            <a:off x="6426200" y="3492500"/>
            <a:ext cx="4978400" cy="369332"/>
          </a:xfrm>
          <a:prstGeom prst="rect">
            <a:avLst/>
          </a:prstGeom>
          <a:noFill/>
        </p:spPr>
        <p:txBody>
          <a:bodyPr vert="horz" rtlCol="0">
            <a:spAutoFit/>
          </a:bodyPr>
          <a:lstStyle/>
          <a:p>
            <a:r>
              <a:rPr lang="it-IT" b="1">
                <a:solidFill>
                  <a:srgbClr val="D9822B"/>
                </a:solidFill>
                <a:latin typeface="Arial" panose="020B0604020202020204" pitchFamily="34" charset="0"/>
              </a:rPr>
              <a:t>Qubit di dato per 12 qubit logici</a:t>
            </a:r>
            <a:endParaRPr lang="en-GB" b="1">
              <a:solidFill>
                <a:srgbClr val="D9822B"/>
              </a:solidFill>
              <a:latin typeface="Arial" panose="020B0604020202020204" pitchFamily="34" charset="0"/>
            </a:endParaRPr>
          </a:p>
        </p:txBody>
      </p:sp>
      <p:sp>
        <p:nvSpPr>
          <p:cNvPr id="8" name="Barra lab 0">
            <a:extLst>
              <a:ext uri="{FF2B5EF4-FFF2-40B4-BE49-F238E27FC236}">
                <a16:creationId xmlns:a16="http://schemas.microsoft.com/office/drawing/2014/main" id="{A716D8B3-74C7-3393-B76A-B45A439AF0DF}"/>
              </a:ext>
            </a:extLst>
          </p:cNvPr>
          <p:cNvSpPr/>
          <p:nvPr/>
        </p:nvSpPr>
        <p:spPr>
          <a:xfrm>
            <a:off x="6477000" y="4191000"/>
            <a:ext cx="2324100" cy="571500"/>
          </a:xfrm>
          <a:prstGeom prst="rect">
            <a:avLst/>
          </a:prstGeom>
          <a:noFill/>
          <a:ln>
            <a:noFill/>
          </a:ln>
        </p:spPr>
        <p:txBody>
          <a:bodyPr wrap="square" lIns="0" tIns="0" rIns="0" bIns="0" rtlCol="0" anchor="ctr">
            <a:noAutofit/>
          </a:bodyPr>
          <a:lstStyle/>
          <a:p>
            <a:pPr algn="l">
              <a:buNone/>
            </a:pPr>
            <a:r>
              <a:rPr lang="it-IT" sz="1300" b="1">
                <a:solidFill>
                  <a:srgbClr val="203344"/>
                </a:solidFill>
                <a:latin typeface="Arial" panose="020B0604020202020204" pitchFamily="34" charset="0"/>
                <a:cs typeface="Arial"/>
              </a:rPr>
              <a:t>Gross code</a:t>
            </a:r>
          </a:p>
          <a:p>
            <a:pPr algn="l">
              <a:buNone/>
            </a:pPr>
            <a:r>
              <a:rPr lang="it-IT" sz="1300" b="1">
                <a:solidFill>
                  <a:srgbClr val="203344"/>
                </a:solidFill>
                <a:latin typeface="Arial" panose="020B0604020202020204" pitchFamily="34" charset="0"/>
                <a:cs typeface="Arial"/>
              </a:rPr>
              <a:t>1 blocco × 144 qubit</a:t>
            </a:r>
            <a:endParaRPr lang="it-IT" sz="1300" dirty="0">
              <a:solidFill>
                <a:srgbClr val="203344"/>
              </a:solidFill>
              <a:latin typeface="Arial" panose="020B0604020202020204" pitchFamily="34" charset="0"/>
              <a:cs typeface="Arial"/>
            </a:endParaRPr>
          </a:p>
        </p:txBody>
      </p:sp>
      <p:sp>
        <p:nvSpPr>
          <p:cNvPr id="9" name="Barra 0">
            <a:extLst>
              <a:ext uri="{FF2B5EF4-FFF2-40B4-BE49-F238E27FC236}">
                <a16:creationId xmlns:a16="http://schemas.microsoft.com/office/drawing/2014/main" id="{AF636634-91BF-91A6-8973-71BDC2C0D604}"/>
              </a:ext>
            </a:extLst>
          </p:cNvPr>
          <p:cNvSpPr/>
          <p:nvPr/>
        </p:nvSpPr>
        <p:spPr>
          <a:xfrm>
            <a:off x="8851900" y="4241800"/>
            <a:ext cx="126238" cy="304800"/>
          </a:xfrm>
          <a:prstGeom prst="rect">
            <a:avLst/>
          </a:prstGeom>
          <a:solidFill>
            <a:srgbClr val="D9822B"/>
          </a:solidFill>
          <a:ln>
            <a:noFill/>
          </a:ln>
        </p:spPr>
        <p:txBody>
          <a:bodyPr wrap="square" lIns="91440" tIns="91440" rIns="91440" bIns="91440" rtlCol="0" anchor="ctr">
            <a:noAutofit/>
          </a:bodyPr>
          <a:lstStyle/>
          <a:p>
            <a:endParaRPr lang="it-IT"/>
          </a:p>
        </p:txBody>
      </p:sp>
      <p:sp>
        <p:nvSpPr>
          <p:cNvPr id="10" name="Barra val 0">
            <a:extLst>
              <a:ext uri="{FF2B5EF4-FFF2-40B4-BE49-F238E27FC236}">
                <a16:creationId xmlns:a16="http://schemas.microsoft.com/office/drawing/2014/main" id="{E7C20C53-12AB-D0D8-685B-119A322EC0BE}"/>
              </a:ext>
            </a:extLst>
          </p:cNvPr>
          <p:cNvSpPr/>
          <p:nvPr/>
        </p:nvSpPr>
        <p:spPr>
          <a:xfrm>
            <a:off x="9041638" y="4191000"/>
            <a:ext cx="838200" cy="400000"/>
          </a:xfrm>
          <a:prstGeom prst="rect">
            <a:avLst/>
          </a:prstGeom>
          <a:noFill/>
          <a:ln>
            <a:noFill/>
          </a:ln>
        </p:spPr>
        <p:txBody>
          <a:bodyPr wrap="square" lIns="0" tIns="0" rIns="0" bIns="0" rtlCol="0" anchor="ctr">
            <a:noAutofit/>
          </a:bodyPr>
          <a:lstStyle/>
          <a:p>
            <a:pPr algn="l">
              <a:buNone/>
            </a:pPr>
            <a:r>
              <a:rPr lang="it-IT" sz="1500" b="1">
                <a:solidFill>
                  <a:srgbClr val="D9822B"/>
                </a:solidFill>
                <a:latin typeface="Arial" panose="020B0604020202020204" pitchFamily="34" charset="0"/>
                <a:cs typeface="Arial"/>
              </a:rPr>
              <a:t>144</a:t>
            </a:r>
          </a:p>
        </p:txBody>
      </p:sp>
      <p:sp>
        <p:nvSpPr>
          <p:cNvPr id="11" name="Barra lab 1">
            <a:extLst>
              <a:ext uri="{FF2B5EF4-FFF2-40B4-BE49-F238E27FC236}">
                <a16:creationId xmlns:a16="http://schemas.microsoft.com/office/drawing/2014/main" id="{C4120B55-8B72-FCC9-8E8C-0523C65074B4}"/>
              </a:ext>
            </a:extLst>
          </p:cNvPr>
          <p:cNvSpPr/>
          <p:nvPr/>
        </p:nvSpPr>
        <p:spPr>
          <a:xfrm>
            <a:off x="6477000" y="4876800"/>
            <a:ext cx="2324100" cy="571500"/>
          </a:xfrm>
          <a:prstGeom prst="rect">
            <a:avLst/>
          </a:prstGeom>
          <a:noFill/>
          <a:ln>
            <a:noFill/>
          </a:ln>
        </p:spPr>
        <p:txBody>
          <a:bodyPr wrap="square" lIns="0" tIns="0" rIns="0" bIns="0" rtlCol="0" anchor="ctr">
            <a:noAutofit/>
          </a:bodyPr>
          <a:lstStyle/>
          <a:p>
            <a:pPr algn="l">
              <a:buNone/>
            </a:pPr>
            <a:r>
              <a:rPr lang="it-IT" sz="1300" dirty="0">
                <a:solidFill>
                  <a:srgbClr val="203344"/>
                </a:solidFill>
                <a:latin typeface="Arial" panose="020B0604020202020204" pitchFamily="34" charset="0"/>
                <a:cs typeface="Arial"/>
              </a:rPr>
              <a:t>Surface d = 11</a:t>
            </a:r>
          </a:p>
          <a:p>
            <a:pPr algn="l">
              <a:buNone/>
            </a:pPr>
            <a:r>
              <a:rPr lang="it-IT" sz="1300" dirty="0">
                <a:solidFill>
                  <a:srgbClr val="203344"/>
                </a:solidFill>
                <a:latin typeface="Arial" panose="020B0604020202020204" pitchFamily="34" charset="0"/>
                <a:cs typeface="Arial"/>
              </a:rPr>
              <a:t>12 blocchi × 121 qubit</a:t>
            </a:r>
          </a:p>
        </p:txBody>
      </p:sp>
      <p:sp>
        <p:nvSpPr>
          <p:cNvPr id="12" name="Barra 1">
            <a:extLst>
              <a:ext uri="{FF2B5EF4-FFF2-40B4-BE49-F238E27FC236}">
                <a16:creationId xmlns:a16="http://schemas.microsoft.com/office/drawing/2014/main" id="{A4D9C628-2520-9B90-9B79-5B236E652AA6}"/>
              </a:ext>
            </a:extLst>
          </p:cNvPr>
          <p:cNvSpPr/>
          <p:nvPr/>
        </p:nvSpPr>
        <p:spPr>
          <a:xfrm>
            <a:off x="8851900" y="4927600"/>
            <a:ext cx="1273048" cy="304800"/>
          </a:xfrm>
          <a:prstGeom prst="rect">
            <a:avLst/>
          </a:prstGeom>
          <a:solidFill>
            <a:srgbClr val="B8C7D9"/>
          </a:solidFill>
          <a:ln>
            <a:noFill/>
          </a:ln>
        </p:spPr>
        <p:txBody>
          <a:bodyPr wrap="square" lIns="91440" tIns="91440" rIns="91440" bIns="91440" rtlCol="0" anchor="ctr">
            <a:noAutofit/>
          </a:bodyPr>
          <a:lstStyle/>
          <a:p>
            <a:endParaRPr lang="it-IT"/>
          </a:p>
        </p:txBody>
      </p:sp>
      <p:sp>
        <p:nvSpPr>
          <p:cNvPr id="13" name="Barra val 1">
            <a:extLst>
              <a:ext uri="{FF2B5EF4-FFF2-40B4-BE49-F238E27FC236}">
                <a16:creationId xmlns:a16="http://schemas.microsoft.com/office/drawing/2014/main" id="{6B37CBD6-144F-56BC-6EC2-C02646AFA4D6}"/>
              </a:ext>
            </a:extLst>
          </p:cNvPr>
          <p:cNvSpPr/>
          <p:nvPr/>
        </p:nvSpPr>
        <p:spPr>
          <a:xfrm>
            <a:off x="10188448" y="4876800"/>
            <a:ext cx="838200" cy="400000"/>
          </a:xfrm>
          <a:prstGeom prst="rect">
            <a:avLst/>
          </a:prstGeom>
          <a:noFill/>
          <a:ln>
            <a:noFill/>
          </a:ln>
        </p:spPr>
        <p:txBody>
          <a:bodyPr wrap="square" lIns="0" tIns="0" rIns="0" bIns="0" rtlCol="0" anchor="ctr">
            <a:noAutofit/>
          </a:bodyPr>
          <a:lstStyle/>
          <a:p>
            <a:pPr algn="l">
              <a:buNone/>
            </a:pPr>
            <a:r>
              <a:rPr lang="it-IT" sz="1500" b="1">
                <a:solidFill>
                  <a:srgbClr val="203344"/>
                </a:solidFill>
                <a:latin typeface="Arial" panose="020B0604020202020204" pitchFamily="34" charset="0"/>
                <a:cs typeface="Arial"/>
              </a:rPr>
              <a:t>1 452</a:t>
            </a:r>
          </a:p>
        </p:txBody>
      </p:sp>
      <p:sp>
        <p:nvSpPr>
          <p:cNvPr id="14" name="Barra lab 2">
            <a:extLst>
              <a:ext uri="{FF2B5EF4-FFF2-40B4-BE49-F238E27FC236}">
                <a16:creationId xmlns:a16="http://schemas.microsoft.com/office/drawing/2014/main" id="{D4F77CA7-4B9F-FE5D-B74E-DCE1F95749A5}"/>
              </a:ext>
            </a:extLst>
          </p:cNvPr>
          <p:cNvSpPr/>
          <p:nvPr/>
        </p:nvSpPr>
        <p:spPr>
          <a:xfrm>
            <a:off x="6477000" y="5562600"/>
            <a:ext cx="2324100" cy="571500"/>
          </a:xfrm>
          <a:prstGeom prst="rect">
            <a:avLst/>
          </a:prstGeom>
          <a:noFill/>
          <a:ln>
            <a:noFill/>
          </a:ln>
        </p:spPr>
        <p:txBody>
          <a:bodyPr wrap="square" lIns="0" tIns="0" rIns="0" bIns="0" rtlCol="0" anchor="ctr">
            <a:noAutofit/>
          </a:bodyPr>
          <a:lstStyle/>
          <a:p>
            <a:pPr algn="l">
              <a:buNone/>
            </a:pPr>
            <a:r>
              <a:rPr lang="it-IT" sz="1300">
                <a:solidFill>
                  <a:srgbClr val="203344"/>
                </a:solidFill>
                <a:latin typeface="Arial" panose="020B0604020202020204" pitchFamily="34" charset="0"/>
                <a:cs typeface="Arial"/>
              </a:rPr>
              <a:t>Surface d = 13</a:t>
            </a:r>
          </a:p>
          <a:p>
            <a:pPr algn="l">
              <a:buNone/>
            </a:pPr>
            <a:r>
              <a:rPr lang="it-IT" sz="1300">
                <a:solidFill>
                  <a:srgbClr val="203344"/>
                </a:solidFill>
                <a:latin typeface="Arial" panose="020B0604020202020204" pitchFamily="34" charset="0"/>
                <a:cs typeface="Arial"/>
              </a:rPr>
              <a:t>12 blocchi × 169 qubit</a:t>
            </a:r>
            <a:endParaRPr lang="it-IT" sz="1300" dirty="0">
              <a:solidFill>
                <a:srgbClr val="203344"/>
              </a:solidFill>
              <a:latin typeface="Arial" panose="020B0604020202020204" pitchFamily="34" charset="0"/>
              <a:cs typeface="Arial"/>
            </a:endParaRPr>
          </a:p>
        </p:txBody>
      </p:sp>
      <p:sp>
        <p:nvSpPr>
          <p:cNvPr id="15" name="Barra 2">
            <a:extLst>
              <a:ext uri="{FF2B5EF4-FFF2-40B4-BE49-F238E27FC236}">
                <a16:creationId xmlns:a16="http://schemas.microsoft.com/office/drawing/2014/main" id="{69A5F915-821D-917E-38C9-7087CF92D640}"/>
              </a:ext>
            </a:extLst>
          </p:cNvPr>
          <p:cNvSpPr/>
          <p:nvPr/>
        </p:nvSpPr>
        <p:spPr>
          <a:xfrm>
            <a:off x="8851900" y="5613400"/>
            <a:ext cx="1778000" cy="304800"/>
          </a:xfrm>
          <a:prstGeom prst="rect">
            <a:avLst/>
          </a:prstGeom>
          <a:solidFill>
            <a:srgbClr val="B8C7D9"/>
          </a:solidFill>
          <a:ln>
            <a:noFill/>
          </a:ln>
        </p:spPr>
        <p:txBody>
          <a:bodyPr wrap="square" lIns="91440" tIns="91440" rIns="91440" bIns="91440" rtlCol="0" anchor="ctr">
            <a:noAutofit/>
          </a:bodyPr>
          <a:lstStyle/>
          <a:p>
            <a:endParaRPr lang="it-IT"/>
          </a:p>
        </p:txBody>
      </p:sp>
      <p:sp>
        <p:nvSpPr>
          <p:cNvPr id="26" name="Barra val 2">
            <a:extLst>
              <a:ext uri="{FF2B5EF4-FFF2-40B4-BE49-F238E27FC236}">
                <a16:creationId xmlns:a16="http://schemas.microsoft.com/office/drawing/2014/main" id="{4B022515-E956-6700-4DC0-03398A992C9A}"/>
              </a:ext>
            </a:extLst>
          </p:cNvPr>
          <p:cNvSpPr/>
          <p:nvPr/>
        </p:nvSpPr>
        <p:spPr>
          <a:xfrm>
            <a:off x="10693400" y="5562600"/>
            <a:ext cx="838200" cy="400000"/>
          </a:xfrm>
          <a:prstGeom prst="rect">
            <a:avLst/>
          </a:prstGeom>
          <a:noFill/>
          <a:ln>
            <a:noFill/>
          </a:ln>
        </p:spPr>
        <p:txBody>
          <a:bodyPr wrap="square" lIns="0" tIns="0" rIns="0" bIns="0" rtlCol="0" anchor="ctr">
            <a:noAutofit/>
          </a:bodyPr>
          <a:lstStyle/>
          <a:p>
            <a:pPr algn="l">
              <a:buNone/>
            </a:pPr>
            <a:r>
              <a:rPr lang="it-IT" sz="1500" b="1">
                <a:solidFill>
                  <a:srgbClr val="203344"/>
                </a:solidFill>
                <a:latin typeface="Arial" panose="020B0604020202020204" pitchFamily="34" charset="0"/>
                <a:cs typeface="Arial"/>
              </a:rPr>
              <a:t>2 028</a:t>
            </a:r>
          </a:p>
        </p:txBody>
      </p:sp>
      <p:sp>
        <p:nvSpPr>
          <p:cNvPr id="27" name="TextBox 26">
            <a:extLst>
              <a:ext uri="{FF2B5EF4-FFF2-40B4-BE49-F238E27FC236}">
                <a16:creationId xmlns:a16="http://schemas.microsoft.com/office/drawing/2014/main" id="{B282AA85-E5F4-79C5-2A1D-8935B4013C7C}"/>
              </a:ext>
            </a:extLst>
          </p:cNvPr>
          <p:cNvSpPr txBox="1"/>
          <p:nvPr/>
        </p:nvSpPr>
        <p:spPr>
          <a:xfrm>
            <a:off x="609600" y="6540500"/>
            <a:ext cx="10972800" cy="261610"/>
          </a:xfrm>
          <a:prstGeom prst="rect">
            <a:avLst/>
          </a:prstGeom>
          <a:noFill/>
        </p:spPr>
        <p:txBody>
          <a:bodyPr vert="horz" rtlCol="0">
            <a:spAutoFit/>
          </a:bodyPr>
          <a:lstStyle/>
          <a:p>
            <a:pPr algn="ctr"/>
            <a:r>
              <a:rPr lang="it-IT" sz="1100">
                <a:solidFill>
                  <a:srgbClr val="647487"/>
                </a:solidFill>
                <a:latin typeface="Arial" panose="020B0604020202020204" pitchFamily="34" charset="0"/>
              </a:rPr>
              <a:t>Risorse: solo qubit di dato, senza ancilla, con sindromi ideali.</a:t>
            </a:r>
            <a:endParaRPr lang="en-GB" sz="1100">
              <a:solidFill>
                <a:srgbClr val="647487"/>
              </a:solidFill>
              <a:latin typeface="Arial" panose="020B0604020202020204" pitchFamily="34" charset="0"/>
            </a:endParaRPr>
          </a:p>
        </p:txBody>
      </p:sp>
    </p:spTree>
    <p:extLst>
      <p:ext uri="{BB962C8B-B14F-4D97-AF65-F5344CB8AC3E}">
        <p14:creationId xmlns:p14="http://schemas.microsoft.com/office/powerpoint/2010/main" val="2173254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9"/>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9"/>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9"/>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9"/>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9"/>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9"/>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9"/>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9"/>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9"/>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9"/>
                                          </p:stCondLst>
                                        </p:cTn>
                                        <p:tgtEl>
                                          <p:spTgt spid="2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9"/>
                                          </p:stCondLst>
                                        </p:cTn>
                                        <p:tgtEl>
                                          <p:spTgt spid="1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9"/>
                                          </p:stCondLst>
                                        </p:cTn>
                                        <p:tgtEl>
                                          <p:spTgt spid="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9"/>
                                          </p:stCondLst>
                                        </p:cTn>
                                        <p:tgtEl>
                                          <p:spTgt spid="2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9"/>
                                          </p:stCondLst>
                                        </p:cTn>
                                        <p:tgtEl>
                                          <p:spTgt spid="1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9"/>
                                          </p:stCondLst>
                                        </p:cTn>
                                        <p:tgtEl>
                                          <p:spTgt spid="2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9"/>
                                          </p:stCondLst>
                                        </p:cTn>
                                        <p:tgtEl>
                                          <p:spTgt spid="2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9"/>
                                          </p:stCondLst>
                                        </p:cTn>
                                        <p:tgtEl>
                                          <p:spTgt spid="2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9"/>
                                          </p:stCondLst>
                                        </p:cTn>
                                        <p:tgtEl>
                                          <p:spTgt spid="25"/>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9"/>
                                          </p:stCondLst>
                                        </p:cTn>
                                        <p:tgtEl>
                                          <p:spTgt spid="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9"/>
                                          </p:stCondLst>
                                        </p:cTn>
                                        <p:tgtEl>
                                          <p:spTgt spid="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9"/>
                                          </p:stCondLst>
                                        </p:cTn>
                                        <p:tgtEl>
                                          <p:spTgt spid="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1" nodeType="clickEffect">
                                  <p:stCondLst>
                                    <p:cond delay="0"/>
                                  </p:stCondLst>
                                  <p:childTnLst>
                                    <p:set>
                                      <p:cBhvr>
                                        <p:cTn id="58" dur="1" fill="hold">
                                          <p:stCondLst>
                                            <p:cond delay="9"/>
                                          </p:stCondLst>
                                        </p:cTn>
                                        <p:tgtEl>
                                          <p:spTgt spid="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1" nodeType="clickEffect">
                                  <p:stCondLst>
                                    <p:cond delay="0"/>
                                  </p:stCondLst>
                                  <p:childTnLst>
                                    <p:set>
                                      <p:cBhvr>
                                        <p:cTn id="62" dur="1" fill="hold">
                                          <p:stCondLst>
                                            <p:cond delay="9"/>
                                          </p:stCondLst>
                                        </p:cTn>
                                        <p:tgtEl>
                                          <p:spTgt spid="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1" nodeType="clickEffect">
                                  <p:stCondLst>
                                    <p:cond delay="0"/>
                                  </p:stCondLst>
                                  <p:childTnLst>
                                    <p:set>
                                      <p:cBhvr>
                                        <p:cTn id="66" dur="1" fill="hold">
                                          <p:stCondLst>
                                            <p:cond delay="9"/>
                                          </p:stCondLst>
                                        </p:cTn>
                                        <p:tgtEl>
                                          <p:spTgt spid="1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1" nodeType="clickEffect">
                                  <p:stCondLst>
                                    <p:cond delay="0"/>
                                  </p:stCondLst>
                                  <p:childTnLst>
                                    <p:set>
                                      <p:cBhvr>
                                        <p:cTn id="70" dur="1" fill="hold">
                                          <p:stCondLst>
                                            <p:cond delay="9"/>
                                          </p:stCondLst>
                                        </p:cTn>
                                        <p:tgtEl>
                                          <p:spTgt spid="11"/>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1" nodeType="clickEffect">
                                  <p:stCondLst>
                                    <p:cond delay="0"/>
                                  </p:stCondLst>
                                  <p:childTnLst>
                                    <p:set>
                                      <p:cBhvr>
                                        <p:cTn id="74" dur="1" fill="hold">
                                          <p:stCondLst>
                                            <p:cond delay="9"/>
                                          </p:stCondLst>
                                        </p:cTn>
                                        <p:tgtEl>
                                          <p:spTgt spid="1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1" nodeType="clickEffect">
                                  <p:stCondLst>
                                    <p:cond delay="0"/>
                                  </p:stCondLst>
                                  <p:childTnLst>
                                    <p:set>
                                      <p:cBhvr>
                                        <p:cTn id="78" dur="1" fill="hold">
                                          <p:stCondLst>
                                            <p:cond delay="9"/>
                                          </p:stCondLst>
                                        </p:cTn>
                                        <p:tgtEl>
                                          <p:spTgt spid="13"/>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1" nodeType="clickEffect">
                                  <p:stCondLst>
                                    <p:cond delay="0"/>
                                  </p:stCondLst>
                                  <p:childTnLst>
                                    <p:set>
                                      <p:cBhvr>
                                        <p:cTn id="82" dur="1" fill="hold">
                                          <p:stCondLst>
                                            <p:cond delay="9"/>
                                          </p:stCondLst>
                                        </p:cTn>
                                        <p:tgtEl>
                                          <p:spTgt spid="14"/>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1" nodeType="clickEffect">
                                  <p:stCondLst>
                                    <p:cond delay="0"/>
                                  </p:stCondLst>
                                  <p:childTnLst>
                                    <p:set>
                                      <p:cBhvr>
                                        <p:cTn id="86" dur="1" fill="hold">
                                          <p:stCondLst>
                                            <p:cond delay="9"/>
                                          </p:stCondLst>
                                        </p:cTn>
                                        <p:tgtEl>
                                          <p:spTgt spid="15"/>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1" nodeType="clickEffect">
                                  <p:stCondLst>
                                    <p:cond delay="0"/>
                                  </p:stCondLst>
                                  <p:childTnLst>
                                    <p:set>
                                      <p:cBhvr>
                                        <p:cTn id="90" dur="1" fill="hold">
                                          <p:stCondLst>
                                            <p:cond delay="9"/>
                                          </p:stCondLst>
                                        </p:cTn>
                                        <p:tgtEl>
                                          <p:spTgt spid="26"/>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9"/>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p:bldP spid="21" grpId="0"/>
      <p:bldP spid="22" grpId="0"/>
      <p:bldP spid="23" grpId="0"/>
      <p:bldP spid="24" grpId="0" animBg="1"/>
      <p:bldP spid="25" grpId="0"/>
      <p:bldP spid="5" grpId="0" animBg="1"/>
      <p:bldP spid="7" grpId="0"/>
      <p:bldP spid="8" grpId="0"/>
      <p:bldP spid="8" grpId="1"/>
      <p:bldP spid="9" grpId="0" animBg="1"/>
      <p:bldP spid="9" grpId="1" animBg="1"/>
      <p:bldP spid="10" grpId="0"/>
      <p:bldP spid="10" grpId="1"/>
      <p:bldP spid="11" grpId="0"/>
      <p:bldP spid="11" grpId="1"/>
      <p:bldP spid="12" grpId="0" animBg="1"/>
      <p:bldP spid="12" grpId="1" animBg="1"/>
      <p:bldP spid="13" grpId="0"/>
      <p:bldP spid="13" grpId="1"/>
      <p:bldP spid="14" grpId="0"/>
      <p:bldP spid="14" grpId="1"/>
      <p:bldP spid="15" grpId="0" animBg="1"/>
      <p:bldP spid="15" grpId="1" animBg="1"/>
      <p:bldP spid="26" grpId="0"/>
      <p:bldP spid="26" grpId="1"/>
      <p:bldP spid="2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descr="v2_s18_aqft_n15_holdout.png"/>
          <p:cNvPicPr>
            <a:picLocks noChangeAspect="1"/>
          </p:cNvPicPr>
          <p:nvPr/>
        </p:nvPicPr>
        <p:blipFill>
          <a:blip r:embed="rId3"/>
          <a:stretch>
            <a:fillRect/>
          </a:stretch>
        </p:blipFill>
        <p:spPr>
          <a:xfrm>
            <a:off x="5740400" y="2730499"/>
            <a:ext cx="5842474" cy="3681730"/>
          </a:xfrm>
          <a:prstGeom prst="rect">
            <a:avLst/>
          </a:prstGeom>
        </p:spPr>
      </p:pic>
      <p:sp>
        <p:nvSpPr>
          <p:cNvPr id="11" name="Rectangle 10">
            <a:extLst>
              <a:ext uri="{FF2B5EF4-FFF2-40B4-BE49-F238E27FC236}">
                <a16:creationId xmlns:a16="http://schemas.microsoft.com/office/drawing/2014/main" id="{8A715D2C-BFF8-4F44-9B9C-E1B9D835B317}"/>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Strategia 3: QFT approssimata e risultati</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4"/>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EA2291F3-B2FD-49F3-B6D2-121D3BDBF3CD}"/>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42F908A8-B2EF-405D-A77D-5756ADD4C77A}"/>
              </a:ext>
            </a:extLst>
          </p:cNvPr>
          <p:cNvSpPr>
            <a:spLocks noGrp="1"/>
          </p:cNvSpPr>
          <p:nvPr/>
        </p:nvSpPr>
        <p:spPr>
          <a:xfrm>
            <a:off x="7477125" y="828675"/>
            <a:ext cx="3228975" cy="219075"/>
          </a:xfrm>
          <a:prstGeom prst="rect">
            <a:avLst/>
          </a:prstGeom>
          <a:noFill/>
          <a:ln w="0">
            <a:noFill/>
          </a:ln>
        </p:spPr>
        <p:txBody>
          <a:bodyPr rIns="0" anchor="ctr">
            <a:noAutofit/>
          </a:bodyPr>
          <a:lstStyle/>
          <a:p>
            <a:pPr algn="r">
              <a:defRPr sz="1200" b="0">
                <a:solidFill>
                  <a:srgbClr val="203344"/>
                </a:solidFill>
                <a:latin typeface="Arial"/>
                <a:ea typeface="Arial"/>
                <a:cs typeface="Arial"/>
              </a:defRPr>
            </a:pPr>
            <a:r>
              <a:rPr lang="it-IT" sz="1050" b="0">
                <a:solidFill>
                  <a:srgbClr val="203344"/>
                </a:solidFill>
                <a:latin typeface="Arial"/>
                <a:ea typeface="Arial"/>
                <a:cs typeface="Arial"/>
              </a:rPr>
              <a:t>Strategia 3 · QFT approssimata | 10</a:t>
            </a:r>
            <a:endParaRPr sz="1050" b="0">
              <a:solidFill>
                <a:srgbClr val="203344"/>
              </a:solidFill>
              <a:latin typeface="Arial"/>
              <a:ea typeface="Arial"/>
              <a:cs typeface="Arial"/>
            </a:endParaRPr>
          </a:p>
        </p:txBody>
      </p:sp>
      <p:sp>
        <p:nvSpPr>
          <p:cNvPr id="2" name="TextBox 1">
            <a:extLst>
              <a:ext uri="{FF2B5EF4-FFF2-40B4-BE49-F238E27FC236}">
                <a16:creationId xmlns:a16="http://schemas.microsoft.com/office/drawing/2014/main" id="{94ABD03E-3EFB-95D9-121E-1C5DB7053792}"/>
              </a:ext>
            </a:extLst>
          </p:cNvPr>
          <p:cNvSpPr txBox="1"/>
          <p:nvPr/>
        </p:nvSpPr>
        <p:spPr>
          <a:xfrm>
            <a:off x="609600" y="1498599"/>
            <a:ext cx="4064000" cy="381000"/>
          </a:xfrm>
          <a:prstGeom prst="rect">
            <a:avLst/>
          </a:prstGeom>
          <a:noFill/>
        </p:spPr>
        <p:txBody>
          <a:bodyPr vert="horz" wrap="square" lIns="0" tIns="0" rIns="0" bIns="0" rtlCol="0">
            <a:noAutofit/>
          </a:bodyPr>
          <a:lstStyle/>
          <a:p>
            <a:r>
              <a:rPr lang="en-GB" sz="2200" b="1">
                <a:solidFill>
                  <a:srgbClr val="003366"/>
                </a:solidFill>
                <a:latin typeface="Arial" panose="020B0604020202020204" pitchFamily="34" charset="0"/>
              </a:rPr>
              <a:t>Intervento</a:t>
            </a:r>
          </a:p>
        </p:txBody>
      </p:sp>
      <p:sp>
        <p:nvSpPr>
          <p:cNvPr id="5" name="TextBox 4">
            <a:extLst>
              <a:ext uri="{FF2B5EF4-FFF2-40B4-BE49-F238E27FC236}">
                <a16:creationId xmlns:a16="http://schemas.microsoft.com/office/drawing/2014/main" id="{0990A77E-E589-39E0-206D-07FB075AC84E}"/>
              </a:ext>
            </a:extLst>
          </p:cNvPr>
          <p:cNvSpPr txBox="1"/>
          <p:nvPr/>
        </p:nvSpPr>
        <p:spPr>
          <a:xfrm>
            <a:off x="609600" y="1993899"/>
            <a:ext cx="4064000" cy="800100"/>
          </a:xfrm>
          <a:prstGeom prst="rect">
            <a:avLst/>
          </a:prstGeom>
          <a:noFill/>
        </p:spPr>
        <p:txBody>
          <a:bodyPr vert="horz" wrap="square" lIns="0" tIns="0" rIns="0" bIns="0" rtlCol="0">
            <a:noAutofit/>
          </a:bodyPr>
          <a:lstStyle/>
          <a:p>
            <a:r>
              <a:rPr lang="it-IT" sz="1900">
                <a:solidFill>
                  <a:srgbClr val="203344"/>
                </a:solidFill>
                <a:latin typeface="Arial" panose="020B0604020202020204" pitchFamily="34" charset="0"/>
              </a:rPr>
              <a:t>Elimino le rotazioni di piccolo angolo: meno porte, minore precisione.</a:t>
            </a:r>
            <a:endParaRPr lang="en-GB" sz="1900">
              <a:solidFill>
                <a:srgbClr val="203344"/>
              </a:solidFill>
              <a:latin typeface="Arial" panose="020B0604020202020204" pitchFamily="34" charset="0"/>
            </a:endParaRPr>
          </a:p>
        </p:txBody>
      </p:sp>
      <p:sp>
        <p:nvSpPr>
          <p:cNvPr id="8" name="TextBox 7">
            <a:extLst>
              <a:ext uri="{FF2B5EF4-FFF2-40B4-BE49-F238E27FC236}">
                <a16:creationId xmlns:a16="http://schemas.microsoft.com/office/drawing/2014/main" id="{7229CAC4-8A94-36E1-8843-75BEDF51123D}"/>
              </a:ext>
            </a:extLst>
          </p:cNvPr>
          <p:cNvSpPr txBox="1"/>
          <p:nvPr/>
        </p:nvSpPr>
        <p:spPr>
          <a:xfrm>
            <a:off x="609600" y="2997199"/>
            <a:ext cx="4064000" cy="368300"/>
          </a:xfrm>
          <a:prstGeom prst="rect">
            <a:avLst/>
          </a:prstGeom>
          <a:noFill/>
        </p:spPr>
        <p:txBody>
          <a:bodyPr vert="horz" wrap="square" lIns="0" tIns="0" rIns="0" bIns="0" rtlCol="0">
            <a:noAutofit/>
          </a:bodyPr>
          <a:lstStyle/>
          <a:p>
            <a:r>
              <a:rPr lang="en-GB" sz="2200" b="1">
                <a:solidFill>
                  <a:srgbClr val="003366"/>
                </a:solidFill>
                <a:latin typeface="Arial" panose="020B0604020202020204" pitchFamily="34" charset="0"/>
              </a:rPr>
              <a:t>Principio</a:t>
            </a:r>
          </a:p>
        </p:txBody>
      </p:sp>
      <p:sp>
        <p:nvSpPr>
          <p:cNvPr id="9" name="TextBox 8">
            <a:extLst>
              <a:ext uri="{FF2B5EF4-FFF2-40B4-BE49-F238E27FC236}">
                <a16:creationId xmlns:a16="http://schemas.microsoft.com/office/drawing/2014/main" id="{1F2E6282-46A1-3E87-6DD6-11769999615A}"/>
              </a:ext>
            </a:extLst>
          </p:cNvPr>
          <p:cNvSpPr txBox="1"/>
          <p:nvPr/>
        </p:nvSpPr>
        <p:spPr>
          <a:xfrm>
            <a:off x="609600" y="3479799"/>
            <a:ext cx="4064000" cy="749300"/>
          </a:xfrm>
          <a:prstGeom prst="rect">
            <a:avLst/>
          </a:prstGeom>
          <a:noFill/>
        </p:spPr>
        <p:txBody>
          <a:bodyPr vert="horz" wrap="square" lIns="0" tIns="0" rIns="0" bIns="0" rtlCol="0">
            <a:noAutofit/>
          </a:bodyPr>
          <a:lstStyle/>
          <a:p>
            <a:r>
              <a:rPr lang="it-IT">
                <a:solidFill>
                  <a:srgbClr val="203344"/>
                </a:solidFill>
                <a:latin typeface="Arial" panose="020B0604020202020204" pitchFamily="34" charset="0"/>
              </a:rPr>
              <a:t>Una stima di fase sufficientemente precisa permette di ricostruire il periodo.</a:t>
            </a:r>
            <a:endParaRPr lang="en-GB">
              <a:solidFill>
                <a:srgbClr val="203344"/>
              </a:solidFill>
              <a:latin typeface="Arial" panose="020B0604020202020204" pitchFamily="34" charset="0"/>
            </a:endParaRPr>
          </a:p>
        </p:txBody>
      </p:sp>
      <p:sp>
        <p:nvSpPr>
          <p:cNvPr id="14" name="TextBox 13">
            <a:extLst>
              <a:ext uri="{FF2B5EF4-FFF2-40B4-BE49-F238E27FC236}">
                <a16:creationId xmlns:a16="http://schemas.microsoft.com/office/drawing/2014/main" id="{1020496D-25A4-DF40-4177-FDE6DFFA68ED}"/>
              </a:ext>
            </a:extLst>
          </p:cNvPr>
          <p:cNvSpPr txBox="1"/>
          <p:nvPr/>
        </p:nvSpPr>
        <p:spPr>
          <a:xfrm>
            <a:off x="5740400" y="1497012"/>
            <a:ext cx="6248400" cy="508000"/>
          </a:xfrm>
          <a:prstGeom prst="rect">
            <a:avLst/>
          </a:prstGeom>
          <a:noFill/>
        </p:spPr>
        <p:txBody>
          <a:bodyPr vert="horz" wrap="square" lIns="0" tIns="0" rIns="0" bIns="0" rtlCol="0">
            <a:noAutofit/>
          </a:bodyPr>
          <a:lstStyle/>
          <a:p>
            <a:r>
              <a:rPr lang="en-GB" sz="3200" b="1">
                <a:solidFill>
                  <a:srgbClr val="D9822B"/>
                </a:solidFill>
                <a:latin typeface="Arial" panose="020B0604020202020204" pitchFamily="34" charset="0"/>
              </a:rPr>
              <a:t>+14,87 </a:t>
            </a:r>
            <a:r>
              <a:rPr lang="en-GB" sz="3200" b="1" err="1">
                <a:solidFill>
                  <a:srgbClr val="D9822B"/>
                </a:solidFill>
                <a:latin typeface="Arial" panose="020B0604020202020204" pitchFamily="34" charset="0"/>
              </a:rPr>
              <a:t>punti</a:t>
            </a:r>
            <a:r>
              <a:rPr lang="en-GB" sz="3200" b="1">
                <a:solidFill>
                  <a:srgbClr val="D9822B"/>
                </a:solidFill>
                <a:latin typeface="Arial" panose="020B0604020202020204" pitchFamily="34" charset="0"/>
              </a:rPr>
              <a:t> </a:t>
            </a:r>
            <a:r>
              <a:rPr lang="en-GB" sz="3200" b="1" err="1">
                <a:solidFill>
                  <a:srgbClr val="D9822B"/>
                </a:solidFill>
                <a:latin typeface="Arial" panose="020B0604020202020204" pitchFamily="34" charset="0"/>
              </a:rPr>
              <a:t>percentuali</a:t>
            </a:r>
            <a:endParaRPr lang="en-GB" sz="3200" b="1">
              <a:solidFill>
                <a:srgbClr val="D9822B"/>
              </a:solidFill>
              <a:latin typeface="Arial" panose="020B0604020202020204" pitchFamily="34" charset="0"/>
            </a:endParaRPr>
          </a:p>
        </p:txBody>
      </p:sp>
      <p:sp>
        <p:nvSpPr>
          <p:cNvPr id="15" name="TextBox 14">
            <a:extLst>
              <a:ext uri="{FF2B5EF4-FFF2-40B4-BE49-F238E27FC236}">
                <a16:creationId xmlns:a16="http://schemas.microsoft.com/office/drawing/2014/main" id="{75AD3F83-CB5F-F11B-F3D0-009EC1E1B9ED}"/>
              </a:ext>
            </a:extLst>
          </p:cNvPr>
          <p:cNvSpPr txBox="1"/>
          <p:nvPr/>
        </p:nvSpPr>
        <p:spPr>
          <a:xfrm>
            <a:off x="5740400" y="2055812"/>
            <a:ext cx="6248400" cy="342900"/>
          </a:xfrm>
          <a:prstGeom prst="rect">
            <a:avLst/>
          </a:prstGeom>
          <a:noFill/>
        </p:spPr>
        <p:txBody>
          <a:bodyPr vert="horz" wrap="square" lIns="0" tIns="0" rIns="0" bIns="0" rtlCol="0">
            <a:noAutofit/>
          </a:bodyPr>
          <a:lstStyle/>
          <a:p>
            <a:r>
              <a:rPr lang="it-IT">
                <a:solidFill>
                  <a:srgbClr val="203344"/>
                </a:solidFill>
                <a:latin typeface="Arial" panose="020B0604020202020204" pitchFamily="34" charset="0"/>
              </a:rPr>
              <a:t>di successo su N = 15, nei dati di verifica</a:t>
            </a:r>
            <a:endParaRPr lang="en-GB">
              <a:solidFill>
                <a:srgbClr val="203344"/>
              </a:solidFill>
              <a:latin typeface="Arial" panose="020B0604020202020204" pitchFamily="34" charset="0"/>
            </a:endParaRPr>
          </a:p>
        </p:txBody>
      </p:sp>
      <p:graphicFrame>
        <p:nvGraphicFramePr>
          <p:cNvPr id="17" name="Table 16">
            <a:extLst>
              <a:ext uri="{FF2B5EF4-FFF2-40B4-BE49-F238E27FC236}">
                <a16:creationId xmlns:a16="http://schemas.microsoft.com/office/drawing/2014/main" id="{A2570973-48F4-9D12-7257-E552E77531E8}"/>
              </a:ext>
            </a:extLst>
          </p:cNvPr>
          <p:cNvGraphicFramePr>
            <a:graphicFrameLocks noGrp="1"/>
          </p:cNvGraphicFramePr>
          <p:nvPr>
            <p:extLst>
              <p:ext uri="{D42A27DB-BD31-4B8C-83A1-F6EECF244321}">
                <p14:modId xmlns:p14="http://schemas.microsoft.com/office/powerpoint/2010/main" val="1868328773"/>
              </p:ext>
            </p:extLst>
          </p:nvPr>
        </p:nvGraphicFramePr>
        <p:xfrm>
          <a:off x="609126" y="4343399"/>
          <a:ext cx="4384406" cy="1396756"/>
        </p:xfrm>
        <a:graphic>
          <a:graphicData uri="http://schemas.openxmlformats.org/drawingml/2006/table">
            <a:tbl>
              <a:tblPr firstRow="1" bandRow="1">
                <a:tableStyleId>{5C22544A-7EE6-4342-B048-85BDC9FD1C3A}</a:tableStyleId>
              </a:tblPr>
              <a:tblGrid>
                <a:gridCol w="1972983">
                  <a:extLst>
                    <a:ext uri="{9D8B030D-6E8A-4147-A177-3AD203B41FA5}">
                      <a16:colId xmlns:a16="http://schemas.microsoft.com/office/drawing/2014/main" val="2314292560"/>
                    </a:ext>
                  </a:extLst>
                </a:gridCol>
                <a:gridCol w="1034766">
                  <a:extLst>
                    <a:ext uri="{9D8B030D-6E8A-4147-A177-3AD203B41FA5}">
                      <a16:colId xmlns:a16="http://schemas.microsoft.com/office/drawing/2014/main" val="1918257104"/>
                    </a:ext>
                  </a:extLst>
                </a:gridCol>
                <a:gridCol w="1376657">
                  <a:extLst>
                    <a:ext uri="{9D8B030D-6E8A-4147-A177-3AD203B41FA5}">
                      <a16:colId xmlns:a16="http://schemas.microsoft.com/office/drawing/2014/main" val="4203436662"/>
                    </a:ext>
                  </a:extLst>
                </a:gridCol>
              </a:tblGrid>
              <a:tr h="338061">
                <a:tc>
                  <a:txBody>
                    <a:bodyPr/>
                    <a:lstStyle/>
                    <a:p>
                      <a:r>
                        <a:rPr lang="en-GB" sz="1200" b="1">
                          <a:solidFill>
                            <a:srgbClr val="FFFFFF"/>
                          </a:solidFill>
                          <a:latin typeface="Arial" panose="020B0604020202020204" pitchFamily="34" charset="0"/>
                        </a:rPr>
                        <a:t>N = 15</a:t>
                      </a:r>
                    </a:p>
                  </a:txBody>
                  <a:tcPr marL="63500" marR="63500" marT="38100" marB="38100">
                    <a:lnL w="12700" cmpd="sng">
                      <a:solidFill>
                        <a:schemeClr val="lt1"/>
                      </a:solidFill>
                    </a:lnL>
                    <a:lnR w="12700" cmpd="sng">
                      <a:solidFill>
                        <a:schemeClr val="lt1"/>
                      </a:solidFill>
                    </a:lnR>
                    <a:lnT w="12700" cmpd="sng">
                      <a:solidFill>
                        <a:schemeClr val="lt1"/>
                      </a:solidFill>
                    </a:lnT>
                    <a:lnB w="38100" cmpd="sng">
                      <a:solidFill>
                        <a:schemeClr val="lt1"/>
                      </a:solidFill>
                    </a:lnB>
                    <a:solidFill>
                      <a:srgbClr val="125C97"/>
                    </a:solidFill>
                  </a:tcPr>
                </a:tc>
                <a:tc>
                  <a:txBody>
                    <a:bodyPr/>
                    <a:lstStyle/>
                    <a:p>
                      <a:r>
                        <a:rPr lang="en-GB" sz="1200" b="1">
                          <a:solidFill>
                            <a:srgbClr val="FFFFFF"/>
                          </a:solidFill>
                          <a:latin typeface="Arial" panose="020B0604020202020204" pitchFamily="34" charset="0"/>
                        </a:rPr>
                        <a:t>QFT piena</a:t>
                      </a:r>
                    </a:p>
                  </a:txBody>
                  <a:tcPr marL="63500" marR="63500" marT="38100" marB="38100">
                    <a:lnL w="12700" cmpd="sng">
                      <a:solidFill>
                        <a:schemeClr val="lt1"/>
                      </a:solidFill>
                    </a:lnL>
                    <a:lnR w="12700" cmpd="sng">
                      <a:solidFill>
                        <a:schemeClr val="lt1"/>
                      </a:solidFill>
                    </a:lnR>
                    <a:lnT w="12700" cmpd="sng">
                      <a:solidFill>
                        <a:schemeClr val="lt1"/>
                      </a:solidFill>
                    </a:lnT>
                    <a:lnB w="38100" cmpd="sng">
                      <a:solidFill>
                        <a:schemeClr val="lt1"/>
                      </a:solidFill>
                    </a:lnB>
                    <a:solidFill>
                      <a:srgbClr val="125C97"/>
                    </a:solidFill>
                  </a:tcPr>
                </a:tc>
                <a:tc>
                  <a:txBody>
                    <a:bodyPr/>
                    <a:lstStyle/>
                    <a:p>
                      <a:r>
                        <a:rPr lang="en-GB" sz="1200" b="1">
                          <a:solidFill>
                            <a:srgbClr val="FFFFFF"/>
                          </a:solidFill>
                          <a:latin typeface="Arial" panose="020B0604020202020204" pitchFamily="34" charset="0"/>
                        </a:rPr>
                        <a:t>AQFT</a:t>
                      </a:r>
                    </a:p>
                  </a:txBody>
                  <a:tcPr marL="63500" marR="63500" marT="38100" marB="38100">
                    <a:lnL w="12700" cmpd="sng">
                      <a:solidFill>
                        <a:schemeClr val="lt1"/>
                      </a:solidFill>
                    </a:lnL>
                    <a:lnR w="12700" cmpd="sng">
                      <a:solidFill>
                        <a:schemeClr val="lt1"/>
                      </a:solidFill>
                    </a:lnR>
                    <a:lnT w="12700" cmpd="sng">
                      <a:solidFill>
                        <a:schemeClr val="lt1"/>
                      </a:solidFill>
                    </a:lnT>
                    <a:lnB w="38100" cmpd="sng">
                      <a:solidFill>
                        <a:schemeClr val="lt1"/>
                      </a:solidFill>
                    </a:lnB>
                    <a:solidFill>
                      <a:srgbClr val="125C97"/>
                    </a:solidFill>
                  </a:tcPr>
                </a:tc>
                <a:extLst>
                  <a:ext uri="{0D108BD9-81ED-4DB2-BD59-A6C34878D82A}">
                    <a16:rowId xmlns:a16="http://schemas.microsoft.com/office/drawing/2014/main" val="2412497855"/>
                  </a:ext>
                </a:extLst>
              </a:tr>
              <a:tr h="338061">
                <a:tc>
                  <a:txBody>
                    <a:bodyPr/>
                    <a:lstStyle/>
                    <a:p>
                      <a:r>
                        <a:rPr lang="en-GB" sz="1200" err="1">
                          <a:solidFill>
                            <a:srgbClr val="203344"/>
                          </a:solidFill>
                          <a:latin typeface="Arial" panose="020B0604020202020204" pitchFamily="34" charset="0"/>
                        </a:rPr>
                        <a:t>Successo</a:t>
                      </a:r>
                      <a:endParaRPr lang="en-GB" sz="1200">
                        <a:solidFill>
                          <a:srgbClr val="203344"/>
                        </a:solidFill>
                        <a:latin typeface="Arial" panose="020B0604020202020204" pitchFamily="34" charset="0"/>
                      </a:endParaRPr>
                    </a:p>
                  </a:txBody>
                  <a:tcPr marL="63500" marR="63500" marT="38100" marB="38100">
                    <a:lnL w="12700" cmpd="sng">
                      <a:solidFill>
                        <a:schemeClr val="lt1"/>
                      </a:solidFill>
                    </a:lnL>
                    <a:lnR w="12700" cmpd="sng">
                      <a:solidFill>
                        <a:schemeClr val="lt1"/>
                      </a:solidFill>
                    </a:lnR>
                    <a:lnT w="38100" cmpd="sng">
                      <a:solidFill>
                        <a:schemeClr val="lt1"/>
                      </a:solidFill>
                    </a:lnT>
                    <a:lnB w="12700" cmpd="sng">
                      <a:solidFill>
                        <a:schemeClr val="lt1"/>
                      </a:solidFill>
                    </a:lnB>
                    <a:solidFill>
                      <a:srgbClr val="EDF3F7"/>
                    </a:solidFill>
                  </a:tcPr>
                </a:tc>
                <a:tc>
                  <a:txBody>
                    <a:bodyPr/>
                    <a:lstStyle/>
                    <a:p>
                      <a:r>
                        <a:rPr lang="en-GB" sz="1200">
                          <a:solidFill>
                            <a:srgbClr val="203344"/>
                          </a:solidFill>
                          <a:latin typeface="Arial" panose="020B0604020202020204" pitchFamily="34" charset="0"/>
                        </a:rPr>
                        <a:t>47,92%</a:t>
                      </a:r>
                    </a:p>
                  </a:txBody>
                  <a:tcPr marL="63500" marR="63500" marT="38100" marB="38100">
                    <a:lnL w="12700" cmpd="sng">
                      <a:solidFill>
                        <a:schemeClr val="lt1"/>
                      </a:solidFill>
                    </a:lnL>
                    <a:lnR w="12700" cmpd="sng">
                      <a:solidFill>
                        <a:schemeClr val="lt1"/>
                      </a:solidFill>
                    </a:lnR>
                    <a:lnT w="38100" cmpd="sng">
                      <a:solidFill>
                        <a:schemeClr val="lt1"/>
                      </a:solidFill>
                    </a:lnT>
                    <a:lnB w="12700" cmpd="sng">
                      <a:solidFill>
                        <a:schemeClr val="lt1"/>
                      </a:solidFill>
                    </a:lnB>
                    <a:solidFill>
                      <a:srgbClr val="EDF3F7"/>
                    </a:solidFill>
                  </a:tcPr>
                </a:tc>
                <a:tc>
                  <a:txBody>
                    <a:bodyPr/>
                    <a:lstStyle/>
                    <a:p>
                      <a:r>
                        <a:rPr lang="en-GB" sz="1200">
                          <a:solidFill>
                            <a:srgbClr val="203344"/>
                          </a:solidFill>
                          <a:latin typeface="Arial" panose="020B0604020202020204" pitchFamily="34" charset="0"/>
                        </a:rPr>
                        <a:t>62,79%</a:t>
                      </a:r>
                    </a:p>
                  </a:txBody>
                  <a:tcPr marL="63500" marR="63500" marT="38100" marB="38100">
                    <a:lnL w="12700" cmpd="sng">
                      <a:solidFill>
                        <a:schemeClr val="lt1"/>
                      </a:solidFill>
                    </a:lnL>
                    <a:lnR w="12700" cmpd="sng">
                      <a:solidFill>
                        <a:schemeClr val="lt1"/>
                      </a:solidFill>
                    </a:lnR>
                    <a:lnT w="38100" cmpd="sng">
                      <a:solidFill>
                        <a:schemeClr val="lt1"/>
                      </a:solidFill>
                    </a:lnT>
                    <a:lnB w="12700" cmpd="sng">
                      <a:solidFill>
                        <a:schemeClr val="lt1"/>
                      </a:solidFill>
                    </a:lnB>
                    <a:solidFill>
                      <a:srgbClr val="EDF3F7"/>
                    </a:solidFill>
                  </a:tcPr>
                </a:tc>
                <a:extLst>
                  <a:ext uri="{0D108BD9-81ED-4DB2-BD59-A6C34878D82A}">
                    <a16:rowId xmlns:a16="http://schemas.microsoft.com/office/drawing/2014/main" val="2937333207"/>
                  </a:ext>
                </a:extLst>
              </a:tr>
              <a:tr h="382573">
                <a:tc>
                  <a:txBody>
                    <a:bodyPr/>
                    <a:lstStyle/>
                    <a:p>
                      <a:r>
                        <a:rPr lang="fr-FR" sz="1200">
                          <a:solidFill>
                            <a:srgbClr val="203344"/>
                          </a:solidFill>
                          <a:latin typeface="Arial" panose="020B0604020202020204" pitchFamily="34" charset="0"/>
                        </a:rPr>
                        <a:t>Porte a 2 qubit (ECR)</a:t>
                      </a:r>
                      <a:endParaRPr lang="en-GB" sz="1200">
                        <a:solidFill>
                          <a:srgbClr val="203344"/>
                        </a:solidFill>
                        <a:latin typeface="Arial" panose="020B0604020202020204" pitchFamily="34" charset="0"/>
                      </a:endParaRPr>
                    </a:p>
                  </a:txBody>
                  <a:tcPr marL="63500" marR="63500" marT="38100" marB="38100">
                    <a:lnL w="12700" cmpd="sng">
                      <a:solidFill>
                        <a:schemeClr val="lt1"/>
                      </a:solidFill>
                    </a:lnL>
                    <a:lnR w="12700" cmpd="sng">
                      <a:solidFill>
                        <a:schemeClr val="lt1"/>
                      </a:solidFill>
                    </a:lnR>
                    <a:lnT w="12700" cmpd="sng">
                      <a:solidFill>
                        <a:schemeClr val="lt1"/>
                      </a:solidFill>
                    </a:lnT>
                    <a:lnB w="12700" cmpd="sng">
                      <a:solidFill>
                        <a:schemeClr val="lt1"/>
                      </a:solidFill>
                    </a:lnB>
                    <a:solidFill>
                      <a:srgbClr val="EDF3F7"/>
                    </a:solidFill>
                  </a:tcPr>
                </a:tc>
                <a:tc>
                  <a:txBody>
                    <a:bodyPr/>
                    <a:lstStyle/>
                    <a:p>
                      <a:r>
                        <a:rPr lang="en-GB" sz="1200">
                          <a:solidFill>
                            <a:srgbClr val="203344"/>
                          </a:solidFill>
                          <a:latin typeface="Arial" panose="020B0604020202020204" pitchFamily="34" charset="0"/>
                        </a:rPr>
                        <a:t>362</a:t>
                      </a:r>
                    </a:p>
                  </a:txBody>
                  <a:tcPr marL="63500" marR="63500" marT="38100" marB="38100">
                    <a:lnL w="12700" cmpd="sng">
                      <a:solidFill>
                        <a:schemeClr val="lt1"/>
                      </a:solidFill>
                    </a:lnL>
                    <a:lnR w="12700" cmpd="sng">
                      <a:solidFill>
                        <a:schemeClr val="lt1"/>
                      </a:solidFill>
                    </a:lnR>
                    <a:lnT w="12700" cmpd="sng">
                      <a:solidFill>
                        <a:schemeClr val="lt1"/>
                      </a:solidFill>
                    </a:lnT>
                    <a:lnB w="12700" cmpd="sng">
                      <a:solidFill>
                        <a:schemeClr val="lt1"/>
                      </a:solidFill>
                    </a:lnB>
                    <a:solidFill>
                      <a:srgbClr val="EDF3F7"/>
                    </a:solidFill>
                  </a:tcPr>
                </a:tc>
                <a:tc>
                  <a:txBody>
                    <a:bodyPr/>
                    <a:lstStyle/>
                    <a:p>
                      <a:r>
                        <a:rPr lang="en-GB" sz="1200" b="1">
                          <a:solidFill>
                            <a:srgbClr val="D9822B"/>
                          </a:solidFill>
                          <a:latin typeface="Arial" panose="020B0604020202020204" pitchFamily="34" charset="0"/>
                        </a:rPr>
                        <a:t>279  (−22,9%)</a:t>
                      </a:r>
                    </a:p>
                  </a:txBody>
                  <a:tcPr marL="63500" marR="63500" marT="38100" marB="38100">
                    <a:lnL w="12700" cmpd="sng">
                      <a:solidFill>
                        <a:schemeClr val="lt1"/>
                      </a:solidFill>
                    </a:lnL>
                    <a:lnR w="12700" cmpd="sng">
                      <a:solidFill>
                        <a:schemeClr val="lt1"/>
                      </a:solidFill>
                    </a:lnR>
                    <a:lnT w="12700" cmpd="sng">
                      <a:solidFill>
                        <a:schemeClr val="lt1"/>
                      </a:solidFill>
                    </a:lnT>
                    <a:lnB w="12700" cmpd="sng">
                      <a:solidFill>
                        <a:schemeClr val="lt1"/>
                      </a:solidFill>
                    </a:lnB>
                    <a:solidFill>
                      <a:srgbClr val="EDF3F7"/>
                    </a:solidFill>
                  </a:tcPr>
                </a:tc>
                <a:extLst>
                  <a:ext uri="{0D108BD9-81ED-4DB2-BD59-A6C34878D82A}">
                    <a16:rowId xmlns:a16="http://schemas.microsoft.com/office/drawing/2014/main" val="2324775208"/>
                  </a:ext>
                </a:extLst>
              </a:tr>
              <a:tr h="338061">
                <a:tc>
                  <a:txBody>
                    <a:bodyPr/>
                    <a:lstStyle/>
                    <a:p>
                      <a:r>
                        <a:rPr lang="en-GB" sz="1200" err="1">
                          <a:solidFill>
                            <a:srgbClr val="203344"/>
                          </a:solidFill>
                          <a:latin typeface="Arial" panose="020B0604020202020204" pitchFamily="34" charset="0"/>
                        </a:rPr>
                        <a:t>Profondità</a:t>
                      </a:r>
                      <a:endParaRPr lang="en-GB" sz="1200">
                        <a:solidFill>
                          <a:srgbClr val="203344"/>
                        </a:solidFill>
                        <a:latin typeface="Arial" panose="020B0604020202020204" pitchFamily="34" charset="0"/>
                      </a:endParaRPr>
                    </a:p>
                  </a:txBody>
                  <a:tcPr marL="63500" marR="63500" marT="38100" marB="38100">
                    <a:lnL w="12700" cmpd="sng">
                      <a:solidFill>
                        <a:schemeClr val="lt1"/>
                      </a:solidFill>
                    </a:lnL>
                    <a:lnR w="12700" cmpd="sng">
                      <a:solidFill>
                        <a:schemeClr val="lt1"/>
                      </a:solidFill>
                    </a:lnR>
                    <a:lnT w="12700" cmpd="sng">
                      <a:solidFill>
                        <a:schemeClr val="lt1"/>
                      </a:solidFill>
                    </a:lnT>
                    <a:lnB w="12700" cmpd="sng">
                      <a:solidFill>
                        <a:schemeClr val="lt1"/>
                      </a:solidFill>
                    </a:lnB>
                    <a:solidFill>
                      <a:srgbClr val="EDF3F7"/>
                    </a:solidFill>
                  </a:tcPr>
                </a:tc>
                <a:tc>
                  <a:txBody>
                    <a:bodyPr/>
                    <a:lstStyle/>
                    <a:p>
                      <a:r>
                        <a:rPr lang="en-GB" sz="1200">
                          <a:solidFill>
                            <a:srgbClr val="203344"/>
                          </a:solidFill>
                          <a:latin typeface="Arial" panose="020B0604020202020204" pitchFamily="34" charset="0"/>
                        </a:rPr>
                        <a:t>1351</a:t>
                      </a:r>
                    </a:p>
                  </a:txBody>
                  <a:tcPr marL="63500" marR="63500" marT="38100" marB="38100">
                    <a:lnL w="12700" cmpd="sng">
                      <a:solidFill>
                        <a:schemeClr val="lt1"/>
                      </a:solidFill>
                    </a:lnL>
                    <a:lnR w="12700" cmpd="sng">
                      <a:solidFill>
                        <a:schemeClr val="lt1"/>
                      </a:solidFill>
                    </a:lnR>
                    <a:lnT w="12700" cmpd="sng">
                      <a:solidFill>
                        <a:schemeClr val="lt1"/>
                      </a:solidFill>
                    </a:lnT>
                    <a:lnB w="12700" cmpd="sng">
                      <a:solidFill>
                        <a:schemeClr val="lt1"/>
                      </a:solidFill>
                    </a:lnB>
                    <a:solidFill>
                      <a:srgbClr val="EDF3F7"/>
                    </a:solidFill>
                  </a:tcPr>
                </a:tc>
                <a:tc>
                  <a:txBody>
                    <a:bodyPr/>
                    <a:lstStyle/>
                    <a:p>
                      <a:r>
                        <a:rPr lang="en-GB" sz="1200" dirty="0">
                          <a:solidFill>
                            <a:srgbClr val="203344"/>
                          </a:solidFill>
                          <a:latin typeface="Arial" panose="020B0604020202020204" pitchFamily="34" charset="0"/>
                        </a:rPr>
                        <a:t>1141</a:t>
                      </a:r>
                    </a:p>
                  </a:txBody>
                  <a:tcPr marL="63500" marR="63500" marT="38100" marB="38100">
                    <a:lnL w="12700" cmpd="sng">
                      <a:solidFill>
                        <a:schemeClr val="lt1"/>
                      </a:solidFill>
                    </a:lnL>
                    <a:lnR w="12700" cmpd="sng">
                      <a:solidFill>
                        <a:schemeClr val="lt1"/>
                      </a:solidFill>
                    </a:lnR>
                    <a:lnT w="12700" cmpd="sng">
                      <a:solidFill>
                        <a:schemeClr val="lt1"/>
                      </a:solidFill>
                    </a:lnT>
                    <a:lnB w="12700" cmpd="sng">
                      <a:solidFill>
                        <a:schemeClr val="lt1"/>
                      </a:solidFill>
                    </a:lnB>
                    <a:solidFill>
                      <a:srgbClr val="EDF3F7"/>
                    </a:solidFill>
                  </a:tcPr>
                </a:tc>
                <a:extLst>
                  <a:ext uri="{0D108BD9-81ED-4DB2-BD59-A6C34878D82A}">
                    <a16:rowId xmlns:a16="http://schemas.microsoft.com/office/drawing/2014/main" val="2982604348"/>
                  </a:ext>
                </a:extLst>
              </a:tr>
            </a:tbl>
          </a:graphicData>
        </a:graphic>
      </p:graphicFrame>
      <p:sp>
        <p:nvSpPr>
          <p:cNvPr id="21" name="TextBox 20">
            <a:extLst>
              <a:ext uri="{FF2B5EF4-FFF2-40B4-BE49-F238E27FC236}">
                <a16:creationId xmlns:a16="http://schemas.microsoft.com/office/drawing/2014/main" id="{470F5327-1993-461E-8E0D-407EAA736804}"/>
              </a:ext>
            </a:extLst>
          </p:cNvPr>
          <p:cNvSpPr txBox="1"/>
          <p:nvPr/>
        </p:nvSpPr>
        <p:spPr>
          <a:xfrm>
            <a:off x="680462" y="6061378"/>
            <a:ext cx="4064000" cy="482600"/>
          </a:xfrm>
          <a:prstGeom prst="rect">
            <a:avLst/>
          </a:prstGeom>
          <a:noFill/>
        </p:spPr>
        <p:txBody>
          <a:bodyPr vert="horz" wrap="square" lIns="0" tIns="0" rIns="0" bIns="0" rtlCol="0">
            <a:noAutofit/>
          </a:bodyPr>
          <a:lstStyle/>
          <a:p>
            <a:r>
              <a:rPr lang="it-IT" sz="1300" b="1">
                <a:solidFill>
                  <a:srgbClr val="125C97"/>
                </a:solidFill>
                <a:latin typeface="Arial" panose="020B0604020202020204" pitchFamily="34" charset="0"/>
              </a:rPr>
              <a:t>Su N = 21 il beneficio non è dimostrato.</a:t>
            </a:r>
            <a:endParaRPr lang="en-GB" sz="1300" b="1">
              <a:solidFill>
                <a:srgbClr val="125C97"/>
              </a:solidFill>
              <a:latin typeface="Arial" panose="020B0604020202020204" pitchFamily="34" charset="0"/>
            </a:endParaRPr>
          </a:p>
        </p:txBody>
      </p:sp>
      <p:sp>
        <p:nvSpPr>
          <p:cNvPr id="6" name="Oval 5">
            <a:extLst>
              <a:ext uri="{FF2B5EF4-FFF2-40B4-BE49-F238E27FC236}">
                <a16:creationId xmlns:a16="http://schemas.microsoft.com/office/drawing/2014/main" id="{A032A3EA-6430-9030-2FE9-39F90B3EBF6F}"/>
              </a:ext>
            </a:extLst>
          </p:cNvPr>
          <p:cNvSpPr/>
          <p:nvPr/>
        </p:nvSpPr>
        <p:spPr>
          <a:xfrm>
            <a:off x="6611620" y="3014980"/>
            <a:ext cx="309880" cy="309880"/>
          </a:xfrm>
          <a:prstGeom prst="ellipse">
            <a:avLst/>
          </a:prstGeom>
          <a:solidFill>
            <a:srgbClr val="FFFFFF"/>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7" name="Straight Connector 6">
            <a:extLst>
              <a:ext uri="{FF2B5EF4-FFF2-40B4-BE49-F238E27FC236}">
                <a16:creationId xmlns:a16="http://schemas.microsoft.com/office/drawing/2014/main" id="{30602A06-2271-8D4D-A2D0-39AE75385447}"/>
              </a:ext>
            </a:extLst>
          </p:cNvPr>
          <p:cNvCxnSpPr/>
          <p:nvPr/>
        </p:nvCxnSpPr>
        <p:spPr>
          <a:xfrm>
            <a:off x="6766560" y="3169920"/>
            <a:ext cx="97790" cy="156210"/>
          </a:xfrm>
          <a:prstGeom prst="line">
            <a:avLst/>
          </a:prstGeom>
          <a:ln w="21590">
            <a:solidFill>
              <a:srgbClr val="125C97"/>
            </a:solidFill>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CC3CCB12-0F72-C612-158D-7964DC305C41}"/>
              </a:ext>
            </a:extLst>
          </p:cNvPr>
          <p:cNvSpPr/>
          <p:nvPr/>
        </p:nvSpPr>
        <p:spPr>
          <a:xfrm>
            <a:off x="6720840" y="3124200"/>
            <a:ext cx="91440" cy="91440"/>
          </a:xfrm>
          <a:prstGeom prst="ellipse">
            <a:avLst/>
          </a:prstGeom>
          <a:solidFill>
            <a:srgbClr val="125C97"/>
          </a:solidFill>
          <a:ln w="1270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53A7F497-8CAB-C4EC-C308-0FCAE1EB2FC0}"/>
              </a:ext>
            </a:extLst>
          </p:cNvPr>
          <p:cNvSpPr/>
          <p:nvPr/>
        </p:nvSpPr>
        <p:spPr>
          <a:xfrm>
            <a:off x="7099300" y="3048000"/>
            <a:ext cx="2692400" cy="431800"/>
          </a:xfrm>
          <a:prstGeom prst="rect">
            <a:avLst/>
          </a:prstGeom>
          <a:solidFill>
            <a:srgbClr val="FFFFFF"/>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val 15">
            <a:extLst>
              <a:ext uri="{FF2B5EF4-FFF2-40B4-BE49-F238E27FC236}">
                <a16:creationId xmlns:a16="http://schemas.microsoft.com/office/drawing/2014/main" id="{89752FD5-6783-0F4C-5F60-E79DAE620C86}"/>
              </a:ext>
            </a:extLst>
          </p:cNvPr>
          <p:cNvSpPr/>
          <p:nvPr/>
        </p:nvSpPr>
        <p:spPr>
          <a:xfrm>
            <a:off x="6634480" y="3037840"/>
            <a:ext cx="264160" cy="264160"/>
          </a:xfrm>
          <a:prstGeom prst="ellipse">
            <a:avLst/>
          </a:prstGeom>
          <a:noFill/>
          <a:ln w="21590">
            <a:solidFill>
              <a:srgbClr val="D9822B"/>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1880CAAA-9320-1969-1408-B67E6223A1F1}"/>
              </a:ext>
            </a:extLst>
          </p:cNvPr>
          <p:cNvSpPr txBox="1"/>
          <p:nvPr/>
        </p:nvSpPr>
        <p:spPr>
          <a:xfrm>
            <a:off x="7112000" y="3048000"/>
            <a:ext cx="2743200" cy="461665"/>
          </a:xfrm>
          <a:prstGeom prst="rect">
            <a:avLst/>
          </a:prstGeom>
          <a:noFill/>
        </p:spPr>
        <p:txBody>
          <a:bodyPr vert="horz" lIns="0" tIns="0" rtlCol="0">
            <a:spAutoFit/>
          </a:bodyPr>
          <a:lstStyle/>
          <a:p>
            <a:r>
              <a:rPr lang="it-IT" sz="1350" b="1">
                <a:solidFill>
                  <a:srgbClr val="203344"/>
                </a:solidFill>
                <a:latin typeface="Arial" panose="020B0604020202020204" pitchFamily="34" charset="0"/>
              </a:rPr>
              <a:t>k = 1 scelto in selezione</a:t>
            </a:r>
          </a:p>
          <a:p>
            <a:r>
              <a:rPr lang="it-IT" sz="1350" b="1">
                <a:solidFill>
                  <a:srgbClr val="203344"/>
                </a:solidFill>
                <a:latin typeface="Arial" panose="020B0604020202020204" pitchFamily="34" charset="0"/>
              </a:rPr>
              <a:t>verifica: 0,628</a:t>
            </a:r>
            <a:endParaRPr lang="en-GB" sz="1350" b="1">
              <a:solidFill>
                <a:srgbClr val="203344"/>
              </a:solidFill>
              <a:latin typeface="Arial" panose="020B0604020202020204" pitchFamily="34" charset="0"/>
            </a:endParaRPr>
          </a:p>
        </p:txBody>
      </p:sp>
    </p:spTree>
    <p:extLst>
      <p:ext uri="{BB962C8B-B14F-4D97-AF65-F5344CB8AC3E}">
        <p14:creationId xmlns:p14="http://schemas.microsoft.com/office/powerpoint/2010/main" val="1018619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9"/>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9"/>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9"/>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9"/>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9"/>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9"/>
                                          </p:stCondLst>
                                        </p:cTn>
                                        <p:tgtEl>
                                          <p:spTgt spid="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9"/>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9"/>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9"/>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9"/>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9"/>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9"/>
                                          </p:stCondLst>
                                        </p:cTn>
                                        <p:tgtEl>
                                          <p:spTgt spid="1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9"/>
                                          </p:stCondLst>
                                        </p:cTn>
                                        <p:tgtEl>
                                          <p:spTgt spid="1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9"/>
                                          </p:stCondLst>
                                        </p:cTn>
                                        <p:tgtEl>
                                          <p:spTgt spid="1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9"/>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8" grpId="0"/>
      <p:bldP spid="9" grpId="0"/>
      <p:bldP spid="14" grpId="0"/>
      <p:bldP spid="15" grpId="0"/>
      <p:bldP spid="21" grpId="0"/>
      <p:bldP spid="6" grpId="0" animBg="1"/>
      <p:bldP spid="10" grpId="0" animBg="1"/>
      <p:bldP spid="13" grpId="0" animBg="1"/>
      <p:bldP spid="16" grpId="0" animBg="1"/>
      <p:bldP spid="1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D44FC83-C70B-46CD-8C70-92D7C3D9C2A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800" b="0">
                <a:solidFill>
                  <a:srgbClr val="003366"/>
                </a:solidFill>
                <a:latin typeface="Arial"/>
                <a:ea typeface="Arial"/>
                <a:cs typeface="Arial"/>
              </a:rPr>
              <a:t>Conclusioni</a:t>
            </a:r>
            <a:endParaRPr sz="2800" b="0">
              <a:solidFill>
                <a:srgbClr val="003366"/>
              </a:solidFill>
              <a:latin typeface="Arial"/>
              <a:ea typeface="Arial"/>
              <a:cs typeface="Arial"/>
            </a:endParaRPr>
          </a:p>
        </p:txBody>
      </p:sp>
      <p:pic>
        <p:nvPicPr>
          <p:cNvPr id="13" name="Picture 12"/>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20B7C71E-845D-4B6E-BAC4-41119EECCBA9}"/>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61EF0B45-22BD-40BF-B86A-74F485774734}"/>
              </a:ext>
            </a:extLst>
          </p:cNvPr>
          <p:cNvSpPr>
            <a:spLocks noGrp="1"/>
          </p:cNvSpPr>
          <p:nvPr/>
        </p:nvSpPr>
        <p:spPr>
          <a:xfrm>
            <a:off x="7477125" y="828675"/>
            <a:ext cx="3228975" cy="219075"/>
          </a:xfrm>
          <a:prstGeom prst="rect">
            <a:avLst/>
          </a:prstGeom>
          <a:noFill/>
          <a:ln w="0">
            <a:noFill/>
          </a:ln>
        </p:spPr>
        <p:txBody>
          <a:bodyPr rIns="0" anchor="ctr">
            <a:noAutofit/>
          </a:bodyPr>
          <a:lstStyle/>
          <a:p>
            <a:pPr algn="r">
              <a:defRPr sz="1200" b="0">
                <a:solidFill>
                  <a:srgbClr val="203344"/>
                </a:solidFill>
                <a:latin typeface="Arial"/>
                <a:ea typeface="Arial"/>
                <a:cs typeface="Arial"/>
              </a:defRPr>
            </a:pPr>
            <a:r>
              <a:rPr lang="it-IT" sz="1000" b="0">
                <a:solidFill>
                  <a:srgbClr val="203344"/>
                </a:solidFill>
                <a:latin typeface="Arial"/>
                <a:ea typeface="Arial"/>
                <a:cs typeface="Arial"/>
              </a:rPr>
              <a:t>Conclusioni · Chiusura del lavoro | 11</a:t>
            </a:r>
            <a:endParaRPr sz="10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D9FD045C-2318-472B-9B26-08CDB5EF9595}"/>
              </a:ext>
            </a:extLst>
          </p:cNvPr>
          <p:cNvSpPr>
            <a:spLocks noGrp="1"/>
          </p:cNvSpPr>
          <p:nvPr/>
        </p:nvSpPr>
        <p:spPr>
          <a:xfrm>
            <a:off x="609600" y="1346200"/>
            <a:ext cx="10972800" cy="1016000"/>
          </a:xfrm>
          <a:prstGeom prst="rect">
            <a:avLst/>
          </a:prstGeom>
          <a:noFill/>
          <a:ln w="0">
            <a:noFill/>
          </a:ln>
        </p:spPr>
        <p:txBody>
          <a:bodyPr>
            <a:noAutofit/>
          </a:bodyPr>
          <a:lstStyle/>
          <a:p>
            <a:pPr>
              <a:defRPr sz="3450" b="1">
                <a:solidFill>
                  <a:srgbClr val="003366"/>
                </a:solidFill>
                <a:latin typeface="Arial"/>
                <a:ea typeface="Arial"/>
                <a:cs typeface="Arial"/>
              </a:defRPr>
            </a:pPr>
            <a:r>
              <a:rPr lang="it-IT" sz="2400" b="1">
                <a:solidFill>
                  <a:srgbClr val="003366"/>
                </a:solidFill>
                <a:latin typeface="Arial"/>
                <a:ea typeface="Arial"/>
                <a:cs typeface="Arial"/>
              </a:rPr>
              <a:t>Il rumore separa il vantaggio teorico dai risultati pratici</a:t>
            </a:r>
            <a:endParaRPr sz="2400" b="1">
              <a:solidFill>
                <a:srgbClr val="003366"/>
              </a:solidFill>
              <a:latin typeface="Arial"/>
              <a:ea typeface="Arial"/>
              <a:cs typeface="Arial"/>
            </a:endParaRPr>
          </a:p>
        </p:txBody>
      </p:sp>
      <p:sp>
        <p:nvSpPr>
          <p:cNvPr id="2" name="Rectangle: Rounded Corners 1">
            <a:extLst>
              <a:ext uri="{FF2B5EF4-FFF2-40B4-BE49-F238E27FC236}">
                <a16:creationId xmlns:a16="http://schemas.microsoft.com/office/drawing/2014/main" id="{79DE2815-21B7-682F-A426-5F90BFDD3396}"/>
              </a:ext>
            </a:extLst>
          </p:cNvPr>
          <p:cNvSpPr/>
          <p:nvPr/>
        </p:nvSpPr>
        <p:spPr>
          <a:xfrm>
            <a:off x="381000" y="2159000"/>
            <a:ext cx="3657600" cy="31115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Rounded Corners 13">
            <a:extLst>
              <a:ext uri="{FF2B5EF4-FFF2-40B4-BE49-F238E27FC236}">
                <a16:creationId xmlns:a16="http://schemas.microsoft.com/office/drawing/2014/main" id="{A1C020A3-720D-427F-D9DE-ECE06638CA52}"/>
              </a:ext>
            </a:extLst>
          </p:cNvPr>
          <p:cNvSpPr/>
          <p:nvPr/>
        </p:nvSpPr>
        <p:spPr>
          <a:xfrm>
            <a:off x="4267200" y="2159000"/>
            <a:ext cx="3657600" cy="31115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F5790D89-B65C-CB3A-B26D-A612DB8546D8}"/>
              </a:ext>
            </a:extLst>
          </p:cNvPr>
          <p:cNvSpPr txBox="1"/>
          <p:nvPr/>
        </p:nvSpPr>
        <p:spPr>
          <a:xfrm>
            <a:off x="558800" y="2311400"/>
            <a:ext cx="3302000" cy="381000"/>
          </a:xfrm>
          <a:prstGeom prst="rect">
            <a:avLst/>
          </a:prstGeom>
          <a:noFill/>
        </p:spPr>
        <p:txBody>
          <a:bodyPr vert="horz" wrap="square" lIns="0" rIns="0" rtlCol="0">
            <a:noAutofit/>
          </a:bodyPr>
          <a:lstStyle/>
          <a:p>
            <a:r>
              <a:rPr lang="en-GB" sz="2100" b="1">
                <a:solidFill>
                  <a:srgbClr val="003366"/>
                </a:solidFill>
                <a:latin typeface="Arial" panose="020B0604020202020204" pitchFamily="34" charset="0"/>
              </a:rPr>
              <a:t>Limite e risultato</a:t>
            </a:r>
          </a:p>
        </p:txBody>
      </p:sp>
      <p:sp>
        <p:nvSpPr>
          <p:cNvPr id="16" name="TextBox 15">
            <a:extLst>
              <a:ext uri="{FF2B5EF4-FFF2-40B4-BE49-F238E27FC236}">
                <a16:creationId xmlns:a16="http://schemas.microsoft.com/office/drawing/2014/main" id="{0B6CF6D8-7978-90DC-1925-74FEA6FB9763}"/>
              </a:ext>
            </a:extLst>
          </p:cNvPr>
          <p:cNvSpPr txBox="1"/>
          <p:nvPr/>
        </p:nvSpPr>
        <p:spPr>
          <a:xfrm>
            <a:off x="4445000" y="2311400"/>
            <a:ext cx="3302000" cy="381000"/>
          </a:xfrm>
          <a:prstGeom prst="rect">
            <a:avLst/>
          </a:prstGeom>
          <a:noFill/>
        </p:spPr>
        <p:txBody>
          <a:bodyPr vert="horz" wrap="square" lIns="0" rIns="0" rtlCol="0">
            <a:noAutofit/>
          </a:bodyPr>
          <a:lstStyle/>
          <a:p>
            <a:r>
              <a:rPr lang="en-GB" sz="2100" b="1">
                <a:solidFill>
                  <a:srgbClr val="D9822B"/>
                </a:solidFill>
                <a:latin typeface="Arial" panose="020B0604020202020204" pitchFamily="34" charset="0"/>
              </a:rPr>
              <a:t>Priorità hardware</a:t>
            </a:r>
            <a:endParaRPr lang="en-GB" sz="2100" b="1" dirty="0">
              <a:solidFill>
                <a:srgbClr val="D9822B"/>
              </a:solidFill>
              <a:latin typeface="Arial" panose="020B0604020202020204" pitchFamily="34" charset="0"/>
            </a:endParaRPr>
          </a:p>
        </p:txBody>
      </p:sp>
      <p:sp>
        <p:nvSpPr>
          <p:cNvPr id="17" name="TextBox 16">
            <a:extLst>
              <a:ext uri="{FF2B5EF4-FFF2-40B4-BE49-F238E27FC236}">
                <a16:creationId xmlns:a16="http://schemas.microsoft.com/office/drawing/2014/main" id="{BE5014B6-44D1-DC9B-7BB9-F99AF83A1D2A}"/>
              </a:ext>
            </a:extLst>
          </p:cNvPr>
          <p:cNvSpPr txBox="1"/>
          <p:nvPr/>
        </p:nvSpPr>
        <p:spPr>
          <a:xfrm>
            <a:off x="558800" y="2768600"/>
            <a:ext cx="3302000" cy="2324100"/>
          </a:xfrm>
          <a:prstGeom prst="rect">
            <a:avLst/>
          </a:prstGeom>
          <a:noFill/>
        </p:spPr>
        <p:txBody>
          <a:bodyPr vert="horz" wrap="square" lIns="0" tIns="38100" rIns="0" rtlCol="0">
            <a:noAutofit/>
          </a:bodyPr>
          <a:lstStyle/>
          <a:p>
            <a:pPr>
              <a:spcAft>
                <a:spcPts val="700"/>
              </a:spcAft>
            </a:pPr>
            <a:r>
              <a:rPr lang="it-IT" sz="1700">
                <a:solidFill>
                  <a:srgbClr val="203344"/>
                </a:solidFill>
                <a:latin typeface="Arial" panose="020B0604020202020204" pitchFamily="34" charset="0"/>
              </a:rPr>
              <a:t>Su N = 15, l'AQFT aumenta il successo dal 48% circa al 63%.</a:t>
            </a:r>
          </a:p>
          <a:p>
            <a:pPr>
              <a:spcAft>
                <a:spcPts val="700"/>
              </a:spcAft>
            </a:pPr>
            <a:r>
              <a:rPr lang="it-IT" sz="1700">
                <a:solidFill>
                  <a:srgbClr val="203344"/>
                </a:solidFill>
                <a:latin typeface="Arial" panose="020B0604020202020204" pitchFamily="34" charset="0"/>
              </a:rPr>
              <a:t>Su N = 21 il beneficio non è dimostrato.</a:t>
            </a:r>
          </a:p>
          <a:p>
            <a:pPr>
              <a:spcAft>
                <a:spcPts val="700"/>
              </a:spcAft>
            </a:pPr>
            <a:r>
              <a:rPr lang="it-IT" sz="1700">
                <a:solidFill>
                  <a:srgbClr val="203344"/>
                </a:solidFill>
                <a:latin typeface="Arial" panose="020B0604020202020204" pitchFamily="34" charset="0"/>
              </a:rPr>
              <a:t>I test su piccole istanze non dimostrano un attacco a RSA.</a:t>
            </a:r>
            <a:endParaRPr lang="en-GB" sz="1700" dirty="0">
              <a:solidFill>
                <a:srgbClr val="203344"/>
              </a:solidFill>
              <a:latin typeface="Arial" panose="020B0604020202020204" pitchFamily="34" charset="0"/>
            </a:endParaRPr>
          </a:p>
        </p:txBody>
      </p:sp>
      <p:sp>
        <p:nvSpPr>
          <p:cNvPr id="18" name="TextBox 17">
            <a:extLst>
              <a:ext uri="{FF2B5EF4-FFF2-40B4-BE49-F238E27FC236}">
                <a16:creationId xmlns:a16="http://schemas.microsoft.com/office/drawing/2014/main" id="{3F45B240-B8AE-8BB8-DDD9-8B7D9D18CA56}"/>
              </a:ext>
            </a:extLst>
          </p:cNvPr>
          <p:cNvSpPr txBox="1"/>
          <p:nvPr/>
        </p:nvSpPr>
        <p:spPr>
          <a:xfrm>
            <a:off x="4445000" y="2768600"/>
            <a:ext cx="3302000" cy="2324100"/>
          </a:xfrm>
          <a:prstGeom prst="rect">
            <a:avLst/>
          </a:prstGeom>
          <a:noFill/>
        </p:spPr>
        <p:txBody>
          <a:bodyPr vert="horz" wrap="square" lIns="0" tIns="38100" rIns="0" rtlCol="0">
            <a:noAutofit/>
          </a:bodyPr>
          <a:lstStyle/>
          <a:p>
            <a:pPr>
              <a:spcAft>
                <a:spcPts val="900"/>
              </a:spcAft>
            </a:pPr>
            <a:r>
              <a:rPr lang="it-IT" sz="1700">
                <a:solidFill>
                  <a:srgbClr val="203344"/>
                </a:solidFill>
                <a:latin typeface="Arial" panose="020B0604020202020204" pitchFamily="34" charset="0"/>
              </a:rPr>
              <a:t>Ridurre gli errori delle porte.</a:t>
            </a:r>
          </a:p>
          <a:p>
            <a:pPr>
              <a:spcAft>
                <a:spcPts val="900"/>
              </a:spcAft>
            </a:pPr>
            <a:r>
              <a:rPr lang="it-IT" sz="1700">
                <a:solidFill>
                  <a:srgbClr val="203344"/>
                </a:solidFill>
                <a:latin typeface="Arial" panose="020B0604020202020204" pitchFamily="34" charset="0"/>
              </a:rPr>
              <a:t>Nel Surface code studiato, aumentare la protezione riduce l'errore sotto la soglia stimata dello 0,86%.</a:t>
            </a:r>
            <a:endParaRPr lang="it-IT" sz="1700" dirty="0">
              <a:solidFill>
                <a:srgbClr val="203344"/>
              </a:solidFill>
              <a:latin typeface="Arial" panose="020B0604020202020204" pitchFamily="34" charset="0"/>
            </a:endParaRPr>
          </a:p>
        </p:txBody>
      </p:sp>
      <p:sp>
        <p:nvSpPr>
          <p:cNvPr id="19" name="TextBox 18">
            <a:extLst>
              <a:ext uri="{FF2B5EF4-FFF2-40B4-BE49-F238E27FC236}">
                <a16:creationId xmlns:a16="http://schemas.microsoft.com/office/drawing/2014/main" id="{007C03F3-6ECC-0A57-515F-008B8206761D}"/>
              </a:ext>
            </a:extLst>
          </p:cNvPr>
          <p:cNvSpPr txBox="1"/>
          <p:nvPr/>
        </p:nvSpPr>
        <p:spPr>
          <a:xfrm>
            <a:off x="558800" y="5580163"/>
            <a:ext cx="10972800" cy="622300"/>
          </a:xfrm>
          <a:prstGeom prst="rect">
            <a:avLst/>
          </a:prstGeom>
          <a:noFill/>
        </p:spPr>
        <p:txBody>
          <a:bodyPr vert="horz" wrap="square" rtlCol="0" anchor="ctr">
            <a:noAutofit/>
          </a:bodyPr>
          <a:lstStyle/>
          <a:p>
            <a:pPr algn="ctr"/>
            <a:r>
              <a:rPr lang="it-IT" sz="1700" b="1" dirty="0">
                <a:solidFill>
                  <a:srgbClr val="D9822B"/>
                </a:solidFill>
                <a:latin typeface="Arial" panose="020B0604020202020204" pitchFamily="34" charset="0"/>
              </a:rPr>
              <a:t>Ridurre gli errori delle porte è la priorità; gli atomi neutri sono una prospettiva da esplorare per avvicinare Shor alle prestazioni ideali.</a:t>
            </a:r>
            <a:endParaRPr lang="en-GB" sz="1700" b="1" dirty="0">
              <a:solidFill>
                <a:srgbClr val="D9822B"/>
              </a:solidFill>
              <a:latin typeface="Arial" panose="020B0604020202020204" pitchFamily="34" charset="0"/>
            </a:endParaRPr>
          </a:p>
        </p:txBody>
      </p:sp>
      <p:sp>
        <p:nvSpPr>
          <p:cNvPr id="6" name="Rectangle: Rounded Corners 13">
            <a:extLst>
              <a:ext uri="{FF2B5EF4-FFF2-40B4-BE49-F238E27FC236}">
                <a16:creationId xmlns:a16="http://schemas.microsoft.com/office/drawing/2014/main" id="{A1C020A3-720D-427F-D9DE-ECE06638CA52}"/>
              </a:ext>
            </a:extLst>
          </p:cNvPr>
          <p:cNvSpPr/>
          <p:nvPr/>
        </p:nvSpPr>
        <p:spPr>
          <a:xfrm>
            <a:off x="8153400" y="2159000"/>
            <a:ext cx="3657600" cy="31115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15">
            <a:extLst>
              <a:ext uri="{FF2B5EF4-FFF2-40B4-BE49-F238E27FC236}">
                <a16:creationId xmlns:a16="http://schemas.microsoft.com/office/drawing/2014/main" id="{0B6CF6D8-7978-90DC-1925-74FEA6FB9763}"/>
              </a:ext>
            </a:extLst>
          </p:cNvPr>
          <p:cNvSpPr txBox="1"/>
          <p:nvPr/>
        </p:nvSpPr>
        <p:spPr>
          <a:xfrm>
            <a:off x="8331200" y="2311400"/>
            <a:ext cx="3302000" cy="381000"/>
          </a:xfrm>
          <a:prstGeom prst="rect">
            <a:avLst/>
          </a:prstGeom>
          <a:noFill/>
        </p:spPr>
        <p:txBody>
          <a:bodyPr vert="horz" wrap="square" lIns="0" rIns="0" rtlCol="0">
            <a:noAutofit/>
          </a:bodyPr>
          <a:lstStyle/>
          <a:p>
            <a:r>
              <a:rPr lang="en-GB" sz="2100" b="1">
                <a:solidFill>
                  <a:srgbClr val="003366"/>
                </a:solidFill>
                <a:latin typeface="Arial" panose="020B0604020202020204" pitchFamily="34" charset="0"/>
              </a:rPr>
              <a:t>Sviluppi futuri</a:t>
            </a:r>
          </a:p>
        </p:txBody>
      </p:sp>
      <p:sp>
        <p:nvSpPr>
          <p:cNvPr id="8" name="TextBox 17">
            <a:extLst>
              <a:ext uri="{FF2B5EF4-FFF2-40B4-BE49-F238E27FC236}">
                <a16:creationId xmlns:a16="http://schemas.microsoft.com/office/drawing/2014/main" id="{3F45B240-B8AE-8BB8-DDD9-8B7D9D18CA56}"/>
              </a:ext>
            </a:extLst>
          </p:cNvPr>
          <p:cNvSpPr txBox="1"/>
          <p:nvPr/>
        </p:nvSpPr>
        <p:spPr>
          <a:xfrm>
            <a:off x="8331200" y="2768600"/>
            <a:ext cx="3302000" cy="2324100"/>
          </a:xfrm>
          <a:prstGeom prst="rect">
            <a:avLst/>
          </a:prstGeom>
          <a:noFill/>
        </p:spPr>
        <p:txBody>
          <a:bodyPr vert="horz" wrap="square" lIns="0" tIns="38100" rIns="0" rtlCol="0">
            <a:noAutofit/>
          </a:bodyPr>
          <a:lstStyle/>
          <a:p>
            <a:pPr>
              <a:spcAft>
                <a:spcPts val="900"/>
              </a:spcAft>
            </a:pPr>
            <a:r>
              <a:rPr lang="it-IT" sz="1700">
                <a:solidFill>
                  <a:srgbClr val="203344"/>
                </a:solidFill>
                <a:latin typeface="Arial" panose="020B0604020202020204" pitchFamily="34" charset="0"/>
              </a:rPr>
              <a:t>Rete generativa calibrata sugli errori della QPU.</a:t>
            </a:r>
          </a:p>
          <a:p>
            <a:pPr>
              <a:spcAft>
                <a:spcPts val="900"/>
              </a:spcAft>
            </a:pPr>
            <a:r>
              <a:rPr lang="it-IT" sz="1700">
                <a:solidFill>
                  <a:srgbClr val="203344"/>
                </a:solidFill>
                <a:latin typeface="Arial" panose="020B0604020202020204" pitchFamily="34" charset="0"/>
              </a:rPr>
              <a:t>Atomi neutri: connessioni riconfigurabili e lunga coerenza.</a:t>
            </a:r>
          </a:p>
          <a:p>
            <a:pPr>
              <a:spcAft>
                <a:spcPts val="900"/>
              </a:spcAft>
            </a:pPr>
            <a:r>
              <a:rPr lang="it-IT" sz="1700">
                <a:solidFill>
                  <a:srgbClr val="203344"/>
                </a:solidFill>
                <a:latin typeface="Arial" panose="020B0604020202020204" pitchFamily="34" charset="0"/>
              </a:rPr>
              <a:t>Validazione su hardware reale.</a:t>
            </a:r>
            <a:endParaRPr lang="it-IT" sz="1700" dirty="0">
              <a:solidFill>
                <a:srgbClr val="203344"/>
              </a:solidFill>
              <a:latin typeface="Arial" panose="020B0604020202020204" pitchFamily="34" charset="0"/>
            </a:endParaRPr>
          </a:p>
        </p:txBody>
      </p:sp>
    </p:spTree>
    <p:extLst>
      <p:ext uri="{BB962C8B-B14F-4D97-AF65-F5344CB8AC3E}">
        <p14:creationId xmlns:p14="http://schemas.microsoft.com/office/powerpoint/2010/main" val="3095665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9"/>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9"/>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9"/>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9"/>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9"/>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9"/>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9"/>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9"/>
                                          </p:stCondLst>
                                        </p:cTn>
                                        <p:tgtEl>
                                          <p:spTgt spid="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9"/>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9"/>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4" grpId="0" animBg="1"/>
      <p:bldP spid="15" grpId="0"/>
      <p:bldP spid="16" grpId="0"/>
      <p:bldP spid="17" grpId="0"/>
      <p:bldP spid="18" grpId="0"/>
      <p:bldP spid="19" grpId="0"/>
      <p:bldP spid="6" grpId="0" animBg="1"/>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1CA37C23-8EF6-4C17-A4F4-E71FFDA7BF90}"/>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Demo: Shor passo per passo, con e senza rumore</a:t>
            </a:r>
            <a:endParaRPr sz="2700" b="0">
              <a:solidFill>
                <a:srgbClr val="003366"/>
              </a:solidFill>
              <a:latin typeface="Arial"/>
              <a:ea typeface="Arial"/>
              <a:cs typeface="Arial"/>
            </a:endParaRPr>
          </a:p>
        </p:txBody>
      </p:sp>
      <p:pic>
        <p:nvPicPr>
          <p:cNvPr id="16" name="Picture 15"/>
          <p:cNvPicPr>
            <a:picLocks noChangeAspect="1"/>
          </p:cNvPicPr>
          <p:nvPr/>
        </p:nvPicPr>
        <p:blipFill>
          <a:blip r:embed="rId5"/>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42491AB4-A50E-4972-B4BC-A45D2FE2D097}"/>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BCA1C702-C5F3-4FAF-A2B8-E1EA38A991CF}"/>
              </a:ext>
            </a:extLst>
          </p:cNvPr>
          <p:cNvSpPr>
            <a:spLocks noGrp="1"/>
          </p:cNvSpPr>
          <p:nvPr/>
        </p:nvSpPr>
        <p:spPr>
          <a:xfrm>
            <a:off x="7477125" y="828675"/>
            <a:ext cx="3228975" cy="219075"/>
          </a:xfrm>
          <a:prstGeom prst="rect">
            <a:avLst/>
          </a:prstGeom>
          <a:noFill/>
          <a:ln w="0">
            <a:noFill/>
          </a:ln>
        </p:spPr>
        <p:txBody>
          <a:bodyPr rIns="0" anchor="ctr">
            <a:noAutofit/>
          </a:bodyPr>
          <a:lstStyle/>
          <a:p>
            <a:pPr algn="r">
              <a:defRPr sz="1200" b="0">
                <a:solidFill>
                  <a:srgbClr val="203344"/>
                </a:solidFill>
                <a:latin typeface="Arial"/>
                <a:ea typeface="Arial"/>
                <a:cs typeface="Arial"/>
              </a:defRPr>
            </a:pPr>
            <a:r>
              <a:rPr lang="it-IT" sz="1050" b="0">
                <a:solidFill>
                  <a:srgbClr val="203344"/>
                </a:solidFill>
                <a:latin typeface="Arial"/>
                <a:ea typeface="Arial"/>
                <a:cs typeface="Arial"/>
              </a:rPr>
              <a:t>Demo · Shor sotto rumore | 12</a:t>
            </a:r>
            <a:endParaRPr sz="1050" b="0">
              <a:solidFill>
                <a:srgbClr val="203344"/>
              </a:solidFill>
              <a:latin typeface="Arial"/>
              <a:ea typeface="Arial"/>
              <a:cs typeface="Arial"/>
            </a:endParaRPr>
          </a:p>
        </p:txBody>
      </p:sp>
      <p:pic>
        <p:nvPicPr>
          <p:cNvPr id="2" name="Video demo">
            <a:hlinkClick r:id="" action="ppaction://media"/>
            <a:extLst>
              <a:ext uri="{FF2B5EF4-FFF2-40B4-BE49-F238E27FC236}">
                <a16:creationId xmlns:a16="http://schemas.microsoft.com/office/drawing/2014/main" id="{3D85B229-0E24-4FE6-B0E9-3A912C1EAE9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1128889" y="1190625"/>
            <a:ext cx="9934222" cy="5588000"/>
          </a:xfrm>
          <a:prstGeom prst="rect">
            <a:avLst/>
          </a:prstGeom>
        </p:spPr>
      </p:pic>
    </p:spTree>
    <p:extLst>
      <p:ext uri="{BB962C8B-B14F-4D97-AF65-F5344CB8AC3E}">
        <p14:creationId xmlns:p14="http://schemas.microsoft.com/office/powerpoint/2010/main" val="2319583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93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2"/>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2"/>
                                        </p:tgtEl>
                                      </p:cBhvr>
                                    </p:cmd>
                                  </p:childTnLst>
                                </p:cTn>
                              </p:par>
                            </p:childTnLst>
                          </p:cTn>
                        </p:par>
                      </p:childTnLst>
                    </p:cTn>
                  </p:par>
                </p:childTnLst>
              </p:cTn>
              <p:nextCondLst>
                <p:cond evt="onClick" delay="0">
                  <p:tgtEl>
                    <p:spTgt spid="2"/>
                  </p:tgtEl>
                </p:cond>
              </p:nextCondLst>
            </p:seq>
            <p:video>
              <p:cMediaNode vol="80000">
                <p:cTn id="12" fill="hold" display="0">
                  <p:stCondLst>
                    <p:cond delay="indefinite"/>
                  </p:stCondLst>
                </p:cTn>
                <p:tgtEl>
                  <p:spTgt spid="2"/>
                </p:tgtEl>
              </p:cMediaNode>
            </p:vide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742BB7-2D23-59DE-B4FF-D0A78FFDD8F4}"/>
              </a:ext>
            </a:extLst>
          </p:cNvPr>
          <p:cNvSpPr txBox="1"/>
          <p:nvPr/>
        </p:nvSpPr>
        <p:spPr>
          <a:xfrm>
            <a:off x="457200" y="2032000"/>
            <a:ext cx="2984500" cy="1661993"/>
          </a:xfrm>
          <a:prstGeom prst="rect">
            <a:avLst/>
          </a:prstGeom>
          <a:noFill/>
        </p:spPr>
        <p:txBody>
          <a:bodyPr vert="horz" lIns="0" rtlCol="0">
            <a:spAutoFit/>
          </a:bodyPr>
          <a:lstStyle/>
          <a:p>
            <a:r>
              <a:rPr lang="en-GB" sz="3400">
                <a:solidFill>
                  <a:srgbClr val="003366"/>
                </a:solidFill>
                <a:latin typeface="Arial" panose="020B0604020202020204" pitchFamily="34" charset="0"/>
              </a:rPr>
              <a:t>Grazie</a:t>
            </a:r>
          </a:p>
          <a:p>
            <a:r>
              <a:rPr lang="en-GB" sz="3400">
                <a:solidFill>
                  <a:srgbClr val="003366"/>
                </a:solidFill>
                <a:latin typeface="Arial" panose="020B0604020202020204" pitchFamily="34" charset="0"/>
              </a:rPr>
              <a:t>per l’attenzione</a:t>
            </a:r>
          </a:p>
        </p:txBody>
      </p:sp>
      <p:sp>
        <p:nvSpPr>
          <p:cNvPr id="5" name="TextBox 4">
            <a:extLst>
              <a:ext uri="{FF2B5EF4-FFF2-40B4-BE49-F238E27FC236}">
                <a16:creationId xmlns:a16="http://schemas.microsoft.com/office/drawing/2014/main" id="{EB4F5445-0144-2F43-6B75-77F6C07B2009}"/>
              </a:ext>
            </a:extLst>
          </p:cNvPr>
          <p:cNvSpPr txBox="1"/>
          <p:nvPr/>
        </p:nvSpPr>
        <p:spPr>
          <a:xfrm>
            <a:off x="457200" y="4318000"/>
            <a:ext cx="2984500" cy="369332"/>
          </a:xfrm>
          <a:prstGeom prst="rect">
            <a:avLst/>
          </a:prstGeom>
          <a:noFill/>
        </p:spPr>
        <p:txBody>
          <a:bodyPr vert="horz" lIns="0" rtlCol="0">
            <a:spAutoFit/>
          </a:bodyPr>
          <a:lstStyle/>
          <a:p>
            <a:r>
              <a:rPr lang="en-GB">
                <a:solidFill>
                  <a:srgbClr val="125C97"/>
                </a:solidFill>
                <a:latin typeface="Arial" panose="020B0604020202020204" pitchFamily="34" charset="0"/>
              </a:rPr>
              <a:t>Claudio Dragotta</a:t>
            </a:r>
          </a:p>
        </p:txBody>
      </p:sp>
      <p:pic>
        <p:nvPicPr>
          <p:cNvPr id="9" name="Ricordo 1">
            <a:extLst>
              <a:ext uri="{FF2B5EF4-FFF2-40B4-BE49-F238E27FC236}">
                <a16:creationId xmlns:a16="http://schemas.microsoft.com/office/drawing/2014/main" id="{5021DF04-4BA2-6E29-1B75-5EAB905C164B}"/>
              </a:ext>
            </a:extLst>
          </p:cNvPr>
          <p:cNvPicPr>
            <a:picLocks noChangeAspect="1"/>
          </p:cNvPicPr>
          <p:nvPr/>
        </p:nvPicPr>
        <p:blipFill>
          <a:blip r:embed="rId3">
            <a:extLst>
              <a:ext uri="{28A0092B-C50C-407E-A947-70E740481C1C}">
                <a14:useLocalDpi xmlns:a14="http://schemas.microsoft.com/office/drawing/2010/main" val="0"/>
              </a:ext>
            </a:extLst>
          </a:blip>
          <a:srcRect t="15017" b="15351"/>
          <a:stretch>
            <a:fillRect/>
          </a:stretch>
        </p:blipFill>
        <p:spPr>
          <a:xfrm>
            <a:off x="4460066" y="584141"/>
            <a:ext cx="935068" cy="1447859"/>
          </a:xfrm>
          <a:prstGeom prst="rect">
            <a:avLst/>
          </a:prstGeom>
        </p:spPr>
      </p:pic>
      <p:pic>
        <p:nvPicPr>
          <p:cNvPr id="12" name="Ricordo 2">
            <a:extLst>
              <a:ext uri="{FF2B5EF4-FFF2-40B4-BE49-F238E27FC236}">
                <a16:creationId xmlns:a16="http://schemas.microsoft.com/office/drawing/2014/main" id="{D5C40E86-D4B0-E243-5F8D-FCF81E85F67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75400" y="460169"/>
            <a:ext cx="2590800" cy="1721263"/>
          </a:xfrm>
          <a:prstGeom prst="rect">
            <a:avLst/>
          </a:prstGeom>
        </p:spPr>
      </p:pic>
      <p:pic>
        <p:nvPicPr>
          <p:cNvPr id="14" name="Ricordo 3">
            <a:extLst>
              <a:ext uri="{FF2B5EF4-FFF2-40B4-BE49-F238E27FC236}">
                <a16:creationId xmlns:a16="http://schemas.microsoft.com/office/drawing/2014/main" id="{14E266AA-F0E2-E2B4-E546-BAA874E77BB3}"/>
              </a:ext>
            </a:extLst>
          </p:cNvPr>
          <p:cNvPicPr>
            <a:picLocks noChangeAspect="1"/>
          </p:cNvPicPr>
          <p:nvPr/>
        </p:nvPicPr>
        <p:blipFill>
          <a:blip r:embed="rId5">
            <a:extLst>
              <a:ext uri="{28A0092B-C50C-407E-A947-70E740481C1C}">
                <a14:useLocalDpi xmlns:a14="http://schemas.microsoft.com/office/drawing/2010/main" val="0"/>
              </a:ext>
            </a:extLst>
          </a:blip>
          <a:srcRect t="13646" b="19268"/>
          <a:stretch>
            <a:fillRect/>
          </a:stretch>
        </p:blipFill>
        <p:spPr>
          <a:xfrm>
            <a:off x="9925096" y="531778"/>
            <a:ext cx="977809" cy="1420239"/>
          </a:xfrm>
          <a:prstGeom prst="rect">
            <a:avLst/>
          </a:prstGeom>
        </p:spPr>
      </p:pic>
      <p:pic>
        <p:nvPicPr>
          <p:cNvPr id="16" name="Ricordo 4">
            <a:extLst>
              <a:ext uri="{FF2B5EF4-FFF2-40B4-BE49-F238E27FC236}">
                <a16:creationId xmlns:a16="http://schemas.microsoft.com/office/drawing/2014/main" id="{1BA2E3FB-FCE4-C398-E752-EC9B5DBE807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356100" y="2489200"/>
            <a:ext cx="1143000" cy="2032000"/>
          </a:xfrm>
          <a:prstGeom prst="rect">
            <a:avLst/>
          </a:prstGeom>
        </p:spPr>
      </p:pic>
      <p:pic>
        <p:nvPicPr>
          <p:cNvPr id="18" name="Ricordo 5">
            <a:extLst>
              <a:ext uri="{FF2B5EF4-FFF2-40B4-BE49-F238E27FC236}">
                <a16:creationId xmlns:a16="http://schemas.microsoft.com/office/drawing/2014/main" id="{1C461C96-A778-F6E6-98A4-930628238F5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908800" y="2489200"/>
            <a:ext cx="1524000" cy="2032000"/>
          </a:xfrm>
          <a:prstGeom prst="rect">
            <a:avLst/>
          </a:prstGeom>
        </p:spPr>
      </p:pic>
      <p:pic>
        <p:nvPicPr>
          <p:cNvPr id="20" name="Ricordo 6">
            <a:extLst>
              <a:ext uri="{FF2B5EF4-FFF2-40B4-BE49-F238E27FC236}">
                <a16:creationId xmlns:a16="http://schemas.microsoft.com/office/drawing/2014/main" id="{5649F5B5-F2E3-F269-4B6C-11602282C44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652000" y="2489200"/>
            <a:ext cx="1524000" cy="2032000"/>
          </a:xfrm>
          <a:prstGeom prst="rect">
            <a:avLst/>
          </a:prstGeom>
        </p:spPr>
      </p:pic>
      <p:pic>
        <p:nvPicPr>
          <p:cNvPr id="22" name="Ricordo 7">
            <a:extLst>
              <a:ext uri="{FF2B5EF4-FFF2-40B4-BE49-F238E27FC236}">
                <a16:creationId xmlns:a16="http://schemas.microsoft.com/office/drawing/2014/main" id="{C42A0AF8-3713-DB03-2726-5ADCA7C4AF3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165600" y="4673600"/>
            <a:ext cx="1524000" cy="2032000"/>
          </a:xfrm>
          <a:prstGeom prst="rect">
            <a:avLst/>
          </a:prstGeom>
        </p:spPr>
      </p:pic>
      <p:pic>
        <p:nvPicPr>
          <p:cNvPr id="24" name="Ricordo 8">
            <a:extLst>
              <a:ext uri="{FF2B5EF4-FFF2-40B4-BE49-F238E27FC236}">
                <a16:creationId xmlns:a16="http://schemas.microsoft.com/office/drawing/2014/main" id="{FF2EC0A6-6D1A-9731-23C8-D32AB237A2E2}"/>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375400" y="4718050"/>
            <a:ext cx="2590800" cy="1943100"/>
          </a:xfrm>
          <a:prstGeom prst="rect">
            <a:avLst/>
          </a:prstGeom>
        </p:spPr>
      </p:pic>
      <p:pic>
        <p:nvPicPr>
          <p:cNvPr id="4" name="Foto gruppo cascata">
            <a:extLst>
              <a:ext uri="{FF2B5EF4-FFF2-40B4-BE49-F238E27FC236}">
                <a16:creationId xmlns:a16="http://schemas.microsoft.com/office/drawing/2014/main" id="{4C671446-B41A-5203-5E2B-AF201C1371E6}"/>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258888" y="4864100"/>
            <a:ext cx="1381125" cy="1841500"/>
          </a:xfrm>
          <a:prstGeom prst="rect">
            <a:avLst/>
          </a:prstGeom>
        </p:spPr>
      </p:pic>
    </p:spTree>
    <p:extLst>
      <p:ext uri="{BB962C8B-B14F-4D97-AF65-F5344CB8AC3E}">
        <p14:creationId xmlns:p14="http://schemas.microsoft.com/office/powerpoint/2010/main" val="33292743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3"/>
          <a:stretch/>
        </p:blipFill>
        <p:spPr>
          <a:xfrm>
            <a:off x="609600" y="405288"/>
            <a:ext cx="952500" cy="789624"/>
          </a:xfrm>
          <a:prstGeom prst="rect">
            <a:avLst/>
          </a:prstGeom>
        </p:spPr>
      </p:pic>
      <p:sp>
        <p:nvSpPr>
          <p:cNvPr id="2" name="Rectangle 1">
            <a:extLst>
              <a:ext uri="{FF2B5EF4-FFF2-40B4-BE49-F238E27FC236}">
                <a16:creationId xmlns:a16="http://schemas.microsoft.com/office/drawing/2014/main" id="{3C9F48EF-C541-4AB5-9D04-99775057D874}"/>
              </a:ext>
            </a:extLst>
          </p:cNvPr>
          <p:cNvSpPr>
            <a:spLocks noGrp="1"/>
          </p:cNvSpPr>
          <p:nvPr/>
        </p:nvSpPr>
        <p:spPr>
          <a:xfrm>
            <a:off x="1752600" y="438150"/>
            <a:ext cx="9239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Università Campus Bio-Medico di Roma</a:t>
            </a:r>
          </a:p>
        </p:txBody>
      </p:sp>
      <p:sp>
        <p:nvSpPr>
          <p:cNvPr id="3" name="Rectangle 2">
            <a:extLst>
              <a:ext uri="{FF2B5EF4-FFF2-40B4-BE49-F238E27FC236}">
                <a16:creationId xmlns:a16="http://schemas.microsoft.com/office/drawing/2014/main" id="{85D2D7C9-2F27-45C3-B3DC-01B26E0CA917}"/>
              </a:ext>
            </a:extLst>
          </p:cNvPr>
          <p:cNvSpPr>
            <a:spLocks noGrp="1"/>
          </p:cNvSpPr>
          <p:nvPr/>
        </p:nvSpPr>
        <p:spPr>
          <a:xfrm>
            <a:off x="1752600" y="809625"/>
            <a:ext cx="8858250" cy="647700"/>
          </a:xfrm>
          <a:prstGeom prst="rect">
            <a:avLst/>
          </a:prstGeom>
          <a:noFill/>
          <a:ln w="0">
            <a:noFill/>
          </a:ln>
        </p:spPr>
        <p:txBody>
          <a:bodyPr>
            <a:noAutofit/>
          </a:bodyPr>
          <a:lstStyle/>
          <a:p>
            <a:pPr>
              <a:defRPr sz="1575" b="0">
                <a:solidFill>
                  <a:srgbClr val="203344"/>
                </a:solidFill>
                <a:latin typeface="Arial"/>
                <a:ea typeface="Arial"/>
                <a:cs typeface="Arial"/>
              </a:defRPr>
            </a:pPr>
            <a:r>
              <a:rPr sz="1575" b="0">
                <a:solidFill>
                  <a:srgbClr val="203344"/>
                </a:solidFill>
                <a:latin typeface="Arial"/>
                <a:ea typeface="Arial"/>
                <a:cs typeface="Arial"/>
              </a:rPr>
              <a:t>Facoltà Dipartimentale di Ingegneria</a:t>
            </a:r>
          </a:p>
          <a:p>
            <a:pPr>
              <a:defRPr sz="1575" b="0">
                <a:solidFill>
                  <a:srgbClr val="203344"/>
                </a:solidFill>
                <a:latin typeface="Arial"/>
                <a:ea typeface="Arial"/>
                <a:cs typeface="Arial"/>
              </a:defRPr>
            </a:pPr>
            <a:r>
              <a:rPr sz="1575" b="0">
                <a:solidFill>
                  <a:srgbClr val="203344"/>
                </a:solidFill>
                <a:latin typeface="Arial"/>
                <a:ea typeface="Arial"/>
                <a:cs typeface="Arial"/>
              </a:rPr>
              <a:t>Laurea Magistrale in Ingegneria dei Sistemi Intelligenti</a:t>
            </a:r>
          </a:p>
        </p:txBody>
      </p:sp>
      <p:sp>
        <p:nvSpPr>
          <p:cNvPr id="4" name="Rectangle 3">
            <a:extLst>
              <a:ext uri="{FF2B5EF4-FFF2-40B4-BE49-F238E27FC236}">
                <a16:creationId xmlns:a16="http://schemas.microsoft.com/office/drawing/2014/main" id="{23642B9C-F891-4E0A-A9AD-6E326DDD4410}"/>
              </a:ext>
            </a:extLst>
          </p:cNvPr>
          <p:cNvSpPr>
            <a:spLocks noGrp="1"/>
          </p:cNvSpPr>
          <p:nvPr/>
        </p:nvSpPr>
        <p:spPr>
          <a:xfrm>
            <a:off x="609600" y="1990725"/>
            <a:ext cx="7334250" cy="1371600"/>
          </a:xfrm>
          <a:prstGeom prst="rect">
            <a:avLst/>
          </a:prstGeom>
          <a:noFill/>
          <a:ln w="0">
            <a:noFill/>
          </a:ln>
        </p:spPr>
        <p:txBody>
          <a:bodyPr>
            <a:noAutofit/>
          </a:bodyPr>
          <a:lstStyle/>
          <a:p>
            <a:pPr>
              <a:defRPr sz="4275" b="1">
                <a:solidFill>
                  <a:srgbClr val="003366"/>
                </a:solidFill>
                <a:latin typeface="Arial"/>
                <a:ea typeface="Arial"/>
                <a:cs typeface="Arial"/>
              </a:defRPr>
            </a:pPr>
            <a:r>
              <a:rPr sz="4275" b="1">
                <a:solidFill>
                  <a:srgbClr val="003366"/>
                </a:solidFill>
                <a:latin typeface="Arial"/>
                <a:ea typeface="Arial"/>
                <a:cs typeface="Arial"/>
              </a:rPr>
              <a:t>Shor’s algorithm</a:t>
            </a:r>
          </a:p>
          <a:p>
            <a:pPr>
              <a:defRPr sz="4275" b="1">
                <a:solidFill>
                  <a:srgbClr val="003366"/>
                </a:solidFill>
                <a:latin typeface="Arial"/>
                <a:ea typeface="Arial"/>
                <a:cs typeface="Arial"/>
              </a:defRPr>
            </a:pPr>
            <a:r>
              <a:rPr sz="4275" b="1">
                <a:solidFill>
                  <a:srgbClr val="003366"/>
                </a:solidFill>
                <a:latin typeface="Arial"/>
                <a:ea typeface="Arial"/>
                <a:cs typeface="Arial"/>
              </a:rPr>
              <a:t>under noise</a:t>
            </a:r>
          </a:p>
        </p:txBody>
      </p:sp>
      <p:sp>
        <p:nvSpPr>
          <p:cNvPr id="5" name="Rectangle 4">
            <a:extLst>
              <a:ext uri="{FF2B5EF4-FFF2-40B4-BE49-F238E27FC236}">
                <a16:creationId xmlns:a16="http://schemas.microsoft.com/office/drawing/2014/main" id="{F6A9A1EC-12DD-49BB-B82C-D1D7C02BC5F9}"/>
              </a:ext>
            </a:extLst>
          </p:cNvPr>
          <p:cNvSpPr>
            <a:spLocks noGrp="1"/>
          </p:cNvSpPr>
          <p:nvPr/>
        </p:nvSpPr>
        <p:spPr>
          <a:xfrm>
            <a:off x="609600" y="3581400"/>
            <a:ext cx="7067550" cy="1276350"/>
          </a:xfrm>
          <a:prstGeom prst="rect">
            <a:avLst/>
          </a:prstGeom>
          <a:noFill/>
          <a:ln w="0">
            <a:noFill/>
          </a:ln>
        </p:spPr>
        <p:txBody>
          <a:bodyPr>
            <a:noAutofit/>
          </a:bodyPr>
          <a:lstStyle/>
          <a:p>
            <a:pPr>
              <a:defRPr sz="2325" b="0">
                <a:solidFill>
                  <a:srgbClr val="203344"/>
                </a:solidFill>
                <a:latin typeface="Arial"/>
                <a:ea typeface="Arial"/>
                <a:cs typeface="Arial"/>
              </a:defRPr>
            </a:pPr>
            <a:r>
              <a:rPr sz="2325" b="0">
                <a:solidFill>
                  <a:srgbClr val="203344"/>
                </a:solidFill>
                <a:latin typeface="Arial"/>
                <a:ea typeface="Arial"/>
                <a:cs typeface="Arial"/>
              </a:rPr>
              <a:t>Machine-learning ablation,</a:t>
            </a:r>
          </a:p>
          <a:p>
            <a:pPr>
              <a:defRPr sz="2325" b="0">
                <a:solidFill>
                  <a:srgbClr val="203344"/>
                </a:solidFill>
                <a:latin typeface="Arial"/>
                <a:ea typeface="Arial"/>
                <a:cs typeface="Arial"/>
              </a:defRPr>
            </a:pPr>
            <a:r>
              <a:rPr sz="2325" b="0">
                <a:solidFill>
                  <a:srgbClr val="203344"/>
                </a:solidFill>
                <a:latin typeface="Arial"/>
                <a:ea typeface="Arial"/>
                <a:cs typeface="Arial"/>
              </a:rPr>
              <a:t>quantum error correction</a:t>
            </a:r>
          </a:p>
          <a:p>
            <a:pPr>
              <a:defRPr sz="2325" b="0">
                <a:solidFill>
                  <a:srgbClr val="203344"/>
                </a:solidFill>
                <a:latin typeface="Arial"/>
                <a:ea typeface="Arial"/>
                <a:cs typeface="Arial"/>
              </a:defRPr>
            </a:pPr>
            <a:r>
              <a:rPr sz="2325" b="0">
                <a:solidFill>
                  <a:srgbClr val="203344"/>
                </a:solidFill>
                <a:latin typeface="Arial"/>
                <a:ea typeface="Arial"/>
                <a:cs typeface="Arial"/>
              </a:rPr>
              <a:t>and approximate QFT</a:t>
            </a:r>
          </a:p>
        </p:txBody>
      </p:sp>
      <p:pic>
        <p:nvPicPr>
          <p:cNvPr id="16" name="Picture 15"/>
          <p:cNvPicPr>
            <a:picLocks noChangeAspect="1"/>
          </p:cNvPicPr>
          <p:nvPr/>
        </p:nvPicPr>
        <p:blipFill>
          <a:blip r:embed="rId4"/>
          <a:stretch/>
        </p:blipFill>
        <p:spPr>
          <a:xfrm>
            <a:off x="7829550" y="1990312"/>
            <a:ext cx="3695700" cy="3467927"/>
          </a:xfrm>
          <a:prstGeom prst="rect">
            <a:avLst/>
          </a:prstGeom>
        </p:spPr>
      </p:pic>
      <p:sp>
        <p:nvSpPr>
          <p:cNvPr id="7" name="Rectangle 6">
            <a:extLst>
              <a:ext uri="{FF2B5EF4-FFF2-40B4-BE49-F238E27FC236}">
                <a16:creationId xmlns:a16="http://schemas.microsoft.com/office/drawing/2014/main" id="{B3D49A18-4070-4177-B7DF-7692A24022DE}"/>
              </a:ext>
            </a:extLst>
          </p:cNvPr>
          <p:cNvSpPr>
            <a:spLocks noGrp="1"/>
          </p:cNvSpPr>
          <p:nvPr/>
        </p:nvSpPr>
        <p:spPr>
          <a:xfrm>
            <a:off x="609600" y="5457825"/>
            <a:ext cx="438150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Claudio Dragotta</a:t>
            </a:r>
          </a:p>
        </p:txBody>
      </p:sp>
      <p:sp>
        <p:nvSpPr>
          <p:cNvPr id="8" name="Rectangle 7">
            <a:extLst>
              <a:ext uri="{FF2B5EF4-FFF2-40B4-BE49-F238E27FC236}">
                <a16:creationId xmlns:a16="http://schemas.microsoft.com/office/drawing/2014/main" id="{F97B7AF3-F65D-47FE-AD63-B30D3BE685FA}"/>
              </a:ext>
            </a:extLst>
          </p:cNvPr>
          <p:cNvSpPr>
            <a:spLocks noGrp="1"/>
          </p:cNvSpPr>
          <p:nvPr/>
        </p:nvSpPr>
        <p:spPr>
          <a:xfrm>
            <a:off x="609600" y="5829300"/>
            <a:ext cx="3143250" cy="314325"/>
          </a:xfrm>
          <a:prstGeom prst="rect">
            <a:avLst/>
          </a:prstGeom>
          <a:noFill/>
          <a:ln w="0">
            <a:noFill/>
          </a:ln>
        </p:spPr>
        <p:txBody>
          <a:bodyPr>
            <a:noAutofit/>
          </a:bodyPr>
          <a:lstStyle/>
          <a:p>
            <a:pPr>
              <a:defRPr sz="1575" b="0">
                <a:solidFill>
                  <a:srgbClr val="203344"/>
                </a:solidFill>
                <a:latin typeface="Arial"/>
                <a:ea typeface="Arial"/>
                <a:cs typeface="Arial"/>
              </a:defRPr>
            </a:pPr>
            <a:r>
              <a:rPr sz="1575" b="0">
                <a:solidFill>
                  <a:srgbClr val="203344"/>
                </a:solidFill>
                <a:latin typeface="Arial"/>
                <a:ea typeface="Arial"/>
                <a:cs typeface="Arial"/>
              </a:rPr>
              <a:t>Laureando</a:t>
            </a:r>
          </a:p>
        </p:txBody>
      </p:sp>
      <p:sp>
        <p:nvSpPr>
          <p:cNvPr id="9" name="Rectangle 8">
            <a:extLst>
              <a:ext uri="{FF2B5EF4-FFF2-40B4-BE49-F238E27FC236}">
                <a16:creationId xmlns:a16="http://schemas.microsoft.com/office/drawing/2014/main" id="{B617E2E1-2F16-4949-80F2-901CB2C1A95D}"/>
              </a:ext>
            </a:extLst>
          </p:cNvPr>
          <p:cNvSpPr>
            <a:spLocks noGrp="1"/>
          </p:cNvSpPr>
          <p:nvPr/>
        </p:nvSpPr>
        <p:spPr>
          <a:xfrm>
            <a:off x="5172075" y="5457825"/>
            <a:ext cx="6286500" cy="733425"/>
          </a:xfrm>
          <a:prstGeom prst="rect">
            <a:avLst/>
          </a:prstGeom>
          <a:noFill/>
          <a:ln w="0">
            <a:noFill/>
          </a:ln>
        </p:spPr>
        <p:txBody>
          <a:bodyPr>
            <a:noAutofit/>
          </a:bodyPr>
          <a:lstStyle/>
          <a:p>
            <a:pPr>
              <a:defRPr sz="1725" b="0">
                <a:solidFill>
                  <a:srgbClr val="203344"/>
                </a:solidFill>
                <a:latin typeface="Arial"/>
                <a:ea typeface="Arial"/>
                <a:cs typeface="Arial"/>
              </a:defRPr>
            </a:pPr>
            <a:r>
              <a:rPr sz="1725" b="0">
                <a:solidFill>
                  <a:srgbClr val="203344"/>
                </a:solidFill>
                <a:latin typeface="Arial"/>
                <a:ea typeface="Arial"/>
                <a:cs typeface="Arial"/>
              </a:rPr>
              <a:t>Relatore  Prof. Paolo Soda</a:t>
            </a:r>
          </a:p>
          <a:p>
            <a:pPr>
              <a:defRPr sz="1725" b="0">
                <a:solidFill>
                  <a:srgbClr val="203344"/>
                </a:solidFill>
                <a:latin typeface="Arial"/>
                <a:ea typeface="Arial"/>
                <a:cs typeface="Arial"/>
              </a:defRPr>
            </a:pPr>
            <a:r>
              <a:rPr sz="1725" b="0">
                <a:solidFill>
                  <a:srgbClr val="203344"/>
                </a:solidFill>
                <a:latin typeface="Arial"/>
                <a:ea typeface="Arial"/>
                <a:cs typeface="Arial"/>
              </a:rPr>
              <a:t>Correlatore  Ing. Floriano Caprio</a:t>
            </a:r>
          </a:p>
        </p:txBody>
      </p:sp>
      <p:sp>
        <p:nvSpPr>
          <p:cNvPr id="10" name="Rectangle 9">
            <a:extLst>
              <a:ext uri="{FF2B5EF4-FFF2-40B4-BE49-F238E27FC236}">
                <a16:creationId xmlns:a16="http://schemas.microsoft.com/office/drawing/2014/main" id="{05208FE7-C760-4EA1-9A0B-58579754F642}"/>
              </a:ext>
            </a:extLst>
          </p:cNvPr>
          <p:cNvSpPr>
            <a:spLocks noGrp="1"/>
          </p:cNvSpPr>
          <p:nvPr/>
        </p:nvSpPr>
        <p:spPr>
          <a:xfrm>
            <a:off x="609600" y="6410325"/>
            <a:ext cx="5810250" cy="228600"/>
          </a:xfrm>
          <a:prstGeom prst="rect">
            <a:avLst/>
          </a:prstGeom>
          <a:noFill/>
          <a:ln w="0">
            <a:noFill/>
          </a:ln>
        </p:spPr>
        <p:txBody>
          <a:bodyPr>
            <a:noAutofit/>
          </a:bodyPr>
          <a:lstStyle/>
          <a:p>
            <a:pPr>
              <a:defRPr sz="1350" b="0">
                <a:solidFill>
                  <a:srgbClr val="647487"/>
                </a:solidFill>
                <a:latin typeface="Arial"/>
                <a:ea typeface="Arial"/>
                <a:cs typeface="Arial"/>
              </a:defRPr>
            </a:pPr>
            <a:r>
              <a:rPr sz="1350" b="0">
                <a:solidFill>
                  <a:srgbClr val="647487"/>
                </a:solidFill>
                <a:latin typeface="Arial"/>
                <a:ea typeface="Arial"/>
                <a:cs typeface="Arial"/>
              </a:rPr>
              <a:t>A.A. 2025/2026</a:t>
            </a:r>
          </a:p>
        </p:txBody>
      </p:sp>
    </p:spTree>
    <p:extLst>
      <p:ext uri="{BB962C8B-B14F-4D97-AF65-F5344CB8AC3E}">
        <p14:creationId xmlns:p14="http://schemas.microsoft.com/office/powerpoint/2010/main" val="37220740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93C3B39-6012-409D-8C55-2E1E8048285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Il problema e l'obiettivo</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82AFE8A-0115-4407-BDA2-396C170A082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BD900CC-09C6-4AFF-B224-9EC736B42A92}"/>
              </a:ext>
            </a:extLst>
          </p:cNvPr>
          <p:cNvSpPr>
            <a:spLocks noGrp="1"/>
          </p:cNvSpPr>
          <p:nvPr/>
        </p:nvSpPr>
        <p:spPr>
          <a:xfrm>
            <a:off x="7477125" y="828675"/>
            <a:ext cx="3228975" cy="219075"/>
          </a:xfrm>
          <a:prstGeom prst="rect">
            <a:avLst/>
          </a:prstGeom>
          <a:noFill/>
          <a:ln w="0">
            <a:noFill/>
          </a:ln>
        </p:spPr>
        <p:txBody>
          <a:bodyPr rIns="0" anchor="ctr">
            <a:noAutofit/>
          </a:bodyPr>
          <a:lstStyle/>
          <a:p>
            <a:pPr algn="r">
              <a:defRPr sz="1200" b="0">
                <a:solidFill>
                  <a:srgbClr val="203344"/>
                </a:solidFill>
                <a:latin typeface="Arial"/>
                <a:ea typeface="Arial"/>
                <a:cs typeface="Arial"/>
              </a:defRPr>
            </a:pPr>
            <a:r>
              <a:rPr lang="it-IT" sz="1050" b="0">
                <a:solidFill>
                  <a:srgbClr val="203344"/>
                </a:solidFill>
                <a:latin typeface="Arial"/>
                <a:ea typeface="Arial"/>
                <a:cs typeface="Arial"/>
              </a:rPr>
              <a:t>Introduzione | 2</a:t>
            </a:r>
            <a:endParaRPr sz="1050" b="0">
              <a:solidFill>
                <a:srgbClr val="203344"/>
              </a:solidFill>
              <a:latin typeface="Arial"/>
              <a:ea typeface="Arial"/>
              <a:cs typeface="Arial"/>
            </a:endParaRPr>
          </a:p>
        </p:txBody>
      </p:sp>
      <p:sp>
        <p:nvSpPr>
          <p:cNvPr id="101" name="A card 0"/>
          <p:cNvSpPr/>
          <p:nvPr/>
        </p:nvSpPr>
        <p:spPr>
          <a:xfrm>
            <a:off x="609600" y="1550000"/>
            <a:ext cx="3200000" cy="1850000"/>
          </a:xfrm>
          <a:prstGeom prst="roundRect">
            <a:avLst>
              <a:gd name="adj" fmla="val 8000"/>
            </a:avLst>
          </a:prstGeom>
          <a:solidFill>
            <a:srgbClr val="EEF4F8"/>
          </a:solidFill>
          <a:ln w="14288">
            <a:solidFill>
              <a:srgbClr val="5084BF"/>
            </a:solidFill>
          </a:ln>
        </p:spPr>
        <p:txBody>
          <a:bodyPr wrap="square" lIns="182880" tIns="330000" rIns="182880" bIns="182880" rtlCol="0" anchor="t">
            <a:noAutofit/>
          </a:bodyPr>
          <a:lstStyle/>
          <a:p>
            <a:pPr algn="ctr">
              <a:spcAft>
                <a:spcPts val="1000"/>
              </a:spcAft>
              <a:buNone/>
            </a:pPr>
            <a:r>
              <a:rPr lang="it-IT" sz="2600" b="1">
                <a:solidFill>
                  <a:srgbClr val="003366"/>
                </a:solidFill>
                <a:latin typeface="Arial" panose="020B0604020202020204" pitchFamily="34" charset="0"/>
                <a:cs typeface="Arial"/>
              </a:rPr>
              <a:t>Fattorizzazione</a:t>
            </a:r>
          </a:p>
          <a:p>
            <a:pPr algn="ctr">
              <a:spcAft>
                <a:spcPts val="900"/>
              </a:spcAft>
              <a:buNone/>
            </a:pPr>
            <a:r>
              <a:rPr lang="it-IT" sz="1500">
                <a:solidFill>
                  <a:srgbClr val="003366"/>
                </a:solidFill>
                <a:latin typeface="Arial" panose="020B0604020202020204" pitchFamily="34" charset="0"/>
                <a:cs typeface="Arial"/>
              </a:rPr>
              <a:t>Con i metodi classici, fattorizzare grandi interi è </a:t>
            </a:r>
            <a:r>
              <a:rPr lang="it-IT" sz="1500" err="1">
                <a:solidFill>
                  <a:srgbClr val="003366"/>
                </a:solidFill>
                <a:latin typeface="Arial" panose="020B0604020202020204" pitchFamily="34" charset="0"/>
                <a:cs typeface="Arial"/>
              </a:rPr>
              <a:t>computazionalmente</a:t>
            </a:r>
            <a:r>
              <a:rPr lang="it-IT" sz="1500">
                <a:solidFill>
                  <a:srgbClr val="003366"/>
                </a:solidFill>
                <a:latin typeface="Arial" panose="020B0604020202020204" pitchFamily="34" charset="0"/>
                <a:cs typeface="Arial"/>
              </a:rPr>
              <a:t> NP Hard</a:t>
            </a:r>
            <a:endParaRPr lang="it-IT" sz="1500">
              <a:solidFill>
                <a:srgbClr val="203344"/>
              </a:solidFill>
              <a:latin typeface="Arial" panose="020B0604020202020204" pitchFamily="34" charset="0"/>
              <a:cs typeface="Arial"/>
            </a:endParaRPr>
          </a:p>
        </p:txBody>
      </p:sp>
      <p:sp>
        <p:nvSpPr>
          <p:cNvPr id="102" name="A arrow 0"/>
          <p:cNvSpPr/>
          <p:nvPr/>
        </p:nvSpPr>
        <p:spPr>
          <a:xfrm>
            <a:off x="4002800" y="2350000"/>
            <a:ext cx="300000" cy="250000"/>
          </a:xfrm>
          <a:prstGeom prst="rightArrow">
            <a:avLst/>
          </a:prstGeom>
          <a:solidFill>
            <a:srgbClr val="003366"/>
          </a:solidFill>
          <a:ln>
            <a:noFill/>
          </a:ln>
        </p:spPr>
        <p:txBody>
          <a:bodyPr wrap="square" lIns="91440" tIns="91440" rIns="91440" bIns="91440" rtlCol="0" anchor="ctr">
            <a:noAutofit/>
          </a:bodyPr>
          <a:lstStyle/>
          <a:p>
            <a:endParaRPr lang="it-IT"/>
          </a:p>
        </p:txBody>
      </p:sp>
      <p:sp>
        <p:nvSpPr>
          <p:cNvPr id="103" name="A card 1"/>
          <p:cNvSpPr/>
          <p:nvPr/>
        </p:nvSpPr>
        <p:spPr>
          <a:xfrm>
            <a:off x="4496000" y="1550000"/>
            <a:ext cx="3200000" cy="1850000"/>
          </a:xfrm>
          <a:prstGeom prst="roundRect">
            <a:avLst>
              <a:gd name="adj" fmla="val 8000"/>
            </a:avLst>
          </a:prstGeom>
          <a:solidFill>
            <a:srgbClr val="EEF4F8"/>
          </a:solidFill>
          <a:ln w="14288">
            <a:solidFill>
              <a:srgbClr val="5084BF"/>
            </a:solidFill>
          </a:ln>
        </p:spPr>
        <p:txBody>
          <a:bodyPr wrap="square" lIns="182880" tIns="330000" rIns="182880" bIns="182880" rtlCol="0" anchor="t">
            <a:noAutofit/>
          </a:bodyPr>
          <a:lstStyle/>
          <a:p>
            <a:pPr algn="ctr">
              <a:spcAft>
                <a:spcPts val="1000"/>
              </a:spcAft>
              <a:buNone/>
            </a:pPr>
            <a:r>
              <a:rPr lang="it-IT" sz="2600" b="1">
                <a:solidFill>
                  <a:srgbClr val="003366"/>
                </a:solidFill>
                <a:latin typeface="Arial" panose="020B0604020202020204" pitchFamily="34" charset="0"/>
                <a:cs typeface="Arial"/>
              </a:rPr>
              <a:t>Shor</a:t>
            </a:r>
          </a:p>
          <a:p>
            <a:pPr algn="ctr">
              <a:spcAft>
                <a:spcPts val="900"/>
              </a:spcAft>
              <a:buNone/>
            </a:pPr>
            <a:r>
              <a:rPr lang="it-IT" sz="1500">
                <a:solidFill>
                  <a:srgbClr val="003366"/>
                </a:solidFill>
                <a:latin typeface="Arial" panose="020B0604020202020204" pitchFamily="34" charset="0"/>
                <a:cs typeface="Arial"/>
              </a:rPr>
              <a:t>Nel modello quantistico ideale, trova i fattori in tempo polinomiale</a:t>
            </a:r>
            <a:endParaRPr lang="it-IT" sz="1500">
              <a:solidFill>
                <a:srgbClr val="203344"/>
              </a:solidFill>
              <a:latin typeface="Arial" panose="020B0604020202020204" pitchFamily="34" charset="0"/>
              <a:cs typeface="Arial"/>
            </a:endParaRPr>
          </a:p>
        </p:txBody>
      </p:sp>
      <p:sp>
        <p:nvSpPr>
          <p:cNvPr id="104" name="A arrow 1"/>
          <p:cNvSpPr/>
          <p:nvPr/>
        </p:nvSpPr>
        <p:spPr>
          <a:xfrm>
            <a:off x="7889200" y="2350000"/>
            <a:ext cx="300000" cy="250000"/>
          </a:xfrm>
          <a:prstGeom prst="rightArrow">
            <a:avLst/>
          </a:prstGeom>
          <a:solidFill>
            <a:srgbClr val="003366"/>
          </a:solidFill>
          <a:ln>
            <a:noFill/>
          </a:ln>
        </p:spPr>
        <p:txBody>
          <a:bodyPr wrap="square" lIns="91440" tIns="91440" rIns="91440" bIns="91440" rtlCol="0" anchor="ctr">
            <a:noAutofit/>
          </a:bodyPr>
          <a:lstStyle/>
          <a:p>
            <a:endParaRPr lang="it-IT"/>
          </a:p>
        </p:txBody>
      </p:sp>
      <p:sp>
        <p:nvSpPr>
          <p:cNvPr id="105" name="A card 2"/>
          <p:cNvSpPr/>
          <p:nvPr/>
        </p:nvSpPr>
        <p:spPr>
          <a:xfrm>
            <a:off x="8382400" y="1550000"/>
            <a:ext cx="3200000" cy="1850000"/>
          </a:xfrm>
          <a:prstGeom prst="roundRect">
            <a:avLst>
              <a:gd name="adj" fmla="val 8000"/>
            </a:avLst>
          </a:prstGeom>
          <a:solidFill>
            <a:srgbClr val="FCEFE3"/>
          </a:solidFill>
          <a:ln w="14288">
            <a:solidFill>
              <a:srgbClr val="D9822B"/>
            </a:solidFill>
          </a:ln>
        </p:spPr>
        <p:txBody>
          <a:bodyPr wrap="square" lIns="182880" tIns="330000" rIns="182880" bIns="182880" rtlCol="0" anchor="t">
            <a:noAutofit/>
          </a:bodyPr>
          <a:lstStyle/>
          <a:p>
            <a:pPr algn="ctr">
              <a:spcAft>
                <a:spcPts val="900"/>
              </a:spcAft>
              <a:buNone/>
            </a:pPr>
            <a:r>
              <a:rPr lang="it-IT" sz="2800" b="1">
                <a:solidFill>
                  <a:srgbClr val="A85A12"/>
                </a:solidFill>
                <a:latin typeface="Arial" panose="020B0604020202020204" pitchFamily="34" charset="0"/>
                <a:cs typeface="Arial"/>
              </a:rPr>
              <a:t>Rumorosità</a:t>
            </a:r>
          </a:p>
          <a:p>
            <a:pPr algn="ctr">
              <a:buNone/>
            </a:pPr>
            <a:r>
              <a:rPr lang="it-IT" sz="1600">
                <a:solidFill>
                  <a:srgbClr val="203344"/>
                </a:solidFill>
                <a:latin typeface="Arial" panose="020B0604020202020204" pitchFamily="34" charset="0"/>
                <a:cs typeface="Arial"/>
              </a:rPr>
              <a:t>sull'hardware reale gli errori abbassano il successo di Shor</a:t>
            </a:r>
          </a:p>
        </p:txBody>
      </p:sp>
      <p:sp>
        <p:nvSpPr>
          <p:cNvPr id="106" name="A obiettivo"/>
          <p:cNvSpPr/>
          <p:nvPr/>
        </p:nvSpPr>
        <p:spPr>
          <a:xfrm>
            <a:off x="609600" y="3750000"/>
            <a:ext cx="10972800" cy="1150000"/>
          </a:xfrm>
          <a:prstGeom prst="roundRect">
            <a:avLst>
              <a:gd name="adj" fmla="val 12000"/>
            </a:avLst>
          </a:prstGeom>
          <a:solidFill>
            <a:srgbClr val="175F99"/>
          </a:solidFill>
          <a:ln>
            <a:noFill/>
          </a:ln>
        </p:spPr>
        <p:txBody>
          <a:bodyPr wrap="square" lIns="91440" tIns="91440" rIns="91440" bIns="91440" rtlCol="0" anchor="ctr">
            <a:noAutofit/>
          </a:bodyPr>
          <a:lstStyle/>
          <a:p>
            <a:pPr algn="ctr">
              <a:spcAft>
                <a:spcPts val="300"/>
              </a:spcAft>
              <a:buNone/>
            </a:pPr>
            <a:r>
              <a:rPr lang="it-IT" sz="1400" b="1">
                <a:solidFill>
                  <a:srgbClr val="CFE0F1"/>
                </a:solidFill>
                <a:latin typeface="Arial" panose="020B0604020202020204" pitchFamily="34" charset="0"/>
                <a:cs typeface="Arial"/>
              </a:rPr>
              <a:t>OBIETTIVO</a:t>
            </a:r>
          </a:p>
          <a:p>
            <a:pPr algn="ctr">
              <a:buNone/>
            </a:pPr>
            <a:r>
              <a:rPr lang="it-IT" sz="2800" b="1">
                <a:solidFill>
                  <a:srgbClr val="FFFFFF"/>
                </a:solidFill>
                <a:latin typeface="Arial" panose="020B0604020202020204" pitchFamily="34" charset="0"/>
                <a:cs typeface="Arial"/>
              </a:rPr>
              <a:t>Ridurre l'effetto del rumore su Shor</a:t>
            </a:r>
          </a:p>
        </p:txBody>
      </p:sp>
      <p:sp>
        <p:nvSpPr>
          <p:cNvPr id="107" name="A strategia 0"/>
          <p:cNvSpPr/>
          <p:nvPr/>
        </p:nvSpPr>
        <p:spPr>
          <a:xfrm>
            <a:off x="609600" y="5250000"/>
            <a:ext cx="3429000" cy="900000"/>
          </a:xfrm>
          <a:prstGeom prst="roundRect">
            <a:avLst>
              <a:gd name="adj" fmla="val 12000"/>
            </a:avLst>
          </a:prstGeom>
          <a:solidFill>
            <a:srgbClr val="FFFFFF"/>
          </a:solidFill>
          <a:ln w="14288">
            <a:solidFill>
              <a:srgbClr val="5084BF"/>
            </a:solidFill>
          </a:ln>
        </p:spPr>
        <p:txBody>
          <a:bodyPr wrap="square" lIns="91440" tIns="91440" rIns="91440" bIns="91440" rtlCol="0" anchor="ctr">
            <a:noAutofit/>
          </a:bodyPr>
          <a:lstStyle/>
          <a:p>
            <a:pPr algn="ctr">
              <a:spcAft>
                <a:spcPts val="200"/>
              </a:spcAft>
              <a:buNone/>
            </a:pPr>
            <a:r>
              <a:rPr lang="it-IT" sz="1700" b="1">
                <a:solidFill>
                  <a:srgbClr val="003366"/>
                </a:solidFill>
                <a:latin typeface="Arial" panose="020B0604020202020204" pitchFamily="34" charset="0"/>
                <a:cs typeface="Arial"/>
              </a:rPr>
              <a:t>1. Machine learning</a:t>
            </a:r>
          </a:p>
          <a:p>
            <a:pPr algn="ctr">
              <a:buNone/>
            </a:pPr>
            <a:r>
              <a:rPr lang="it-IT" sz="1500">
                <a:solidFill>
                  <a:srgbClr val="203344"/>
                </a:solidFill>
                <a:latin typeface="Arial" panose="020B0604020202020204" pitchFamily="34" charset="0"/>
                <a:cs typeface="Arial"/>
              </a:rPr>
              <a:t>dopo la misura</a:t>
            </a:r>
          </a:p>
        </p:txBody>
      </p:sp>
      <p:sp>
        <p:nvSpPr>
          <p:cNvPr id="108" name="A strategia 1"/>
          <p:cNvSpPr/>
          <p:nvPr/>
        </p:nvSpPr>
        <p:spPr>
          <a:xfrm>
            <a:off x="4381500" y="5250000"/>
            <a:ext cx="3429000" cy="900000"/>
          </a:xfrm>
          <a:prstGeom prst="roundRect">
            <a:avLst>
              <a:gd name="adj" fmla="val 12000"/>
            </a:avLst>
          </a:prstGeom>
          <a:solidFill>
            <a:srgbClr val="FFFFFF"/>
          </a:solidFill>
          <a:ln w="14288">
            <a:solidFill>
              <a:srgbClr val="5084BF"/>
            </a:solidFill>
          </a:ln>
        </p:spPr>
        <p:txBody>
          <a:bodyPr wrap="square" lIns="91440" tIns="91440" rIns="91440" bIns="91440" rtlCol="0" anchor="ctr">
            <a:noAutofit/>
          </a:bodyPr>
          <a:lstStyle/>
          <a:p>
            <a:pPr algn="ctr">
              <a:spcAft>
                <a:spcPts val="200"/>
              </a:spcAft>
              <a:buNone/>
            </a:pPr>
            <a:r>
              <a:rPr lang="it-IT" sz="1700" b="1">
                <a:solidFill>
                  <a:srgbClr val="003366"/>
                </a:solidFill>
                <a:latin typeface="Arial" panose="020B0604020202020204" pitchFamily="34" charset="0"/>
                <a:cs typeface="Arial"/>
              </a:rPr>
              <a:t>2. Correzione degli errori</a:t>
            </a:r>
          </a:p>
          <a:p>
            <a:pPr algn="ctr">
              <a:buNone/>
            </a:pPr>
            <a:r>
              <a:rPr lang="it-IT" sz="1500">
                <a:solidFill>
                  <a:srgbClr val="203344"/>
                </a:solidFill>
                <a:latin typeface="Arial" panose="020B0604020202020204" pitchFamily="34" charset="0"/>
                <a:cs typeface="Arial"/>
              </a:rPr>
              <a:t>durante il calcolo</a:t>
            </a:r>
          </a:p>
        </p:txBody>
      </p:sp>
      <p:sp>
        <p:nvSpPr>
          <p:cNvPr id="109" name="A strategia 2"/>
          <p:cNvSpPr/>
          <p:nvPr/>
        </p:nvSpPr>
        <p:spPr>
          <a:xfrm>
            <a:off x="8153400" y="5250000"/>
            <a:ext cx="3429000" cy="900000"/>
          </a:xfrm>
          <a:prstGeom prst="roundRect">
            <a:avLst>
              <a:gd name="adj" fmla="val 12000"/>
            </a:avLst>
          </a:prstGeom>
          <a:solidFill>
            <a:srgbClr val="FFFFFF"/>
          </a:solidFill>
          <a:ln w="14288">
            <a:solidFill>
              <a:srgbClr val="5084BF"/>
            </a:solidFill>
          </a:ln>
        </p:spPr>
        <p:txBody>
          <a:bodyPr wrap="square" lIns="91440" tIns="91440" rIns="91440" bIns="91440" rtlCol="0" anchor="ctr">
            <a:noAutofit/>
          </a:bodyPr>
          <a:lstStyle/>
          <a:p>
            <a:pPr algn="ctr">
              <a:spcAft>
                <a:spcPts val="200"/>
              </a:spcAft>
              <a:buNone/>
            </a:pPr>
            <a:r>
              <a:rPr lang="it-IT" sz="1700" b="1">
                <a:solidFill>
                  <a:srgbClr val="003366"/>
                </a:solidFill>
                <a:latin typeface="Arial" panose="020B0604020202020204" pitchFamily="34" charset="0"/>
                <a:cs typeface="Arial"/>
              </a:rPr>
              <a:t>3. QFT approssimata</a:t>
            </a:r>
          </a:p>
          <a:p>
            <a:pPr algn="ctr">
              <a:buNone/>
            </a:pPr>
            <a:r>
              <a:rPr lang="it-IT" sz="1500">
                <a:solidFill>
                  <a:srgbClr val="203344"/>
                </a:solidFill>
                <a:latin typeface="Arial" panose="020B0604020202020204" pitchFamily="34" charset="0"/>
                <a:cs typeface="Arial"/>
              </a:rPr>
              <a:t>meno porte, meno errori</a:t>
            </a:r>
          </a:p>
        </p:txBody>
      </p:sp>
    </p:spTree>
    <p:extLst>
      <p:ext uri="{BB962C8B-B14F-4D97-AF65-F5344CB8AC3E}">
        <p14:creationId xmlns:p14="http://schemas.microsoft.com/office/powerpoint/2010/main" val="332256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9"/>
                                          </p:stCondLst>
                                        </p:cTn>
                                        <p:tgtEl>
                                          <p:spTgt spid="10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9"/>
                                          </p:stCondLst>
                                        </p:cTn>
                                        <p:tgtEl>
                                          <p:spTgt spid="10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9"/>
                                          </p:stCondLst>
                                        </p:cTn>
                                        <p:tgtEl>
                                          <p:spTgt spid="10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9"/>
                                          </p:stCondLst>
                                        </p:cTn>
                                        <p:tgtEl>
                                          <p:spTgt spid="10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9"/>
                                          </p:stCondLst>
                                        </p:cTn>
                                        <p:tgtEl>
                                          <p:spTgt spid="10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9"/>
                                          </p:stCondLst>
                                        </p:cTn>
                                        <p:tgtEl>
                                          <p:spTgt spid="10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9"/>
                                          </p:stCondLst>
                                        </p:cTn>
                                        <p:tgtEl>
                                          <p:spTgt spid="10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9"/>
                                          </p:stCondLst>
                                        </p:cTn>
                                        <p:tgtEl>
                                          <p:spTgt spid="10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9"/>
                                          </p:stCondLst>
                                        </p:cTn>
                                        <p:tgtEl>
                                          <p:spTgt spid="1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02" grpId="0" animBg="1"/>
      <p:bldP spid="103" grpId="0" animBg="1"/>
      <p:bldP spid="104" grpId="0" animBg="1"/>
      <p:bldP spid="105" grpId="0" animBg="1"/>
      <p:bldP spid="106" grpId="0" animBg="1"/>
      <p:bldP spid="107" grpId="0" animBg="1"/>
      <p:bldP spid="108" grpId="0" animBg="1"/>
      <p:bldP spid="10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2"/>
          <p:cNvSpPr/>
          <p:nvPr/>
        </p:nvSpPr>
        <p:spPr>
          <a:xfrm>
            <a:off x="609600" y="1422400"/>
            <a:ext cx="2419350" cy="1757660"/>
          </a:xfrm>
          <a:prstGeom prst="roundRect">
            <a:avLst>
              <a:gd name="adj" fmla="val 7226"/>
            </a:avLst>
          </a:prstGeom>
          <a:solidFill>
            <a:srgbClr val="3F73B0"/>
          </a:solidFill>
          <a:ln/>
        </p:spPr>
        <p:txBody>
          <a:bodyPr/>
          <a:lstStyle/>
          <a:p>
            <a:endParaRPr lang="en-GB"/>
          </a:p>
        </p:txBody>
      </p:sp>
      <p:sp>
        <p:nvSpPr>
          <p:cNvPr id="8" name="Text 4"/>
          <p:cNvSpPr/>
          <p:nvPr/>
        </p:nvSpPr>
        <p:spPr>
          <a:xfrm>
            <a:off x="711200" y="1422400"/>
            <a:ext cx="2216150" cy="1757660"/>
          </a:xfrm>
          <a:prstGeom prst="rect">
            <a:avLst/>
          </a:prstGeom>
          <a:noFill/>
          <a:ln/>
        </p:spPr>
        <p:txBody>
          <a:bodyPr wrap="square" lIns="0" tIns="0" rIns="0" bIns="0" rtlCol="0" anchor="ctr">
            <a:noAutofit/>
          </a:bodyPr>
          <a:lstStyle/>
          <a:p>
            <a:pPr marL="0" indent="0" algn="ctr">
              <a:lnSpc>
                <a:spcPts val="2400"/>
              </a:lnSpc>
              <a:buNone/>
            </a:pPr>
            <a:r>
              <a:rPr lang="en-US" sz="2000" b="1">
                <a:solidFill>
                  <a:srgbClr val="FFFFFF"/>
                </a:solidFill>
                <a:latin typeface="Arial" pitchFamily="34" charset="0"/>
                <a:ea typeface="Arial" pitchFamily="34" charset="-122"/>
                <a:cs typeface="Arial" pitchFamily="34" charset="-120"/>
              </a:rPr>
              <a:t>Pre-processing</a:t>
            </a:r>
            <a:endParaRPr lang="en-US" sz="2000"/>
          </a:p>
          <a:p>
            <a:pPr marL="0" indent="0" algn="ctr">
              <a:lnSpc>
                <a:spcPts val="2400"/>
              </a:lnSpc>
              <a:buNone/>
            </a:pPr>
            <a:r>
              <a:rPr lang="en-US" sz="2000" b="1">
                <a:solidFill>
                  <a:srgbClr val="FFFFFF"/>
                </a:solidFill>
                <a:latin typeface="Arial" pitchFamily="34" charset="0"/>
                <a:ea typeface="Arial" pitchFamily="34" charset="-122"/>
                <a:cs typeface="Arial" pitchFamily="34" charset="-120"/>
              </a:rPr>
              <a:t>classico</a:t>
            </a:r>
            <a:endParaRPr lang="en-US" sz="2000"/>
          </a:p>
          <a:p>
            <a:pPr marL="0" indent="0" algn="ctr">
              <a:spcBef>
                <a:spcPts val="600"/>
              </a:spcBef>
              <a:buNone/>
            </a:pPr>
            <a:r>
              <a:rPr lang="en-US" sz="1300">
                <a:solidFill>
                  <a:srgbClr val="FFFFFF"/>
                </a:solidFill>
                <a:latin typeface="Arial" pitchFamily="34" charset="0"/>
                <a:ea typeface="Arial" pitchFamily="34" charset="-122"/>
                <a:cs typeface="Arial" pitchFamily="34" charset="-120"/>
              </a:rPr>
              <a:t>base a con MCD(a, N) = 1</a:t>
            </a:r>
            <a:endParaRPr lang="en-US" sz="1300"/>
          </a:p>
        </p:txBody>
      </p:sp>
      <p:pic>
        <p:nvPicPr>
          <p:cNvPr id="10" name="Image 2" descr="arrow-right"/>
          <p:cNvPicPr>
            <a:picLocks noChangeAspect="1"/>
          </p:cNvPicPr>
          <p:nvPr/>
        </p:nvPicPr>
        <p:blipFill>
          <a:blip r:embed="rId3"/>
          <a:srcRect/>
          <a:stretch/>
        </p:blipFill>
        <p:spPr>
          <a:xfrm>
            <a:off x="3105150" y="2212330"/>
            <a:ext cx="279400" cy="177800"/>
          </a:xfrm>
          <a:prstGeom prst="rect">
            <a:avLst/>
          </a:prstGeom>
        </p:spPr>
      </p:pic>
      <p:sp>
        <p:nvSpPr>
          <p:cNvPr id="11" name="Shape 6"/>
          <p:cNvSpPr/>
          <p:nvPr/>
        </p:nvSpPr>
        <p:spPr>
          <a:xfrm>
            <a:off x="3460750" y="1422400"/>
            <a:ext cx="2419350" cy="1757660"/>
          </a:xfrm>
          <a:prstGeom prst="roundRect">
            <a:avLst>
              <a:gd name="adj" fmla="val 7226"/>
            </a:avLst>
          </a:prstGeom>
          <a:solidFill>
            <a:srgbClr val="125C97"/>
          </a:solidFill>
          <a:ln/>
        </p:spPr>
        <p:txBody>
          <a:bodyPr/>
          <a:lstStyle/>
          <a:p>
            <a:endParaRPr lang="en-GB"/>
          </a:p>
        </p:txBody>
      </p:sp>
      <p:sp>
        <p:nvSpPr>
          <p:cNvPr id="13" name="Text 8"/>
          <p:cNvSpPr/>
          <p:nvPr/>
        </p:nvSpPr>
        <p:spPr>
          <a:xfrm>
            <a:off x="3562350" y="1422400"/>
            <a:ext cx="2216150" cy="1757660"/>
          </a:xfrm>
          <a:prstGeom prst="rect">
            <a:avLst/>
          </a:prstGeom>
          <a:noFill/>
          <a:ln/>
        </p:spPr>
        <p:txBody>
          <a:bodyPr wrap="square" lIns="0" tIns="0" rIns="0" bIns="0" rtlCol="0" anchor="ctr">
            <a:noAutofit/>
          </a:bodyPr>
          <a:lstStyle/>
          <a:p>
            <a:pPr marL="0" indent="0" algn="ctr">
              <a:lnSpc>
                <a:spcPts val="2400"/>
              </a:lnSpc>
              <a:buNone/>
            </a:pPr>
            <a:r>
              <a:rPr lang="en-US" sz="2000" b="1" err="1">
                <a:solidFill>
                  <a:srgbClr val="FFFFFF"/>
                </a:solidFill>
                <a:latin typeface="Arial" pitchFamily="34" charset="0"/>
                <a:ea typeface="Arial" pitchFamily="34" charset="-122"/>
                <a:cs typeface="Arial" pitchFamily="34" charset="-120"/>
              </a:rPr>
              <a:t>Ricerca</a:t>
            </a:r>
            <a:endParaRPr lang="en-US" sz="2000"/>
          </a:p>
          <a:p>
            <a:pPr marL="0" indent="0" algn="ctr">
              <a:lnSpc>
                <a:spcPts val="2400"/>
              </a:lnSpc>
              <a:buNone/>
            </a:pPr>
            <a:r>
              <a:rPr lang="en-US" sz="2000" b="1">
                <a:solidFill>
                  <a:srgbClr val="FFFFFF"/>
                </a:solidFill>
                <a:latin typeface="Arial" pitchFamily="34" charset="0"/>
                <a:ea typeface="Arial" pitchFamily="34" charset="-122"/>
                <a:cs typeface="Arial" pitchFamily="34" charset="-120"/>
              </a:rPr>
              <a:t>del </a:t>
            </a:r>
            <a:r>
              <a:rPr lang="en-US" sz="2000" b="1" err="1">
                <a:solidFill>
                  <a:srgbClr val="FFFFFF"/>
                </a:solidFill>
                <a:latin typeface="Arial" pitchFamily="34" charset="0"/>
                <a:ea typeface="Arial" pitchFamily="34" charset="-122"/>
                <a:cs typeface="Arial" pitchFamily="34" charset="-120"/>
              </a:rPr>
              <a:t>periodo</a:t>
            </a:r>
            <a:endParaRPr lang="en-US" sz="2000"/>
          </a:p>
          <a:p>
            <a:pPr marL="0" indent="0" algn="ctr">
              <a:spcBef>
                <a:spcPts val="600"/>
              </a:spcBef>
              <a:buNone/>
            </a:pPr>
            <a:r>
              <a:rPr lang="it-IT" sz="1300">
                <a:solidFill>
                  <a:srgbClr val="FFFFFF"/>
                </a:solidFill>
                <a:latin typeface="Arial" pitchFamily="34" charset="0"/>
                <a:ea typeface="Arial" pitchFamily="34" charset="-122"/>
                <a:cs typeface="Arial" pitchFamily="34" charset="-120"/>
              </a:rPr>
              <a:t>stima di fase (QPE) per ricavare r</a:t>
            </a:r>
            <a:endParaRPr lang="en-US" sz="1300"/>
          </a:p>
        </p:txBody>
      </p:sp>
      <p:pic>
        <p:nvPicPr>
          <p:cNvPr id="15" name="Image 3" descr="arrow-right"/>
          <p:cNvPicPr>
            <a:picLocks noChangeAspect="1"/>
          </p:cNvPicPr>
          <p:nvPr/>
        </p:nvPicPr>
        <p:blipFill>
          <a:blip r:embed="rId3"/>
          <a:srcRect/>
          <a:stretch/>
        </p:blipFill>
        <p:spPr>
          <a:xfrm>
            <a:off x="5956300" y="2212330"/>
            <a:ext cx="279400" cy="177800"/>
          </a:xfrm>
          <a:prstGeom prst="rect">
            <a:avLst/>
          </a:prstGeom>
        </p:spPr>
      </p:pic>
      <p:sp>
        <p:nvSpPr>
          <p:cNvPr id="16" name="Shape 10"/>
          <p:cNvSpPr/>
          <p:nvPr/>
        </p:nvSpPr>
        <p:spPr>
          <a:xfrm>
            <a:off x="6311902" y="1422400"/>
            <a:ext cx="2419350" cy="1757660"/>
          </a:xfrm>
          <a:prstGeom prst="roundRect">
            <a:avLst>
              <a:gd name="adj" fmla="val 7226"/>
            </a:avLst>
          </a:prstGeom>
          <a:solidFill>
            <a:srgbClr val="3F73B0"/>
          </a:solidFill>
          <a:ln/>
        </p:spPr>
        <p:txBody>
          <a:bodyPr/>
          <a:lstStyle/>
          <a:p>
            <a:endParaRPr lang="en-GB"/>
          </a:p>
        </p:txBody>
      </p:sp>
      <p:sp>
        <p:nvSpPr>
          <p:cNvPr id="18" name="Text 12"/>
          <p:cNvSpPr/>
          <p:nvPr/>
        </p:nvSpPr>
        <p:spPr>
          <a:xfrm>
            <a:off x="6413500" y="1422400"/>
            <a:ext cx="2216150" cy="1757660"/>
          </a:xfrm>
          <a:prstGeom prst="rect">
            <a:avLst/>
          </a:prstGeom>
          <a:noFill/>
          <a:ln/>
        </p:spPr>
        <p:txBody>
          <a:bodyPr wrap="square" lIns="0" tIns="0" rIns="0" bIns="0" rtlCol="0" anchor="ctr">
            <a:noAutofit/>
          </a:bodyPr>
          <a:lstStyle/>
          <a:p>
            <a:pPr marL="0" indent="0" algn="ctr">
              <a:lnSpc>
                <a:spcPts val="2400"/>
              </a:lnSpc>
              <a:buNone/>
            </a:pPr>
            <a:r>
              <a:rPr lang="en-US" sz="2000" b="1">
                <a:solidFill>
                  <a:srgbClr val="FFFFFF"/>
                </a:solidFill>
                <a:latin typeface="Arial" pitchFamily="34" charset="0"/>
                <a:ea typeface="Arial" pitchFamily="34" charset="-122"/>
                <a:cs typeface="Arial" pitchFamily="34" charset="-120"/>
              </a:rPr>
              <a:t>QFT inversa</a:t>
            </a:r>
            <a:endParaRPr lang="en-US" sz="2000"/>
          </a:p>
          <a:p>
            <a:pPr marL="0" indent="0" algn="ctr">
              <a:lnSpc>
                <a:spcPts val="2400"/>
              </a:lnSpc>
              <a:buNone/>
            </a:pPr>
            <a:r>
              <a:rPr lang="en-US" sz="2000" b="1">
                <a:solidFill>
                  <a:srgbClr val="FFFFFF"/>
                </a:solidFill>
                <a:latin typeface="Arial" pitchFamily="34" charset="0"/>
                <a:ea typeface="Arial" pitchFamily="34" charset="-122"/>
                <a:cs typeface="Arial" pitchFamily="34" charset="-120"/>
              </a:rPr>
              <a:t>e misura</a:t>
            </a:r>
            <a:endParaRPr lang="en-US" sz="2000"/>
          </a:p>
          <a:p>
            <a:pPr marL="0" indent="0" algn="ctr">
              <a:spcBef>
                <a:spcPts val="600"/>
              </a:spcBef>
              <a:buNone/>
            </a:pPr>
            <a:r>
              <a:rPr lang="es-ES" sz="1300">
                <a:solidFill>
                  <a:srgbClr val="FFFFFF"/>
                </a:solidFill>
                <a:latin typeface="Arial" pitchFamily="34" charset="0"/>
                <a:ea typeface="Arial" pitchFamily="34" charset="-122"/>
                <a:cs typeface="Arial" pitchFamily="34" charset="-120"/>
              </a:rPr>
              <a:t>esito y: y / 2</a:t>
            </a:r>
            <a:r>
              <a:rPr lang="es-ES" sz="1300" baseline="30000">
                <a:solidFill>
                  <a:srgbClr val="FFFFFF"/>
                </a:solidFill>
                <a:latin typeface="Arial" pitchFamily="34" charset="0"/>
                <a:ea typeface="Arial" pitchFamily="34" charset="-122"/>
                <a:cs typeface="Arial" pitchFamily="34" charset="-120"/>
              </a:rPr>
              <a:t>m</a:t>
            </a:r>
            <a:r>
              <a:rPr lang="es-ES" sz="1300">
                <a:solidFill>
                  <a:srgbClr val="FFFFFF"/>
                </a:solidFill>
                <a:latin typeface="Arial" pitchFamily="34" charset="0"/>
                <a:ea typeface="Arial" pitchFamily="34" charset="-122"/>
                <a:cs typeface="Arial" pitchFamily="34" charset="-120"/>
              </a:rPr>
              <a:t> ≈ s / r</a:t>
            </a:r>
            <a:endParaRPr lang="en-US" sz="1300"/>
          </a:p>
        </p:txBody>
      </p:sp>
      <p:pic>
        <p:nvPicPr>
          <p:cNvPr id="20" name="Image 4" descr="arrow-right"/>
          <p:cNvPicPr>
            <a:picLocks noChangeAspect="1"/>
          </p:cNvPicPr>
          <p:nvPr/>
        </p:nvPicPr>
        <p:blipFill>
          <a:blip r:embed="rId3"/>
          <a:srcRect/>
          <a:stretch/>
        </p:blipFill>
        <p:spPr>
          <a:xfrm>
            <a:off x="8807450" y="2212330"/>
            <a:ext cx="279400" cy="177800"/>
          </a:xfrm>
          <a:prstGeom prst="rect">
            <a:avLst/>
          </a:prstGeom>
        </p:spPr>
      </p:pic>
      <p:sp>
        <p:nvSpPr>
          <p:cNvPr id="21" name="Shape 14"/>
          <p:cNvSpPr/>
          <p:nvPr/>
        </p:nvSpPr>
        <p:spPr>
          <a:xfrm>
            <a:off x="9163050" y="1422400"/>
            <a:ext cx="2419350" cy="1757660"/>
          </a:xfrm>
          <a:prstGeom prst="roundRect">
            <a:avLst>
              <a:gd name="adj" fmla="val 7226"/>
            </a:avLst>
          </a:prstGeom>
          <a:solidFill>
            <a:srgbClr val="125C97"/>
          </a:solidFill>
          <a:ln/>
        </p:spPr>
        <p:txBody>
          <a:bodyPr/>
          <a:lstStyle/>
          <a:p>
            <a:endParaRPr lang="en-GB"/>
          </a:p>
        </p:txBody>
      </p:sp>
      <p:sp>
        <p:nvSpPr>
          <p:cNvPr id="23" name="Text 16"/>
          <p:cNvSpPr/>
          <p:nvPr/>
        </p:nvSpPr>
        <p:spPr>
          <a:xfrm>
            <a:off x="9264650" y="1422400"/>
            <a:ext cx="2216150" cy="1757660"/>
          </a:xfrm>
          <a:prstGeom prst="rect">
            <a:avLst/>
          </a:prstGeom>
          <a:noFill/>
          <a:ln/>
        </p:spPr>
        <p:txBody>
          <a:bodyPr wrap="square" lIns="0" tIns="0" rIns="0" bIns="0" rtlCol="0" anchor="ctr">
            <a:noAutofit/>
          </a:bodyPr>
          <a:lstStyle/>
          <a:p>
            <a:pPr marL="0" indent="0" algn="ctr">
              <a:lnSpc>
                <a:spcPts val="2400"/>
              </a:lnSpc>
              <a:buNone/>
            </a:pPr>
            <a:r>
              <a:rPr lang="en-US" sz="2000" b="1">
                <a:solidFill>
                  <a:srgbClr val="FFFFFF"/>
                </a:solidFill>
                <a:latin typeface="Arial" pitchFamily="34" charset="0"/>
                <a:ea typeface="Arial" pitchFamily="34" charset="-122"/>
                <a:cs typeface="Arial" pitchFamily="34" charset="-120"/>
              </a:rPr>
              <a:t>Post-processing</a:t>
            </a:r>
            <a:endParaRPr lang="en-US" sz="2000"/>
          </a:p>
          <a:p>
            <a:pPr marL="0" indent="0" algn="ctr">
              <a:lnSpc>
                <a:spcPts val="2400"/>
              </a:lnSpc>
              <a:buNone/>
            </a:pPr>
            <a:r>
              <a:rPr lang="en-US" sz="2000" b="1">
                <a:solidFill>
                  <a:srgbClr val="FFFFFF"/>
                </a:solidFill>
                <a:latin typeface="Arial" pitchFamily="34" charset="0"/>
                <a:ea typeface="Arial" pitchFamily="34" charset="-122"/>
                <a:cs typeface="Arial" pitchFamily="34" charset="-120"/>
              </a:rPr>
              <a:t>classico</a:t>
            </a:r>
            <a:endParaRPr lang="en-US" sz="2000"/>
          </a:p>
          <a:p>
            <a:pPr marL="0" indent="0" algn="ctr">
              <a:spcBef>
                <a:spcPts val="600"/>
              </a:spcBef>
              <a:buNone/>
            </a:pPr>
            <a:r>
              <a:rPr lang="en-US" sz="1300" err="1">
                <a:solidFill>
                  <a:srgbClr val="FFFFFF"/>
                </a:solidFill>
                <a:latin typeface="Arial" pitchFamily="34" charset="0"/>
                <a:ea typeface="Arial" pitchFamily="34" charset="-122"/>
                <a:cs typeface="Arial" pitchFamily="34" charset="-120"/>
              </a:rPr>
              <a:t>frazioni</a:t>
            </a:r>
            <a:r>
              <a:rPr lang="en-US" sz="1300">
                <a:solidFill>
                  <a:srgbClr val="FFFFFF"/>
                </a:solidFill>
                <a:latin typeface="Arial" pitchFamily="34" charset="0"/>
                <a:ea typeface="Arial" pitchFamily="34" charset="-122"/>
                <a:cs typeface="Arial" pitchFamily="34" charset="-120"/>
              </a:rPr>
              <a:t> continue e MCD</a:t>
            </a:r>
            <a:endParaRPr lang="en-US" sz="1300"/>
          </a:p>
        </p:txBody>
      </p:sp>
      <p:pic>
        <p:nvPicPr>
          <p:cNvPr id="25" name="Image 5" descr="Grafico di 7^x mod 15 per x da 0 a 11: la sequenza 1, 7, 4, 13 si ripete ogni quattro valori"/>
          <p:cNvPicPr>
            <a:picLocks noChangeAspect="1"/>
          </p:cNvPicPr>
          <p:nvPr/>
        </p:nvPicPr>
        <p:blipFill>
          <a:blip r:embed="rId4"/>
          <a:srcRect t="-50" b="-50"/>
          <a:stretch/>
        </p:blipFill>
        <p:spPr>
          <a:xfrm>
            <a:off x="709600" y="3703750"/>
            <a:ext cx="4900000" cy="1592500"/>
          </a:xfrm>
          <a:prstGeom prst="rect">
            <a:avLst/>
          </a:prstGeom>
        </p:spPr>
      </p:pic>
      <p:sp>
        <p:nvSpPr>
          <p:cNvPr id="26" name="Text 18"/>
          <p:cNvSpPr/>
          <p:nvPr/>
        </p:nvSpPr>
        <p:spPr>
          <a:xfrm>
            <a:off x="609600" y="5750000"/>
            <a:ext cx="5100000" cy="400000"/>
          </a:xfrm>
          <a:prstGeom prst="rect">
            <a:avLst/>
          </a:prstGeom>
          <a:noFill/>
          <a:ln/>
        </p:spPr>
        <p:txBody>
          <a:bodyPr wrap="square" lIns="0" tIns="0" rIns="0" bIns="0" rtlCol="0" anchor="t">
            <a:noAutofit/>
          </a:bodyPr>
          <a:lstStyle/>
          <a:p>
            <a:pPr marL="0" indent="0" algn="ctr">
              <a:buNone/>
            </a:pPr>
            <a:r>
              <a:rPr lang="it-IT" sz="2000">
                <a:solidFill>
                  <a:srgbClr val="1F2933"/>
                </a:solidFill>
                <a:latin typeface="Arial" pitchFamily="34" charset="0"/>
                <a:ea typeface="Arial" pitchFamily="34" charset="-122"/>
                <a:cs typeface="Arial" pitchFamily="34" charset="-120"/>
              </a:rPr>
              <a:t>N = 15, a = 7  →  </a:t>
            </a:r>
            <a:r>
              <a:rPr lang="it-IT" sz="2000" b="1">
                <a:solidFill>
                  <a:srgbClr val="1F2933"/>
                </a:solidFill>
                <a:latin typeface="Arial" pitchFamily="34" charset="0"/>
                <a:ea typeface="Arial" pitchFamily="34" charset="-122"/>
                <a:cs typeface="Arial" pitchFamily="34" charset="-120"/>
              </a:rPr>
              <a:t>r = 4</a:t>
            </a:r>
            <a:r>
              <a:rPr lang="it-IT" sz="2000">
                <a:solidFill>
                  <a:srgbClr val="1F2933"/>
                </a:solidFill>
                <a:latin typeface="Arial" pitchFamily="34" charset="0"/>
                <a:ea typeface="Arial" pitchFamily="34" charset="-122"/>
                <a:cs typeface="Arial" pitchFamily="34" charset="-120"/>
              </a:rPr>
              <a:t>  →  </a:t>
            </a:r>
            <a:r>
              <a:rPr lang="it-IT" sz="2000" b="1">
                <a:solidFill>
                  <a:srgbClr val="1F2933"/>
                </a:solidFill>
                <a:latin typeface="Arial" pitchFamily="34" charset="0"/>
                <a:ea typeface="Arial" pitchFamily="34" charset="-122"/>
                <a:cs typeface="Arial" pitchFamily="34" charset="-120"/>
              </a:rPr>
              <a:t>15 = 3 × 5</a:t>
            </a:r>
          </a:p>
        </p:txBody>
      </p:sp>
      <p:sp>
        <p:nvSpPr>
          <p:cNvPr id="31" name="Rectangle 30">
            <a:extLst>
              <a:ext uri="{FF2B5EF4-FFF2-40B4-BE49-F238E27FC236}">
                <a16:creationId xmlns:a16="http://schemas.microsoft.com/office/drawing/2014/main" id="{8936EAE4-D3F4-CE9C-7102-79F539B5E879}"/>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Come funziona Shor</a:t>
            </a:r>
            <a:r>
              <a:rPr lang="it-IT" sz="2700">
                <a:solidFill>
                  <a:srgbClr val="003366"/>
                </a:solidFill>
                <a:latin typeface="Arial"/>
                <a:ea typeface="Arial"/>
                <a:cs typeface="Arial"/>
              </a:rPr>
              <a:t> </a:t>
            </a:r>
            <a:r>
              <a:rPr lang="it-IT" sz="2700" b="0">
                <a:solidFill>
                  <a:srgbClr val="003366"/>
                </a:solidFill>
                <a:latin typeface="Arial"/>
                <a:ea typeface="Arial"/>
                <a:cs typeface="Arial"/>
              </a:rPr>
              <a:t>e cosa gli fa il rumore</a:t>
            </a:r>
            <a:endParaRPr sz="2700" b="0">
              <a:solidFill>
                <a:srgbClr val="003366"/>
              </a:solidFill>
              <a:latin typeface="Arial"/>
              <a:ea typeface="Arial"/>
              <a:cs typeface="Arial"/>
            </a:endParaRPr>
          </a:p>
        </p:txBody>
      </p:sp>
      <p:pic>
        <p:nvPicPr>
          <p:cNvPr id="32" name="Picture 31">
            <a:extLst>
              <a:ext uri="{FF2B5EF4-FFF2-40B4-BE49-F238E27FC236}">
                <a16:creationId xmlns:a16="http://schemas.microsoft.com/office/drawing/2014/main" id="{51215FA5-569D-E798-EB49-460B98022349}"/>
              </a:ext>
            </a:extLst>
          </p:cNvPr>
          <p:cNvPicPr>
            <a:picLocks noChangeAspect="1"/>
          </p:cNvPicPr>
          <p:nvPr/>
        </p:nvPicPr>
        <p:blipFill>
          <a:blip r:embed="rId5"/>
          <a:stretch/>
        </p:blipFill>
        <p:spPr>
          <a:xfrm>
            <a:off x="10896600" y="243116"/>
            <a:ext cx="838200" cy="694869"/>
          </a:xfrm>
          <a:prstGeom prst="rect">
            <a:avLst/>
          </a:prstGeom>
        </p:spPr>
      </p:pic>
      <p:sp>
        <p:nvSpPr>
          <p:cNvPr id="33" name="Rectangle 32">
            <a:extLst>
              <a:ext uri="{FF2B5EF4-FFF2-40B4-BE49-F238E27FC236}">
                <a16:creationId xmlns:a16="http://schemas.microsoft.com/office/drawing/2014/main" id="{13330CE6-81CE-3B3E-6A94-7253F8038753}"/>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34" name="Rectangle 33">
            <a:extLst>
              <a:ext uri="{FF2B5EF4-FFF2-40B4-BE49-F238E27FC236}">
                <a16:creationId xmlns:a16="http://schemas.microsoft.com/office/drawing/2014/main" id="{5D040118-4907-CF50-04A9-BED2E35E4273}"/>
              </a:ext>
            </a:extLst>
          </p:cNvPr>
          <p:cNvSpPr>
            <a:spLocks noGrp="1"/>
          </p:cNvSpPr>
          <p:nvPr/>
        </p:nvSpPr>
        <p:spPr>
          <a:xfrm>
            <a:off x="7477125" y="828675"/>
            <a:ext cx="3228975" cy="219075"/>
          </a:xfrm>
          <a:prstGeom prst="rect">
            <a:avLst/>
          </a:prstGeom>
          <a:noFill/>
          <a:ln w="0">
            <a:noFill/>
          </a:ln>
        </p:spPr>
        <p:txBody>
          <a:bodyPr rIns="0" anchor="ctr">
            <a:noAutofit/>
          </a:bodyPr>
          <a:lstStyle/>
          <a:p>
            <a:pPr algn="r">
              <a:defRPr sz="1200" b="0">
                <a:solidFill>
                  <a:srgbClr val="203344"/>
                </a:solidFill>
                <a:latin typeface="Arial"/>
                <a:ea typeface="Arial"/>
                <a:cs typeface="Arial"/>
              </a:defRPr>
            </a:pPr>
            <a:r>
              <a:rPr lang="it-IT" sz="1050" b="0">
                <a:solidFill>
                  <a:srgbClr val="203344"/>
                </a:solidFill>
                <a:latin typeface="Arial"/>
                <a:ea typeface="Arial"/>
                <a:cs typeface="Arial"/>
              </a:rPr>
              <a:t>Introduzione | 3</a:t>
            </a:r>
            <a:endParaRPr sz="1050" b="0">
              <a:solidFill>
                <a:srgbClr val="203344"/>
              </a:solidFill>
              <a:latin typeface="Arial"/>
              <a:ea typeface="Arial"/>
              <a:cs typeface="Arial"/>
            </a:endParaRPr>
          </a:p>
        </p:txBody>
      </p:sp>
      <p:pic>
        <p:nvPicPr>
          <p:cNvPr id="2" name="Picture 12" descr="v2_s13_shor_successo_vs_pg.png"/>
          <p:cNvPicPr>
            <a:picLocks noChangeAspect="1"/>
          </p:cNvPicPr>
          <p:nvPr/>
        </p:nvPicPr>
        <p:blipFill>
          <a:blip r:embed="rId6"/>
          <a:stretch>
            <a:fillRect/>
          </a:stretch>
        </p:blipFill>
        <p:spPr>
          <a:xfrm>
            <a:off x="7244379" y="3350000"/>
            <a:ext cx="3576043" cy="2300000"/>
          </a:xfrm>
          <a:prstGeom prst="rect">
            <a:avLst/>
          </a:prstGeom>
        </p:spPr>
      </p:pic>
      <p:sp>
        <p:nvSpPr>
          <p:cNvPr id="3" name="Text 18"/>
          <p:cNvSpPr/>
          <p:nvPr/>
        </p:nvSpPr>
        <p:spPr>
          <a:xfrm>
            <a:off x="6482400" y="5750000"/>
            <a:ext cx="5100000" cy="400000"/>
          </a:xfrm>
          <a:prstGeom prst="rect">
            <a:avLst/>
          </a:prstGeom>
          <a:noFill/>
          <a:ln/>
        </p:spPr>
        <p:txBody>
          <a:bodyPr wrap="square" lIns="0" tIns="0" rIns="0" bIns="0" rtlCol="0" anchor="t">
            <a:noAutofit/>
          </a:bodyPr>
          <a:lstStyle/>
          <a:p>
            <a:pPr marL="0" indent="0" algn="ctr">
              <a:buNone/>
            </a:pPr>
            <a:r>
              <a:rPr lang="it-IT" sz="2000" b="1">
                <a:solidFill>
                  <a:srgbClr val="1F2933"/>
                </a:solidFill>
                <a:latin typeface="Arial" pitchFamily="34" charset="0"/>
                <a:ea typeface="Arial" pitchFamily="34" charset="-122"/>
                <a:cs typeface="Arial" pitchFamily="34" charset="-120"/>
              </a:rPr>
              <a:t>75%</a:t>
            </a:r>
            <a:r>
              <a:rPr lang="it-IT" sz="2000">
                <a:solidFill>
                  <a:srgbClr val="1F2933"/>
                </a:solidFill>
                <a:latin typeface="Arial" pitchFamily="34" charset="0"/>
                <a:ea typeface="Arial" pitchFamily="34" charset="-122"/>
                <a:cs typeface="Arial" pitchFamily="34" charset="-120"/>
              </a:rPr>
              <a:t>  →  </a:t>
            </a:r>
            <a:r>
              <a:rPr lang="it-IT" sz="2000" b="1">
                <a:solidFill>
                  <a:srgbClr val="1F2933"/>
                </a:solidFill>
                <a:latin typeface="Arial" pitchFamily="34" charset="0"/>
                <a:ea typeface="Arial" pitchFamily="34" charset="-122"/>
                <a:cs typeface="Arial" pitchFamily="34" charset="-120"/>
              </a:rPr>
              <a:t>56,5%</a:t>
            </a:r>
            <a:r>
              <a:rPr lang="it-IT" sz="2000">
                <a:solidFill>
                  <a:srgbClr val="1F2933"/>
                </a:solidFill>
                <a:latin typeface="Arial" pitchFamily="34" charset="0"/>
                <a:ea typeface="Arial" pitchFamily="34" charset="-122"/>
                <a:cs typeface="Arial" pitchFamily="34" charset="-120"/>
              </a:rPr>
              <a:t> all'1%  →  </a:t>
            </a:r>
            <a:r>
              <a:rPr lang="it-IT" sz="2000" b="1">
                <a:solidFill>
                  <a:srgbClr val="1F2933"/>
                </a:solidFill>
                <a:latin typeface="Arial" pitchFamily="34" charset="0"/>
                <a:ea typeface="Arial" pitchFamily="34" charset="-122"/>
                <a:cs typeface="Arial" pitchFamily="34" charset="-120"/>
              </a:rPr>
              <a:t>caso</a:t>
            </a:r>
            <a:r>
              <a:rPr lang="it-IT" sz="2000">
                <a:solidFill>
                  <a:srgbClr val="1F2933"/>
                </a:solidFill>
                <a:latin typeface="Arial" pitchFamily="34" charset="0"/>
                <a:ea typeface="Arial" pitchFamily="34" charset="-122"/>
                <a:cs typeface="Arial" pitchFamily="34" charset="-120"/>
              </a:rPr>
              <a:t> dal 10%</a:t>
            </a:r>
          </a:p>
        </p:txBody>
      </p:sp>
    </p:spTree>
    <p:extLst>
      <p:ext uri="{BB962C8B-B14F-4D97-AF65-F5344CB8AC3E}">
        <p14:creationId xmlns:p14="http://schemas.microsoft.com/office/powerpoint/2010/main" val="186651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9"/>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9"/>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9"/>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9"/>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9"/>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9"/>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9"/>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9"/>
                                          </p:stCondLst>
                                        </p:cTn>
                                        <p:tgtEl>
                                          <p:spTgt spid="1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9"/>
                                          </p:stCondLst>
                                        </p:cTn>
                                        <p:tgtEl>
                                          <p:spTgt spid="2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9"/>
                                          </p:stCondLst>
                                        </p:cTn>
                                        <p:tgtEl>
                                          <p:spTgt spid="2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9"/>
                                          </p:stCondLst>
                                        </p:cTn>
                                        <p:tgtEl>
                                          <p:spTgt spid="2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9"/>
                                          </p:stCondLst>
                                        </p:cTn>
                                        <p:tgtEl>
                                          <p:spTgt spid="2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9"/>
                                          </p:stCondLst>
                                        </p:cTn>
                                        <p:tgtEl>
                                          <p:spTgt spid="2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9"/>
                                          </p:stCondLst>
                                        </p:cTn>
                                        <p:tgtEl>
                                          <p:spTgt spid="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1" grpId="0" animBg="1"/>
      <p:bldP spid="13" grpId="0" animBg="1"/>
      <p:bldP spid="16" grpId="0" animBg="1"/>
      <p:bldP spid="18" grpId="0" animBg="1"/>
      <p:bldP spid="21" grpId="0" animBg="1"/>
      <p:bldP spid="23" grpId="0" animBg="1"/>
      <p:bldP spid="26" grpId="0" animBg="1"/>
      <p:bldP spid="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CDE1CEA5-D38D-13AD-8C1D-B082F56983AE}"/>
              </a:ext>
            </a:extLst>
          </p:cNvPr>
          <p:cNvCxnSpPr/>
          <p:nvPr/>
        </p:nvCxnSpPr>
        <p:spPr>
          <a:xfrm>
            <a:off x="10096500" y="4722812"/>
            <a:ext cx="0" cy="2540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FB078F3-1E38-1156-C358-FBCEF54B21FD}"/>
              </a:ext>
            </a:extLst>
          </p:cNvPr>
          <p:cNvCxnSpPr/>
          <p:nvPr/>
        </p:nvCxnSpPr>
        <p:spPr>
          <a:xfrm>
            <a:off x="10096500" y="3402012"/>
            <a:ext cx="0" cy="3810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5DFDC7D-D9C4-A354-277B-AC1BD6237B5B}"/>
              </a:ext>
            </a:extLst>
          </p:cNvPr>
          <p:cNvCxnSpPr/>
          <p:nvPr/>
        </p:nvCxnSpPr>
        <p:spPr>
          <a:xfrm>
            <a:off x="7404100" y="3402012"/>
            <a:ext cx="0" cy="15748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7C54456-225C-9E0A-3038-DD3974C96199}"/>
              </a:ext>
            </a:extLst>
          </p:cNvPr>
          <p:cNvCxnSpPr/>
          <p:nvPr/>
        </p:nvCxnSpPr>
        <p:spPr>
          <a:xfrm>
            <a:off x="4711700" y="3402012"/>
            <a:ext cx="0" cy="3810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993C3B39-6012-409D-8C55-2E1E8048285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Obiettivi: dove interviene ciascuna strategia</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82AFE8A-0115-4407-BDA2-396C170A082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BD900CC-09C6-4AFF-B224-9EC736B42A92}"/>
              </a:ext>
            </a:extLst>
          </p:cNvPr>
          <p:cNvSpPr>
            <a:spLocks noGrp="1"/>
          </p:cNvSpPr>
          <p:nvPr/>
        </p:nvSpPr>
        <p:spPr>
          <a:xfrm>
            <a:off x="7477125" y="828675"/>
            <a:ext cx="3228975" cy="219075"/>
          </a:xfrm>
          <a:prstGeom prst="rect">
            <a:avLst/>
          </a:prstGeom>
          <a:noFill/>
          <a:ln w="0">
            <a:noFill/>
          </a:ln>
        </p:spPr>
        <p:txBody>
          <a:bodyPr rIns="0" anchor="ctr">
            <a:noAutofit/>
          </a:bodyPr>
          <a:lstStyle/>
          <a:p>
            <a:pPr algn="r">
              <a:defRPr sz="1200" b="0">
                <a:solidFill>
                  <a:srgbClr val="203344"/>
                </a:solidFill>
                <a:latin typeface="Arial"/>
                <a:ea typeface="Arial"/>
                <a:cs typeface="Arial"/>
              </a:defRPr>
            </a:pPr>
            <a:r>
              <a:rPr lang="it-IT" sz="1050" b="0">
                <a:solidFill>
                  <a:srgbClr val="203344"/>
                </a:solidFill>
                <a:latin typeface="Arial"/>
                <a:ea typeface="Arial"/>
                <a:cs typeface="Arial"/>
              </a:rPr>
              <a:t>Introduzione | 4</a:t>
            </a:r>
            <a:endParaRPr sz="1050" b="0">
              <a:solidFill>
                <a:srgbClr val="203344"/>
              </a:solidFill>
              <a:latin typeface="Arial"/>
              <a:ea typeface="Arial"/>
              <a:cs typeface="Arial"/>
            </a:endParaRPr>
          </a:p>
        </p:txBody>
      </p:sp>
      <p:sp>
        <p:nvSpPr>
          <p:cNvPr id="5" name="Rectangle: Rounded Corners 4">
            <a:extLst>
              <a:ext uri="{FF2B5EF4-FFF2-40B4-BE49-F238E27FC236}">
                <a16:creationId xmlns:a16="http://schemas.microsoft.com/office/drawing/2014/main" id="{71A406BA-430E-F9F0-8B64-5BEFA86E6FCC}"/>
              </a:ext>
            </a:extLst>
          </p:cNvPr>
          <p:cNvSpPr/>
          <p:nvPr/>
        </p:nvSpPr>
        <p:spPr>
          <a:xfrm>
            <a:off x="609600" y="2055812"/>
            <a:ext cx="10972800" cy="1498600"/>
          </a:xfrm>
          <a:prstGeom prst="roundRect">
            <a:avLst>
              <a:gd name="adj" fmla="val 8000"/>
            </a:avLst>
          </a:prstGeom>
          <a:solidFill>
            <a:srgbClr val="F7EDCB"/>
          </a:solidFill>
          <a:ln w="19050">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a:extLst>
              <a:ext uri="{FF2B5EF4-FFF2-40B4-BE49-F238E27FC236}">
                <a16:creationId xmlns:a16="http://schemas.microsoft.com/office/drawing/2014/main" id="{B203B3D3-C539-C346-D1CF-D1F6ACEB3D39}"/>
              </a:ext>
            </a:extLst>
          </p:cNvPr>
          <p:cNvSpPr txBox="1"/>
          <p:nvPr/>
        </p:nvSpPr>
        <p:spPr>
          <a:xfrm>
            <a:off x="762000" y="2106612"/>
            <a:ext cx="5080000" cy="369332"/>
          </a:xfrm>
          <a:prstGeom prst="rect">
            <a:avLst/>
          </a:prstGeom>
          <a:noFill/>
        </p:spPr>
        <p:txBody>
          <a:bodyPr vert="horz" wrap="square" rtlCol="0">
            <a:noAutofit/>
          </a:bodyPr>
          <a:lstStyle/>
          <a:p>
            <a:r>
              <a:rPr lang="en-GB" sz="1500" b="1">
                <a:solidFill>
                  <a:srgbClr val="7A5C12"/>
                </a:solidFill>
                <a:latin typeface="Arial" panose="020B0604020202020204" pitchFamily="34" charset="0"/>
              </a:rPr>
              <a:t>Algoritmo di Shor</a:t>
            </a:r>
          </a:p>
        </p:txBody>
      </p:sp>
      <p:sp>
        <p:nvSpPr>
          <p:cNvPr id="7" name="Rectangle: Rounded Corners 6">
            <a:extLst>
              <a:ext uri="{FF2B5EF4-FFF2-40B4-BE49-F238E27FC236}">
                <a16:creationId xmlns:a16="http://schemas.microsoft.com/office/drawing/2014/main" id="{BD9FE72F-AB6F-CE56-3C1B-0CE1FF3977B9}"/>
              </a:ext>
            </a:extLst>
          </p:cNvPr>
          <p:cNvSpPr/>
          <p:nvPr/>
        </p:nvSpPr>
        <p:spPr>
          <a:xfrm>
            <a:off x="787400" y="2436812"/>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379D2604-111F-A13D-FD56-97652F0186E6}"/>
              </a:ext>
            </a:extLst>
          </p:cNvPr>
          <p:cNvSpPr txBox="1"/>
          <p:nvPr/>
        </p:nvSpPr>
        <p:spPr>
          <a:xfrm>
            <a:off x="869499" y="2487612"/>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Scelta di a</a:t>
            </a:r>
          </a:p>
        </p:txBody>
      </p:sp>
      <p:sp>
        <p:nvSpPr>
          <p:cNvPr id="9" name="TextBox 8">
            <a:extLst>
              <a:ext uri="{FF2B5EF4-FFF2-40B4-BE49-F238E27FC236}">
                <a16:creationId xmlns:a16="http://schemas.microsoft.com/office/drawing/2014/main" id="{7F8CE3D5-7F36-50F1-4688-D82C9F52A02A}"/>
              </a:ext>
            </a:extLst>
          </p:cNvPr>
          <p:cNvSpPr txBox="1"/>
          <p:nvPr/>
        </p:nvSpPr>
        <p:spPr>
          <a:xfrm>
            <a:off x="863600" y="3071812"/>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MCD(a, N) = 1</a:t>
            </a:r>
          </a:p>
        </p:txBody>
      </p:sp>
      <p:sp>
        <p:nvSpPr>
          <p:cNvPr id="10" name="Arrow: Right 9">
            <a:extLst>
              <a:ext uri="{FF2B5EF4-FFF2-40B4-BE49-F238E27FC236}">
                <a16:creationId xmlns:a16="http://schemas.microsoft.com/office/drawing/2014/main" id="{4FA152F5-7E2E-B567-3239-3CB985534EAA}"/>
              </a:ext>
            </a:extLst>
          </p:cNvPr>
          <p:cNvSpPr/>
          <p:nvPr/>
        </p:nvSpPr>
        <p:spPr>
          <a:xfrm>
            <a:off x="3276600" y="2843212"/>
            <a:ext cx="177800" cy="152400"/>
          </a:xfrm>
          <a:prstGeom prst="rightArrow">
            <a:avLst/>
          </a:prstGeom>
          <a:solidFill>
            <a:srgbClr val="8A7A4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Rounded Corners 10">
            <a:extLst>
              <a:ext uri="{FF2B5EF4-FFF2-40B4-BE49-F238E27FC236}">
                <a16:creationId xmlns:a16="http://schemas.microsoft.com/office/drawing/2014/main" id="{B2F76A79-3800-1435-88FB-8FB9609CB385}"/>
              </a:ext>
            </a:extLst>
          </p:cNvPr>
          <p:cNvSpPr/>
          <p:nvPr/>
        </p:nvSpPr>
        <p:spPr>
          <a:xfrm>
            <a:off x="3479800" y="2436812"/>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EF43BCDA-4513-C925-0E03-AEBDB0987056}"/>
              </a:ext>
            </a:extLst>
          </p:cNvPr>
          <p:cNvSpPr txBox="1"/>
          <p:nvPr/>
        </p:nvSpPr>
        <p:spPr>
          <a:xfrm>
            <a:off x="3556000" y="2487612"/>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Esponenziazione modulare</a:t>
            </a:r>
          </a:p>
        </p:txBody>
      </p:sp>
      <p:sp>
        <p:nvSpPr>
          <p:cNvPr id="13" name="TextBox 12">
            <a:extLst>
              <a:ext uri="{FF2B5EF4-FFF2-40B4-BE49-F238E27FC236}">
                <a16:creationId xmlns:a16="http://schemas.microsoft.com/office/drawing/2014/main" id="{64378A2F-F034-45ED-9900-8392E8A977BA}"/>
              </a:ext>
            </a:extLst>
          </p:cNvPr>
          <p:cNvSpPr txBox="1"/>
          <p:nvPr/>
        </p:nvSpPr>
        <p:spPr>
          <a:xfrm>
            <a:off x="3556000" y="3071812"/>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stima di fase (QPE)</a:t>
            </a:r>
          </a:p>
        </p:txBody>
      </p:sp>
      <p:sp>
        <p:nvSpPr>
          <p:cNvPr id="14" name="Arrow: Right 13">
            <a:extLst>
              <a:ext uri="{FF2B5EF4-FFF2-40B4-BE49-F238E27FC236}">
                <a16:creationId xmlns:a16="http://schemas.microsoft.com/office/drawing/2014/main" id="{FAD6E5CD-208C-6E07-9B48-CABEB14C5734}"/>
              </a:ext>
            </a:extLst>
          </p:cNvPr>
          <p:cNvSpPr/>
          <p:nvPr/>
        </p:nvSpPr>
        <p:spPr>
          <a:xfrm>
            <a:off x="5969000" y="2843212"/>
            <a:ext cx="177800" cy="152400"/>
          </a:xfrm>
          <a:prstGeom prst="rightArrow">
            <a:avLst/>
          </a:prstGeom>
          <a:solidFill>
            <a:srgbClr val="8A7A4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Rounded Corners 14">
            <a:extLst>
              <a:ext uri="{FF2B5EF4-FFF2-40B4-BE49-F238E27FC236}">
                <a16:creationId xmlns:a16="http://schemas.microsoft.com/office/drawing/2014/main" id="{C91D1915-4C4B-71BF-1D11-C89B7D8B7222}"/>
              </a:ext>
            </a:extLst>
          </p:cNvPr>
          <p:cNvSpPr/>
          <p:nvPr/>
        </p:nvSpPr>
        <p:spPr>
          <a:xfrm>
            <a:off x="6172200" y="2436812"/>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10BC7FA2-A5A5-149C-EABE-EA68AB38DC09}"/>
              </a:ext>
            </a:extLst>
          </p:cNvPr>
          <p:cNvSpPr txBox="1"/>
          <p:nvPr/>
        </p:nvSpPr>
        <p:spPr>
          <a:xfrm>
            <a:off x="6248400" y="2487612"/>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QFT inversa</a:t>
            </a:r>
          </a:p>
        </p:txBody>
      </p:sp>
      <p:sp>
        <p:nvSpPr>
          <p:cNvPr id="17" name="TextBox 16">
            <a:extLst>
              <a:ext uri="{FF2B5EF4-FFF2-40B4-BE49-F238E27FC236}">
                <a16:creationId xmlns:a16="http://schemas.microsoft.com/office/drawing/2014/main" id="{3B513393-831B-C90D-5BCD-591EB8FE277A}"/>
              </a:ext>
            </a:extLst>
          </p:cNvPr>
          <p:cNvSpPr txBox="1"/>
          <p:nvPr/>
        </p:nvSpPr>
        <p:spPr>
          <a:xfrm>
            <a:off x="6248400" y="3071812"/>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rotazioni controllate</a:t>
            </a:r>
          </a:p>
        </p:txBody>
      </p:sp>
      <p:sp>
        <p:nvSpPr>
          <p:cNvPr id="50" name="Arrow: Right 49">
            <a:extLst>
              <a:ext uri="{FF2B5EF4-FFF2-40B4-BE49-F238E27FC236}">
                <a16:creationId xmlns:a16="http://schemas.microsoft.com/office/drawing/2014/main" id="{29DEC9FE-10C7-271F-ABEB-4B97B4321FCD}"/>
              </a:ext>
            </a:extLst>
          </p:cNvPr>
          <p:cNvSpPr/>
          <p:nvPr/>
        </p:nvSpPr>
        <p:spPr>
          <a:xfrm>
            <a:off x="8661400" y="2843212"/>
            <a:ext cx="177800" cy="152400"/>
          </a:xfrm>
          <a:prstGeom prst="rightArrow">
            <a:avLst/>
          </a:prstGeom>
          <a:solidFill>
            <a:srgbClr val="8A7A4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Rounded Corners 50">
            <a:extLst>
              <a:ext uri="{FF2B5EF4-FFF2-40B4-BE49-F238E27FC236}">
                <a16:creationId xmlns:a16="http://schemas.microsoft.com/office/drawing/2014/main" id="{5804AC16-C84A-4973-1E3A-33EF6EF0CE42}"/>
              </a:ext>
            </a:extLst>
          </p:cNvPr>
          <p:cNvSpPr/>
          <p:nvPr/>
        </p:nvSpPr>
        <p:spPr>
          <a:xfrm>
            <a:off x="8864600" y="2436812"/>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TextBox 51">
            <a:extLst>
              <a:ext uri="{FF2B5EF4-FFF2-40B4-BE49-F238E27FC236}">
                <a16:creationId xmlns:a16="http://schemas.microsoft.com/office/drawing/2014/main" id="{646B5660-21FE-82E2-FF02-0E010D013066}"/>
              </a:ext>
            </a:extLst>
          </p:cNvPr>
          <p:cNvSpPr txBox="1"/>
          <p:nvPr/>
        </p:nvSpPr>
        <p:spPr>
          <a:xfrm>
            <a:off x="8940800" y="2487612"/>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Misura</a:t>
            </a:r>
          </a:p>
        </p:txBody>
      </p:sp>
      <p:sp>
        <p:nvSpPr>
          <p:cNvPr id="53" name="TextBox 52">
            <a:extLst>
              <a:ext uri="{FF2B5EF4-FFF2-40B4-BE49-F238E27FC236}">
                <a16:creationId xmlns:a16="http://schemas.microsoft.com/office/drawing/2014/main" id="{1A21D735-A996-BECE-47BE-974260D6411D}"/>
              </a:ext>
            </a:extLst>
          </p:cNvPr>
          <p:cNvSpPr txBox="1"/>
          <p:nvPr/>
        </p:nvSpPr>
        <p:spPr>
          <a:xfrm>
            <a:off x="8940800" y="3071812"/>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istogramma degli esiti</a:t>
            </a:r>
          </a:p>
        </p:txBody>
      </p:sp>
      <p:sp>
        <p:nvSpPr>
          <p:cNvPr id="56" name="Rectangle: Rounded Corners 55">
            <a:extLst>
              <a:ext uri="{FF2B5EF4-FFF2-40B4-BE49-F238E27FC236}">
                <a16:creationId xmlns:a16="http://schemas.microsoft.com/office/drawing/2014/main" id="{F8702F06-AC41-A784-75A6-8A63F848BF2E}"/>
              </a:ext>
            </a:extLst>
          </p:cNvPr>
          <p:cNvSpPr/>
          <p:nvPr/>
        </p:nvSpPr>
        <p:spPr>
          <a:xfrm>
            <a:off x="6172200" y="4976812"/>
            <a:ext cx="2463800" cy="939800"/>
          </a:xfrm>
          <a:prstGeom prst="roundRect">
            <a:avLst>
              <a:gd name="adj" fmla="val 8000"/>
            </a:avLst>
          </a:prstGeom>
          <a:solidFill>
            <a:srgbClr val="EEE7F7"/>
          </a:solidFill>
          <a:ln w="15875">
            <a:solidFill>
              <a:srgbClr val="6B4F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TextBox 56">
            <a:extLst>
              <a:ext uri="{FF2B5EF4-FFF2-40B4-BE49-F238E27FC236}">
                <a16:creationId xmlns:a16="http://schemas.microsoft.com/office/drawing/2014/main" id="{86D805D8-D26E-2153-32FC-2D467B951E73}"/>
              </a:ext>
            </a:extLst>
          </p:cNvPr>
          <p:cNvSpPr txBox="1"/>
          <p:nvPr/>
        </p:nvSpPr>
        <p:spPr>
          <a:xfrm>
            <a:off x="6299200" y="5040312"/>
            <a:ext cx="22098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QFT approssimata</a:t>
            </a:r>
          </a:p>
        </p:txBody>
      </p:sp>
      <p:sp>
        <p:nvSpPr>
          <p:cNvPr id="58" name="TextBox 57">
            <a:extLst>
              <a:ext uri="{FF2B5EF4-FFF2-40B4-BE49-F238E27FC236}">
                <a16:creationId xmlns:a16="http://schemas.microsoft.com/office/drawing/2014/main" id="{70E09711-6032-D441-5BEC-D255762B5C0F}"/>
              </a:ext>
            </a:extLst>
          </p:cNvPr>
          <p:cNvSpPr txBox="1"/>
          <p:nvPr/>
        </p:nvSpPr>
        <p:spPr>
          <a:xfrm>
            <a:off x="6299200" y="5357812"/>
            <a:ext cx="2209800" cy="369332"/>
          </a:xfrm>
          <a:prstGeom prst="rect">
            <a:avLst/>
          </a:prstGeom>
          <a:noFill/>
        </p:spPr>
        <p:txBody>
          <a:bodyPr vert="horz" wrap="square" rtlCol="0">
            <a:noAutofit/>
          </a:bodyPr>
          <a:lstStyle/>
          <a:p>
            <a:r>
              <a:rPr lang="it-IT" sz="1275">
                <a:solidFill>
                  <a:srgbClr val="203344"/>
                </a:solidFill>
                <a:latin typeface="Arial" panose="020B0604020202020204" pitchFamily="34" charset="0"/>
              </a:rPr>
              <a:t>toglie le rotazioni di piccolo angolo</a:t>
            </a:r>
            <a:endParaRPr lang="en-GB" sz="1275">
              <a:solidFill>
                <a:srgbClr val="203344"/>
              </a:solidFill>
              <a:latin typeface="Arial" panose="020B0604020202020204" pitchFamily="34" charset="0"/>
            </a:endParaRPr>
          </a:p>
        </p:txBody>
      </p:sp>
      <p:sp>
        <p:nvSpPr>
          <p:cNvPr id="59" name="Rectangle: Rounded Corners 58">
            <a:extLst>
              <a:ext uri="{FF2B5EF4-FFF2-40B4-BE49-F238E27FC236}">
                <a16:creationId xmlns:a16="http://schemas.microsoft.com/office/drawing/2014/main" id="{7D7FE52C-2C69-C699-AE2B-42253A1D7671}"/>
              </a:ext>
            </a:extLst>
          </p:cNvPr>
          <p:cNvSpPr/>
          <p:nvPr/>
        </p:nvSpPr>
        <p:spPr>
          <a:xfrm>
            <a:off x="8864600" y="3783012"/>
            <a:ext cx="2463800" cy="939800"/>
          </a:xfrm>
          <a:prstGeom prst="roundRect">
            <a:avLst>
              <a:gd name="adj" fmla="val 8000"/>
            </a:avLst>
          </a:prstGeom>
          <a:solidFill>
            <a:srgbClr val="EEE7F7"/>
          </a:solidFill>
          <a:ln w="15875">
            <a:solidFill>
              <a:srgbClr val="6B4F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TextBox 59">
            <a:extLst>
              <a:ext uri="{FF2B5EF4-FFF2-40B4-BE49-F238E27FC236}">
                <a16:creationId xmlns:a16="http://schemas.microsoft.com/office/drawing/2014/main" id="{DD1271B2-1BD1-2C08-298C-BB17D381E5F9}"/>
              </a:ext>
            </a:extLst>
          </p:cNvPr>
          <p:cNvSpPr txBox="1"/>
          <p:nvPr/>
        </p:nvSpPr>
        <p:spPr>
          <a:xfrm>
            <a:off x="8991600" y="3846512"/>
            <a:ext cx="22098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Post-processing</a:t>
            </a:r>
          </a:p>
        </p:txBody>
      </p:sp>
      <p:sp>
        <p:nvSpPr>
          <p:cNvPr id="61" name="TextBox 60">
            <a:extLst>
              <a:ext uri="{FF2B5EF4-FFF2-40B4-BE49-F238E27FC236}">
                <a16:creationId xmlns:a16="http://schemas.microsoft.com/office/drawing/2014/main" id="{B32AF17F-33DD-27A1-2503-DFC2B928164A}"/>
              </a:ext>
            </a:extLst>
          </p:cNvPr>
          <p:cNvSpPr txBox="1"/>
          <p:nvPr/>
        </p:nvSpPr>
        <p:spPr>
          <a:xfrm>
            <a:off x="8991600" y="4164012"/>
            <a:ext cx="2209800" cy="369332"/>
          </a:xfrm>
          <a:prstGeom prst="rect">
            <a:avLst/>
          </a:prstGeom>
          <a:noFill/>
        </p:spPr>
        <p:txBody>
          <a:bodyPr vert="horz" wrap="square" rtlCol="0">
            <a:noAutofit/>
          </a:bodyPr>
          <a:lstStyle/>
          <a:p>
            <a:r>
              <a:rPr lang="it-IT" sz="1275">
                <a:solidFill>
                  <a:srgbClr val="203344"/>
                </a:solidFill>
                <a:latin typeface="Arial" panose="020B0604020202020204" pitchFamily="34" charset="0"/>
              </a:rPr>
              <a:t>verifica classica degli esiti misurati</a:t>
            </a:r>
            <a:endParaRPr lang="en-GB" sz="1275">
              <a:solidFill>
                <a:srgbClr val="203344"/>
              </a:solidFill>
              <a:latin typeface="Arial" panose="020B0604020202020204" pitchFamily="34" charset="0"/>
            </a:endParaRPr>
          </a:p>
        </p:txBody>
      </p:sp>
      <p:sp>
        <p:nvSpPr>
          <p:cNvPr id="63" name="Rectangle: Rounded Corners 62">
            <a:extLst>
              <a:ext uri="{FF2B5EF4-FFF2-40B4-BE49-F238E27FC236}">
                <a16:creationId xmlns:a16="http://schemas.microsoft.com/office/drawing/2014/main" id="{899DB2B1-FCD0-8D4F-AE5F-917B564E2B10}"/>
              </a:ext>
            </a:extLst>
          </p:cNvPr>
          <p:cNvSpPr/>
          <p:nvPr/>
        </p:nvSpPr>
        <p:spPr>
          <a:xfrm>
            <a:off x="8864600" y="4976812"/>
            <a:ext cx="2463800" cy="939800"/>
          </a:xfrm>
          <a:prstGeom prst="roundRect">
            <a:avLst>
              <a:gd name="adj" fmla="val 8000"/>
            </a:avLst>
          </a:prstGeom>
          <a:solidFill>
            <a:srgbClr val="EEE7F7"/>
          </a:solidFill>
          <a:ln w="15875">
            <a:solidFill>
              <a:srgbClr val="6B4F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TextBox 63">
            <a:extLst>
              <a:ext uri="{FF2B5EF4-FFF2-40B4-BE49-F238E27FC236}">
                <a16:creationId xmlns:a16="http://schemas.microsoft.com/office/drawing/2014/main" id="{326F084D-93F3-CFB3-2AEF-0176AA102007}"/>
              </a:ext>
            </a:extLst>
          </p:cNvPr>
          <p:cNvSpPr txBox="1"/>
          <p:nvPr/>
        </p:nvSpPr>
        <p:spPr>
          <a:xfrm>
            <a:off x="8991600" y="5040312"/>
            <a:ext cx="22098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TOP-K e ML</a:t>
            </a:r>
          </a:p>
        </p:txBody>
      </p:sp>
      <p:sp>
        <p:nvSpPr>
          <p:cNvPr id="65" name="TextBox 64">
            <a:extLst>
              <a:ext uri="{FF2B5EF4-FFF2-40B4-BE49-F238E27FC236}">
                <a16:creationId xmlns:a16="http://schemas.microsoft.com/office/drawing/2014/main" id="{273609B0-B17D-A477-1EAC-F52183F7EA23}"/>
              </a:ext>
            </a:extLst>
          </p:cNvPr>
          <p:cNvSpPr txBox="1"/>
          <p:nvPr/>
        </p:nvSpPr>
        <p:spPr>
          <a:xfrm>
            <a:off x="8991600" y="5357812"/>
            <a:ext cx="2209800" cy="369332"/>
          </a:xfrm>
          <a:prstGeom prst="rect">
            <a:avLst/>
          </a:prstGeom>
          <a:noFill/>
        </p:spPr>
        <p:txBody>
          <a:bodyPr vert="horz" wrap="square" rtlCol="0">
            <a:noAutofit/>
          </a:bodyPr>
          <a:lstStyle/>
          <a:p>
            <a:r>
              <a:rPr lang="it-IT" sz="1275">
                <a:solidFill>
                  <a:srgbClr val="203344"/>
                </a:solidFill>
                <a:latin typeface="Arial" panose="020B0604020202020204" pitchFamily="34" charset="0"/>
              </a:rPr>
              <a:t>TOP-1, TOP-4, Metodo 2: quali esiti verificare</a:t>
            </a:r>
            <a:endParaRPr lang="en-GB" sz="1275">
              <a:solidFill>
                <a:srgbClr val="203344"/>
              </a:solidFill>
              <a:latin typeface="Arial" panose="020B0604020202020204" pitchFamily="34" charset="0"/>
            </a:endParaRPr>
          </a:p>
        </p:txBody>
      </p:sp>
      <p:sp>
        <p:nvSpPr>
          <p:cNvPr id="68" name="Rectangle: Rounded Corners 67">
            <a:extLst>
              <a:ext uri="{FF2B5EF4-FFF2-40B4-BE49-F238E27FC236}">
                <a16:creationId xmlns:a16="http://schemas.microsoft.com/office/drawing/2014/main" id="{591DD65E-84D6-869C-A834-5BCCD873E3BA}"/>
              </a:ext>
            </a:extLst>
          </p:cNvPr>
          <p:cNvSpPr/>
          <p:nvPr/>
        </p:nvSpPr>
        <p:spPr>
          <a:xfrm>
            <a:off x="3479800" y="3783012"/>
            <a:ext cx="5156200" cy="939800"/>
          </a:xfrm>
          <a:prstGeom prst="roundRect">
            <a:avLst>
              <a:gd name="adj" fmla="val 8000"/>
            </a:avLst>
          </a:prstGeom>
          <a:solidFill>
            <a:srgbClr val="EEE7F7"/>
          </a:solidFill>
          <a:ln w="15875">
            <a:solidFill>
              <a:srgbClr val="6B4F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TextBox 68">
            <a:extLst>
              <a:ext uri="{FF2B5EF4-FFF2-40B4-BE49-F238E27FC236}">
                <a16:creationId xmlns:a16="http://schemas.microsoft.com/office/drawing/2014/main" id="{C97455E7-7CCA-BE6A-D77C-5C64732A886B}"/>
              </a:ext>
            </a:extLst>
          </p:cNvPr>
          <p:cNvSpPr txBox="1"/>
          <p:nvPr/>
        </p:nvSpPr>
        <p:spPr>
          <a:xfrm>
            <a:off x="3606800" y="3846512"/>
            <a:ext cx="49022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Correzione degli errori (QEC)</a:t>
            </a:r>
          </a:p>
        </p:txBody>
      </p:sp>
      <p:sp>
        <p:nvSpPr>
          <p:cNvPr id="70" name="TextBox 69">
            <a:extLst>
              <a:ext uri="{FF2B5EF4-FFF2-40B4-BE49-F238E27FC236}">
                <a16:creationId xmlns:a16="http://schemas.microsoft.com/office/drawing/2014/main" id="{09239A3F-A0D9-B54E-B6EB-603D0B37DEC0}"/>
              </a:ext>
            </a:extLst>
          </p:cNvPr>
          <p:cNvSpPr txBox="1"/>
          <p:nvPr/>
        </p:nvSpPr>
        <p:spPr>
          <a:xfrm>
            <a:off x="3606800" y="4164012"/>
            <a:ext cx="4902200" cy="369332"/>
          </a:xfrm>
          <a:prstGeom prst="rect">
            <a:avLst/>
          </a:prstGeom>
          <a:noFill/>
        </p:spPr>
        <p:txBody>
          <a:bodyPr vert="horz" wrap="square" rtlCol="0">
            <a:noAutofit/>
          </a:bodyPr>
          <a:lstStyle/>
          <a:p>
            <a:r>
              <a:rPr lang="it-IT" sz="1275" err="1">
                <a:solidFill>
                  <a:srgbClr val="203344"/>
                </a:solidFill>
                <a:latin typeface="Arial" panose="020B0604020202020204" pitchFamily="34" charset="0"/>
              </a:rPr>
              <a:t>surface</a:t>
            </a:r>
            <a:r>
              <a:rPr lang="it-IT" sz="1275">
                <a:solidFill>
                  <a:srgbClr val="203344"/>
                </a:solidFill>
                <a:latin typeface="Arial" panose="020B0604020202020204" pitchFamily="34" charset="0"/>
              </a:rPr>
              <a:t> code e Gross code di IBM: proteggono i qubit durante il calcolo (</a:t>
            </a:r>
            <a:r>
              <a:rPr lang="it-IT" sz="1275" err="1">
                <a:solidFill>
                  <a:srgbClr val="203344"/>
                </a:solidFill>
                <a:latin typeface="Arial" panose="020B0604020202020204" pitchFamily="34" charset="0"/>
              </a:rPr>
              <a:t>esponenziazione</a:t>
            </a:r>
            <a:r>
              <a:rPr lang="it-IT" sz="1275">
                <a:solidFill>
                  <a:srgbClr val="203344"/>
                </a:solidFill>
                <a:latin typeface="Arial" panose="020B0604020202020204" pitchFamily="34" charset="0"/>
              </a:rPr>
              <a:t> e QFT)</a:t>
            </a:r>
            <a:endParaRPr lang="en-GB" sz="1275">
              <a:solidFill>
                <a:srgbClr val="203344"/>
              </a:solidFill>
              <a:latin typeface="Arial" panose="020B0604020202020204" pitchFamily="34" charset="0"/>
            </a:endParaRPr>
          </a:p>
        </p:txBody>
      </p:sp>
    </p:spTree>
    <p:extLst>
      <p:ext uri="{BB962C8B-B14F-4D97-AF65-F5344CB8AC3E}">
        <p14:creationId xmlns:p14="http://schemas.microsoft.com/office/powerpoint/2010/main" val="3007832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9"/>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9"/>
                                          </p:stCondLst>
                                        </p:cTn>
                                        <p:tgtEl>
                                          <p:spTgt spid="5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9"/>
                                          </p:stCondLst>
                                        </p:cTn>
                                        <p:tgtEl>
                                          <p:spTgt spid="6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9"/>
                                          </p:stCondLst>
                                        </p:cTn>
                                        <p:tgtEl>
                                          <p:spTgt spid="6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9"/>
                                          </p:stCondLst>
                                        </p:cTn>
                                        <p:tgtEl>
                                          <p:spTgt spid="2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9"/>
                                          </p:stCondLst>
                                        </p:cTn>
                                        <p:tgtEl>
                                          <p:spTgt spid="6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9"/>
                                          </p:stCondLst>
                                        </p:cTn>
                                        <p:tgtEl>
                                          <p:spTgt spid="6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9"/>
                                          </p:stCondLst>
                                        </p:cTn>
                                        <p:tgtEl>
                                          <p:spTgt spid="6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9"/>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9"/>
                                          </p:stCondLst>
                                        </p:cTn>
                                        <p:tgtEl>
                                          <p:spTgt spid="6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9"/>
                                          </p:stCondLst>
                                        </p:cTn>
                                        <p:tgtEl>
                                          <p:spTgt spid="6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9"/>
                                          </p:stCondLst>
                                        </p:cTn>
                                        <p:tgtEl>
                                          <p:spTgt spid="7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9"/>
                                          </p:stCondLst>
                                        </p:cTn>
                                        <p:tgtEl>
                                          <p:spTgt spid="2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9"/>
                                          </p:stCondLst>
                                        </p:cTn>
                                        <p:tgtEl>
                                          <p:spTgt spid="5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9"/>
                                          </p:stCondLst>
                                        </p:cTn>
                                        <p:tgtEl>
                                          <p:spTgt spid="5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9"/>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57" grpId="0"/>
      <p:bldP spid="58" grpId="0"/>
      <p:bldP spid="59" grpId="0" animBg="1"/>
      <p:bldP spid="60" grpId="0"/>
      <p:bldP spid="61" grpId="0"/>
      <p:bldP spid="63" grpId="0" animBg="1"/>
      <p:bldP spid="64" grpId="0"/>
      <p:bldP spid="65" grpId="0"/>
      <p:bldP spid="68" grpId="0" animBg="1"/>
      <p:bldP spid="69" grpId="0"/>
      <p:bldP spid="7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E63F5E73-50EB-4DE5-A1E1-7932B59E91B5}"/>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800" b="0">
                <a:solidFill>
                  <a:srgbClr val="003366"/>
                </a:solidFill>
                <a:latin typeface="Arial"/>
                <a:ea typeface="Arial"/>
                <a:cs typeface="Arial"/>
              </a:rPr>
              <a:t>Strategia 1: post-processing e risultati</a:t>
            </a:r>
            <a:endParaRPr sz="2800" b="0" dirty="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478C359-BEA8-4AFD-944F-9175CC4F4295}"/>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8134F752-5082-496F-BC77-8A8C1F34CF24}"/>
              </a:ext>
            </a:extLst>
          </p:cNvPr>
          <p:cNvSpPr>
            <a:spLocks noGrp="1"/>
          </p:cNvSpPr>
          <p:nvPr/>
        </p:nvSpPr>
        <p:spPr>
          <a:xfrm>
            <a:off x="7477125" y="828675"/>
            <a:ext cx="3228975" cy="219075"/>
          </a:xfrm>
          <a:prstGeom prst="rect">
            <a:avLst/>
          </a:prstGeom>
          <a:noFill/>
          <a:ln w="0">
            <a:noFill/>
          </a:ln>
        </p:spPr>
        <p:txBody>
          <a:bodyPr rIns="0" anchor="ctr">
            <a:noAutofit/>
          </a:bodyPr>
          <a:lstStyle/>
          <a:p>
            <a:pPr algn="r">
              <a:defRPr sz="1200" b="0">
                <a:solidFill>
                  <a:srgbClr val="203344"/>
                </a:solidFill>
                <a:latin typeface="Arial"/>
                <a:ea typeface="Arial"/>
                <a:cs typeface="Arial"/>
              </a:defRPr>
            </a:pPr>
            <a:r>
              <a:rPr lang="it-IT" sz="1050" b="0">
                <a:solidFill>
                  <a:srgbClr val="203344"/>
                </a:solidFill>
                <a:latin typeface="Arial"/>
                <a:ea typeface="Arial"/>
                <a:cs typeface="Arial"/>
              </a:rPr>
              <a:t>Strategia 1 · Post-processing | 5</a:t>
            </a:r>
            <a:endParaRPr sz="105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CC35D492-ABDB-46BA-AE16-026C7410C362}"/>
              </a:ext>
            </a:extLst>
          </p:cNvPr>
          <p:cNvSpPr>
            <a:spLocks noGrp="1"/>
          </p:cNvSpPr>
          <p:nvPr/>
        </p:nvSpPr>
        <p:spPr>
          <a:xfrm>
            <a:off x="609600" y="1371600"/>
            <a:ext cx="10972800" cy="508000"/>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lang="it-IT" sz="2200" b="1">
                <a:solidFill>
                  <a:srgbClr val="FFFFFF"/>
                </a:solidFill>
                <a:latin typeface="Arial"/>
                <a:ea typeface="Arial"/>
                <a:cs typeface="Arial"/>
              </a:rPr>
              <a:t>Stesso istogramma di partenza: 1024 esecuzioni</a:t>
            </a:r>
            <a:endParaRPr sz="2200" b="1">
              <a:solidFill>
                <a:srgbClr val="FFFFFF"/>
              </a:solidFill>
              <a:latin typeface="Arial"/>
              <a:ea typeface="Arial"/>
              <a:cs typeface="Arial"/>
            </a:endParaRPr>
          </a:p>
        </p:txBody>
      </p:sp>
      <p:sp>
        <p:nvSpPr>
          <p:cNvPr id="6" name="Rectangle: Rounded Corners 5">
            <a:extLst>
              <a:ext uri="{FF2B5EF4-FFF2-40B4-BE49-F238E27FC236}">
                <a16:creationId xmlns:a16="http://schemas.microsoft.com/office/drawing/2014/main" id="{6C6B2847-EFC1-4D02-B73B-9163FA7FF42D}"/>
              </a:ext>
            </a:extLst>
          </p:cNvPr>
          <p:cNvSpPr>
            <a:spLocks noGrp="1"/>
          </p:cNvSpPr>
          <p:nvPr/>
        </p:nvSpPr>
        <p:spPr>
          <a:xfrm>
            <a:off x="609600" y="1993900"/>
            <a:ext cx="3143250" cy="1104900"/>
          </a:xfrm>
          <a:prstGeom prst="roundRect">
            <a:avLst>
              <a:gd name="adj" fmla="val 6135"/>
            </a:avLst>
          </a:prstGeom>
          <a:solidFill>
            <a:srgbClr val="EEF4F8"/>
          </a:solidFill>
          <a:ln w="14288">
            <a:solidFill>
              <a:srgbClr val="5084BF"/>
            </a:solidFill>
          </a:ln>
        </p:spPr>
        <p:txBody>
          <a:bodyPr/>
          <a:lstStyle/>
          <a:p>
            <a:endParaRPr lang="en-GB"/>
          </a:p>
        </p:txBody>
      </p:sp>
      <p:sp>
        <p:nvSpPr>
          <p:cNvPr id="7" name="Rectangle 6">
            <a:extLst>
              <a:ext uri="{FF2B5EF4-FFF2-40B4-BE49-F238E27FC236}">
                <a16:creationId xmlns:a16="http://schemas.microsoft.com/office/drawing/2014/main" id="{50207F82-D486-4618-9019-4A9B6B896244}"/>
              </a:ext>
            </a:extLst>
          </p:cNvPr>
          <p:cNvSpPr>
            <a:spLocks noGrp="1"/>
          </p:cNvSpPr>
          <p:nvPr/>
        </p:nvSpPr>
        <p:spPr>
          <a:xfrm>
            <a:off x="790575" y="2057400"/>
            <a:ext cx="2781300" cy="406400"/>
          </a:xfrm>
          <a:prstGeom prst="rect">
            <a:avLst/>
          </a:prstGeom>
          <a:noFill/>
          <a:ln w="0">
            <a:noFill/>
          </a:ln>
        </p:spPr>
        <p:txBody>
          <a:bodyPr lIns="38100" rIns="38100" anchor="ctr">
            <a:noAutofit/>
          </a:bodyPr>
          <a:lstStyle/>
          <a:p>
            <a:pPr algn="ctr">
              <a:defRPr sz="2175" b="1">
                <a:solidFill>
                  <a:srgbClr val="003366"/>
                </a:solidFill>
                <a:latin typeface="Arial"/>
                <a:ea typeface="Arial"/>
                <a:cs typeface="Arial"/>
              </a:defRPr>
            </a:pPr>
            <a:r>
              <a:rPr lang="it-IT" sz="2200" b="1">
                <a:solidFill>
                  <a:srgbClr val="003366"/>
                </a:solidFill>
                <a:latin typeface="Arial"/>
                <a:ea typeface="Arial"/>
                <a:cs typeface="Arial"/>
              </a:rPr>
              <a:t>TOP-1</a:t>
            </a:r>
            <a:endParaRPr sz="2200" b="1">
              <a:solidFill>
                <a:srgbClr val="003366"/>
              </a:solidFill>
              <a:latin typeface="Arial"/>
              <a:ea typeface="Arial"/>
              <a:cs typeface="Arial"/>
            </a:endParaRPr>
          </a:p>
        </p:txBody>
      </p:sp>
      <p:sp>
        <p:nvSpPr>
          <p:cNvPr id="8" name="Rectangle 7">
            <a:extLst>
              <a:ext uri="{FF2B5EF4-FFF2-40B4-BE49-F238E27FC236}">
                <a16:creationId xmlns:a16="http://schemas.microsoft.com/office/drawing/2014/main" id="{448DCFE9-33F7-45E1-A769-1CD6F8ABDA24}"/>
              </a:ext>
            </a:extLst>
          </p:cNvPr>
          <p:cNvSpPr>
            <a:spLocks noGrp="1"/>
          </p:cNvSpPr>
          <p:nvPr/>
        </p:nvSpPr>
        <p:spPr>
          <a:xfrm>
            <a:off x="790575" y="2489200"/>
            <a:ext cx="2781300" cy="584200"/>
          </a:xfrm>
          <a:prstGeom prst="rect">
            <a:avLst/>
          </a:prstGeom>
          <a:noFill/>
          <a:ln w="0">
            <a:noFill/>
          </a:ln>
        </p:spPr>
        <p:txBody>
          <a:bodyPr lIns="38100" rIns="38100" anchor="ctr">
            <a:noAutofit/>
          </a:bodyPr>
          <a:lstStyle/>
          <a:p>
            <a:pPr algn="ctr">
              <a:defRPr sz="1875" b="0">
                <a:solidFill>
                  <a:srgbClr val="203344"/>
                </a:solidFill>
                <a:latin typeface="Arial"/>
                <a:ea typeface="Arial"/>
                <a:cs typeface="Arial"/>
              </a:defRPr>
            </a:pPr>
            <a:r>
              <a:rPr lang="it-IT" sz="1550" b="0">
                <a:solidFill>
                  <a:srgbClr val="203344"/>
                </a:solidFill>
                <a:latin typeface="Arial"/>
                <a:ea typeface="Arial"/>
                <a:cs typeface="Arial"/>
              </a:rPr>
              <a:t>Verifica il risultato più frequente</a:t>
            </a:r>
            <a:endParaRPr sz="1550" b="0">
              <a:solidFill>
                <a:srgbClr val="203344"/>
              </a:solidFill>
              <a:latin typeface="Arial"/>
              <a:ea typeface="Arial"/>
              <a:cs typeface="Arial"/>
            </a:endParaRPr>
          </a:p>
        </p:txBody>
      </p:sp>
      <p:sp>
        <p:nvSpPr>
          <p:cNvPr id="9" name="Rectangle: Rounded Corners 8">
            <a:extLst>
              <a:ext uri="{FF2B5EF4-FFF2-40B4-BE49-F238E27FC236}">
                <a16:creationId xmlns:a16="http://schemas.microsoft.com/office/drawing/2014/main" id="{A7ED80C4-3A04-48D9-8600-16713139334D}"/>
              </a:ext>
            </a:extLst>
          </p:cNvPr>
          <p:cNvSpPr>
            <a:spLocks noGrp="1"/>
          </p:cNvSpPr>
          <p:nvPr/>
        </p:nvSpPr>
        <p:spPr>
          <a:xfrm>
            <a:off x="4524375" y="1993900"/>
            <a:ext cx="3143250" cy="1104900"/>
          </a:xfrm>
          <a:prstGeom prst="roundRect">
            <a:avLst>
              <a:gd name="adj" fmla="val 6135"/>
            </a:avLst>
          </a:prstGeom>
          <a:solidFill>
            <a:srgbClr val="EEF4F8"/>
          </a:solidFill>
          <a:ln w="14288">
            <a:solidFill>
              <a:srgbClr val="5084BF"/>
            </a:solidFill>
          </a:ln>
        </p:spPr>
        <p:txBody>
          <a:bodyPr/>
          <a:lstStyle/>
          <a:p>
            <a:endParaRPr lang="en-GB"/>
          </a:p>
        </p:txBody>
      </p:sp>
      <p:sp>
        <p:nvSpPr>
          <p:cNvPr id="10" name="Rectangle 9">
            <a:extLst>
              <a:ext uri="{FF2B5EF4-FFF2-40B4-BE49-F238E27FC236}">
                <a16:creationId xmlns:a16="http://schemas.microsoft.com/office/drawing/2014/main" id="{B7718673-DDE6-4B0E-80B1-2DEB783CDC31}"/>
              </a:ext>
            </a:extLst>
          </p:cNvPr>
          <p:cNvSpPr>
            <a:spLocks noGrp="1"/>
          </p:cNvSpPr>
          <p:nvPr/>
        </p:nvSpPr>
        <p:spPr>
          <a:xfrm>
            <a:off x="4705350" y="2057400"/>
            <a:ext cx="2781300" cy="406400"/>
          </a:xfrm>
          <a:prstGeom prst="rect">
            <a:avLst/>
          </a:prstGeom>
          <a:noFill/>
          <a:ln w="0">
            <a:noFill/>
          </a:ln>
        </p:spPr>
        <p:txBody>
          <a:bodyPr lIns="38100" rIns="38100" anchor="ctr">
            <a:noAutofit/>
          </a:bodyPr>
          <a:lstStyle/>
          <a:p>
            <a:pPr algn="ctr">
              <a:defRPr sz="2175" b="1">
                <a:solidFill>
                  <a:srgbClr val="003366"/>
                </a:solidFill>
                <a:latin typeface="Arial"/>
                <a:ea typeface="Arial"/>
                <a:cs typeface="Arial"/>
              </a:defRPr>
            </a:pPr>
            <a:r>
              <a:rPr lang="it-IT" sz="2200" b="1">
                <a:solidFill>
                  <a:srgbClr val="003366"/>
                </a:solidFill>
                <a:latin typeface="Arial"/>
                <a:ea typeface="Arial"/>
                <a:cs typeface="Arial"/>
              </a:rPr>
              <a:t>TOP-4</a:t>
            </a:r>
            <a:endParaRPr sz="2200" b="1">
              <a:solidFill>
                <a:srgbClr val="003366"/>
              </a:solidFill>
              <a:latin typeface="Arial"/>
              <a:ea typeface="Arial"/>
              <a:cs typeface="Arial"/>
            </a:endParaRPr>
          </a:p>
        </p:txBody>
      </p:sp>
      <p:sp>
        <p:nvSpPr>
          <p:cNvPr id="11" name="Rectangle 10">
            <a:extLst>
              <a:ext uri="{FF2B5EF4-FFF2-40B4-BE49-F238E27FC236}">
                <a16:creationId xmlns:a16="http://schemas.microsoft.com/office/drawing/2014/main" id="{428CE012-A819-412F-A649-3EAB47BC23F5}"/>
              </a:ext>
            </a:extLst>
          </p:cNvPr>
          <p:cNvSpPr>
            <a:spLocks noGrp="1"/>
          </p:cNvSpPr>
          <p:nvPr/>
        </p:nvSpPr>
        <p:spPr>
          <a:xfrm>
            <a:off x="4705350" y="2489200"/>
            <a:ext cx="2781300" cy="584200"/>
          </a:xfrm>
          <a:prstGeom prst="rect">
            <a:avLst/>
          </a:prstGeom>
          <a:noFill/>
          <a:ln w="0">
            <a:noFill/>
          </a:ln>
        </p:spPr>
        <p:txBody>
          <a:bodyPr lIns="38100" rIns="38100" anchor="ctr">
            <a:noAutofit/>
          </a:bodyPr>
          <a:lstStyle/>
          <a:p>
            <a:pPr algn="ctr">
              <a:defRPr sz="1875" b="0">
                <a:solidFill>
                  <a:srgbClr val="203344"/>
                </a:solidFill>
                <a:latin typeface="Arial"/>
                <a:ea typeface="Arial"/>
                <a:cs typeface="Arial"/>
              </a:defRPr>
            </a:pPr>
            <a:r>
              <a:rPr lang="it-IT" sz="1550" b="0">
                <a:solidFill>
                  <a:srgbClr val="203344"/>
                </a:solidFill>
                <a:latin typeface="Arial"/>
                <a:ea typeface="Arial"/>
                <a:cs typeface="Arial"/>
              </a:rPr>
              <a:t>Verifica fino a quattro esiti, in ordine di frequenza</a:t>
            </a:r>
            <a:endParaRPr sz="1550" b="0">
              <a:solidFill>
                <a:srgbClr val="203344"/>
              </a:solidFill>
              <a:latin typeface="Arial"/>
              <a:ea typeface="Arial"/>
              <a:cs typeface="Arial"/>
            </a:endParaRPr>
          </a:p>
        </p:txBody>
      </p:sp>
      <p:sp>
        <p:nvSpPr>
          <p:cNvPr id="12" name="Rectangle: Rounded Corners 11">
            <a:extLst>
              <a:ext uri="{FF2B5EF4-FFF2-40B4-BE49-F238E27FC236}">
                <a16:creationId xmlns:a16="http://schemas.microsoft.com/office/drawing/2014/main" id="{8E8D58EB-1F29-489F-84AA-EE5A27A893AB}"/>
              </a:ext>
            </a:extLst>
          </p:cNvPr>
          <p:cNvSpPr>
            <a:spLocks noGrp="1"/>
          </p:cNvSpPr>
          <p:nvPr/>
        </p:nvSpPr>
        <p:spPr>
          <a:xfrm>
            <a:off x="8439150" y="1993900"/>
            <a:ext cx="3143250" cy="1104900"/>
          </a:xfrm>
          <a:prstGeom prst="roundRect">
            <a:avLst>
              <a:gd name="adj" fmla="val 6135"/>
            </a:avLst>
          </a:prstGeom>
          <a:solidFill>
            <a:srgbClr val="EEF4F8"/>
          </a:solidFill>
          <a:ln w="14288">
            <a:solidFill>
              <a:srgbClr val="5084BF"/>
            </a:solidFill>
          </a:ln>
        </p:spPr>
        <p:txBody>
          <a:bodyPr/>
          <a:lstStyle/>
          <a:p>
            <a:endParaRPr lang="en-GB"/>
          </a:p>
        </p:txBody>
      </p:sp>
      <p:sp>
        <p:nvSpPr>
          <p:cNvPr id="13" name="Rectangle 12">
            <a:extLst>
              <a:ext uri="{FF2B5EF4-FFF2-40B4-BE49-F238E27FC236}">
                <a16:creationId xmlns:a16="http://schemas.microsoft.com/office/drawing/2014/main" id="{530CC7E4-D9E5-44BA-A967-3C00C77DC3EC}"/>
              </a:ext>
            </a:extLst>
          </p:cNvPr>
          <p:cNvSpPr>
            <a:spLocks noGrp="1"/>
          </p:cNvSpPr>
          <p:nvPr/>
        </p:nvSpPr>
        <p:spPr>
          <a:xfrm>
            <a:off x="8620125" y="2057400"/>
            <a:ext cx="2781300" cy="406400"/>
          </a:xfrm>
          <a:prstGeom prst="rect">
            <a:avLst/>
          </a:prstGeom>
          <a:noFill/>
          <a:ln w="0">
            <a:noFill/>
          </a:ln>
        </p:spPr>
        <p:txBody>
          <a:bodyPr lIns="38100" rIns="38100" anchor="ctr">
            <a:noAutofit/>
          </a:bodyPr>
          <a:lstStyle/>
          <a:p>
            <a:pPr algn="ctr">
              <a:defRPr sz="2175" b="1">
                <a:solidFill>
                  <a:srgbClr val="003366"/>
                </a:solidFill>
                <a:latin typeface="Arial"/>
                <a:ea typeface="Arial"/>
                <a:cs typeface="Arial"/>
              </a:defRPr>
            </a:pPr>
            <a:r>
              <a:rPr lang="it-IT" sz="2200" b="1">
                <a:solidFill>
                  <a:srgbClr val="003366"/>
                </a:solidFill>
                <a:latin typeface="Arial"/>
                <a:ea typeface="Arial"/>
                <a:cs typeface="Arial"/>
              </a:rPr>
              <a:t>Metodo 2</a:t>
            </a:r>
            <a:endParaRPr sz="2200" b="1">
              <a:solidFill>
                <a:srgbClr val="003366"/>
              </a:solidFill>
              <a:latin typeface="Arial"/>
              <a:ea typeface="Arial"/>
              <a:cs typeface="Arial"/>
            </a:endParaRPr>
          </a:p>
        </p:txBody>
      </p:sp>
      <p:sp>
        <p:nvSpPr>
          <p:cNvPr id="14" name="Rectangle 13">
            <a:extLst>
              <a:ext uri="{FF2B5EF4-FFF2-40B4-BE49-F238E27FC236}">
                <a16:creationId xmlns:a16="http://schemas.microsoft.com/office/drawing/2014/main" id="{247C1F09-0415-4CBC-9397-423247F26ABF}"/>
              </a:ext>
            </a:extLst>
          </p:cNvPr>
          <p:cNvSpPr>
            <a:spLocks noGrp="1"/>
          </p:cNvSpPr>
          <p:nvPr/>
        </p:nvSpPr>
        <p:spPr>
          <a:xfrm>
            <a:off x="8620125" y="2489200"/>
            <a:ext cx="2781300" cy="584200"/>
          </a:xfrm>
          <a:prstGeom prst="rect">
            <a:avLst/>
          </a:prstGeom>
          <a:noFill/>
          <a:ln w="0">
            <a:noFill/>
          </a:ln>
        </p:spPr>
        <p:txBody>
          <a:bodyPr lIns="38100" rIns="38100" anchor="ctr">
            <a:noAutofit/>
          </a:bodyPr>
          <a:lstStyle/>
          <a:p>
            <a:pPr algn="ctr">
              <a:defRPr sz="1875" b="0">
                <a:solidFill>
                  <a:srgbClr val="203344"/>
                </a:solidFill>
                <a:latin typeface="Arial"/>
                <a:ea typeface="Arial"/>
                <a:cs typeface="Arial"/>
              </a:defRPr>
            </a:pPr>
            <a:r>
              <a:rPr lang="it-IT" sz="1550" b="0">
                <a:solidFill>
                  <a:srgbClr val="203344"/>
                </a:solidFill>
                <a:latin typeface="Arial"/>
                <a:ea typeface="Arial"/>
                <a:cs typeface="Arial"/>
              </a:rPr>
              <a:t>Applica TOP-4 se il classificatore ML approva</a:t>
            </a:r>
            <a:endParaRPr sz="1550" b="0">
              <a:solidFill>
                <a:srgbClr val="203344"/>
              </a:solidFill>
              <a:latin typeface="Arial"/>
              <a:ea typeface="Arial"/>
              <a:cs typeface="Arial"/>
            </a:endParaRPr>
          </a:p>
        </p:txBody>
      </p:sp>
      <p:sp>
        <p:nvSpPr>
          <p:cNvPr id="27" name="Rectangle 26">
            <a:extLst>
              <a:ext uri="{FF2B5EF4-FFF2-40B4-BE49-F238E27FC236}">
                <a16:creationId xmlns:a16="http://schemas.microsoft.com/office/drawing/2014/main" id="{B611238E-C082-6AF6-60EE-43C467FDADAA}"/>
              </a:ext>
            </a:extLst>
          </p:cNvPr>
          <p:cNvSpPr/>
          <p:nvPr/>
        </p:nvSpPr>
        <p:spPr>
          <a:xfrm>
            <a:off x="609600" y="3213100"/>
            <a:ext cx="10972800" cy="368300"/>
          </a:xfrm>
          <a:prstGeom prst="rect">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b="1">
                <a:solidFill>
                  <a:srgbClr val="003366"/>
                </a:solidFill>
                <a:latin typeface="Arial" panose="020B0604020202020204" pitchFamily="34" charset="0"/>
              </a:rPr>
              <a:t>Verifica classica: frazioni continue e MCD</a:t>
            </a:r>
            <a:endParaRPr lang="en-GB" b="1">
              <a:solidFill>
                <a:srgbClr val="003366"/>
              </a:solidFill>
              <a:latin typeface="Arial" panose="020B0604020202020204" pitchFamily="34" charset="0"/>
            </a:endParaRPr>
          </a:p>
        </p:txBody>
      </p:sp>
      <p:pic>
        <p:nvPicPr>
          <p:cNvPr id="21" name="Picture 20" descr="v2_s14_iterazioni_primo_successo.png">
            <a:extLst>
              <a:ext uri="{FF2B5EF4-FFF2-40B4-BE49-F238E27FC236}">
                <a16:creationId xmlns:a16="http://schemas.microsoft.com/office/drawing/2014/main" id="{01D409C6-6294-B810-6968-F5287CB64BAB}"/>
              </a:ext>
            </a:extLst>
          </p:cNvPr>
          <p:cNvPicPr>
            <a:picLocks noChangeAspect="1"/>
          </p:cNvPicPr>
          <p:nvPr/>
        </p:nvPicPr>
        <p:blipFill>
          <a:blip r:embed="rId4"/>
          <a:srcRect l="9003"/>
          <a:stretch>
            <a:fillRect/>
          </a:stretch>
        </p:blipFill>
        <p:spPr>
          <a:xfrm>
            <a:off x="5906890" y="3619500"/>
            <a:ext cx="4507109" cy="3203044"/>
          </a:xfrm>
          <a:prstGeom prst="rect">
            <a:avLst/>
          </a:prstGeom>
        </p:spPr>
      </p:pic>
      <p:sp>
        <p:nvSpPr>
          <p:cNvPr id="22" name="TextBox 21">
            <a:extLst>
              <a:ext uri="{FF2B5EF4-FFF2-40B4-BE49-F238E27FC236}">
                <a16:creationId xmlns:a16="http://schemas.microsoft.com/office/drawing/2014/main" id="{3B70A822-7D0C-00F2-1855-2E37C3DCEB88}"/>
              </a:ext>
            </a:extLst>
          </p:cNvPr>
          <p:cNvSpPr txBox="1"/>
          <p:nvPr/>
        </p:nvSpPr>
        <p:spPr>
          <a:xfrm>
            <a:off x="609600" y="4533900"/>
            <a:ext cx="4445000" cy="1205458"/>
          </a:xfrm>
          <a:prstGeom prst="rect">
            <a:avLst/>
          </a:prstGeom>
          <a:noFill/>
        </p:spPr>
        <p:txBody>
          <a:bodyPr vert="horz" lIns="0" rIns="0" rtlCol="0">
            <a:spAutoFit/>
          </a:bodyPr>
          <a:lstStyle/>
          <a:p>
            <a:pPr marL="177800" indent="-177800">
              <a:spcAft>
                <a:spcPts val="1100"/>
              </a:spcAft>
              <a:buFont typeface="+mj-lt"/>
              <a:buChar char="•"/>
            </a:pPr>
            <a:r>
              <a:rPr lang="it-IT" b="1" dirty="0">
                <a:solidFill>
                  <a:srgbClr val="0B2F5B"/>
                </a:solidFill>
                <a:latin typeface="Arial" panose="020B0604020202020204" pitchFamily="34" charset="0"/>
              </a:rPr>
              <a:t>TOP-4: </a:t>
            </a:r>
            <a:r>
              <a:rPr lang="it-IT" b="1" dirty="0">
                <a:solidFill>
                  <a:srgbClr val="D9822B"/>
                </a:solidFill>
                <a:latin typeface="Arial" panose="020B0604020202020204" pitchFamily="34" charset="0"/>
              </a:rPr>
              <a:t>fattori al primo tentativo</a:t>
            </a:r>
          </a:p>
          <a:p>
            <a:pPr marL="177800" indent="-177800">
              <a:spcAft>
                <a:spcPts val="1100"/>
              </a:spcAft>
              <a:buFont typeface="+mj-lt"/>
              <a:buChar char="•"/>
            </a:pPr>
            <a:r>
              <a:rPr lang="it-IT" b="1" dirty="0">
                <a:solidFill>
                  <a:srgbClr val="D9822B"/>
                </a:solidFill>
                <a:latin typeface="Arial" panose="020B0604020202020204" pitchFamily="34" charset="0"/>
              </a:rPr>
              <a:t>30/30 repliche</a:t>
            </a:r>
            <a:r>
              <a:rPr lang="it-IT" b="1" dirty="0">
                <a:solidFill>
                  <a:srgbClr val="0B2F5B"/>
                </a:solidFill>
                <a:latin typeface="Arial" panose="020B0604020202020204" pitchFamily="34" charset="0"/>
              </a:rPr>
              <a:t> in entrambi gli scenari</a:t>
            </a:r>
          </a:p>
          <a:p>
            <a:pPr marL="177800" indent="-177800">
              <a:spcAft>
                <a:spcPts val="1100"/>
              </a:spcAft>
              <a:buFont typeface="+mj-lt"/>
              <a:buChar char="•"/>
            </a:pPr>
            <a:r>
              <a:rPr lang="it-IT" dirty="0">
                <a:solidFill>
                  <a:srgbClr val="0B2F5B"/>
                </a:solidFill>
                <a:latin typeface="Arial" panose="020B0604020202020204" pitchFamily="34" charset="0"/>
              </a:rPr>
              <a:t>Il filtro ML non migliora il risultato</a:t>
            </a:r>
            <a:endParaRPr lang="en-GB" dirty="0">
              <a:solidFill>
                <a:srgbClr val="0B2F5B"/>
              </a:solidFill>
              <a:latin typeface="Arial" panose="020B0604020202020204" pitchFamily="34" charset="0"/>
            </a:endParaRPr>
          </a:p>
        </p:txBody>
      </p:sp>
    </p:spTree>
    <p:extLst>
      <p:ext uri="{BB962C8B-B14F-4D97-AF65-F5344CB8AC3E}">
        <p14:creationId xmlns:p14="http://schemas.microsoft.com/office/powerpoint/2010/main" val="264286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9"/>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9"/>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9"/>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9"/>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9"/>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9"/>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9"/>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9"/>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9"/>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9"/>
                                          </p:stCondLst>
                                        </p:cTn>
                                        <p:tgtEl>
                                          <p:spTgt spid="2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9"/>
                                          </p:stCondLst>
                                        </p:cTn>
                                        <p:tgtEl>
                                          <p:spTgt spid="2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9"/>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p:bldP spid="9" grpId="0" animBg="1"/>
      <p:bldP spid="10" grpId="0"/>
      <p:bldP spid="11" grpId="0"/>
      <p:bldP spid="12" grpId="0" animBg="1"/>
      <p:bldP spid="13" grpId="0"/>
      <p:bldP spid="14" grpId="0"/>
      <p:bldP spid="27" grpId="0" animBg="1"/>
      <p:bldP spid="2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1A0FE10-7D08-45A5-9369-B8A8D92211C3}"/>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Strategia 2: correzione quantistica degli errori</a:t>
            </a:r>
            <a:endParaRPr sz="2700" b="0">
              <a:solidFill>
                <a:srgbClr val="003366"/>
              </a:solidFill>
              <a:latin typeface="Arial"/>
              <a:ea typeface="Arial"/>
              <a:cs typeface="Arial"/>
            </a:endParaRPr>
          </a:p>
        </p:txBody>
      </p:sp>
      <p:pic>
        <p:nvPicPr>
          <p:cNvPr id="17" name="Picture 16"/>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C63BB1C7-E1F5-4EAD-96B7-5E2DB8BF621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CD7F7CC-AA63-4989-8F76-D977A27FE480}"/>
              </a:ext>
            </a:extLst>
          </p:cNvPr>
          <p:cNvSpPr>
            <a:spLocks noGrp="1"/>
          </p:cNvSpPr>
          <p:nvPr/>
        </p:nvSpPr>
        <p:spPr>
          <a:xfrm>
            <a:off x="7477125" y="828675"/>
            <a:ext cx="3228975" cy="219075"/>
          </a:xfrm>
          <a:prstGeom prst="rect">
            <a:avLst/>
          </a:prstGeom>
          <a:noFill/>
          <a:ln w="0">
            <a:noFill/>
          </a:ln>
        </p:spPr>
        <p:txBody>
          <a:bodyPr rIns="0" anchor="ctr">
            <a:noAutofit/>
          </a:bodyPr>
          <a:lstStyle/>
          <a:p>
            <a:pPr algn="r">
              <a:defRPr sz="1200" b="0">
                <a:solidFill>
                  <a:srgbClr val="203344"/>
                </a:solidFill>
                <a:latin typeface="Arial"/>
                <a:ea typeface="Arial"/>
                <a:cs typeface="Arial"/>
              </a:defRPr>
            </a:pPr>
            <a:r>
              <a:rPr lang="it-IT" sz="1050" b="0">
                <a:solidFill>
                  <a:srgbClr val="203344"/>
                </a:solidFill>
                <a:latin typeface="Arial"/>
                <a:ea typeface="Arial"/>
                <a:cs typeface="Arial"/>
              </a:rPr>
              <a:t>Strategia 2 · Correzione degli errori | 6</a:t>
            </a:r>
            <a:endParaRPr sz="1050" b="0">
              <a:solidFill>
                <a:srgbClr val="203344"/>
              </a:solidFill>
              <a:latin typeface="Arial"/>
              <a:ea typeface="Arial"/>
              <a:cs typeface="Arial"/>
            </a:endParaRPr>
          </a:p>
        </p:txBody>
      </p:sp>
      <p:sp>
        <p:nvSpPr>
          <p:cNvPr id="2" name="TextBox 1">
            <a:extLst>
              <a:ext uri="{FF2B5EF4-FFF2-40B4-BE49-F238E27FC236}">
                <a16:creationId xmlns:a16="http://schemas.microsoft.com/office/drawing/2014/main" id="{02CC2BCD-8065-AF14-A761-223B420003D9}"/>
              </a:ext>
            </a:extLst>
          </p:cNvPr>
          <p:cNvSpPr txBox="1"/>
          <p:nvPr/>
        </p:nvSpPr>
        <p:spPr>
          <a:xfrm>
            <a:off x="609600" y="1244600"/>
            <a:ext cx="10972800" cy="369332"/>
          </a:xfrm>
          <a:prstGeom prst="rect">
            <a:avLst/>
          </a:prstGeom>
          <a:noFill/>
        </p:spPr>
        <p:txBody>
          <a:bodyPr vert="horz" wrap="square" rtlCol="0">
            <a:noAutofit/>
          </a:bodyPr>
          <a:lstStyle/>
          <a:p>
            <a:r>
              <a:rPr lang="it-IT" sz="1725">
                <a:solidFill>
                  <a:srgbClr val="203344"/>
                </a:solidFill>
                <a:latin typeface="Arial" panose="020B0604020202020204" pitchFamily="34" charset="0"/>
              </a:rPr>
              <a:t>Più qubit fisici proteggono un qubit logico</a:t>
            </a:r>
          </a:p>
        </p:txBody>
      </p:sp>
      <p:sp>
        <p:nvSpPr>
          <p:cNvPr id="27" name="TextBox 26">
            <a:extLst>
              <a:ext uri="{FF2B5EF4-FFF2-40B4-BE49-F238E27FC236}">
                <a16:creationId xmlns:a16="http://schemas.microsoft.com/office/drawing/2014/main" id="{F0CC65BC-FC56-74B3-8292-99AF6B487F00}"/>
              </a:ext>
            </a:extLst>
          </p:cNvPr>
          <p:cNvSpPr txBox="1"/>
          <p:nvPr/>
        </p:nvSpPr>
        <p:spPr>
          <a:xfrm>
            <a:off x="609600" y="6150000"/>
            <a:ext cx="10972800" cy="450000"/>
          </a:xfrm>
          <a:prstGeom prst="rect">
            <a:avLst/>
          </a:prstGeom>
          <a:noFill/>
        </p:spPr>
        <p:txBody>
          <a:bodyPr vert="horz" wrap="square" rtlCol="0">
            <a:noAutofit/>
          </a:bodyPr>
          <a:lstStyle/>
          <a:p>
            <a:r>
              <a:rPr lang="it-IT" sz="1950" b="1">
                <a:solidFill>
                  <a:srgbClr val="175F99"/>
                </a:solidFill>
                <a:latin typeface="Arial" panose="020B0604020202020204" pitchFamily="34" charset="0"/>
              </a:rPr>
              <a:t>Stessa idea, due compromessi: protezione contro numero di qubit.</a:t>
            </a:r>
          </a:p>
        </p:txBody>
      </p:sp>
      <p:sp>
        <p:nvSpPr>
          <p:cNvPr id="5" name="Titolo Surface code">
            <a:extLst>
              <a:ext uri="{FF2B5EF4-FFF2-40B4-BE49-F238E27FC236}">
                <a16:creationId xmlns:a16="http://schemas.microsoft.com/office/drawing/2014/main" id="{4C3B8168-C5E4-C943-B290-4CCC46E463FC}"/>
              </a:ext>
            </a:extLst>
          </p:cNvPr>
          <p:cNvSpPr txBox="1"/>
          <p:nvPr/>
        </p:nvSpPr>
        <p:spPr>
          <a:xfrm>
            <a:off x="698500" y="1981200"/>
            <a:ext cx="4927600" cy="276999"/>
          </a:xfrm>
          <a:prstGeom prst="rect">
            <a:avLst/>
          </a:prstGeom>
          <a:noFill/>
        </p:spPr>
        <p:txBody>
          <a:bodyPr vert="horz" wrap="square" lIns="0" tIns="0" rIns="0" bIns="0" rtlCol="0">
            <a:noAutofit/>
          </a:bodyPr>
          <a:lstStyle/>
          <a:p>
            <a:r>
              <a:rPr lang="en-GB" sz="2500" b="1">
                <a:solidFill>
                  <a:srgbClr val="003366"/>
                </a:solidFill>
                <a:latin typeface="Arial" panose="020B0604020202020204" pitchFamily="34" charset="0"/>
              </a:rPr>
              <a:t>Surface code</a:t>
            </a:r>
          </a:p>
        </p:txBody>
      </p:sp>
      <p:sp>
        <p:nvSpPr>
          <p:cNvPr id="6" name="Ruolo Surface code">
            <a:extLst>
              <a:ext uri="{FF2B5EF4-FFF2-40B4-BE49-F238E27FC236}">
                <a16:creationId xmlns:a16="http://schemas.microsoft.com/office/drawing/2014/main" id="{7DF6681A-B258-27C8-CF42-98391475DB04}"/>
              </a:ext>
            </a:extLst>
          </p:cNvPr>
          <p:cNvSpPr txBox="1"/>
          <p:nvPr/>
        </p:nvSpPr>
        <p:spPr>
          <a:xfrm>
            <a:off x="698500" y="2501900"/>
            <a:ext cx="4927600" cy="276999"/>
          </a:xfrm>
          <a:prstGeom prst="rect">
            <a:avLst/>
          </a:prstGeom>
          <a:noFill/>
        </p:spPr>
        <p:txBody>
          <a:bodyPr vert="horz" wrap="square" lIns="0" tIns="0" rIns="0" bIns="0" rtlCol="0">
            <a:noAutofit/>
          </a:bodyPr>
          <a:lstStyle/>
          <a:p>
            <a:r>
              <a:rPr lang="en-GB" sz="1500">
                <a:solidFill>
                  <a:srgbClr val="677586"/>
                </a:solidFill>
                <a:latin typeface="Arial" panose="020B0604020202020204" pitchFamily="34" charset="0"/>
              </a:rPr>
              <a:t>Il riferimento</a:t>
            </a:r>
          </a:p>
        </p:txBody>
      </p:sp>
      <p:sp>
        <p:nvSpPr>
          <p:cNvPr id="7" name="Qubit Surface code">
            <a:extLst>
              <a:ext uri="{FF2B5EF4-FFF2-40B4-BE49-F238E27FC236}">
                <a16:creationId xmlns:a16="http://schemas.microsoft.com/office/drawing/2014/main" id="{2D8FCC40-D242-5095-4B76-7A6A2A9C68D5}"/>
              </a:ext>
            </a:extLst>
          </p:cNvPr>
          <p:cNvSpPr txBox="1"/>
          <p:nvPr/>
        </p:nvSpPr>
        <p:spPr>
          <a:xfrm>
            <a:off x="698500" y="2870200"/>
            <a:ext cx="4953000" cy="276999"/>
          </a:xfrm>
          <a:prstGeom prst="rect">
            <a:avLst/>
          </a:prstGeom>
          <a:noFill/>
        </p:spPr>
        <p:txBody>
          <a:bodyPr vert="horz" wrap="square" lIns="0" tIns="0" rIns="0" bIns="0" rtlCol="0">
            <a:noAutofit/>
          </a:bodyPr>
          <a:lstStyle/>
          <a:p>
            <a:r>
              <a:rPr lang="en-GB" sz="6000" b="1">
                <a:solidFill>
                  <a:srgbClr val="1963A0"/>
                </a:solidFill>
                <a:latin typeface="Arial" panose="020B0604020202020204" pitchFamily="34" charset="0"/>
              </a:rPr>
              <a:t>~2000</a:t>
            </a:r>
          </a:p>
        </p:txBody>
      </p:sp>
      <p:sp>
        <p:nvSpPr>
          <p:cNvPr id="8" name="Unita Surface code">
            <a:extLst>
              <a:ext uri="{FF2B5EF4-FFF2-40B4-BE49-F238E27FC236}">
                <a16:creationId xmlns:a16="http://schemas.microsoft.com/office/drawing/2014/main" id="{D91D9651-E68E-0550-75C5-9D9B1CE41E2E}"/>
              </a:ext>
            </a:extLst>
          </p:cNvPr>
          <p:cNvSpPr txBox="1"/>
          <p:nvPr/>
        </p:nvSpPr>
        <p:spPr>
          <a:xfrm>
            <a:off x="698500" y="3835400"/>
            <a:ext cx="4953000" cy="276999"/>
          </a:xfrm>
          <a:prstGeom prst="rect">
            <a:avLst/>
          </a:prstGeom>
          <a:noFill/>
        </p:spPr>
        <p:txBody>
          <a:bodyPr vert="horz" wrap="square" lIns="0" tIns="0" rIns="0" bIns="0" rtlCol="0">
            <a:noAutofit/>
          </a:bodyPr>
          <a:lstStyle/>
          <a:p>
            <a:r>
              <a:rPr lang="it-IT">
                <a:solidFill>
                  <a:srgbClr val="23374A"/>
                </a:solidFill>
                <a:latin typeface="Arial" panose="020B0604020202020204" pitchFamily="34" charset="0"/>
              </a:rPr>
              <a:t>qubit fisici per 12 qubit logici</a:t>
            </a:r>
            <a:endParaRPr lang="en-GB">
              <a:solidFill>
                <a:srgbClr val="23374A"/>
              </a:solidFill>
              <a:latin typeface="Arial" panose="020B0604020202020204" pitchFamily="34" charset="0"/>
            </a:endParaRPr>
          </a:p>
        </p:txBody>
      </p:sp>
      <p:sp>
        <p:nvSpPr>
          <p:cNvPr id="9" name="Descrizione Surface code">
            <a:extLst>
              <a:ext uri="{FF2B5EF4-FFF2-40B4-BE49-F238E27FC236}">
                <a16:creationId xmlns:a16="http://schemas.microsoft.com/office/drawing/2014/main" id="{3504FA27-35EF-0675-401B-2148BAA6C791}"/>
              </a:ext>
            </a:extLst>
          </p:cNvPr>
          <p:cNvSpPr txBox="1"/>
          <p:nvPr/>
        </p:nvSpPr>
        <p:spPr>
          <a:xfrm>
            <a:off x="698500" y="4292600"/>
            <a:ext cx="4953000" cy="276999"/>
          </a:xfrm>
          <a:prstGeom prst="rect">
            <a:avLst/>
          </a:prstGeom>
          <a:noFill/>
        </p:spPr>
        <p:txBody>
          <a:bodyPr vert="horz" wrap="square" lIns="0" tIns="0" rIns="0" bIns="0" rtlCol="0">
            <a:noAutofit/>
          </a:bodyPr>
          <a:lstStyle/>
          <a:p>
            <a:r>
              <a:rPr lang="it-IT" sz="1600">
                <a:solidFill>
                  <a:srgbClr val="23374A"/>
                </a:solidFill>
                <a:latin typeface="Arial" panose="020B0604020202020204" pitchFamily="34" charset="0"/>
              </a:rPr>
              <a:t>Robusto, ma richiede molti qubit</a:t>
            </a:r>
            <a:endParaRPr lang="en-GB" sz="1600">
              <a:solidFill>
                <a:srgbClr val="23374A"/>
              </a:solidFill>
              <a:latin typeface="Arial" panose="020B0604020202020204" pitchFamily="34" charset="0"/>
            </a:endParaRPr>
          </a:p>
        </p:txBody>
      </p:sp>
      <p:sp>
        <p:nvSpPr>
          <p:cNvPr id="10" name="Titolo Gross code">
            <a:extLst>
              <a:ext uri="{FF2B5EF4-FFF2-40B4-BE49-F238E27FC236}">
                <a16:creationId xmlns:a16="http://schemas.microsoft.com/office/drawing/2014/main" id="{973640EB-055A-3E1F-5712-49253DC62188}"/>
              </a:ext>
            </a:extLst>
          </p:cNvPr>
          <p:cNvSpPr txBox="1"/>
          <p:nvPr/>
        </p:nvSpPr>
        <p:spPr>
          <a:xfrm>
            <a:off x="6413500" y="1981200"/>
            <a:ext cx="4953000" cy="276999"/>
          </a:xfrm>
          <a:prstGeom prst="rect">
            <a:avLst/>
          </a:prstGeom>
          <a:noFill/>
        </p:spPr>
        <p:txBody>
          <a:bodyPr vert="horz" wrap="square" lIns="0" tIns="0" rIns="0" bIns="0" rtlCol="0">
            <a:noAutofit/>
          </a:bodyPr>
          <a:lstStyle/>
          <a:p>
            <a:r>
              <a:rPr lang="en-GB" sz="2500" b="1">
                <a:solidFill>
                  <a:srgbClr val="003366"/>
                </a:solidFill>
                <a:latin typeface="Arial" panose="020B0604020202020204" pitchFamily="34" charset="0"/>
              </a:rPr>
              <a:t>Gross code</a:t>
            </a:r>
          </a:p>
        </p:txBody>
      </p:sp>
      <p:sp>
        <p:nvSpPr>
          <p:cNvPr id="11" name="Ruolo Gross code">
            <a:extLst>
              <a:ext uri="{FF2B5EF4-FFF2-40B4-BE49-F238E27FC236}">
                <a16:creationId xmlns:a16="http://schemas.microsoft.com/office/drawing/2014/main" id="{1CB297D8-F2DE-E630-334B-29572DF3614C}"/>
              </a:ext>
            </a:extLst>
          </p:cNvPr>
          <p:cNvSpPr txBox="1"/>
          <p:nvPr/>
        </p:nvSpPr>
        <p:spPr>
          <a:xfrm>
            <a:off x="6413500" y="2501900"/>
            <a:ext cx="4953000" cy="276999"/>
          </a:xfrm>
          <a:prstGeom prst="rect">
            <a:avLst/>
          </a:prstGeom>
          <a:noFill/>
        </p:spPr>
        <p:txBody>
          <a:bodyPr vert="horz" wrap="square" lIns="0" tIns="0" rIns="0" bIns="0" rtlCol="0">
            <a:noAutofit/>
          </a:bodyPr>
          <a:lstStyle/>
          <a:p>
            <a:r>
              <a:rPr lang="en-GB" sz="1500">
                <a:solidFill>
                  <a:srgbClr val="677586"/>
                </a:solidFill>
                <a:latin typeface="Arial" panose="020B0604020202020204" pitchFamily="34" charset="0"/>
              </a:rPr>
              <a:t>L'alternativa di IBM</a:t>
            </a:r>
          </a:p>
        </p:txBody>
      </p:sp>
      <p:sp>
        <p:nvSpPr>
          <p:cNvPr id="12" name="Qubit Gross code">
            <a:extLst>
              <a:ext uri="{FF2B5EF4-FFF2-40B4-BE49-F238E27FC236}">
                <a16:creationId xmlns:a16="http://schemas.microsoft.com/office/drawing/2014/main" id="{0F14DDA5-5873-1937-E78F-8F9166D6CC05}"/>
              </a:ext>
            </a:extLst>
          </p:cNvPr>
          <p:cNvSpPr txBox="1"/>
          <p:nvPr/>
        </p:nvSpPr>
        <p:spPr>
          <a:xfrm>
            <a:off x="6413500" y="2870200"/>
            <a:ext cx="4953000" cy="276999"/>
          </a:xfrm>
          <a:prstGeom prst="rect">
            <a:avLst/>
          </a:prstGeom>
          <a:noFill/>
        </p:spPr>
        <p:txBody>
          <a:bodyPr vert="horz" wrap="square" lIns="0" tIns="0" rIns="0" bIns="0" rtlCol="0">
            <a:noAutofit/>
          </a:bodyPr>
          <a:lstStyle/>
          <a:p>
            <a:r>
              <a:rPr lang="en-GB" sz="6000" b="1">
                <a:solidFill>
                  <a:srgbClr val="DB8221"/>
                </a:solidFill>
                <a:latin typeface="Arial" panose="020B0604020202020204" pitchFamily="34" charset="0"/>
              </a:rPr>
              <a:t>144</a:t>
            </a:r>
          </a:p>
        </p:txBody>
      </p:sp>
      <p:sp>
        <p:nvSpPr>
          <p:cNvPr id="13" name="Unita Gross code">
            <a:extLst>
              <a:ext uri="{FF2B5EF4-FFF2-40B4-BE49-F238E27FC236}">
                <a16:creationId xmlns:a16="http://schemas.microsoft.com/office/drawing/2014/main" id="{C81A07BC-1E1B-6A9A-6473-DB8D28D44186}"/>
              </a:ext>
            </a:extLst>
          </p:cNvPr>
          <p:cNvSpPr txBox="1"/>
          <p:nvPr/>
        </p:nvSpPr>
        <p:spPr>
          <a:xfrm>
            <a:off x="6413500" y="3835400"/>
            <a:ext cx="4953000" cy="276999"/>
          </a:xfrm>
          <a:prstGeom prst="rect">
            <a:avLst/>
          </a:prstGeom>
          <a:noFill/>
        </p:spPr>
        <p:txBody>
          <a:bodyPr vert="horz" wrap="square" lIns="0" tIns="0" rIns="0" bIns="0" rtlCol="0">
            <a:noAutofit/>
          </a:bodyPr>
          <a:lstStyle/>
          <a:p>
            <a:r>
              <a:rPr lang="it-IT">
                <a:solidFill>
                  <a:srgbClr val="23374A"/>
                </a:solidFill>
                <a:latin typeface="Arial" panose="020B0604020202020204" pitchFamily="34" charset="0"/>
              </a:rPr>
              <a:t>qubit fisici per 12 qubit logici</a:t>
            </a:r>
            <a:endParaRPr lang="en-GB">
              <a:solidFill>
                <a:srgbClr val="23374A"/>
              </a:solidFill>
              <a:latin typeface="Arial" panose="020B0604020202020204" pitchFamily="34" charset="0"/>
            </a:endParaRPr>
          </a:p>
        </p:txBody>
      </p:sp>
      <p:sp>
        <p:nvSpPr>
          <p:cNvPr id="14" name="Descrizione Gross code">
            <a:extLst>
              <a:ext uri="{FF2B5EF4-FFF2-40B4-BE49-F238E27FC236}">
                <a16:creationId xmlns:a16="http://schemas.microsoft.com/office/drawing/2014/main" id="{F7B33801-480E-0AAC-E234-13A17499D7EF}"/>
              </a:ext>
            </a:extLst>
          </p:cNvPr>
          <p:cNvSpPr txBox="1"/>
          <p:nvPr/>
        </p:nvSpPr>
        <p:spPr>
          <a:xfrm>
            <a:off x="6413500" y="4292600"/>
            <a:ext cx="4953000" cy="276999"/>
          </a:xfrm>
          <a:prstGeom prst="rect">
            <a:avLst/>
          </a:prstGeom>
          <a:noFill/>
        </p:spPr>
        <p:txBody>
          <a:bodyPr vert="horz" wrap="square" lIns="0" tIns="0" rIns="0" bIns="0" rtlCol="0">
            <a:noAutofit/>
          </a:bodyPr>
          <a:lstStyle/>
          <a:p>
            <a:r>
              <a:rPr lang="en-GB" sz="1600">
                <a:solidFill>
                  <a:srgbClr val="23374A"/>
                </a:solidFill>
                <a:latin typeface="Arial" panose="020B0604020202020204" pitchFamily="34" charset="0"/>
              </a:rPr>
              <a:t>Codice qLDPC</a:t>
            </a:r>
          </a:p>
        </p:txBody>
      </p:sp>
      <p:sp>
        <p:nvSpPr>
          <p:cNvPr id="15" name="Etichetta esperimenti">
            <a:extLst>
              <a:ext uri="{FF2B5EF4-FFF2-40B4-BE49-F238E27FC236}">
                <a16:creationId xmlns:a16="http://schemas.microsoft.com/office/drawing/2014/main" id="{B02FA154-6B27-1254-137B-B96CC2799B94}"/>
              </a:ext>
            </a:extLst>
          </p:cNvPr>
          <p:cNvSpPr txBox="1"/>
          <p:nvPr/>
        </p:nvSpPr>
        <p:spPr>
          <a:xfrm>
            <a:off x="698500" y="5003800"/>
            <a:ext cx="2794000" cy="276999"/>
          </a:xfrm>
          <a:prstGeom prst="rect">
            <a:avLst/>
          </a:prstGeom>
          <a:noFill/>
        </p:spPr>
        <p:txBody>
          <a:bodyPr vert="horz" wrap="square" lIns="0" tIns="0" rIns="0" bIns="0" rtlCol="0">
            <a:noAutofit/>
          </a:bodyPr>
          <a:lstStyle/>
          <a:p>
            <a:r>
              <a:rPr lang="en-GB" sz="1100" b="1">
                <a:solidFill>
                  <a:srgbClr val="677586"/>
                </a:solidFill>
                <a:latin typeface="Arial" panose="020B0604020202020204" pitchFamily="34" charset="0"/>
              </a:rPr>
              <a:t>COSA HO VALUTATO</a:t>
            </a:r>
          </a:p>
        </p:txBody>
      </p:sp>
      <p:sp>
        <p:nvSpPr>
          <p:cNvPr id="26" name="Esperimenti Surface code">
            <a:extLst>
              <a:ext uri="{FF2B5EF4-FFF2-40B4-BE49-F238E27FC236}">
                <a16:creationId xmlns:a16="http://schemas.microsoft.com/office/drawing/2014/main" id="{99A234BB-6CCE-6952-2670-148FF5192A82}"/>
              </a:ext>
            </a:extLst>
          </p:cNvPr>
          <p:cNvSpPr txBox="1"/>
          <p:nvPr/>
        </p:nvSpPr>
        <p:spPr>
          <a:xfrm>
            <a:off x="698500" y="5359400"/>
            <a:ext cx="4978400" cy="276999"/>
          </a:xfrm>
          <a:prstGeom prst="rect">
            <a:avLst/>
          </a:prstGeom>
          <a:noFill/>
        </p:spPr>
        <p:txBody>
          <a:bodyPr vert="horz" wrap="square" lIns="0" tIns="0" rIns="0" bIns="0" rtlCol="0">
            <a:noAutofit/>
          </a:bodyPr>
          <a:lstStyle/>
          <a:p>
            <a:r>
              <a:rPr lang="en-GB" sz="2000" b="1">
                <a:solidFill>
                  <a:srgbClr val="1963A0"/>
                </a:solidFill>
                <a:latin typeface="Arial" panose="020B0604020202020204" pitchFamily="34" charset="0"/>
              </a:rPr>
              <a:t>1  Soglia       2  Decoder</a:t>
            </a:r>
          </a:p>
        </p:txBody>
      </p:sp>
      <p:sp>
        <p:nvSpPr>
          <p:cNvPr id="28" name="Esperimenti Gross code">
            <a:extLst>
              <a:ext uri="{FF2B5EF4-FFF2-40B4-BE49-F238E27FC236}">
                <a16:creationId xmlns:a16="http://schemas.microsoft.com/office/drawing/2014/main" id="{86B4C62E-1803-D311-A73A-6323A1AEF90F}"/>
              </a:ext>
            </a:extLst>
          </p:cNvPr>
          <p:cNvSpPr txBox="1"/>
          <p:nvPr/>
        </p:nvSpPr>
        <p:spPr>
          <a:xfrm>
            <a:off x="6413500" y="5359400"/>
            <a:ext cx="4978400" cy="276999"/>
          </a:xfrm>
          <a:prstGeom prst="rect">
            <a:avLst/>
          </a:prstGeom>
          <a:noFill/>
        </p:spPr>
        <p:txBody>
          <a:bodyPr vert="horz" wrap="square" lIns="0" tIns="0" rIns="0" bIns="0" rtlCol="0">
            <a:noAutofit/>
          </a:bodyPr>
          <a:lstStyle/>
          <a:p>
            <a:r>
              <a:rPr lang="en-GB" sz="2000" b="1">
                <a:solidFill>
                  <a:srgbClr val="DB8221"/>
                </a:solidFill>
                <a:latin typeface="Arial" panose="020B0604020202020204" pitchFamily="34" charset="0"/>
              </a:rPr>
              <a:t>3  Qubit necessari</a:t>
            </a:r>
          </a:p>
        </p:txBody>
      </p:sp>
      <p:sp>
        <p:nvSpPr>
          <p:cNvPr id="29" name="Nota confronto">
            <a:extLst>
              <a:ext uri="{FF2B5EF4-FFF2-40B4-BE49-F238E27FC236}">
                <a16:creationId xmlns:a16="http://schemas.microsoft.com/office/drawing/2014/main" id="{F95D5EEB-EEDF-4C9B-CFB4-1BD086D3DBC2}"/>
              </a:ext>
            </a:extLst>
          </p:cNvPr>
          <p:cNvSpPr txBox="1"/>
          <p:nvPr/>
        </p:nvSpPr>
        <p:spPr>
          <a:xfrm>
            <a:off x="6413500" y="5727700"/>
            <a:ext cx="4978400" cy="276999"/>
          </a:xfrm>
          <a:prstGeom prst="rect">
            <a:avLst/>
          </a:prstGeom>
          <a:noFill/>
        </p:spPr>
        <p:txBody>
          <a:bodyPr vert="horz" wrap="square" lIns="0" tIns="0" rIns="0" bIns="0" rtlCol="0">
            <a:noAutofit/>
          </a:bodyPr>
          <a:lstStyle/>
          <a:p>
            <a:r>
              <a:rPr lang="it-IT" sz="1200">
                <a:solidFill>
                  <a:srgbClr val="677586"/>
                </a:solidFill>
                <a:latin typeface="Arial" panose="020B0604020202020204" pitchFamily="34" charset="0"/>
              </a:rPr>
              <a:t>Confronto con il surface code</a:t>
            </a:r>
            <a:endParaRPr lang="en-GB" sz="1200">
              <a:solidFill>
                <a:srgbClr val="677586"/>
              </a:solidFill>
              <a:latin typeface="Arial" panose="020B0604020202020204" pitchFamily="34" charset="0"/>
            </a:endParaRPr>
          </a:p>
        </p:txBody>
      </p:sp>
    </p:spTree>
    <p:extLst>
      <p:ext uri="{BB962C8B-B14F-4D97-AF65-F5344CB8AC3E}">
        <p14:creationId xmlns:p14="http://schemas.microsoft.com/office/powerpoint/2010/main" val="16152995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1A0FE10-7D08-45A5-9369-B8A8D92211C3}"/>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Strategia 2: correzione quantistica degli errori</a:t>
            </a:r>
            <a:endParaRPr sz="2700" b="0">
              <a:solidFill>
                <a:srgbClr val="003366"/>
              </a:solidFill>
              <a:latin typeface="Arial"/>
              <a:ea typeface="Arial"/>
              <a:cs typeface="Arial"/>
            </a:endParaRPr>
          </a:p>
        </p:txBody>
      </p:sp>
      <p:pic>
        <p:nvPicPr>
          <p:cNvPr id="17" name="Picture 16"/>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C63BB1C7-E1F5-4EAD-96B7-5E2DB8BF621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CD7F7CC-AA63-4989-8F76-D977A27FE480}"/>
              </a:ext>
            </a:extLst>
          </p:cNvPr>
          <p:cNvSpPr>
            <a:spLocks noGrp="1"/>
          </p:cNvSpPr>
          <p:nvPr/>
        </p:nvSpPr>
        <p:spPr>
          <a:xfrm>
            <a:off x="7477125" y="828675"/>
            <a:ext cx="3228975" cy="219075"/>
          </a:xfrm>
          <a:prstGeom prst="rect">
            <a:avLst/>
          </a:prstGeom>
          <a:noFill/>
          <a:ln w="0">
            <a:noFill/>
          </a:ln>
        </p:spPr>
        <p:txBody>
          <a:bodyPr rIns="0" anchor="ctr">
            <a:noAutofit/>
          </a:bodyPr>
          <a:lstStyle/>
          <a:p>
            <a:pPr algn="r">
              <a:defRPr sz="1200" b="0">
                <a:solidFill>
                  <a:srgbClr val="203344"/>
                </a:solidFill>
                <a:latin typeface="Arial"/>
                <a:ea typeface="Arial"/>
                <a:cs typeface="Arial"/>
              </a:defRPr>
            </a:pPr>
            <a:r>
              <a:rPr lang="it-IT" sz="1050" b="0">
                <a:solidFill>
                  <a:srgbClr val="203344"/>
                </a:solidFill>
                <a:latin typeface="Arial"/>
                <a:ea typeface="Arial"/>
                <a:cs typeface="Arial"/>
              </a:rPr>
              <a:t>Strategia 2 · Correzione degli errori | 7</a:t>
            </a:r>
            <a:endParaRPr sz="1050" b="0">
              <a:solidFill>
                <a:srgbClr val="203344"/>
              </a:solidFill>
              <a:latin typeface="Arial"/>
              <a:ea typeface="Arial"/>
              <a:cs typeface="Arial"/>
            </a:endParaRPr>
          </a:p>
        </p:txBody>
      </p:sp>
      <p:sp>
        <p:nvSpPr>
          <p:cNvPr id="2" name="TextBox 1">
            <a:extLst>
              <a:ext uri="{FF2B5EF4-FFF2-40B4-BE49-F238E27FC236}">
                <a16:creationId xmlns:a16="http://schemas.microsoft.com/office/drawing/2014/main" id="{02CC2BCD-8065-AF14-A761-223B420003D9}"/>
              </a:ext>
            </a:extLst>
          </p:cNvPr>
          <p:cNvSpPr txBox="1"/>
          <p:nvPr/>
        </p:nvSpPr>
        <p:spPr>
          <a:xfrm>
            <a:off x="609600" y="1244600"/>
            <a:ext cx="10972800" cy="369332"/>
          </a:xfrm>
          <a:prstGeom prst="rect">
            <a:avLst/>
          </a:prstGeom>
          <a:noFill/>
        </p:spPr>
        <p:txBody>
          <a:bodyPr vert="horz" wrap="square" rtlCol="0">
            <a:noAutofit/>
          </a:bodyPr>
          <a:lstStyle/>
          <a:p>
            <a:r>
              <a:rPr lang="it-IT" sz="1725">
                <a:solidFill>
                  <a:srgbClr val="203344"/>
                </a:solidFill>
                <a:latin typeface="Arial" panose="020B0604020202020204" pitchFamily="34" charset="0"/>
              </a:rPr>
              <a:t>Più qubit fisici proteggono un qubit logico</a:t>
            </a:r>
          </a:p>
        </p:txBody>
      </p:sp>
      <p:sp>
        <p:nvSpPr>
          <p:cNvPr id="27" name="TextBox 26">
            <a:extLst>
              <a:ext uri="{FF2B5EF4-FFF2-40B4-BE49-F238E27FC236}">
                <a16:creationId xmlns:a16="http://schemas.microsoft.com/office/drawing/2014/main" id="{F0CC65BC-FC56-74B3-8292-99AF6B487F00}"/>
              </a:ext>
            </a:extLst>
          </p:cNvPr>
          <p:cNvSpPr txBox="1"/>
          <p:nvPr/>
        </p:nvSpPr>
        <p:spPr>
          <a:xfrm>
            <a:off x="609600" y="6150000"/>
            <a:ext cx="10972800" cy="450000"/>
          </a:xfrm>
          <a:prstGeom prst="rect">
            <a:avLst/>
          </a:prstGeom>
          <a:noFill/>
        </p:spPr>
        <p:txBody>
          <a:bodyPr vert="horz" wrap="square" rtlCol="0">
            <a:noAutofit/>
          </a:bodyPr>
          <a:lstStyle/>
          <a:p>
            <a:r>
              <a:rPr lang="it-IT" sz="1950" b="1">
                <a:solidFill>
                  <a:srgbClr val="175F99"/>
                </a:solidFill>
                <a:latin typeface="Arial" panose="020B0604020202020204" pitchFamily="34" charset="0"/>
              </a:rPr>
              <a:t>Stessa idea, due compromessi: protezione contro numero di qubit.</a:t>
            </a:r>
          </a:p>
        </p:txBody>
      </p:sp>
      <p:graphicFrame>
        <p:nvGraphicFramePr>
          <p:cNvPr id="18" name="Table 17">
            <a:extLst>
              <a:ext uri="{FF2B5EF4-FFF2-40B4-BE49-F238E27FC236}">
                <a16:creationId xmlns:a16="http://schemas.microsoft.com/office/drawing/2014/main" id="{A5D9587E-481F-FCD2-85AC-70494BC8E951}"/>
              </a:ext>
            </a:extLst>
          </p:cNvPr>
          <p:cNvGraphicFramePr>
            <a:graphicFrameLocks noGrp="1"/>
          </p:cNvGraphicFramePr>
          <p:nvPr/>
        </p:nvGraphicFramePr>
        <p:xfrm>
          <a:off x="609600" y="2044700"/>
          <a:ext cx="10972800" cy="334772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713271035"/>
                    </a:ext>
                  </a:extLst>
                </a:gridCol>
                <a:gridCol w="4152900">
                  <a:extLst>
                    <a:ext uri="{9D8B030D-6E8A-4147-A177-3AD203B41FA5}">
                      <a16:colId xmlns:a16="http://schemas.microsoft.com/office/drawing/2014/main" val="4001966902"/>
                    </a:ext>
                  </a:extLst>
                </a:gridCol>
                <a:gridCol w="4152900">
                  <a:extLst>
                    <a:ext uri="{9D8B030D-6E8A-4147-A177-3AD203B41FA5}">
                      <a16:colId xmlns:a16="http://schemas.microsoft.com/office/drawing/2014/main" val="3335385368"/>
                    </a:ext>
                  </a:extLst>
                </a:gridCol>
              </a:tblGrid>
              <a:tr h="571500">
                <a:tc>
                  <a:txBody>
                    <a:bodyPr/>
                    <a:lstStyle/>
                    <a:p>
                      <a:endParaRPr lang="en-GB" sz="1800" b="0">
                        <a:solidFill>
                          <a:srgbClr val="003366"/>
                        </a:solidFill>
                        <a:latin typeface="Arial" panose="020B0604020202020204" pitchFamily="34" charset="0"/>
                      </a:endParaRPr>
                    </a:p>
                  </a:txBody>
                  <a:tcPr marL="203200" marR="152400" marT="127000" marB="101600" anchor="ctr">
                    <a:lnL w="12700" cmpd="sng">
                      <a:solidFill>
                        <a:schemeClr val="lt1"/>
                      </a:solidFill>
                    </a:lnL>
                    <a:lnR w="12700" cmpd="sng">
                      <a:solidFill>
                        <a:schemeClr val="lt1"/>
                      </a:solidFill>
                    </a:lnR>
                    <a:lnT w="12700" cmpd="sng">
                      <a:solidFill>
                        <a:schemeClr val="lt1"/>
                      </a:solidFill>
                    </a:lnT>
                    <a:lnB w="38100" cmpd="sng">
                      <a:solidFill>
                        <a:schemeClr val="lt1"/>
                      </a:solidFill>
                    </a:lnB>
                    <a:solidFill>
                      <a:srgbClr val="FFFFFF"/>
                    </a:solidFill>
                  </a:tcPr>
                </a:tc>
                <a:tc>
                  <a:txBody>
                    <a:bodyPr/>
                    <a:lstStyle/>
                    <a:p>
                      <a:r>
                        <a:rPr lang="en-GB" sz="2300" b="1">
                          <a:solidFill>
                            <a:srgbClr val="1963A0"/>
                          </a:solidFill>
                          <a:latin typeface="Arial" panose="020B0604020202020204" pitchFamily="34" charset="0"/>
                        </a:rPr>
                        <a:t>Surface code</a:t>
                      </a:r>
                    </a:p>
                  </a:txBody>
                  <a:tcPr marL="203200" marR="152400" marT="127000" marB="101600" anchor="ctr">
                    <a:lnL w="12700" cmpd="sng">
                      <a:solidFill>
                        <a:schemeClr val="lt1"/>
                      </a:solidFill>
                    </a:lnL>
                    <a:lnR w="12700" cmpd="sng">
                      <a:solidFill>
                        <a:schemeClr val="lt1"/>
                      </a:solidFill>
                    </a:lnR>
                    <a:lnT w="12700" cmpd="sng">
                      <a:solidFill>
                        <a:schemeClr val="lt1"/>
                      </a:solidFill>
                    </a:lnT>
                    <a:lnB w="38100" cmpd="sng">
                      <a:solidFill>
                        <a:schemeClr val="lt1"/>
                      </a:solidFill>
                    </a:lnB>
                    <a:solidFill>
                      <a:srgbClr val="EDF3F7"/>
                    </a:solidFill>
                  </a:tcPr>
                </a:tc>
                <a:tc>
                  <a:txBody>
                    <a:bodyPr/>
                    <a:lstStyle/>
                    <a:p>
                      <a:r>
                        <a:rPr lang="en-GB" sz="2300" b="1">
                          <a:solidFill>
                            <a:srgbClr val="DB8221"/>
                          </a:solidFill>
                          <a:latin typeface="Arial" panose="020B0604020202020204" pitchFamily="34" charset="0"/>
                        </a:rPr>
                        <a:t>Gross code</a:t>
                      </a:r>
                    </a:p>
                  </a:txBody>
                  <a:tcPr marL="203200" marR="152400" marT="127000" marB="101600" anchor="ctr">
                    <a:lnL w="12700" cmpd="sng">
                      <a:solidFill>
                        <a:schemeClr val="lt1"/>
                      </a:solidFill>
                    </a:lnL>
                    <a:lnR w="12700" cmpd="sng">
                      <a:solidFill>
                        <a:schemeClr val="lt1"/>
                      </a:solidFill>
                    </a:lnR>
                    <a:lnT w="12700" cmpd="sng">
                      <a:solidFill>
                        <a:schemeClr val="lt1"/>
                      </a:solidFill>
                    </a:lnT>
                    <a:lnB w="38100" cmpd="sng">
                      <a:solidFill>
                        <a:schemeClr val="lt1"/>
                      </a:solidFill>
                    </a:lnB>
                    <a:solidFill>
                      <a:srgbClr val="FCF2E6"/>
                    </a:solidFill>
                  </a:tcPr>
                </a:tc>
                <a:extLst>
                  <a:ext uri="{0D108BD9-81ED-4DB2-BD59-A6C34878D82A}">
                    <a16:rowId xmlns:a16="http://schemas.microsoft.com/office/drawing/2014/main" val="3234018016"/>
                  </a:ext>
                </a:extLst>
              </a:tr>
              <a:tr h="1333500">
                <a:tc>
                  <a:txBody>
                    <a:bodyPr/>
                    <a:lstStyle/>
                    <a:p>
                      <a:r>
                        <a:rPr lang="it-IT" sz="1700" b="0">
                          <a:solidFill>
                            <a:srgbClr val="23374A"/>
                          </a:solidFill>
                          <a:latin typeface="Arial" panose="020B0604020202020204" pitchFamily="34" charset="0"/>
                        </a:rPr>
                        <a:t>Qubit fisici</a:t>
                      </a:r>
                    </a:p>
                    <a:p>
                      <a:r>
                        <a:rPr lang="it-IT" sz="1700" b="0">
                          <a:solidFill>
                            <a:srgbClr val="23374A"/>
                          </a:solidFill>
                          <a:latin typeface="Arial" panose="020B0604020202020204" pitchFamily="34" charset="0"/>
                        </a:rPr>
                        <a:t>per 12 qubit logici</a:t>
                      </a:r>
                      <a:endParaRPr lang="en-GB" sz="1700" b="0">
                        <a:solidFill>
                          <a:srgbClr val="23374A"/>
                        </a:solidFill>
                        <a:latin typeface="Arial" panose="020B0604020202020204" pitchFamily="34" charset="0"/>
                      </a:endParaRPr>
                    </a:p>
                  </a:txBody>
                  <a:tcPr marL="203200" marR="152400" marT="127000" marB="101600" anchor="ctr">
                    <a:lnL w="12700" cmpd="sng">
                      <a:solidFill>
                        <a:schemeClr val="lt1"/>
                      </a:solidFill>
                    </a:lnL>
                    <a:lnR w="12700" cmpd="sng">
                      <a:solidFill>
                        <a:schemeClr val="lt1"/>
                      </a:solidFill>
                    </a:lnR>
                    <a:lnT w="38100" cmpd="sng">
                      <a:solidFill>
                        <a:schemeClr val="lt1"/>
                      </a:solidFill>
                    </a:lnT>
                    <a:lnB w="12700" cmpd="sng">
                      <a:solidFill>
                        <a:schemeClr val="lt1"/>
                      </a:solidFill>
                    </a:lnB>
                    <a:solidFill>
                      <a:srgbClr val="FFFFFF"/>
                    </a:solidFill>
                  </a:tcPr>
                </a:tc>
                <a:tc>
                  <a:txBody>
                    <a:bodyPr/>
                    <a:lstStyle/>
                    <a:p>
                      <a:r>
                        <a:rPr lang="en-GB" sz="4800" b="1">
                          <a:solidFill>
                            <a:srgbClr val="1963A0"/>
                          </a:solidFill>
                          <a:latin typeface="Arial" panose="020B0604020202020204" pitchFamily="34" charset="0"/>
                        </a:rPr>
                        <a:t>~2000</a:t>
                      </a:r>
                    </a:p>
                  </a:txBody>
                  <a:tcPr marL="203200" marR="152400" marT="127000" marB="101600" anchor="ctr">
                    <a:lnL w="12700" cmpd="sng">
                      <a:solidFill>
                        <a:schemeClr val="lt1"/>
                      </a:solidFill>
                    </a:lnL>
                    <a:lnR w="12700" cmpd="sng">
                      <a:solidFill>
                        <a:schemeClr val="lt1"/>
                      </a:solidFill>
                    </a:lnR>
                    <a:lnT w="38100" cmpd="sng">
                      <a:solidFill>
                        <a:schemeClr val="lt1"/>
                      </a:solidFill>
                    </a:lnT>
                    <a:lnB w="12700" cmpd="sng">
                      <a:solidFill>
                        <a:schemeClr val="lt1"/>
                      </a:solidFill>
                    </a:lnB>
                    <a:solidFill>
                      <a:srgbClr val="EDF3F7"/>
                    </a:solidFill>
                  </a:tcPr>
                </a:tc>
                <a:tc>
                  <a:txBody>
                    <a:bodyPr/>
                    <a:lstStyle/>
                    <a:p>
                      <a:r>
                        <a:rPr lang="en-GB" sz="4800" b="1">
                          <a:solidFill>
                            <a:srgbClr val="DB8221"/>
                          </a:solidFill>
                          <a:latin typeface="Arial" panose="020B0604020202020204" pitchFamily="34" charset="0"/>
                        </a:rPr>
                        <a:t>144</a:t>
                      </a:r>
                    </a:p>
                  </a:txBody>
                  <a:tcPr marL="203200" marR="152400" marT="127000" marB="101600" anchor="ctr">
                    <a:lnL w="12700" cmpd="sng">
                      <a:solidFill>
                        <a:schemeClr val="lt1"/>
                      </a:solidFill>
                    </a:lnL>
                    <a:lnR w="12700" cmpd="sng">
                      <a:solidFill>
                        <a:schemeClr val="lt1"/>
                      </a:solidFill>
                    </a:lnR>
                    <a:lnT w="38100" cmpd="sng">
                      <a:solidFill>
                        <a:schemeClr val="lt1"/>
                      </a:solidFill>
                    </a:lnT>
                    <a:lnB w="12700" cmpd="sng">
                      <a:solidFill>
                        <a:schemeClr val="lt1"/>
                      </a:solidFill>
                    </a:lnB>
                    <a:solidFill>
                      <a:srgbClr val="FCF2E6"/>
                    </a:solidFill>
                  </a:tcPr>
                </a:tc>
                <a:extLst>
                  <a:ext uri="{0D108BD9-81ED-4DB2-BD59-A6C34878D82A}">
                    <a16:rowId xmlns:a16="http://schemas.microsoft.com/office/drawing/2014/main" val="2121664218"/>
                  </a:ext>
                </a:extLst>
              </a:tr>
              <a:tr h="673100">
                <a:tc>
                  <a:txBody>
                    <a:bodyPr/>
                    <a:lstStyle/>
                    <a:p>
                      <a:r>
                        <a:rPr lang="en-GB" sz="1700" b="0">
                          <a:solidFill>
                            <a:srgbClr val="23374A"/>
                          </a:solidFill>
                          <a:latin typeface="Arial" panose="020B0604020202020204" pitchFamily="34" charset="0"/>
                        </a:rPr>
                        <a:t>Caratteristiche</a:t>
                      </a:r>
                    </a:p>
                  </a:txBody>
                  <a:tcPr marL="203200" marR="152400" marT="127000" marB="101600" anchor="ctr">
                    <a:lnL w="12700" cmpd="sng">
                      <a:solidFill>
                        <a:schemeClr val="lt1"/>
                      </a:solidFill>
                    </a:lnL>
                    <a:lnR w="12700" cmpd="sng">
                      <a:solidFill>
                        <a:schemeClr val="lt1"/>
                      </a:solidFill>
                    </a:lnR>
                    <a:lnT w="12700" cmpd="sng">
                      <a:solidFill>
                        <a:schemeClr val="lt1"/>
                      </a:solidFill>
                    </a:lnT>
                    <a:lnB w="12700" cmpd="sng">
                      <a:solidFill>
                        <a:schemeClr val="lt1"/>
                      </a:solidFill>
                    </a:lnB>
                    <a:solidFill>
                      <a:srgbClr val="FFFFFF"/>
                    </a:solidFill>
                  </a:tcPr>
                </a:tc>
                <a:tc>
                  <a:txBody>
                    <a:bodyPr/>
                    <a:lstStyle/>
                    <a:p>
                      <a:r>
                        <a:rPr lang="en-GB" sz="1900" b="0">
                          <a:solidFill>
                            <a:srgbClr val="23374A"/>
                          </a:solidFill>
                          <a:latin typeface="Arial" panose="020B0604020202020204" pitchFamily="34" charset="0"/>
                        </a:rPr>
                        <a:t>Robusto, ma costoso</a:t>
                      </a:r>
                    </a:p>
                  </a:txBody>
                  <a:tcPr marL="203200" marR="152400" marT="127000" marB="101600" anchor="ctr">
                    <a:lnL w="12700" cmpd="sng">
                      <a:solidFill>
                        <a:schemeClr val="lt1"/>
                      </a:solidFill>
                    </a:lnL>
                    <a:lnR w="12700" cmpd="sng">
                      <a:solidFill>
                        <a:schemeClr val="lt1"/>
                      </a:solidFill>
                    </a:lnR>
                    <a:lnT w="12700" cmpd="sng">
                      <a:solidFill>
                        <a:schemeClr val="lt1"/>
                      </a:solidFill>
                    </a:lnT>
                    <a:lnB w="12700" cmpd="sng">
                      <a:solidFill>
                        <a:schemeClr val="lt1"/>
                      </a:solidFill>
                    </a:lnB>
                    <a:solidFill>
                      <a:srgbClr val="EDF3F7"/>
                    </a:solidFill>
                  </a:tcPr>
                </a:tc>
                <a:tc>
                  <a:txBody>
                    <a:bodyPr/>
                    <a:lstStyle/>
                    <a:p>
                      <a:r>
                        <a:rPr lang="en-GB" sz="1900" b="0">
                          <a:solidFill>
                            <a:srgbClr val="23374A"/>
                          </a:solidFill>
                          <a:latin typeface="Arial" panose="020B0604020202020204" pitchFamily="34" charset="0"/>
                        </a:rPr>
                        <a:t>Codice qLDPC di IBM</a:t>
                      </a:r>
                    </a:p>
                  </a:txBody>
                  <a:tcPr marL="203200" marR="152400" marT="127000" marB="101600" anchor="ctr">
                    <a:lnL w="12700" cmpd="sng">
                      <a:solidFill>
                        <a:schemeClr val="lt1"/>
                      </a:solidFill>
                    </a:lnL>
                    <a:lnR w="12700" cmpd="sng">
                      <a:solidFill>
                        <a:schemeClr val="lt1"/>
                      </a:solidFill>
                    </a:lnR>
                    <a:lnT w="12700" cmpd="sng">
                      <a:solidFill>
                        <a:schemeClr val="lt1"/>
                      </a:solidFill>
                    </a:lnT>
                    <a:lnB w="12700" cmpd="sng">
                      <a:solidFill>
                        <a:schemeClr val="lt1"/>
                      </a:solidFill>
                    </a:lnB>
                    <a:solidFill>
                      <a:srgbClr val="FCF2E6"/>
                    </a:solidFill>
                  </a:tcPr>
                </a:tc>
                <a:extLst>
                  <a:ext uri="{0D108BD9-81ED-4DB2-BD59-A6C34878D82A}">
                    <a16:rowId xmlns:a16="http://schemas.microsoft.com/office/drawing/2014/main" val="1829665046"/>
                  </a:ext>
                </a:extLst>
              </a:tr>
              <a:tr h="762000">
                <a:tc>
                  <a:txBody>
                    <a:bodyPr/>
                    <a:lstStyle/>
                    <a:p>
                      <a:r>
                        <a:rPr lang="en-GB" sz="1700" b="0">
                          <a:solidFill>
                            <a:srgbClr val="23374A"/>
                          </a:solidFill>
                          <a:latin typeface="Arial" panose="020B0604020202020204" pitchFamily="34" charset="0"/>
                        </a:rPr>
                        <a:t>Cosa ho valutato</a:t>
                      </a:r>
                    </a:p>
                  </a:txBody>
                  <a:tcPr marL="203200" marR="152400" marT="127000" marB="101600" anchor="ctr">
                    <a:lnL w="12700" cmpd="sng">
                      <a:solidFill>
                        <a:schemeClr val="lt1"/>
                      </a:solidFill>
                    </a:lnL>
                    <a:lnR w="12700" cmpd="sng">
                      <a:solidFill>
                        <a:schemeClr val="lt1"/>
                      </a:solidFill>
                    </a:lnR>
                    <a:lnT w="12700" cmpd="sng">
                      <a:solidFill>
                        <a:schemeClr val="lt1"/>
                      </a:solidFill>
                    </a:lnT>
                    <a:lnB w="12700" cmpd="sng">
                      <a:solidFill>
                        <a:schemeClr val="lt1"/>
                      </a:solidFill>
                    </a:lnB>
                    <a:solidFill>
                      <a:srgbClr val="FFFFFF"/>
                    </a:solidFill>
                  </a:tcPr>
                </a:tc>
                <a:tc>
                  <a:txBody>
                    <a:bodyPr/>
                    <a:lstStyle/>
                    <a:p>
                      <a:r>
                        <a:rPr lang="en-GB" sz="1900" b="1">
                          <a:solidFill>
                            <a:srgbClr val="1963A0"/>
                          </a:solidFill>
                          <a:latin typeface="Arial" panose="020B0604020202020204" pitchFamily="34" charset="0"/>
                        </a:rPr>
                        <a:t>Soglia e decoder</a:t>
                      </a:r>
                    </a:p>
                  </a:txBody>
                  <a:tcPr marL="203200" marR="152400" marT="127000" marB="101600" anchor="ctr">
                    <a:lnL w="12700" cmpd="sng">
                      <a:solidFill>
                        <a:schemeClr val="lt1"/>
                      </a:solidFill>
                    </a:lnL>
                    <a:lnR w="12700" cmpd="sng">
                      <a:solidFill>
                        <a:schemeClr val="lt1"/>
                      </a:solidFill>
                    </a:lnR>
                    <a:lnT w="12700" cmpd="sng">
                      <a:solidFill>
                        <a:schemeClr val="lt1"/>
                      </a:solidFill>
                    </a:lnT>
                    <a:lnB w="12700" cmpd="sng">
                      <a:solidFill>
                        <a:schemeClr val="lt1"/>
                      </a:solidFill>
                    </a:lnB>
                    <a:solidFill>
                      <a:srgbClr val="EDF3F7"/>
                    </a:solidFill>
                  </a:tcPr>
                </a:tc>
                <a:tc>
                  <a:txBody>
                    <a:bodyPr/>
                    <a:lstStyle/>
                    <a:p>
                      <a:r>
                        <a:rPr lang="it-IT" sz="1700" b="1">
                          <a:solidFill>
                            <a:srgbClr val="DB8221"/>
                          </a:solidFill>
                          <a:latin typeface="Arial" panose="020B0604020202020204" pitchFamily="34" charset="0"/>
                        </a:rPr>
                        <a:t>Qubit necessari</a:t>
                      </a:r>
                    </a:p>
                    <a:p>
                      <a:r>
                        <a:rPr lang="it-IT" sz="1700" b="1">
                          <a:solidFill>
                            <a:srgbClr val="DB8221"/>
                          </a:solidFill>
                          <a:latin typeface="Arial" panose="020B0604020202020204" pitchFamily="34" charset="0"/>
                        </a:rPr>
                        <a:t>confronto con il surface code</a:t>
                      </a:r>
                      <a:endParaRPr lang="en-GB" sz="1700" b="1">
                        <a:solidFill>
                          <a:srgbClr val="DB8221"/>
                        </a:solidFill>
                        <a:latin typeface="Arial" panose="020B0604020202020204" pitchFamily="34" charset="0"/>
                      </a:endParaRPr>
                    </a:p>
                  </a:txBody>
                  <a:tcPr marL="203200" marR="152400" marT="127000" marB="101600" anchor="ctr">
                    <a:lnL w="12700" cmpd="sng">
                      <a:solidFill>
                        <a:schemeClr val="lt1"/>
                      </a:solidFill>
                    </a:lnL>
                    <a:lnR w="12700" cmpd="sng">
                      <a:solidFill>
                        <a:schemeClr val="lt1"/>
                      </a:solidFill>
                    </a:lnR>
                    <a:lnT w="12700" cmpd="sng">
                      <a:solidFill>
                        <a:schemeClr val="lt1"/>
                      </a:solidFill>
                    </a:lnT>
                    <a:lnB w="12700" cmpd="sng">
                      <a:solidFill>
                        <a:schemeClr val="lt1"/>
                      </a:solidFill>
                    </a:lnB>
                    <a:solidFill>
                      <a:srgbClr val="FCF2E6"/>
                    </a:solidFill>
                  </a:tcPr>
                </a:tc>
                <a:extLst>
                  <a:ext uri="{0D108BD9-81ED-4DB2-BD59-A6C34878D82A}">
                    <a16:rowId xmlns:a16="http://schemas.microsoft.com/office/drawing/2014/main" val="1540931219"/>
                  </a:ext>
                </a:extLst>
              </a:tr>
            </a:tbl>
          </a:graphicData>
        </a:graphic>
      </p:graphicFrame>
    </p:spTree>
    <p:extLst>
      <p:ext uri="{BB962C8B-B14F-4D97-AF65-F5344CB8AC3E}">
        <p14:creationId xmlns:p14="http://schemas.microsoft.com/office/powerpoint/2010/main" val="3769246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1A0FE10-7D08-45A5-9369-B8A8D92211C3}"/>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Strategia 2: correzione quantistica degli errori</a:t>
            </a:r>
            <a:endParaRPr sz="2700" b="0">
              <a:solidFill>
                <a:srgbClr val="003366"/>
              </a:solidFill>
              <a:latin typeface="Arial"/>
              <a:ea typeface="Arial"/>
              <a:cs typeface="Arial"/>
            </a:endParaRPr>
          </a:p>
        </p:txBody>
      </p:sp>
      <p:pic>
        <p:nvPicPr>
          <p:cNvPr id="17" name="Picture 16"/>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C63BB1C7-E1F5-4EAD-96B7-5E2DB8BF621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CD7F7CC-AA63-4989-8F76-D977A27FE480}"/>
              </a:ext>
            </a:extLst>
          </p:cNvPr>
          <p:cNvSpPr>
            <a:spLocks noGrp="1"/>
          </p:cNvSpPr>
          <p:nvPr/>
        </p:nvSpPr>
        <p:spPr>
          <a:xfrm>
            <a:off x="7477125" y="828675"/>
            <a:ext cx="3228975" cy="219075"/>
          </a:xfrm>
          <a:prstGeom prst="rect">
            <a:avLst/>
          </a:prstGeom>
          <a:noFill/>
          <a:ln w="0">
            <a:noFill/>
          </a:ln>
        </p:spPr>
        <p:txBody>
          <a:bodyPr rIns="0" anchor="ctr">
            <a:noAutofit/>
          </a:bodyPr>
          <a:lstStyle/>
          <a:p>
            <a:pPr algn="r">
              <a:defRPr sz="1200" b="0">
                <a:solidFill>
                  <a:srgbClr val="203344"/>
                </a:solidFill>
                <a:latin typeface="Arial"/>
                <a:ea typeface="Arial"/>
                <a:cs typeface="Arial"/>
              </a:defRPr>
            </a:pPr>
            <a:r>
              <a:rPr lang="it-IT" sz="1050" b="0">
                <a:solidFill>
                  <a:srgbClr val="203344"/>
                </a:solidFill>
                <a:latin typeface="Arial"/>
                <a:ea typeface="Arial"/>
                <a:cs typeface="Arial"/>
              </a:rPr>
              <a:t>Strategia 2 · Correzione degli errori | 8</a:t>
            </a:r>
            <a:endParaRPr sz="1050" b="0">
              <a:solidFill>
                <a:srgbClr val="203344"/>
              </a:solidFill>
              <a:latin typeface="Arial"/>
              <a:ea typeface="Arial"/>
              <a:cs typeface="Arial"/>
            </a:endParaRPr>
          </a:p>
        </p:txBody>
      </p:sp>
      <p:sp>
        <p:nvSpPr>
          <p:cNvPr id="2" name="TextBox 1">
            <a:extLst>
              <a:ext uri="{FF2B5EF4-FFF2-40B4-BE49-F238E27FC236}">
                <a16:creationId xmlns:a16="http://schemas.microsoft.com/office/drawing/2014/main" id="{02CC2BCD-8065-AF14-A761-223B420003D9}"/>
              </a:ext>
            </a:extLst>
          </p:cNvPr>
          <p:cNvSpPr txBox="1"/>
          <p:nvPr/>
        </p:nvSpPr>
        <p:spPr>
          <a:xfrm>
            <a:off x="609600" y="1244600"/>
            <a:ext cx="10972800" cy="369332"/>
          </a:xfrm>
          <a:prstGeom prst="rect">
            <a:avLst/>
          </a:prstGeom>
          <a:noFill/>
        </p:spPr>
        <p:txBody>
          <a:bodyPr vert="horz" wrap="square" rtlCol="0">
            <a:noAutofit/>
          </a:bodyPr>
          <a:lstStyle/>
          <a:p>
            <a:r>
              <a:rPr lang="it-IT" sz="1725">
                <a:solidFill>
                  <a:srgbClr val="203344"/>
                </a:solidFill>
                <a:latin typeface="Arial" panose="020B0604020202020204" pitchFamily="34" charset="0"/>
              </a:rPr>
              <a:t>Idea comune: più qubit fisici proteggono un qubit logico; un decoder legge le sindromi (i segnali d'errore) e sceglie la correzione.</a:t>
            </a:r>
            <a:endParaRPr lang="en-GB" sz="1725">
              <a:solidFill>
                <a:srgbClr val="203344"/>
              </a:solidFill>
              <a:latin typeface="Arial" panose="020B0604020202020204" pitchFamily="34" charset="0"/>
            </a:endParaRPr>
          </a:p>
        </p:txBody>
      </p:sp>
      <p:sp>
        <p:nvSpPr>
          <p:cNvPr id="18" name="Rectangle: Rounded Corners 17">
            <a:extLst>
              <a:ext uri="{FF2B5EF4-FFF2-40B4-BE49-F238E27FC236}">
                <a16:creationId xmlns:a16="http://schemas.microsoft.com/office/drawing/2014/main" id="{AC9DEF35-39AA-F617-3B4C-E858BF45BBB0}"/>
              </a:ext>
            </a:extLst>
          </p:cNvPr>
          <p:cNvSpPr/>
          <p:nvPr/>
        </p:nvSpPr>
        <p:spPr>
          <a:xfrm>
            <a:off x="609600" y="1905000"/>
            <a:ext cx="5334000" cy="27178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Rounded Corners 18">
            <a:extLst>
              <a:ext uri="{FF2B5EF4-FFF2-40B4-BE49-F238E27FC236}">
                <a16:creationId xmlns:a16="http://schemas.microsoft.com/office/drawing/2014/main" id="{95661C65-2684-3063-6807-9D8EF5ABDD01}"/>
              </a:ext>
            </a:extLst>
          </p:cNvPr>
          <p:cNvSpPr/>
          <p:nvPr/>
        </p:nvSpPr>
        <p:spPr>
          <a:xfrm>
            <a:off x="6248400" y="1905000"/>
            <a:ext cx="5334000" cy="27178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TextBox 19">
            <a:extLst>
              <a:ext uri="{FF2B5EF4-FFF2-40B4-BE49-F238E27FC236}">
                <a16:creationId xmlns:a16="http://schemas.microsoft.com/office/drawing/2014/main" id="{869506C8-FC11-2811-D894-827E70F8AA96}"/>
              </a:ext>
            </a:extLst>
          </p:cNvPr>
          <p:cNvSpPr txBox="1"/>
          <p:nvPr/>
        </p:nvSpPr>
        <p:spPr>
          <a:xfrm>
            <a:off x="787400" y="2032000"/>
            <a:ext cx="4978400" cy="369332"/>
          </a:xfrm>
          <a:prstGeom prst="rect">
            <a:avLst/>
          </a:prstGeom>
          <a:noFill/>
        </p:spPr>
        <p:txBody>
          <a:bodyPr vert="horz" wrap="square" rtlCol="0">
            <a:noAutofit/>
          </a:bodyPr>
          <a:lstStyle/>
          <a:p>
            <a:r>
              <a:rPr lang="en-GB" sz="2025" b="1">
                <a:solidFill>
                  <a:srgbClr val="003366"/>
                </a:solidFill>
                <a:latin typeface="Arial" panose="020B0604020202020204" pitchFamily="34" charset="0"/>
              </a:rPr>
              <a:t>Surface code · il riferimento</a:t>
            </a:r>
          </a:p>
        </p:txBody>
      </p:sp>
      <p:sp>
        <p:nvSpPr>
          <p:cNvPr id="21" name="TextBox 20">
            <a:extLst>
              <a:ext uri="{FF2B5EF4-FFF2-40B4-BE49-F238E27FC236}">
                <a16:creationId xmlns:a16="http://schemas.microsoft.com/office/drawing/2014/main" id="{857FD32E-EA8E-B329-B336-DE0EE6795F38}"/>
              </a:ext>
            </a:extLst>
          </p:cNvPr>
          <p:cNvSpPr txBox="1"/>
          <p:nvPr/>
        </p:nvSpPr>
        <p:spPr>
          <a:xfrm>
            <a:off x="787400" y="2463800"/>
            <a:ext cx="4978400" cy="369332"/>
          </a:xfrm>
          <a:prstGeom prst="rect">
            <a:avLst/>
          </a:prstGeom>
          <a:noFill/>
        </p:spPr>
        <p:txBody>
          <a:bodyPr vert="horz" wrap="square" rtlCol="0">
            <a:noAutofit/>
          </a:bodyPr>
          <a:lstStyle/>
          <a:p>
            <a:pPr>
              <a:spcAft>
                <a:spcPts val="600"/>
              </a:spcAft>
            </a:pPr>
            <a:r>
              <a:rPr lang="it-IT" sz="1575">
                <a:solidFill>
                  <a:srgbClr val="203344"/>
                </a:solidFill>
                <a:latin typeface="Arial" panose="020B0604020202020204" pitchFamily="34" charset="0"/>
              </a:rPr>
              <a:t>Il codice più studiato e robusto, ma costoso: per 12 qubit logici servono circa 2000 qubit di dato.</a:t>
            </a:r>
          </a:p>
          <a:p>
            <a:pPr>
              <a:spcAft>
                <a:spcPts val="600"/>
              </a:spcAft>
            </a:pPr>
            <a:r>
              <a:rPr lang="it-IT" sz="1575">
                <a:solidFill>
                  <a:srgbClr val="203344"/>
                </a:solidFill>
                <a:latin typeface="Arial" panose="020B0604020202020204" pitchFamily="34" charset="0"/>
              </a:rPr>
              <a:t>Qui ho confrontato i decoder: MWPM (classico), rete neurale, ibrido e BP+OSD.</a:t>
            </a:r>
          </a:p>
          <a:p>
            <a:pPr>
              <a:spcAft>
                <a:spcPts val="600"/>
              </a:spcAft>
            </a:pPr>
            <a:r>
              <a:rPr lang="it-IT" sz="1575">
                <a:solidFill>
                  <a:srgbClr val="203344"/>
                </a:solidFill>
                <a:latin typeface="Arial" panose="020B0604020202020204" pitchFamily="34" charset="0"/>
              </a:rPr>
              <a:t>Circuito completo, con i qubit ancilla che misurano le sindromi; rumore su porte e misure, anche </a:t>
            </a:r>
            <a:r>
              <a:rPr lang="it-IT" sz="1575" err="1">
                <a:solidFill>
                  <a:srgbClr val="203344"/>
                </a:solidFill>
                <a:latin typeface="Arial" panose="020B0604020202020204" pitchFamily="34" charset="0"/>
              </a:rPr>
              <a:t>crosstalk</a:t>
            </a:r>
            <a:r>
              <a:rPr lang="it-IT" sz="1575">
                <a:solidFill>
                  <a:srgbClr val="203344"/>
                </a:solidFill>
                <a:latin typeface="Arial" panose="020B0604020202020204" pitchFamily="34" charset="0"/>
              </a:rPr>
              <a:t>.</a:t>
            </a:r>
            <a:endParaRPr lang="en-GB" sz="1575">
              <a:solidFill>
                <a:srgbClr val="203344"/>
              </a:solidFill>
              <a:latin typeface="Arial" panose="020B0604020202020204" pitchFamily="34" charset="0"/>
            </a:endParaRPr>
          </a:p>
        </p:txBody>
      </p:sp>
      <p:sp>
        <p:nvSpPr>
          <p:cNvPr id="22" name="TextBox 21">
            <a:extLst>
              <a:ext uri="{FF2B5EF4-FFF2-40B4-BE49-F238E27FC236}">
                <a16:creationId xmlns:a16="http://schemas.microsoft.com/office/drawing/2014/main" id="{8846A3DB-8C7A-059A-3406-00678FBF6068}"/>
              </a:ext>
            </a:extLst>
          </p:cNvPr>
          <p:cNvSpPr txBox="1"/>
          <p:nvPr/>
        </p:nvSpPr>
        <p:spPr>
          <a:xfrm>
            <a:off x="6426200" y="2032000"/>
            <a:ext cx="4978400" cy="369332"/>
          </a:xfrm>
          <a:prstGeom prst="rect">
            <a:avLst/>
          </a:prstGeom>
          <a:noFill/>
        </p:spPr>
        <p:txBody>
          <a:bodyPr vert="horz" wrap="square" rtlCol="0">
            <a:noAutofit/>
          </a:bodyPr>
          <a:lstStyle/>
          <a:p>
            <a:r>
              <a:rPr lang="it-IT" sz="2025" b="1">
                <a:solidFill>
                  <a:srgbClr val="003366"/>
                </a:solidFill>
                <a:latin typeface="Arial" panose="020B0604020202020204" pitchFamily="34" charset="0"/>
              </a:rPr>
              <a:t>Gross code · l'alternativa di IBM</a:t>
            </a:r>
            <a:endParaRPr lang="en-GB" sz="2025" b="1">
              <a:solidFill>
                <a:srgbClr val="003366"/>
              </a:solidFill>
              <a:latin typeface="Arial" panose="020B0604020202020204" pitchFamily="34" charset="0"/>
            </a:endParaRPr>
          </a:p>
        </p:txBody>
      </p:sp>
      <p:sp>
        <p:nvSpPr>
          <p:cNvPr id="23" name="TextBox 22">
            <a:extLst>
              <a:ext uri="{FF2B5EF4-FFF2-40B4-BE49-F238E27FC236}">
                <a16:creationId xmlns:a16="http://schemas.microsoft.com/office/drawing/2014/main" id="{D67C5876-F2AC-D4AC-554A-2845DA338BE9}"/>
              </a:ext>
            </a:extLst>
          </p:cNvPr>
          <p:cNvSpPr txBox="1"/>
          <p:nvPr/>
        </p:nvSpPr>
        <p:spPr>
          <a:xfrm>
            <a:off x="6426200" y="2463800"/>
            <a:ext cx="4978400" cy="369332"/>
          </a:xfrm>
          <a:prstGeom prst="rect">
            <a:avLst/>
          </a:prstGeom>
          <a:noFill/>
        </p:spPr>
        <p:txBody>
          <a:bodyPr vert="horz" wrap="square" rtlCol="0">
            <a:noAutofit/>
          </a:bodyPr>
          <a:lstStyle/>
          <a:p>
            <a:pPr>
              <a:spcAft>
                <a:spcPts val="600"/>
              </a:spcAft>
            </a:pPr>
            <a:r>
              <a:rPr lang="it-IT" sz="1575">
                <a:solidFill>
                  <a:srgbClr val="203344"/>
                </a:solidFill>
                <a:latin typeface="Arial" panose="020B0604020202020204" pitchFamily="34" charset="0"/>
              </a:rPr>
              <a:t>Codice qLDPC proposto da IBM: protegge gli stessi 12 qubit logici con 144 qubit di dato.</a:t>
            </a:r>
          </a:p>
          <a:p>
            <a:pPr>
              <a:spcAft>
                <a:spcPts val="600"/>
              </a:spcAft>
            </a:pPr>
            <a:r>
              <a:rPr lang="it-IT" sz="1575">
                <a:solidFill>
                  <a:srgbClr val="203344"/>
                </a:solidFill>
                <a:latin typeface="Arial" panose="020B0604020202020204" pitchFamily="34" charset="0"/>
              </a:rPr>
              <a:t>Decoder BP+OSD.</a:t>
            </a:r>
          </a:p>
          <a:p>
            <a:pPr>
              <a:spcAft>
                <a:spcPts val="600"/>
              </a:spcAft>
            </a:pPr>
            <a:r>
              <a:rPr lang="it-IT" sz="1575">
                <a:solidFill>
                  <a:srgbClr val="203344"/>
                </a:solidFill>
                <a:latin typeface="Arial" panose="020B0604020202020204" pitchFamily="34" charset="0"/>
              </a:rPr>
              <a:t>Simulo solo gli errori, come sequenze di 144 bit: niente ancilla, sindromi perfette.</a:t>
            </a:r>
            <a:endParaRPr lang="en-GB" sz="1575">
              <a:solidFill>
                <a:srgbClr val="203344"/>
              </a:solidFill>
              <a:latin typeface="Arial" panose="020B0604020202020204" pitchFamily="34" charset="0"/>
            </a:endParaRPr>
          </a:p>
        </p:txBody>
      </p:sp>
      <p:sp>
        <p:nvSpPr>
          <p:cNvPr id="24" name="Rectangle: Rounded Corners 23">
            <a:extLst>
              <a:ext uri="{FF2B5EF4-FFF2-40B4-BE49-F238E27FC236}">
                <a16:creationId xmlns:a16="http://schemas.microsoft.com/office/drawing/2014/main" id="{8A433B95-FA57-CBF7-76F8-A6D5100B633C}"/>
              </a:ext>
            </a:extLst>
          </p:cNvPr>
          <p:cNvSpPr/>
          <p:nvPr/>
        </p:nvSpPr>
        <p:spPr>
          <a:xfrm>
            <a:off x="609600" y="4775200"/>
            <a:ext cx="10972800" cy="965200"/>
          </a:xfrm>
          <a:prstGeom prst="roundRect">
            <a:avLst>
              <a:gd name="adj" fmla="val 6000"/>
            </a:avLst>
          </a:prstGeom>
          <a:solidFill>
            <a:srgbClr val="FDF1E4"/>
          </a:solidFill>
          <a:ln w="19050">
            <a:solidFill>
              <a:srgbClr val="D982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Box 24">
            <a:extLst>
              <a:ext uri="{FF2B5EF4-FFF2-40B4-BE49-F238E27FC236}">
                <a16:creationId xmlns:a16="http://schemas.microsoft.com/office/drawing/2014/main" id="{CE9970CF-B93F-E493-A038-3F9BE7D46CE6}"/>
              </a:ext>
            </a:extLst>
          </p:cNvPr>
          <p:cNvSpPr txBox="1"/>
          <p:nvPr/>
        </p:nvSpPr>
        <p:spPr>
          <a:xfrm>
            <a:off x="787400" y="4826000"/>
            <a:ext cx="10617200" cy="369332"/>
          </a:xfrm>
          <a:prstGeom prst="rect">
            <a:avLst/>
          </a:prstGeom>
          <a:noFill/>
        </p:spPr>
        <p:txBody>
          <a:bodyPr vert="horz" wrap="square" rtlCol="0">
            <a:noAutofit/>
          </a:bodyPr>
          <a:lstStyle/>
          <a:p>
            <a:r>
              <a:rPr lang="it-IT" sz="1725" b="1">
                <a:solidFill>
                  <a:srgbClr val="B5641A"/>
                </a:solidFill>
                <a:latin typeface="Arial" panose="020B0604020202020204" pitchFamily="34" charset="0"/>
              </a:rPr>
              <a:t>Perché due codici?</a:t>
            </a:r>
          </a:p>
          <a:p>
            <a:r>
              <a:rPr lang="it-IT" sz="1575">
                <a:solidFill>
                  <a:srgbClr val="203344"/>
                </a:solidFill>
                <a:latin typeface="Arial" panose="020B0604020202020204" pitchFamily="34" charset="0"/>
              </a:rPr>
              <a:t>Il surface code è lo standard ma richiede molti qubit; il Gross code promette una protezione simile con 10–14 volte meno qubit. Confrontarli dice quanto si può risparmiare.</a:t>
            </a:r>
            <a:endParaRPr lang="en-GB" sz="1575">
              <a:solidFill>
                <a:srgbClr val="203344"/>
              </a:solidFill>
              <a:latin typeface="Arial" panose="020B0604020202020204" pitchFamily="34" charset="0"/>
            </a:endParaRPr>
          </a:p>
        </p:txBody>
      </p:sp>
      <p:sp>
        <p:nvSpPr>
          <p:cNvPr id="26" name="TextBox 25">
            <a:extLst>
              <a:ext uri="{FF2B5EF4-FFF2-40B4-BE49-F238E27FC236}">
                <a16:creationId xmlns:a16="http://schemas.microsoft.com/office/drawing/2014/main" id="{7A8B7BF9-EBFF-23BB-8494-C317E06E5D5B}"/>
              </a:ext>
            </a:extLst>
          </p:cNvPr>
          <p:cNvSpPr txBox="1"/>
          <p:nvPr/>
        </p:nvSpPr>
        <p:spPr>
          <a:xfrm>
            <a:off x="609600" y="5816600"/>
            <a:ext cx="10972800" cy="369332"/>
          </a:xfrm>
          <a:prstGeom prst="rect">
            <a:avLst/>
          </a:prstGeom>
          <a:noFill/>
        </p:spPr>
        <p:txBody>
          <a:bodyPr vert="horz" wrap="square" rtlCol="0">
            <a:noAutofit/>
          </a:bodyPr>
          <a:lstStyle/>
          <a:p>
            <a:r>
              <a:rPr lang="it-IT" sz="1275">
                <a:solidFill>
                  <a:srgbClr val="647487"/>
                </a:solidFill>
                <a:latin typeface="Arial" panose="020B0604020202020204" pitchFamily="34" charset="0"/>
              </a:rPr>
              <a:t>Simulazioni con Stim e PyMatching (surface code) e ldpc (Gross code). La correzione degli errori è studiata separatamente da Shor.</a:t>
            </a:r>
            <a:endParaRPr lang="en-GB" sz="1275">
              <a:solidFill>
                <a:srgbClr val="647487"/>
              </a:solidFill>
              <a:latin typeface="Arial" panose="020B0604020202020204" pitchFamily="34" charset="0"/>
            </a:endParaRPr>
          </a:p>
        </p:txBody>
      </p:sp>
      <p:sp>
        <p:nvSpPr>
          <p:cNvPr id="27" name="TextBox 26">
            <a:extLst>
              <a:ext uri="{FF2B5EF4-FFF2-40B4-BE49-F238E27FC236}">
                <a16:creationId xmlns:a16="http://schemas.microsoft.com/office/drawing/2014/main" id="{F0CC65BC-FC56-74B3-8292-99AF6B487F00}"/>
              </a:ext>
            </a:extLst>
          </p:cNvPr>
          <p:cNvSpPr txBox="1"/>
          <p:nvPr/>
        </p:nvSpPr>
        <p:spPr>
          <a:xfrm>
            <a:off x="609600" y="61976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Stessa idea, due compromessi diversi tra protezione e numero di qubit.</a:t>
            </a:r>
            <a:endParaRPr lang="en-GB" sz="1950" b="1">
              <a:solidFill>
                <a:srgbClr val="175F99"/>
              </a:solidFill>
              <a:latin typeface="Arial" panose="020B0604020202020204" pitchFamily="34" charset="0"/>
            </a:endParaRPr>
          </a:p>
        </p:txBody>
      </p:sp>
    </p:spTree>
    <p:extLst>
      <p:ext uri="{BB962C8B-B14F-4D97-AF65-F5344CB8AC3E}">
        <p14:creationId xmlns:p14="http://schemas.microsoft.com/office/powerpoint/2010/main" val="21809238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AA26051-CE9A-44FC-98B2-DC8331178E93}"/>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Strategia 2: risultati della correzione degli errori</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865D6DAB-35C4-44C3-BE25-5179AEC9B4BF}"/>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DF278FCC-CAE1-457F-906A-2CA805A50B30}"/>
              </a:ext>
            </a:extLst>
          </p:cNvPr>
          <p:cNvSpPr>
            <a:spLocks noGrp="1"/>
          </p:cNvSpPr>
          <p:nvPr/>
        </p:nvSpPr>
        <p:spPr>
          <a:xfrm>
            <a:off x="7477125" y="828675"/>
            <a:ext cx="3228975" cy="219075"/>
          </a:xfrm>
          <a:prstGeom prst="rect">
            <a:avLst/>
          </a:prstGeom>
          <a:noFill/>
          <a:ln w="0">
            <a:noFill/>
          </a:ln>
        </p:spPr>
        <p:txBody>
          <a:bodyPr rIns="0" anchor="ctr">
            <a:noAutofit/>
          </a:bodyPr>
          <a:lstStyle/>
          <a:p>
            <a:pPr algn="r">
              <a:defRPr sz="1200" b="0">
                <a:solidFill>
                  <a:srgbClr val="203344"/>
                </a:solidFill>
                <a:latin typeface="Arial"/>
                <a:ea typeface="Arial"/>
                <a:cs typeface="Arial"/>
              </a:defRPr>
            </a:pPr>
            <a:r>
              <a:rPr lang="it-IT" sz="1050" b="0">
                <a:solidFill>
                  <a:srgbClr val="203344"/>
                </a:solidFill>
                <a:latin typeface="Arial"/>
                <a:ea typeface="Arial"/>
                <a:cs typeface="Arial"/>
              </a:rPr>
              <a:t>Strategia 2 · Correzione degli errori | 9</a:t>
            </a:r>
            <a:endParaRPr sz="1050" b="0">
              <a:solidFill>
                <a:srgbClr val="203344"/>
              </a:solidFill>
              <a:latin typeface="Arial"/>
              <a:ea typeface="Arial"/>
              <a:cs typeface="Arial"/>
            </a:endParaRPr>
          </a:p>
        </p:txBody>
      </p:sp>
      <p:sp>
        <p:nvSpPr>
          <p:cNvPr id="801" name="Pill 0"/>
          <p:cNvSpPr/>
          <p:nvPr/>
        </p:nvSpPr>
        <p:spPr>
          <a:xfrm>
            <a:off x="609600" y="1330000"/>
            <a:ext cx="3400000" cy="380000"/>
          </a:xfrm>
          <a:prstGeom prst="roundRect">
            <a:avLst>
              <a:gd name="adj" fmla="val 50000"/>
            </a:avLst>
          </a:prstGeom>
          <a:solidFill>
            <a:srgbClr val="D9822B"/>
          </a:solidFill>
          <a:ln>
            <a:noFill/>
          </a:ln>
        </p:spPr>
        <p:txBody>
          <a:bodyPr wrap="square" lIns="0" tIns="0" rIns="0" bIns="0" rtlCol="0" anchor="ctr">
            <a:noAutofit/>
          </a:bodyPr>
          <a:lstStyle/>
          <a:p>
            <a:pPr algn="ctr">
              <a:buNone/>
            </a:pPr>
            <a:r>
              <a:rPr lang="it-IT" sz="1400" b="1">
                <a:solidFill>
                  <a:srgbClr val="FFFFFF"/>
                </a:solidFill>
                <a:latin typeface="Arial" panose="020B0604020202020204" pitchFamily="34" charset="0"/>
                <a:cs typeface="Arial"/>
              </a:rPr>
              <a:t>1  Soglia</a:t>
            </a:r>
          </a:p>
        </p:txBody>
      </p:sp>
      <p:sp>
        <p:nvSpPr>
          <p:cNvPr id="802" name="Pill 1"/>
          <p:cNvSpPr/>
          <p:nvPr/>
        </p:nvSpPr>
        <p:spPr>
          <a:xfrm>
            <a:off x="4396000" y="1330000"/>
            <a:ext cx="3400000" cy="380000"/>
          </a:xfrm>
          <a:prstGeom prst="roundRect">
            <a:avLst>
              <a:gd name="adj" fmla="val 50000"/>
            </a:avLst>
          </a:prstGeom>
          <a:solidFill>
            <a:srgbClr val="D9822B"/>
          </a:solidFill>
          <a:ln>
            <a:noFill/>
          </a:ln>
        </p:spPr>
        <p:txBody>
          <a:bodyPr wrap="square" lIns="0" tIns="0" rIns="0" bIns="0" rtlCol="0" anchor="ctr">
            <a:noAutofit/>
          </a:bodyPr>
          <a:lstStyle/>
          <a:p>
            <a:pPr algn="ctr">
              <a:buNone/>
            </a:pPr>
            <a:r>
              <a:rPr lang="it-IT" sz="1400" b="1">
                <a:solidFill>
                  <a:srgbClr val="FFFFFF"/>
                </a:solidFill>
                <a:latin typeface="Arial" panose="020B0604020202020204" pitchFamily="34" charset="0"/>
                <a:cs typeface="Arial"/>
              </a:rPr>
              <a:t>2  Decoder</a:t>
            </a:r>
          </a:p>
        </p:txBody>
      </p:sp>
      <p:sp>
        <p:nvSpPr>
          <p:cNvPr id="803" name="Pill 2"/>
          <p:cNvSpPr/>
          <p:nvPr/>
        </p:nvSpPr>
        <p:spPr>
          <a:xfrm>
            <a:off x="8182400" y="1330000"/>
            <a:ext cx="3400000" cy="380000"/>
          </a:xfrm>
          <a:prstGeom prst="roundRect">
            <a:avLst>
              <a:gd name="adj" fmla="val 50000"/>
            </a:avLst>
          </a:prstGeom>
          <a:solidFill>
            <a:srgbClr val="D9822B"/>
          </a:solidFill>
          <a:ln>
            <a:noFill/>
          </a:ln>
        </p:spPr>
        <p:txBody>
          <a:bodyPr wrap="square" lIns="0" tIns="0" rIns="0" bIns="0" rtlCol="0" anchor="ctr">
            <a:noAutofit/>
          </a:bodyPr>
          <a:lstStyle/>
          <a:p>
            <a:pPr algn="ctr">
              <a:buNone/>
            </a:pPr>
            <a:r>
              <a:rPr lang="it-IT" sz="1400" b="1">
                <a:solidFill>
                  <a:srgbClr val="FFFFFF"/>
                </a:solidFill>
                <a:latin typeface="Arial" panose="020B0604020202020204" pitchFamily="34" charset="0"/>
                <a:cs typeface="Arial"/>
              </a:rPr>
              <a:t>3  Qubit</a:t>
            </a:r>
          </a:p>
        </p:txBody>
      </p:sp>
      <p:pic>
        <p:nvPicPr>
          <p:cNvPr id="804" name="Grafico 0" descr="Errore logico contro errore fisico per distanze 3-9: le curve si incrociano alla soglia"/>
          <p:cNvPicPr>
            <a:picLocks noChangeAspect="1"/>
          </p:cNvPicPr>
          <p:nvPr/>
        </p:nvPicPr>
        <p:blipFill>
          <a:blip r:embed="rId4"/>
          <a:stretch>
            <a:fillRect/>
          </a:stretch>
        </p:blipFill>
        <p:spPr>
          <a:xfrm>
            <a:off x="609601" y="1858281"/>
            <a:ext cx="3399998" cy="2143438"/>
          </a:xfrm>
          <a:prstGeom prst="rect">
            <a:avLst/>
          </a:prstGeom>
        </p:spPr>
      </p:pic>
      <p:pic>
        <p:nvPicPr>
          <p:cNvPr id="805" name="Grafico 1" descr="Guadagno del decoder ibrido rispetto a MWPM al variare del crosstalk"/>
          <p:cNvPicPr>
            <a:picLocks noChangeAspect="1"/>
          </p:cNvPicPr>
          <p:nvPr/>
        </p:nvPicPr>
        <p:blipFill>
          <a:blip r:embed="rId5"/>
          <a:stretch>
            <a:fillRect/>
          </a:stretch>
        </p:blipFill>
        <p:spPr>
          <a:xfrm>
            <a:off x="4396000" y="1899533"/>
            <a:ext cx="3399999" cy="2060934"/>
          </a:xfrm>
          <a:prstGeom prst="rect">
            <a:avLst/>
          </a:prstGeom>
        </p:spPr>
      </p:pic>
      <p:sp>
        <p:nvSpPr>
          <p:cNvPr id="806" name="Barra lab 0"/>
          <p:cNvSpPr/>
          <p:nvPr/>
        </p:nvSpPr>
        <p:spPr>
          <a:xfrm>
            <a:off x="8182400" y="2080000"/>
            <a:ext cx="1300000" cy="400000"/>
          </a:xfrm>
          <a:prstGeom prst="rect">
            <a:avLst/>
          </a:prstGeom>
          <a:noFill/>
          <a:ln>
            <a:noFill/>
          </a:ln>
        </p:spPr>
        <p:txBody>
          <a:bodyPr wrap="square" lIns="0" tIns="0" rIns="0" bIns="0" rtlCol="0" anchor="ctr">
            <a:noAutofit/>
          </a:bodyPr>
          <a:lstStyle/>
          <a:p>
            <a:pPr algn="l">
              <a:buNone/>
            </a:pPr>
            <a:r>
              <a:rPr lang="it-IT" sz="1300" b="1">
                <a:solidFill>
                  <a:srgbClr val="203344"/>
                </a:solidFill>
                <a:latin typeface="Arial" panose="020B0604020202020204" pitchFamily="34" charset="0"/>
                <a:cs typeface="Arial"/>
              </a:rPr>
              <a:t>Gross code</a:t>
            </a:r>
          </a:p>
        </p:txBody>
      </p:sp>
      <p:sp>
        <p:nvSpPr>
          <p:cNvPr id="807" name="Barra 0"/>
          <p:cNvSpPr/>
          <p:nvPr/>
        </p:nvSpPr>
        <p:spPr>
          <a:xfrm>
            <a:off x="9532400" y="2130000"/>
            <a:ext cx="99408" cy="300000"/>
          </a:xfrm>
          <a:prstGeom prst="rect">
            <a:avLst/>
          </a:prstGeom>
          <a:solidFill>
            <a:srgbClr val="D9822B"/>
          </a:solidFill>
          <a:ln>
            <a:noFill/>
          </a:ln>
        </p:spPr>
        <p:txBody>
          <a:bodyPr wrap="square" lIns="91440" tIns="91440" rIns="91440" bIns="91440" rtlCol="0" anchor="ctr">
            <a:noAutofit/>
          </a:bodyPr>
          <a:lstStyle/>
          <a:p>
            <a:endParaRPr lang="it-IT"/>
          </a:p>
        </p:txBody>
      </p:sp>
      <p:sp>
        <p:nvSpPr>
          <p:cNvPr id="808" name="Barra val 0"/>
          <p:cNvSpPr/>
          <p:nvPr/>
        </p:nvSpPr>
        <p:spPr>
          <a:xfrm>
            <a:off x="9691808" y="2080000"/>
            <a:ext cx="650000" cy="400000"/>
          </a:xfrm>
          <a:prstGeom prst="rect">
            <a:avLst/>
          </a:prstGeom>
          <a:noFill/>
          <a:ln>
            <a:noFill/>
          </a:ln>
        </p:spPr>
        <p:txBody>
          <a:bodyPr wrap="square" lIns="0" tIns="0" rIns="0" bIns="0" rtlCol="0" anchor="ctr">
            <a:noAutofit/>
          </a:bodyPr>
          <a:lstStyle/>
          <a:p>
            <a:pPr algn="l">
              <a:buNone/>
            </a:pPr>
            <a:r>
              <a:rPr lang="it-IT" sz="1300" b="1">
                <a:solidFill>
                  <a:srgbClr val="A85A12"/>
                </a:solidFill>
                <a:latin typeface="Arial" panose="020B0604020202020204" pitchFamily="34" charset="0"/>
                <a:cs typeface="Arial"/>
              </a:rPr>
              <a:t>144</a:t>
            </a:r>
          </a:p>
        </p:txBody>
      </p:sp>
      <p:sp>
        <p:nvSpPr>
          <p:cNvPr id="809" name="Barra lab 1"/>
          <p:cNvSpPr/>
          <p:nvPr/>
        </p:nvSpPr>
        <p:spPr>
          <a:xfrm>
            <a:off x="8182400" y="2700000"/>
            <a:ext cx="1300000" cy="400000"/>
          </a:xfrm>
          <a:prstGeom prst="rect">
            <a:avLst/>
          </a:prstGeom>
          <a:noFill/>
          <a:ln>
            <a:noFill/>
          </a:ln>
        </p:spPr>
        <p:txBody>
          <a:bodyPr wrap="square" lIns="0" tIns="0" rIns="0" bIns="0" rtlCol="0" anchor="ctr">
            <a:noAutofit/>
          </a:bodyPr>
          <a:lstStyle/>
          <a:p>
            <a:pPr algn="l">
              <a:buNone/>
            </a:pPr>
            <a:r>
              <a:rPr lang="it-IT" sz="1300">
                <a:solidFill>
                  <a:srgbClr val="203344"/>
                </a:solidFill>
                <a:latin typeface="Arial" panose="020B0604020202020204" pitchFamily="34" charset="0"/>
                <a:cs typeface="Arial"/>
              </a:rPr>
              <a:t>Surface d = 11</a:t>
            </a:r>
          </a:p>
        </p:txBody>
      </p:sp>
      <p:sp>
        <p:nvSpPr>
          <p:cNvPr id="810" name="Barra 1"/>
          <p:cNvSpPr/>
          <p:nvPr/>
        </p:nvSpPr>
        <p:spPr>
          <a:xfrm>
            <a:off x="9532400" y="2750000"/>
            <a:ext cx="1002366" cy="300000"/>
          </a:xfrm>
          <a:prstGeom prst="rect">
            <a:avLst/>
          </a:prstGeom>
          <a:solidFill>
            <a:srgbClr val="B8C7D9"/>
          </a:solidFill>
          <a:ln>
            <a:noFill/>
          </a:ln>
        </p:spPr>
        <p:txBody>
          <a:bodyPr wrap="square" lIns="91440" tIns="91440" rIns="91440" bIns="91440" rtlCol="0" anchor="ctr">
            <a:noAutofit/>
          </a:bodyPr>
          <a:lstStyle/>
          <a:p>
            <a:endParaRPr lang="it-IT"/>
          </a:p>
        </p:txBody>
      </p:sp>
      <p:sp>
        <p:nvSpPr>
          <p:cNvPr id="811" name="Barra val 1"/>
          <p:cNvSpPr/>
          <p:nvPr/>
        </p:nvSpPr>
        <p:spPr>
          <a:xfrm>
            <a:off x="10594766" y="2700000"/>
            <a:ext cx="650000" cy="400000"/>
          </a:xfrm>
          <a:prstGeom prst="rect">
            <a:avLst/>
          </a:prstGeom>
          <a:noFill/>
          <a:ln>
            <a:noFill/>
          </a:ln>
        </p:spPr>
        <p:txBody>
          <a:bodyPr wrap="square" lIns="0" tIns="0" rIns="0" bIns="0" rtlCol="0" anchor="ctr">
            <a:noAutofit/>
          </a:bodyPr>
          <a:lstStyle/>
          <a:p>
            <a:pPr algn="l">
              <a:buNone/>
            </a:pPr>
            <a:r>
              <a:rPr lang="it-IT" sz="1300" b="1">
                <a:solidFill>
                  <a:srgbClr val="203344"/>
                </a:solidFill>
                <a:latin typeface="Arial" panose="020B0604020202020204" pitchFamily="34" charset="0"/>
                <a:cs typeface="Arial"/>
              </a:rPr>
              <a:t>1 452</a:t>
            </a:r>
          </a:p>
        </p:txBody>
      </p:sp>
      <p:sp>
        <p:nvSpPr>
          <p:cNvPr id="812" name="Barra lab 2"/>
          <p:cNvSpPr/>
          <p:nvPr/>
        </p:nvSpPr>
        <p:spPr>
          <a:xfrm>
            <a:off x="8182400" y="3320000"/>
            <a:ext cx="1300000" cy="400000"/>
          </a:xfrm>
          <a:prstGeom prst="rect">
            <a:avLst/>
          </a:prstGeom>
          <a:noFill/>
          <a:ln>
            <a:noFill/>
          </a:ln>
        </p:spPr>
        <p:txBody>
          <a:bodyPr wrap="square" lIns="0" tIns="0" rIns="0" bIns="0" rtlCol="0" anchor="ctr">
            <a:noAutofit/>
          </a:bodyPr>
          <a:lstStyle/>
          <a:p>
            <a:pPr algn="l">
              <a:buNone/>
            </a:pPr>
            <a:r>
              <a:rPr lang="it-IT" sz="1300">
                <a:solidFill>
                  <a:srgbClr val="203344"/>
                </a:solidFill>
                <a:latin typeface="Arial" panose="020B0604020202020204" pitchFamily="34" charset="0"/>
                <a:cs typeface="Arial"/>
              </a:rPr>
              <a:t>Surface d = 13</a:t>
            </a:r>
          </a:p>
        </p:txBody>
      </p:sp>
      <p:sp>
        <p:nvSpPr>
          <p:cNvPr id="813" name="Barra 2"/>
          <p:cNvSpPr/>
          <p:nvPr/>
        </p:nvSpPr>
        <p:spPr>
          <a:xfrm>
            <a:off x="9532400" y="3370000"/>
            <a:ext cx="1400000" cy="300000"/>
          </a:xfrm>
          <a:prstGeom prst="rect">
            <a:avLst/>
          </a:prstGeom>
          <a:solidFill>
            <a:srgbClr val="B8C7D9"/>
          </a:solidFill>
          <a:ln>
            <a:noFill/>
          </a:ln>
        </p:spPr>
        <p:txBody>
          <a:bodyPr wrap="square" lIns="91440" tIns="91440" rIns="91440" bIns="91440" rtlCol="0" anchor="ctr">
            <a:noAutofit/>
          </a:bodyPr>
          <a:lstStyle/>
          <a:p>
            <a:endParaRPr lang="it-IT"/>
          </a:p>
        </p:txBody>
      </p:sp>
      <p:sp>
        <p:nvSpPr>
          <p:cNvPr id="814" name="Barra val 2"/>
          <p:cNvSpPr/>
          <p:nvPr/>
        </p:nvSpPr>
        <p:spPr>
          <a:xfrm>
            <a:off x="10992400" y="3320000"/>
            <a:ext cx="650000" cy="400000"/>
          </a:xfrm>
          <a:prstGeom prst="rect">
            <a:avLst/>
          </a:prstGeom>
          <a:noFill/>
          <a:ln>
            <a:noFill/>
          </a:ln>
        </p:spPr>
        <p:txBody>
          <a:bodyPr wrap="square" lIns="0" tIns="0" rIns="0" bIns="0" rtlCol="0" anchor="ctr">
            <a:noAutofit/>
          </a:bodyPr>
          <a:lstStyle/>
          <a:p>
            <a:pPr algn="l">
              <a:buNone/>
            </a:pPr>
            <a:r>
              <a:rPr lang="it-IT" sz="1300" b="1">
                <a:solidFill>
                  <a:srgbClr val="203344"/>
                </a:solidFill>
                <a:latin typeface="Arial" panose="020B0604020202020204" pitchFamily="34" charset="0"/>
                <a:cs typeface="Arial"/>
              </a:rPr>
              <a:t>2 028</a:t>
            </a:r>
          </a:p>
        </p:txBody>
      </p:sp>
      <p:sp>
        <p:nvSpPr>
          <p:cNvPr id="815" name="Barre nota"/>
          <p:cNvSpPr/>
          <p:nvPr/>
        </p:nvSpPr>
        <p:spPr>
          <a:xfrm>
            <a:off x="8182400" y="3940000"/>
            <a:ext cx="3400000" cy="300000"/>
          </a:xfrm>
          <a:prstGeom prst="rect">
            <a:avLst/>
          </a:prstGeom>
          <a:noFill/>
          <a:ln>
            <a:noFill/>
          </a:ln>
        </p:spPr>
        <p:txBody>
          <a:bodyPr wrap="square" lIns="0" tIns="0" rIns="0" bIns="0" rtlCol="0" anchor="ctr">
            <a:noAutofit/>
          </a:bodyPr>
          <a:lstStyle/>
          <a:p>
            <a:pPr algn="l">
              <a:buNone/>
            </a:pPr>
            <a:r>
              <a:rPr lang="it-IT" sz="1200" i="1">
                <a:solidFill>
                  <a:srgbClr val="6B7785"/>
                </a:solidFill>
                <a:latin typeface="Arial" panose="020B0604020202020204" pitchFamily="34" charset="0"/>
                <a:cs typeface="Arial"/>
              </a:rPr>
              <a:t>qubit per 12 qubit logici</a:t>
            </a:r>
          </a:p>
        </p:txBody>
      </p:sp>
      <p:sp>
        <p:nvSpPr>
          <p:cNvPr id="816" name="Numero 0"/>
          <p:cNvSpPr/>
          <p:nvPr/>
        </p:nvSpPr>
        <p:spPr>
          <a:xfrm>
            <a:off x="609600" y="4180000"/>
            <a:ext cx="3400000" cy="750000"/>
          </a:xfrm>
          <a:prstGeom prst="rect">
            <a:avLst/>
          </a:prstGeom>
          <a:noFill/>
          <a:ln>
            <a:noFill/>
          </a:ln>
        </p:spPr>
        <p:txBody>
          <a:bodyPr wrap="square" lIns="0" tIns="0" rIns="0" bIns="0" rtlCol="0" anchor="ctr">
            <a:noAutofit/>
          </a:bodyPr>
          <a:lstStyle/>
          <a:p>
            <a:pPr algn="ctr">
              <a:buNone/>
            </a:pPr>
            <a:r>
              <a:rPr lang="it-IT" sz="4000" b="1">
                <a:solidFill>
                  <a:srgbClr val="175F99"/>
                </a:solidFill>
                <a:latin typeface="Arial" panose="020B0604020202020204" pitchFamily="34" charset="0"/>
                <a:cs typeface="Arial"/>
              </a:rPr>
              <a:t>0,86%</a:t>
            </a:r>
          </a:p>
        </p:txBody>
      </p:sp>
      <p:sp>
        <p:nvSpPr>
          <p:cNvPr id="817" name="Etichetta 0"/>
          <p:cNvSpPr/>
          <p:nvPr/>
        </p:nvSpPr>
        <p:spPr>
          <a:xfrm>
            <a:off x="609600" y="4930000"/>
            <a:ext cx="3400000" cy="650000"/>
          </a:xfrm>
          <a:prstGeom prst="rect">
            <a:avLst/>
          </a:prstGeom>
          <a:noFill/>
          <a:ln>
            <a:noFill/>
          </a:ln>
        </p:spPr>
        <p:txBody>
          <a:bodyPr wrap="square" lIns="0" tIns="0" rIns="0" bIns="0" rtlCol="0" anchor="t">
            <a:noAutofit/>
          </a:bodyPr>
          <a:lstStyle/>
          <a:p>
            <a:pPr algn="ctr">
              <a:buNone/>
            </a:pPr>
            <a:r>
              <a:rPr lang="it-IT" sz="1600">
                <a:solidFill>
                  <a:srgbClr val="203344"/>
                </a:solidFill>
                <a:latin typeface="Arial" panose="020B0604020202020204" pitchFamily="34" charset="0"/>
                <a:cs typeface="Arial"/>
              </a:rPr>
              <a:t>soglia: sotto, codici più grandi correggono meglio</a:t>
            </a:r>
          </a:p>
        </p:txBody>
      </p:sp>
      <p:sp>
        <p:nvSpPr>
          <p:cNvPr id="818" name="Numero 1"/>
          <p:cNvSpPr/>
          <p:nvPr/>
        </p:nvSpPr>
        <p:spPr>
          <a:xfrm>
            <a:off x="4396000" y="4180000"/>
            <a:ext cx="3400000" cy="750000"/>
          </a:xfrm>
          <a:prstGeom prst="rect">
            <a:avLst/>
          </a:prstGeom>
          <a:noFill/>
          <a:ln>
            <a:noFill/>
          </a:ln>
        </p:spPr>
        <p:txBody>
          <a:bodyPr wrap="square" lIns="0" tIns="0" rIns="0" bIns="0" rtlCol="0" anchor="ctr">
            <a:noAutofit/>
          </a:bodyPr>
          <a:lstStyle/>
          <a:p>
            <a:pPr algn="ctr">
              <a:buNone/>
            </a:pPr>
            <a:r>
              <a:rPr lang="it-IT" sz="4000" b="1">
                <a:solidFill>
                  <a:srgbClr val="D9822B"/>
                </a:solidFill>
                <a:latin typeface="Arial" panose="020B0604020202020204" pitchFamily="34" charset="0"/>
                <a:cs typeface="Arial"/>
              </a:rPr>
              <a:t>−16,8%</a:t>
            </a:r>
          </a:p>
        </p:txBody>
      </p:sp>
      <p:sp>
        <p:nvSpPr>
          <p:cNvPr id="819" name="Etichetta 1"/>
          <p:cNvSpPr/>
          <p:nvPr/>
        </p:nvSpPr>
        <p:spPr>
          <a:xfrm>
            <a:off x="4396000" y="4930000"/>
            <a:ext cx="3400000" cy="650000"/>
          </a:xfrm>
          <a:prstGeom prst="rect">
            <a:avLst/>
          </a:prstGeom>
          <a:noFill/>
          <a:ln>
            <a:noFill/>
          </a:ln>
        </p:spPr>
        <p:txBody>
          <a:bodyPr wrap="square" lIns="0" tIns="0" rIns="0" bIns="0" rtlCol="0" anchor="t">
            <a:noAutofit/>
          </a:bodyPr>
          <a:lstStyle/>
          <a:p>
            <a:pPr algn="ctr">
              <a:buNone/>
            </a:pPr>
            <a:r>
              <a:rPr lang="it-IT" sz="1600">
                <a:solidFill>
                  <a:srgbClr val="203344"/>
                </a:solidFill>
                <a:latin typeface="Arial" panose="020B0604020202020204" pitchFamily="34" charset="0"/>
                <a:cs typeface="Arial"/>
              </a:rPr>
              <a:t>errori in meno con il decoder ibrido</a:t>
            </a:r>
          </a:p>
        </p:txBody>
      </p:sp>
      <p:sp>
        <p:nvSpPr>
          <p:cNvPr id="820" name="Numero 2"/>
          <p:cNvSpPr/>
          <p:nvPr/>
        </p:nvSpPr>
        <p:spPr>
          <a:xfrm>
            <a:off x="8182400" y="4180000"/>
            <a:ext cx="3400000" cy="750000"/>
          </a:xfrm>
          <a:prstGeom prst="rect">
            <a:avLst/>
          </a:prstGeom>
          <a:noFill/>
          <a:ln>
            <a:noFill/>
          </a:ln>
        </p:spPr>
        <p:txBody>
          <a:bodyPr wrap="square" lIns="0" tIns="0" rIns="0" bIns="0" rtlCol="0" anchor="ctr">
            <a:noAutofit/>
          </a:bodyPr>
          <a:lstStyle/>
          <a:p>
            <a:pPr algn="ctr">
              <a:buNone/>
            </a:pPr>
            <a:r>
              <a:rPr lang="it-IT" sz="4000" b="1">
                <a:solidFill>
                  <a:srgbClr val="D9822B"/>
                </a:solidFill>
                <a:latin typeface="Arial" panose="020B0604020202020204" pitchFamily="34" charset="0"/>
                <a:cs typeface="Arial"/>
              </a:rPr>
              <a:t>10–14×</a:t>
            </a:r>
          </a:p>
        </p:txBody>
      </p:sp>
      <p:sp>
        <p:nvSpPr>
          <p:cNvPr id="821" name="Etichetta 2"/>
          <p:cNvSpPr/>
          <p:nvPr/>
        </p:nvSpPr>
        <p:spPr>
          <a:xfrm>
            <a:off x="8182400" y="4930000"/>
            <a:ext cx="3400000" cy="650000"/>
          </a:xfrm>
          <a:prstGeom prst="rect">
            <a:avLst/>
          </a:prstGeom>
          <a:noFill/>
          <a:ln>
            <a:noFill/>
          </a:ln>
        </p:spPr>
        <p:txBody>
          <a:bodyPr wrap="square" lIns="0" tIns="0" rIns="0" bIns="0" rtlCol="0" anchor="t">
            <a:noAutofit/>
          </a:bodyPr>
          <a:lstStyle/>
          <a:p>
            <a:pPr algn="ctr">
              <a:buNone/>
            </a:pPr>
            <a:r>
              <a:rPr lang="it-IT" sz="1600">
                <a:solidFill>
                  <a:srgbClr val="203344"/>
                </a:solidFill>
                <a:latin typeface="Arial" panose="020B0604020202020204" pitchFamily="34" charset="0"/>
                <a:cs typeface="Arial"/>
              </a:rPr>
              <a:t>meno qubit con il Gross code</a:t>
            </a:r>
          </a:p>
        </p:txBody>
      </p:sp>
      <p:sp>
        <p:nvSpPr>
          <p:cNvPr id="822" name="Messaggio"/>
          <p:cNvSpPr/>
          <p:nvPr/>
        </p:nvSpPr>
        <p:spPr>
          <a:xfrm>
            <a:off x="609600" y="6000000"/>
            <a:ext cx="10972800" cy="500000"/>
          </a:xfrm>
          <a:prstGeom prst="rect">
            <a:avLst/>
          </a:prstGeom>
          <a:noFill/>
          <a:ln>
            <a:noFill/>
          </a:ln>
        </p:spPr>
        <p:txBody>
          <a:bodyPr wrap="square" lIns="0" tIns="0" rIns="0" bIns="0" rtlCol="0" anchor="ctr">
            <a:noAutofit/>
          </a:bodyPr>
          <a:lstStyle/>
          <a:p>
            <a:pPr algn="l">
              <a:buNone/>
            </a:pPr>
            <a:r>
              <a:rPr lang="it-IT" sz="1900" b="1">
                <a:solidFill>
                  <a:srgbClr val="1F5C99"/>
                </a:solidFill>
                <a:latin typeface="Arial" panose="020B0604020202020204" pitchFamily="34" charset="0"/>
                <a:cs typeface="Arial"/>
              </a:rPr>
              <a:t>La correzione funziona sotto soglia, il ML aiuta da assistente, il Gross code risparmia qubit.</a:t>
            </a:r>
          </a:p>
        </p:txBody>
      </p:sp>
    </p:spTree>
    <p:extLst>
      <p:ext uri="{BB962C8B-B14F-4D97-AF65-F5344CB8AC3E}">
        <p14:creationId xmlns:p14="http://schemas.microsoft.com/office/powerpoint/2010/main" val="39588681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descr="v2_s18_aqft_n15_holdout.png"/>
          <p:cNvPicPr>
            <a:picLocks noChangeAspect="1"/>
          </p:cNvPicPr>
          <p:nvPr/>
        </p:nvPicPr>
        <p:blipFill>
          <a:blip r:embed="rId3"/>
          <a:stretch>
            <a:fillRect/>
          </a:stretch>
        </p:blipFill>
        <p:spPr>
          <a:xfrm>
            <a:off x="5740400" y="2730499"/>
            <a:ext cx="5842474" cy="3681730"/>
          </a:xfrm>
          <a:prstGeom prst="rect">
            <a:avLst/>
          </a:prstGeom>
        </p:spPr>
      </p:pic>
      <p:sp>
        <p:nvSpPr>
          <p:cNvPr id="11" name="Rectangle 10">
            <a:extLst>
              <a:ext uri="{FF2B5EF4-FFF2-40B4-BE49-F238E27FC236}">
                <a16:creationId xmlns:a16="http://schemas.microsoft.com/office/drawing/2014/main" id="{8A715D2C-BFF8-4F44-9B9C-E1B9D835B317}"/>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Strategia 3: QFT approssimata e risultati</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4"/>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EA2291F3-B2FD-49F3-B6D2-121D3BDBF3CD}"/>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42F908A8-B2EF-405D-A77D-5756ADD4C77A}"/>
              </a:ext>
            </a:extLst>
          </p:cNvPr>
          <p:cNvSpPr>
            <a:spLocks noGrp="1"/>
          </p:cNvSpPr>
          <p:nvPr/>
        </p:nvSpPr>
        <p:spPr>
          <a:xfrm>
            <a:off x="7477125" y="828675"/>
            <a:ext cx="3228975" cy="219075"/>
          </a:xfrm>
          <a:prstGeom prst="rect">
            <a:avLst/>
          </a:prstGeom>
          <a:noFill/>
          <a:ln w="0">
            <a:noFill/>
          </a:ln>
        </p:spPr>
        <p:txBody>
          <a:bodyPr rIns="0" anchor="ctr">
            <a:noAutofit/>
          </a:bodyPr>
          <a:lstStyle/>
          <a:p>
            <a:pPr algn="r">
              <a:defRPr sz="1200" b="0">
                <a:solidFill>
                  <a:srgbClr val="203344"/>
                </a:solidFill>
                <a:latin typeface="Arial"/>
                <a:ea typeface="Arial"/>
                <a:cs typeface="Arial"/>
              </a:defRPr>
            </a:pPr>
            <a:r>
              <a:rPr lang="it-IT" sz="1050" b="0">
                <a:solidFill>
                  <a:srgbClr val="203344"/>
                </a:solidFill>
                <a:latin typeface="Arial"/>
                <a:ea typeface="Arial"/>
                <a:cs typeface="Arial"/>
              </a:rPr>
              <a:t>Strategia 3 · QFT approssimata | 10</a:t>
            </a:r>
            <a:endParaRPr sz="1050" b="0">
              <a:solidFill>
                <a:srgbClr val="203344"/>
              </a:solidFill>
              <a:latin typeface="Arial"/>
              <a:ea typeface="Arial"/>
              <a:cs typeface="Arial"/>
            </a:endParaRPr>
          </a:p>
        </p:txBody>
      </p:sp>
      <p:sp>
        <p:nvSpPr>
          <p:cNvPr id="2" name="TextBox 1">
            <a:extLst>
              <a:ext uri="{FF2B5EF4-FFF2-40B4-BE49-F238E27FC236}">
                <a16:creationId xmlns:a16="http://schemas.microsoft.com/office/drawing/2014/main" id="{94ABD03E-3EFB-95D9-121E-1C5DB7053792}"/>
              </a:ext>
            </a:extLst>
          </p:cNvPr>
          <p:cNvSpPr txBox="1"/>
          <p:nvPr/>
        </p:nvSpPr>
        <p:spPr>
          <a:xfrm>
            <a:off x="609600" y="1498599"/>
            <a:ext cx="4064000" cy="381000"/>
          </a:xfrm>
          <a:prstGeom prst="rect">
            <a:avLst/>
          </a:prstGeom>
          <a:noFill/>
        </p:spPr>
        <p:txBody>
          <a:bodyPr vert="horz" wrap="square" lIns="0" tIns="0" rIns="0" bIns="0" rtlCol="0">
            <a:noAutofit/>
          </a:bodyPr>
          <a:lstStyle/>
          <a:p>
            <a:r>
              <a:rPr lang="en-GB" sz="2200" b="1">
                <a:solidFill>
                  <a:srgbClr val="003366"/>
                </a:solidFill>
                <a:latin typeface="Arial" panose="020B0604020202020204" pitchFamily="34" charset="0"/>
              </a:rPr>
              <a:t>Intervento</a:t>
            </a:r>
          </a:p>
        </p:txBody>
      </p:sp>
      <p:sp>
        <p:nvSpPr>
          <p:cNvPr id="5" name="TextBox 4">
            <a:extLst>
              <a:ext uri="{FF2B5EF4-FFF2-40B4-BE49-F238E27FC236}">
                <a16:creationId xmlns:a16="http://schemas.microsoft.com/office/drawing/2014/main" id="{0990A77E-E589-39E0-206D-07FB075AC84E}"/>
              </a:ext>
            </a:extLst>
          </p:cNvPr>
          <p:cNvSpPr txBox="1"/>
          <p:nvPr/>
        </p:nvSpPr>
        <p:spPr>
          <a:xfrm>
            <a:off x="609600" y="1993899"/>
            <a:ext cx="4064000" cy="800100"/>
          </a:xfrm>
          <a:prstGeom prst="rect">
            <a:avLst/>
          </a:prstGeom>
          <a:noFill/>
        </p:spPr>
        <p:txBody>
          <a:bodyPr vert="horz" wrap="square" lIns="0" tIns="0" rIns="0" bIns="0" rtlCol="0">
            <a:noAutofit/>
          </a:bodyPr>
          <a:lstStyle/>
          <a:p>
            <a:r>
              <a:rPr lang="it-IT" sz="1900">
                <a:solidFill>
                  <a:srgbClr val="23374A"/>
                </a:solidFill>
                <a:latin typeface="Arial" panose="020B0604020202020204" pitchFamily="34" charset="0"/>
              </a:rPr>
              <a:t>Elimino le rotazioni di piccolo angolo: meno porte, minore precisione.</a:t>
            </a:r>
            <a:endParaRPr lang="en-GB" sz="1900">
              <a:solidFill>
                <a:srgbClr val="23374A"/>
              </a:solidFill>
              <a:latin typeface="Arial" panose="020B0604020202020204" pitchFamily="34" charset="0"/>
            </a:endParaRPr>
          </a:p>
        </p:txBody>
      </p:sp>
      <p:sp>
        <p:nvSpPr>
          <p:cNvPr id="8" name="TextBox 7">
            <a:extLst>
              <a:ext uri="{FF2B5EF4-FFF2-40B4-BE49-F238E27FC236}">
                <a16:creationId xmlns:a16="http://schemas.microsoft.com/office/drawing/2014/main" id="{7229CAC4-8A94-36E1-8843-75BEDF51123D}"/>
              </a:ext>
            </a:extLst>
          </p:cNvPr>
          <p:cNvSpPr txBox="1"/>
          <p:nvPr/>
        </p:nvSpPr>
        <p:spPr>
          <a:xfrm>
            <a:off x="609600" y="2997199"/>
            <a:ext cx="4064000" cy="368300"/>
          </a:xfrm>
          <a:prstGeom prst="rect">
            <a:avLst/>
          </a:prstGeom>
          <a:noFill/>
        </p:spPr>
        <p:txBody>
          <a:bodyPr vert="horz" wrap="square" lIns="0" tIns="0" rIns="0" bIns="0" rtlCol="0">
            <a:noAutofit/>
          </a:bodyPr>
          <a:lstStyle/>
          <a:p>
            <a:r>
              <a:rPr lang="en-GB" sz="2200" b="1">
                <a:solidFill>
                  <a:srgbClr val="003366"/>
                </a:solidFill>
                <a:latin typeface="Arial" panose="020B0604020202020204" pitchFamily="34" charset="0"/>
              </a:rPr>
              <a:t>Principio</a:t>
            </a:r>
          </a:p>
        </p:txBody>
      </p:sp>
      <p:sp>
        <p:nvSpPr>
          <p:cNvPr id="9" name="TextBox 8">
            <a:extLst>
              <a:ext uri="{FF2B5EF4-FFF2-40B4-BE49-F238E27FC236}">
                <a16:creationId xmlns:a16="http://schemas.microsoft.com/office/drawing/2014/main" id="{1F2E6282-46A1-3E87-6DD6-11769999615A}"/>
              </a:ext>
            </a:extLst>
          </p:cNvPr>
          <p:cNvSpPr txBox="1"/>
          <p:nvPr/>
        </p:nvSpPr>
        <p:spPr>
          <a:xfrm>
            <a:off x="609600" y="3479799"/>
            <a:ext cx="4064000" cy="749300"/>
          </a:xfrm>
          <a:prstGeom prst="rect">
            <a:avLst/>
          </a:prstGeom>
          <a:noFill/>
        </p:spPr>
        <p:txBody>
          <a:bodyPr vert="horz" wrap="square" lIns="0" tIns="0" rIns="0" bIns="0" rtlCol="0">
            <a:noAutofit/>
          </a:bodyPr>
          <a:lstStyle/>
          <a:p>
            <a:r>
              <a:rPr lang="it-IT">
                <a:solidFill>
                  <a:srgbClr val="23374A"/>
                </a:solidFill>
                <a:latin typeface="Arial" panose="020B0604020202020204" pitchFamily="34" charset="0"/>
              </a:rPr>
              <a:t>Una stima di fase sufficientemente precisa permette di ricostruire il periodo.</a:t>
            </a:r>
            <a:endParaRPr lang="en-GB">
              <a:solidFill>
                <a:srgbClr val="23374A"/>
              </a:solidFill>
              <a:latin typeface="Arial" panose="020B0604020202020204" pitchFamily="34" charset="0"/>
            </a:endParaRPr>
          </a:p>
        </p:txBody>
      </p:sp>
      <p:sp>
        <p:nvSpPr>
          <p:cNvPr id="14" name="TextBox 13">
            <a:extLst>
              <a:ext uri="{FF2B5EF4-FFF2-40B4-BE49-F238E27FC236}">
                <a16:creationId xmlns:a16="http://schemas.microsoft.com/office/drawing/2014/main" id="{1020496D-25A4-DF40-4177-FDE6DFFA68ED}"/>
              </a:ext>
            </a:extLst>
          </p:cNvPr>
          <p:cNvSpPr txBox="1"/>
          <p:nvPr/>
        </p:nvSpPr>
        <p:spPr>
          <a:xfrm>
            <a:off x="5740400" y="1497012"/>
            <a:ext cx="6248400" cy="508000"/>
          </a:xfrm>
          <a:prstGeom prst="rect">
            <a:avLst/>
          </a:prstGeom>
          <a:noFill/>
        </p:spPr>
        <p:txBody>
          <a:bodyPr vert="horz" wrap="square" lIns="0" tIns="0" rIns="0" bIns="0" rtlCol="0">
            <a:noAutofit/>
          </a:bodyPr>
          <a:lstStyle/>
          <a:p>
            <a:r>
              <a:rPr lang="en-GB" sz="3200" b="1" dirty="0">
                <a:solidFill>
                  <a:srgbClr val="BA6513"/>
                </a:solidFill>
                <a:latin typeface="Arial" panose="020B0604020202020204" pitchFamily="34" charset="0"/>
              </a:rPr>
              <a:t>+14,87 </a:t>
            </a:r>
            <a:r>
              <a:rPr lang="en-GB" sz="3200" b="1" dirty="0" err="1">
                <a:solidFill>
                  <a:srgbClr val="BA6513"/>
                </a:solidFill>
                <a:latin typeface="Arial" panose="020B0604020202020204" pitchFamily="34" charset="0"/>
              </a:rPr>
              <a:t>punti</a:t>
            </a:r>
            <a:r>
              <a:rPr lang="en-GB" sz="3200" b="1" dirty="0">
                <a:solidFill>
                  <a:srgbClr val="BA6513"/>
                </a:solidFill>
                <a:latin typeface="Arial" panose="020B0604020202020204" pitchFamily="34" charset="0"/>
              </a:rPr>
              <a:t> </a:t>
            </a:r>
            <a:r>
              <a:rPr lang="en-GB" sz="3200" b="1" dirty="0" err="1">
                <a:solidFill>
                  <a:srgbClr val="BA6513"/>
                </a:solidFill>
                <a:latin typeface="Arial" panose="020B0604020202020204" pitchFamily="34" charset="0"/>
              </a:rPr>
              <a:t>percentuali</a:t>
            </a:r>
            <a:endParaRPr lang="en-GB" sz="3200" b="1" dirty="0">
              <a:solidFill>
                <a:srgbClr val="BA6513"/>
              </a:solidFill>
              <a:latin typeface="Arial" panose="020B0604020202020204" pitchFamily="34" charset="0"/>
            </a:endParaRPr>
          </a:p>
        </p:txBody>
      </p:sp>
      <p:sp>
        <p:nvSpPr>
          <p:cNvPr id="15" name="TextBox 14">
            <a:extLst>
              <a:ext uri="{FF2B5EF4-FFF2-40B4-BE49-F238E27FC236}">
                <a16:creationId xmlns:a16="http://schemas.microsoft.com/office/drawing/2014/main" id="{75AD3F83-CB5F-F11B-F3D0-009EC1E1B9ED}"/>
              </a:ext>
            </a:extLst>
          </p:cNvPr>
          <p:cNvSpPr txBox="1"/>
          <p:nvPr/>
        </p:nvSpPr>
        <p:spPr>
          <a:xfrm>
            <a:off x="5740400" y="2055812"/>
            <a:ext cx="6248400" cy="342900"/>
          </a:xfrm>
          <a:prstGeom prst="rect">
            <a:avLst/>
          </a:prstGeom>
          <a:noFill/>
        </p:spPr>
        <p:txBody>
          <a:bodyPr vert="horz" wrap="square" lIns="0" tIns="0" rIns="0" bIns="0" rtlCol="0">
            <a:noAutofit/>
          </a:bodyPr>
          <a:lstStyle/>
          <a:p>
            <a:r>
              <a:rPr lang="it-IT" dirty="0">
                <a:solidFill>
                  <a:srgbClr val="23374A"/>
                </a:solidFill>
                <a:latin typeface="Arial" panose="020B0604020202020204" pitchFamily="34" charset="0"/>
              </a:rPr>
              <a:t>di successo su N = 15, nei dati di verifica</a:t>
            </a:r>
            <a:endParaRPr lang="en-GB" dirty="0">
              <a:solidFill>
                <a:srgbClr val="23374A"/>
              </a:solidFill>
              <a:latin typeface="Arial" panose="020B0604020202020204" pitchFamily="34" charset="0"/>
            </a:endParaRPr>
          </a:p>
        </p:txBody>
      </p:sp>
      <p:graphicFrame>
        <p:nvGraphicFramePr>
          <p:cNvPr id="17" name="Table 16">
            <a:extLst>
              <a:ext uri="{FF2B5EF4-FFF2-40B4-BE49-F238E27FC236}">
                <a16:creationId xmlns:a16="http://schemas.microsoft.com/office/drawing/2014/main" id="{A2570973-48F4-9D12-7257-E552E77531E8}"/>
              </a:ext>
            </a:extLst>
          </p:cNvPr>
          <p:cNvGraphicFramePr>
            <a:graphicFrameLocks noGrp="1"/>
          </p:cNvGraphicFramePr>
          <p:nvPr>
            <p:extLst>
              <p:ext uri="{D42A27DB-BD31-4B8C-83A1-F6EECF244321}">
                <p14:modId xmlns:p14="http://schemas.microsoft.com/office/powerpoint/2010/main" val="3698564077"/>
              </p:ext>
            </p:extLst>
          </p:nvPr>
        </p:nvGraphicFramePr>
        <p:xfrm>
          <a:off x="609126" y="4343399"/>
          <a:ext cx="4384406" cy="1396756"/>
        </p:xfrm>
        <a:graphic>
          <a:graphicData uri="http://schemas.openxmlformats.org/drawingml/2006/table">
            <a:tbl>
              <a:tblPr firstRow="1" bandRow="1">
                <a:tableStyleId>{5C22544A-7EE6-4342-B048-85BDC9FD1C3A}</a:tableStyleId>
              </a:tblPr>
              <a:tblGrid>
                <a:gridCol w="1972983">
                  <a:extLst>
                    <a:ext uri="{9D8B030D-6E8A-4147-A177-3AD203B41FA5}">
                      <a16:colId xmlns:a16="http://schemas.microsoft.com/office/drawing/2014/main" val="2314292560"/>
                    </a:ext>
                  </a:extLst>
                </a:gridCol>
                <a:gridCol w="1034766">
                  <a:extLst>
                    <a:ext uri="{9D8B030D-6E8A-4147-A177-3AD203B41FA5}">
                      <a16:colId xmlns:a16="http://schemas.microsoft.com/office/drawing/2014/main" val="1918257104"/>
                    </a:ext>
                  </a:extLst>
                </a:gridCol>
                <a:gridCol w="1376657">
                  <a:extLst>
                    <a:ext uri="{9D8B030D-6E8A-4147-A177-3AD203B41FA5}">
                      <a16:colId xmlns:a16="http://schemas.microsoft.com/office/drawing/2014/main" val="4203436662"/>
                    </a:ext>
                  </a:extLst>
                </a:gridCol>
              </a:tblGrid>
              <a:tr h="338061">
                <a:tc>
                  <a:txBody>
                    <a:bodyPr/>
                    <a:lstStyle/>
                    <a:p>
                      <a:r>
                        <a:rPr lang="en-GB" sz="1200" b="1">
                          <a:solidFill>
                            <a:srgbClr val="FFFFFF"/>
                          </a:solidFill>
                          <a:latin typeface="Arial" panose="020B0604020202020204" pitchFamily="34" charset="0"/>
                        </a:rPr>
                        <a:t>N = 15</a:t>
                      </a:r>
                    </a:p>
                  </a:txBody>
                  <a:tcPr marL="63500" marR="63500" marT="38100" marB="38100">
                    <a:lnL w="12700" cmpd="sng">
                      <a:solidFill>
                        <a:schemeClr val="lt1"/>
                      </a:solidFill>
                    </a:lnL>
                    <a:lnR w="12700" cmpd="sng">
                      <a:solidFill>
                        <a:schemeClr val="lt1"/>
                      </a:solidFill>
                    </a:lnR>
                    <a:lnT w="12700" cmpd="sng">
                      <a:solidFill>
                        <a:schemeClr val="lt1"/>
                      </a:solidFill>
                    </a:lnT>
                    <a:lnB w="38100" cmpd="sng">
                      <a:solidFill>
                        <a:schemeClr val="lt1"/>
                      </a:solidFill>
                    </a:lnB>
                    <a:solidFill>
                      <a:srgbClr val="1963A0"/>
                    </a:solidFill>
                  </a:tcPr>
                </a:tc>
                <a:tc>
                  <a:txBody>
                    <a:bodyPr/>
                    <a:lstStyle/>
                    <a:p>
                      <a:r>
                        <a:rPr lang="en-GB" sz="1200" b="1">
                          <a:solidFill>
                            <a:srgbClr val="FFFFFF"/>
                          </a:solidFill>
                          <a:latin typeface="Arial" panose="020B0604020202020204" pitchFamily="34" charset="0"/>
                        </a:rPr>
                        <a:t>QFT piena</a:t>
                      </a:r>
                    </a:p>
                  </a:txBody>
                  <a:tcPr marL="63500" marR="63500" marT="38100" marB="38100">
                    <a:lnL w="12700" cmpd="sng">
                      <a:solidFill>
                        <a:schemeClr val="lt1"/>
                      </a:solidFill>
                    </a:lnL>
                    <a:lnR w="12700" cmpd="sng">
                      <a:solidFill>
                        <a:schemeClr val="lt1"/>
                      </a:solidFill>
                    </a:lnR>
                    <a:lnT w="12700" cmpd="sng">
                      <a:solidFill>
                        <a:schemeClr val="lt1"/>
                      </a:solidFill>
                    </a:lnT>
                    <a:lnB w="38100" cmpd="sng">
                      <a:solidFill>
                        <a:schemeClr val="lt1"/>
                      </a:solidFill>
                    </a:lnB>
                    <a:solidFill>
                      <a:srgbClr val="1963A0"/>
                    </a:solidFill>
                  </a:tcPr>
                </a:tc>
                <a:tc>
                  <a:txBody>
                    <a:bodyPr/>
                    <a:lstStyle/>
                    <a:p>
                      <a:r>
                        <a:rPr lang="en-GB" sz="1200" b="1" dirty="0">
                          <a:solidFill>
                            <a:srgbClr val="FFFFFF"/>
                          </a:solidFill>
                          <a:latin typeface="Arial" panose="020B0604020202020204" pitchFamily="34" charset="0"/>
                        </a:rPr>
                        <a:t>AQFT</a:t>
                      </a:r>
                    </a:p>
                  </a:txBody>
                  <a:tcPr marL="63500" marR="63500" marT="38100" marB="38100">
                    <a:lnL w="12700" cmpd="sng">
                      <a:solidFill>
                        <a:schemeClr val="lt1"/>
                      </a:solidFill>
                    </a:lnL>
                    <a:lnR w="12700" cmpd="sng">
                      <a:solidFill>
                        <a:schemeClr val="lt1"/>
                      </a:solidFill>
                    </a:lnR>
                    <a:lnT w="12700" cmpd="sng">
                      <a:solidFill>
                        <a:schemeClr val="lt1"/>
                      </a:solidFill>
                    </a:lnT>
                    <a:lnB w="38100" cmpd="sng">
                      <a:solidFill>
                        <a:schemeClr val="lt1"/>
                      </a:solidFill>
                    </a:lnB>
                    <a:solidFill>
                      <a:srgbClr val="1963A0"/>
                    </a:solidFill>
                  </a:tcPr>
                </a:tc>
                <a:extLst>
                  <a:ext uri="{0D108BD9-81ED-4DB2-BD59-A6C34878D82A}">
                    <a16:rowId xmlns:a16="http://schemas.microsoft.com/office/drawing/2014/main" val="2412497855"/>
                  </a:ext>
                </a:extLst>
              </a:tr>
              <a:tr h="338061">
                <a:tc>
                  <a:txBody>
                    <a:bodyPr/>
                    <a:lstStyle/>
                    <a:p>
                      <a:r>
                        <a:rPr lang="en-GB" sz="1200" dirty="0" err="1">
                          <a:solidFill>
                            <a:srgbClr val="23374A"/>
                          </a:solidFill>
                          <a:latin typeface="Arial" panose="020B0604020202020204" pitchFamily="34" charset="0"/>
                        </a:rPr>
                        <a:t>Successo</a:t>
                      </a:r>
                      <a:endParaRPr lang="en-GB" sz="1200" dirty="0">
                        <a:solidFill>
                          <a:srgbClr val="23374A"/>
                        </a:solidFill>
                        <a:latin typeface="Arial" panose="020B0604020202020204" pitchFamily="34" charset="0"/>
                      </a:endParaRPr>
                    </a:p>
                  </a:txBody>
                  <a:tcPr marL="63500" marR="63500" marT="38100" marB="38100">
                    <a:lnL w="12700" cmpd="sng">
                      <a:solidFill>
                        <a:schemeClr val="lt1"/>
                      </a:solidFill>
                    </a:lnL>
                    <a:lnR w="12700" cmpd="sng">
                      <a:solidFill>
                        <a:schemeClr val="lt1"/>
                      </a:solidFill>
                    </a:lnR>
                    <a:lnT w="38100" cmpd="sng">
                      <a:solidFill>
                        <a:schemeClr val="lt1"/>
                      </a:solidFill>
                    </a:lnT>
                    <a:lnB w="12700" cmpd="sng">
                      <a:solidFill>
                        <a:schemeClr val="lt1"/>
                      </a:solidFill>
                    </a:lnB>
                    <a:solidFill>
                      <a:srgbClr val="EDF3F7"/>
                    </a:solidFill>
                  </a:tcPr>
                </a:tc>
                <a:tc>
                  <a:txBody>
                    <a:bodyPr/>
                    <a:lstStyle/>
                    <a:p>
                      <a:r>
                        <a:rPr lang="en-GB" sz="1200">
                          <a:solidFill>
                            <a:srgbClr val="23374A"/>
                          </a:solidFill>
                          <a:latin typeface="Arial" panose="020B0604020202020204" pitchFamily="34" charset="0"/>
                        </a:rPr>
                        <a:t>47,92%</a:t>
                      </a:r>
                    </a:p>
                  </a:txBody>
                  <a:tcPr marL="63500" marR="63500" marT="38100" marB="38100">
                    <a:lnL w="12700" cmpd="sng">
                      <a:solidFill>
                        <a:schemeClr val="lt1"/>
                      </a:solidFill>
                    </a:lnL>
                    <a:lnR w="12700" cmpd="sng">
                      <a:solidFill>
                        <a:schemeClr val="lt1"/>
                      </a:solidFill>
                    </a:lnR>
                    <a:lnT w="38100" cmpd="sng">
                      <a:solidFill>
                        <a:schemeClr val="lt1"/>
                      </a:solidFill>
                    </a:lnT>
                    <a:lnB w="12700" cmpd="sng">
                      <a:solidFill>
                        <a:schemeClr val="lt1"/>
                      </a:solidFill>
                    </a:lnB>
                    <a:solidFill>
                      <a:srgbClr val="EDF3F7"/>
                    </a:solidFill>
                  </a:tcPr>
                </a:tc>
                <a:tc>
                  <a:txBody>
                    <a:bodyPr/>
                    <a:lstStyle/>
                    <a:p>
                      <a:r>
                        <a:rPr lang="en-GB" sz="1200" dirty="0">
                          <a:solidFill>
                            <a:srgbClr val="23374A"/>
                          </a:solidFill>
                          <a:latin typeface="Arial" panose="020B0604020202020204" pitchFamily="34" charset="0"/>
                        </a:rPr>
                        <a:t>62,79%</a:t>
                      </a:r>
                    </a:p>
                  </a:txBody>
                  <a:tcPr marL="63500" marR="63500" marT="38100" marB="38100">
                    <a:lnL w="12700" cmpd="sng">
                      <a:solidFill>
                        <a:schemeClr val="lt1"/>
                      </a:solidFill>
                    </a:lnL>
                    <a:lnR w="12700" cmpd="sng">
                      <a:solidFill>
                        <a:schemeClr val="lt1"/>
                      </a:solidFill>
                    </a:lnR>
                    <a:lnT w="38100" cmpd="sng">
                      <a:solidFill>
                        <a:schemeClr val="lt1"/>
                      </a:solidFill>
                    </a:lnT>
                    <a:lnB w="12700" cmpd="sng">
                      <a:solidFill>
                        <a:schemeClr val="lt1"/>
                      </a:solidFill>
                    </a:lnB>
                    <a:solidFill>
                      <a:srgbClr val="EDF3F7"/>
                    </a:solidFill>
                  </a:tcPr>
                </a:tc>
                <a:extLst>
                  <a:ext uri="{0D108BD9-81ED-4DB2-BD59-A6C34878D82A}">
                    <a16:rowId xmlns:a16="http://schemas.microsoft.com/office/drawing/2014/main" val="2937333207"/>
                  </a:ext>
                </a:extLst>
              </a:tr>
              <a:tr h="382573">
                <a:tc>
                  <a:txBody>
                    <a:bodyPr/>
                    <a:lstStyle/>
                    <a:p>
                      <a:r>
                        <a:rPr lang="fr-FR" sz="1200" dirty="0">
                          <a:solidFill>
                            <a:srgbClr val="23374A"/>
                          </a:solidFill>
                          <a:latin typeface="Arial" panose="020B0604020202020204" pitchFamily="34" charset="0"/>
                        </a:rPr>
                        <a:t>Porte a 2 qubit (ECR)</a:t>
                      </a:r>
                      <a:endParaRPr lang="en-GB" sz="1200" dirty="0">
                        <a:solidFill>
                          <a:srgbClr val="23374A"/>
                        </a:solidFill>
                        <a:latin typeface="Arial" panose="020B0604020202020204" pitchFamily="34" charset="0"/>
                      </a:endParaRPr>
                    </a:p>
                  </a:txBody>
                  <a:tcPr marL="63500" marR="63500" marT="38100" marB="38100">
                    <a:lnL w="12700" cmpd="sng">
                      <a:solidFill>
                        <a:schemeClr val="lt1"/>
                      </a:solidFill>
                    </a:lnL>
                    <a:lnR w="12700" cmpd="sng">
                      <a:solidFill>
                        <a:schemeClr val="lt1"/>
                      </a:solidFill>
                    </a:lnR>
                    <a:lnT w="12700" cmpd="sng">
                      <a:solidFill>
                        <a:schemeClr val="lt1"/>
                      </a:solidFill>
                    </a:lnT>
                    <a:lnB w="12700" cmpd="sng">
                      <a:solidFill>
                        <a:schemeClr val="lt1"/>
                      </a:solidFill>
                    </a:lnB>
                    <a:solidFill>
                      <a:srgbClr val="EDF3F7"/>
                    </a:solidFill>
                  </a:tcPr>
                </a:tc>
                <a:tc>
                  <a:txBody>
                    <a:bodyPr/>
                    <a:lstStyle/>
                    <a:p>
                      <a:r>
                        <a:rPr lang="en-GB" sz="1200">
                          <a:solidFill>
                            <a:srgbClr val="23374A"/>
                          </a:solidFill>
                          <a:latin typeface="Arial" panose="020B0604020202020204" pitchFamily="34" charset="0"/>
                        </a:rPr>
                        <a:t>362</a:t>
                      </a:r>
                    </a:p>
                  </a:txBody>
                  <a:tcPr marL="63500" marR="63500" marT="38100" marB="38100">
                    <a:lnL w="12700" cmpd="sng">
                      <a:solidFill>
                        <a:schemeClr val="lt1"/>
                      </a:solidFill>
                    </a:lnL>
                    <a:lnR w="12700" cmpd="sng">
                      <a:solidFill>
                        <a:schemeClr val="lt1"/>
                      </a:solidFill>
                    </a:lnR>
                    <a:lnT w="12700" cmpd="sng">
                      <a:solidFill>
                        <a:schemeClr val="lt1"/>
                      </a:solidFill>
                    </a:lnT>
                    <a:lnB w="12700" cmpd="sng">
                      <a:solidFill>
                        <a:schemeClr val="lt1"/>
                      </a:solidFill>
                    </a:lnB>
                    <a:solidFill>
                      <a:srgbClr val="EDF3F7"/>
                    </a:solidFill>
                  </a:tcPr>
                </a:tc>
                <a:tc>
                  <a:txBody>
                    <a:bodyPr/>
                    <a:lstStyle/>
                    <a:p>
                      <a:r>
                        <a:rPr lang="en-GB" sz="1200" b="1" dirty="0">
                          <a:solidFill>
                            <a:srgbClr val="D9822B"/>
                          </a:solidFill>
                          <a:latin typeface="Arial" panose="020B0604020202020204" pitchFamily="34" charset="0"/>
                        </a:rPr>
                        <a:t>279  (−22,9%)</a:t>
                      </a:r>
                    </a:p>
                  </a:txBody>
                  <a:tcPr marL="63500" marR="63500" marT="38100" marB="38100">
                    <a:lnL w="12700" cmpd="sng">
                      <a:solidFill>
                        <a:schemeClr val="lt1"/>
                      </a:solidFill>
                    </a:lnL>
                    <a:lnR w="12700" cmpd="sng">
                      <a:solidFill>
                        <a:schemeClr val="lt1"/>
                      </a:solidFill>
                    </a:lnR>
                    <a:lnT w="12700" cmpd="sng">
                      <a:solidFill>
                        <a:schemeClr val="lt1"/>
                      </a:solidFill>
                    </a:lnT>
                    <a:lnB w="12700" cmpd="sng">
                      <a:solidFill>
                        <a:schemeClr val="lt1"/>
                      </a:solidFill>
                    </a:lnB>
                    <a:solidFill>
                      <a:srgbClr val="EDF3F7"/>
                    </a:solidFill>
                  </a:tcPr>
                </a:tc>
                <a:extLst>
                  <a:ext uri="{0D108BD9-81ED-4DB2-BD59-A6C34878D82A}">
                    <a16:rowId xmlns:a16="http://schemas.microsoft.com/office/drawing/2014/main" val="2324775208"/>
                  </a:ext>
                </a:extLst>
              </a:tr>
              <a:tr h="338061">
                <a:tc>
                  <a:txBody>
                    <a:bodyPr/>
                    <a:lstStyle/>
                    <a:p>
                      <a:r>
                        <a:rPr lang="en-GB" sz="1200" dirty="0" err="1">
                          <a:solidFill>
                            <a:srgbClr val="23374A"/>
                          </a:solidFill>
                          <a:latin typeface="Arial" panose="020B0604020202020204" pitchFamily="34" charset="0"/>
                        </a:rPr>
                        <a:t>Profondità</a:t>
                      </a:r>
                      <a:endParaRPr lang="en-GB" sz="1200" dirty="0">
                        <a:solidFill>
                          <a:srgbClr val="23374A"/>
                        </a:solidFill>
                        <a:latin typeface="Arial" panose="020B0604020202020204" pitchFamily="34" charset="0"/>
                      </a:endParaRPr>
                    </a:p>
                  </a:txBody>
                  <a:tcPr marL="63500" marR="63500" marT="38100" marB="38100">
                    <a:lnL w="12700" cmpd="sng">
                      <a:solidFill>
                        <a:schemeClr val="lt1"/>
                      </a:solidFill>
                    </a:lnL>
                    <a:lnR w="12700" cmpd="sng">
                      <a:solidFill>
                        <a:schemeClr val="lt1"/>
                      </a:solidFill>
                    </a:lnR>
                    <a:lnT w="12700" cmpd="sng">
                      <a:solidFill>
                        <a:schemeClr val="lt1"/>
                      </a:solidFill>
                    </a:lnT>
                    <a:lnB w="12700" cmpd="sng">
                      <a:solidFill>
                        <a:schemeClr val="lt1"/>
                      </a:solidFill>
                    </a:lnB>
                    <a:solidFill>
                      <a:srgbClr val="EDF3F7"/>
                    </a:solidFill>
                  </a:tcPr>
                </a:tc>
                <a:tc>
                  <a:txBody>
                    <a:bodyPr/>
                    <a:lstStyle/>
                    <a:p>
                      <a:r>
                        <a:rPr lang="en-GB" sz="1200">
                          <a:solidFill>
                            <a:srgbClr val="23374A"/>
                          </a:solidFill>
                          <a:latin typeface="Arial" panose="020B0604020202020204" pitchFamily="34" charset="0"/>
                        </a:rPr>
                        <a:t>1351</a:t>
                      </a:r>
                    </a:p>
                  </a:txBody>
                  <a:tcPr marL="63500" marR="63500" marT="38100" marB="38100">
                    <a:lnL w="12700" cmpd="sng">
                      <a:solidFill>
                        <a:schemeClr val="lt1"/>
                      </a:solidFill>
                    </a:lnL>
                    <a:lnR w="12700" cmpd="sng">
                      <a:solidFill>
                        <a:schemeClr val="lt1"/>
                      </a:solidFill>
                    </a:lnR>
                    <a:lnT w="12700" cmpd="sng">
                      <a:solidFill>
                        <a:schemeClr val="lt1"/>
                      </a:solidFill>
                    </a:lnT>
                    <a:lnB w="12700" cmpd="sng">
                      <a:solidFill>
                        <a:schemeClr val="lt1"/>
                      </a:solidFill>
                    </a:lnB>
                    <a:solidFill>
                      <a:srgbClr val="EDF3F7"/>
                    </a:solidFill>
                  </a:tcPr>
                </a:tc>
                <a:tc>
                  <a:txBody>
                    <a:bodyPr/>
                    <a:lstStyle/>
                    <a:p>
                      <a:r>
                        <a:rPr lang="en-GB" sz="1200" dirty="0">
                          <a:solidFill>
                            <a:srgbClr val="23374A"/>
                          </a:solidFill>
                          <a:latin typeface="Arial" panose="020B0604020202020204" pitchFamily="34" charset="0"/>
                        </a:rPr>
                        <a:t>1141</a:t>
                      </a:r>
                    </a:p>
                  </a:txBody>
                  <a:tcPr marL="63500" marR="63500" marT="38100" marB="38100">
                    <a:lnL w="12700" cmpd="sng">
                      <a:solidFill>
                        <a:schemeClr val="lt1"/>
                      </a:solidFill>
                    </a:lnL>
                    <a:lnR w="12700" cmpd="sng">
                      <a:solidFill>
                        <a:schemeClr val="lt1"/>
                      </a:solidFill>
                    </a:lnR>
                    <a:lnT w="12700" cmpd="sng">
                      <a:solidFill>
                        <a:schemeClr val="lt1"/>
                      </a:solidFill>
                    </a:lnT>
                    <a:lnB w="12700" cmpd="sng">
                      <a:solidFill>
                        <a:schemeClr val="lt1"/>
                      </a:solidFill>
                    </a:lnB>
                    <a:solidFill>
                      <a:srgbClr val="EDF3F7"/>
                    </a:solidFill>
                  </a:tcPr>
                </a:tc>
                <a:extLst>
                  <a:ext uri="{0D108BD9-81ED-4DB2-BD59-A6C34878D82A}">
                    <a16:rowId xmlns:a16="http://schemas.microsoft.com/office/drawing/2014/main" val="2982604348"/>
                  </a:ext>
                </a:extLst>
              </a:tr>
            </a:tbl>
          </a:graphicData>
        </a:graphic>
      </p:graphicFrame>
      <p:sp>
        <p:nvSpPr>
          <p:cNvPr id="21" name="TextBox 20">
            <a:extLst>
              <a:ext uri="{FF2B5EF4-FFF2-40B4-BE49-F238E27FC236}">
                <a16:creationId xmlns:a16="http://schemas.microsoft.com/office/drawing/2014/main" id="{470F5327-1993-461E-8E0D-407EAA736804}"/>
              </a:ext>
            </a:extLst>
          </p:cNvPr>
          <p:cNvSpPr txBox="1"/>
          <p:nvPr/>
        </p:nvSpPr>
        <p:spPr>
          <a:xfrm>
            <a:off x="680462" y="6061378"/>
            <a:ext cx="4064000" cy="482600"/>
          </a:xfrm>
          <a:prstGeom prst="rect">
            <a:avLst/>
          </a:prstGeom>
          <a:noFill/>
        </p:spPr>
        <p:txBody>
          <a:bodyPr vert="horz" wrap="square" lIns="0" tIns="0" rIns="0" bIns="0" rtlCol="0">
            <a:noAutofit/>
          </a:bodyPr>
          <a:lstStyle/>
          <a:p>
            <a:r>
              <a:rPr lang="it-IT" sz="1300" b="1" dirty="0">
                <a:solidFill>
                  <a:srgbClr val="1963A0"/>
                </a:solidFill>
                <a:latin typeface="Arial" panose="020B0604020202020204" pitchFamily="34" charset="0"/>
              </a:rPr>
              <a:t>Su N = 21 il beneficio non è dimostrato.</a:t>
            </a:r>
            <a:endParaRPr lang="en-GB" sz="1300" b="1" dirty="0">
              <a:solidFill>
                <a:srgbClr val="1963A0"/>
              </a:solidFill>
              <a:latin typeface="Arial" panose="020B0604020202020204" pitchFamily="34" charset="0"/>
            </a:endParaRPr>
          </a:p>
        </p:txBody>
      </p:sp>
    </p:spTree>
    <p:extLst>
      <p:ext uri="{BB962C8B-B14F-4D97-AF65-F5344CB8AC3E}">
        <p14:creationId xmlns:p14="http://schemas.microsoft.com/office/powerpoint/2010/main" val="893923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9"/>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9"/>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9"/>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9"/>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9"/>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9"/>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9"/>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9"/>
                                          </p:stCondLst>
                                        </p:cTn>
                                        <p:tgtEl>
                                          <p:spTgt spid="1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9"/>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8" grpId="0"/>
      <p:bldP spid="9" grpId="0"/>
      <p:bldP spid="14" grpId="0"/>
      <p:bldP spid="15" grpId="0"/>
      <p:bldP spid="21" grpId="0"/>
    </p:bld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7C934D66-A19F-4F45-A910-9FC2198DE6D8}"/>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Strategia 3: QFT approssimata (AQFT)</a:t>
            </a:r>
            <a:endParaRPr sz="2700" b="0">
              <a:solidFill>
                <a:srgbClr val="003366"/>
              </a:solidFill>
              <a:latin typeface="Arial"/>
              <a:ea typeface="Arial"/>
              <a:cs typeface="Arial"/>
            </a:endParaRPr>
          </a:p>
        </p:txBody>
      </p:sp>
      <p:pic>
        <p:nvPicPr>
          <p:cNvPr id="24" name="Picture 23"/>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B7D945B-C75B-4179-BF6C-020587B974A1}"/>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40A8CD84-FE44-4433-9B90-AFC6409EC098}"/>
              </a:ext>
            </a:extLst>
          </p:cNvPr>
          <p:cNvSpPr>
            <a:spLocks noGrp="1"/>
          </p:cNvSpPr>
          <p:nvPr/>
        </p:nvSpPr>
        <p:spPr>
          <a:xfrm>
            <a:off x="7477125" y="828675"/>
            <a:ext cx="3228975" cy="219075"/>
          </a:xfrm>
          <a:prstGeom prst="rect">
            <a:avLst/>
          </a:prstGeom>
          <a:noFill/>
          <a:ln w="0">
            <a:noFill/>
          </a:ln>
        </p:spPr>
        <p:txBody>
          <a:bodyPr rIns="0" anchor="ctr">
            <a:noAutofit/>
          </a:bodyPr>
          <a:lstStyle/>
          <a:p>
            <a:pPr algn="r">
              <a:defRPr sz="1200" b="0">
                <a:solidFill>
                  <a:srgbClr val="203344"/>
                </a:solidFill>
                <a:latin typeface="Arial"/>
                <a:ea typeface="Arial"/>
                <a:cs typeface="Arial"/>
              </a:defRPr>
            </a:pPr>
            <a:r>
              <a:rPr lang="it-IT" sz="1050" b="0">
                <a:solidFill>
                  <a:srgbClr val="203344"/>
                </a:solidFill>
                <a:latin typeface="Arial"/>
                <a:ea typeface="Arial"/>
                <a:cs typeface="Arial"/>
              </a:rPr>
              <a:t>Strategia 3 · QFT approssimata | 11</a:t>
            </a:r>
            <a:endParaRPr sz="1050" b="0">
              <a:solidFill>
                <a:srgbClr val="203344"/>
              </a:solidFill>
              <a:latin typeface="Arial"/>
              <a:ea typeface="Arial"/>
              <a:cs typeface="Arial"/>
            </a:endParaRPr>
          </a:p>
        </p:txBody>
      </p:sp>
      <p:sp>
        <p:nvSpPr>
          <p:cNvPr id="2" name="TextBox 1">
            <a:extLst>
              <a:ext uri="{FF2B5EF4-FFF2-40B4-BE49-F238E27FC236}">
                <a16:creationId xmlns:a16="http://schemas.microsoft.com/office/drawing/2014/main" id="{95352E57-B61F-C999-5D37-1F4387D07242}"/>
              </a:ext>
            </a:extLst>
          </p:cNvPr>
          <p:cNvSpPr txBox="1"/>
          <p:nvPr/>
        </p:nvSpPr>
        <p:spPr>
          <a:xfrm>
            <a:off x="609600" y="1244600"/>
            <a:ext cx="10972800" cy="369332"/>
          </a:xfrm>
          <a:prstGeom prst="rect">
            <a:avLst/>
          </a:prstGeom>
          <a:noFill/>
        </p:spPr>
        <p:txBody>
          <a:bodyPr vert="horz" wrap="square" rtlCol="0">
            <a:noAutofit/>
          </a:bodyPr>
          <a:lstStyle/>
          <a:p>
            <a:r>
              <a:rPr lang="it-IT" sz="1725">
                <a:solidFill>
                  <a:srgbClr val="203344"/>
                </a:solidFill>
                <a:latin typeface="Arial" panose="020B0604020202020204" pitchFamily="34" charset="0"/>
              </a:rPr>
              <a:t>Più porte significa più errori. Nella QFT molte rotazioni sono piccolissime: spostano la fase quasi di nulla, ma costano porte.</a:t>
            </a:r>
            <a:endParaRPr lang="en-GB" sz="1725">
              <a:solidFill>
                <a:srgbClr val="203344"/>
              </a:solidFill>
              <a:latin typeface="Arial" panose="020B0604020202020204" pitchFamily="34" charset="0"/>
            </a:endParaRPr>
          </a:p>
        </p:txBody>
      </p:sp>
      <p:sp>
        <p:nvSpPr>
          <p:cNvPr id="25" name="Rectangle: Rounded Corners 24">
            <a:extLst>
              <a:ext uri="{FF2B5EF4-FFF2-40B4-BE49-F238E27FC236}">
                <a16:creationId xmlns:a16="http://schemas.microsoft.com/office/drawing/2014/main" id="{7E78E41E-B49D-5A5D-871D-DECD7957C390}"/>
              </a:ext>
            </a:extLst>
          </p:cNvPr>
          <p:cNvSpPr/>
          <p:nvPr/>
        </p:nvSpPr>
        <p:spPr>
          <a:xfrm>
            <a:off x="609600" y="1981200"/>
            <a:ext cx="5029200" cy="14224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Rounded Corners 25">
            <a:extLst>
              <a:ext uri="{FF2B5EF4-FFF2-40B4-BE49-F238E27FC236}">
                <a16:creationId xmlns:a16="http://schemas.microsoft.com/office/drawing/2014/main" id="{361EE528-3606-AEF0-EBBD-B53CA48C9C2C}"/>
              </a:ext>
            </a:extLst>
          </p:cNvPr>
          <p:cNvSpPr/>
          <p:nvPr/>
        </p:nvSpPr>
        <p:spPr>
          <a:xfrm>
            <a:off x="6553200" y="1981200"/>
            <a:ext cx="5029200" cy="14224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TextBox 26">
            <a:extLst>
              <a:ext uri="{FF2B5EF4-FFF2-40B4-BE49-F238E27FC236}">
                <a16:creationId xmlns:a16="http://schemas.microsoft.com/office/drawing/2014/main" id="{0FE43342-5019-9F0B-BE0F-51B5406A711A}"/>
              </a:ext>
            </a:extLst>
          </p:cNvPr>
          <p:cNvSpPr txBox="1"/>
          <p:nvPr/>
        </p:nvSpPr>
        <p:spPr>
          <a:xfrm>
            <a:off x="787400" y="2082800"/>
            <a:ext cx="4673600" cy="369332"/>
          </a:xfrm>
          <a:prstGeom prst="rect">
            <a:avLst/>
          </a:prstGeom>
          <a:noFill/>
        </p:spPr>
        <p:txBody>
          <a:bodyPr vert="horz" wrap="square" rtlCol="0">
            <a:noAutofit/>
          </a:bodyPr>
          <a:lstStyle/>
          <a:p>
            <a:r>
              <a:rPr lang="en-GB" sz="2025" b="1">
                <a:solidFill>
                  <a:srgbClr val="003366"/>
                </a:solidFill>
                <a:latin typeface="Arial" panose="020B0604020202020204" pitchFamily="34" charset="0"/>
              </a:rPr>
              <a:t>QFT piena</a:t>
            </a:r>
          </a:p>
        </p:txBody>
      </p:sp>
      <p:sp>
        <p:nvSpPr>
          <p:cNvPr id="28" name="TextBox 27">
            <a:extLst>
              <a:ext uri="{FF2B5EF4-FFF2-40B4-BE49-F238E27FC236}">
                <a16:creationId xmlns:a16="http://schemas.microsoft.com/office/drawing/2014/main" id="{1DC0A524-1F7B-2CF3-21D7-9DA6710C8688}"/>
              </a:ext>
            </a:extLst>
          </p:cNvPr>
          <p:cNvSpPr txBox="1"/>
          <p:nvPr/>
        </p:nvSpPr>
        <p:spPr>
          <a:xfrm>
            <a:off x="787400" y="2489200"/>
            <a:ext cx="4673600" cy="369332"/>
          </a:xfrm>
          <a:prstGeom prst="rect">
            <a:avLst/>
          </a:prstGeom>
          <a:noFill/>
        </p:spPr>
        <p:txBody>
          <a:bodyPr vert="horz" wrap="square" rtlCol="0">
            <a:noAutofit/>
          </a:bodyPr>
          <a:lstStyle/>
          <a:p>
            <a:r>
              <a:rPr lang="it-IT" sz="1575">
                <a:solidFill>
                  <a:srgbClr val="203344"/>
                </a:solidFill>
                <a:latin typeface="Arial" panose="020B0604020202020204" pitchFamily="34" charset="0"/>
              </a:rPr>
              <a:t>tutte le rotazioni, dalle più grandi alle più piccole (π/2, π/4, …, π/128)</a:t>
            </a:r>
            <a:endParaRPr lang="en-GB" sz="1575">
              <a:solidFill>
                <a:srgbClr val="203344"/>
              </a:solidFill>
              <a:latin typeface="Arial" panose="020B0604020202020204" pitchFamily="34" charset="0"/>
            </a:endParaRPr>
          </a:p>
        </p:txBody>
      </p:sp>
      <p:sp>
        <p:nvSpPr>
          <p:cNvPr id="29" name="Arrow: Right 28">
            <a:extLst>
              <a:ext uri="{FF2B5EF4-FFF2-40B4-BE49-F238E27FC236}">
                <a16:creationId xmlns:a16="http://schemas.microsoft.com/office/drawing/2014/main" id="{D7385B42-C672-37F0-EA93-7736BBCDC002}"/>
              </a:ext>
            </a:extLst>
          </p:cNvPr>
          <p:cNvSpPr/>
          <p:nvPr/>
        </p:nvSpPr>
        <p:spPr>
          <a:xfrm>
            <a:off x="5791200" y="2540000"/>
            <a:ext cx="609600" cy="304800"/>
          </a:xfrm>
          <a:prstGeom prst="right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TextBox 29">
            <a:extLst>
              <a:ext uri="{FF2B5EF4-FFF2-40B4-BE49-F238E27FC236}">
                <a16:creationId xmlns:a16="http://schemas.microsoft.com/office/drawing/2014/main" id="{5E1B3776-88E2-3E55-98D8-03693B4B2752}"/>
              </a:ext>
            </a:extLst>
          </p:cNvPr>
          <p:cNvSpPr txBox="1"/>
          <p:nvPr/>
        </p:nvSpPr>
        <p:spPr>
          <a:xfrm>
            <a:off x="6731000" y="2082800"/>
            <a:ext cx="4673600" cy="369332"/>
          </a:xfrm>
          <a:prstGeom prst="rect">
            <a:avLst/>
          </a:prstGeom>
          <a:noFill/>
        </p:spPr>
        <p:txBody>
          <a:bodyPr vert="horz" wrap="square" rtlCol="0">
            <a:noAutofit/>
          </a:bodyPr>
          <a:lstStyle/>
          <a:p>
            <a:r>
              <a:rPr lang="en-GB" sz="2025" b="1">
                <a:solidFill>
                  <a:srgbClr val="003366"/>
                </a:solidFill>
                <a:latin typeface="Arial" panose="020B0604020202020204" pitchFamily="34" charset="0"/>
              </a:rPr>
              <a:t>QFT approssimata</a:t>
            </a:r>
          </a:p>
        </p:txBody>
      </p:sp>
      <p:sp>
        <p:nvSpPr>
          <p:cNvPr id="31" name="TextBox 30">
            <a:extLst>
              <a:ext uri="{FF2B5EF4-FFF2-40B4-BE49-F238E27FC236}">
                <a16:creationId xmlns:a16="http://schemas.microsoft.com/office/drawing/2014/main" id="{8F43277F-E401-37CE-EE39-DC997F9BEE96}"/>
              </a:ext>
            </a:extLst>
          </p:cNvPr>
          <p:cNvSpPr txBox="1"/>
          <p:nvPr/>
        </p:nvSpPr>
        <p:spPr>
          <a:xfrm>
            <a:off x="6731000" y="2489200"/>
            <a:ext cx="4673600" cy="369332"/>
          </a:xfrm>
          <a:prstGeom prst="rect">
            <a:avLst/>
          </a:prstGeom>
          <a:noFill/>
        </p:spPr>
        <p:txBody>
          <a:bodyPr vert="horz" wrap="square" rtlCol="0">
            <a:noAutofit/>
          </a:bodyPr>
          <a:lstStyle/>
          <a:p>
            <a:r>
              <a:rPr lang="it-IT" sz="1575">
                <a:solidFill>
                  <a:srgbClr val="203344"/>
                </a:solidFill>
                <a:latin typeface="Arial" panose="020B0604020202020204" pitchFamily="34" charset="0"/>
              </a:rPr>
              <a:t>tolgo le rotazioni più piccole; per N = 15 bastano quelle tra qubit vicini</a:t>
            </a:r>
            <a:endParaRPr lang="en-GB" sz="1575">
              <a:solidFill>
                <a:srgbClr val="203344"/>
              </a:solidFill>
              <a:latin typeface="Arial" panose="020B0604020202020204" pitchFamily="34" charset="0"/>
            </a:endParaRPr>
          </a:p>
        </p:txBody>
      </p:sp>
      <p:sp>
        <p:nvSpPr>
          <p:cNvPr id="32" name="Rectangle: Rounded Corners 31">
            <a:extLst>
              <a:ext uri="{FF2B5EF4-FFF2-40B4-BE49-F238E27FC236}">
                <a16:creationId xmlns:a16="http://schemas.microsoft.com/office/drawing/2014/main" id="{03BFD759-0FC9-8A52-32DE-7BD3B2BCFD97}"/>
              </a:ext>
            </a:extLst>
          </p:cNvPr>
          <p:cNvSpPr/>
          <p:nvPr/>
        </p:nvSpPr>
        <p:spPr>
          <a:xfrm>
            <a:off x="609600" y="3556000"/>
            <a:ext cx="10972800" cy="812800"/>
          </a:xfrm>
          <a:prstGeom prst="roundRect">
            <a:avLst>
              <a:gd name="adj" fmla="val 6000"/>
            </a:avLst>
          </a:prstGeom>
          <a:solidFill>
            <a:srgbClr val="FDF1E4"/>
          </a:solidFill>
          <a:ln w="19050">
            <a:solidFill>
              <a:srgbClr val="D982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TextBox 32">
            <a:extLst>
              <a:ext uri="{FF2B5EF4-FFF2-40B4-BE49-F238E27FC236}">
                <a16:creationId xmlns:a16="http://schemas.microsoft.com/office/drawing/2014/main" id="{413C35CB-ACBA-D28E-971E-1FB45EA81156}"/>
              </a:ext>
            </a:extLst>
          </p:cNvPr>
          <p:cNvSpPr txBox="1"/>
          <p:nvPr/>
        </p:nvSpPr>
        <p:spPr>
          <a:xfrm>
            <a:off x="787400" y="3606800"/>
            <a:ext cx="10617200" cy="369332"/>
          </a:xfrm>
          <a:prstGeom prst="rect">
            <a:avLst/>
          </a:prstGeom>
          <a:noFill/>
        </p:spPr>
        <p:txBody>
          <a:bodyPr vert="horz" wrap="square" rtlCol="0">
            <a:noAutofit/>
          </a:bodyPr>
          <a:lstStyle/>
          <a:p>
            <a:r>
              <a:rPr lang="it-IT" sz="1725" b="1">
                <a:solidFill>
                  <a:srgbClr val="B5641A"/>
                </a:solidFill>
                <a:latin typeface="Arial" panose="020B0604020202020204" pitchFamily="34" charset="0"/>
              </a:rPr>
              <a:t>Perché funziona</a:t>
            </a:r>
          </a:p>
          <a:p>
            <a:r>
              <a:rPr lang="it-IT" sz="1575">
                <a:solidFill>
                  <a:srgbClr val="203344"/>
                </a:solidFill>
                <a:latin typeface="Arial" panose="020B0604020202020204" pitchFamily="34" charset="0"/>
              </a:rPr>
              <a:t>Shor non ha bisogno della fase esatta: basta un valore abbastanza vicino perché il calcolo classico ritrovi il periodo.</a:t>
            </a:r>
            <a:endParaRPr lang="en-GB" sz="1575">
              <a:solidFill>
                <a:srgbClr val="203344"/>
              </a:solidFill>
              <a:latin typeface="Arial" panose="020B0604020202020204" pitchFamily="34" charset="0"/>
            </a:endParaRPr>
          </a:p>
        </p:txBody>
      </p:sp>
      <p:sp>
        <p:nvSpPr>
          <p:cNvPr id="34" name="Rectangle: Rounded Corners 33">
            <a:extLst>
              <a:ext uri="{FF2B5EF4-FFF2-40B4-BE49-F238E27FC236}">
                <a16:creationId xmlns:a16="http://schemas.microsoft.com/office/drawing/2014/main" id="{CA553507-CEF1-40FD-A606-FDC486F98C68}"/>
              </a:ext>
            </a:extLst>
          </p:cNvPr>
          <p:cNvSpPr/>
          <p:nvPr/>
        </p:nvSpPr>
        <p:spPr>
          <a:xfrm>
            <a:off x="609600" y="4521200"/>
            <a:ext cx="3429000" cy="9652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TextBox 34">
            <a:extLst>
              <a:ext uri="{FF2B5EF4-FFF2-40B4-BE49-F238E27FC236}">
                <a16:creationId xmlns:a16="http://schemas.microsoft.com/office/drawing/2014/main" id="{EBECDAA2-08BE-E059-2ECE-6596D3F633D6}"/>
              </a:ext>
            </a:extLst>
          </p:cNvPr>
          <p:cNvSpPr txBox="1"/>
          <p:nvPr/>
        </p:nvSpPr>
        <p:spPr>
          <a:xfrm>
            <a:off x="762000" y="4597400"/>
            <a:ext cx="3124200" cy="369332"/>
          </a:xfrm>
          <a:prstGeom prst="rect">
            <a:avLst/>
          </a:prstGeom>
          <a:noFill/>
        </p:spPr>
        <p:txBody>
          <a:bodyPr vert="horz" wrap="square" rtlCol="0">
            <a:noAutofit/>
          </a:bodyPr>
          <a:lstStyle/>
          <a:p>
            <a:r>
              <a:rPr lang="en-GB" sz="1725" b="1">
                <a:solidFill>
                  <a:srgbClr val="003366"/>
                </a:solidFill>
                <a:latin typeface="Arial" panose="020B0604020202020204" pitchFamily="34" charset="0"/>
              </a:rPr>
              <a:t>N = 15</a:t>
            </a:r>
          </a:p>
        </p:txBody>
      </p:sp>
      <p:sp>
        <p:nvSpPr>
          <p:cNvPr id="36" name="TextBox 35">
            <a:extLst>
              <a:ext uri="{FF2B5EF4-FFF2-40B4-BE49-F238E27FC236}">
                <a16:creationId xmlns:a16="http://schemas.microsoft.com/office/drawing/2014/main" id="{1F36D963-9E38-4E37-D144-3DAF38058D13}"/>
              </a:ext>
            </a:extLst>
          </p:cNvPr>
          <p:cNvSpPr txBox="1"/>
          <p:nvPr/>
        </p:nvSpPr>
        <p:spPr>
          <a:xfrm>
            <a:off x="762000" y="4978400"/>
            <a:ext cx="3124200" cy="369332"/>
          </a:xfrm>
          <a:prstGeom prst="rect">
            <a:avLst/>
          </a:prstGeom>
          <a:noFill/>
        </p:spPr>
        <p:txBody>
          <a:bodyPr vert="horz" wrap="square" rtlCol="0">
            <a:noAutofit/>
          </a:bodyPr>
          <a:lstStyle/>
          <a:p>
            <a:r>
              <a:rPr lang="en-GB" sz="1425">
                <a:solidFill>
                  <a:srgbClr val="203344"/>
                </a:solidFill>
                <a:latin typeface="Arial" panose="020B0604020202020204" pitchFamily="34" charset="0"/>
              </a:rPr>
              <a:t>QFT finale di Shor</a:t>
            </a:r>
          </a:p>
        </p:txBody>
      </p:sp>
      <p:sp>
        <p:nvSpPr>
          <p:cNvPr id="37" name="Rectangle: Rounded Corners 36">
            <a:extLst>
              <a:ext uri="{FF2B5EF4-FFF2-40B4-BE49-F238E27FC236}">
                <a16:creationId xmlns:a16="http://schemas.microsoft.com/office/drawing/2014/main" id="{FEA8EC40-EBE1-A508-E7A5-7753600D410D}"/>
              </a:ext>
            </a:extLst>
          </p:cNvPr>
          <p:cNvSpPr/>
          <p:nvPr/>
        </p:nvSpPr>
        <p:spPr>
          <a:xfrm>
            <a:off x="4381500" y="4521200"/>
            <a:ext cx="3429000" cy="9652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TextBox 37">
            <a:extLst>
              <a:ext uri="{FF2B5EF4-FFF2-40B4-BE49-F238E27FC236}">
                <a16:creationId xmlns:a16="http://schemas.microsoft.com/office/drawing/2014/main" id="{0BF72B91-2111-8551-D1D4-C5F9DA973716}"/>
              </a:ext>
            </a:extLst>
          </p:cNvPr>
          <p:cNvSpPr txBox="1"/>
          <p:nvPr/>
        </p:nvSpPr>
        <p:spPr>
          <a:xfrm>
            <a:off x="4533900" y="4597400"/>
            <a:ext cx="3124200" cy="369332"/>
          </a:xfrm>
          <a:prstGeom prst="rect">
            <a:avLst/>
          </a:prstGeom>
          <a:noFill/>
        </p:spPr>
        <p:txBody>
          <a:bodyPr vert="horz" wrap="square" rtlCol="0">
            <a:noAutofit/>
          </a:bodyPr>
          <a:lstStyle/>
          <a:p>
            <a:r>
              <a:rPr lang="en-GB" sz="1725" b="1">
                <a:solidFill>
                  <a:srgbClr val="003366"/>
                </a:solidFill>
                <a:latin typeface="Arial" panose="020B0604020202020204" pitchFamily="34" charset="0"/>
              </a:rPr>
              <a:t>N = 21</a:t>
            </a:r>
          </a:p>
        </p:txBody>
      </p:sp>
      <p:sp>
        <p:nvSpPr>
          <p:cNvPr id="39" name="TextBox 38">
            <a:extLst>
              <a:ext uri="{FF2B5EF4-FFF2-40B4-BE49-F238E27FC236}">
                <a16:creationId xmlns:a16="http://schemas.microsoft.com/office/drawing/2014/main" id="{7EF81A7D-9F96-01F4-85FC-8048116D2579}"/>
              </a:ext>
            </a:extLst>
          </p:cNvPr>
          <p:cNvSpPr txBox="1"/>
          <p:nvPr/>
        </p:nvSpPr>
        <p:spPr>
          <a:xfrm>
            <a:off x="4533900" y="4978400"/>
            <a:ext cx="3124200" cy="369332"/>
          </a:xfrm>
          <a:prstGeom prst="rect">
            <a:avLst/>
          </a:prstGeom>
          <a:noFill/>
        </p:spPr>
        <p:txBody>
          <a:bodyPr vert="horz" wrap="square" rtlCol="0">
            <a:noAutofit/>
          </a:bodyPr>
          <a:lstStyle/>
          <a:p>
            <a:r>
              <a:rPr lang="en-GB" sz="1425">
                <a:solidFill>
                  <a:srgbClr val="203344"/>
                </a:solidFill>
                <a:latin typeface="Arial" panose="020B0604020202020204" pitchFamily="34" charset="0"/>
              </a:rPr>
              <a:t>QFT dentro l'aritmetica modulare</a:t>
            </a:r>
          </a:p>
        </p:txBody>
      </p:sp>
      <p:sp>
        <p:nvSpPr>
          <p:cNvPr id="40" name="Rectangle: Rounded Corners 39">
            <a:extLst>
              <a:ext uri="{FF2B5EF4-FFF2-40B4-BE49-F238E27FC236}">
                <a16:creationId xmlns:a16="http://schemas.microsoft.com/office/drawing/2014/main" id="{402282E1-3BCE-89B1-37F7-AC59C0D67CC2}"/>
              </a:ext>
            </a:extLst>
          </p:cNvPr>
          <p:cNvSpPr/>
          <p:nvPr/>
        </p:nvSpPr>
        <p:spPr>
          <a:xfrm>
            <a:off x="8153400" y="4521200"/>
            <a:ext cx="3429000" cy="9652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TextBox 40">
            <a:extLst>
              <a:ext uri="{FF2B5EF4-FFF2-40B4-BE49-F238E27FC236}">
                <a16:creationId xmlns:a16="http://schemas.microsoft.com/office/drawing/2014/main" id="{E567FCEB-699E-E744-BC31-A3A44CFB6874}"/>
              </a:ext>
            </a:extLst>
          </p:cNvPr>
          <p:cNvSpPr txBox="1"/>
          <p:nvPr/>
        </p:nvSpPr>
        <p:spPr>
          <a:xfrm>
            <a:off x="8305800" y="4597400"/>
            <a:ext cx="3124200" cy="369332"/>
          </a:xfrm>
          <a:prstGeom prst="rect">
            <a:avLst/>
          </a:prstGeom>
          <a:noFill/>
        </p:spPr>
        <p:txBody>
          <a:bodyPr vert="horz" wrap="square" rtlCol="0">
            <a:noAutofit/>
          </a:bodyPr>
          <a:lstStyle/>
          <a:p>
            <a:r>
              <a:rPr lang="en-GB" sz="1725" b="1">
                <a:solidFill>
                  <a:srgbClr val="003366"/>
                </a:solidFill>
                <a:latin typeface="Arial" panose="020B0604020202020204" pitchFamily="34" charset="0"/>
              </a:rPr>
              <a:t>Stima di fase</a:t>
            </a:r>
          </a:p>
        </p:txBody>
      </p:sp>
      <p:sp>
        <p:nvSpPr>
          <p:cNvPr id="42" name="TextBox 41">
            <a:extLst>
              <a:ext uri="{FF2B5EF4-FFF2-40B4-BE49-F238E27FC236}">
                <a16:creationId xmlns:a16="http://schemas.microsoft.com/office/drawing/2014/main" id="{530C2E88-3EAA-8914-54A2-8F43E9C06BEF}"/>
              </a:ext>
            </a:extLst>
          </p:cNvPr>
          <p:cNvSpPr txBox="1"/>
          <p:nvPr/>
        </p:nvSpPr>
        <p:spPr>
          <a:xfrm>
            <a:off x="8305800" y="4978400"/>
            <a:ext cx="3124200" cy="369332"/>
          </a:xfrm>
          <a:prstGeom prst="rect">
            <a:avLst/>
          </a:prstGeom>
          <a:noFill/>
        </p:spPr>
        <p:txBody>
          <a:bodyPr vert="horz" wrap="square" rtlCol="0">
            <a:noAutofit/>
          </a:bodyPr>
          <a:lstStyle/>
          <a:p>
            <a:r>
              <a:rPr lang="it-IT" sz="1425">
                <a:solidFill>
                  <a:srgbClr val="203344"/>
                </a:solidFill>
                <a:latin typeface="Arial" panose="020B0604020202020204" pitchFamily="34" charset="0"/>
              </a:rPr>
              <a:t>test isolati, da 6 a 10 qubit</a:t>
            </a:r>
            <a:endParaRPr lang="en-GB" sz="1425">
              <a:solidFill>
                <a:srgbClr val="203344"/>
              </a:solidFill>
              <a:latin typeface="Arial" panose="020B0604020202020204" pitchFamily="34" charset="0"/>
            </a:endParaRPr>
          </a:p>
        </p:txBody>
      </p:sp>
      <p:sp>
        <p:nvSpPr>
          <p:cNvPr id="43" name="TextBox 42">
            <a:extLst>
              <a:ext uri="{FF2B5EF4-FFF2-40B4-BE49-F238E27FC236}">
                <a16:creationId xmlns:a16="http://schemas.microsoft.com/office/drawing/2014/main" id="{4CD43F7A-C369-C032-DFB0-39F88B6B42C6}"/>
              </a:ext>
            </a:extLst>
          </p:cNvPr>
          <p:cNvSpPr txBox="1"/>
          <p:nvPr/>
        </p:nvSpPr>
        <p:spPr>
          <a:xfrm>
            <a:off x="609600" y="5588000"/>
            <a:ext cx="10972800" cy="369332"/>
          </a:xfrm>
          <a:prstGeom prst="rect">
            <a:avLst/>
          </a:prstGeom>
          <a:noFill/>
        </p:spPr>
        <p:txBody>
          <a:bodyPr vert="horz" wrap="square" rtlCol="0">
            <a:noAutofit/>
          </a:bodyPr>
          <a:lstStyle/>
          <a:p>
            <a:r>
              <a:rPr lang="it-IT" sz="1275">
                <a:solidFill>
                  <a:srgbClr val="647487"/>
                </a:solidFill>
                <a:latin typeface="Arial" panose="020B0604020202020204" pitchFamily="34" charset="0"/>
              </a:rPr>
              <a:t>Rumore preso dalla calibrazione di un computer IBM (FakeSherbrooke). Il grado di approssimazione è scelto su metà dei dati e verificato sull'altra metà.</a:t>
            </a:r>
            <a:endParaRPr lang="en-GB" sz="1275">
              <a:solidFill>
                <a:srgbClr val="647487"/>
              </a:solidFill>
              <a:latin typeface="Arial" panose="020B0604020202020204" pitchFamily="34" charset="0"/>
            </a:endParaRPr>
          </a:p>
        </p:txBody>
      </p:sp>
      <p:sp>
        <p:nvSpPr>
          <p:cNvPr id="44" name="TextBox 43">
            <a:extLst>
              <a:ext uri="{FF2B5EF4-FFF2-40B4-BE49-F238E27FC236}">
                <a16:creationId xmlns:a16="http://schemas.microsoft.com/office/drawing/2014/main" id="{9A9E8929-75B6-6913-46FA-CDC4A629F0C9}"/>
              </a:ext>
            </a:extLst>
          </p:cNvPr>
          <p:cNvSpPr txBox="1"/>
          <p:nvPr/>
        </p:nvSpPr>
        <p:spPr>
          <a:xfrm>
            <a:off x="609600" y="6197600"/>
            <a:ext cx="10972800" cy="369332"/>
          </a:xfrm>
          <a:prstGeom prst="rect">
            <a:avLst/>
          </a:prstGeom>
          <a:noFill/>
        </p:spPr>
        <p:txBody>
          <a:bodyPr vert="horz" wrap="square" rtlCol="0">
            <a:noAutofit/>
          </a:bodyPr>
          <a:lstStyle/>
          <a:p>
            <a:r>
              <a:rPr lang="it-IT" sz="1950" b="1" dirty="0">
                <a:solidFill>
                  <a:srgbClr val="175F99"/>
                </a:solidFill>
                <a:latin typeface="Arial" panose="020B0604020202020204" pitchFamily="34" charset="0"/>
              </a:rPr>
              <a:t>Meno rotazioni = meno porte e meno rumore, al prezzo di un po' di precisione.</a:t>
            </a:r>
            <a:endParaRPr lang="en-GB" sz="1950" b="1" dirty="0">
              <a:solidFill>
                <a:srgbClr val="175F99"/>
              </a:solidFill>
              <a:latin typeface="Arial" panose="020B0604020202020204" pitchFamily="34" charset="0"/>
            </a:endParaRPr>
          </a:p>
        </p:txBody>
      </p:sp>
    </p:spTree>
    <p:extLst>
      <p:ext uri="{BB962C8B-B14F-4D97-AF65-F5344CB8AC3E}">
        <p14:creationId xmlns:p14="http://schemas.microsoft.com/office/powerpoint/2010/main" val="4965989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9" name="Picture 18" descr="v2_s18_aqft_n15_holdout.png"/>
          <p:cNvPicPr>
            <a:picLocks noChangeAspect="1"/>
          </p:cNvPicPr>
          <p:nvPr/>
        </p:nvPicPr>
        <p:blipFill>
          <a:blip r:embed="rId3"/>
          <a:stretch>
            <a:fillRect/>
          </a:stretch>
        </p:blipFill>
        <p:spPr>
          <a:xfrm>
            <a:off x="609600" y="1428750"/>
            <a:ext cx="6499474" cy="4095750"/>
          </a:xfrm>
          <a:prstGeom prst="rect">
            <a:avLst/>
          </a:prstGeom>
        </p:spPr>
      </p:pic>
      <p:sp>
        <p:nvSpPr>
          <p:cNvPr id="11" name="Rectangle 10">
            <a:extLst>
              <a:ext uri="{FF2B5EF4-FFF2-40B4-BE49-F238E27FC236}">
                <a16:creationId xmlns:a16="http://schemas.microsoft.com/office/drawing/2014/main" id="{8A715D2C-BFF8-4F44-9B9C-E1B9D835B317}"/>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Strategia 3: risultati AQFT su N = 15</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4"/>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EA2291F3-B2FD-49F3-B6D2-121D3BDBF3CD}"/>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42F908A8-B2EF-405D-A77D-5756ADD4C77A}"/>
              </a:ext>
            </a:extLst>
          </p:cNvPr>
          <p:cNvSpPr>
            <a:spLocks noGrp="1"/>
          </p:cNvSpPr>
          <p:nvPr/>
        </p:nvSpPr>
        <p:spPr>
          <a:xfrm>
            <a:off x="7477125" y="828675"/>
            <a:ext cx="3228975" cy="219075"/>
          </a:xfrm>
          <a:prstGeom prst="rect">
            <a:avLst/>
          </a:prstGeom>
          <a:noFill/>
          <a:ln w="0">
            <a:noFill/>
          </a:ln>
        </p:spPr>
        <p:txBody>
          <a:bodyPr rIns="0" anchor="ctr">
            <a:noAutofit/>
          </a:bodyPr>
          <a:lstStyle/>
          <a:p>
            <a:pPr algn="r">
              <a:defRPr sz="1200" b="0">
                <a:solidFill>
                  <a:srgbClr val="203344"/>
                </a:solidFill>
                <a:latin typeface="Arial"/>
                <a:ea typeface="Arial"/>
                <a:cs typeface="Arial"/>
              </a:defRPr>
            </a:pPr>
            <a:r>
              <a:rPr lang="it-IT" sz="1050" b="0">
                <a:solidFill>
                  <a:srgbClr val="203344"/>
                </a:solidFill>
                <a:latin typeface="Arial"/>
                <a:ea typeface="Arial"/>
                <a:cs typeface="Arial"/>
              </a:rPr>
              <a:t>Strategia 3 · QFT approssimata | 12</a:t>
            </a:r>
            <a:endParaRPr sz="1050" b="0">
              <a:solidFill>
                <a:srgbClr val="203344"/>
              </a:solidFill>
              <a:latin typeface="Arial"/>
              <a:ea typeface="Arial"/>
              <a:cs typeface="Arial"/>
            </a:endParaRPr>
          </a:p>
        </p:txBody>
      </p:sp>
      <p:sp>
        <p:nvSpPr>
          <p:cNvPr id="6" name="Rectangle 5">
            <a:extLst>
              <a:ext uri="{FF2B5EF4-FFF2-40B4-BE49-F238E27FC236}">
                <a16:creationId xmlns:a16="http://schemas.microsoft.com/office/drawing/2014/main" id="{68AFD0C9-328E-4D63-A4D9-E371C130FD82}"/>
              </a:ext>
            </a:extLst>
          </p:cNvPr>
          <p:cNvSpPr>
            <a:spLocks noGrp="1"/>
          </p:cNvSpPr>
          <p:nvPr/>
        </p:nvSpPr>
        <p:spPr>
          <a:xfrm>
            <a:off x="7810500" y="1609725"/>
            <a:ext cx="3771900" cy="800100"/>
          </a:xfrm>
          <a:prstGeom prst="rect">
            <a:avLst/>
          </a:prstGeom>
          <a:noFill/>
          <a:ln w="0">
            <a:noFill/>
          </a:ln>
        </p:spPr>
        <p:txBody>
          <a:bodyPr>
            <a:noAutofit/>
          </a:bodyPr>
          <a:lstStyle/>
          <a:p>
            <a:pPr>
              <a:defRPr sz="4725" b="1">
                <a:solidFill>
                  <a:srgbClr val="175F99"/>
                </a:solidFill>
                <a:latin typeface="Arial"/>
                <a:ea typeface="Arial"/>
                <a:cs typeface="Arial"/>
              </a:defRPr>
            </a:pPr>
            <a:r>
              <a:rPr sz="4725" b="1">
                <a:solidFill>
                  <a:srgbClr val="B5641A"/>
                </a:solidFill>
                <a:latin typeface="Arial"/>
                <a:ea typeface="Arial"/>
                <a:cs typeface="Arial"/>
              </a:rPr>
              <a:t>+14,87</a:t>
            </a:r>
          </a:p>
        </p:txBody>
      </p:sp>
      <p:sp>
        <p:nvSpPr>
          <p:cNvPr id="7" name="Rectangle 6">
            <a:extLst>
              <a:ext uri="{FF2B5EF4-FFF2-40B4-BE49-F238E27FC236}">
                <a16:creationId xmlns:a16="http://schemas.microsoft.com/office/drawing/2014/main" id="{A3C5E1FC-DBD5-48E4-A049-97253916A7E3}"/>
              </a:ext>
            </a:extLst>
          </p:cNvPr>
          <p:cNvSpPr>
            <a:spLocks noGrp="1"/>
          </p:cNvSpPr>
          <p:nvPr/>
        </p:nvSpPr>
        <p:spPr>
          <a:xfrm>
            <a:off x="7810500" y="2447925"/>
            <a:ext cx="3771900" cy="1095375"/>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Punti percentuali di successo</a:t>
            </a:r>
          </a:p>
          <a:p>
            <a:pPr>
              <a:defRPr sz="2025" b="0">
                <a:solidFill>
                  <a:srgbClr val="203344"/>
                </a:solidFill>
                <a:latin typeface="Arial"/>
                <a:ea typeface="Arial"/>
                <a:cs typeface="Arial"/>
              </a:defRPr>
            </a:pPr>
            <a:r>
              <a:rPr sz="2025" b="0">
                <a:solidFill>
                  <a:srgbClr val="203344"/>
                </a:solidFill>
                <a:latin typeface="Arial"/>
                <a:ea typeface="Arial"/>
                <a:cs typeface="Arial"/>
              </a:rPr>
              <a:t>su dati di verifica</a:t>
            </a:r>
          </a:p>
          <a:p>
            <a:r>
              <a:rPr sz="1600">
                <a:solidFill>
                  <a:srgbClr val="5B6573"/>
                </a:solidFill>
              </a:rPr>
              <a:t>IC 95%: da +12,7 a +17,0</a:t>
            </a:r>
          </a:p>
        </p:txBody>
      </p:sp>
      <p:graphicFrame>
        <p:nvGraphicFramePr>
          <p:cNvPr id="18" name="Table 17"/>
          <p:cNvGraphicFramePr/>
          <p:nvPr/>
        </p:nvGraphicFramePr>
        <p:xfrm>
          <a:off x="7810500" y="3629025"/>
          <a:ext cx="3771900" cy="2182178"/>
        </p:xfrm>
        <a:graphic>
          <a:graphicData uri="http://schemas.openxmlformats.org/drawingml/2006/table">
            <a:tbl>
              <a:tblPr/>
              <a:tblGrid>
                <a:gridCol w="1508760">
                  <a:extLst>
                    <a:ext uri="{9D8B030D-6E8A-4147-A177-3AD203B41FA5}">
                      <a16:colId xmlns:a16="http://schemas.microsoft.com/office/drawing/2014/main" val="20000"/>
                    </a:ext>
                  </a:extLst>
                </a:gridCol>
                <a:gridCol w="1131570">
                  <a:extLst>
                    <a:ext uri="{9D8B030D-6E8A-4147-A177-3AD203B41FA5}">
                      <a16:colId xmlns:a16="http://schemas.microsoft.com/office/drawing/2014/main" val="20001"/>
                    </a:ext>
                  </a:extLst>
                </a:gridCol>
                <a:gridCol w="1131570">
                  <a:extLst>
                    <a:ext uri="{9D8B030D-6E8A-4147-A177-3AD203B41FA5}">
                      <a16:colId xmlns:a16="http://schemas.microsoft.com/office/drawing/2014/main" val="20002"/>
                    </a:ext>
                  </a:extLst>
                </a:gridCol>
              </a:tblGrid>
              <a:tr h="473869">
                <a:tc>
                  <a:txBody>
                    <a:bodyPr/>
                    <a:lstStyle/>
                    <a:p>
                      <a:endParaRPr/>
                    </a:p>
                  </a:txBody>
                  <a:tcPr>
                    <a:solidFill>
                      <a:srgbClr val="175F99"/>
                    </a:solidFill>
                  </a:tcPr>
                </a:tc>
                <a:tc>
                  <a:txBody>
                    <a:bodyPr/>
                    <a:lstStyle/>
                    <a:p>
                      <a:r>
                        <a:rPr sz="1725" b="1">
                          <a:solidFill>
                            <a:srgbClr val="FFFFFF"/>
                          </a:solidFill>
                          <a:latin typeface="Arial"/>
                          <a:ea typeface="Arial"/>
                          <a:cs typeface="Arial"/>
                        </a:rPr>
                        <a:t>QFT piena</a:t>
                      </a:r>
                    </a:p>
                  </a:txBody>
                  <a:tcPr>
                    <a:solidFill>
                      <a:srgbClr val="175F99"/>
                    </a:solidFill>
                  </a:tcPr>
                </a:tc>
                <a:tc>
                  <a:txBody>
                    <a:bodyPr/>
                    <a:lstStyle/>
                    <a:p>
                      <a:r>
                        <a:rPr sz="1725" b="1">
                          <a:solidFill>
                            <a:srgbClr val="FFFFFF"/>
                          </a:solidFill>
                          <a:latin typeface="Arial"/>
                          <a:ea typeface="Arial"/>
                          <a:cs typeface="Arial"/>
                        </a:rPr>
                        <a:t>AQFT</a:t>
                      </a:r>
                    </a:p>
                  </a:txBody>
                  <a:tcPr>
                    <a:solidFill>
                      <a:srgbClr val="175F99"/>
                    </a:solidFill>
                  </a:tcPr>
                </a:tc>
                <a:extLst>
                  <a:ext uri="{0D108BD9-81ED-4DB2-BD59-A6C34878D82A}">
                    <a16:rowId xmlns:a16="http://schemas.microsoft.com/office/drawing/2014/main" val="10000"/>
                  </a:ext>
                </a:extLst>
              </a:tr>
              <a:tr h="473869">
                <a:tc>
                  <a:txBody>
                    <a:bodyPr/>
                    <a:lstStyle/>
                    <a:p>
                      <a:r>
                        <a:rPr sz="1725" b="0">
                          <a:solidFill>
                            <a:srgbClr val="203344"/>
                          </a:solidFill>
                          <a:latin typeface="Arial"/>
                          <a:ea typeface="Arial"/>
                          <a:cs typeface="Arial"/>
                        </a:rPr>
                        <a:t>Successo</a:t>
                      </a:r>
                    </a:p>
                  </a:txBody>
                  <a:tcPr>
                    <a:solidFill>
                      <a:srgbClr val="EEF4F8"/>
                    </a:solidFill>
                  </a:tcPr>
                </a:tc>
                <a:tc>
                  <a:txBody>
                    <a:bodyPr/>
                    <a:lstStyle/>
                    <a:p>
                      <a:r>
                        <a:rPr sz="1725" b="0">
                          <a:solidFill>
                            <a:srgbClr val="203344"/>
                          </a:solidFill>
                          <a:latin typeface="Arial"/>
                          <a:ea typeface="Arial"/>
                          <a:cs typeface="Arial"/>
                        </a:rPr>
                        <a:t>47,92%</a:t>
                      </a:r>
                    </a:p>
                  </a:txBody>
                  <a:tcPr>
                    <a:solidFill>
                      <a:srgbClr val="EEF4F8"/>
                    </a:solidFill>
                  </a:tcPr>
                </a:tc>
                <a:tc>
                  <a:txBody>
                    <a:bodyPr/>
                    <a:lstStyle/>
                    <a:p>
                      <a:r>
                        <a:rPr sz="1725" b="0">
                          <a:solidFill>
                            <a:srgbClr val="203344"/>
                          </a:solidFill>
                          <a:latin typeface="Arial"/>
                          <a:ea typeface="Arial"/>
                          <a:cs typeface="Arial"/>
                        </a:rPr>
                        <a:t>62,79%</a:t>
                      </a:r>
                    </a:p>
                  </a:txBody>
                  <a:tcPr>
                    <a:solidFill>
                      <a:srgbClr val="EEF4F8"/>
                    </a:solidFill>
                  </a:tcPr>
                </a:tc>
                <a:extLst>
                  <a:ext uri="{0D108BD9-81ED-4DB2-BD59-A6C34878D82A}">
                    <a16:rowId xmlns:a16="http://schemas.microsoft.com/office/drawing/2014/main" val="10001"/>
                  </a:ext>
                </a:extLst>
              </a:tr>
              <a:tr h="473869">
                <a:tc>
                  <a:txBody>
                    <a:bodyPr/>
                    <a:lstStyle/>
                    <a:p>
                      <a:r>
                        <a:rPr sz="1725" b="0">
                          <a:solidFill>
                            <a:srgbClr val="203344"/>
                          </a:solidFill>
                          <a:latin typeface="Arial"/>
                          <a:ea typeface="Arial"/>
                          <a:cs typeface="Arial"/>
                        </a:rPr>
                        <a:t>Porte a 2 qubit (ECR)</a:t>
                      </a:r>
                    </a:p>
                  </a:txBody>
                  <a:tcPr>
                    <a:solidFill>
                      <a:srgbClr val="FFFFFF"/>
                    </a:solidFill>
                  </a:tcPr>
                </a:tc>
                <a:tc>
                  <a:txBody>
                    <a:bodyPr/>
                    <a:lstStyle/>
                    <a:p>
                      <a:r>
                        <a:rPr sz="1725" b="0">
                          <a:solidFill>
                            <a:srgbClr val="203344"/>
                          </a:solidFill>
                          <a:latin typeface="Arial"/>
                          <a:ea typeface="Arial"/>
                          <a:cs typeface="Arial"/>
                        </a:rPr>
                        <a:t>362</a:t>
                      </a:r>
                    </a:p>
                  </a:txBody>
                  <a:tcPr>
                    <a:solidFill>
                      <a:srgbClr val="FFFFFF"/>
                    </a:solidFill>
                  </a:tcPr>
                </a:tc>
                <a:tc>
                  <a:txBody>
                    <a:bodyPr/>
                    <a:lstStyle/>
                    <a:p>
                      <a:r>
                        <a:rPr sz="1725" b="0">
                          <a:solidFill>
                            <a:srgbClr val="203344"/>
                          </a:solidFill>
                          <a:latin typeface="Arial"/>
                          <a:ea typeface="Arial"/>
                          <a:cs typeface="Arial"/>
                        </a:rPr>
                        <a:t>279</a:t>
                      </a:r>
                    </a:p>
                  </a:txBody>
                  <a:tcPr>
                    <a:solidFill>
                      <a:srgbClr val="FFFFFF"/>
                    </a:solidFill>
                  </a:tcPr>
                </a:tc>
                <a:extLst>
                  <a:ext uri="{0D108BD9-81ED-4DB2-BD59-A6C34878D82A}">
                    <a16:rowId xmlns:a16="http://schemas.microsoft.com/office/drawing/2014/main" val="10002"/>
                  </a:ext>
                </a:extLst>
              </a:tr>
              <a:tr h="473869">
                <a:tc>
                  <a:txBody>
                    <a:bodyPr/>
                    <a:lstStyle/>
                    <a:p>
                      <a:r>
                        <a:rPr sz="1725" b="0">
                          <a:solidFill>
                            <a:srgbClr val="203344"/>
                          </a:solidFill>
                          <a:latin typeface="Arial"/>
                          <a:ea typeface="Arial"/>
                          <a:cs typeface="Arial"/>
                        </a:rPr>
                        <a:t>Profondità</a:t>
                      </a:r>
                    </a:p>
                  </a:txBody>
                  <a:tcPr>
                    <a:solidFill>
                      <a:srgbClr val="EEF4F8"/>
                    </a:solidFill>
                  </a:tcPr>
                </a:tc>
                <a:tc>
                  <a:txBody>
                    <a:bodyPr/>
                    <a:lstStyle/>
                    <a:p>
                      <a:r>
                        <a:rPr sz="1725" b="0">
                          <a:solidFill>
                            <a:srgbClr val="203344"/>
                          </a:solidFill>
                          <a:latin typeface="Arial"/>
                          <a:ea typeface="Arial"/>
                          <a:cs typeface="Arial"/>
                        </a:rPr>
                        <a:t>1351</a:t>
                      </a:r>
                    </a:p>
                  </a:txBody>
                  <a:tcPr>
                    <a:solidFill>
                      <a:srgbClr val="EEF4F8"/>
                    </a:solidFill>
                  </a:tcPr>
                </a:tc>
                <a:tc>
                  <a:txBody>
                    <a:bodyPr/>
                    <a:lstStyle/>
                    <a:p>
                      <a:r>
                        <a:rPr sz="1725" b="0">
                          <a:solidFill>
                            <a:srgbClr val="203344"/>
                          </a:solidFill>
                          <a:latin typeface="Arial"/>
                          <a:ea typeface="Arial"/>
                          <a:cs typeface="Arial"/>
                        </a:rPr>
                        <a:t>1141</a:t>
                      </a:r>
                    </a:p>
                  </a:txBody>
                  <a:tcPr>
                    <a:solidFill>
                      <a:srgbClr val="EEF4F8"/>
                    </a:solidFill>
                  </a:tcPr>
                </a:tc>
                <a:extLst>
                  <a:ext uri="{0D108BD9-81ED-4DB2-BD59-A6C34878D82A}">
                    <a16:rowId xmlns:a16="http://schemas.microsoft.com/office/drawing/2014/main" val="10003"/>
                  </a:ext>
                </a:extLst>
              </a:tr>
            </a:tbl>
          </a:graphicData>
        </a:graphic>
      </p:graphicFrame>
      <p:sp>
        <p:nvSpPr>
          <p:cNvPr id="10" name="Rectangle 9">
            <a:extLst>
              <a:ext uri="{FF2B5EF4-FFF2-40B4-BE49-F238E27FC236}">
                <a16:creationId xmlns:a16="http://schemas.microsoft.com/office/drawing/2014/main" id="{CD681458-516B-464A-8A55-982CD3E3B7A1}"/>
              </a:ext>
            </a:extLst>
          </p:cNvPr>
          <p:cNvSpPr>
            <a:spLocks noGrp="1"/>
          </p:cNvSpPr>
          <p:nvPr/>
        </p:nvSpPr>
        <p:spPr>
          <a:xfrm>
            <a:off x="609600" y="6296025"/>
            <a:ext cx="10972800" cy="409575"/>
          </a:xfrm>
          <a:prstGeom prst="rect">
            <a:avLst/>
          </a:prstGeom>
          <a:noFill/>
          <a:ln w="0">
            <a:noFill/>
          </a:ln>
        </p:spPr>
        <p:txBody>
          <a:bodyPr>
            <a:noAutofit/>
          </a:bodyPr>
          <a:lstStyle/>
          <a:p>
            <a:pPr>
              <a:defRPr sz="2025" b="1">
                <a:solidFill>
                  <a:srgbClr val="175F99"/>
                </a:solidFill>
                <a:latin typeface="Arial"/>
                <a:ea typeface="Arial"/>
                <a:cs typeface="Arial"/>
              </a:defRPr>
            </a:pPr>
            <a:r>
              <a:rPr lang="it-IT" b="1">
                <a:solidFill>
                  <a:srgbClr val="175F99"/>
                </a:solidFill>
                <a:latin typeface="Arial"/>
                <a:ea typeface="Arial"/>
                <a:cs typeface="Arial"/>
              </a:rPr>
              <a:t>Su N = 15: più successo con il 22,9% di porte in meno; caso favorevole.</a:t>
            </a:r>
            <a:endParaRPr b="1">
              <a:solidFill>
                <a:srgbClr val="175F99"/>
              </a:solidFill>
              <a:latin typeface="Arial"/>
              <a:ea typeface="Arial"/>
              <a:cs typeface="Arial"/>
            </a:endParaRPr>
          </a:p>
        </p:txBody>
      </p:sp>
    </p:spTree>
    <p:extLst>
      <p:ext uri="{BB962C8B-B14F-4D97-AF65-F5344CB8AC3E}">
        <p14:creationId xmlns:p14="http://schemas.microsoft.com/office/powerpoint/2010/main" val="33302314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9" name="Picture 18" descr="v2_s18_aqft_n15_holdout.png"/>
          <p:cNvPicPr>
            <a:picLocks noChangeAspect="1"/>
          </p:cNvPicPr>
          <p:nvPr/>
        </p:nvPicPr>
        <p:blipFill>
          <a:blip r:embed="rId3"/>
          <a:stretch>
            <a:fillRect/>
          </a:stretch>
        </p:blipFill>
        <p:spPr>
          <a:xfrm>
            <a:off x="6477000" y="2667001"/>
            <a:ext cx="5105524" cy="3217329"/>
          </a:xfrm>
          <a:prstGeom prst="rect">
            <a:avLst/>
          </a:prstGeom>
        </p:spPr>
      </p:pic>
      <p:sp>
        <p:nvSpPr>
          <p:cNvPr id="11" name="Rectangle 10">
            <a:extLst>
              <a:ext uri="{FF2B5EF4-FFF2-40B4-BE49-F238E27FC236}">
                <a16:creationId xmlns:a16="http://schemas.microsoft.com/office/drawing/2014/main" id="{8A715D2C-BFF8-4F44-9B9C-E1B9D835B317}"/>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Strategia 3: QFT approssimata e risultati</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4"/>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EA2291F3-B2FD-49F3-B6D2-121D3BDBF3CD}"/>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42F908A8-B2EF-405D-A77D-5756ADD4C77A}"/>
              </a:ext>
            </a:extLst>
          </p:cNvPr>
          <p:cNvSpPr>
            <a:spLocks noGrp="1"/>
          </p:cNvSpPr>
          <p:nvPr/>
        </p:nvSpPr>
        <p:spPr>
          <a:xfrm>
            <a:off x="7477125" y="828675"/>
            <a:ext cx="3228975" cy="219075"/>
          </a:xfrm>
          <a:prstGeom prst="rect">
            <a:avLst/>
          </a:prstGeom>
          <a:noFill/>
          <a:ln w="0">
            <a:noFill/>
          </a:ln>
        </p:spPr>
        <p:txBody>
          <a:bodyPr rIns="0" anchor="ctr">
            <a:noAutofit/>
          </a:bodyPr>
          <a:lstStyle/>
          <a:p>
            <a:pPr algn="r">
              <a:defRPr sz="1200" b="0">
                <a:solidFill>
                  <a:srgbClr val="203344"/>
                </a:solidFill>
                <a:latin typeface="Arial"/>
                <a:ea typeface="Arial"/>
                <a:cs typeface="Arial"/>
              </a:defRPr>
            </a:pPr>
            <a:r>
              <a:rPr lang="it-IT" sz="1050" b="0">
                <a:solidFill>
                  <a:srgbClr val="203344"/>
                </a:solidFill>
                <a:latin typeface="Arial"/>
                <a:ea typeface="Arial"/>
                <a:cs typeface="Arial"/>
              </a:rPr>
              <a:t>Strategia 3 · QFT approssimata | 13</a:t>
            </a:r>
            <a:endParaRPr sz="1050" b="0">
              <a:solidFill>
                <a:srgbClr val="203344"/>
              </a:solidFill>
              <a:latin typeface="Arial"/>
              <a:ea typeface="Arial"/>
              <a:cs typeface="Arial"/>
            </a:endParaRPr>
          </a:p>
        </p:txBody>
      </p:sp>
      <p:sp>
        <p:nvSpPr>
          <p:cNvPr id="2" name="TextBox 1">
            <a:extLst>
              <a:ext uri="{FF2B5EF4-FFF2-40B4-BE49-F238E27FC236}">
                <a16:creationId xmlns:a16="http://schemas.microsoft.com/office/drawing/2014/main" id="{94ABD03E-3EFB-95D9-121E-1C5DB7053792}"/>
              </a:ext>
            </a:extLst>
          </p:cNvPr>
          <p:cNvSpPr txBox="1"/>
          <p:nvPr/>
        </p:nvSpPr>
        <p:spPr>
          <a:xfrm>
            <a:off x="609600" y="1485900"/>
            <a:ext cx="5257800" cy="276999"/>
          </a:xfrm>
          <a:prstGeom prst="rect">
            <a:avLst/>
          </a:prstGeom>
          <a:noFill/>
        </p:spPr>
        <p:txBody>
          <a:bodyPr vert="horz" wrap="square" lIns="0" tIns="0" rIns="0" bIns="0" rtlCol="0">
            <a:noAutofit/>
          </a:bodyPr>
          <a:lstStyle/>
          <a:p>
            <a:r>
              <a:rPr lang="en-GB" sz="2200" b="1">
                <a:solidFill>
                  <a:srgbClr val="003366"/>
                </a:solidFill>
                <a:latin typeface="Arial" panose="020B0604020202020204" pitchFamily="34" charset="0"/>
              </a:rPr>
              <a:t>Come intervengo</a:t>
            </a:r>
          </a:p>
        </p:txBody>
      </p:sp>
      <p:sp>
        <p:nvSpPr>
          <p:cNvPr id="5" name="TextBox 4">
            <a:extLst>
              <a:ext uri="{FF2B5EF4-FFF2-40B4-BE49-F238E27FC236}">
                <a16:creationId xmlns:a16="http://schemas.microsoft.com/office/drawing/2014/main" id="{0990A77E-E589-39E0-206D-07FB075AC84E}"/>
              </a:ext>
            </a:extLst>
          </p:cNvPr>
          <p:cNvSpPr txBox="1"/>
          <p:nvPr/>
        </p:nvSpPr>
        <p:spPr>
          <a:xfrm>
            <a:off x="609600" y="1968500"/>
            <a:ext cx="5257800" cy="276999"/>
          </a:xfrm>
          <a:prstGeom prst="rect">
            <a:avLst/>
          </a:prstGeom>
          <a:noFill/>
        </p:spPr>
        <p:txBody>
          <a:bodyPr vert="horz" wrap="square" lIns="0" tIns="0" rIns="0" bIns="0" rtlCol="0">
            <a:noAutofit/>
          </a:bodyPr>
          <a:lstStyle/>
          <a:p>
            <a:r>
              <a:rPr lang="it-IT">
                <a:solidFill>
                  <a:srgbClr val="23374A"/>
                </a:solidFill>
                <a:latin typeface="Arial" panose="020B0604020202020204" pitchFamily="34" charset="0"/>
              </a:rPr>
              <a:t>Tolgo le rotazioni di piccolo angolo della QFT: meno operazioni esposte al rumore, al prezzo di precisione.</a:t>
            </a:r>
            <a:endParaRPr lang="en-GB">
              <a:solidFill>
                <a:srgbClr val="23374A"/>
              </a:solidFill>
              <a:latin typeface="Arial" panose="020B0604020202020204" pitchFamily="34" charset="0"/>
            </a:endParaRPr>
          </a:p>
        </p:txBody>
      </p:sp>
      <p:sp>
        <p:nvSpPr>
          <p:cNvPr id="8" name="TextBox 7">
            <a:extLst>
              <a:ext uri="{FF2B5EF4-FFF2-40B4-BE49-F238E27FC236}">
                <a16:creationId xmlns:a16="http://schemas.microsoft.com/office/drawing/2014/main" id="{7229CAC4-8A94-36E1-8843-75BEDF51123D}"/>
              </a:ext>
            </a:extLst>
          </p:cNvPr>
          <p:cNvSpPr txBox="1"/>
          <p:nvPr/>
        </p:nvSpPr>
        <p:spPr>
          <a:xfrm>
            <a:off x="609600" y="2984500"/>
            <a:ext cx="5257800" cy="276999"/>
          </a:xfrm>
          <a:prstGeom prst="rect">
            <a:avLst/>
          </a:prstGeom>
          <a:noFill/>
        </p:spPr>
        <p:txBody>
          <a:bodyPr vert="horz" wrap="square" lIns="0" tIns="0" rIns="0" bIns="0" rtlCol="0">
            <a:noAutofit/>
          </a:bodyPr>
          <a:lstStyle/>
          <a:p>
            <a:r>
              <a:rPr lang="en-GB" sz="2000" b="1">
                <a:solidFill>
                  <a:srgbClr val="003366"/>
                </a:solidFill>
                <a:latin typeface="Arial" panose="020B0604020202020204" pitchFamily="34" charset="0"/>
              </a:rPr>
              <a:t>Perché può funzionare</a:t>
            </a:r>
          </a:p>
        </p:txBody>
      </p:sp>
      <p:sp>
        <p:nvSpPr>
          <p:cNvPr id="9" name="TextBox 8">
            <a:extLst>
              <a:ext uri="{FF2B5EF4-FFF2-40B4-BE49-F238E27FC236}">
                <a16:creationId xmlns:a16="http://schemas.microsoft.com/office/drawing/2014/main" id="{1F2E6282-46A1-3E87-6DD6-11769999615A}"/>
              </a:ext>
            </a:extLst>
          </p:cNvPr>
          <p:cNvSpPr txBox="1"/>
          <p:nvPr/>
        </p:nvSpPr>
        <p:spPr>
          <a:xfrm>
            <a:off x="609600" y="3441700"/>
            <a:ext cx="5257800" cy="276999"/>
          </a:xfrm>
          <a:prstGeom prst="rect">
            <a:avLst/>
          </a:prstGeom>
          <a:noFill/>
        </p:spPr>
        <p:txBody>
          <a:bodyPr vert="horz" wrap="square" lIns="0" tIns="0" rIns="0" bIns="0" rtlCol="0">
            <a:noAutofit/>
          </a:bodyPr>
          <a:lstStyle/>
          <a:p>
            <a:r>
              <a:rPr lang="it-IT" sz="1700">
                <a:solidFill>
                  <a:srgbClr val="23374A"/>
                </a:solidFill>
                <a:latin typeface="Arial" panose="020B0604020202020204" pitchFamily="34" charset="0"/>
              </a:rPr>
              <a:t>Per ricostruire il periodo basta una stima di fase sufficientemente precisa.</a:t>
            </a:r>
            <a:endParaRPr lang="en-GB" sz="1700">
              <a:solidFill>
                <a:srgbClr val="23374A"/>
              </a:solidFill>
              <a:latin typeface="Arial" panose="020B0604020202020204" pitchFamily="34" charset="0"/>
            </a:endParaRPr>
          </a:p>
        </p:txBody>
      </p:sp>
      <p:sp>
        <p:nvSpPr>
          <p:cNvPr id="13" name="TextBox 12">
            <a:extLst>
              <a:ext uri="{FF2B5EF4-FFF2-40B4-BE49-F238E27FC236}">
                <a16:creationId xmlns:a16="http://schemas.microsoft.com/office/drawing/2014/main" id="{B8FD37BA-8A7A-4759-6AE8-99710AB08499}"/>
              </a:ext>
            </a:extLst>
          </p:cNvPr>
          <p:cNvSpPr txBox="1"/>
          <p:nvPr/>
        </p:nvSpPr>
        <p:spPr>
          <a:xfrm>
            <a:off x="609600" y="4140200"/>
            <a:ext cx="5257800" cy="276999"/>
          </a:xfrm>
          <a:prstGeom prst="rect">
            <a:avLst/>
          </a:prstGeom>
          <a:noFill/>
        </p:spPr>
        <p:txBody>
          <a:bodyPr vert="horz" wrap="square" lIns="0" tIns="0" rIns="0" bIns="0" rtlCol="0">
            <a:noAutofit/>
          </a:bodyPr>
          <a:lstStyle/>
          <a:p>
            <a:r>
              <a:rPr lang="it-IT" sz="1400">
                <a:solidFill>
                  <a:srgbClr val="677586"/>
                </a:solidFill>
                <a:latin typeface="Arial" panose="020B0604020202020204" pitchFamily="34" charset="0"/>
              </a:rPr>
              <a:t>Test: N = 15, N = 21 e stima di fase isolata (6–10 qubit).</a:t>
            </a:r>
            <a:endParaRPr lang="en-GB" sz="1400">
              <a:solidFill>
                <a:srgbClr val="677586"/>
              </a:solidFill>
              <a:latin typeface="Arial" panose="020B0604020202020204" pitchFamily="34" charset="0"/>
            </a:endParaRPr>
          </a:p>
        </p:txBody>
      </p:sp>
      <p:sp>
        <p:nvSpPr>
          <p:cNvPr id="14" name="TextBox 13">
            <a:extLst>
              <a:ext uri="{FF2B5EF4-FFF2-40B4-BE49-F238E27FC236}">
                <a16:creationId xmlns:a16="http://schemas.microsoft.com/office/drawing/2014/main" id="{1020496D-25A4-DF40-4177-FDE6DFFA68ED}"/>
              </a:ext>
            </a:extLst>
          </p:cNvPr>
          <p:cNvSpPr txBox="1"/>
          <p:nvPr/>
        </p:nvSpPr>
        <p:spPr>
          <a:xfrm>
            <a:off x="6477000" y="1473200"/>
            <a:ext cx="5105400" cy="276999"/>
          </a:xfrm>
          <a:prstGeom prst="rect">
            <a:avLst/>
          </a:prstGeom>
          <a:noFill/>
        </p:spPr>
        <p:txBody>
          <a:bodyPr vert="horz" wrap="square" lIns="0" tIns="0" rIns="0" bIns="0" rtlCol="0">
            <a:noAutofit/>
          </a:bodyPr>
          <a:lstStyle/>
          <a:p>
            <a:r>
              <a:rPr lang="en-GB" sz="3600" b="1">
                <a:solidFill>
                  <a:srgbClr val="BA6513"/>
                </a:solidFill>
                <a:latin typeface="Arial" panose="020B0604020202020204" pitchFamily="34" charset="0"/>
              </a:rPr>
              <a:t>+14,87 punti</a:t>
            </a:r>
          </a:p>
        </p:txBody>
      </p:sp>
      <p:sp>
        <p:nvSpPr>
          <p:cNvPr id="15" name="TextBox 14">
            <a:extLst>
              <a:ext uri="{FF2B5EF4-FFF2-40B4-BE49-F238E27FC236}">
                <a16:creationId xmlns:a16="http://schemas.microsoft.com/office/drawing/2014/main" id="{75AD3F83-CB5F-F11B-F3D0-009EC1E1B9ED}"/>
              </a:ext>
            </a:extLst>
          </p:cNvPr>
          <p:cNvSpPr txBox="1"/>
          <p:nvPr/>
        </p:nvSpPr>
        <p:spPr>
          <a:xfrm>
            <a:off x="6477000" y="2082800"/>
            <a:ext cx="5105400" cy="276999"/>
          </a:xfrm>
          <a:prstGeom prst="rect">
            <a:avLst/>
          </a:prstGeom>
          <a:noFill/>
        </p:spPr>
        <p:txBody>
          <a:bodyPr vert="horz" wrap="square" lIns="0" tIns="0" rIns="0" bIns="0" rtlCol="0">
            <a:noAutofit/>
          </a:bodyPr>
          <a:lstStyle/>
          <a:p>
            <a:r>
              <a:rPr lang="it-IT" sz="1700">
                <a:solidFill>
                  <a:srgbClr val="23374A"/>
                </a:solidFill>
                <a:latin typeface="Arial" panose="020B0604020202020204" pitchFamily="34" charset="0"/>
              </a:rPr>
              <a:t>di successo su N = 15, sui dati di verifica</a:t>
            </a:r>
            <a:endParaRPr lang="en-GB" sz="1700">
              <a:solidFill>
                <a:srgbClr val="23374A"/>
              </a:solidFill>
              <a:latin typeface="Arial" panose="020B0604020202020204" pitchFamily="34" charset="0"/>
            </a:endParaRPr>
          </a:p>
        </p:txBody>
      </p:sp>
      <p:sp>
        <p:nvSpPr>
          <p:cNvPr id="16" name="TextBox 15">
            <a:extLst>
              <a:ext uri="{FF2B5EF4-FFF2-40B4-BE49-F238E27FC236}">
                <a16:creationId xmlns:a16="http://schemas.microsoft.com/office/drawing/2014/main" id="{B0BD4B9F-108E-721C-BFBF-2DFFC1CCF9AC}"/>
              </a:ext>
            </a:extLst>
          </p:cNvPr>
          <p:cNvSpPr txBox="1"/>
          <p:nvPr/>
        </p:nvSpPr>
        <p:spPr>
          <a:xfrm>
            <a:off x="6477000" y="2413000"/>
            <a:ext cx="5105400" cy="276999"/>
          </a:xfrm>
          <a:prstGeom prst="rect">
            <a:avLst/>
          </a:prstGeom>
          <a:noFill/>
        </p:spPr>
        <p:txBody>
          <a:bodyPr vert="horz" wrap="square" lIns="0" tIns="0" rIns="0" bIns="0" rtlCol="0">
            <a:noAutofit/>
          </a:bodyPr>
          <a:lstStyle/>
          <a:p>
            <a:r>
              <a:rPr lang="it-IT" sz="1200">
                <a:solidFill>
                  <a:srgbClr val="677586"/>
                </a:solidFill>
                <a:latin typeface="Arial" panose="020B0604020202020204" pitchFamily="34" charset="0"/>
              </a:rPr>
              <a:t>IC 95%: da +12,7 a +17,0 punti</a:t>
            </a:r>
            <a:endParaRPr lang="en-GB" sz="1200">
              <a:solidFill>
                <a:srgbClr val="677586"/>
              </a:solidFill>
              <a:latin typeface="Arial" panose="020B0604020202020204" pitchFamily="34" charset="0"/>
            </a:endParaRPr>
          </a:p>
        </p:txBody>
      </p:sp>
      <p:graphicFrame>
        <p:nvGraphicFramePr>
          <p:cNvPr id="17" name="Table 16">
            <a:extLst>
              <a:ext uri="{FF2B5EF4-FFF2-40B4-BE49-F238E27FC236}">
                <a16:creationId xmlns:a16="http://schemas.microsoft.com/office/drawing/2014/main" id="{A2570973-48F4-9D12-7257-E552E77531E8}"/>
              </a:ext>
            </a:extLst>
          </p:cNvPr>
          <p:cNvGraphicFramePr>
            <a:graphicFrameLocks noGrp="1"/>
          </p:cNvGraphicFramePr>
          <p:nvPr>
            <p:extLst>
              <p:ext uri="{D42A27DB-BD31-4B8C-83A1-F6EECF244321}">
                <p14:modId xmlns:p14="http://schemas.microsoft.com/office/powerpoint/2010/main" val="681183"/>
              </p:ext>
            </p:extLst>
          </p:nvPr>
        </p:nvGraphicFramePr>
        <p:xfrm>
          <a:off x="609600" y="4711700"/>
          <a:ext cx="5257800" cy="1155700"/>
        </p:xfrm>
        <a:graphic>
          <a:graphicData uri="http://schemas.openxmlformats.org/drawingml/2006/table">
            <a:tbl>
              <a:tblPr firstRow="1" bandRow="1">
                <a:tableStyleId>{5C22544A-7EE6-4342-B048-85BDC9FD1C3A}</a:tableStyleId>
              </a:tblPr>
              <a:tblGrid>
                <a:gridCol w="2336800">
                  <a:extLst>
                    <a:ext uri="{9D8B030D-6E8A-4147-A177-3AD203B41FA5}">
                      <a16:colId xmlns:a16="http://schemas.microsoft.com/office/drawing/2014/main" val="2314292560"/>
                    </a:ext>
                  </a:extLst>
                </a:gridCol>
                <a:gridCol w="1460500">
                  <a:extLst>
                    <a:ext uri="{9D8B030D-6E8A-4147-A177-3AD203B41FA5}">
                      <a16:colId xmlns:a16="http://schemas.microsoft.com/office/drawing/2014/main" val="1918257104"/>
                    </a:ext>
                  </a:extLst>
                </a:gridCol>
                <a:gridCol w="1460500">
                  <a:extLst>
                    <a:ext uri="{9D8B030D-6E8A-4147-A177-3AD203B41FA5}">
                      <a16:colId xmlns:a16="http://schemas.microsoft.com/office/drawing/2014/main" val="4203436662"/>
                    </a:ext>
                  </a:extLst>
                </a:gridCol>
              </a:tblGrid>
              <a:tr h="288925">
                <a:tc>
                  <a:txBody>
                    <a:bodyPr/>
                    <a:lstStyle/>
                    <a:p>
                      <a:r>
                        <a:rPr lang="en-GB" sz="1200" b="1">
                          <a:solidFill>
                            <a:srgbClr val="FFFFFF"/>
                          </a:solidFill>
                          <a:latin typeface="Arial" panose="020B0604020202020204" pitchFamily="34" charset="0"/>
                        </a:rPr>
                        <a:t>N = 15</a:t>
                      </a:r>
                    </a:p>
                  </a:txBody>
                  <a:tcPr marL="88900" marR="50800" marT="38100" marB="38100">
                    <a:lnL w="12700" cmpd="sng">
                      <a:solidFill>
                        <a:schemeClr val="lt1"/>
                      </a:solidFill>
                    </a:lnL>
                    <a:lnR w="12700" cmpd="sng">
                      <a:solidFill>
                        <a:schemeClr val="lt1"/>
                      </a:solidFill>
                    </a:lnR>
                    <a:lnT w="12700" cmpd="sng">
                      <a:solidFill>
                        <a:schemeClr val="lt1"/>
                      </a:solidFill>
                    </a:lnT>
                    <a:lnB w="38100" cmpd="sng">
                      <a:solidFill>
                        <a:schemeClr val="lt1"/>
                      </a:solidFill>
                    </a:lnB>
                    <a:solidFill>
                      <a:srgbClr val="1963A0"/>
                    </a:solidFill>
                  </a:tcPr>
                </a:tc>
                <a:tc>
                  <a:txBody>
                    <a:bodyPr/>
                    <a:lstStyle/>
                    <a:p>
                      <a:r>
                        <a:rPr lang="en-GB" sz="1200" b="1">
                          <a:solidFill>
                            <a:srgbClr val="FFFFFF"/>
                          </a:solidFill>
                          <a:latin typeface="Arial" panose="020B0604020202020204" pitchFamily="34" charset="0"/>
                        </a:rPr>
                        <a:t>QFT piena</a:t>
                      </a:r>
                    </a:p>
                  </a:txBody>
                  <a:tcPr marL="88900" marR="50800" marT="38100" marB="38100">
                    <a:lnL w="12700" cmpd="sng">
                      <a:solidFill>
                        <a:schemeClr val="lt1"/>
                      </a:solidFill>
                    </a:lnL>
                    <a:lnR w="12700" cmpd="sng">
                      <a:solidFill>
                        <a:schemeClr val="lt1"/>
                      </a:solidFill>
                    </a:lnR>
                    <a:lnT w="12700" cmpd="sng">
                      <a:solidFill>
                        <a:schemeClr val="lt1"/>
                      </a:solidFill>
                    </a:lnT>
                    <a:lnB w="38100" cmpd="sng">
                      <a:solidFill>
                        <a:schemeClr val="lt1"/>
                      </a:solidFill>
                    </a:lnB>
                    <a:solidFill>
                      <a:srgbClr val="1963A0"/>
                    </a:solidFill>
                  </a:tcPr>
                </a:tc>
                <a:tc>
                  <a:txBody>
                    <a:bodyPr/>
                    <a:lstStyle/>
                    <a:p>
                      <a:r>
                        <a:rPr lang="en-GB" sz="1200" b="1">
                          <a:solidFill>
                            <a:srgbClr val="FFFFFF"/>
                          </a:solidFill>
                          <a:latin typeface="Arial" panose="020B0604020202020204" pitchFamily="34" charset="0"/>
                        </a:rPr>
                        <a:t>AQFT</a:t>
                      </a:r>
                    </a:p>
                  </a:txBody>
                  <a:tcPr marL="88900" marR="50800" marT="38100" marB="38100">
                    <a:lnL w="12700" cmpd="sng">
                      <a:solidFill>
                        <a:schemeClr val="lt1"/>
                      </a:solidFill>
                    </a:lnL>
                    <a:lnR w="12700" cmpd="sng">
                      <a:solidFill>
                        <a:schemeClr val="lt1"/>
                      </a:solidFill>
                    </a:lnR>
                    <a:lnT w="12700" cmpd="sng">
                      <a:solidFill>
                        <a:schemeClr val="lt1"/>
                      </a:solidFill>
                    </a:lnT>
                    <a:lnB w="38100" cmpd="sng">
                      <a:solidFill>
                        <a:schemeClr val="lt1"/>
                      </a:solidFill>
                    </a:lnB>
                    <a:solidFill>
                      <a:srgbClr val="1963A0"/>
                    </a:solidFill>
                  </a:tcPr>
                </a:tc>
                <a:extLst>
                  <a:ext uri="{0D108BD9-81ED-4DB2-BD59-A6C34878D82A}">
                    <a16:rowId xmlns:a16="http://schemas.microsoft.com/office/drawing/2014/main" val="2412497855"/>
                  </a:ext>
                </a:extLst>
              </a:tr>
              <a:tr h="288925">
                <a:tc>
                  <a:txBody>
                    <a:bodyPr/>
                    <a:lstStyle/>
                    <a:p>
                      <a:r>
                        <a:rPr lang="en-GB" sz="1200">
                          <a:solidFill>
                            <a:srgbClr val="23374A"/>
                          </a:solidFill>
                          <a:latin typeface="Arial" panose="020B0604020202020204" pitchFamily="34" charset="0"/>
                        </a:rPr>
                        <a:t>Successo</a:t>
                      </a:r>
                    </a:p>
                  </a:txBody>
                  <a:tcPr marL="88900" marR="50800" marT="38100" marB="38100">
                    <a:lnL w="12700" cmpd="sng">
                      <a:solidFill>
                        <a:schemeClr val="lt1"/>
                      </a:solidFill>
                    </a:lnL>
                    <a:lnR w="12700" cmpd="sng">
                      <a:solidFill>
                        <a:schemeClr val="lt1"/>
                      </a:solidFill>
                    </a:lnR>
                    <a:lnT w="38100" cmpd="sng">
                      <a:solidFill>
                        <a:schemeClr val="lt1"/>
                      </a:solidFill>
                    </a:lnT>
                    <a:lnB w="12700" cmpd="sng">
                      <a:solidFill>
                        <a:schemeClr val="lt1"/>
                      </a:solidFill>
                    </a:lnB>
                    <a:solidFill>
                      <a:srgbClr val="EDF3F7"/>
                    </a:solidFill>
                  </a:tcPr>
                </a:tc>
                <a:tc>
                  <a:txBody>
                    <a:bodyPr/>
                    <a:lstStyle/>
                    <a:p>
                      <a:r>
                        <a:rPr lang="en-GB" sz="1200">
                          <a:solidFill>
                            <a:srgbClr val="23374A"/>
                          </a:solidFill>
                          <a:latin typeface="Arial" panose="020B0604020202020204" pitchFamily="34" charset="0"/>
                        </a:rPr>
                        <a:t>47,92%</a:t>
                      </a:r>
                    </a:p>
                  </a:txBody>
                  <a:tcPr marL="88900" marR="50800" marT="38100" marB="38100">
                    <a:lnL w="12700" cmpd="sng">
                      <a:solidFill>
                        <a:schemeClr val="lt1"/>
                      </a:solidFill>
                    </a:lnL>
                    <a:lnR w="12700" cmpd="sng">
                      <a:solidFill>
                        <a:schemeClr val="lt1"/>
                      </a:solidFill>
                    </a:lnR>
                    <a:lnT w="38100" cmpd="sng">
                      <a:solidFill>
                        <a:schemeClr val="lt1"/>
                      </a:solidFill>
                    </a:lnT>
                    <a:lnB w="12700" cmpd="sng">
                      <a:solidFill>
                        <a:schemeClr val="lt1"/>
                      </a:solidFill>
                    </a:lnB>
                    <a:solidFill>
                      <a:srgbClr val="EDF3F7"/>
                    </a:solidFill>
                  </a:tcPr>
                </a:tc>
                <a:tc>
                  <a:txBody>
                    <a:bodyPr/>
                    <a:lstStyle/>
                    <a:p>
                      <a:r>
                        <a:rPr lang="en-GB" sz="1200">
                          <a:solidFill>
                            <a:srgbClr val="23374A"/>
                          </a:solidFill>
                          <a:latin typeface="Arial" panose="020B0604020202020204" pitchFamily="34" charset="0"/>
                        </a:rPr>
                        <a:t>62,79%</a:t>
                      </a:r>
                    </a:p>
                  </a:txBody>
                  <a:tcPr marL="88900" marR="50800" marT="38100" marB="38100">
                    <a:lnL w="12700" cmpd="sng">
                      <a:solidFill>
                        <a:schemeClr val="lt1"/>
                      </a:solidFill>
                    </a:lnL>
                    <a:lnR w="12700" cmpd="sng">
                      <a:solidFill>
                        <a:schemeClr val="lt1"/>
                      </a:solidFill>
                    </a:lnR>
                    <a:lnT w="38100" cmpd="sng">
                      <a:solidFill>
                        <a:schemeClr val="lt1"/>
                      </a:solidFill>
                    </a:lnT>
                    <a:lnB w="12700" cmpd="sng">
                      <a:solidFill>
                        <a:schemeClr val="lt1"/>
                      </a:solidFill>
                    </a:lnB>
                    <a:solidFill>
                      <a:srgbClr val="EDF3F7"/>
                    </a:solidFill>
                  </a:tcPr>
                </a:tc>
                <a:extLst>
                  <a:ext uri="{0D108BD9-81ED-4DB2-BD59-A6C34878D82A}">
                    <a16:rowId xmlns:a16="http://schemas.microsoft.com/office/drawing/2014/main" val="2937333207"/>
                  </a:ext>
                </a:extLst>
              </a:tr>
              <a:tr h="288925">
                <a:tc>
                  <a:txBody>
                    <a:bodyPr/>
                    <a:lstStyle/>
                    <a:p>
                      <a:r>
                        <a:rPr lang="fr-FR" sz="1200">
                          <a:solidFill>
                            <a:srgbClr val="23374A"/>
                          </a:solidFill>
                          <a:latin typeface="Arial" panose="020B0604020202020204" pitchFamily="34" charset="0"/>
                        </a:rPr>
                        <a:t>Porte a 2 qubit (ECR)</a:t>
                      </a:r>
                      <a:endParaRPr lang="en-GB" sz="1200">
                        <a:solidFill>
                          <a:srgbClr val="23374A"/>
                        </a:solidFill>
                        <a:latin typeface="Arial" panose="020B0604020202020204" pitchFamily="34" charset="0"/>
                      </a:endParaRPr>
                    </a:p>
                  </a:txBody>
                  <a:tcPr marL="88900" marR="50800" marT="38100" marB="38100">
                    <a:lnL w="12700" cmpd="sng">
                      <a:solidFill>
                        <a:schemeClr val="lt1"/>
                      </a:solidFill>
                    </a:lnL>
                    <a:lnR w="12700" cmpd="sng">
                      <a:solidFill>
                        <a:schemeClr val="lt1"/>
                      </a:solidFill>
                    </a:lnR>
                    <a:lnT w="12700" cmpd="sng">
                      <a:solidFill>
                        <a:schemeClr val="lt1"/>
                      </a:solidFill>
                    </a:lnT>
                    <a:lnB w="12700" cmpd="sng">
                      <a:solidFill>
                        <a:schemeClr val="lt1"/>
                      </a:solidFill>
                    </a:lnB>
                    <a:solidFill>
                      <a:srgbClr val="EDF3F7"/>
                    </a:solidFill>
                  </a:tcPr>
                </a:tc>
                <a:tc>
                  <a:txBody>
                    <a:bodyPr/>
                    <a:lstStyle/>
                    <a:p>
                      <a:r>
                        <a:rPr lang="en-GB" sz="1200">
                          <a:solidFill>
                            <a:srgbClr val="23374A"/>
                          </a:solidFill>
                          <a:latin typeface="Arial" panose="020B0604020202020204" pitchFamily="34" charset="0"/>
                        </a:rPr>
                        <a:t>362</a:t>
                      </a:r>
                    </a:p>
                  </a:txBody>
                  <a:tcPr marL="88900" marR="50800" marT="38100" marB="38100">
                    <a:lnL w="12700" cmpd="sng">
                      <a:solidFill>
                        <a:schemeClr val="lt1"/>
                      </a:solidFill>
                    </a:lnL>
                    <a:lnR w="12700" cmpd="sng">
                      <a:solidFill>
                        <a:schemeClr val="lt1"/>
                      </a:solidFill>
                    </a:lnR>
                    <a:lnT w="12700" cmpd="sng">
                      <a:solidFill>
                        <a:schemeClr val="lt1"/>
                      </a:solidFill>
                    </a:lnT>
                    <a:lnB w="12700" cmpd="sng">
                      <a:solidFill>
                        <a:schemeClr val="lt1"/>
                      </a:solidFill>
                    </a:lnB>
                    <a:solidFill>
                      <a:srgbClr val="EDF3F7"/>
                    </a:solidFill>
                  </a:tcPr>
                </a:tc>
                <a:tc>
                  <a:txBody>
                    <a:bodyPr/>
                    <a:lstStyle/>
                    <a:p>
                      <a:r>
                        <a:rPr lang="en-GB" sz="1200">
                          <a:solidFill>
                            <a:srgbClr val="23374A"/>
                          </a:solidFill>
                          <a:latin typeface="Arial" panose="020B0604020202020204" pitchFamily="34" charset="0"/>
                        </a:rPr>
                        <a:t>279</a:t>
                      </a:r>
                    </a:p>
                  </a:txBody>
                  <a:tcPr marL="88900" marR="50800" marT="38100" marB="38100">
                    <a:lnL w="12700" cmpd="sng">
                      <a:solidFill>
                        <a:schemeClr val="lt1"/>
                      </a:solidFill>
                    </a:lnL>
                    <a:lnR w="12700" cmpd="sng">
                      <a:solidFill>
                        <a:schemeClr val="lt1"/>
                      </a:solidFill>
                    </a:lnR>
                    <a:lnT w="12700" cmpd="sng">
                      <a:solidFill>
                        <a:schemeClr val="lt1"/>
                      </a:solidFill>
                    </a:lnT>
                    <a:lnB w="12700" cmpd="sng">
                      <a:solidFill>
                        <a:schemeClr val="lt1"/>
                      </a:solidFill>
                    </a:lnB>
                    <a:solidFill>
                      <a:srgbClr val="EDF3F7"/>
                    </a:solidFill>
                  </a:tcPr>
                </a:tc>
                <a:extLst>
                  <a:ext uri="{0D108BD9-81ED-4DB2-BD59-A6C34878D82A}">
                    <a16:rowId xmlns:a16="http://schemas.microsoft.com/office/drawing/2014/main" val="2324775208"/>
                  </a:ext>
                </a:extLst>
              </a:tr>
              <a:tr h="288925">
                <a:tc>
                  <a:txBody>
                    <a:bodyPr/>
                    <a:lstStyle/>
                    <a:p>
                      <a:r>
                        <a:rPr lang="en-GB" sz="1200">
                          <a:solidFill>
                            <a:srgbClr val="23374A"/>
                          </a:solidFill>
                          <a:latin typeface="Arial" panose="020B0604020202020204" pitchFamily="34" charset="0"/>
                        </a:rPr>
                        <a:t>Profondità</a:t>
                      </a:r>
                    </a:p>
                  </a:txBody>
                  <a:tcPr marL="88900" marR="50800" marT="38100" marB="38100">
                    <a:lnL w="12700" cmpd="sng">
                      <a:solidFill>
                        <a:schemeClr val="lt1"/>
                      </a:solidFill>
                    </a:lnL>
                    <a:lnR w="12700" cmpd="sng">
                      <a:solidFill>
                        <a:schemeClr val="lt1"/>
                      </a:solidFill>
                    </a:lnR>
                    <a:lnT w="12700" cmpd="sng">
                      <a:solidFill>
                        <a:schemeClr val="lt1"/>
                      </a:solidFill>
                    </a:lnT>
                    <a:lnB w="12700" cmpd="sng">
                      <a:solidFill>
                        <a:schemeClr val="lt1"/>
                      </a:solidFill>
                    </a:lnB>
                    <a:solidFill>
                      <a:srgbClr val="EDF3F7"/>
                    </a:solidFill>
                  </a:tcPr>
                </a:tc>
                <a:tc>
                  <a:txBody>
                    <a:bodyPr/>
                    <a:lstStyle/>
                    <a:p>
                      <a:r>
                        <a:rPr lang="en-GB" sz="1200">
                          <a:solidFill>
                            <a:srgbClr val="23374A"/>
                          </a:solidFill>
                          <a:latin typeface="Arial" panose="020B0604020202020204" pitchFamily="34" charset="0"/>
                        </a:rPr>
                        <a:t>1351</a:t>
                      </a:r>
                    </a:p>
                  </a:txBody>
                  <a:tcPr marL="88900" marR="50800" marT="38100" marB="38100">
                    <a:lnL w="12700" cmpd="sng">
                      <a:solidFill>
                        <a:schemeClr val="lt1"/>
                      </a:solidFill>
                    </a:lnL>
                    <a:lnR w="12700" cmpd="sng">
                      <a:solidFill>
                        <a:schemeClr val="lt1"/>
                      </a:solidFill>
                    </a:lnR>
                    <a:lnT w="12700" cmpd="sng">
                      <a:solidFill>
                        <a:schemeClr val="lt1"/>
                      </a:solidFill>
                    </a:lnT>
                    <a:lnB w="12700" cmpd="sng">
                      <a:solidFill>
                        <a:schemeClr val="lt1"/>
                      </a:solidFill>
                    </a:lnB>
                    <a:solidFill>
                      <a:srgbClr val="EDF3F7"/>
                    </a:solidFill>
                  </a:tcPr>
                </a:tc>
                <a:tc>
                  <a:txBody>
                    <a:bodyPr/>
                    <a:lstStyle/>
                    <a:p>
                      <a:r>
                        <a:rPr lang="en-GB" sz="1200">
                          <a:solidFill>
                            <a:srgbClr val="23374A"/>
                          </a:solidFill>
                          <a:latin typeface="Arial" panose="020B0604020202020204" pitchFamily="34" charset="0"/>
                        </a:rPr>
                        <a:t>1141</a:t>
                      </a:r>
                    </a:p>
                  </a:txBody>
                  <a:tcPr marL="88900" marR="50800" marT="38100" marB="38100">
                    <a:lnL w="12700" cmpd="sng">
                      <a:solidFill>
                        <a:schemeClr val="lt1"/>
                      </a:solidFill>
                    </a:lnL>
                    <a:lnR w="12700" cmpd="sng">
                      <a:solidFill>
                        <a:schemeClr val="lt1"/>
                      </a:solidFill>
                    </a:lnR>
                    <a:lnT w="12700" cmpd="sng">
                      <a:solidFill>
                        <a:schemeClr val="lt1"/>
                      </a:solidFill>
                    </a:lnT>
                    <a:lnB w="12700" cmpd="sng">
                      <a:solidFill>
                        <a:schemeClr val="lt1"/>
                      </a:solidFill>
                    </a:lnB>
                    <a:solidFill>
                      <a:srgbClr val="EDF3F7"/>
                    </a:solidFill>
                  </a:tcPr>
                </a:tc>
                <a:extLst>
                  <a:ext uri="{0D108BD9-81ED-4DB2-BD59-A6C34878D82A}">
                    <a16:rowId xmlns:a16="http://schemas.microsoft.com/office/drawing/2014/main" val="2982604348"/>
                  </a:ext>
                </a:extLst>
              </a:tr>
            </a:tbl>
          </a:graphicData>
        </a:graphic>
      </p:graphicFrame>
      <p:sp>
        <p:nvSpPr>
          <p:cNvPr id="20" name="TextBox 19">
            <a:extLst>
              <a:ext uri="{FF2B5EF4-FFF2-40B4-BE49-F238E27FC236}">
                <a16:creationId xmlns:a16="http://schemas.microsoft.com/office/drawing/2014/main" id="{2F7D7FEB-AB08-91A0-F1BF-6A5AB505AC69}"/>
              </a:ext>
            </a:extLst>
          </p:cNvPr>
          <p:cNvSpPr txBox="1"/>
          <p:nvPr/>
        </p:nvSpPr>
        <p:spPr>
          <a:xfrm>
            <a:off x="609600" y="5981700"/>
            <a:ext cx="10972800" cy="276999"/>
          </a:xfrm>
          <a:prstGeom prst="rect">
            <a:avLst/>
          </a:prstGeom>
          <a:noFill/>
        </p:spPr>
        <p:txBody>
          <a:bodyPr vert="horz" wrap="square" lIns="0" tIns="0" rIns="0" bIns="0" rtlCol="0">
            <a:noAutofit/>
          </a:bodyPr>
          <a:lstStyle/>
          <a:p>
            <a:r>
              <a:rPr lang="it-IT" sz="1100">
                <a:solidFill>
                  <a:srgbClr val="677586"/>
                </a:solidFill>
                <a:latin typeface="Arial" panose="020B0604020202020204" pitchFamily="34" charset="0"/>
              </a:rPr>
              <a:t>Rumore IBM (FakeSherbrooke) riprodotto in simulazione; scelta su metà dei dati e verifica sull altra metà.</a:t>
            </a:r>
            <a:endParaRPr lang="en-GB" sz="1100">
              <a:solidFill>
                <a:srgbClr val="677586"/>
              </a:solidFill>
              <a:latin typeface="Arial" panose="020B0604020202020204" pitchFamily="34" charset="0"/>
            </a:endParaRPr>
          </a:p>
        </p:txBody>
      </p:sp>
      <p:sp>
        <p:nvSpPr>
          <p:cNvPr id="21" name="TextBox 20">
            <a:extLst>
              <a:ext uri="{FF2B5EF4-FFF2-40B4-BE49-F238E27FC236}">
                <a16:creationId xmlns:a16="http://schemas.microsoft.com/office/drawing/2014/main" id="{470F5327-1993-461E-8E0D-407EAA736804}"/>
              </a:ext>
            </a:extLst>
          </p:cNvPr>
          <p:cNvSpPr txBox="1"/>
          <p:nvPr/>
        </p:nvSpPr>
        <p:spPr>
          <a:xfrm>
            <a:off x="609600" y="6350000"/>
            <a:ext cx="10972800" cy="276999"/>
          </a:xfrm>
          <a:prstGeom prst="rect">
            <a:avLst/>
          </a:prstGeom>
          <a:noFill/>
        </p:spPr>
        <p:txBody>
          <a:bodyPr vert="horz" wrap="square" lIns="0" tIns="0" rIns="0" bIns="0" rtlCol="0">
            <a:noAutofit/>
          </a:bodyPr>
          <a:lstStyle/>
          <a:p>
            <a:r>
              <a:rPr lang="it-IT" sz="1700" b="1">
                <a:solidFill>
                  <a:srgbClr val="1963A0"/>
                </a:solidFill>
                <a:latin typeface="Arial" panose="020B0604020202020204" pitchFamily="34" charset="0"/>
              </a:rPr>
              <a:t>N = 15: +14,87 punti e −22,9% di porte; su N = 21 il beneficio non è dimostrato.</a:t>
            </a:r>
            <a:endParaRPr lang="en-GB" sz="1700" b="1">
              <a:solidFill>
                <a:srgbClr val="1963A0"/>
              </a:solidFill>
              <a:latin typeface="Arial" panose="020B0604020202020204" pitchFamily="34" charset="0"/>
            </a:endParaRPr>
          </a:p>
        </p:txBody>
      </p:sp>
    </p:spTree>
    <p:extLst>
      <p:ext uri="{BB962C8B-B14F-4D97-AF65-F5344CB8AC3E}">
        <p14:creationId xmlns:p14="http://schemas.microsoft.com/office/powerpoint/2010/main" val="979802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D44FC83-C70B-46CD-8C70-92D7C3D9C2A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800" b="0">
                <a:solidFill>
                  <a:srgbClr val="003366"/>
                </a:solidFill>
                <a:latin typeface="Arial"/>
                <a:ea typeface="Arial"/>
                <a:cs typeface="Arial"/>
              </a:rPr>
              <a:t>Confronto dei risultati</a:t>
            </a:r>
            <a:endParaRPr sz="2800" b="0">
              <a:solidFill>
                <a:srgbClr val="003366"/>
              </a:solidFill>
              <a:latin typeface="Arial"/>
              <a:ea typeface="Arial"/>
              <a:cs typeface="Arial"/>
            </a:endParaRPr>
          </a:p>
        </p:txBody>
      </p:sp>
      <p:pic>
        <p:nvPicPr>
          <p:cNvPr id="13" name="Picture 12"/>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20B7C71E-845D-4B6E-BAC4-41119EECCBA9}"/>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61EF0B45-22BD-40BF-B86A-74F485774734}"/>
              </a:ext>
            </a:extLst>
          </p:cNvPr>
          <p:cNvSpPr>
            <a:spLocks noGrp="1"/>
          </p:cNvSpPr>
          <p:nvPr/>
        </p:nvSpPr>
        <p:spPr>
          <a:xfrm>
            <a:off x="7477125" y="828675"/>
            <a:ext cx="3228975" cy="219075"/>
          </a:xfrm>
          <a:prstGeom prst="rect">
            <a:avLst/>
          </a:prstGeom>
          <a:noFill/>
          <a:ln w="0">
            <a:noFill/>
          </a:ln>
        </p:spPr>
        <p:txBody>
          <a:bodyPr rIns="0" anchor="ctr">
            <a:noAutofit/>
          </a:bodyPr>
          <a:lstStyle/>
          <a:p>
            <a:pPr algn="r">
              <a:defRPr sz="1200" b="0">
                <a:solidFill>
                  <a:srgbClr val="203344"/>
                </a:solidFill>
                <a:latin typeface="Arial"/>
                <a:ea typeface="Arial"/>
                <a:cs typeface="Arial"/>
              </a:defRPr>
            </a:pPr>
            <a:r>
              <a:rPr lang="it-IT" sz="1050" b="0">
                <a:solidFill>
                  <a:srgbClr val="203344"/>
                </a:solidFill>
                <a:latin typeface="Arial"/>
                <a:ea typeface="Arial"/>
                <a:cs typeface="Arial"/>
              </a:rPr>
              <a:t>Conclusioni · Confronto delle strategie | 14</a:t>
            </a:r>
            <a:endParaRPr sz="1050" b="0">
              <a:solidFill>
                <a:srgbClr val="203344"/>
              </a:solidFill>
              <a:latin typeface="Arial"/>
              <a:ea typeface="Arial"/>
              <a:cs typeface="Arial"/>
            </a:endParaRPr>
          </a:p>
        </p:txBody>
      </p:sp>
      <p:sp>
        <p:nvSpPr>
          <p:cNvPr id="9" name="TextBox 8">
            <a:extLst>
              <a:ext uri="{FF2B5EF4-FFF2-40B4-BE49-F238E27FC236}">
                <a16:creationId xmlns:a16="http://schemas.microsoft.com/office/drawing/2014/main" id="{FF2072FA-F8F7-FEB2-2D3F-8846A227F047}"/>
              </a:ext>
            </a:extLst>
          </p:cNvPr>
          <p:cNvSpPr txBox="1"/>
          <p:nvPr/>
        </p:nvSpPr>
        <p:spPr>
          <a:xfrm>
            <a:off x="609600" y="1409700"/>
            <a:ext cx="10972800" cy="430887"/>
          </a:xfrm>
          <a:prstGeom prst="rect">
            <a:avLst/>
          </a:prstGeom>
          <a:noFill/>
        </p:spPr>
        <p:txBody>
          <a:bodyPr vert="horz" lIns="0" rIns="0" rtlCol="0">
            <a:spAutoFit/>
          </a:bodyPr>
          <a:lstStyle/>
          <a:p>
            <a:r>
              <a:rPr lang="it-IT" sz="2200" b="1">
                <a:solidFill>
                  <a:srgbClr val="0B2F5B"/>
                </a:solidFill>
                <a:latin typeface="Arial" panose="020B0604020202020204" pitchFamily="34" charset="0"/>
              </a:rPr>
              <a:t>Tre strategie, benefici e metriche differenti</a:t>
            </a:r>
            <a:endParaRPr lang="en-GB" sz="2200" b="1">
              <a:solidFill>
                <a:srgbClr val="0B2F5B"/>
              </a:solidFill>
              <a:latin typeface="Arial" panose="020B0604020202020204" pitchFamily="34" charset="0"/>
            </a:endParaRPr>
          </a:p>
        </p:txBody>
      </p:sp>
      <p:graphicFrame>
        <p:nvGraphicFramePr>
          <p:cNvPr id="10" name="Table 9">
            <a:extLst>
              <a:ext uri="{FF2B5EF4-FFF2-40B4-BE49-F238E27FC236}">
                <a16:creationId xmlns:a16="http://schemas.microsoft.com/office/drawing/2014/main" id="{3654918F-9CF1-BCA5-C64D-2B8CCE099355}"/>
              </a:ext>
            </a:extLst>
          </p:cNvPr>
          <p:cNvGraphicFramePr>
            <a:graphicFrameLocks noGrp="1"/>
          </p:cNvGraphicFramePr>
          <p:nvPr>
            <p:extLst>
              <p:ext uri="{D42A27DB-BD31-4B8C-83A1-F6EECF244321}">
                <p14:modId xmlns:p14="http://schemas.microsoft.com/office/powerpoint/2010/main" val="2991436296"/>
              </p:ext>
            </p:extLst>
          </p:nvPr>
        </p:nvGraphicFramePr>
        <p:xfrm>
          <a:off x="609600" y="2095500"/>
          <a:ext cx="10972800" cy="3022600"/>
        </p:xfrm>
        <a:graphic>
          <a:graphicData uri="http://schemas.openxmlformats.org/drawingml/2006/table">
            <a:tbl>
              <a:tblPr firstRow="1" bandRow="1">
                <a:tableStyleId>{5C22544A-7EE6-4342-B048-85BDC9FD1C3A}</a:tableStyleId>
              </a:tblPr>
              <a:tblGrid>
                <a:gridCol w="2413000">
                  <a:extLst>
                    <a:ext uri="{9D8B030D-6E8A-4147-A177-3AD203B41FA5}">
                      <a16:colId xmlns:a16="http://schemas.microsoft.com/office/drawing/2014/main" val="3854607918"/>
                    </a:ext>
                  </a:extLst>
                </a:gridCol>
                <a:gridCol w="4914900">
                  <a:extLst>
                    <a:ext uri="{9D8B030D-6E8A-4147-A177-3AD203B41FA5}">
                      <a16:colId xmlns:a16="http://schemas.microsoft.com/office/drawing/2014/main" val="3366601679"/>
                    </a:ext>
                  </a:extLst>
                </a:gridCol>
                <a:gridCol w="3644900">
                  <a:extLst>
                    <a:ext uri="{9D8B030D-6E8A-4147-A177-3AD203B41FA5}">
                      <a16:colId xmlns:a16="http://schemas.microsoft.com/office/drawing/2014/main" val="842063534"/>
                    </a:ext>
                  </a:extLst>
                </a:gridCol>
              </a:tblGrid>
              <a:tr h="755650">
                <a:tc>
                  <a:txBody>
                    <a:bodyPr/>
                    <a:lstStyle/>
                    <a:p>
                      <a:r>
                        <a:rPr lang="en-GB" sz="1600" b="1">
                          <a:solidFill>
                            <a:srgbClr val="FFFFFF"/>
                          </a:solidFill>
                          <a:latin typeface="Arial" panose="020B0604020202020204" pitchFamily="34" charset="0"/>
                        </a:rPr>
                        <a:t>Strategia</a:t>
                      </a:r>
                    </a:p>
                  </a:txBody>
                  <a:tcPr marL="127000" marR="127000" anchor="ctr">
                    <a:solidFill>
                      <a:srgbClr val="125C97"/>
                    </a:solidFill>
                  </a:tcPr>
                </a:tc>
                <a:tc>
                  <a:txBody>
                    <a:bodyPr/>
                    <a:lstStyle/>
                    <a:p>
                      <a:r>
                        <a:rPr lang="en-GB" sz="1600" b="1">
                          <a:solidFill>
                            <a:srgbClr val="FFFFFF"/>
                          </a:solidFill>
                          <a:latin typeface="Arial" panose="020B0604020202020204" pitchFamily="34" charset="0"/>
                        </a:rPr>
                        <a:t>Risultato osservato</a:t>
                      </a:r>
                    </a:p>
                  </a:txBody>
                  <a:tcPr marL="127000" marR="127000" anchor="ctr">
                    <a:solidFill>
                      <a:srgbClr val="125C97"/>
                    </a:solidFill>
                  </a:tcPr>
                </a:tc>
                <a:tc>
                  <a:txBody>
                    <a:bodyPr/>
                    <a:lstStyle/>
                    <a:p>
                      <a:r>
                        <a:rPr lang="en-GB" sz="1600" b="1">
                          <a:solidFill>
                            <a:srgbClr val="FFFFFF"/>
                          </a:solidFill>
                          <a:latin typeface="Arial" panose="020B0604020202020204" pitchFamily="34" charset="0"/>
                        </a:rPr>
                        <a:t>Perimetro</a:t>
                      </a:r>
                    </a:p>
                  </a:txBody>
                  <a:tcPr marL="127000" marR="127000" anchor="ctr">
                    <a:solidFill>
                      <a:srgbClr val="125C97"/>
                    </a:solidFill>
                  </a:tcPr>
                </a:tc>
                <a:extLst>
                  <a:ext uri="{0D108BD9-81ED-4DB2-BD59-A6C34878D82A}">
                    <a16:rowId xmlns:a16="http://schemas.microsoft.com/office/drawing/2014/main" val="118980560"/>
                  </a:ext>
                </a:extLst>
              </a:tr>
              <a:tr h="755650">
                <a:tc>
                  <a:txBody>
                    <a:bodyPr/>
                    <a:lstStyle/>
                    <a:p>
                      <a:r>
                        <a:rPr lang="en-GB" sz="1600">
                          <a:solidFill>
                            <a:srgbClr val="1F2933"/>
                          </a:solidFill>
                          <a:latin typeface="Arial" panose="020B0604020202020204" pitchFamily="34" charset="0"/>
                        </a:rPr>
                        <a:t>Post-processing</a:t>
                      </a:r>
                    </a:p>
                  </a:txBody>
                  <a:tcPr marL="127000" marR="127000" anchor="ctr">
                    <a:solidFill>
                      <a:srgbClr val="FFFFFF"/>
                    </a:solidFill>
                  </a:tcPr>
                </a:tc>
                <a:tc>
                  <a:txBody>
                    <a:bodyPr/>
                    <a:lstStyle/>
                    <a:p>
                      <a:r>
                        <a:rPr lang="it-IT" sz="1600">
                          <a:solidFill>
                            <a:srgbClr val="1F2933"/>
                          </a:solidFill>
                          <a:latin typeface="Arial" panose="020B0604020202020204" pitchFamily="34" charset="0"/>
                        </a:rPr>
                        <a:t>TOP-4: primo successo in 30/30 repliche</a:t>
                      </a:r>
                    </a:p>
                    <a:p>
                      <a:r>
                        <a:rPr lang="it-IT" sz="1600">
                          <a:solidFill>
                            <a:srgbClr val="1F2933"/>
                          </a:solidFill>
                          <a:latin typeface="Arial" panose="020B0604020202020204" pitchFamily="34" charset="0"/>
                        </a:rPr>
                        <a:t>Il filtro ML non migliora TOP-4</a:t>
                      </a:r>
                      <a:endParaRPr lang="en-GB" sz="1600">
                        <a:solidFill>
                          <a:srgbClr val="1F2933"/>
                        </a:solidFill>
                        <a:latin typeface="Arial" panose="020B0604020202020204" pitchFamily="34" charset="0"/>
                      </a:endParaRPr>
                    </a:p>
                  </a:txBody>
                  <a:tcPr marL="127000" marR="127000" anchor="ctr">
                    <a:solidFill>
                      <a:srgbClr val="FFFFFF"/>
                    </a:solidFill>
                  </a:tcPr>
                </a:tc>
                <a:tc>
                  <a:txBody>
                    <a:bodyPr/>
                    <a:lstStyle/>
                    <a:p>
                      <a:r>
                        <a:rPr lang="it-IT" sz="1600">
                          <a:solidFill>
                            <a:srgbClr val="1F2933"/>
                          </a:solidFill>
                          <a:latin typeface="Arial" panose="020B0604020202020204" pitchFamily="34" charset="0"/>
                        </a:rPr>
                        <a:t>N = 15; due scenari di rumore simulati</a:t>
                      </a:r>
                      <a:endParaRPr lang="en-GB" sz="1600">
                        <a:solidFill>
                          <a:srgbClr val="1F2933"/>
                        </a:solidFill>
                        <a:latin typeface="Arial" panose="020B0604020202020204" pitchFamily="34" charset="0"/>
                      </a:endParaRPr>
                    </a:p>
                  </a:txBody>
                  <a:tcPr marL="127000" marR="127000" anchor="ctr">
                    <a:solidFill>
                      <a:srgbClr val="FFFFFF"/>
                    </a:solidFill>
                  </a:tcPr>
                </a:tc>
                <a:extLst>
                  <a:ext uri="{0D108BD9-81ED-4DB2-BD59-A6C34878D82A}">
                    <a16:rowId xmlns:a16="http://schemas.microsoft.com/office/drawing/2014/main" val="54497988"/>
                  </a:ext>
                </a:extLst>
              </a:tr>
              <a:tr h="755650">
                <a:tc>
                  <a:txBody>
                    <a:bodyPr/>
                    <a:lstStyle/>
                    <a:p>
                      <a:r>
                        <a:rPr lang="en-GB" sz="1600">
                          <a:solidFill>
                            <a:srgbClr val="1F2933"/>
                          </a:solidFill>
                          <a:latin typeface="Arial" panose="020B0604020202020204" pitchFamily="34" charset="0"/>
                        </a:rPr>
                        <a:t>Correzione degli errori</a:t>
                      </a:r>
                    </a:p>
                  </a:txBody>
                  <a:tcPr marL="127000" marR="127000" anchor="ctr">
                    <a:solidFill>
                      <a:srgbClr val="FFFFFF"/>
                    </a:solidFill>
                  </a:tcPr>
                </a:tc>
                <a:tc>
                  <a:txBody>
                    <a:bodyPr/>
                    <a:lstStyle/>
                    <a:p>
                      <a:r>
                        <a:rPr lang="it-IT" sz="1600">
                          <a:solidFill>
                            <a:srgbClr val="1F2933"/>
                          </a:solidFill>
                          <a:latin typeface="Arial" panose="020B0604020202020204" pitchFamily="34" charset="0"/>
                        </a:rPr>
                        <a:t>Soglia ≈ 0,86%; −16,8% errori (ibrido)</a:t>
                      </a:r>
                    </a:p>
                    <a:p>
                      <a:r>
                        <a:rPr lang="it-IT" sz="1600">
                          <a:solidFill>
                            <a:srgbClr val="1F2933"/>
                          </a:solidFill>
                          <a:latin typeface="Arial" panose="020B0604020202020204" pitchFamily="34" charset="0"/>
                        </a:rPr>
                        <a:t>Gross code: 10–14× meno qubit</a:t>
                      </a:r>
                      <a:endParaRPr lang="en-GB" sz="1600">
                        <a:solidFill>
                          <a:srgbClr val="1F2933"/>
                        </a:solidFill>
                        <a:latin typeface="Arial" panose="020B0604020202020204" pitchFamily="34" charset="0"/>
                      </a:endParaRPr>
                    </a:p>
                  </a:txBody>
                  <a:tcPr marL="127000" marR="127000" anchor="ctr">
                    <a:solidFill>
                      <a:srgbClr val="FFFFFF"/>
                    </a:solidFill>
                  </a:tcPr>
                </a:tc>
                <a:tc>
                  <a:txBody>
                    <a:bodyPr/>
                    <a:lstStyle/>
                    <a:p>
                      <a:r>
                        <a:rPr lang="it-IT" sz="1600">
                          <a:solidFill>
                            <a:srgbClr val="1F2933"/>
                          </a:solidFill>
                          <a:latin typeface="Arial" panose="020B0604020202020204" pitchFamily="34" charset="0"/>
                        </a:rPr>
                        <a:t>Esperimenti separati da Shor; modelli e metriche diversi</a:t>
                      </a:r>
                      <a:endParaRPr lang="en-GB" sz="1600">
                        <a:solidFill>
                          <a:srgbClr val="1F2933"/>
                        </a:solidFill>
                        <a:latin typeface="Arial" panose="020B0604020202020204" pitchFamily="34" charset="0"/>
                      </a:endParaRPr>
                    </a:p>
                  </a:txBody>
                  <a:tcPr marL="127000" marR="127000" anchor="ctr">
                    <a:solidFill>
                      <a:srgbClr val="FFFFFF"/>
                    </a:solidFill>
                  </a:tcPr>
                </a:tc>
                <a:extLst>
                  <a:ext uri="{0D108BD9-81ED-4DB2-BD59-A6C34878D82A}">
                    <a16:rowId xmlns:a16="http://schemas.microsoft.com/office/drawing/2014/main" val="73522484"/>
                  </a:ext>
                </a:extLst>
              </a:tr>
              <a:tr h="755650">
                <a:tc>
                  <a:txBody>
                    <a:bodyPr/>
                    <a:lstStyle/>
                    <a:p>
                      <a:r>
                        <a:rPr lang="en-GB" sz="1600" b="1">
                          <a:solidFill>
                            <a:srgbClr val="F66F12"/>
                          </a:solidFill>
                          <a:latin typeface="Arial" panose="020B0604020202020204" pitchFamily="34" charset="0"/>
                        </a:rPr>
                        <a:t>QFT approssimata</a:t>
                      </a:r>
                    </a:p>
                  </a:txBody>
                  <a:tcPr marL="127000" marR="127000" anchor="ctr">
                    <a:solidFill>
                      <a:srgbClr val="FEFAF0"/>
                    </a:solidFill>
                  </a:tcPr>
                </a:tc>
                <a:tc>
                  <a:txBody>
                    <a:bodyPr/>
                    <a:lstStyle/>
                    <a:p>
                      <a:r>
                        <a:rPr lang="it-IT" sz="1600" b="1">
                          <a:solidFill>
                            <a:srgbClr val="F66F12"/>
                          </a:solidFill>
                          <a:latin typeface="Arial" panose="020B0604020202020204" pitchFamily="34" charset="0"/>
                        </a:rPr>
                        <a:t>+14,87 punti di successo</a:t>
                      </a:r>
                    </a:p>
                    <a:p>
                      <a:r>
                        <a:rPr lang="it-IT" sz="1600" b="1">
                          <a:solidFill>
                            <a:srgbClr val="F66F12"/>
                          </a:solidFill>
                          <a:latin typeface="Arial" panose="020B0604020202020204" pitchFamily="34" charset="0"/>
                        </a:rPr>
                        <a:t>−22,9% di porte a due qubit</a:t>
                      </a:r>
                      <a:endParaRPr lang="en-GB" sz="1600" b="1">
                        <a:solidFill>
                          <a:srgbClr val="F66F12"/>
                        </a:solidFill>
                        <a:latin typeface="Arial" panose="020B0604020202020204" pitchFamily="34" charset="0"/>
                      </a:endParaRPr>
                    </a:p>
                  </a:txBody>
                  <a:tcPr marL="127000" marR="127000" anchor="ctr">
                    <a:solidFill>
                      <a:srgbClr val="FEFAF0"/>
                    </a:solidFill>
                  </a:tcPr>
                </a:tc>
                <a:tc>
                  <a:txBody>
                    <a:bodyPr/>
                    <a:lstStyle/>
                    <a:p>
                      <a:r>
                        <a:rPr lang="it-IT" sz="1600">
                          <a:solidFill>
                            <a:srgbClr val="1F2933"/>
                          </a:solidFill>
                          <a:latin typeface="Arial" panose="020B0604020202020204" pitchFamily="34" charset="0"/>
                        </a:rPr>
                        <a:t>N = 15, su dati di verifica; beneficio non dimostrato su N = 21</a:t>
                      </a:r>
                      <a:endParaRPr lang="en-GB" sz="1600">
                        <a:solidFill>
                          <a:srgbClr val="1F2933"/>
                        </a:solidFill>
                        <a:latin typeface="Arial" panose="020B0604020202020204" pitchFamily="34" charset="0"/>
                      </a:endParaRPr>
                    </a:p>
                  </a:txBody>
                  <a:tcPr marL="127000" marR="127000" anchor="ctr">
                    <a:solidFill>
                      <a:srgbClr val="FEFAF0"/>
                    </a:solidFill>
                  </a:tcPr>
                </a:tc>
                <a:extLst>
                  <a:ext uri="{0D108BD9-81ED-4DB2-BD59-A6C34878D82A}">
                    <a16:rowId xmlns:a16="http://schemas.microsoft.com/office/drawing/2014/main" val="4162107245"/>
                  </a:ext>
                </a:extLst>
              </a:tr>
            </a:tbl>
          </a:graphicData>
        </a:graphic>
      </p:graphicFrame>
      <p:sp>
        <p:nvSpPr>
          <p:cNvPr id="11" name="TextBox 10">
            <a:extLst>
              <a:ext uri="{FF2B5EF4-FFF2-40B4-BE49-F238E27FC236}">
                <a16:creationId xmlns:a16="http://schemas.microsoft.com/office/drawing/2014/main" id="{952E7225-BDCD-358B-86C3-0D2417959FA4}"/>
              </a:ext>
            </a:extLst>
          </p:cNvPr>
          <p:cNvSpPr txBox="1"/>
          <p:nvPr/>
        </p:nvSpPr>
        <p:spPr>
          <a:xfrm>
            <a:off x="609600" y="5384800"/>
            <a:ext cx="10972800" cy="446276"/>
          </a:xfrm>
          <a:prstGeom prst="rect">
            <a:avLst/>
          </a:prstGeom>
          <a:noFill/>
        </p:spPr>
        <p:txBody>
          <a:bodyPr vert="horz" lIns="0" rIns="0" rtlCol="0">
            <a:spAutoFit/>
          </a:bodyPr>
          <a:lstStyle/>
          <a:p>
            <a:r>
              <a:rPr lang="it-IT" sz="2300" b="1">
                <a:solidFill>
                  <a:srgbClr val="D9822B"/>
                </a:solidFill>
                <a:latin typeface="Arial" panose="020B0604020202020204" pitchFamily="34" charset="0"/>
              </a:rPr>
              <a:t>AQFT: il miglioramento diretto di Shor osservato su N = 15</a:t>
            </a:r>
            <a:endParaRPr lang="en-GB" sz="2300" b="1">
              <a:solidFill>
                <a:srgbClr val="D9822B"/>
              </a:solidFill>
              <a:latin typeface="Arial" panose="020B0604020202020204" pitchFamily="34" charset="0"/>
            </a:endParaRPr>
          </a:p>
        </p:txBody>
      </p:sp>
      <p:sp>
        <p:nvSpPr>
          <p:cNvPr id="20" name="TextBox 19">
            <a:extLst>
              <a:ext uri="{FF2B5EF4-FFF2-40B4-BE49-F238E27FC236}">
                <a16:creationId xmlns:a16="http://schemas.microsoft.com/office/drawing/2014/main" id="{4685D094-A78F-F5FB-D8A5-E6063A864229}"/>
              </a:ext>
            </a:extLst>
          </p:cNvPr>
          <p:cNvSpPr txBox="1"/>
          <p:nvPr/>
        </p:nvSpPr>
        <p:spPr>
          <a:xfrm>
            <a:off x="609600" y="5880100"/>
            <a:ext cx="10972800" cy="384721"/>
          </a:xfrm>
          <a:prstGeom prst="rect">
            <a:avLst/>
          </a:prstGeom>
          <a:noFill/>
        </p:spPr>
        <p:txBody>
          <a:bodyPr vert="horz" lIns="0" rIns="0" rtlCol="0">
            <a:spAutoFit/>
          </a:bodyPr>
          <a:lstStyle/>
          <a:p>
            <a:r>
              <a:rPr lang="it-IT" sz="1900">
                <a:solidFill>
                  <a:srgbClr val="0B2F5B"/>
                </a:solidFill>
                <a:latin typeface="Arial" panose="020B0604020202020204" pitchFamily="34" charset="0"/>
              </a:rPr>
              <a:t>Più successo e meno porte rispetto alla QFT piena.</a:t>
            </a:r>
            <a:endParaRPr lang="en-GB" sz="1900">
              <a:solidFill>
                <a:srgbClr val="0B2F5B"/>
              </a:solidFill>
              <a:latin typeface="Arial" panose="020B0604020202020204" pitchFamily="34" charset="0"/>
            </a:endParaRPr>
          </a:p>
        </p:txBody>
      </p:sp>
      <p:sp>
        <p:nvSpPr>
          <p:cNvPr id="21" name="TextBox 20">
            <a:extLst>
              <a:ext uri="{FF2B5EF4-FFF2-40B4-BE49-F238E27FC236}">
                <a16:creationId xmlns:a16="http://schemas.microsoft.com/office/drawing/2014/main" id="{39BF3A8F-D518-A604-7472-D208CE2A7149}"/>
              </a:ext>
            </a:extLst>
          </p:cNvPr>
          <p:cNvSpPr txBox="1"/>
          <p:nvPr/>
        </p:nvSpPr>
        <p:spPr>
          <a:xfrm>
            <a:off x="609600" y="6413500"/>
            <a:ext cx="10972800" cy="276999"/>
          </a:xfrm>
          <a:prstGeom prst="rect">
            <a:avLst/>
          </a:prstGeom>
          <a:noFill/>
        </p:spPr>
        <p:txBody>
          <a:bodyPr vert="horz" lIns="0" rIns="0" rtlCol="0">
            <a:spAutoFit/>
          </a:bodyPr>
          <a:lstStyle/>
          <a:p>
            <a:r>
              <a:rPr lang="it-IT" sz="1200">
                <a:solidFill>
                  <a:srgbClr val="5B6573"/>
                </a:solidFill>
                <a:latin typeface="Arial" panose="020B0604020202020204" pitchFamily="34" charset="0"/>
              </a:rPr>
              <a:t>Le metriche non consentono una graduatoria generale. La QEC è complementare all'ottimizzazione del circuito.</a:t>
            </a:r>
            <a:endParaRPr lang="en-GB" sz="1200">
              <a:solidFill>
                <a:srgbClr val="5B6573"/>
              </a:solidFill>
              <a:latin typeface="Arial" panose="020B0604020202020204" pitchFamily="34" charset="0"/>
            </a:endParaRPr>
          </a:p>
        </p:txBody>
      </p:sp>
    </p:spTree>
    <p:extLst>
      <p:ext uri="{BB962C8B-B14F-4D97-AF65-F5344CB8AC3E}">
        <p14:creationId xmlns:p14="http://schemas.microsoft.com/office/powerpoint/2010/main" val="5401297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D44FC83-C70B-46CD-8C70-92D7C3D9C2A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Conclusioni e limiti</a:t>
            </a:r>
            <a:endParaRPr sz="2700" b="0">
              <a:solidFill>
                <a:srgbClr val="003366"/>
              </a:solidFill>
              <a:latin typeface="Arial"/>
              <a:ea typeface="Arial"/>
              <a:cs typeface="Arial"/>
            </a:endParaRPr>
          </a:p>
        </p:txBody>
      </p:sp>
      <p:pic>
        <p:nvPicPr>
          <p:cNvPr id="13" name="Picture 12"/>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20B7C71E-845D-4B6E-BAC4-41119EECCBA9}"/>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61EF0B45-22BD-40BF-B86A-74F485774734}"/>
              </a:ext>
            </a:extLst>
          </p:cNvPr>
          <p:cNvSpPr>
            <a:spLocks noGrp="1"/>
          </p:cNvSpPr>
          <p:nvPr/>
        </p:nvSpPr>
        <p:spPr>
          <a:xfrm>
            <a:off x="7477125" y="828675"/>
            <a:ext cx="3228975" cy="219075"/>
          </a:xfrm>
          <a:prstGeom prst="rect">
            <a:avLst/>
          </a:prstGeom>
          <a:noFill/>
          <a:ln w="0">
            <a:noFill/>
          </a:ln>
        </p:spPr>
        <p:txBody>
          <a:bodyPr rIns="0" anchor="ctr">
            <a:noAutofit/>
          </a:bodyPr>
          <a:lstStyle/>
          <a:p>
            <a:pPr algn="r">
              <a:defRPr sz="1200" b="0">
                <a:solidFill>
                  <a:srgbClr val="203344"/>
                </a:solidFill>
                <a:latin typeface="Arial"/>
                <a:ea typeface="Arial"/>
                <a:cs typeface="Arial"/>
              </a:defRPr>
            </a:pPr>
            <a:r>
              <a:rPr lang="it-IT" sz="1050" b="0">
                <a:solidFill>
                  <a:srgbClr val="203344"/>
                </a:solidFill>
                <a:latin typeface="Arial"/>
                <a:ea typeface="Arial"/>
                <a:cs typeface="Arial"/>
              </a:rPr>
              <a:t>Conclusioni e limiti | 15</a:t>
            </a:r>
            <a:endParaRPr sz="105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D9FD045C-2318-472B-9B26-08CDB5EF9595}"/>
              </a:ext>
            </a:extLst>
          </p:cNvPr>
          <p:cNvSpPr>
            <a:spLocks noGrp="1"/>
          </p:cNvSpPr>
          <p:nvPr/>
        </p:nvSpPr>
        <p:spPr>
          <a:xfrm>
            <a:off x="609600" y="1346200"/>
            <a:ext cx="10972800" cy="1016000"/>
          </a:xfrm>
          <a:prstGeom prst="rect">
            <a:avLst/>
          </a:prstGeom>
          <a:noFill/>
          <a:ln w="0">
            <a:noFill/>
          </a:ln>
        </p:spPr>
        <p:txBody>
          <a:bodyPr>
            <a:noAutofit/>
          </a:bodyPr>
          <a:lstStyle/>
          <a:p>
            <a:pPr>
              <a:defRPr sz="3450" b="1">
                <a:solidFill>
                  <a:srgbClr val="003366"/>
                </a:solidFill>
                <a:latin typeface="Arial"/>
                <a:ea typeface="Arial"/>
                <a:cs typeface="Arial"/>
              </a:defRPr>
            </a:pPr>
            <a:r>
              <a:rPr lang="it-IT" sz="2600" b="1">
                <a:solidFill>
                  <a:srgbClr val="003366"/>
                </a:solidFill>
                <a:latin typeface="Arial"/>
                <a:ea typeface="Arial"/>
                <a:cs typeface="Arial"/>
              </a:rPr>
              <a:t>Il valore di una tecnica dipende dall'informazione che sfrutta e dalla forza della baseline.</a:t>
            </a:r>
            <a:endParaRPr sz="2600" b="1">
              <a:solidFill>
                <a:srgbClr val="003366"/>
              </a:solidFill>
              <a:latin typeface="Arial"/>
              <a:ea typeface="Arial"/>
              <a:cs typeface="Arial"/>
            </a:endParaRPr>
          </a:p>
        </p:txBody>
      </p:sp>
      <p:sp>
        <p:nvSpPr>
          <p:cNvPr id="2" name="Rectangle: Rounded Corners 1">
            <a:extLst>
              <a:ext uri="{FF2B5EF4-FFF2-40B4-BE49-F238E27FC236}">
                <a16:creationId xmlns:a16="http://schemas.microsoft.com/office/drawing/2014/main" id="{79DE2815-21B7-682F-A426-5F90BFDD3396}"/>
              </a:ext>
            </a:extLst>
          </p:cNvPr>
          <p:cNvSpPr/>
          <p:nvPr/>
        </p:nvSpPr>
        <p:spPr>
          <a:xfrm>
            <a:off x="609600" y="2603500"/>
            <a:ext cx="3457600" cy="3302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Rounded Corners 13">
            <a:extLst>
              <a:ext uri="{FF2B5EF4-FFF2-40B4-BE49-F238E27FC236}">
                <a16:creationId xmlns:a16="http://schemas.microsoft.com/office/drawing/2014/main" id="{A1C020A3-720D-427F-D9DE-ECE06638CA52}"/>
              </a:ext>
            </a:extLst>
          </p:cNvPr>
          <p:cNvSpPr/>
          <p:nvPr/>
        </p:nvSpPr>
        <p:spPr>
          <a:xfrm>
            <a:off x="4367200" y="2603500"/>
            <a:ext cx="3457600" cy="3302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F5790D89-B65C-CB3A-B26D-A612DB8546D8}"/>
              </a:ext>
            </a:extLst>
          </p:cNvPr>
          <p:cNvSpPr txBox="1"/>
          <p:nvPr/>
        </p:nvSpPr>
        <p:spPr>
          <a:xfrm>
            <a:off x="789600" y="2755900"/>
            <a:ext cx="3097600" cy="381000"/>
          </a:xfrm>
          <a:prstGeom prst="rect">
            <a:avLst/>
          </a:prstGeom>
          <a:noFill/>
        </p:spPr>
        <p:txBody>
          <a:bodyPr vert="horz" wrap="square" rtlCol="0">
            <a:noAutofit/>
          </a:bodyPr>
          <a:lstStyle/>
          <a:p>
            <a:r>
              <a:rPr lang="en-GB" sz="2175" b="1">
                <a:solidFill>
                  <a:srgbClr val="003366"/>
                </a:solidFill>
                <a:latin typeface="Arial" panose="020B0604020202020204" pitchFamily="34" charset="0"/>
              </a:rPr>
              <a:t>Cosa </a:t>
            </a:r>
            <a:r>
              <a:rPr lang="en-GB" sz="2175" b="1" err="1">
                <a:solidFill>
                  <a:srgbClr val="003366"/>
                </a:solidFill>
                <a:latin typeface="Arial" panose="020B0604020202020204" pitchFamily="34" charset="0"/>
              </a:rPr>
              <a:t>ho</a:t>
            </a:r>
            <a:r>
              <a:rPr lang="en-GB" sz="2175" b="1">
                <a:solidFill>
                  <a:srgbClr val="003366"/>
                </a:solidFill>
                <a:latin typeface="Arial" panose="020B0604020202020204" pitchFamily="34" charset="0"/>
              </a:rPr>
              <a:t> </a:t>
            </a:r>
            <a:r>
              <a:rPr lang="en-GB" sz="2175" b="1" err="1">
                <a:solidFill>
                  <a:srgbClr val="003366"/>
                </a:solidFill>
                <a:latin typeface="Arial" panose="020B0604020202020204" pitchFamily="34" charset="0"/>
              </a:rPr>
              <a:t>mostrato</a:t>
            </a:r>
            <a:endParaRPr lang="en-GB" sz="2175" b="1">
              <a:solidFill>
                <a:srgbClr val="003366"/>
              </a:solidFill>
              <a:latin typeface="Arial" panose="020B0604020202020204" pitchFamily="34" charset="0"/>
            </a:endParaRPr>
          </a:p>
        </p:txBody>
      </p:sp>
      <p:sp>
        <p:nvSpPr>
          <p:cNvPr id="16" name="TextBox 15">
            <a:extLst>
              <a:ext uri="{FF2B5EF4-FFF2-40B4-BE49-F238E27FC236}">
                <a16:creationId xmlns:a16="http://schemas.microsoft.com/office/drawing/2014/main" id="{0B6CF6D8-7978-90DC-1925-74FEA6FB9763}"/>
              </a:ext>
            </a:extLst>
          </p:cNvPr>
          <p:cNvSpPr txBox="1"/>
          <p:nvPr/>
        </p:nvSpPr>
        <p:spPr>
          <a:xfrm>
            <a:off x="4547200" y="2755900"/>
            <a:ext cx="3097600" cy="381000"/>
          </a:xfrm>
          <a:prstGeom prst="rect">
            <a:avLst/>
          </a:prstGeom>
          <a:noFill/>
        </p:spPr>
        <p:txBody>
          <a:bodyPr vert="horz" wrap="square" rtlCol="0">
            <a:noAutofit/>
          </a:bodyPr>
          <a:lstStyle/>
          <a:p>
            <a:r>
              <a:rPr lang="en-GB" sz="2175" b="1">
                <a:solidFill>
                  <a:srgbClr val="003366"/>
                </a:solidFill>
                <a:latin typeface="Arial" panose="020B0604020202020204" pitchFamily="34" charset="0"/>
              </a:rPr>
              <a:t>Contributo personale</a:t>
            </a:r>
          </a:p>
        </p:txBody>
      </p:sp>
      <p:sp>
        <p:nvSpPr>
          <p:cNvPr id="17" name="TextBox 16">
            <a:extLst>
              <a:ext uri="{FF2B5EF4-FFF2-40B4-BE49-F238E27FC236}">
                <a16:creationId xmlns:a16="http://schemas.microsoft.com/office/drawing/2014/main" id="{BE5014B6-44D1-DC9B-7BB9-F99AF83A1D2A}"/>
              </a:ext>
            </a:extLst>
          </p:cNvPr>
          <p:cNvSpPr txBox="1"/>
          <p:nvPr/>
        </p:nvSpPr>
        <p:spPr>
          <a:xfrm>
            <a:off x="789600" y="3251200"/>
            <a:ext cx="3097600" cy="369332"/>
          </a:xfrm>
          <a:prstGeom prst="rect">
            <a:avLst/>
          </a:prstGeom>
          <a:noFill/>
        </p:spPr>
        <p:txBody>
          <a:bodyPr vert="horz" wrap="square" rtlCol="0">
            <a:noAutofit/>
          </a:bodyPr>
          <a:lstStyle/>
          <a:p>
            <a:pPr>
              <a:spcAft>
                <a:spcPts val="1000"/>
              </a:spcAft>
            </a:pPr>
            <a:r>
              <a:rPr lang="it-IT" sz="1725">
                <a:solidFill>
                  <a:srgbClr val="203344"/>
                </a:solidFill>
                <a:latin typeface="Arial" panose="020B0604020202020204" pitchFamily="34" charset="0"/>
              </a:rPr>
              <a:t>Più candidati, non il ML, riducono le iterazioni.</a:t>
            </a:r>
          </a:p>
          <a:p>
            <a:pPr>
              <a:spcAft>
                <a:spcPts val="1000"/>
              </a:spcAft>
            </a:pPr>
            <a:r>
              <a:rPr lang="it-IT" sz="1725">
                <a:solidFill>
                  <a:srgbClr val="203344"/>
                </a:solidFill>
                <a:latin typeface="Arial" panose="020B0604020202020204" pitchFamily="34" charset="0"/>
              </a:rPr>
              <a:t>La QEC aiuta solo sotto soglia; decoder e codice contano insieme.</a:t>
            </a:r>
          </a:p>
          <a:p>
            <a:pPr>
              <a:spcAft>
                <a:spcPts val="1000"/>
              </a:spcAft>
            </a:pPr>
            <a:r>
              <a:rPr lang="it-IT" sz="1725">
                <a:solidFill>
                  <a:srgbClr val="203344"/>
                </a:solidFill>
                <a:latin typeface="Arial" panose="020B0604020202020204" pitchFamily="34" charset="0"/>
              </a:rPr>
              <a:t>L'AQFT dà +14,87 punti su N = 15; su N = 21 il beneficio non è dimostrato.</a:t>
            </a:r>
            <a:endParaRPr lang="en-GB" sz="1725">
              <a:solidFill>
                <a:srgbClr val="203344"/>
              </a:solidFill>
              <a:latin typeface="Arial" panose="020B0604020202020204" pitchFamily="34" charset="0"/>
            </a:endParaRPr>
          </a:p>
        </p:txBody>
      </p:sp>
      <p:sp>
        <p:nvSpPr>
          <p:cNvPr id="18" name="TextBox 17">
            <a:extLst>
              <a:ext uri="{FF2B5EF4-FFF2-40B4-BE49-F238E27FC236}">
                <a16:creationId xmlns:a16="http://schemas.microsoft.com/office/drawing/2014/main" id="{3F45B240-B8AE-8BB8-DDD9-8B7D9D18CA56}"/>
              </a:ext>
            </a:extLst>
          </p:cNvPr>
          <p:cNvSpPr txBox="1"/>
          <p:nvPr/>
        </p:nvSpPr>
        <p:spPr>
          <a:xfrm>
            <a:off x="4547200" y="3251200"/>
            <a:ext cx="3097600" cy="369332"/>
          </a:xfrm>
          <a:prstGeom prst="rect">
            <a:avLst/>
          </a:prstGeom>
          <a:noFill/>
        </p:spPr>
        <p:txBody>
          <a:bodyPr vert="horz" wrap="square" rtlCol="0">
            <a:noAutofit/>
          </a:bodyPr>
          <a:lstStyle/>
          <a:p>
            <a:pPr>
              <a:spcAft>
                <a:spcPts val="1000"/>
              </a:spcAft>
            </a:pPr>
            <a:r>
              <a:rPr lang="it-IT" sz="1725">
                <a:solidFill>
                  <a:srgbClr val="203344"/>
                </a:solidFill>
                <a:latin typeface="Arial" panose="020B0604020202020204" pitchFamily="34" charset="0"/>
              </a:rPr>
              <a:t>Circuiti per N = 15, 21 e 35, implementati e validati.</a:t>
            </a:r>
          </a:p>
          <a:p>
            <a:pPr>
              <a:spcAft>
                <a:spcPts val="1000"/>
              </a:spcAft>
            </a:pPr>
            <a:r>
              <a:rPr lang="it-IT" sz="1725">
                <a:solidFill>
                  <a:srgbClr val="203344"/>
                </a:solidFill>
                <a:latin typeface="Arial" panose="020B0604020202020204" pitchFamily="34" charset="0"/>
              </a:rPr>
              <a:t>Campagne con baseline esplicite e confronti appaiati.</a:t>
            </a:r>
          </a:p>
          <a:p>
            <a:pPr>
              <a:spcAft>
                <a:spcPts val="1000"/>
              </a:spcAft>
            </a:pPr>
            <a:r>
              <a:rPr lang="it-IT" sz="1725">
                <a:solidFill>
                  <a:srgbClr val="203344"/>
                </a:solidFill>
                <a:latin typeface="Arial" panose="020B0604020202020204" pitchFamily="34" charset="0"/>
              </a:rPr>
              <a:t>Pipeline riproducibile: versioni, parametri e seed registrati.</a:t>
            </a:r>
          </a:p>
        </p:txBody>
      </p:sp>
      <p:sp>
        <p:nvSpPr>
          <p:cNvPr id="19" name="TextBox 18">
            <a:extLst>
              <a:ext uri="{FF2B5EF4-FFF2-40B4-BE49-F238E27FC236}">
                <a16:creationId xmlns:a16="http://schemas.microsoft.com/office/drawing/2014/main" id="{007C03F3-6ECC-0A57-515F-008B8206761D}"/>
              </a:ext>
            </a:extLst>
          </p:cNvPr>
          <p:cNvSpPr txBox="1"/>
          <p:nvPr/>
        </p:nvSpPr>
        <p:spPr>
          <a:xfrm>
            <a:off x="609600" y="6096000"/>
            <a:ext cx="10972800" cy="369332"/>
          </a:xfrm>
          <a:prstGeom prst="rect">
            <a:avLst/>
          </a:prstGeom>
          <a:noFill/>
        </p:spPr>
        <p:txBody>
          <a:bodyPr vert="horz" wrap="square" rtlCol="0">
            <a:noAutofit/>
          </a:bodyPr>
          <a:lstStyle/>
          <a:p>
            <a:r>
              <a:rPr lang="it-IT" sz="1725" b="1">
                <a:solidFill>
                  <a:srgbClr val="175F99"/>
                </a:solidFill>
                <a:latin typeface="Arial" panose="020B0604020202020204" pitchFamily="34" charset="0"/>
              </a:rPr>
              <a:t>Ottimizzazione del circuito e QEC sono complementari: la prima contiene le risorse, la seconda protegge l'esecuzione.</a:t>
            </a:r>
            <a:endParaRPr lang="en-GB" sz="1725" b="1">
              <a:solidFill>
                <a:srgbClr val="175F99"/>
              </a:solidFill>
              <a:latin typeface="Arial" panose="020B0604020202020204" pitchFamily="34" charset="0"/>
            </a:endParaRPr>
          </a:p>
        </p:txBody>
      </p:sp>
      <p:sp>
        <p:nvSpPr>
          <p:cNvPr id="6" name="Rectangle: Rounded Corners 13">
            <a:extLst>
              <a:ext uri="{FF2B5EF4-FFF2-40B4-BE49-F238E27FC236}">
                <a16:creationId xmlns:a16="http://schemas.microsoft.com/office/drawing/2014/main" id="{A1C020A3-720D-427F-D9DE-ECE06638CA52}"/>
              </a:ext>
            </a:extLst>
          </p:cNvPr>
          <p:cNvSpPr/>
          <p:nvPr/>
        </p:nvSpPr>
        <p:spPr>
          <a:xfrm>
            <a:off x="8124800" y="2603500"/>
            <a:ext cx="3457600" cy="3302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15">
            <a:extLst>
              <a:ext uri="{FF2B5EF4-FFF2-40B4-BE49-F238E27FC236}">
                <a16:creationId xmlns:a16="http://schemas.microsoft.com/office/drawing/2014/main" id="{0B6CF6D8-7978-90DC-1925-74FEA6FB9763}"/>
              </a:ext>
            </a:extLst>
          </p:cNvPr>
          <p:cNvSpPr txBox="1"/>
          <p:nvPr/>
        </p:nvSpPr>
        <p:spPr>
          <a:xfrm>
            <a:off x="8304800" y="2755900"/>
            <a:ext cx="3097600" cy="381000"/>
          </a:xfrm>
          <a:prstGeom prst="rect">
            <a:avLst/>
          </a:prstGeom>
          <a:noFill/>
        </p:spPr>
        <p:txBody>
          <a:bodyPr vert="horz" wrap="square" rtlCol="0">
            <a:noAutofit/>
          </a:bodyPr>
          <a:lstStyle/>
          <a:p>
            <a:r>
              <a:rPr lang="en-GB" sz="2175" b="1">
                <a:solidFill>
                  <a:srgbClr val="003366"/>
                </a:solidFill>
                <a:latin typeface="Arial" panose="020B0604020202020204" pitchFamily="34" charset="0"/>
              </a:rPr>
              <a:t>Limiti e sviluppi futuri</a:t>
            </a:r>
          </a:p>
        </p:txBody>
      </p:sp>
      <p:sp>
        <p:nvSpPr>
          <p:cNvPr id="8" name="TextBox 17">
            <a:extLst>
              <a:ext uri="{FF2B5EF4-FFF2-40B4-BE49-F238E27FC236}">
                <a16:creationId xmlns:a16="http://schemas.microsoft.com/office/drawing/2014/main" id="{3F45B240-B8AE-8BB8-DDD9-8B7D9D18CA56}"/>
              </a:ext>
            </a:extLst>
          </p:cNvPr>
          <p:cNvSpPr txBox="1"/>
          <p:nvPr/>
        </p:nvSpPr>
        <p:spPr>
          <a:xfrm>
            <a:off x="8304800" y="3251200"/>
            <a:ext cx="3097600" cy="369332"/>
          </a:xfrm>
          <a:prstGeom prst="rect">
            <a:avLst/>
          </a:prstGeom>
          <a:noFill/>
        </p:spPr>
        <p:txBody>
          <a:bodyPr vert="horz" wrap="square" rtlCol="0">
            <a:noAutofit/>
          </a:bodyPr>
          <a:lstStyle/>
          <a:p>
            <a:pPr>
              <a:spcAft>
                <a:spcPts val="1000"/>
              </a:spcAft>
            </a:pPr>
            <a:r>
              <a:rPr lang="it-IT" sz="1725">
                <a:solidFill>
                  <a:srgbClr val="203344"/>
                </a:solidFill>
                <a:latin typeface="Arial" panose="020B0604020202020204" pitchFamily="34" charset="0"/>
              </a:rPr>
              <a:t>Solo simulazione, su poche istanze.</a:t>
            </a:r>
          </a:p>
          <a:p>
            <a:pPr>
              <a:spcAft>
                <a:spcPts val="1000"/>
              </a:spcAft>
            </a:pPr>
            <a:r>
              <a:rPr lang="it-IT" sz="1725">
                <a:solidFill>
                  <a:srgbClr val="203344"/>
                </a:solidFill>
                <a:latin typeface="Arial" panose="020B0604020202020204" pitchFamily="34" charset="0"/>
              </a:rPr>
              <a:t>Nessuna esecuzione di Shor protetta dagli errori.</a:t>
            </a:r>
          </a:p>
          <a:p>
            <a:pPr>
              <a:spcAft>
                <a:spcPts val="1000"/>
              </a:spcAft>
            </a:pPr>
            <a:r>
              <a:rPr lang="it-IT" sz="1725">
                <a:solidFill>
                  <a:srgbClr val="203344"/>
                </a:solidFill>
                <a:latin typeface="Arial" panose="020B0604020202020204" pitchFamily="34" charset="0"/>
              </a:rPr>
              <a:t>Prossimo passo: circuiti più leggeri, uniti alla correzione degli errori.</a:t>
            </a:r>
          </a:p>
        </p:txBody>
      </p:sp>
    </p:spTree>
    <p:extLst>
      <p:ext uri="{BB962C8B-B14F-4D97-AF65-F5344CB8AC3E}">
        <p14:creationId xmlns:p14="http://schemas.microsoft.com/office/powerpoint/2010/main" val="23373134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1CA37C23-8EF6-4C17-A4F4-E71FFDA7BF90}"/>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Demo: Shor passo per passo, con e senza rumore</a:t>
            </a:r>
            <a:endParaRPr sz="2700" b="0">
              <a:solidFill>
                <a:srgbClr val="003366"/>
              </a:solidFill>
              <a:latin typeface="Arial"/>
              <a:ea typeface="Arial"/>
              <a:cs typeface="Arial"/>
            </a:endParaRPr>
          </a:p>
        </p:txBody>
      </p:sp>
      <p:pic>
        <p:nvPicPr>
          <p:cNvPr id="16" name="Picture 15"/>
          <p:cNvPicPr>
            <a:picLocks noChangeAspect="1"/>
          </p:cNvPicPr>
          <p:nvPr/>
        </p:nvPicPr>
        <p:blipFill>
          <a:blip r:embed="rId5"/>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42491AB4-A50E-4972-B4BC-A45D2FE2D097}"/>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BCA1C702-C5F3-4FAF-A2B8-E1EA38A991CF}"/>
              </a:ext>
            </a:extLst>
          </p:cNvPr>
          <p:cNvSpPr>
            <a:spLocks noGrp="1"/>
          </p:cNvSpPr>
          <p:nvPr/>
        </p:nvSpPr>
        <p:spPr>
          <a:xfrm>
            <a:off x="7477125" y="828675"/>
            <a:ext cx="3228975" cy="219075"/>
          </a:xfrm>
          <a:prstGeom prst="rect">
            <a:avLst/>
          </a:prstGeom>
          <a:noFill/>
          <a:ln w="0">
            <a:noFill/>
          </a:ln>
        </p:spPr>
        <p:txBody>
          <a:bodyPr rIns="0" anchor="ctr">
            <a:noAutofit/>
          </a:bodyPr>
          <a:lstStyle/>
          <a:p>
            <a:pPr algn="r">
              <a:defRPr sz="1200" b="0">
                <a:solidFill>
                  <a:srgbClr val="203344"/>
                </a:solidFill>
                <a:latin typeface="Arial"/>
                <a:ea typeface="Arial"/>
                <a:cs typeface="Arial"/>
              </a:defRPr>
            </a:pPr>
            <a:r>
              <a:rPr lang="it-IT" sz="1050" b="0">
                <a:solidFill>
                  <a:srgbClr val="203344"/>
                </a:solidFill>
                <a:latin typeface="Arial"/>
                <a:ea typeface="Arial"/>
                <a:cs typeface="Arial"/>
              </a:rPr>
              <a:t>Demo · Shor sotto rumore | 16</a:t>
            </a:r>
            <a:endParaRPr sz="1050" b="0">
              <a:solidFill>
                <a:srgbClr val="203344"/>
              </a:solidFill>
              <a:latin typeface="Arial"/>
              <a:ea typeface="Arial"/>
              <a:cs typeface="Arial"/>
            </a:endParaRPr>
          </a:p>
        </p:txBody>
      </p:sp>
      <p:pic>
        <p:nvPicPr>
          <p:cNvPr id="2" name="Video demo">
            <a:hlinkClick r:id="" action="ppaction://media"/>
            <a:extLst>
              <a:ext uri="{FF2B5EF4-FFF2-40B4-BE49-F238E27FC236}">
                <a16:creationId xmlns:a16="http://schemas.microsoft.com/office/drawing/2014/main" id="{3D85B229-0E24-4FE6-B0E9-3A912C1EAE9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1128889" y="1190625"/>
            <a:ext cx="9934222" cy="5588000"/>
          </a:xfrm>
          <a:prstGeom prst="rect">
            <a:avLst/>
          </a:prstGeom>
        </p:spPr>
      </p:pic>
    </p:spTree>
    <p:extLst>
      <p:ext uri="{BB962C8B-B14F-4D97-AF65-F5344CB8AC3E}">
        <p14:creationId xmlns:p14="http://schemas.microsoft.com/office/powerpoint/2010/main" val="2823036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93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2"/>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2"/>
                                        </p:tgtEl>
                                      </p:cBhvr>
                                    </p:cmd>
                                  </p:childTnLst>
                                </p:cTn>
                              </p:par>
                            </p:childTnLst>
                          </p:cTn>
                        </p:par>
                      </p:childTnLst>
                    </p:cTn>
                  </p:par>
                </p:childTnLst>
              </p:cTn>
              <p:nextCondLst>
                <p:cond evt="onClick" delay="0">
                  <p:tgtEl>
                    <p:spTgt spid="2"/>
                  </p:tgtEl>
                </p:cond>
              </p:nextCondLst>
            </p:seq>
            <p:video>
              <p:cMediaNode vol="80000">
                <p:cTn id="12" fill="hold" display="0">
                  <p:stCondLst>
                    <p:cond delay="indefinite"/>
                  </p:stCondLst>
                </p:cTn>
                <p:tgtEl>
                  <p:spTgt spid="2"/>
                </p:tgtEl>
              </p:cMediaNode>
            </p:video>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FCB8C3-6EF2-4D5C-830F-D31C57913E1A}"/>
              </a:ext>
            </a:extLst>
          </p:cNvPr>
          <p:cNvSpPr>
            <a:spLocks noGrp="1"/>
          </p:cNvSpPr>
          <p:nvPr/>
        </p:nvSpPr>
        <p:spPr>
          <a:xfrm>
            <a:off x="609600" y="1847850"/>
            <a:ext cx="7581900" cy="1828800"/>
          </a:xfrm>
          <a:prstGeom prst="rect">
            <a:avLst/>
          </a:prstGeom>
          <a:noFill/>
          <a:ln w="0">
            <a:noFill/>
          </a:ln>
        </p:spPr>
        <p:txBody>
          <a:bodyPr>
            <a:noAutofit/>
          </a:bodyPr>
          <a:lstStyle/>
          <a:p>
            <a:pPr>
              <a:defRPr sz="5250" b="0">
                <a:solidFill>
                  <a:srgbClr val="003366"/>
                </a:solidFill>
                <a:latin typeface="Arial"/>
                <a:ea typeface="Arial"/>
                <a:cs typeface="Arial"/>
              </a:defRPr>
            </a:pPr>
            <a:r>
              <a:rPr sz="5250" b="0">
                <a:solidFill>
                  <a:srgbClr val="003366"/>
                </a:solidFill>
                <a:latin typeface="Arial"/>
                <a:ea typeface="Arial"/>
                <a:cs typeface="Arial"/>
              </a:rPr>
              <a:t>Grazie</a:t>
            </a:r>
          </a:p>
          <a:p>
            <a:pPr>
              <a:defRPr sz="5250" b="0">
                <a:solidFill>
                  <a:srgbClr val="003366"/>
                </a:solidFill>
                <a:latin typeface="Arial"/>
                <a:ea typeface="Arial"/>
                <a:cs typeface="Arial"/>
              </a:defRPr>
            </a:pPr>
            <a:r>
              <a:rPr sz="5250" b="0">
                <a:solidFill>
                  <a:srgbClr val="003366"/>
                </a:solidFill>
                <a:latin typeface="Arial"/>
                <a:ea typeface="Arial"/>
                <a:cs typeface="Arial"/>
              </a:rPr>
              <a:t>per l’attenzione</a:t>
            </a:r>
          </a:p>
        </p:txBody>
      </p:sp>
      <p:pic>
        <p:nvPicPr>
          <p:cNvPr id="7" name="Picture 6"/>
          <p:cNvPicPr>
            <a:picLocks noChangeAspect="1"/>
          </p:cNvPicPr>
          <p:nvPr/>
        </p:nvPicPr>
        <p:blipFill>
          <a:blip r:embed="rId3"/>
          <a:stretch/>
        </p:blipFill>
        <p:spPr>
          <a:xfrm>
            <a:off x="7810500" y="1753654"/>
            <a:ext cx="3743325" cy="3512617"/>
          </a:xfrm>
          <a:prstGeom prst="rect">
            <a:avLst/>
          </a:prstGeom>
        </p:spPr>
      </p:pic>
      <p:sp>
        <p:nvSpPr>
          <p:cNvPr id="3" name="Rectangle 2">
            <a:extLst>
              <a:ext uri="{FF2B5EF4-FFF2-40B4-BE49-F238E27FC236}">
                <a16:creationId xmlns:a16="http://schemas.microsoft.com/office/drawing/2014/main" id="{85C0F97C-7D70-493D-8ABF-F3E5206AB52F}"/>
              </a:ext>
            </a:extLst>
          </p:cNvPr>
          <p:cNvSpPr>
            <a:spLocks noGrp="1"/>
          </p:cNvSpPr>
          <p:nvPr/>
        </p:nvSpPr>
        <p:spPr>
          <a:xfrm>
            <a:off x="609600" y="4886325"/>
            <a:ext cx="6810375"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Claudio Dragotta</a:t>
            </a:r>
          </a:p>
        </p:txBody>
      </p:sp>
      <p:sp>
        <p:nvSpPr>
          <p:cNvPr id="4" name="Rectangle 3">
            <a:extLst>
              <a:ext uri="{FF2B5EF4-FFF2-40B4-BE49-F238E27FC236}">
                <a16:creationId xmlns:a16="http://schemas.microsoft.com/office/drawing/2014/main" id="{BF3BF28B-851A-43E0-9AB9-72CF4D3F664A}"/>
              </a:ext>
            </a:extLst>
          </p:cNvPr>
          <p:cNvSpPr>
            <a:spLocks noGrp="1"/>
          </p:cNvSpPr>
          <p:nvPr/>
        </p:nvSpPr>
        <p:spPr>
          <a:xfrm>
            <a:off x="609600" y="5381625"/>
            <a:ext cx="6953250" cy="819150"/>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Ingegneria dei Sistemi Intelligenti</a:t>
            </a:r>
          </a:p>
          <a:p>
            <a:pPr>
              <a:defRPr sz="2025" b="0">
                <a:solidFill>
                  <a:srgbClr val="203344"/>
                </a:solidFill>
                <a:latin typeface="Arial"/>
                <a:ea typeface="Arial"/>
                <a:cs typeface="Arial"/>
              </a:defRPr>
            </a:pPr>
            <a:r>
              <a:rPr sz="2025" b="0">
                <a:solidFill>
                  <a:srgbClr val="203344"/>
                </a:solidFill>
                <a:latin typeface="Arial"/>
                <a:ea typeface="Arial"/>
                <a:cs typeface="Arial"/>
              </a:rPr>
              <a:t>A.A. 2025/2026</a:t>
            </a:r>
          </a:p>
        </p:txBody>
      </p:sp>
      <p:pic>
        <p:nvPicPr>
          <p:cNvPr id="10" name="Picture 9"/>
          <p:cNvPicPr>
            <a:picLocks noChangeAspect="1"/>
          </p:cNvPicPr>
          <p:nvPr/>
        </p:nvPicPr>
        <p:blipFill>
          <a:blip r:embed="rId4"/>
          <a:stretch/>
        </p:blipFill>
        <p:spPr>
          <a:xfrm>
            <a:off x="619125" y="515764"/>
            <a:ext cx="1019175" cy="844897"/>
          </a:xfrm>
          <a:prstGeom prst="rect">
            <a:avLst/>
          </a:prstGeom>
        </p:spPr>
      </p:pic>
    </p:spTree>
    <p:extLst>
      <p:ext uri="{BB962C8B-B14F-4D97-AF65-F5344CB8AC3E}">
        <p14:creationId xmlns:p14="http://schemas.microsoft.com/office/powerpoint/2010/main" val="24024978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93C3B39-6012-409D-8C55-2E1E8048285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Il problema e l'obiettivo</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82AFE8A-0115-4407-BDA2-396C170A082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BD900CC-09C6-4AFF-B224-9EC736B42A92}"/>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Introduzione | 2</a:t>
            </a:r>
            <a:endParaRPr sz="1200" b="0">
              <a:solidFill>
                <a:srgbClr val="203344"/>
              </a:solidFill>
              <a:latin typeface="Arial"/>
              <a:ea typeface="Arial"/>
              <a:cs typeface="Arial"/>
            </a:endParaRPr>
          </a:p>
        </p:txBody>
      </p:sp>
      <p:sp>
        <p:nvSpPr>
          <p:cNvPr id="20" name="Rectangle: Rounded Corners 19">
            <a:extLst>
              <a:ext uri="{FF2B5EF4-FFF2-40B4-BE49-F238E27FC236}">
                <a16:creationId xmlns:a16="http://schemas.microsoft.com/office/drawing/2014/main" id="{38666E43-9709-96E7-2343-4CD0DE161345}"/>
              </a:ext>
            </a:extLst>
          </p:cNvPr>
          <p:cNvSpPr/>
          <p:nvPr/>
        </p:nvSpPr>
        <p:spPr>
          <a:xfrm>
            <a:off x="609600" y="1905000"/>
            <a:ext cx="3429000" cy="3937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a:extLst>
              <a:ext uri="{FF2B5EF4-FFF2-40B4-BE49-F238E27FC236}">
                <a16:creationId xmlns:a16="http://schemas.microsoft.com/office/drawing/2014/main" id="{ED59C2EA-1B0E-4539-4F9E-DD553E4CBF9C}"/>
              </a:ext>
            </a:extLst>
          </p:cNvPr>
          <p:cNvSpPr/>
          <p:nvPr/>
        </p:nvSpPr>
        <p:spPr>
          <a:xfrm>
            <a:off x="812800" y="2108200"/>
            <a:ext cx="508000" cy="508000"/>
          </a:xfrm>
          <a:prstGeom prst="rect">
            <a:avLst/>
          </a:prstGeom>
          <a:solidFill>
            <a:srgbClr val="175F9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rgbClr val="FFFFFF"/>
                </a:solidFill>
                <a:latin typeface="Arial" panose="020B0604020202020204" pitchFamily="34" charset="0"/>
              </a:rPr>
              <a:t>1</a:t>
            </a:r>
          </a:p>
        </p:txBody>
      </p:sp>
      <p:sp>
        <p:nvSpPr>
          <p:cNvPr id="22" name="TextBox 21">
            <a:extLst>
              <a:ext uri="{FF2B5EF4-FFF2-40B4-BE49-F238E27FC236}">
                <a16:creationId xmlns:a16="http://schemas.microsoft.com/office/drawing/2014/main" id="{EC775805-E19D-BF97-56E7-7A6F48267843}"/>
              </a:ext>
            </a:extLst>
          </p:cNvPr>
          <p:cNvSpPr txBox="1"/>
          <p:nvPr/>
        </p:nvSpPr>
        <p:spPr>
          <a:xfrm>
            <a:off x="1422400" y="2159000"/>
            <a:ext cx="2476500" cy="369332"/>
          </a:xfrm>
          <a:prstGeom prst="rect">
            <a:avLst/>
          </a:prstGeom>
          <a:noFill/>
        </p:spPr>
        <p:txBody>
          <a:bodyPr vert="horz" wrap="square" rtlCol="0">
            <a:noAutofit/>
          </a:bodyPr>
          <a:lstStyle/>
          <a:p>
            <a:r>
              <a:rPr lang="en-GB" sz="2175" b="1">
                <a:solidFill>
                  <a:srgbClr val="003366"/>
                </a:solidFill>
                <a:latin typeface="Arial" panose="020B0604020202020204" pitchFamily="34" charset="0"/>
              </a:rPr>
              <a:t>Problema</a:t>
            </a:r>
          </a:p>
        </p:txBody>
      </p:sp>
      <p:sp>
        <p:nvSpPr>
          <p:cNvPr id="23" name="TextBox 22">
            <a:extLst>
              <a:ext uri="{FF2B5EF4-FFF2-40B4-BE49-F238E27FC236}">
                <a16:creationId xmlns:a16="http://schemas.microsoft.com/office/drawing/2014/main" id="{BD49DC3A-4222-7AA8-818D-DCCAFB52C39D}"/>
              </a:ext>
            </a:extLst>
          </p:cNvPr>
          <p:cNvSpPr txBox="1"/>
          <p:nvPr/>
        </p:nvSpPr>
        <p:spPr>
          <a:xfrm>
            <a:off x="762000" y="2794000"/>
            <a:ext cx="3124200" cy="369332"/>
          </a:xfrm>
          <a:prstGeom prst="rect">
            <a:avLst/>
          </a:prstGeom>
          <a:noFill/>
        </p:spPr>
        <p:txBody>
          <a:bodyPr vert="horz" wrap="square" rtlCol="0">
            <a:noAutofit/>
          </a:bodyPr>
          <a:lstStyle/>
          <a:p>
            <a:pPr>
              <a:spcAft>
                <a:spcPts val="800"/>
              </a:spcAft>
            </a:pPr>
            <a:r>
              <a:rPr lang="it-IT" sz="1725">
                <a:solidFill>
                  <a:srgbClr val="203344"/>
                </a:solidFill>
                <a:latin typeface="Arial" panose="020B0604020202020204" pitchFamily="34" charset="0"/>
              </a:rPr>
              <a:t>La sicurezza di RSA si basa sulla difficoltà di fattorizzare: Shor la supera.</a:t>
            </a:r>
          </a:p>
          <a:p>
            <a:pPr>
              <a:spcAft>
                <a:spcPts val="800"/>
              </a:spcAft>
            </a:pPr>
            <a:r>
              <a:rPr lang="it-IT" sz="1725">
                <a:solidFill>
                  <a:srgbClr val="203344"/>
                </a:solidFill>
                <a:latin typeface="Arial" panose="020B0604020202020204" pitchFamily="34" charset="0"/>
              </a:rPr>
              <a:t>Ma sull'hardware reale il rumore ne abbassa il successo.</a:t>
            </a:r>
          </a:p>
        </p:txBody>
      </p:sp>
      <p:sp>
        <p:nvSpPr>
          <p:cNvPr id="24" name="Rectangle: Rounded Corners 23">
            <a:extLst>
              <a:ext uri="{FF2B5EF4-FFF2-40B4-BE49-F238E27FC236}">
                <a16:creationId xmlns:a16="http://schemas.microsoft.com/office/drawing/2014/main" id="{555842E6-6C5D-B868-4612-2978F031FC3A}"/>
              </a:ext>
            </a:extLst>
          </p:cNvPr>
          <p:cNvSpPr/>
          <p:nvPr/>
        </p:nvSpPr>
        <p:spPr>
          <a:xfrm>
            <a:off x="4381500" y="1905000"/>
            <a:ext cx="3429000" cy="3937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24">
            <a:extLst>
              <a:ext uri="{FF2B5EF4-FFF2-40B4-BE49-F238E27FC236}">
                <a16:creationId xmlns:a16="http://schemas.microsoft.com/office/drawing/2014/main" id="{460D08D6-D801-4D22-47C5-343B22786BFD}"/>
              </a:ext>
            </a:extLst>
          </p:cNvPr>
          <p:cNvSpPr/>
          <p:nvPr/>
        </p:nvSpPr>
        <p:spPr>
          <a:xfrm>
            <a:off x="4584700" y="2108200"/>
            <a:ext cx="508000" cy="508000"/>
          </a:xfrm>
          <a:prstGeom prst="rect">
            <a:avLst/>
          </a:prstGeom>
          <a:solidFill>
            <a:srgbClr val="175F9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rgbClr val="FFFFFF"/>
                </a:solidFill>
                <a:latin typeface="Arial" panose="020B0604020202020204" pitchFamily="34" charset="0"/>
              </a:rPr>
              <a:t>2</a:t>
            </a:r>
          </a:p>
        </p:txBody>
      </p:sp>
      <p:sp>
        <p:nvSpPr>
          <p:cNvPr id="26" name="TextBox 25">
            <a:extLst>
              <a:ext uri="{FF2B5EF4-FFF2-40B4-BE49-F238E27FC236}">
                <a16:creationId xmlns:a16="http://schemas.microsoft.com/office/drawing/2014/main" id="{C4BD2BFF-53E9-C722-0C64-F7443124A63F}"/>
              </a:ext>
            </a:extLst>
          </p:cNvPr>
          <p:cNvSpPr txBox="1"/>
          <p:nvPr/>
        </p:nvSpPr>
        <p:spPr>
          <a:xfrm>
            <a:off x="5194300" y="2159000"/>
            <a:ext cx="2476500" cy="369332"/>
          </a:xfrm>
          <a:prstGeom prst="rect">
            <a:avLst/>
          </a:prstGeom>
          <a:noFill/>
        </p:spPr>
        <p:txBody>
          <a:bodyPr vert="horz" wrap="square" rtlCol="0">
            <a:noAutofit/>
          </a:bodyPr>
          <a:lstStyle/>
          <a:p>
            <a:r>
              <a:rPr lang="en-GB" sz="2175" b="1">
                <a:solidFill>
                  <a:srgbClr val="003366"/>
                </a:solidFill>
                <a:latin typeface="Arial" panose="020B0604020202020204" pitchFamily="34" charset="0"/>
              </a:rPr>
              <a:t>Obiettivo</a:t>
            </a:r>
          </a:p>
        </p:txBody>
      </p:sp>
      <p:sp>
        <p:nvSpPr>
          <p:cNvPr id="27" name="TextBox 26">
            <a:extLst>
              <a:ext uri="{FF2B5EF4-FFF2-40B4-BE49-F238E27FC236}">
                <a16:creationId xmlns:a16="http://schemas.microsoft.com/office/drawing/2014/main" id="{F33042A1-D440-C8AD-9BB5-A4BC2AD200EE}"/>
              </a:ext>
            </a:extLst>
          </p:cNvPr>
          <p:cNvSpPr txBox="1"/>
          <p:nvPr/>
        </p:nvSpPr>
        <p:spPr>
          <a:xfrm>
            <a:off x="4533900" y="2794000"/>
            <a:ext cx="3124200" cy="369332"/>
          </a:xfrm>
          <a:prstGeom prst="rect">
            <a:avLst/>
          </a:prstGeom>
          <a:noFill/>
        </p:spPr>
        <p:txBody>
          <a:bodyPr vert="horz" wrap="square" rtlCol="0">
            <a:noAutofit/>
          </a:bodyPr>
          <a:lstStyle/>
          <a:p>
            <a:pPr>
              <a:spcAft>
                <a:spcPts val="800"/>
              </a:spcAft>
            </a:pPr>
            <a:r>
              <a:rPr lang="it-IT" sz="1725">
                <a:solidFill>
                  <a:srgbClr val="203344"/>
                </a:solidFill>
                <a:latin typeface="Arial" panose="020B0604020202020204" pitchFamily="34" charset="0"/>
              </a:rPr>
              <a:t>Ridurre l'effetto del rumore su Shor.</a:t>
            </a:r>
          </a:p>
          <a:p>
            <a:pPr>
              <a:spcAft>
                <a:spcPts val="800"/>
              </a:spcAft>
            </a:pPr>
            <a:r>
              <a:rPr lang="it-IT" sz="1725">
                <a:solidFill>
                  <a:srgbClr val="203344"/>
                </a:solidFill>
                <a:latin typeface="Arial" panose="020B0604020202020204" pitchFamily="34" charset="0"/>
              </a:rPr>
              <a:t>Simulare gli errori e valutare strategie che lo rendano più resiliente.</a:t>
            </a:r>
          </a:p>
        </p:txBody>
      </p:sp>
      <p:sp>
        <p:nvSpPr>
          <p:cNvPr id="28" name="Rectangle: Rounded Corners 27">
            <a:extLst>
              <a:ext uri="{FF2B5EF4-FFF2-40B4-BE49-F238E27FC236}">
                <a16:creationId xmlns:a16="http://schemas.microsoft.com/office/drawing/2014/main" id="{759CAFCD-0A2D-3C97-1661-0E8BF22ABE49}"/>
              </a:ext>
            </a:extLst>
          </p:cNvPr>
          <p:cNvSpPr/>
          <p:nvPr/>
        </p:nvSpPr>
        <p:spPr>
          <a:xfrm>
            <a:off x="8153400" y="1905000"/>
            <a:ext cx="3429000" cy="3937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28">
            <a:extLst>
              <a:ext uri="{FF2B5EF4-FFF2-40B4-BE49-F238E27FC236}">
                <a16:creationId xmlns:a16="http://schemas.microsoft.com/office/drawing/2014/main" id="{D71E0B23-3FE9-DD0B-917B-2FA502E64EB1}"/>
              </a:ext>
            </a:extLst>
          </p:cNvPr>
          <p:cNvSpPr/>
          <p:nvPr/>
        </p:nvSpPr>
        <p:spPr>
          <a:xfrm>
            <a:off x="8356600" y="2108200"/>
            <a:ext cx="508000" cy="508000"/>
          </a:xfrm>
          <a:prstGeom prst="rect">
            <a:avLst/>
          </a:prstGeom>
          <a:solidFill>
            <a:srgbClr val="175F9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rgbClr val="FFFFFF"/>
                </a:solidFill>
                <a:latin typeface="Arial" panose="020B0604020202020204" pitchFamily="34" charset="0"/>
              </a:rPr>
              <a:t>3</a:t>
            </a:r>
          </a:p>
        </p:txBody>
      </p:sp>
      <p:sp>
        <p:nvSpPr>
          <p:cNvPr id="30" name="TextBox 29">
            <a:extLst>
              <a:ext uri="{FF2B5EF4-FFF2-40B4-BE49-F238E27FC236}">
                <a16:creationId xmlns:a16="http://schemas.microsoft.com/office/drawing/2014/main" id="{2E190D6B-F540-5CB0-9FE8-22255D524DB2}"/>
              </a:ext>
            </a:extLst>
          </p:cNvPr>
          <p:cNvSpPr txBox="1"/>
          <p:nvPr/>
        </p:nvSpPr>
        <p:spPr>
          <a:xfrm>
            <a:off x="8966200" y="2159000"/>
            <a:ext cx="2476500" cy="369332"/>
          </a:xfrm>
          <a:prstGeom prst="rect">
            <a:avLst/>
          </a:prstGeom>
          <a:noFill/>
        </p:spPr>
        <p:txBody>
          <a:bodyPr vert="horz" wrap="square" rtlCol="0">
            <a:noAutofit/>
          </a:bodyPr>
          <a:lstStyle/>
          <a:p>
            <a:r>
              <a:rPr lang="en-GB" sz="2175" b="1">
                <a:solidFill>
                  <a:srgbClr val="003366"/>
                </a:solidFill>
                <a:latin typeface="Arial" panose="020B0604020202020204" pitchFamily="34" charset="0"/>
              </a:rPr>
              <a:t>Strategie</a:t>
            </a:r>
          </a:p>
        </p:txBody>
      </p:sp>
      <p:sp>
        <p:nvSpPr>
          <p:cNvPr id="31" name="TextBox 30">
            <a:extLst>
              <a:ext uri="{FF2B5EF4-FFF2-40B4-BE49-F238E27FC236}">
                <a16:creationId xmlns:a16="http://schemas.microsoft.com/office/drawing/2014/main" id="{C7069C3B-6869-DCBD-86CB-A65A3CECA421}"/>
              </a:ext>
            </a:extLst>
          </p:cNvPr>
          <p:cNvSpPr txBox="1"/>
          <p:nvPr/>
        </p:nvSpPr>
        <p:spPr>
          <a:xfrm>
            <a:off x="8305800" y="2794000"/>
            <a:ext cx="3124200" cy="369332"/>
          </a:xfrm>
          <a:prstGeom prst="rect">
            <a:avLst/>
          </a:prstGeom>
          <a:noFill/>
        </p:spPr>
        <p:txBody>
          <a:bodyPr vert="horz" wrap="square" rtlCol="0">
            <a:noAutofit/>
          </a:bodyPr>
          <a:lstStyle/>
          <a:p>
            <a:pPr>
              <a:spcAft>
                <a:spcPts val="800"/>
              </a:spcAft>
            </a:pPr>
            <a:r>
              <a:rPr lang="it-IT" sz="1725">
                <a:solidFill>
                  <a:srgbClr val="203344"/>
                </a:solidFill>
                <a:latin typeface="Arial" panose="020B0604020202020204" pitchFamily="34" charset="0"/>
              </a:rPr>
              <a:t>1. Machine learning sui risultati, dopo la misura</a:t>
            </a:r>
          </a:p>
          <a:p>
            <a:pPr>
              <a:spcAft>
                <a:spcPts val="800"/>
              </a:spcAft>
            </a:pPr>
            <a:r>
              <a:rPr lang="it-IT" sz="1725">
                <a:solidFill>
                  <a:srgbClr val="203344"/>
                </a:solidFill>
                <a:latin typeface="Arial" panose="020B0604020202020204" pitchFamily="34" charset="0"/>
              </a:rPr>
              <a:t>2. Correzione quantistica degli errori, durante il calcolo</a:t>
            </a:r>
          </a:p>
          <a:p>
            <a:pPr>
              <a:spcAft>
                <a:spcPts val="800"/>
              </a:spcAft>
            </a:pPr>
            <a:r>
              <a:rPr lang="it-IT" sz="1725">
                <a:solidFill>
                  <a:srgbClr val="203344"/>
                </a:solidFill>
                <a:latin typeface="Arial" panose="020B0604020202020204" pitchFamily="34" charset="0"/>
              </a:rPr>
              <a:t>3. QFT approssimata: meno porte, meno errori</a:t>
            </a:r>
          </a:p>
        </p:txBody>
      </p:sp>
    </p:spTree>
    <p:extLst>
      <p:ext uri="{BB962C8B-B14F-4D97-AF65-F5344CB8AC3E}">
        <p14:creationId xmlns:p14="http://schemas.microsoft.com/office/powerpoint/2010/main" val="2632074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93C3B39-6012-409D-8C55-2E1E8048285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Il problema e l'obiettivo</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82AFE8A-0115-4407-BDA2-396C170A082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BD900CC-09C6-4AFF-B224-9EC736B42A92}"/>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Introduzione | 2</a:t>
            </a:r>
            <a:endParaRPr sz="1200" b="0">
              <a:solidFill>
                <a:srgbClr val="203344"/>
              </a:solidFill>
              <a:latin typeface="Arial"/>
              <a:ea typeface="Arial"/>
              <a:cs typeface="Arial"/>
            </a:endParaRPr>
          </a:p>
        </p:txBody>
      </p:sp>
      <p:sp>
        <p:nvSpPr>
          <p:cNvPr id="101" name="A card 0"/>
          <p:cNvSpPr/>
          <p:nvPr/>
        </p:nvSpPr>
        <p:spPr>
          <a:xfrm>
            <a:off x="609600" y="1550000"/>
            <a:ext cx="3200000" cy="1850000"/>
          </a:xfrm>
          <a:prstGeom prst="roundRect">
            <a:avLst>
              <a:gd name="adj" fmla="val 8000"/>
            </a:avLst>
          </a:prstGeom>
          <a:solidFill>
            <a:srgbClr val="EEF4F8"/>
          </a:solidFill>
          <a:ln w="14288">
            <a:solidFill>
              <a:srgbClr val="5084BF"/>
            </a:solidFill>
          </a:ln>
        </p:spPr>
        <p:txBody>
          <a:bodyPr wrap="square" lIns="182880" tIns="330000" rIns="182880" bIns="182880" rtlCol="0" anchor="t">
            <a:noAutofit/>
          </a:bodyPr>
          <a:lstStyle/>
          <a:p>
            <a:pPr algn="ctr">
              <a:spcAft>
                <a:spcPts val="900"/>
              </a:spcAft>
              <a:buNone/>
            </a:pPr>
            <a:r>
              <a:rPr lang="it-IT" sz="2800" b="1">
                <a:solidFill>
                  <a:srgbClr val="003366"/>
                </a:solidFill>
                <a:latin typeface="Arial" panose="020B0604020202020204" pitchFamily="34" charset="0"/>
                <a:cs typeface="Arial"/>
              </a:rPr>
              <a:t>RSA</a:t>
            </a:r>
          </a:p>
          <a:p>
            <a:pPr algn="ctr">
              <a:buNone/>
            </a:pPr>
            <a:r>
              <a:rPr lang="it-IT" sz="1600">
                <a:solidFill>
                  <a:srgbClr val="203344"/>
                </a:solidFill>
                <a:latin typeface="Arial" panose="020B0604020202020204" pitchFamily="34" charset="0"/>
                <a:cs typeface="Arial"/>
              </a:rPr>
              <a:t>protegge pagamenti e banche: fattorizzare grandi numeri è difficile</a:t>
            </a:r>
          </a:p>
        </p:txBody>
      </p:sp>
      <p:sp>
        <p:nvSpPr>
          <p:cNvPr id="102" name="A arrow 0"/>
          <p:cNvSpPr/>
          <p:nvPr/>
        </p:nvSpPr>
        <p:spPr>
          <a:xfrm>
            <a:off x="4002800" y="2350000"/>
            <a:ext cx="300000" cy="250000"/>
          </a:xfrm>
          <a:prstGeom prst="rightArrow">
            <a:avLst/>
          </a:prstGeom>
          <a:solidFill>
            <a:srgbClr val="003366"/>
          </a:solidFill>
          <a:ln>
            <a:noFill/>
          </a:ln>
        </p:spPr>
        <p:txBody>
          <a:bodyPr wrap="square" lIns="91440" tIns="91440" rIns="91440" bIns="91440" rtlCol="0" anchor="ctr">
            <a:noAutofit/>
          </a:bodyPr>
          <a:lstStyle/>
          <a:p>
            <a:endParaRPr lang="it-IT"/>
          </a:p>
        </p:txBody>
      </p:sp>
      <p:sp>
        <p:nvSpPr>
          <p:cNvPr id="103" name="A card 1"/>
          <p:cNvSpPr/>
          <p:nvPr/>
        </p:nvSpPr>
        <p:spPr>
          <a:xfrm>
            <a:off x="4496000" y="1550000"/>
            <a:ext cx="3200000" cy="1850000"/>
          </a:xfrm>
          <a:prstGeom prst="roundRect">
            <a:avLst>
              <a:gd name="adj" fmla="val 8000"/>
            </a:avLst>
          </a:prstGeom>
          <a:solidFill>
            <a:srgbClr val="EEF4F8"/>
          </a:solidFill>
          <a:ln w="14288">
            <a:solidFill>
              <a:srgbClr val="5084BF"/>
            </a:solidFill>
          </a:ln>
        </p:spPr>
        <p:txBody>
          <a:bodyPr wrap="square" lIns="182880" tIns="330000" rIns="182880" bIns="182880" rtlCol="0" anchor="t">
            <a:noAutofit/>
          </a:bodyPr>
          <a:lstStyle/>
          <a:p>
            <a:pPr algn="ctr">
              <a:spcAft>
                <a:spcPts val="900"/>
              </a:spcAft>
              <a:buNone/>
            </a:pPr>
            <a:r>
              <a:rPr lang="it-IT" sz="2800" b="1">
                <a:solidFill>
                  <a:srgbClr val="003366"/>
                </a:solidFill>
                <a:latin typeface="Arial" panose="020B0604020202020204" pitchFamily="34" charset="0"/>
                <a:cs typeface="Arial"/>
              </a:rPr>
              <a:t>Shor</a:t>
            </a:r>
          </a:p>
          <a:p>
            <a:pPr algn="ctr">
              <a:buNone/>
            </a:pPr>
            <a:r>
              <a:rPr lang="it-IT" sz="1600">
                <a:solidFill>
                  <a:srgbClr val="203344"/>
                </a:solidFill>
                <a:latin typeface="Arial" panose="020B0604020202020204" pitchFamily="34" charset="0"/>
                <a:cs typeface="Arial"/>
              </a:rPr>
              <a:t>un computer quantistico fattorizza in modo efficiente: RSA cade</a:t>
            </a:r>
          </a:p>
        </p:txBody>
      </p:sp>
      <p:sp>
        <p:nvSpPr>
          <p:cNvPr id="104" name="A arrow 1"/>
          <p:cNvSpPr/>
          <p:nvPr/>
        </p:nvSpPr>
        <p:spPr>
          <a:xfrm>
            <a:off x="7889200" y="2350000"/>
            <a:ext cx="300000" cy="250000"/>
          </a:xfrm>
          <a:prstGeom prst="rightArrow">
            <a:avLst/>
          </a:prstGeom>
          <a:solidFill>
            <a:srgbClr val="003366"/>
          </a:solidFill>
          <a:ln>
            <a:noFill/>
          </a:ln>
        </p:spPr>
        <p:txBody>
          <a:bodyPr wrap="square" lIns="91440" tIns="91440" rIns="91440" bIns="91440" rtlCol="0" anchor="ctr">
            <a:noAutofit/>
          </a:bodyPr>
          <a:lstStyle/>
          <a:p>
            <a:endParaRPr lang="it-IT"/>
          </a:p>
        </p:txBody>
      </p:sp>
      <p:sp>
        <p:nvSpPr>
          <p:cNvPr id="105" name="A card 2"/>
          <p:cNvSpPr/>
          <p:nvPr/>
        </p:nvSpPr>
        <p:spPr>
          <a:xfrm>
            <a:off x="8382400" y="1550000"/>
            <a:ext cx="3200000" cy="1850000"/>
          </a:xfrm>
          <a:prstGeom prst="roundRect">
            <a:avLst>
              <a:gd name="adj" fmla="val 8000"/>
            </a:avLst>
          </a:prstGeom>
          <a:solidFill>
            <a:srgbClr val="FCEFE3"/>
          </a:solidFill>
          <a:ln w="14288">
            <a:solidFill>
              <a:srgbClr val="D9822B"/>
            </a:solidFill>
          </a:ln>
        </p:spPr>
        <p:txBody>
          <a:bodyPr wrap="square" lIns="182880" tIns="330000" rIns="182880" bIns="182880" rtlCol="0" anchor="t">
            <a:noAutofit/>
          </a:bodyPr>
          <a:lstStyle/>
          <a:p>
            <a:pPr algn="ctr">
              <a:spcAft>
                <a:spcPts val="900"/>
              </a:spcAft>
              <a:buNone/>
            </a:pPr>
            <a:r>
              <a:rPr lang="it-IT" sz="2800" b="1">
                <a:solidFill>
                  <a:srgbClr val="A85A12"/>
                </a:solidFill>
                <a:latin typeface="Arial" panose="020B0604020202020204" pitchFamily="34" charset="0"/>
                <a:cs typeface="Arial"/>
              </a:rPr>
              <a:t>Rumore</a:t>
            </a:r>
          </a:p>
          <a:p>
            <a:pPr algn="ctr">
              <a:buNone/>
            </a:pPr>
            <a:r>
              <a:rPr lang="it-IT" sz="1600">
                <a:solidFill>
                  <a:srgbClr val="203344"/>
                </a:solidFill>
                <a:latin typeface="Arial" panose="020B0604020202020204" pitchFamily="34" charset="0"/>
                <a:cs typeface="Arial"/>
              </a:rPr>
              <a:t>sull'hardware reale gli errori abbassano il successo di Shor</a:t>
            </a:r>
          </a:p>
        </p:txBody>
      </p:sp>
      <p:sp>
        <p:nvSpPr>
          <p:cNvPr id="106" name="A obiettivo"/>
          <p:cNvSpPr/>
          <p:nvPr/>
        </p:nvSpPr>
        <p:spPr>
          <a:xfrm>
            <a:off x="609600" y="3750000"/>
            <a:ext cx="10972800" cy="1150000"/>
          </a:xfrm>
          <a:prstGeom prst="roundRect">
            <a:avLst>
              <a:gd name="adj" fmla="val 12000"/>
            </a:avLst>
          </a:prstGeom>
          <a:solidFill>
            <a:srgbClr val="175F99"/>
          </a:solidFill>
          <a:ln>
            <a:noFill/>
          </a:ln>
        </p:spPr>
        <p:txBody>
          <a:bodyPr wrap="square" lIns="91440" tIns="91440" rIns="91440" bIns="91440" rtlCol="0" anchor="ctr">
            <a:noAutofit/>
          </a:bodyPr>
          <a:lstStyle/>
          <a:p>
            <a:pPr algn="ctr">
              <a:spcAft>
                <a:spcPts val="300"/>
              </a:spcAft>
              <a:buNone/>
            </a:pPr>
            <a:r>
              <a:rPr lang="it-IT" sz="1400" b="1">
                <a:solidFill>
                  <a:srgbClr val="CFE0F1"/>
                </a:solidFill>
                <a:latin typeface="Arial" panose="020B0604020202020204" pitchFamily="34" charset="0"/>
                <a:cs typeface="Arial"/>
              </a:rPr>
              <a:t>OBIETTIVO</a:t>
            </a:r>
          </a:p>
          <a:p>
            <a:pPr algn="ctr">
              <a:buNone/>
            </a:pPr>
            <a:r>
              <a:rPr lang="it-IT" sz="2800" b="1">
                <a:solidFill>
                  <a:srgbClr val="FFFFFF"/>
                </a:solidFill>
                <a:latin typeface="Arial" panose="020B0604020202020204" pitchFamily="34" charset="0"/>
                <a:cs typeface="Arial"/>
              </a:rPr>
              <a:t>Ridurre l'effetto del rumore su Shor</a:t>
            </a:r>
          </a:p>
        </p:txBody>
      </p:sp>
      <p:sp>
        <p:nvSpPr>
          <p:cNvPr id="107" name="A strategia 0"/>
          <p:cNvSpPr/>
          <p:nvPr/>
        </p:nvSpPr>
        <p:spPr>
          <a:xfrm>
            <a:off x="609600" y="5250000"/>
            <a:ext cx="3429000" cy="900000"/>
          </a:xfrm>
          <a:prstGeom prst="roundRect">
            <a:avLst>
              <a:gd name="adj" fmla="val 12000"/>
            </a:avLst>
          </a:prstGeom>
          <a:solidFill>
            <a:srgbClr val="FFFFFF"/>
          </a:solidFill>
          <a:ln w="14288">
            <a:solidFill>
              <a:srgbClr val="5084BF"/>
            </a:solidFill>
          </a:ln>
        </p:spPr>
        <p:txBody>
          <a:bodyPr wrap="square" lIns="91440" tIns="91440" rIns="91440" bIns="91440" rtlCol="0" anchor="ctr">
            <a:noAutofit/>
          </a:bodyPr>
          <a:lstStyle/>
          <a:p>
            <a:pPr algn="ctr">
              <a:spcAft>
                <a:spcPts val="200"/>
              </a:spcAft>
              <a:buNone/>
            </a:pPr>
            <a:r>
              <a:rPr lang="it-IT" sz="1700" b="1">
                <a:solidFill>
                  <a:srgbClr val="003366"/>
                </a:solidFill>
                <a:latin typeface="Arial" panose="020B0604020202020204" pitchFamily="34" charset="0"/>
                <a:cs typeface="Arial"/>
              </a:rPr>
              <a:t>1. Machine learning</a:t>
            </a:r>
          </a:p>
          <a:p>
            <a:pPr algn="ctr">
              <a:buNone/>
            </a:pPr>
            <a:r>
              <a:rPr lang="it-IT" sz="1500">
                <a:solidFill>
                  <a:srgbClr val="203344"/>
                </a:solidFill>
                <a:latin typeface="Arial" panose="020B0604020202020204" pitchFamily="34" charset="0"/>
                <a:cs typeface="Arial"/>
              </a:rPr>
              <a:t>dopo la misura</a:t>
            </a:r>
          </a:p>
        </p:txBody>
      </p:sp>
      <p:sp>
        <p:nvSpPr>
          <p:cNvPr id="108" name="A strategia 1"/>
          <p:cNvSpPr/>
          <p:nvPr/>
        </p:nvSpPr>
        <p:spPr>
          <a:xfrm>
            <a:off x="4381500" y="5250000"/>
            <a:ext cx="3429000" cy="900000"/>
          </a:xfrm>
          <a:prstGeom prst="roundRect">
            <a:avLst>
              <a:gd name="adj" fmla="val 12000"/>
            </a:avLst>
          </a:prstGeom>
          <a:solidFill>
            <a:srgbClr val="FFFFFF"/>
          </a:solidFill>
          <a:ln w="14288">
            <a:solidFill>
              <a:srgbClr val="5084BF"/>
            </a:solidFill>
          </a:ln>
        </p:spPr>
        <p:txBody>
          <a:bodyPr wrap="square" lIns="91440" tIns="91440" rIns="91440" bIns="91440" rtlCol="0" anchor="ctr">
            <a:noAutofit/>
          </a:bodyPr>
          <a:lstStyle/>
          <a:p>
            <a:pPr algn="ctr">
              <a:spcAft>
                <a:spcPts val="200"/>
              </a:spcAft>
              <a:buNone/>
            </a:pPr>
            <a:r>
              <a:rPr lang="it-IT" sz="1700" b="1">
                <a:solidFill>
                  <a:srgbClr val="003366"/>
                </a:solidFill>
                <a:latin typeface="Arial" panose="020B0604020202020204" pitchFamily="34" charset="0"/>
                <a:cs typeface="Arial"/>
              </a:rPr>
              <a:t>2. Correzione degli errori</a:t>
            </a:r>
          </a:p>
          <a:p>
            <a:pPr algn="ctr">
              <a:buNone/>
            </a:pPr>
            <a:r>
              <a:rPr lang="it-IT" sz="1500">
                <a:solidFill>
                  <a:srgbClr val="203344"/>
                </a:solidFill>
                <a:latin typeface="Arial" panose="020B0604020202020204" pitchFamily="34" charset="0"/>
                <a:cs typeface="Arial"/>
              </a:rPr>
              <a:t>durante il calcolo</a:t>
            </a:r>
          </a:p>
        </p:txBody>
      </p:sp>
      <p:sp>
        <p:nvSpPr>
          <p:cNvPr id="109" name="A strategia 2"/>
          <p:cNvSpPr/>
          <p:nvPr/>
        </p:nvSpPr>
        <p:spPr>
          <a:xfrm>
            <a:off x="8153400" y="5250000"/>
            <a:ext cx="3429000" cy="900000"/>
          </a:xfrm>
          <a:prstGeom prst="roundRect">
            <a:avLst>
              <a:gd name="adj" fmla="val 12000"/>
            </a:avLst>
          </a:prstGeom>
          <a:solidFill>
            <a:srgbClr val="FFFFFF"/>
          </a:solidFill>
          <a:ln w="14288">
            <a:solidFill>
              <a:srgbClr val="5084BF"/>
            </a:solidFill>
          </a:ln>
        </p:spPr>
        <p:txBody>
          <a:bodyPr wrap="square" lIns="91440" tIns="91440" rIns="91440" bIns="91440" rtlCol="0" anchor="ctr">
            <a:noAutofit/>
          </a:bodyPr>
          <a:lstStyle/>
          <a:p>
            <a:pPr algn="ctr">
              <a:spcAft>
                <a:spcPts val="200"/>
              </a:spcAft>
              <a:buNone/>
            </a:pPr>
            <a:r>
              <a:rPr lang="it-IT" sz="1700" b="1">
                <a:solidFill>
                  <a:srgbClr val="003366"/>
                </a:solidFill>
                <a:latin typeface="Arial" panose="020B0604020202020204" pitchFamily="34" charset="0"/>
                <a:cs typeface="Arial"/>
              </a:rPr>
              <a:t>3. QFT approssimata</a:t>
            </a:r>
          </a:p>
          <a:p>
            <a:pPr algn="ctr">
              <a:buNone/>
            </a:pPr>
            <a:r>
              <a:rPr lang="it-IT" sz="1500">
                <a:solidFill>
                  <a:srgbClr val="203344"/>
                </a:solidFill>
                <a:latin typeface="Arial" panose="020B0604020202020204" pitchFamily="34" charset="0"/>
                <a:cs typeface="Arial"/>
              </a:rPr>
              <a:t>meno porte, meno errori</a:t>
            </a:r>
          </a:p>
        </p:txBody>
      </p:sp>
    </p:spTree>
    <p:extLst>
      <p:ext uri="{BB962C8B-B14F-4D97-AF65-F5344CB8AC3E}">
        <p14:creationId xmlns:p14="http://schemas.microsoft.com/office/powerpoint/2010/main" val="38914217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93C3B39-6012-409D-8C55-2E1E8048285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Il problema e l'obiettivo</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82AFE8A-0115-4407-BDA2-396C170A082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BD900CC-09C6-4AFF-B224-9EC736B42A92}"/>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Introduzione | 2</a:t>
            </a:r>
            <a:endParaRPr sz="1200" b="0">
              <a:solidFill>
                <a:srgbClr val="203344"/>
              </a:solidFill>
              <a:latin typeface="Arial"/>
              <a:ea typeface="Arial"/>
              <a:cs typeface="Arial"/>
            </a:endParaRPr>
          </a:p>
        </p:txBody>
      </p:sp>
      <p:sp>
        <p:nvSpPr>
          <p:cNvPr id="101" name="A card 0"/>
          <p:cNvSpPr/>
          <p:nvPr/>
        </p:nvSpPr>
        <p:spPr>
          <a:xfrm>
            <a:off x="609600" y="1550000"/>
            <a:ext cx="3200000" cy="1850000"/>
          </a:xfrm>
          <a:prstGeom prst="roundRect">
            <a:avLst>
              <a:gd name="adj" fmla="val 8000"/>
            </a:avLst>
          </a:prstGeom>
          <a:solidFill>
            <a:srgbClr val="EEF4F8"/>
          </a:solidFill>
          <a:ln w="14288">
            <a:solidFill>
              <a:srgbClr val="5084BF"/>
            </a:solidFill>
          </a:ln>
        </p:spPr>
        <p:txBody>
          <a:bodyPr wrap="square" lIns="182880" tIns="330000" rIns="182880" bIns="182880" rtlCol="0" anchor="t">
            <a:noAutofit/>
          </a:bodyPr>
          <a:lstStyle/>
          <a:p>
            <a:pPr algn="ctr">
              <a:spcAft>
                <a:spcPts val="1000"/>
              </a:spcAft>
              <a:buNone/>
            </a:pPr>
            <a:r>
              <a:rPr lang="it-IT" sz="2600" b="1">
                <a:solidFill>
                  <a:srgbClr val="003366"/>
                </a:solidFill>
                <a:latin typeface="Arial" panose="020B0604020202020204" pitchFamily="34" charset="0"/>
                <a:cs typeface="Arial"/>
              </a:rPr>
              <a:t>Fattorizzazione</a:t>
            </a:r>
          </a:p>
          <a:p>
            <a:pPr algn="ctr">
              <a:spcAft>
                <a:spcPts val="900"/>
              </a:spcAft>
              <a:buNone/>
            </a:pPr>
            <a:r>
              <a:rPr lang="it-IT" sz="1500">
                <a:solidFill>
                  <a:srgbClr val="003366"/>
                </a:solidFill>
                <a:latin typeface="Arial" panose="020B0604020202020204" pitchFamily="34" charset="0"/>
                <a:cs typeface="Arial"/>
              </a:rPr>
              <a:t>Con i metodi classici, fattorizzare grandi interi è </a:t>
            </a:r>
            <a:r>
              <a:rPr lang="it-IT" sz="1500" err="1">
                <a:solidFill>
                  <a:srgbClr val="003366"/>
                </a:solidFill>
                <a:latin typeface="Arial" panose="020B0604020202020204" pitchFamily="34" charset="0"/>
                <a:cs typeface="Arial"/>
              </a:rPr>
              <a:t>computazionalmente</a:t>
            </a:r>
            <a:r>
              <a:rPr lang="it-IT" sz="1500">
                <a:solidFill>
                  <a:srgbClr val="003366"/>
                </a:solidFill>
                <a:latin typeface="Arial" panose="020B0604020202020204" pitchFamily="34" charset="0"/>
                <a:cs typeface="Arial"/>
              </a:rPr>
              <a:t> NP Hard</a:t>
            </a:r>
            <a:endParaRPr lang="it-IT" sz="1500">
              <a:solidFill>
                <a:srgbClr val="203344"/>
              </a:solidFill>
              <a:latin typeface="Arial" panose="020B0604020202020204" pitchFamily="34" charset="0"/>
              <a:cs typeface="Arial"/>
            </a:endParaRPr>
          </a:p>
        </p:txBody>
      </p:sp>
      <p:sp>
        <p:nvSpPr>
          <p:cNvPr id="102" name="A arrow 0"/>
          <p:cNvSpPr/>
          <p:nvPr/>
        </p:nvSpPr>
        <p:spPr>
          <a:xfrm>
            <a:off x="4002800" y="2350000"/>
            <a:ext cx="300000" cy="250000"/>
          </a:xfrm>
          <a:prstGeom prst="rightArrow">
            <a:avLst/>
          </a:prstGeom>
          <a:solidFill>
            <a:srgbClr val="003366"/>
          </a:solidFill>
          <a:ln>
            <a:noFill/>
          </a:ln>
        </p:spPr>
        <p:txBody>
          <a:bodyPr wrap="square" lIns="91440" tIns="91440" rIns="91440" bIns="91440" rtlCol="0" anchor="ctr">
            <a:noAutofit/>
          </a:bodyPr>
          <a:lstStyle/>
          <a:p>
            <a:endParaRPr lang="it-IT"/>
          </a:p>
        </p:txBody>
      </p:sp>
      <p:sp>
        <p:nvSpPr>
          <p:cNvPr id="103" name="A card 1"/>
          <p:cNvSpPr/>
          <p:nvPr/>
        </p:nvSpPr>
        <p:spPr>
          <a:xfrm>
            <a:off x="4496000" y="1550000"/>
            <a:ext cx="3200000" cy="1850000"/>
          </a:xfrm>
          <a:prstGeom prst="roundRect">
            <a:avLst>
              <a:gd name="adj" fmla="val 8000"/>
            </a:avLst>
          </a:prstGeom>
          <a:solidFill>
            <a:srgbClr val="EEF4F8"/>
          </a:solidFill>
          <a:ln w="14288">
            <a:solidFill>
              <a:srgbClr val="5084BF"/>
            </a:solidFill>
          </a:ln>
        </p:spPr>
        <p:txBody>
          <a:bodyPr wrap="square" lIns="182880" tIns="330000" rIns="182880" bIns="182880" rtlCol="0" anchor="t">
            <a:noAutofit/>
          </a:bodyPr>
          <a:lstStyle/>
          <a:p>
            <a:pPr algn="ctr">
              <a:spcAft>
                <a:spcPts val="1000"/>
              </a:spcAft>
              <a:buNone/>
            </a:pPr>
            <a:r>
              <a:rPr lang="it-IT" sz="2600" b="1">
                <a:solidFill>
                  <a:srgbClr val="003366"/>
                </a:solidFill>
                <a:latin typeface="Arial" panose="020B0604020202020204" pitchFamily="34" charset="0"/>
                <a:cs typeface="Arial"/>
              </a:rPr>
              <a:t>Shor</a:t>
            </a:r>
          </a:p>
          <a:p>
            <a:pPr algn="ctr">
              <a:spcAft>
                <a:spcPts val="900"/>
              </a:spcAft>
              <a:buNone/>
            </a:pPr>
            <a:r>
              <a:rPr lang="it-IT" sz="1500">
                <a:solidFill>
                  <a:srgbClr val="003366"/>
                </a:solidFill>
                <a:latin typeface="Arial" panose="020B0604020202020204" pitchFamily="34" charset="0"/>
                <a:cs typeface="Arial"/>
              </a:rPr>
              <a:t>Nel modello quantistico ideale, trova i fattori in tempo polinomiale</a:t>
            </a:r>
            <a:endParaRPr lang="it-IT" sz="1500">
              <a:solidFill>
                <a:srgbClr val="203344"/>
              </a:solidFill>
              <a:latin typeface="Arial" panose="020B0604020202020204" pitchFamily="34" charset="0"/>
              <a:cs typeface="Arial"/>
            </a:endParaRPr>
          </a:p>
        </p:txBody>
      </p:sp>
      <p:sp>
        <p:nvSpPr>
          <p:cNvPr id="104" name="A arrow 1"/>
          <p:cNvSpPr/>
          <p:nvPr/>
        </p:nvSpPr>
        <p:spPr>
          <a:xfrm>
            <a:off x="7889200" y="2350000"/>
            <a:ext cx="300000" cy="250000"/>
          </a:xfrm>
          <a:prstGeom prst="rightArrow">
            <a:avLst/>
          </a:prstGeom>
          <a:solidFill>
            <a:srgbClr val="003366"/>
          </a:solidFill>
          <a:ln>
            <a:noFill/>
          </a:ln>
        </p:spPr>
        <p:txBody>
          <a:bodyPr wrap="square" lIns="91440" tIns="91440" rIns="91440" bIns="91440" rtlCol="0" anchor="ctr">
            <a:noAutofit/>
          </a:bodyPr>
          <a:lstStyle/>
          <a:p>
            <a:endParaRPr lang="it-IT"/>
          </a:p>
        </p:txBody>
      </p:sp>
      <p:sp>
        <p:nvSpPr>
          <p:cNvPr id="105" name="A card 2"/>
          <p:cNvSpPr/>
          <p:nvPr/>
        </p:nvSpPr>
        <p:spPr>
          <a:xfrm>
            <a:off x="8382400" y="1550000"/>
            <a:ext cx="3200000" cy="1850000"/>
          </a:xfrm>
          <a:prstGeom prst="roundRect">
            <a:avLst>
              <a:gd name="adj" fmla="val 8000"/>
            </a:avLst>
          </a:prstGeom>
          <a:solidFill>
            <a:srgbClr val="FCEFE3"/>
          </a:solidFill>
          <a:ln w="14288">
            <a:solidFill>
              <a:srgbClr val="D9822B"/>
            </a:solidFill>
          </a:ln>
        </p:spPr>
        <p:txBody>
          <a:bodyPr wrap="square" lIns="182880" tIns="330000" rIns="182880" bIns="182880" rtlCol="0" anchor="t">
            <a:noAutofit/>
          </a:bodyPr>
          <a:lstStyle/>
          <a:p>
            <a:pPr algn="ctr">
              <a:spcAft>
                <a:spcPts val="900"/>
              </a:spcAft>
              <a:buNone/>
            </a:pPr>
            <a:r>
              <a:rPr lang="it-IT" sz="2800" b="1">
                <a:solidFill>
                  <a:srgbClr val="A85A12"/>
                </a:solidFill>
                <a:latin typeface="Arial" panose="020B0604020202020204" pitchFamily="34" charset="0"/>
                <a:cs typeface="Arial"/>
              </a:rPr>
              <a:t>Rumorosità</a:t>
            </a:r>
          </a:p>
          <a:p>
            <a:pPr algn="ctr">
              <a:buNone/>
            </a:pPr>
            <a:r>
              <a:rPr lang="it-IT" sz="1600">
                <a:solidFill>
                  <a:srgbClr val="203344"/>
                </a:solidFill>
                <a:latin typeface="Arial" panose="020B0604020202020204" pitchFamily="34" charset="0"/>
                <a:cs typeface="Arial"/>
              </a:rPr>
              <a:t>sull'hardware reale gli errori abbassano il successo di Shor</a:t>
            </a:r>
          </a:p>
        </p:txBody>
      </p:sp>
      <p:sp>
        <p:nvSpPr>
          <p:cNvPr id="106" name="A obiettivo"/>
          <p:cNvSpPr/>
          <p:nvPr/>
        </p:nvSpPr>
        <p:spPr>
          <a:xfrm>
            <a:off x="609600" y="3750000"/>
            <a:ext cx="10972800" cy="1150000"/>
          </a:xfrm>
          <a:prstGeom prst="roundRect">
            <a:avLst>
              <a:gd name="adj" fmla="val 12000"/>
            </a:avLst>
          </a:prstGeom>
          <a:solidFill>
            <a:srgbClr val="175F99"/>
          </a:solidFill>
          <a:ln>
            <a:noFill/>
          </a:ln>
        </p:spPr>
        <p:txBody>
          <a:bodyPr wrap="square" lIns="91440" tIns="91440" rIns="91440" bIns="91440" rtlCol="0" anchor="ctr">
            <a:noAutofit/>
          </a:bodyPr>
          <a:lstStyle/>
          <a:p>
            <a:pPr algn="ctr">
              <a:spcAft>
                <a:spcPts val="300"/>
              </a:spcAft>
              <a:buNone/>
            </a:pPr>
            <a:r>
              <a:rPr lang="it-IT" sz="1400" b="1">
                <a:solidFill>
                  <a:srgbClr val="CFE0F1"/>
                </a:solidFill>
                <a:latin typeface="Arial" panose="020B0604020202020204" pitchFamily="34" charset="0"/>
                <a:cs typeface="Arial"/>
              </a:rPr>
              <a:t>OBIETTIVO</a:t>
            </a:r>
          </a:p>
          <a:p>
            <a:pPr algn="ctr">
              <a:buNone/>
            </a:pPr>
            <a:r>
              <a:rPr lang="it-IT" sz="2800" b="1">
                <a:solidFill>
                  <a:srgbClr val="FFFFFF"/>
                </a:solidFill>
                <a:latin typeface="Arial" panose="020B0604020202020204" pitchFamily="34" charset="0"/>
                <a:cs typeface="Arial"/>
              </a:rPr>
              <a:t>Ridurre l'effetto del rumore su Shor</a:t>
            </a:r>
          </a:p>
        </p:txBody>
      </p:sp>
      <p:sp>
        <p:nvSpPr>
          <p:cNvPr id="107" name="A strategia 0"/>
          <p:cNvSpPr/>
          <p:nvPr/>
        </p:nvSpPr>
        <p:spPr>
          <a:xfrm>
            <a:off x="609600" y="5250000"/>
            <a:ext cx="3429000" cy="900000"/>
          </a:xfrm>
          <a:prstGeom prst="roundRect">
            <a:avLst>
              <a:gd name="adj" fmla="val 12000"/>
            </a:avLst>
          </a:prstGeom>
          <a:solidFill>
            <a:srgbClr val="FFFFFF"/>
          </a:solidFill>
          <a:ln w="14288">
            <a:solidFill>
              <a:srgbClr val="5084BF"/>
            </a:solidFill>
          </a:ln>
        </p:spPr>
        <p:txBody>
          <a:bodyPr wrap="square" lIns="91440" tIns="91440" rIns="91440" bIns="91440" rtlCol="0" anchor="ctr">
            <a:noAutofit/>
          </a:bodyPr>
          <a:lstStyle/>
          <a:p>
            <a:pPr algn="ctr">
              <a:spcAft>
                <a:spcPts val="200"/>
              </a:spcAft>
              <a:buNone/>
            </a:pPr>
            <a:r>
              <a:rPr lang="it-IT" sz="1700" b="1">
                <a:solidFill>
                  <a:srgbClr val="003366"/>
                </a:solidFill>
                <a:latin typeface="Arial" panose="020B0604020202020204" pitchFamily="34" charset="0"/>
                <a:cs typeface="Arial"/>
              </a:rPr>
              <a:t>1. Machine learning</a:t>
            </a:r>
          </a:p>
          <a:p>
            <a:pPr algn="ctr">
              <a:buNone/>
            </a:pPr>
            <a:r>
              <a:rPr lang="it-IT" sz="1500">
                <a:solidFill>
                  <a:srgbClr val="203344"/>
                </a:solidFill>
                <a:latin typeface="Arial" panose="020B0604020202020204" pitchFamily="34" charset="0"/>
                <a:cs typeface="Arial"/>
              </a:rPr>
              <a:t>dopo la misura</a:t>
            </a:r>
          </a:p>
        </p:txBody>
      </p:sp>
      <p:sp>
        <p:nvSpPr>
          <p:cNvPr id="108" name="A strategia 1"/>
          <p:cNvSpPr/>
          <p:nvPr/>
        </p:nvSpPr>
        <p:spPr>
          <a:xfrm>
            <a:off x="4381500" y="5250000"/>
            <a:ext cx="3429000" cy="900000"/>
          </a:xfrm>
          <a:prstGeom prst="roundRect">
            <a:avLst>
              <a:gd name="adj" fmla="val 12000"/>
            </a:avLst>
          </a:prstGeom>
          <a:solidFill>
            <a:srgbClr val="FFFFFF"/>
          </a:solidFill>
          <a:ln w="14288">
            <a:solidFill>
              <a:srgbClr val="5084BF"/>
            </a:solidFill>
          </a:ln>
        </p:spPr>
        <p:txBody>
          <a:bodyPr wrap="square" lIns="91440" tIns="91440" rIns="91440" bIns="91440" rtlCol="0" anchor="ctr">
            <a:noAutofit/>
          </a:bodyPr>
          <a:lstStyle/>
          <a:p>
            <a:pPr algn="ctr">
              <a:spcAft>
                <a:spcPts val="200"/>
              </a:spcAft>
              <a:buNone/>
            </a:pPr>
            <a:r>
              <a:rPr lang="it-IT" sz="1700" b="1">
                <a:solidFill>
                  <a:srgbClr val="003366"/>
                </a:solidFill>
                <a:latin typeface="Arial" panose="020B0604020202020204" pitchFamily="34" charset="0"/>
                <a:cs typeface="Arial"/>
              </a:rPr>
              <a:t>2. Correzione degli errori</a:t>
            </a:r>
          </a:p>
          <a:p>
            <a:pPr algn="ctr">
              <a:buNone/>
            </a:pPr>
            <a:r>
              <a:rPr lang="it-IT" sz="1500">
                <a:solidFill>
                  <a:srgbClr val="203344"/>
                </a:solidFill>
                <a:latin typeface="Arial" panose="020B0604020202020204" pitchFamily="34" charset="0"/>
                <a:cs typeface="Arial"/>
              </a:rPr>
              <a:t>durante il calcolo</a:t>
            </a:r>
          </a:p>
        </p:txBody>
      </p:sp>
      <p:sp>
        <p:nvSpPr>
          <p:cNvPr id="109" name="A strategia 2"/>
          <p:cNvSpPr/>
          <p:nvPr/>
        </p:nvSpPr>
        <p:spPr>
          <a:xfrm>
            <a:off x="8153400" y="5250000"/>
            <a:ext cx="3429000" cy="900000"/>
          </a:xfrm>
          <a:prstGeom prst="roundRect">
            <a:avLst>
              <a:gd name="adj" fmla="val 12000"/>
            </a:avLst>
          </a:prstGeom>
          <a:solidFill>
            <a:srgbClr val="FFFFFF"/>
          </a:solidFill>
          <a:ln w="14288">
            <a:solidFill>
              <a:srgbClr val="5084BF"/>
            </a:solidFill>
          </a:ln>
        </p:spPr>
        <p:txBody>
          <a:bodyPr wrap="square" lIns="91440" tIns="91440" rIns="91440" bIns="91440" rtlCol="0" anchor="ctr">
            <a:noAutofit/>
          </a:bodyPr>
          <a:lstStyle/>
          <a:p>
            <a:pPr algn="ctr">
              <a:spcAft>
                <a:spcPts val="200"/>
              </a:spcAft>
              <a:buNone/>
            </a:pPr>
            <a:r>
              <a:rPr lang="it-IT" sz="1700" b="1">
                <a:solidFill>
                  <a:srgbClr val="003366"/>
                </a:solidFill>
                <a:latin typeface="Arial" panose="020B0604020202020204" pitchFamily="34" charset="0"/>
                <a:cs typeface="Arial"/>
              </a:rPr>
              <a:t>3. QFT approssimata</a:t>
            </a:r>
          </a:p>
          <a:p>
            <a:pPr algn="ctr">
              <a:buNone/>
            </a:pPr>
            <a:r>
              <a:rPr lang="it-IT" sz="1500">
                <a:solidFill>
                  <a:srgbClr val="203344"/>
                </a:solidFill>
                <a:latin typeface="Arial" panose="020B0604020202020204" pitchFamily="34" charset="0"/>
                <a:cs typeface="Arial"/>
              </a:rPr>
              <a:t>meno porte, meno errori</a:t>
            </a:r>
          </a:p>
        </p:txBody>
      </p:sp>
    </p:spTree>
    <p:extLst>
      <p:ext uri="{BB962C8B-B14F-4D97-AF65-F5344CB8AC3E}">
        <p14:creationId xmlns:p14="http://schemas.microsoft.com/office/powerpoint/2010/main" val="31712103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93C3B39-6012-409D-8C55-2E1E8048285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Il problema e l'obiettivo</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82AFE8A-0115-4407-BDA2-396C170A082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BD900CC-09C6-4AFF-B224-9EC736B42A92}"/>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Introduzione | 2</a:t>
            </a:r>
            <a:endParaRPr sz="1200" b="0">
              <a:solidFill>
                <a:srgbClr val="203344"/>
              </a:solidFill>
              <a:latin typeface="Arial"/>
              <a:ea typeface="Arial"/>
              <a:cs typeface="Arial"/>
            </a:endParaRPr>
          </a:p>
        </p:txBody>
      </p:sp>
      <p:sp>
        <p:nvSpPr>
          <p:cNvPr id="110" name="B carta"/>
          <p:cNvSpPr/>
          <p:nvPr/>
        </p:nvSpPr>
        <p:spPr>
          <a:xfrm>
            <a:off x="609600" y="1400000"/>
            <a:ext cx="5186400" cy="2750000"/>
          </a:xfrm>
          <a:prstGeom prst="roundRect">
            <a:avLst>
              <a:gd name="adj" fmla="val 7000"/>
            </a:avLst>
          </a:prstGeom>
          <a:solidFill>
            <a:srgbClr val="EEF4F8"/>
          </a:solidFill>
          <a:ln w="14288">
            <a:solidFill>
              <a:srgbClr val="5084BF"/>
            </a:solidFill>
          </a:ln>
        </p:spPr>
        <p:txBody>
          <a:bodyPr wrap="square" lIns="228600" tIns="480000" rIns="228600" bIns="228600" rtlCol="0" anchor="t">
            <a:noAutofit/>
          </a:bodyPr>
          <a:lstStyle/>
          <a:p>
            <a:pPr algn="ctr">
              <a:spcAft>
                <a:spcPts val="300"/>
              </a:spcAft>
              <a:buNone/>
            </a:pPr>
            <a:r>
              <a:rPr lang="it-IT" sz="2000" b="1">
                <a:solidFill>
                  <a:srgbClr val="003366"/>
                </a:solidFill>
                <a:latin typeface="Arial" panose="020B0604020202020204" pitchFamily="34" charset="0"/>
                <a:cs typeface="Arial"/>
              </a:rPr>
              <a:t>Sulla carta Shor rompe RSA</a:t>
            </a:r>
          </a:p>
          <a:p>
            <a:pPr algn="ctr">
              <a:spcAft>
                <a:spcPts val="300"/>
              </a:spcAft>
              <a:buNone/>
            </a:pPr>
            <a:r>
              <a:rPr lang="it-IT" sz="6000" b="1">
                <a:solidFill>
                  <a:srgbClr val="003366"/>
                </a:solidFill>
                <a:latin typeface="Arial" panose="020B0604020202020204" pitchFamily="34" charset="0"/>
                <a:cs typeface="Arial"/>
              </a:rPr>
              <a:t>75%</a:t>
            </a:r>
          </a:p>
          <a:p>
            <a:pPr algn="ctr">
              <a:buNone/>
            </a:pPr>
            <a:r>
              <a:rPr lang="it-IT" sz="1600">
                <a:solidFill>
                  <a:srgbClr val="203344"/>
                </a:solidFill>
                <a:latin typeface="Arial" panose="020B0604020202020204" pitchFamily="34" charset="0"/>
                <a:cs typeface="Arial"/>
              </a:rPr>
              <a:t>successo per tentativo su un computer ideale</a:t>
            </a:r>
          </a:p>
        </p:txBody>
      </p:sp>
      <p:sp>
        <p:nvSpPr>
          <p:cNvPr id="111" name="B arrow"/>
          <p:cNvSpPr/>
          <p:nvPr/>
        </p:nvSpPr>
        <p:spPr>
          <a:xfrm>
            <a:off x="5926000" y="2635000"/>
            <a:ext cx="340000" cy="280000"/>
          </a:xfrm>
          <a:prstGeom prst="rightArrow">
            <a:avLst/>
          </a:prstGeom>
          <a:solidFill>
            <a:srgbClr val="003366"/>
          </a:solidFill>
          <a:ln>
            <a:noFill/>
          </a:ln>
        </p:spPr>
        <p:txBody>
          <a:bodyPr wrap="square" lIns="91440" tIns="91440" rIns="91440" bIns="91440" rtlCol="0" anchor="ctr">
            <a:noAutofit/>
          </a:bodyPr>
          <a:lstStyle/>
          <a:p>
            <a:endParaRPr lang="it-IT"/>
          </a:p>
        </p:txBody>
      </p:sp>
      <p:sp>
        <p:nvSpPr>
          <p:cNvPr id="112" name="B reale"/>
          <p:cNvSpPr/>
          <p:nvPr/>
        </p:nvSpPr>
        <p:spPr>
          <a:xfrm>
            <a:off x="6396000" y="1400000"/>
            <a:ext cx="5186400" cy="2750000"/>
          </a:xfrm>
          <a:prstGeom prst="roundRect">
            <a:avLst>
              <a:gd name="adj" fmla="val 7000"/>
            </a:avLst>
          </a:prstGeom>
          <a:solidFill>
            <a:srgbClr val="FCEFE3"/>
          </a:solidFill>
          <a:ln w="14288">
            <a:solidFill>
              <a:srgbClr val="D9822B"/>
            </a:solidFill>
          </a:ln>
        </p:spPr>
        <p:txBody>
          <a:bodyPr wrap="square" lIns="228600" tIns="480000" rIns="228600" bIns="228600" rtlCol="0" anchor="t">
            <a:noAutofit/>
          </a:bodyPr>
          <a:lstStyle/>
          <a:p>
            <a:pPr algn="ctr">
              <a:spcAft>
                <a:spcPts val="300"/>
              </a:spcAft>
              <a:buNone/>
            </a:pPr>
            <a:r>
              <a:rPr lang="it-IT" sz="2000" b="1">
                <a:solidFill>
                  <a:srgbClr val="A85A12"/>
                </a:solidFill>
                <a:latin typeface="Arial" panose="020B0604020202020204" pitchFamily="34" charset="0"/>
                <a:cs typeface="Arial"/>
              </a:rPr>
              <a:t>Sull'hardware reale</a:t>
            </a:r>
          </a:p>
          <a:p>
            <a:pPr algn="ctr">
              <a:spcAft>
                <a:spcPts val="300"/>
              </a:spcAft>
              <a:buNone/>
            </a:pPr>
            <a:r>
              <a:rPr lang="it-IT" sz="6000" b="1">
                <a:solidFill>
                  <a:srgbClr val="A85A12"/>
                </a:solidFill>
                <a:latin typeface="Arial" panose="020B0604020202020204" pitchFamily="34" charset="0"/>
                <a:cs typeface="Arial"/>
              </a:rPr>
              <a:t>56,5%</a:t>
            </a:r>
          </a:p>
          <a:p>
            <a:pPr algn="ctr">
              <a:buNone/>
            </a:pPr>
            <a:r>
              <a:rPr lang="it-IT" sz="1600">
                <a:solidFill>
                  <a:srgbClr val="203344"/>
                </a:solidFill>
                <a:latin typeface="Arial" panose="020B0604020202020204" pitchFamily="34" charset="0"/>
                <a:cs typeface="Arial"/>
              </a:rPr>
              <a:t>con l'1% di errore per porta</a:t>
            </a:r>
          </a:p>
        </p:txBody>
      </p:sp>
      <p:sp>
        <p:nvSpPr>
          <p:cNvPr id="113" name="B banda"/>
          <p:cNvSpPr/>
          <p:nvPr/>
        </p:nvSpPr>
        <p:spPr>
          <a:xfrm>
            <a:off x="609600" y="4450000"/>
            <a:ext cx="10972800" cy="1850000"/>
          </a:xfrm>
          <a:prstGeom prst="roundRect">
            <a:avLst>
              <a:gd name="adj" fmla="val 8000"/>
            </a:avLst>
          </a:prstGeom>
          <a:solidFill>
            <a:srgbClr val="175F99"/>
          </a:solidFill>
          <a:ln>
            <a:noFill/>
          </a:ln>
        </p:spPr>
        <p:txBody>
          <a:bodyPr wrap="square" lIns="91440" tIns="91440" rIns="91440" bIns="91440" rtlCol="0" anchor="ctr">
            <a:noAutofit/>
          </a:bodyPr>
          <a:lstStyle/>
          <a:p>
            <a:endParaRPr lang="it-IT"/>
          </a:p>
        </p:txBody>
      </p:sp>
      <p:sp>
        <p:nvSpPr>
          <p:cNvPr id="114" name="B obiettivo"/>
          <p:cNvSpPr/>
          <p:nvPr/>
        </p:nvSpPr>
        <p:spPr>
          <a:xfrm>
            <a:off x="609600" y="4570000"/>
            <a:ext cx="10972800" cy="700000"/>
          </a:xfrm>
          <a:prstGeom prst="rect">
            <a:avLst/>
          </a:prstGeom>
          <a:noFill/>
          <a:ln>
            <a:noFill/>
          </a:ln>
        </p:spPr>
        <p:txBody>
          <a:bodyPr wrap="square" lIns="91440" tIns="91440" rIns="91440" bIns="91440" rtlCol="0" anchor="ctr">
            <a:noAutofit/>
          </a:bodyPr>
          <a:lstStyle/>
          <a:p>
            <a:pPr algn="ctr">
              <a:buNone/>
            </a:pPr>
            <a:r>
              <a:rPr lang="it-IT" sz="2600" b="1">
                <a:solidFill>
                  <a:srgbClr val="CFE0F1"/>
                </a:solidFill>
                <a:latin typeface="Arial" panose="020B0604020202020204" pitchFamily="34" charset="0"/>
                <a:cs typeface="Arial"/>
              </a:rPr>
              <a:t>Obiettivo: </a:t>
            </a:r>
            <a:r>
              <a:rPr lang="it-IT" sz="2600" b="1">
                <a:solidFill>
                  <a:srgbClr val="FFFFFF"/>
                </a:solidFill>
                <a:latin typeface="Arial" panose="020B0604020202020204" pitchFamily="34" charset="0"/>
                <a:cs typeface="Arial"/>
              </a:rPr>
              <a:t>ridurre l'effetto del rumore su Shor</a:t>
            </a:r>
          </a:p>
        </p:txBody>
      </p:sp>
      <p:sp>
        <p:nvSpPr>
          <p:cNvPr id="115" name="B strategia 0"/>
          <p:cNvSpPr/>
          <p:nvPr/>
        </p:nvSpPr>
        <p:spPr>
          <a:xfrm>
            <a:off x="838200" y="5300000"/>
            <a:ext cx="3505200" cy="850000"/>
          </a:xfrm>
          <a:prstGeom prst="rect">
            <a:avLst/>
          </a:prstGeom>
          <a:noFill/>
          <a:ln>
            <a:noFill/>
          </a:ln>
        </p:spPr>
        <p:txBody>
          <a:bodyPr wrap="square" lIns="91440" tIns="91440" rIns="91440" bIns="91440" rtlCol="0" anchor="t">
            <a:noAutofit/>
          </a:bodyPr>
          <a:lstStyle/>
          <a:p>
            <a:pPr algn="ctr">
              <a:spcAft>
                <a:spcPts val="200"/>
              </a:spcAft>
              <a:buNone/>
            </a:pPr>
            <a:r>
              <a:rPr lang="it-IT" sz="1700" b="1">
                <a:solidFill>
                  <a:srgbClr val="FFFFFF"/>
                </a:solidFill>
                <a:latin typeface="Arial" panose="020B0604020202020204" pitchFamily="34" charset="0"/>
                <a:cs typeface="Arial"/>
              </a:rPr>
              <a:t>1. Machine learning</a:t>
            </a:r>
          </a:p>
          <a:p>
            <a:pPr algn="ctr">
              <a:buNone/>
            </a:pPr>
            <a:r>
              <a:rPr lang="it-IT" sz="1500">
                <a:solidFill>
                  <a:srgbClr val="CFE0F1"/>
                </a:solidFill>
                <a:latin typeface="Arial" panose="020B0604020202020204" pitchFamily="34" charset="0"/>
                <a:cs typeface="Arial"/>
              </a:rPr>
              <a:t>dopo la misura</a:t>
            </a:r>
          </a:p>
        </p:txBody>
      </p:sp>
      <p:sp>
        <p:nvSpPr>
          <p:cNvPr id="116" name="B strategia 1"/>
          <p:cNvSpPr/>
          <p:nvPr/>
        </p:nvSpPr>
        <p:spPr>
          <a:xfrm>
            <a:off x="4343400" y="5300000"/>
            <a:ext cx="3505200" cy="850000"/>
          </a:xfrm>
          <a:prstGeom prst="rect">
            <a:avLst/>
          </a:prstGeom>
          <a:noFill/>
          <a:ln>
            <a:noFill/>
          </a:ln>
        </p:spPr>
        <p:txBody>
          <a:bodyPr wrap="square" lIns="91440" tIns="91440" rIns="91440" bIns="91440" rtlCol="0" anchor="t">
            <a:noAutofit/>
          </a:bodyPr>
          <a:lstStyle/>
          <a:p>
            <a:pPr algn="ctr">
              <a:spcAft>
                <a:spcPts val="200"/>
              </a:spcAft>
              <a:buNone/>
            </a:pPr>
            <a:r>
              <a:rPr lang="it-IT" sz="1700" b="1">
                <a:solidFill>
                  <a:srgbClr val="FFFFFF"/>
                </a:solidFill>
                <a:latin typeface="Arial" panose="020B0604020202020204" pitchFamily="34" charset="0"/>
                <a:cs typeface="Arial"/>
              </a:rPr>
              <a:t>2. Correzione degli errori</a:t>
            </a:r>
          </a:p>
          <a:p>
            <a:pPr algn="ctr">
              <a:buNone/>
            </a:pPr>
            <a:r>
              <a:rPr lang="it-IT" sz="1500">
                <a:solidFill>
                  <a:srgbClr val="CFE0F1"/>
                </a:solidFill>
                <a:latin typeface="Arial" panose="020B0604020202020204" pitchFamily="34" charset="0"/>
                <a:cs typeface="Arial"/>
              </a:rPr>
              <a:t>durante il calcolo</a:t>
            </a:r>
          </a:p>
        </p:txBody>
      </p:sp>
      <p:sp>
        <p:nvSpPr>
          <p:cNvPr id="117" name="B strategia 2"/>
          <p:cNvSpPr/>
          <p:nvPr/>
        </p:nvSpPr>
        <p:spPr>
          <a:xfrm>
            <a:off x="7848600" y="5300000"/>
            <a:ext cx="3505200" cy="850000"/>
          </a:xfrm>
          <a:prstGeom prst="rect">
            <a:avLst/>
          </a:prstGeom>
          <a:noFill/>
          <a:ln>
            <a:noFill/>
          </a:ln>
        </p:spPr>
        <p:txBody>
          <a:bodyPr wrap="square" lIns="91440" tIns="91440" rIns="91440" bIns="91440" rtlCol="0" anchor="t">
            <a:noAutofit/>
          </a:bodyPr>
          <a:lstStyle/>
          <a:p>
            <a:pPr algn="ctr">
              <a:spcAft>
                <a:spcPts val="200"/>
              </a:spcAft>
              <a:buNone/>
            </a:pPr>
            <a:r>
              <a:rPr lang="it-IT" sz="1700" b="1">
                <a:solidFill>
                  <a:srgbClr val="FFFFFF"/>
                </a:solidFill>
                <a:latin typeface="Arial" panose="020B0604020202020204" pitchFamily="34" charset="0"/>
                <a:cs typeface="Arial"/>
              </a:rPr>
              <a:t>3. QFT approssimata</a:t>
            </a:r>
          </a:p>
          <a:p>
            <a:pPr algn="ctr">
              <a:buNone/>
            </a:pPr>
            <a:r>
              <a:rPr lang="it-IT" sz="1500">
                <a:solidFill>
                  <a:srgbClr val="CFE0F1"/>
                </a:solidFill>
                <a:latin typeface="Arial" panose="020B0604020202020204" pitchFamily="34" charset="0"/>
                <a:cs typeface="Arial"/>
              </a:rPr>
              <a:t>meno porte, meno errori</a:t>
            </a:r>
          </a:p>
        </p:txBody>
      </p:sp>
    </p:spTree>
    <p:extLst>
      <p:ext uri="{BB962C8B-B14F-4D97-AF65-F5344CB8AC3E}">
        <p14:creationId xmlns:p14="http://schemas.microsoft.com/office/powerpoint/2010/main" val="27592924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2"/>
          <p:cNvSpPr/>
          <p:nvPr/>
        </p:nvSpPr>
        <p:spPr>
          <a:xfrm>
            <a:off x="609600" y="1422400"/>
            <a:ext cx="2419350" cy="1757660"/>
          </a:xfrm>
          <a:prstGeom prst="roundRect">
            <a:avLst>
              <a:gd name="adj" fmla="val 7226"/>
            </a:avLst>
          </a:prstGeom>
          <a:solidFill>
            <a:srgbClr val="3F73B0"/>
          </a:solidFill>
          <a:ln/>
        </p:spPr>
        <p:txBody>
          <a:bodyPr/>
          <a:lstStyle/>
          <a:p>
            <a:endParaRPr lang="en-GB"/>
          </a:p>
        </p:txBody>
      </p:sp>
      <p:sp>
        <p:nvSpPr>
          <p:cNvPr id="8" name="Text 4"/>
          <p:cNvSpPr/>
          <p:nvPr/>
        </p:nvSpPr>
        <p:spPr>
          <a:xfrm>
            <a:off x="711200" y="1422400"/>
            <a:ext cx="2216150" cy="1757660"/>
          </a:xfrm>
          <a:prstGeom prst="rect">
            <a:avLst/>
          </a:prstGeom>
          <a:noFill/>
          <a:ln/>
        </p:spPr>
        <p:txBody>
          <a:bodyPr wrap="square" lIns="0" tIns="0" rIns="0" bIns="0" rtlCol="0" anchor="ctr">
            <a:noAutofit/>
          </a:bodyPr>
          <a:lstStyle/>
          <a:p>
            <a:pPr marL="0" indent="0" algn="ctr">
              <a:lnSpc>
                <a:spcPts val="2400"/>
              </a:lnSpc>
              <a:buNone/>
            </a:pPr>
            <a:r>
              <a:rPr lang="en-US" sz="2000" b="1">
                <a:solidFill>
                  <a:srgbClr val="FFFFFF"/>
                </a:solidFill>
                <a:latin typeface="Arial" pitchFamily="34" charset="0"/>
                <a:ea typeface="Arial" pitchFamily="34" charset="-122"/>
                <a:cs typeface="Arial" pitchFamily="34" charset="-120"/>
              </a:rPr>
              <a:t>Pre-processing</a:t>
            </a:r>
            <a:endParaRPr lang="en-US" sz="2000"/>
          </a:p>
          <a:p>
            <a:pPr marL="0" indent="0" algn="ctr">
              <a:lnSpc>
                <a:spcPts val="2400"/>
              </a:lnSpc>
              <a:buNone/>
            </a:pPr>
            <a:r>
              <a:rPr lang="en-US" sz="2000" b="1">
                <a:solidFill>
                  <a:srgbClr val="FFFFFF"/>
                </a:solidFill>
                <a:latin typeface="Arial" pitchFamily="34" charset="0"/>
                <a:ea typeface="Arial" pitchFamily="34" charset="-122"/>
                <a:cs typeface="Arial" pitchFamily="34" charset="-120"/>
              </a:rPr>
              <a:t>classico</a:t>
            </a:r>
            <a:endParaRPr lang="en-US" sz="2000"/>
          </a:p>
          <a:p>
            <a:pPr marL="0" indent="0" algn="ctr">
              <a:spcBef>
                <a:spcPts val="600"/>
              </a:spcBef>
              <a:buNone/>
            </a:pPr>
            <a:r>
              <a:rPr lang="en-US" sz="1300">
                <a:solidFill>
                  <a:srgbClr val="FFFFFF"/>
                </a:solidFill>
                <a:latin typeface="Arial" pitchFamily="34" charset="0"/>
                <a:ea typeface="Arial" pitchFamily="34" charset="-122"/>
                <a:cs typeface="Arial" pitchFamily="34" charset="-120"/>
              </a:rPr>
              <a:t>base a con MCD(a, N) = 1</a:t>
            </a:r>
            <a:endParaRPr lang="en-US" sz="1300"/>
          </a:p>
        </p:txBody>
      </p:sp>
      <p:pic>
        <p:nvPicPr>
          <p:cNvPr id="10" name="Image 2" descr="arrow-right"/>
          <p:cNvPicPr>
            <a:picLocks noChangeAspect="1"/>
          </p:cNvPicPr>
          <p:nvPr/>
        </p:nvPicPr>
        <p:blipFill>
          <a:blip r:embed="rId3"/>
          <a:srcRect/>
          <a:stretch/>
        </p:blipFill>
        <p:spPr>
          <a:xfrm>
            <a:off x="3105150" y="2212330"/>
            <a:ext cx="279400" cy="177800"/>
          </a:xfrm>
          <a:prstGeom prst="rect">
            <a:avLst/>
          </a:prstGeom>
        </p:spPr>
      </p:pic>
      <p:sp>
        <p:nvSpPr>
          <p:cNvPr id="11" name="Shape 6"/>
          <p:cNvSpPr/>
          <p:nvPr/>
        </p:nvSpPr>
        <p:spPr>
          <a:xfrm>
            <a:off x="3460750" y="1422400"/>
            <a:ext cx="2419350" cy="1757660"/>
          </a:xfrm>
          <a:prstGeom prst="roundRect">
            <a:avLst>
              <a:gd name="adj" fmla="val 7226"/>
            </a:avLst>
          </a:prstGeom>
          <a:solidFill>
            <a:srgbClr val="125C97"/>
          </a:solidFill>
          <a:ln/>
        </p:spPr>
        <p:txBody>
          <a:bodyPr/>
          <a:lstStyle/>
          <a:p>
            <a:endParaRPr lang="en-GB"/>
          </a:p>
        </p:txBody>
      </p:sp>
      <p:sp>
        <p:nvSpPr>
          <p:cNvPr id="13" name="Text 8"/>
          <p:cNvSpPr/>
          <p:nvPr/>
        </p:nvSpPr>
        <p:spPr>
          <a:xfrm>
            <a:off x="3562350" y="1422400"/>
            <a:ext cx="2216150" cy="1757660"/>
          </a:xfrm>
          <a:prstGeom prst="rect">
            <a:avLst/>
          </a:prstGeom>
          <a:noFill/>
          <a:ln/>
        </p:spPr>
        <p:txBody>
          <a:bodyPr wrap="square" lIns="0" tIns="0" rIns="0" bIns="0" rtlCol="0" anchor="ctr">
            <a:noAutofit/>
          </a:bodyPr>
          <a:lstStyle/>
          <a:p>
            <a:pPr marL="0" indent="0" algn="ctr">
              <a:lnSpc>
                <a:spcPts val="2400"/>
              </a:lnSpc>
              <a:buNone/>
            </a:pPr>
            <a:r>
              <a:rPr lang="en-US" sz="2000" b="1" err="1">
                <a:solidFill>
                  <a:srgbClr val="FFFFFF"/>
                </a:solidFill>
                <a:latin typeface="Arial" pitchFamily="34" charset="0"/>
                <a:ea typeface="Arial" pitchFamily="34" charset="-122"/>
                <a:cs typeface="Arial" pitchFamily="34" charset="-120"/>
              </a:rPr>
              <a:t>Ricerca</a:t>
            </a:r>
            <a:endParaRPr lang="en-US" sz="2000"/>
          </a:p>
          <a:p>
            <a:pPr marL="0" indent="0" algn="ctr">
              <a:lnSpc>
                <a:spcPts val="2400"/>
              </a:lnSpc>
              <a:buNone/>
            </a:pPr>
            <a:r>
              <a:rPr lang="en-US" sz="2000" b="1">
                <a:solidFill>
                  <a:srgbClr val="FFFFFF"/>
                </a:solidFill>
                <a:latin typeface="Arial" pitchFamily="34" charset="0"/>
                <a:ea typeface="Arial" pitchFamily="34" charset="-122"/>
                <a:cs typeface="Arial" pitchFamily="34" charset="-120"/>
              </a:rPr>
              <a:t>del </a:t>
            </a:r>
            <a:r>
              <a:rPr lang="en-US" sz="2000" b="1" err="1">
                <a:solidFill>
                  <a:srgbClr val="FFFFFF"/>
                </a:solidFill>
                <a:latin typeface="Arial" pitchFamily="34" charset="0"/>
                <a:ea typeface="Arial" pitchFamily="34" charset="-122"/>
                <a:cs typeface="Arial" pitchFamily="34" charset="-120"/>
              </a:rPr>
              <a:t>periodo</a:t>
            </a:r>
            <a:endParaRPr lang="en-US" sz="2000"/>
          </a:p>
          <a:p>
            <a:pPr marL="0" indent="0" algn="ctr">
              <a:spcBef>
                <a:spcPts val="600"/>
              </a:spcBef>
              <a:buNone/>
            </a:pPr>
            <a:r>
              <a:rPr lang="it-IT" sz="1300">
                <a:solidFill>
                  <a:srgbClr val="FFFFFF"/>
                </a:solidFill>
                <a:latin typeface="Arial" pitchFamily="34" charset="0"/>
                <a:ea typeface="Arial" pitchFamily="34" charset="-122"/>
                <a:cs typeface="Arial" pitchFamily="34" charset="-120"/>
              </a:rPr>
              <a:t>stima di fase (QPE) per ricavare r</a:t>
            </a:r>
            <a:endParaRPr lang="en-US" sz="1300"/>
          </a:p>
        </p:txBody>
      </p:sp>
      <p:pic>
        <p:nvPicPr>
          <p:cNvPr id="15" name="Image 3" descr="arrow-right"/>
          <p:cNvPicPr>
            <a:picLocks noChangeAspect="1"/>
          </p:cNvPicPr>
          <p:nvPr/>
        </p:nvPicPr>
        <p:blipFill>
          <a:blip r:embed="rId3"/>
          <a:srcRect/>
          <a:stretch/>
        </p:blipFill>
        <p:spPr>
          <a:xfrm>
            <a:off x="5956300" y="2212330"/>
            <a:ext cx="279400" cy="177800"/>
          </a:xfrm>
          <a:prstGeom prst="rect">
            <a:avLst/>
          </a:prstGeom>
        </p:spPr>
      </p:pic>
      <p:sp>
        <p:nvSpPr>
          <p:cNvPr id="16" name="Shape 10"/>
          <p:cNvSpPr/>
          <p:nvPr/>
        </p:nvSpPr>
        <p:spPr>
          <a:xfrm>
            <a:off x="6311902" y="1422400"/>
            <a:ext cx="2419350" cy="1757660"/>
          </a:xfrm>
          <a:prstGeom prst="roundRect">
            <a:avLst>
              <a:gd name="adj" fmla="val 7226"/>
            </a:avLst>
          </a:prstGeom>
          <a:solidFill>
            <a:srgbClr val="3F73B0"/>
          </a:solidFill>
          <a:ln/>
        </p:spPr>
        <p:txBody>
          <a:bodyPr/>
          <a:lstStyle/>
          <a:p>
            <a:endParaRPr lang="en-GB"/>
          </a:p>
        </p:txBody>
      </p:sp>
      <p:sp>
        <p:nvSpPr>
          <p:cNvPr id="18" name="Text 12"/>
          <p:cNvSpPr/>
          <p:nvPr/>
        </p:nvSpPr>
        <p:spPr>
          <a:xfrm>
            <a:off x="6413500" y="1422400"/>
            <a:ext cx="2216150" cy="1757660"/>
          </a:xfrm>
          <a:prstGeom prst="rect">
            <a:avLst/>
          </a:prstGeom>
          <a:noFill/>
          <a:ln/>
        </p:spPr>
        <p:txBody>
          <a:bodyPr wrap="square" lIns="0" tIns="0" rIns="0" bIns="0" rtlCol="0" anchor="ctr">
            <a:noAutofit/>
          </a:bodyPr>
          <a:lstStyle/>
          <a:p>
            <a:pPr marL="0" indent="0" algn="ctr">
              <a:lnSpc>
                <a:spcPts val="2400"/>
              </a:lnSpc>
              <a:buNone/>
            </a:pPr>
            <a:r>
              <a:rPr lang="en-US" sz="2000" b="1">
                <a:solidFill>
                  <a:srgbClr val="FFFFFF"/>
                </a:solidFill>
                <a:latin typeface="Arial" pitchFamily="34" charset="0"/>
                <a:ea typeface="Arial" pitchFamily="34" charset="-122"/>
                <a:cs typeface="Arial" pitchFamily="34" charset="-120"/>
              </a:rPr>
              <a:t>QFT inversa</a:t>
            </a:r>
            <a:endParaRPr lang="en-US" sz="2000"/>
          </a:p>
          <a:p>
            <a:pPr marL="0" indent="0" algn="ctr">
              <a:lnSpc>
                <a:spcPts val="2400"/>
              </a:lnSpc>
              <a:buNone/>
            </a:pPr>
            <a:r>
              <a:rPr lang="en-US" sz="2000" b="1">
                <a:solidFill>
                  <a:srgbClr val="FFFFFF"/>
                </a:solidFill>
                <a:latin typeface="Arial" pitchFamily="34" charset="0"/>
                <a:ea typeface="Arial" pitchFamily="34" charset="-122"/>
                <a:cs typeface="Arial" pitchFamily="34" charset="-120"/>
              </a:rPr>
              <a:t>e misura</a:t>
            </a:r>
            <a:endParaRPr lang="en-US" sz="2000"/>
          </a:p>
          <a:p>
            <a:pPr marL="0" indent="0" algn="ctr">
              <a:spcBef>
                <a:spcPts val="600"/>
              </a:spcBef>
              <a:buNone/>
            </a:pPr>
            <a:r>
              <a:rPr lang="es-ES" sz="1300">
                <a:solidFill>
                  <a:srgbClr val="FFFFFF"/>
                </a:solidFill>
                <a:latin typeface="Arial" pitchFamily="34" charset="0"/>
                <a:ea typeface="Arial" pitchFamily="34" charset="-122"/>
                <a:cs typeface="Arial" pitchFamily="34" charset="-120"/>
              </a:rPr>
              <a:t>esito y: y / 2</a:t>
            </a:r>
            <a:r>
              <a:rPr lang="es-ES" sz="1300" baseline="30000">
                <a:solidFill>
                  <a:srgbClr val="FFFFFF"/>
                </a:solidFill>
                <a:latin typeface="Arial" pitchFamily="34" charset="0"/>
                <a:ea typeface="Arial" pitchFamily="34" charset="-122"/>
                <a:cs typeface="Arial" pitchFamily="34" charset="-120"/>
              </a:rPr>
              <a:t>m</a:t>
            </a:r>
            <a:r>
              <a:rPr lang="es-ES" sz="1300">
                <a:solidFill>
                  <a:srgbClr val="FFFFFF"/>
                </a:solidFill>
                <a:latin typeface="Arial" pitchFamily="34" charset="0"/>
                <a:ea typeface="Arial" pitchFamily="34" charset="-122"/>
                <a:cs typeface="Arial" pitchFamily="34" charset="-120"/>
              </a:rPr>
              <a:t> ≈ s / r</a:t>
            </a:r>
            <a:endParaRPr lang="en-US" sz="1300"/>
          </a:p>
        </p:txBody>
      </p:sp>
      <p:pic>
        <p:nvPicPr>
          <p:cNvPr id="20" name="Image 4" descr="arrow-right"/>
          <p:cNvPicPr>
            <a:picLocks noChangeAspect="1"/>
          </p:cNvPicPr>
          <p:nvPr/>
        </p:nvPicPr>
        <p:blipFill>
          <a:blip r:embed="rId3"/>
          <a:srcRect/>
          <a:stretch/>
        </p:blipFill>
        <p:spPr>
          <a:xfrm>
            <a:off x="8807450" y="2212330"/>
            <a:ext cx="279400" cy="177800"/>
          </a:xfrm>
          <a:prstGeom prst="rect">
            <a:avLst/>
          </a:prstGeom>
        </p:spPr>
      </p:pic>
      <p:sp>
        <p:nvSpPr>
          <p:cNvPr id="21" name="Shape 14"/>
          <p:cNvSpPr/>
          <p:nvPr/>
        </p:nvSpPr>
        <p:spPr>
          <a:xfrm>
            <a:off x="9163050" y="1422400"/>
            <a:ext cx="2419350" cy="1757660"/>
          </a:xfrm>
          <a:prstGeom prst="roundRect">
            <a:avLst>
              <a:gd name="adj" fmla="val 7226"/>
            </a:avLst>
          </a:prstGeom>
          <a:solidFill>
            <a:srgbClr val="125C97"/>
          </a:solidFill>
          <a:ln/>
        </p:spPr>
        <p:txBody>
          <a:bodyPr/>
          <a:lstStyle/>
          <a:p>
            <a:endParaRPr lang="en-GB"/>
          </a:p>
        </p:txBody>
      </p:sp>
      <p:sp>
        <p:nvSpPr>
          <p:cNvPr id="23" name="Text 16"/>
          <p:cNvSpPr/>
          <p:nvPr/>
        </p:nvSpPr>
        <p:spPr>
          <a:xfrm>
            <a:off x="9264650" y="1422400"/>
            <a:ext cx="2216150" cy="1757660"/>
          </a:xfrm>
          <a:prstGeom prst="rect">
            <a:avLst/>
          </a:prstGeom>
          <a:noFill/>
          <a:ln/>
        </p:spPr>
        <p:txBody>
          <a:bodyPr wrap="square" lIns="0" tIns="0" rIns="0" bIns="0" rtlCol="0" anchor="ctr">
            <a:noAutofit/>
          </a:bodyPr>
          <a:lstStyle/>
          <a:p>
            <a:pPr marL="0" indent="0" algn="ctr">
              <a:lnSpc>
                <a:spcPts val="2400"/>
              </a:lnSpc>
              <a:buNone/>
            </a:pPr>
            <a:r>
              <a:rPr lang="en-US" sz="2000" b="1">
                <a:solidFill>
                  <a:srgbClr val="FFFFFF"/>
                </a:solidFill>
                <a:latin typeface="Arial" pitchFamily="34" charset="0"/>
                <a:ea typeface="Arial" pitchFamily="34" charset="-122"/>
                <a:cs typeface="Arial" pitchFamily="34" charset="-120"/>
              </a:rPr>
              <a:t>Post-processing</a:t>
            </a:r>
            <a:endParaRPr lang="en-US" sz="2000"/>
          </a:p>
          <a:p>
            <a:pPr marL="0" indent="0" algn="ctr">
              <a:lnSpc>
                <a:spcPts val="2400"/>
              </a:lnSpc>
              <a:buNone/>
            </a:pPr>
            <a:r>
              <a:rPr lang="en-US" sz="2000" b="1">
                <a:solidFill>
                  <a:srgbClr val="FFFFFF"/>
                </a:solidFill>
                <a:latin typeface="Arial" pitchFamily="34" charset="0"/>
                <a:ea typeface="Arial" pitchFamily="34" charset="-122"/>
                <a:cs typeface="Arial" pitchFamily="34" charset="-120"/>
              </a:rPr>
              <a:t>classico</a:t>
            </a:r>
            <a:endParaRPr lang="en-US" sz="2000"/>
          </a:p>
          <a:p>
            <a:pPr marL="0" indent="0" algn="ctr">
              <a:spcBef>
                <a:spcPts val="600"/>
              </a:spcBef>
              <a:buNone/>
            </a:pPr>
            <a:r>
              <a:rPr lang="en-US" sz="1300" err="1">
                <a:solidFill>
                  <a:srgbClr val="FFFFFF"/>
                </a:solidFill>
                <a:latin typeface="Arial" pitchFamily="34" charset="0"/>
                <a:ea typeface="Arial" pitchFamily="34" charset="-122"/>
                <a:cs typeface="Arial" pitchFamily="34" charset="-120"/>
              </a:rPr>
              <a:t>frazioni</a:t>
            </a:r>
            <a:r>
              <a:rPr lang="en-US" sz="1300">
                <a:solidFill>
                  <a:srgbClr val="FFFFFF"/>
                </a:solidFill>
                <a:latin typeface="Arial" pitchFamily="34" charset="0"/>
                <a:ea typeface="Arial" pitchFamily="34" charset="-122"/>
                <a:cs typeface="Arial" pitchFamily="34" charset="-120"/>
              </a:rPr>
              <a:t> continue e MCD</a:t>
            </a:r>
            <a:endParaRPr lang="en-US" sz="1300"/>
          </a:p>
        </p:txBody>
      </p:sp>
      <p:pic>
        <p:nvPicPr>
          <p:cNvPr id="25" name="Image 5" descr="Grafico di 7^x mod 15 per x da 0 a 11: la sequenza 1, 7, 4, 13 si ripete ogni quattro valori"/>
          <p:cNvPicPr>
            <a:picLocks noChangeAspect="1"/>
          </p:cNvPicPr>
          <p:nvPr/>
        </p:nvPicPr>
        <p:blipFill>
          <a:blip r:embed="rId4"/>
          <a:srcRect t="-50" b="-50"/>
          <a:stretch/>
        </p:blipFill>
        <p:spPr>
          <a:xfrm>
            <a:off x="709600" y="3703750"/>
            <a:ext cx="4900000" cy="1592500"/>
          </a:xfrm>
          <a:prstGeom prst="rect">
            <a:avLst/>
          </a:prstGeom>
        </p:spPr>
      </p:pic>
      <p:sp>
        <p:nvSpPr>
          <p:cNvPr id="26" name="Text 18"/>
          <p:cNvSpPr/>
          <p:nvPr/>
        </p:nvSpPr>
        <p:spPr>
          <a:xfrm>
            <a:off x="609600" y="5750000"/>
            <a:ext cx="5100000" cy="400000"/>
          </a:xfrm>
          <a:prstGeom prst="rect">
            <a:avLst/>
          </a:prstGeom>
          <a:noFill/>
          <a:ln/>
        </p:spPr>
        <p:txBody>
          <a:bodyPr wrap="square" lIns="0" tIns="0" rIns="0" bIns="0" rtlCol="0" anchor="t">
            <a:noAutofit/>
          </a:bodyPr>
          <a:lstStyle/>
          <a:p>
            <a:pPr marL="0" indent="0" algn="ctr">
              <a:buNone/>
            </a:pPr>
            <a:r>
              <a:rPr lang="it-IT" sz="2000">
                <a:solidFill>
                  <a:srgbClr val="1F2933"/>
                </a:solidFill>
                <a:latin typeface="Arial" pitchFamily="34" charset="0"/>
                <a:ea typeface="Arial" pitchFamily="34" charset="-122"/>
                <a:cs typeface="Arial" pitchFamily="34" charset="-120"/>
              </a:rPr>
              <a:t>N = 15, a = 7  →  </a:t>
            </a:r>
            <a:r>
              <a:rPr lang="it-IT" sz="2000" b="1">
                <a:solidFill>
                  <a:srgbClr val="1F2933"/>
                </a:solidFill>
                <a:latin typeface="Arial" pitchFamily="34" charset="0"/>
                <a:ea typeface="Arial" pitchFamily="34" charset="-122"/>
                <a:cs typeface="Arial" pitchFamily="34" charset="-120"/>
              </a:rPr>
              <a:t>r = 4</a:t>
            </a:r>
            <a:r>
              <a:rPr lang="it-IT" sz="2000">
                <a:solidFill>
                  <a:srgbClr val="1F2933"/>
                </a:solidFill>
                <a:latin typeface="Arial" pitchFamily="34" charset="0"/>
                <a:ea typeface="Arial" pitchFamily="34" charset="-122"/>
                <a:cs typeface="Arial" pitchFamily="34" charset="-120"/>
              </a:rPr>
              <a:t>  →  </a:t>
            </a:r>
            <a:r>
              <a:rPr lang="it-IT" sz="2000" b="1">
                <a:solidFill>
                  <a:srgbClr val="1F2933"/>
                </a:solidFill>
                <a:latin typeface="Arial" pitchFamily="34" charset="0"/>
                <a:ea typeface="Arial" pitchFamily="34" charset="-122"/>
                <a:cs typeface="Arial" pitchFamily="34" charset="-120"/>
              </a:rPr>
              <a:t>15 = 3 × 5</a:t>
            </a:r>
          </a:p>
        </p:txBody>
      </p:sp>
      <p:sp>
        <p:nvSpPr>
          <p:cNvPr id="31" name="Rectangle 30">
            <a:extLst>
              <a:ext uri="{FF2B5EF4-FFF2-40B4-BE49-F238E27FC236}">
                <a16:creationId xmlns:a16="http://schemas.microsoft.com/office/drawing/2014/main" id="{8936EAE4-D3F4-CE9C-7102-79F539B5E879}"/>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Come funziona Shor</a:t>
            </a:r>
            <a:r>
              <a:rPr lang="it-IT" sz="2700">
                <a:solidFill>
                  <a:srgbClr val="003366"/>
                </a:solidFill>
                <a:latin typeface="Arial"/>
                <a:ea typeface="Arial"/>
                <a:cs typeface="Arial"/>
              </a:rPr>
              <a:t> </a:t>
            </a:r>
            <a:r>
              <a:rPr lang="it-IT" sz="2700" b="0">
                <a:solidFill>
                  <a:srgbClr val="003366"/>
                </a:solidFill>
                <a:latin typeface="Arial"/>
                <a:ea typeface="Arial"/>
                <a:cs typeface="Arial"/>
              </a:rPr>
              <a:t>e cosa gli fa il rumore</a:t>
            </a:r>
            <a:endParaRPr sz="2700" b="0">
              <a:solidFill>
                <a:srgbClr val="003366"/>
              </a:solidFill>
              <a:latin typeface="Arial"/>
              <a:ea typeface="Arial"/>
              <a:cs typeface="Arial"/>
            </a:endParaRPr>
          </a:p>
        </p:txBody>
      </p:sp>
      <p:pic>
        <p:nvPicPr>
          <p:cNvPr id="32" name="Picture 31">
            <a:extLst>
              <a:ext uri="{FF2B5EF4-FFF2-40B4-BE49-F238E27FC236}">
                <a16:creationId xmlns:a16="http://schemas.microsoft.com/office/drawing/2014/main" id="{51215FA5-569D-E798-EB49-460B98022349}"/>
              </a:ext>
            </a:extLst>
          </p:cNvPr>
          <p:cNvPicPr>
            <a:picLocks noChangeAspect="1"/>
          </p:cNvPicPr>
          <p:nvPr/>
        </p:nvPicPr>
        <p:blipFill>
          <a:blip r:embed="rId5"/>
          <a:stretch/>
        </p:blipFill>
        <p:spPr>
          <a:xfrm>
            <a:off x="10896600" y="243116"/>
            <a:ext cx="838200" cy="694869"/>
          </a:xfrm>
          <a:prstGeom prst="rect">
            <a:avLst/>
          </a:prstGeom>
        </p:spPr>
      </p:pic>
      <p:sp>
        <p:nvSpPr>
          <p:cNvPr id="33" name="Rectangle 32">
            <a:extLst>
              <a:ext uri="{FF2B5EF4-FFF2-40B4-BE49-F238E27FC236}">
                <a16:creationId xmlns:a16="http://schemas.microsoft.com/office/drawing/2014/main" id="{13330CE6-81CE-3B3E-6A94-7253F8038753}"/>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34" name="Rectangle 33">
            <a:extLst>
              <a:ext uri="{FF2B5EF4-FFF2-40B4-BE49-F238E27FC236}">
                <a16:creationId xmlns:a16="http://schemas.microsoft.com/office/drawing/2014/main" id="{5D040118-4907-CF50-04A9-BED2E35E4273}"/>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Introduzione | 3</a:t>
            </a:r>
            <a:endParaRPr sz="1200" b="0">
              <a:solidFill>
                <a:srgbClr val="203344"/>
              </a:solidFill>
              <a:latin typeface="Arial"/>
              <a:ea typeface="Arial"/>
              <a:cs typeface="Arial"/>
            </a:endParaRPr>
          </a:p>
        </p:txBody>
      </p:sp>
      <p:pic>
        <p:nvPicPr>
          <p:cNvPr id="2" name="Picture 12" descr="v2_s13_shor_successo_vs_pg.png"/>
          <p:cNvPicPr>
            <a:picLocks noChangeAspect="1"/>
          </p:cNvPicPr>
          <p:nvPr/>
        </p:nvPicPr>
        <p:blipFill>
          <a:blip r:embed="rId6"/>
          <a:stretch>
            <a:fillRect/>
          </a:stretch>
        </p:blipFill>
        <p:spPr>
          <a:xfrm>
            <a:off x="7244379" y="3350000"/>
            <a:ext cx="3576043" cy="2300000"/>
          </a:xfrm>
          <a:prstGeom prst="rect">
            <a:avLst/>
          </a:prstGeom>
        </p:spPr>
      </p:pic>
      <p:sp>
        <p:nvSpPr>
          <p:cNvPr id="3" name="Text 18"/>
          <p:cNvSpPr/>
          <p:nvPr/>
        </p:nvSpPr>
        <p:spPr>
          <a:xfrm>
            <a:off x="6482400" y="5750000"/>
            <a:ext cx="5100000" cy="400000"/>
          </a:xfrm>
          <a:prstGeom prst="rect">
            <a:avLst/>
          </a:prstGeom>
          <a:noFill/>
          <a:ln/>
        </p:spPr>
        <p:txBody>
          <a:bodyPr wrap="square" lIns="0" tIns="0" rIns="0" bIns="0" rtlCol="0" anchor="t">
            <a:noAutofit/>
          </a:bodyPr>
          <a:lstStyle/>
          <a:p>
            <a:pPr marL="0" indent="0" algn="ctr">
              <a:buNone/>
            </a:pPr>
            <a:r>
              <a:rPr lang="it-IT" sz="2000" b="1">
                <a:solidFill>
                  <a:srgbClr val="1F2933"/>
                </a:solidFill>
                <a:latin typeface="Arial" pitchFamily="34" charset="0"/>
                <a:ea typeface="Arial" pitchFamily="34" charset="-122"/>
                <a:cs typeface="Arial" pitchFamily="34" charset="-120"/>
              </a:rPr>
              <a:t>75%</a:t>
            </a:r>
            <a:r>
              <a:rPr lang="it-IT" sz="2000">
                <a:solidFill>
                  <a:srgbClr val="1F2933"/>
                </a:solidFill>
                <a:latin typeface="Arial" pitchFamily="34" charset="0"/>
                <a:ea typeface="Arial" pitchFamily="34" charset="-122"/>
                <a:cs typeface="Arial" pitchFamily="34" charset="-120"/>
              </a:rPr>
              <a:t>  →  </a:t>
            </a:r>
            <a:r>
              <a:rPr lang="it-IT" sz="2000" b="1">
                <a:solidFill>
                  <a:srgbClr val="1F2933"/>
                </a:solidFill>
                <a:latin typeface="Arial" pitchFamily="34" charset="0"/>
                <a:ea typeface="Arial" pitchFamily="34" charset="-122"/>
                <a:cs typeface="Arial" pitchFamily="34" charset="-120"/>
              </a:rPr>
              <a:t>56,5%</a:t>
            </a:r>
            <a:r>
              <a:rPr lang="it-IT" sz="2000">
                <a:solidFill>
                  <a:srgbClr val="1F2933"/>
                </a:solidFill>
                <a:latin typeface="Arial" pitchFamily="34" charset="0"/>
                <a:ea typeface="Arial" pitchFamily="34" charset="-122"/>
                <a:cs typeface="Arial" pitchFamily="34" charset="-120"/>
              </a:rPr>
              <a:t> all'1%  →  </a:t>
            </a:r>
            <a:r>
              <a:rPr lang="it-IT" sz="2000" b="1">
                <a:solidFill>
                  <a:srgbClr val="1F2933"/>
                </a:solidFill>
                <a:latin typeface="Arial" pitchFamily="34" charset="0"/>
                <a:ea typeface="Arial" pitchFamily="34" charset="-122"/>
                <a:cs typeface="Arial" pitchFamily="34" charset="-120"/>
              </a:rPr>
              <a:t>caso</a:t>
            </a:r>
            <a:r>
              <a:rPr lang="it-IT" sz="2000">
                <a:solidFill>
                  <a:srgbClr val="1F2933"/>
                </a:solidFill>
                <a:latin typeface="Arial" pitchFamily="34" charset="0"/>
                <a:ea typeface="Arial" pitchFamily="34" charset="-122"/>
                <a:cs typeface="Arial" pitchFamily="34" charset="-120"/>
              </a:rPr>
              <a:t> dal 10%</a:t>
            </a:r>
          </a:p>
        </p:txBody>
      </p:sp>
    </p:spTree>
    <p:extLst>
      <p:ext uri="{BB962C8B-B14F-4D97-AF65-F5344CB8AC3E}">
        <p14:creationId xmlns:p14="http://schemas.microsoft.com/office/powerpoint/2010/main" val="4340339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CDE1CEA5-D38D-13AD-8C1D-B082F56983AE}"/>
              </a:ext>
            </a:extLst>
          </p:cNvPr>
          <p:cNvCxnSpPr/>
          <p:nvPr/>
        </p:nvCxnSpPr>
        <p:spPr>
          <a:xfrm>
            <a:off x="10096500" y="4722812"/>
            <a:ext cx="0" cy="2540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FB078F3-1E38-1156-C358-FBCEF54B21FD}"/>
              </a:ext>
            </a:extLst>
          </p:cNvPr>
          <p:cNvCxnSpPr/>
          <p:nvPr/>
        </p:nvCxnSpPr>
        <p:spPr>
          <a:xfrm>
            <a:off x="10096500" y="3402012"/>
            <a:ext cx="0" cy="3810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5DFDC7D-D9C4-A354-277B-AC1BD6237B5B}"/>
              </a:ext>
            </a:extLst>
          </p:cNvPr>
          <p:cNvCxnSpPr/>
          <p:nvPr/>
        </p:nvCxnSpPr>
        <p:spPr>
          <a:xfrm>
            <a:off x="7404100" y="3402012"/>
            <a:ext cx="0" cy="15748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7C54456-225C-9E0A-3038-DD3974C96199}"/>
              </a:ext>
            </a:extLst>
          </p:cNvPr>
          <p:cNvCxnSpPr/>
          <p:nvPr/>
        </p:nvCxnSpPr>
        <p:spPr>
          <a:xfrm>
            <a:off x="4711700" y="3402012"/>
            <a:ext cx="0" cy="3810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993C3B39-6012-409D-8C55-2E1E8048285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Obiettivi: dove interviene ciascuna strategia</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82AFE8A-0115-4407-BDA2-396C170A082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BD900CC-09C6-4AFF-B224-9EC736B42A92}"/>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Introduzione | 4</a:t>
            </a:r>
            <a:endParaRPr sz="1200" b="0">
              <a:solidFill>
                <a:srgbClr val="203344"/>
              </a:solidFill>
              <a:latin typeface="Arial"/>
              <a:ea typeface="Arial"/>
              <a:cs typeface="Arial"/>
            </a:endParaRPr>
          </a:p>
        </p:txBody>
      </p:sp>
      <p:sp>
        <p:nvSpPr>
          <p:cNvPr id="5" name="Rectangle: Rounded Corners 4">
            <a:extLst>
              <a:ext uri="{FF2B5EF4-FFF2-40B4-BE49-F238E27FC236}">
                <a16:creationId xmlns:a16="http://schemas.microsoft.com/office/drawing/2014/main" id="{71A406BA-430E-F9F0-8B64-5BEFA86E6FCC}"/>
              </a:ext>
            </a:extLst>
          </p:cNvPr>
          <p:cNvSpPr/>
          <p:nvPr/>
        </p:nvSpPr>
        <p:spPr>
          <a:xfrm>
            <a:off x="609600" y="2055812"/>
            <a:ext cx="10972800" cy="1498600"/>
          </a:xfrm>
          <a:prstGeom prst="roundRect">
            <a:avLst>
              <a:gd name="adj" fmla="val 8000"/>
            </a:avLst>
          </a:prstGeom>
          <a:solidFill>
            <a:srgbClr val="F7EDCB"/>
          </a:solidFill>
          <a:ln w="19050">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a:extLst>
              <a:ext uri="{FF2B5EF4-FFF2-40B4-BE49-F238E27FC236}">
                <a16:creationId xmlns:a16="http://schemas.microsoft.com/office/drawing/2014/main" id="{B203B3D3-C539-C346-D1CF-D1F6ACEB3D39}"/>
              </a:ext>
            </a:extLst>
          </p:cNvPr>
          <p:cNvSpPr txBox="1"/>
          <p:nvPr/>
        </p:nvSpPr>
        <p:spPr>
          <a:xfrm>
            <a:off x="762000" y="2106612"/>
            <a:ext cx="5080000" cy="369332"/>
          </a:xfrm>
          <a:prstGeom prst="rect">
            <a:avLst/>
          </a:prstGeom>
          <a:noFill/>
        </p:spPr>
        <p:txBody>
          <a:bodyPr vert="horz" wrap="square" rtlCol="0">
            <a:noAutofit/>
          </a:bodyPr>
          <a:lstStyle/>
          <a:p>
            <a:r>
              <a:rPr lang="en-GB" sz="1500" b="1">
                <a:solidFill>
                  <a:srgbClr val="7A5C12"/>
                </a:solidFill>
                <a:latin typeface="Arial" panose="020B0604020202020204" pitchFamily="34" charset="0"/>
              </a:rPr>
              <a:t>Algoritmo di Shor</a:t>
            </a:r>
          </a:p>
        </p:txBody>
      </p:sp>
      <p:sp>
        <p:nvSpPr>
          <p:cNvPr id="7" name="Rectangle: Rounded Corners 6">
            <a:extLst>
              <a:ext uri="{FF2B5EF4-FFF2-40B4-BE49-F238E27FC236}">
                <a16:creationId xmlns:a16="http://schemas.microsoft.com/office/drawing/2014/main" id="{BD9FE72F-AB6F-CE56-3C1B-0CE1FF3977B9}"/>
              </a:ext>
            </a:extLst>
          </p:cNvPr>
          <p:cNvSpPr/>
          <p:nvPr/>
        </p:nvSpPr>
        <p:spPr>
          <a:xfrm>
            <a:off x="787400" y="2436812"/>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379D2604-111F-A13D-FD56-97652F0186E6}"/>
              </a:ext>
            </a:extLst>
          </p:cNvPr>
          <p:cNvSpPr txBox="1"/>
          <p:nvPr/>
        </p:nvSpPr>
        <p:spPr>
          <a:xfrm>
            <a:off x="869499" y="2487612"/>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Scelta di a</a:t>
            </a:r>
          </a:p>
        </p:txBody>
      </p:sp>
      <p:sp>
        <p:nvSpPr>
          <p:cNvPr id="9" name="TextBox 8">
            <a:extLst>
              <a:ext uri="{FF2B5EF4-FFF2-40B4-BE49-F238E27FC236}">
                <a16:creationId xmlns:a16="http://schemas.microsoft.com/office/drawing/2014/main" id="{7F8CE3D5-7F36-50F1-4688-D82C9F52A02A}"/>
              </a:ext>
            </a:extLst>
          </p:cNvPr>
          <p:cNvSpPr txBox="1"/>
          <p:nvPr/>
        </p:nvSpPr>
        <p:spPr>
          <a:xfrm>
            <a:off x="863600" y="3071812"/>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MCD(a, N) = 1</a:t>
            </a:r>
          </a:p>
        </p:txBody>
      </p:sp>
      <p:sp>
        <p:nvSpPr>
          <p:cNvPr id="10" name="Arrow: Right 9">
            <a:extLst>
              <a:ext uri="{FF2B5EF4-FFF2-40B4-BE49-F238E27FC236}">
                <a16:creationId xmlns:a16="http://schemas.microsoft.com/office/drawing/2014/main" id="{4FA152F5-7E2E-B567-3239-3CB985534EAA}"/>
              </a:ext>
            </a:extLst>
          </p:cNvPr>
          <p:cNvSpPr/>
          <p:nvPr/>
        </p:nvSpPr>
        <p:spPr>
          <a:xfrm>
            <a:off x="3276600" y="2843212"/>
            <a:ext cx="177800" cy="152400"/>
          </a:xfrm>
          <a:prstGeom prst="rightArrow">
            <a:avLst/>
          </a:prstGeom>
          <a:solidFill>
            <a:srgbClr val="8A7A4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Rounded Corners 10">
            <a:extLst>
              <a:ext uri="{FF2B5EF4-FFF2-40B4-BE49-F238E27FC236}">
                <a16:creationId xmlns:a16="http://schemas.microsoft.com/office/drawing/2014/main" id="{B2F76A79-3800-1435-88FB-8FB9609CB385}"/>
              </a:ext>
            </a:extLst>
          </p:cNvPr>
          <p:cNvSpPr/>
          <p:nvPr/>
        </p:nvSpPr>
        <p:spPr>
          <a:xfrm>
            <a:off x="3479800" y="2436812"/>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EF43BCDA-4513-C925-0E03-AEBDB0987056}"/>
              </a:ext>
            </a:extLst>
          </p:cNvPr>
          <p:cNvSpPr txBox="1"/>
          <p:nvPr/>
        </p:nvSpPr>
        <p:spPr>
          <a:xfrm>
            <a:off x="3556000" y="2487612"/>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Esponenziazione modulare</a:t>
            </a:r>
          </a:p>
        </p:txBody>
      </p:sp>
      <p:sp>
        <p:nvSpPr>
          <p:cNvPr id="13" name="TextBox 12">
            <a:extLst>
              <a:ext uri="{FF2B5EF4-FFF2-40B4-BE49-F238E27FC236}">
                <a16:creationId xmlns:a16="http://schemas.microsoft.com/office/drawing/2014/main" id="{64378A2F-F034-45ED-9900-8392E8A977BA}"/>
              </a:ext>
            </a:extLst>
          </p:cNvPr>
          <p:cNvSpPr txBox="1"/>
          <p:nvPr/>
        </p:nvSpPr>
        <p:spPr>
          <a:xfrm>
            <a:off x="3556000" y="3071812"/>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stima di fase (QPE)</a:t>
            </a:r>
          </a:p>
        </p:txBody>
      </p:sp>
      <p:sp>
        <p:nvSpPr>
          <p:cNvPr id="14" name="Arrow: Right 13">
            <a:extLst>
              <a:ext uri="{FF2B5EF4-FFF2-40B4-BE49-F238E27FC236}">
                <a16:creationId xmlns:a16="http://schemas.microsoft.com/office/drawing/2014/main" id="{FAD6E5CD-208C-6E07-9B48-CABEB14C5734}"/>
              </a:ext>
            </a:extLst>
          </p:cNvPr>
          <p:cNvSpPr/>
          <p:nvPr/>
        </p:nvSpPr>
        <p:spPr>
          <a:xfrm>
            <a:off x="5969000" y="2843212"/>
            <a:ext cx="177800" cy="152400"/>
          </a:xfrm>
          <a:prstGeom prst="rightArrow">
            <a:avLst/>
          </a:prstGeom>
          <a:solidFill>
            <a:srgbClr val="8A7A4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Rounded Corners 14">
            <a:extLst>
              <a:ext uri="{FF2B5EF4-FFF2-40B4-BE49-F238E27FC236}">
                <a16:creationId xmlns:a16="http://schemas.microsoft.com/office/drawing/2014/main" id="{C91D1915-4C4B-71BF-1D11-C89B7D8B7222}"/>
              </a:ext>
            </a:extLst>
          </p:cNvPr>
          <p:cNvSpPr/>
          <p:nvPr/>
        </p:nvSpPr>
        <p:spPr>
          <a:xfrm>
            <a:off x="6172200" y="2436812"/>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10BC7FA2-A5A5-149C-EABE-EA68AB38DC09}"/>
              </a:ext>
            </a:extLst>
          </p:cNvPr>
          <p:cNvSpPr txBox="1"/>
          <p:nvPr/>
        </p:nvSpPr>
        <p:spPr>
          <a:xfrm>
            <a:off x="6248400" y="2487612"/>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QFT inversa</a:t>
            </a:r>
          </a:p>
        </p:txBody>
      </p:sp>
      <p:sp>
        <p:nvSpPr>
          <p:cNvPr id="17" name="TextBox 16">
            <a:extLst>
              <a:ext uri="{FF2B5EF4-FFF2-40B4-BE49-F238E27FC236}">
                <a16:creationId xmlns:a16="http://schemas.microsoft.com/office/drawing/2014/main" id="{3B513393-831B-C90D-5BCD-591EB8FE277A}"/>
              </a:ext>
            </a:extLst>
          </p:cNvPr>
          <p:cNvSpPr txBox="1"/>
          <p:nvPr/>
        </p:nvSpPr>
        <p:spPr>
          <a:xfrm>
            <a:off x="6248400" y="3071812"/>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rotazioni controllate</a:t>
            </a:r>
          </a:p>
        </p:txBody>
      </p:sp>
      <p:sp>
        <p:nvSpPr>
          <p:cNvPr id="50" name="Arrow: Right 49">
            <a:extLst>
              <a:ext uri="{FF2B5EF4-FFF2-40B4-BE49-F238E27FC236}">
                <a16:creationId xmlns:a16="http://schemas.microsoft.com/office/drawing/2014/main" id="{29DEC9FE-10C7-271F-ABEB-4B97B4321FCD}"/>
              </a:ext>
            </a:extLst>
          </p:cNvPr>
          <p:cNvSpPr/>
          <p:nvPr/>
        </p:nvSpPr>
        <p:spPr>
          <a:xfrm>
            <a:off x="8661400" y="2843212"/>
            <a:ext cx="177800" cy="152400"/>
          </a:xfrm>
          <a:prstGeom prst="rightArrow">
            <a:avLst/>
          </a:prstGeom>
          <a:solidFill>
            <a:srgbClr val="8A7A4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Rounded Corners 50">
            <a:extLst>
              <a:ext uri="{FF2B5EF4-FFF2-40B4-BE49-F238E27FC236}">
                <a16:creationId xmlns:a16="http://schemas.microsoft.com/office/drawing/2014/main" id="{5804AC16-C84A-4973-1E3A-33EF6EF0CE42}"/>
              </a:ext>
            </a:extLst>
          </p:cNvPr>
          <p:cNvSpPr/>
          <p:nvPr/>
        </p:nvSpPr>
        <p:spPr>
          <a:xfrm>
            <a:off x="8864600" y="2436812"/>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TextBox 51">
            <a:extLst>
              <a:ext uri="{FF2B5EF4-FFF2-40B4-BE49-F238E27FC236}">
                <a16:creationId xmlns:a16="http://schemas.microsoft.com/office/drawing/2014/main" id="{646B5660-21FE-82E2-FF02-0E010D013066}"/>
              </a:ext>
            </a:extLst>
          </p:cNvPr>
          <p:cNvSpPr txBox="1"/>
          <p:nvPr/>
        </p:nvSpPr>
        <p:spPr>
          <a:xfrm>
            <a:off x="8940800" y="2487612"/>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Misura</a:t>
            </a:r>
          </a:p>
        </p:txBody>
      </p:sp>
      <p:sp>
        <p:nvSpPr>
          <p:cNvPr id="53" name="TextBox 52">
            <a:extLst>
              <a:ext uri="{FF2B5EF4-FFF2-40B4-BE49-F238E27FC236}">
                <a16:creationId xmlns:a16="http://schemas.microsoft.com/office/drawing/2014/main" id="{1A21D735-A996-BECE-47BE-974260D6411D}"/>
              </a:ext>
            </a:extLst>
          </p:cNvPr>
          <p:cNvSpPr txBox="1"/>
          <p:nvPr/>
        </p:nvSpPr>
        <p:spPr>
          <a:xfrm>
            <a:off x="8940800" y="3071812"/>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istogramma degli esiti</a:t>
            </a:r>
          </a:p>
        </p:txBody>
      </p:sp>
      <p:sp>
        <p:nvSpPr>
          <p:cNvPr id="56" name="Rectangle: Rounded Corners 55">
            <a:extLst>
              <a:ext uri="{FF2B5EF4-FFF2-40B4-BE49-F238E27FC236}">
                <a16:creationId xmlns:a16="http://schemas.microsoft.com/office/drawing/2014/main" id="{F8702F06-AC41-A784-75A6-8A63F848BF2E}"/>
              </a:ext>
            </a:extLst>
          </p:cNvPr>
          <p:cNvSpPr/>
          <p:nvPr/>
        </p:nvSpPr>
        <p:spPr>
          <a:xfrm>
            <a:off x="6172200" y="4976812"/>
            <a:ext cx="2463800" cy="939800"/>
          </a:xfrm>
          <a:prstGeom prst="roundRect">
            <a:avLst>
              <a:gd name="adj" fmla="val 8000"/>
            </a:avLst>
          </a:prstGeom>
          <a:solidFill>
            <a:srgbClr val="EEE7F7"/>
          </a:solidFill>
          <a:ln w="15875">
            <a:solidFill>
              <a:srgbClr val="6B4F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TextBox 56">
            <a:extLst>
              <a:ext uri="{FF2B5EF4-FFF2-40B4-BE49-F238E27FC236}">
                <a16:creationId xmlns:a16="http://schemas.microsoft.com/office/drawing/2014/main" id="{86D805D8-D26E-2153-32FC-2D467B951E73}"/>
              </a:ext>
            </a:extLst>
          </p:cNvPr>
          <p:cNvSpPr txBox="1"/>
          <p:nvPr/>
        </p:nvSpPr>
        <p:spPr>
          <a:xfrm>
            <a:off x="6299200" y="5040312"/>
            <a:ext cx="22098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QFT approssimata</a:t>
            </a:r>
          </a:p>
        </p:txBody>
      </p:sp>
      <p:sp>
        <p:nvSpPr>
          <p:cNvPr id="58" name="TextBox 57">
            <a:extLst>
              <a:ext uri="{FF2B5EF4-FFF2-40B4-BE49-F238E27FC236}">
                <a16:creationId xmlns:a16="http://schemas.microsoft.com/office/drawing/2014/main" id="{70E09711-6032-D441-5BEC-D255762B5C0F}"/>
              </a:ext>
            </a:extLst>
          </p:cNvPr>
          <p:cNvSpPr txBox="1"/>
          <p:nvPr/>
        </p:nvSpPr>
        <p:spPr>
          <a:xfrm>
            <a:off x="6299200" y="5357812"/>
            <a:ext cx="2209800" cy="369332"/>
          </a:xfrm>
          <a:prstGeom prst="rect">
            <a:avLst/>
          </a:prstGeom>
          <a:noFill/>
        </p:spPr>
        <p:txBody>
          <a:bodyPr vert="horz" wrap="square" rtlCol="0">
            <a:noAutofit/>
          </a:bodyPr>
          <a:lstStyle/>
          <a:p>
            <a:r>
              <a:rPr lang="it-IT" sz="1275">
                <a:solidFill>
                  <a:srgbClr val="203344"/>
                </a:solidFill>
                <a:latin typeface="Arial" panose="020B0604020202020204" pitchFamily="34" charset="0"/>
              </a:rPr>
              <a:t>toglie le rotazioni di piccolo angolo</a:t>
            </a:r>
            <a:endParaRPr lang="en-GB" sz="1275">
              <a:solidFill>
                <a:srgbClr val="203344"/>
              </a:solidFill>
              <a:latin typeface="Arial" panose="020B0604020202020204" pitchFamily="34" charset="0"/>
            </a:endParaRPr>
          </a:p>
        </p:txBody>
      </p:sp>
      <p:sp>
        <p:nvSpPr>
          <p:cNvPr id="59" name="Rectangle: Rounded Corners 58">
            <a:extLst>
              <a:ext uri="{FF2B5EF4-FFF2-40B4-BE49-F238E27FC236}">
                <a16:creationId xmlns:a16="http://schemas.microsoft.com/office/drawing/2014/main" id="{7D7FE52C-2C69-C699-AE2B-42253A1D7671}"/>
              </a:ext>
            </a:extLst>
          </p:cNvPr>
          <p:cNvSpPr/>
          <p:nvPr/>
        </p:nvSpPr>
        <p:spPr>
          <a:xfrm>
            <a:off x="8864600" y="3783012"/>
            <a:ext cx="2463800" cy="939800"/>
          </a:xfrm>
          <a:prstGeom prst="roundRect">
            <a:avLst>
              <a:gd name="adj" fmla="val 8000"/>
            </a:avLst>
          </a:prstGeom>
          <a:solidFill>
            <a:srgbClr val="EEE7F7"/>
          </a:solidFill>
          <a:ln w="15875">
            <a:solidFill>
              <a:srgbClr val="6B4F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TextBox 59">
            <a:extLst>
              <a:ext uri="{FF2B5EF4-FFF2-40B4-BE49-F238E27FC236}">
                <a16:creationId xmlns:a16="http://schemas.microsoft.com/office/drawing/2014/main" id="{DD1271B2-1BD1-2C08-298C-BB17D381E5F9}"/>
              </a:ext>
            </a:extLst>
          </p:cNvPr>
          <p:cNvSpPr txBox="1"/>
          <p:nvPr/>
        </p:nvSpPr>
        <p:spPr>
          <a:xfrm>
            <a:off x="8991600" y="3846512"/>
            <a:ext cx="22098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Post-processing</a:t>
            </a:r>
          </a:p>
        </p:txBody>
      </p:sp>
      <p:sp>
        <p:nvSpPr>
          <p:cNvPr id="61" name="TextBox 60">
            <a:extLst>
              <a:ext uri="{FF2B5EF4-FFF2-40B4-BE49-F238E27FC236}">
                <a16:creationId xmlns:a16="http://schemas.microsoft.com/office/drawing/2014/main" id="{B32AF17F-33DD-27A1-2503-DFC2B928164A}"/>
              </a:ext>
            </a:extLst>
          </p:cNvPr>
          <p:cNvSpPr txBox="1"/>
          <p:nvPr/>
        </p:nvSpPr>
        <p:spPr>
          <a:xfrm>
            <a:off x="8991600" y="4164012"/>
            <a:ext cx="2209800" cy="369332"/>
          </a:xfrm>
          <a:prstGeom prst="rect">
            <a:avLst/>
          </a:prstGeom>
          <a:noFill/>
        </p:spPr>
        <p:txBody>
          <a:bodyPr vert="horz" wrap="square" rtlCol="0">
            <a:noAutofit/>
          </a:bodyPr>
          <a:lstStyle/>
          <a:p>
            <a:r>
              <a:rPr lang="it-IT" sz="1275">
                <a:solidFill>
                  <a:srgbClr val="203344"/>
                </a:solidFill>
                <a:latin typeface="Arial" panose="020B0604020202020204" pitchFamily="34" charset="0"/>
              </a:rPr>
              <a:t>verifica classica degli esiti misurati</a:t>
            </a:r>
            <a:endParaRPr lang="en-GB" sz="1275">
              <a:solidFill>
                <a:srgbClr val="203344"/>
              </a:solidFill>
              <a:latin typeface="Arial" panose="020B0604020202020204" pitchFamily="34" charset="0"/>
            </a:endParaRPr>
          </a:p>
        </p:txBody>
      </p:sp>
      <p:sp>
        <p:nvSpPr>
          <p:cNvPr id="63" name="Rectangle: Rounded Corners 62">
            <a:extLst>
              <a:ext uri="{FF2B5EF4-FFF2-40B4-BE49-F238E27FC236}">
                <a16:creationId xmlns:a16="http://schemas.microsoft.com/office/drawing/2014/main" id="{899DB2B1-FCD0-8D4F-AE5F-917B564E2B10}"/>
              </a:ext>
            </a:extLst>
          </p:cNvPr>
          <p:cNvSpPr/>
          <p:nvPr/>
        </p:nvSpPr>
        <p:spPr>
          <a:xfrm>
            <a:off x="8864600" y="4976812"/>
            <a:ext cx="2463800" cy="939800"/>
          </a:xfrm>
          <a:prstGeom prst="roundRect">
            <a:avLst>
              <a:gd name="adj" fmla="val 8000"/>
            </a:avLst>
          </a:prstGeom>
          <a:solidFill>
            <a:srgbClr val="EEE7F7"/>
          </a:solidFill>
          <a:ln w="15875">
            <a:solidFill>
              <a:srgbClr val="6B4F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TextBox 63">
            <a:extLst>
              <a:ext uri="{FF2B5EF4-FFF2-40B4-BE49-F238E27FC236}">
                <a16:creationId xmlns:a16="http://schemas.microsoft.com/office/drawing/2014/main" id="{326F084D-93F3-CFB3-2AEF-0176AA102007}"/>
              </a:ext>
            </a:extLst>
          </p:cNvPr>
          <p:cNvSpPr txBox="1"/>
          <p:nvPr/>
        </p:nvSpPr>
        <p:spPr>
          <a:xfrm>
            <a:off x="8991600" y="5040312"/>
            <a:ext cx="22098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TOP-K e ML</a:t>
            </a:r>
          </a:p>
        </p:txBody>
      </p:sp>
      <p:sp>
        <p:nvSpPr>
          <p:cNvPr id="65" name="TextBox 64">
            <a:extLst>
              <a:ext uri="{FF2B5EF4-FFF2-40B4-BE49-F238E27FC236}">
                <a16:creationId xmlns:a16="http://schemas.microsoft.com/office/drawing/2014/main" id="{273609B0-B17D-A477-1EAC-F52183F7EA23}"/>
              </a:ext>
            </a:extLst>
          </p:cNvPr>
          <p:cNvSpPr txBox="1"/>
          <p:nvPr/>
        </p:nvSpPr>
        <p:spPr>
          <a:xfrm>
            <a:off x="8991600" y="5357812"/>
            <a:ext cx="2209800" cy="369332"/>
          </a:xfrm>
          <a:prstGeom prst="rect">
            <a:avLst/>
          </a:prstGeom>
          <a:noFill/>
        </p:spPr>
        <p:txBody>
          <a:bodyPr vert="horz" wrap="square" rtlCol="0">
            <a:noAutofit/>
          </a:bodyPr>
          <a:lstStyle/>
          <a:p>
            <a:r>
              <a:rPr lang="it-IT" sz="1275">
                <a:solidFill>
                  <a:srgbClr val="203344"/>
                </a:solidFill>
                <a:latin typeface="Arial" panose="020B0604020202020204" pitchFamily="34" charset="0"/>
              </a:rPr>
              <a:t>TOP-1, TOP-4, Metodo 2: quali esiti verificare</a:t>
            </a:r>
            <a:endParaRPr lang="en-GB" sz="1275">
              <a:solidFill>
                <a:srgbClr val="203344"/>
              </a:solidFill>
              <a:latin typeface="Arial" panose="020B0604020202020204" pitchFamily="34" charset="0"/>
            </a:endParaRPr>
          </a:p>
        </p:txBody>
      </p:sp>
      <p:sp>
        <p:nvSpPr>
          <p:cNvPr id="68" name="Rectangle: Rounded Corners 67">
            <a:extLst>
              <a:ext uri="{FF2B5EF4-FFF2-40B4-BE49-F238E27FC236}">
                <a16:creationId xmlns:a16="http://schemas.microsoft.com/office/drawing/2014/main" id="{591DD65E-84D6-869C-A834-5BCCD873E3BA}"/>
              </a:ext>
            </a:extLst>
          </p:cNvPr>
          <p:cNvSpPr/>
          <p:nvPr/>
        </p:nvSpPr>
        <p:spPr>
          <a:xfrm>
            <a:off x="3479800" y="3783012"/>
            <a:ext cx="5156200" cy="939800"/>
          </a:xfrm>
          <a:prstGeom prst="roundRect">
            <a:avLst>
              <a:gd name="adj" fmla="val 8000"/>
            </a:avLst>
          </a:prstGeom>
          <a:solidFill>
            <a:srgbClr val="EEE7F7"/>
          </a:solidFill>
          <a:ln w="15875">
            <a:solidFill>
              <a:srgbClr val="6B4F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TextBox 68">
            <a:extLst>
              <a:ext uri="{FF2B5EF4-FFF2-40B4-BE49-F238E27FC236}">
                <a16:creationId xmlns:a16="http://schemas.microsoft.com/office/drawing/2014/main" id="{C97455E7-7CCA-BE6A-D77C-5C64732A886B}"/>
              </a:ext>
            </a:extLst>
          </p:cNvPr>
          <p:cNvSpPr txBox="1"/>
          <p:nvPr/>
        </p:nvSpPr>
        <p:spPr>
          <a:xfrm>
            <a:off x="3606800" y="3846512"/>
            <a:ext cx="49022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Correzione degli errori (QEC)</a:t>
            </a:r>
          </a:p>
        </p:txBody>
      </p:sp>
      <p:sp>
        <p:nvSpPr>
          <p:cNvPr id="70" name="TextBox 69">
            <a:extLst>
              <a:ext uri="{FF2B5EF4-FFF2-40B4-BE49-F238E27FC236}">
                <a16:creationId xmlns:a16="http://schemas.microsoft.com/office/drawing/2014/main" id="{09239A3F-A0D9-B54E-B6EB-603D0B37DEC0}"/>
              </a:ext>
            </a:extLst>
          </p:cNvPr>
          <p:cNvSpPr txBox="1"/>
          <p:nvPr/>
        </p:nvSpPr>
        <p:spPr>
          <a:xfrm>
            <a:off x="3606800" y="4164012"/>
            <a:ext cx="4902200" cy="369332"/>
          </a:xfrm>
          <a:prstGeom prst="rect">
            <a:avLst/>
          </a:prstGeom>
          <a:noFill/>
        </p:spPr>
        <p:txBody>
          <a:bodyPr vert="horz" wrap="square" rtlCol="0">
            <a:noAutofit/>
          </a:bodyPr>
          <a:lstStyle/>
          <a:p>
            <a:r>
              <a:rPr lang="it-IT" sz="1275" err="1">
                <a:solidFill>
                  <a:srgbClr val="203344"/>
                </a:solidFill>
                <a:latin typeface="Arial" panose="020B0604020202020204" pitchFamily="34" charset="0"/>
              </a:rPr>
              <a:t>surface</a:t>
            </a:r>
            <a:r>
              <a:rPr lang="it-IT" sz="1275">
                <a:solidFill>
                  <a:srgbClr val="203344"/>
                </a:solidFill>
                <a:latin typeface="Arial" panose="020B0604020202020204" pitchFamily="34" charset="0"/>
              </a:rPr>
              <a:t> code e Gross code di IBM: proteggono i qubit durante il calcolo (</a:t>
            </a:r>
            <a:r>
              <a:rPr lang="it-IT" sz="1275" err="1">
                <a:solidFill>
                  <a:srgbClr val="203344"/>
                </a:solidFill>
                <a:latin typeface="Arial" panose="020B0604020202020204" pitchFamily="34" charset="0"/>
              </a:rPr>
              <a:t>esponenziazione</a:t>
            </a:r>
            <a:r>
              <a:rPr lang="it-IT" sz="1275">
                <a:solidFill>
                  <a:srgbClr val="203344"/>
                </a:solidFill>
                <a:latin typeface="Arial" panose="020B0604020202020204" pitchFamily="34" charset="0"/>
              </a:rPr>
              <a:t> e QFT)</a:t>
            </a:r>
            <a:endParaRPr lang="en-GB" sz="1275">
              <a:solidFill>
                <a:srgbClr val="203344"/>
              </a:solidFill>
              <a:latin typeface="Arial" panose="020B0604020202020204" pitchFamily="34" charset="0"/>
            </a:endParaRPr>
          </a:p>
        </p:txBody>
      </p:sp>
    </p:spTree>
    <p:extLst>
      <p:ext uri="{BB962C8B-B14F-4D97-AF65-F5344CB8AC3E}">
        <p14:creationId xmlns:p14="http://schemas.microsoft.com/office/powerpoint/2010/main" val="29395866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E63F5E73-50EB-4DE5-A1E1-7932B59E91B5}"/>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800" b="0">
                <a:solidFill>
                  <a:srgbClr val="003366"/>
                </a:solidFill>
                <a:latin typeface="Arial"/>
                <a:ea typeface="Arial"/>
                <a:cs typeface="Arial"/>
              </a:rPr>
              <a:t>Post-processing: confronto e risultati</a:t>
            </a:r>
            <a:endParaRPr sz="28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478C359-BEA8-4AFD-944F-9175CC4F4295}"/>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8134F752-5082-496F-BC77-8A8C1F34CF24}"/>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000" b="0">
                <a:solidFill>
                  <a:srgbClr val="203344"/>
                </a:solidFill>
                <a:latin typeface="Arial"/>
                <a:ea typeface="Arial"/>
                <a:cs typeface="Arial"/>
              </a:rPr>
              <a:t>Strategia 1 · Metodi e risultati</a:t>
            </a:r>
            <a:endParaRPr sz="10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CC35D492-ABDB-46BA-AE16-026C7410C362}"/>
              </a:ext>
            </a:extLst>
          </p:cNvPr>
          <p:cNvSpPr>
            <a:spLocks noGrp="1"/>
          </p:cNvSpPr>
          <p:nvPr/>
        </p:nvSpPr>
        <p:spPr>
          <a:xfrm>
            <a:off x="609600" y="1371600"/>
            <a:ext cx="10972800" cy="508000"/>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lang="it-IT" sz="2200" b="1">
                <a:solidFill>
                  <a:srgbClr val="FFFFFF"/>
                </a:solidFill>
                <a:latin typeface="Arial"/>
                <a:ea typeface="Arial"/>
                <a:cs typeface="Arial"/>
              </a:rPr>
              <a:t>Stesso istogramma di partenza: 1024 esecuzioni</a:t>
            </a:r>
            <a:endParaRPr sz="2200" b="1">
              <a:solidFill>
                <a:srgbClr val="FFFFFF"/>
              </a:solidFill>
              <a:latin typeface="Arial"/>
              <a:ea typeface="Arial"/>
              <a:cs typeface="Arial"/>
            </a:endParaRPr>
          </a:p>
        </p:txBody>
      </p:sp>
      <p:sp>
        <p:nvSpPr>
          <p:cNvPr id="6" name="Rectangle: Rounded Corners 5">
            <a:extLst>
              <a:ext uri="{FF2B5EF4-FFF2-40B4-BE49-F238E27FC236}">
                <a16:creationId xmlns:a16="http://schemas.microsoft.com/office/drawing/2014/main" id="{6C6B2847-EFC1-4D02-B73B-9163FA7FF42D}"/>
              </a:ext>
            </a:extLst>
          </p:cNvPr>
          <p:cNvSpPr>
            <a:spLocks noGrp="1"/>
          </p:cNvSpPr>
          <p:nvPr/>
        </p:nvSpPr>
        <p:spPr>
          <a:xfrm>
            <a:off x="609600" y="1993900"/>
            <a:ext cx="3143250" cy="1104900"/>
          </a:xfrm>
          <a:prstGeom prst="roundRect">
            <a:avLst>
              <a:gd name="adj" fmla="val 6135"/>
            </a:avLst>
          </a:prstGeom>
          <a:solidFill>
            <a:srgbClr val="EEF4F8"/>
          </a:solidFill>
          <a:ln w="14288">
            <a:solidFill>
              <a:srgbClr val="5084BF"/>
            </a:solidFill>
          </a:ln>
        </p:spPr>
        <p:txBody>
          <a:bodyPr/>
          <a:lstStyle/>
          <a:p>
            <a:endParaRPr lang="en-GB"/>
          </a:p>
        </p:txBody>
      </p:sp>
      <p:sp>
        <p:nvSpPr>
          <p:cNvPr id="7" name="Rectangle 6">
            <a:extLst>
              <a:ext uri="{FF2B5EF4-FFF2-40B4-BE49-F238E27FC236}">
                <a16:creationId xmlns:a16="http://schemas.microsoft.com/office/drawing/2014/main" id="{50207F82-D486-4618-9019-4A9B6B896244}"/>
              </a:ext>
            </a:extLst>
          </p:cNvPr>
          <p:cNvSpPr>
            <a:spLocks noGrp="1"/>
          </p:cNvSpPr>
          <p:nvPr/>
        </p:nvSpPr>
        <p:spPr>
          <a:xfrm>
            <a:off x="790575" y="2057400"/>
            <a:ext cx="2781300" cy="406400"/>
          </a:xfrm>
          <a:prstGeom prst="rect">
            <a:avLst/>
          </a:prstGeom>
          <a:noFill/>
          <a:ln w="0">
            <a:noFill/>
          </a:ln>
        </p:spPr>
        <p:txBody>
          <a:bodyPr lIns="38100" rIns="38100" anchor="ctr">
            <a:noAutofit/>
          </a:bodyPr>
          <a:lstStyle/>
          <a:p>
            <a:pPr algn="ctr">
              <a:defRPr sz="2175" b="1">
                <a:solidFill>
                  <a:srgbClr val="003366"/>
                </a:solidFill>
                <a:latin typeface="Arial"/>
                <a:ea typeface="Arial"/>
                <a:cs typeface="Arial"/>
              </a:defRPr>
            </a:pPr>
            <a:r>
              <a:rPr lang="it-IT" sz="2200" b="1">
                <a:solidFill>
                  <a:srgbClr val="003366"/>
                </a:solidFill>
                <a:latin typeface="Arial"/>
                <a:ea typeface="Arial"/>
                <a:cs typeface="Arial"/>
              </a:rPr>
              <a:t>TOP-1</a:t>
            </a:r>
            <a:endParaRPr sz="2200" b="1">
              <a:solidFill>
                <a:srgbClr val="003366"/>
              </a:solidFill>
              <a:latin typeface="Arial"/>
              <a:ea typeface="Arial"/>
              <a:cs typeface="Arial"/>
            </a:endParaRPr>
          </a:p>
        </p:txBody>
      </p:sp>
      <p:sp>
        <p:nvSpPr>
          <p:cNvPr id="8" name="Rectangle 7">
            <a:extLst>
              <a:ext uri="{FF2B5EF4-FFF2-40B4-BE49-F238E27FC236}">
                <a16:creationId xmlns:a16="http://schemas.microsoft.com/office/drawing/2014/main" id="{448DCFE9-33F7-45E1-A769-1CD6F8ABDA24}"/>
              </a:ext>
            </a:extLst>
          </p:cNvPr>
          <p:cNvSpPr>
            <a:spLocks noGrp="1"/>
          </p:cNvSpPr>
          <p:nvPr/>
        </p:nvSpPr>
        <p:spPr>
          <a:xfrm>
            <a:off x="790575" y="2489200"/>
            <a:ext cx="2781300" cy="584200"/>
          </a:xfrm>
          <a:prstGeom prst="rect">
            <a:avLst/>
          </a:prstGeom>
          <a:noFill/>
          <a:ln w="0">
            <a:noFill/>
          </a:ln>
        </p:spPr>
        <p:txBody>
          <a:bodyPr lIns="38100" rIns="38100" anchor="ctr">
            <a:noAutofit/>
          </a:bodyPr>
          <a:lstStyle/>
          <a:p>
            <a:pPr algn="ctr">
              <a:defRPr sz="1875" b="0">
                <a:solidFill>
                  <a:srgbClr val="203344"/>
                </a:solidFill>
                <a:latin typeface="Arial"/>
                <a:ea typeface="Arial"/>
                <a:cs typeface="Arial"/>
              </a:defRPr>
            </a:pPr>
            <a:r>
              <a:rPr lang="it-IT" sz="1550" b="0">
                <a:solidFill>
                  <a:srgbClr val="203344"/>
                </a:solidFill>
                <a:latin typeface="Arial"/>
                <a:ea typeface="Arial"/>
                <a:cs typeface="Arial"/>
              </a:rPr>
              <a:t>Verifica il risultato più frequente</a:t>
            </a:r>
            <a:endParaRPr sz="1550" b="0">
              <a:solidFill>
                <a:srgbClr val="203344"/>
              </a:solidFill>
              <a:latin typeface="Arial"/>
              <a:ea typeface="Arial"/>
              <a:cs typeface="Arial"/>
            </a:endParaRPr>
          </a:p>
        </p:txBody>
      </p:sp>
      <p:sp>
        <p:nvSpPr>
          <p:cNvPr id="9" name="Rectangle: Rounded Corners 8">
            <a:extLst>
              <a:ext uri="{FF2B5EF4-FFF2-40B4-BE49-F238E27FC236}">
                <a16:creationId xmlns:a16="http://schemas.microsoft.com/office/drawing/2014/main" id="{A7ED80C4-3A04-48D9-8600-16713139334D}"/>
              </a:ext>
            </a:extLst>
          </p:cNvPr>
          <p:cNvSpPr>
            <a:spLocks noGrp="1"/>
          </p:cNvSpPr>
          <p:nvPr/>
        </p:nvSpPr>
        <p:spPr>
          <a:xfrm>
            <a:off x="4524375" y="1993900"/>
            <a:ext cx="3143250" cy="1104900"/>
          </a:xfrm>
          <a:prstGeom prst="roundRect">
            <a:avLst>
              <a:gd name="adj" fmla="val 6135"/>
            </a:avLst>
          </a:prstGeom>
          <a:solidFill>
            <a:srgbClr val="EEF4F8"/>
          </a:solidFill>
          <a:ln w="14288">
            <a:solidFill>
              <a:srgbClr val="5084BF"/>
            </a:solidFill>
          </a:ln>
        </p:spPr>
        <p:txBody>
          <a:bodyPr/>
          <a:lstStyle/>
          <a:p>
            <a:endParaRPr lang="en-GB"/>
          </a:p>
        </p:txBody>
      </p:sp>
      <p:sp>
        <p:nvSpPr>
          <p:cNvPr id="10" name="Rectangle 9">
            <a:extLst>
              <a:ext uri="{FF2B5EF4-FFF2-40B4-BE49-F238E27FC236}">
                <a16:creationId xmlns:a16="http://schemas.microsoft.com/office/drawing/2014/main" id="{B7718673-DDE6-4B0E-80B1-2DEB783CDC31}"/>
              </a:ext>
            </a:extLst>
          </p:cNvPr>
          <p:cNvSpPr>
            <a:spLocks noGrp="1"/>
          </p:cNvSpPr>
          <p:nvPr/>
        </p:nvSpPr>
        <p:spPr>
          <a:xfrm>
            <a:off x="4705350" y="2057400"/>
            <a:ext cx="2781300" cy="406400"/>
          </a:xfrm>
          <a:prstGeom prst="rect">
            <a:avLst/>
          </a:prstGeom>
          <a:noFill/>
          <a:ln w="0">
            <a:noFill/>
          </a:ln>
        </p:spPr>
        <p:txBody>
          <a:bodyPr lIns="38100" rIns="38100" anchor="ctr">
            <a:noAutofit/>
          </a:bodyPr>
          <a:lstStyle/>
          <a:p>
            <a:pPr algn="ctr">
              <a:defRPr sz="2175" b="1">
                <a:solidFill>
                  <a:srgbClr val="003366"/>
                </a:solidFill>
                <a:latin typeface="Arial"/>
                <a:ea typeface="Arial"/>
                <a:cs typeface="Arial"/>
              </a:defRPr>
            </a:pPr>
            <a:r>
              <a:rPr lang="it-IT" sz="2200" b="1">
                <a:solidFill>
                  <a:srgbClr val="003366"/>
                </a:solidFill>
                <a:latin typeface="Arial"/>
                <a:ea typeface="Arial"/>
                <a:cs typeface="Arial"/>
              </a:rPr>
              <a:t>TOP-4</a:t>
            </a:r>
            <a:endParaRPr sz="2200" b="1">
              <a:solidFill>
                <a:srgbClr val="003366"/>
              </a:solidFill>
              <a:latin typeface="Arial"/>
              <a:ea typeface="Arial"/>
              <a:cs typeface="Arial"/>
            </a:endParaRPr>
          </a:p>
        </p:txBody>
      </p:sp>
      <p:sp>
        <p:nvSpPr>
          <p:cNvPr id="11" name="Rectangle 10">
            <a:extLst>
              <a:ext uri="{FF2B5EF4-FFF2-40B4-BE49-F238E27FC236}">
                <a16:creationId xmlns:a16="http://schemas.microsoft.com/office/drawing/2014/main" id="{428CE012-A819-412F-A649-3EAB47BC23F5}"/>
              </a:ext>
            </a:extLst>
          </p:cNvPr>
          <p:cNvSpPr>
            <a:spLocks noGrp="1"/>
          </p:cNvSpPr>
          <p:nvPr/>
        </p:nvSpPr>
        <p:spPr>
          <a:xfrm>
            <a:off x="4705350" y="2489200"/>
            <a:ext cx="2781300" cy="584200"/>
          </a:xfrm>
          <a:prstGeom prst="rect">
            <a:avLst/>
          </a:prstGeom>
          <a:noFill/>
          <a:ln w="0">
            <a:noFill/>
          </a:ln>
        </p:spPr>
        <p:txBody>
          <a:bodyPr lIns="38100" rIns="38100" anchor="ctr">
            <a:noAutofit/>
          </a:bodyPr>
          <a:lstStyle/>
          <a:p>
            <a:pPr algn="ctr">
              <a:defRPr sz="1875" b="0">
                <a:solidFill>
                  <a:srgbClr val="203344"/>
                </a:solidFill>
                <a:latin typeface="Arial"/>
                <a:ea typeface="Arial"/>
                <a:cs typeface="Arial"/>
              </a:defRPr>
            </a:pPr>
            <a:r>
              <a:rPr lang="it-IT" sz="1550" b="0">
                <a:solidFill>
                  <a:srgbClr val="203344"/>
                </a:solidFill>
                <a:latin typeface="Arial"/>
                <a:ea typeface="Arial"/>
                <a:cs typeface="Arial"/>
              </a:rPr>
              <a:t>Verifica fino a quattro esiti, in ordine di frequenza</a:t>
            </a:r>
            <a:endParaRPr sz="1550" b="0">
              <a:solidFill>
                <a:srgbClr val="203344"/>
              </a:solidFill>
              <a:latin typeface="Arial"/>
              <a:ea typeface="Arial"/>
              <a:cs typeface="Arial"/>
            </a:endParaRPr>
          </a:p>
        </p:txBody>
      </p:sp>
      <p:sp>
        <p:nvSpPr>
          <p:cNvPr id="12" name="Rectangle: Rounded Corners 11">
            <a:extLst>
              <a:ext uri="{FF2B5EF4-FFF2-40B4-BE49-F238E27FC236}">
                <a16:creationId xmlns:a16="http://schemas.microsoft.com/office/drawing/2014/main" id="{8E8D58EB-1F29-489F-84AA-EE5A27A893AB}"/>
              </a:ext>
            </a:extLst>
          </p:cNvPr>
          <p:cNvSpPr>
            <a:spLocks noGrp="1"/>
          </p:cNvSpPr>
          <p:nvPr/>
        </p:nvSpPr>
        <p:spPr>
          <a:xfrm>
            <a:off x="8439150" y="1993900"/>
            <a:ext cx="3143250" cy="1104900"/>
          </a:xfrm>
          <a:prstGeom prst="roundRect">
            <a:avLst>
              <a:gd name="adj" fmla="val 6135"/>
            </a:avLst>
          </a:prstGeom>
          <a:solidFill>
            <a:srgbClr val="EEF4F8"/>
          </a:solidFill>
          <a:ln w="14288">
            <a:solidFill>
              <a:srgbClr val="5084BF"/>
            </a:solidFill>
          </a:ln>
        </p:spPr>
        <p:txBody>
          <a:bodyPr/>
          <a:lstStyle/>
          <a:p>
            <a:endParaRPr lang="en-GB"/>
          </a:p>
        </p:txBody>
      </p:sp>
      <p:sp>
        <p:nvSpPr>
          <p:cNvPr id="13" name="Rectangle 12">
            <a:extLst>
              <a:ext uri="{FF2B5EF4-FFF2-40B4-BE49-F238E27FC236}">
                <a16:creationId xmlns:a16="http://schemas.microsoft.com/office/drawing/2014/main" id="{530CC7E4-D9E5-44BA-A967-3C00C77DC3EC}"/>
              </a:ext>
            </a:extLst>
          </p:cNvPr>
          <p:cNvSpPr>
            <a:spLocks noGrp="1"/>
          </p:cNvSpPr>
          <p:nvPr/>
        </p:nvSpPr>
        <p:spPr>
          <a:xfrm>
            <a:off x="8620125" y="2057400"/>
            <a:ext cx="2781300" cy="406400"/>
          </a:xfrm>
          <a:prstGeom prst="rect">
            <a:avLst/>
          </a:prstGeom>
          <a:noFill/>
          <a:ln w="0">
            <a:noFill/>
          </a:ln>
        </p:spPr>
        <p:txBody>
          <a:bodyPr lIns="38100" rIns="38100" anchor="ctr">
            <a:noAutofit/>
          </a:bodyPr>
          <a:lstStyle/>
          <a:p>
            <a:pPr algn="ctr">
              <a:defRPr sz="2175" b="1">
                <a:solidFill>
                  <a:srgbClr val="003366"/>
                </a:solidFill>
                <a:latin typeface="Arial"/>
                <a:ea typeface="Arial"/>
                <a:cs typeface="Arial"/>
              </a:defRPr>
            </a:pPr>
            <a:r>
              <a:rPr lang="it-IT" sz="2200" b="1">
                <a:solidFill>
                  <a:srgbClr val="003366"/>
                </a:solidFill>
                <a:latin typeface="Arial"/>
                <a:ea typeface="Arial"/>
                <a:cs typeface="Arial"/>
              </a:rPr>
              <a:t>Metodo 2</a:t>
            </a:r>
            <a:endParaRPr sz="2200" b="1">
              <a:solidFill>
                <a:srgbClr val="003366"/>
              </a:solidFill>
              <a:latin typeface="Arial"/>
              <a:ea typeface="Arial"/>
              <a:cs typeface="Arial"/>
            </a:endParaRPr>
          </a:p>
        </p:txBody>
      </p:sp>
      <p:sp>
        <p:nvSpPr>
          <p:cNvPr id="14" name="Rectangle 13">
            <a:extLst>
              <a:ext uri="{FF2B5EF4-FFF2-40B4-BE49-F238E27FC236}">
                <a16:creationId xmlns:a16="http://schemas.microsoft.com/office/drawing/2014/main" id="{247C1F09-0415-4CBC-9397-423247F26ABF}"/>
              </a:ext>
            </a:extLst>
          </p:cNvPr>
          <p:cNvSpPr>
            <a:spLocks noGrp="1"/>
          </p:cNvSpPr>
          <p:nvPr/>
        </p:nvSpPr>
        <p:spPr>
          <a:xfrm>
            <a:off x="8620125" y="2489200"/>
            <a:ext cx="2781300" cy="584200"/>
          </a:xfrm>
          <a:prstGeom prst="rect">
            <a:avLst/>
          </a:prstGeom>
          <a:noFill/>
          <a:ln w="0">
            <a:noFill/>
          </a:ln>
        </p:spPr>
        <p:txBody>
          <a:bodyPr lIns="38100" rIns="38100" anchor="ctr">
            <a:noAutofit/>
          </a:bodyPr>
          <a:lstStyle/>
          <a:p>
            <a:pPr algn="ctr">
              <a:defRPr sz="1875" b="0">
                <a:solidFill>
                  <a:srgbClr val="203344"/>
                </a:solidFill>
                <a:latin typeface="Arial"/>
                <a:ea typeface="Arial"/>
                <a:cs typeface="Arial"/>
              </a:defRPr>
            </a:pPr>
            <a:r>
              <a:rPr lang="it-IT" sz="1550" b="0">
                <a:solidFill>
                  <a:srgbClr val="203344"/>
                </a:solidFill>
                <a:latin typeface="Arial"/>
                <a:ea typeface="Arial"/>
                <a:cs typeface="Arial"/>
              </a:rPr>
              <a:t>Applica TOP-4 se il classificatore ML approva</a:t>
            </a:r>
            <a:endParaRPr sz="1550" b="0">
              <a:solidFill>
                <a:srgbClr val="203344"/>
              </a:solidFill>
              <a:latin typeface="Arial"/>
              <a:ea typeface="Arial"/>
              <a:cs typeface="Arial"/>
            </a:endParaRPr>
          </a:p>
        </p:txBody>
      </p:sp>
      <p:sp>
        <p:nvSpPr>
          <p:cNvPr id="27" name="Rectangle 26">
            <a:extLst>
              <a:ext uri="{FF2B5EF4-FFF2-40B4-BE49-F238E27FC236}">
                <a16:creationId xmlns:a16="http://schemas.microsoft.com/office/drawing/2014/main" id="{B611238E-C082-6AF6-60EE-43C467FDADAA}"/>
              </a:ext>
            </a:extLst>
          </p:cNvPr>
          <p:cNvSpPr/>
          <p:nvPr/>
        </p:nvSpPr>
        <p:spPr>
          <a:xfrm>
            <a:off x="609600" y="3213100"/>
            <a:ext cx="10972800" cy="368300"/>
          </a:xfrm>
          <a:prstGeom prst="rect">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b="1">
                <a:solidFill>
                  <a:srgbClr val="003366"/>
                </a:solidFill>
                <a:latin typeface="Arial" panose="020B0604020202020204" pitchFamily="34" charset="0"/>
              </a:rPr>
              <a:t>Verifica classica: frazioni continue e MCD</a:t>
            </a:r>
            <a:endParaRPr lang="en-GB" b="1">
              <a:solidFill>
                <a:srgbClr val="003366"/>
              </a:solidFill>
              <a:latin typeface="Arial" panose="020B0604020202020204" pitchFamily="34" charset="0"/>
            </a:endParaRPr>
          </a:p>
        </p:txBody>
      </p:sp>
      <p:sp>
        <p:nvSpPr>
          <p:cNvPr id="15" name="TextBox 14">
            <a:extLst>
              <a:ext uri="{FF2B5EF4-FFF2-40B4-BE49-F238E27FC236}">
                <a16:creationId xmlns:a16="http://schemas.microsoft.com/office/drawing/2014/main" id="{DFDD2B45-5CAC-7123-60D9-119116D7585C}"/>
              </a:ext>
            </a:extLst>
          </p:cNvPr>
          <p:cNvSpPr txBox="1"/>
          <p:nvPr/>
        </p:nvSpPr>
        <p:spPr>
          <a:xfrm>
            <a:off x="609600" y="4533900"/>
            <a:ext cx="4445000" cy="1205458"/>
          </a:xfrm>
          <a:prstGeom prst="rect">
            <a:avLst/>
          </a:prstGeom>
          <a:noFill/>
        </p:spPr>
        <p:txBody>
          <a:bodyPr vert="horz" lIns="0" rIns="0" rtlCol="0">
            <a:spAutoFit/>
          </a:bodyPr>
          <a:lstStyle/>
          <a:p>
            <a:pPr marL="177800" indent="-177800">
              <a:spcAft>
                <a:spcPts val="1100"/>
              </a:spcAft>
              <a:buFont typeface="+mj-lt"/>
              <a:buChar char="•"/>
            </a:pPr>
            <a:r>
              <a:rPr lang="it-IT" b="1" dirty="0">
                <a:solidFill>
                  <a:srgbClr val="0B2F5B"/>
                </a:solidFill>
                <a:latin typeface="Arial" panose="020B0604020202020204" pitchFamily="34" charset="0"/>
              </a:rPr>
              <a:t>TOP-4: </a:t>
            </a:r>
            <a:r>
              <a:rPr lang="it-IT" b="1" dirty="0">
                <a:solidFill>
                  <a:srgbClr val="D9822B"/>
                </a:solidFill>
                <a:latin typeface="Arial" panose="020B0604020202020204" pitchFamily="34" charset="0"/>
              </a:rPr>
              <a:t>fattori al primo tentativo</a:t>
            </a:r>
          </a:p>
          <a:p>
            <a:pPr marL="177800" indent="-177800">
              <a:spcAft>
                <a:spcPts val="1100"/>
              </a:spcAft>
              <a:buFont typeface="+mj-lt"/>
              <a:buChar char="•"/>
            </a:pPr>
            <a:r>
              <a:rPr lang="it-IT" b="1" dirty="0">
                <a:solidFill>
                  <a:srgbClr val="D9822B"/>
                </a:solidFill>
                <a:latin typeface="Arial" panose="020B0604020202020204" pitchFamily="34" charset="0"/>
              </a:rPr>
              <a:t>30/30 repliche</a:t>
            </a:r>
            <a:r>
              <a:rPr lang="it-IT" b="1" dirty="0">
                <a:solidFill>
                  <a:srgbClr val="0B2F5B"/>
                </a:solidFill>
                <a:latin typeface="Arial" panose="020B0604020202020204" pitchFamily="34" charset="0"/>
              </a:rPr>
              <a:t> in entrambi gli scenari</a:t>
            </a:r>
          </a:p>
          <a:p>
            <a:pPr marL="177800" indent="-177800">
              <a:spcAft>
                <a:spcPts val="1100"/>
              </a:spcAft>
              <a:buFont typeface="+mj-lt"/>
              <a:buChar char="•"/>
            </a:pPr>
            <a:r>
              <a:rPr lang="it-IT" dirty="0">
                <a:solidFill>
                  <a:srgbClr val="0B2F5B"/>
                </a:solidFill>
                <a:latin typeface="Arial" panose="020B0604020202020204" pitchFamily="34" charset="0"/>
              </a:rPr>
              <a:t>Il filtro ML non migliora il risultato</a:t>
            </a:r>
            <a:endParaRPr lang="en-GB" dirty="0">
              <a:solidFill>
                <a:srgbClr val="0B2F5B"/>
              </a:solidFill>
              <a:latin typeface="Arial" panose="020B0604020202020204" pitchFamily="34" charset="0"/>
            </a:endParaRPr>
          </a:p>
        </p:txBody>
      </p:sp>
      <p:pic>
        <p:nvPicPr>
          <p:cNvPr id="2" name="Picture 1" descr="v2_s14_iterazioni_primo_successo.png">
            <a:extLst>
              <a:ext uri="{FF2B5EF4-FFF2-40B4-BE49-F238E27FC236}">
                <a16:creationId xmlns:a16="http://schemas.microsoft.com/office/drawing/2014/main" id="{943124A8-9CAE-433F-F596-8E174B95C2F8}"/>
              </a:ext>
            </a:extLst>
          </p:cNvPr>
          <p:cNvPicPr>
            <a:picLocks noChangeAspect="1"/>
          </p:cNvPicPr>
          <p:nvPr/>
        </p:nvPicPr>
        <p:blipFill>
          <a:blip r:embed="rId4"/>
          <a:srcRect l="9003"/>
          <a:stretch>
            <a:fillRect/>
          </a:stretch>
        </p:blipFill>
        <p:spPr>
          <a:xfrm>
            <a:off x="5906890" y="3619500"/>
            <a:ext cx="4507109" cy="3203044"/>
          </a:xfrm>
          <a:prstGeom prst="rect">
            <a:avLst/>
          </a:prstGeom>
        </p:spPr>
      </p:pic>
    </p:spTree>
    <p:extLst>
      <p:ext uri="{BB962C8B-B14F-4D97-AF65-F5344CB8AC3E}">
        <p14:creationId xmlns:p14="http://schemas.microsoft.com/office/powerpoint/2010/main" val="20934179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E63F5E73-50EB-4DE5-A1E1-7932B59E91B5}"/>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Strategia 1: post-processing e ablazione ML</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478C359-BEA8-4AFD-944F-9175CC4F4295}"/>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8134F752-5082-496F-BC77-8A8C1F34CF24}"/>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1 · Post-processing | 5</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CC35D492-ABDB-46BA-AE16-026C7410C362}"/>
              </a:ext>
            </a:extLst>
          </p:cNvPr>
          <p:cNvSpPr>
            <a:spLocks noGrp="1"/>
          </p:cNvSpPr>
          <p:nvPr/>
        </p:nvSpPr>
        <p:spPr>
          <a:xfrm>
            <a:off x="609600" y="1371600"/>
            <a:ext cx="10972800" cy="508000"/>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lang="it-IT" sz="2100" b="1">
                <a:solidFill>
                  <a:srgbClr val="FFFFFF"/>
                </a:solidFill>
                <a:latin typeface="Arial"/>
                <a:ea typeface="Arial"/>
                <a:cs typeface="Arial"/>
              </a:rPr>
              <a:t>Istogramma degli esiti misurati (1024 esecuzioni)</a:t>
            </a:r>
            <a:endParaRPr sz="2100" b="1">
              <a:solidFill>
                <a:srgbClr val="FFFFFF"/>
              </a:solidFill>
              <a:latin typeface="Arial"/>
              <a:ea typeface="Arial"/>
              <a:cs typeface="Arial"/>
            </a:endParaRPr>
          </a:p>
        </p:txBody>
      </p:sp>
      <p:sp>
        <p:nvSpPr>
          <p:cNvPr id="6" name="Rectangle: Rounded Corners 5">
            <a:extLst>
              <a:ext uri="{FF2B5EF4-FFF2-40B4-BE49-F238E27FC236}">
                <a16:creationId xmlns:a16="http://schemas.microsoft.com/office/drawing/2014/main" id="{6C6B2847-EFC1-4D02-B73B-9163FA7FF42D}"/>
              </a:ext>
            </a:extLst>
          </p:cNvPr>
          <p:cNvSpPr>
            <a:spLocks noGrp="1"/>
          </p:cNvSpPr>
          <p:nvPr/>
        </p:nvSpPr>
        <p:spPr>
          <a:xfrm>
            <a:off x="609600" y="2311399"/>
            <a:ext cx="3143250" cy="1905000"/>
          </a:xfrm>
          <a:prstGeom prst="roundRect">
            <a:avLst>
              <a:gd name="adj" fmla="val 6135"/>
            </a:avLst>
          </a:prstGeom>
          <a:solidFill>
            <a:srgbClr val="EEF4F8"/>
          </a:solidFill>
          <a:ln w="14288">
            <a:solidFill>
              <a:srgbClr val="5084BF"/>
            </a:solidFill>
          </a:ln>
        </p:spPr>
        <p:txBody>
          <a:bodyPr/>
          <a:lstStyle/>
          <a:p>
            <a:endParaRPr lang="en-GB"/>
          </a:p>
        </p:txBody>
      </p:sp>
      <p:sp>
        <p:nvSpPr>
          <p:cNvPr id="7" name="Rectangle 6">
            <a:extLst>
              <a:ext uri="{FF2B5EF4-FFF2-40B4-BE49-F238E27FC236}">
                <a16:creationId xmlns:a16="http://schemas.microsoft.com/office/drawing/2014/main" id="{50207F82-D486-4618-9019-4A9B6B896244}"/>
              </a:ext>
            </a:extLst>
          </p:cNvPr>
          <p:cNvSpPr>
            <a:spLocks noGrp="1"/>
          </p:cNvSpPr>
          <p:nvPr/>
        </p:nvSpPr>
        <p:spPr>
          <a:xfrm>
            <a:off x="790575" y="2463800"/>
            <a:ext cx="2781300" cy="552450"/>
          </a:xfrm>
          <a:prstGeom prst="rect">
            <a:avLst/>
          </a:prstGeom>
          <a:noFill/>
          <a:ln w="0">
            <a:noFill/>
          </a:ln>
        </p:spPr>
        <p:txBody>
          <a:bodyPr>
            <a:noAutofit/>
          </a:bodyPr>
          <a:lstStyle/>
          <a:p>
            <a:pPr>
              <a:defRPr sz="2175" b="1">
                <a:solidFill>
                  <a:srgbClr val="003366"/>
                </a:solidFill>
                <a:latin typeface="Arial"/>
                <a:ea typeface="Arial"/>
                <a:cs typeface="Arial"/>
              </a:defRPr>
            </a:pPr>
            <a:r>
              <a:rPr lang="it-IT" sz="2175" b="1">
                <a:solidFill>
                  <a:srgbClr val="003366"/>
                </a:solidFill>
                <a:latin typeface="Arial"/>
                <a:ea typeface="Arial"/>
                <a:cs typeface="Arial"/>
              </a:rPr>
              <a:t>TOP-1</a:t>
            </a:r>
            <a:endParaRPr sz="2175" b="1">
              <a:solidFill>
                <a:srgbClr val="003366"/>
              </a:solidFill>
              <a:latin typeface="Arial"/>
              <a:ea typeface="Arial"/>
              <a:cs typeface="Arial"/>
            </a:endParaRPr>
          </a:p>
        </p:txBody>
      </p:sp>
      <p:sp>
        <p:nvSpPr>
          <p:cNvPr id="8" name="Rectangle 7">
            <a:extLst>
              <a:ext uri="{FF2B5EF4-FFF2-40B4-BE49-F238E27FC236}">
                <a16:creationId xmlns:a16="http://schemas.microsoft.com/office/drawing/2014/main" id="{448DCFE9-33F7-45E1-A769-1CD6F8ABDA24}"/>
              </a:ext>
            </a:extLst>
          </p:cNvPr>
          <p:cNvSpPr>
            <a:spLocks noGrp="1"/>
          </p:cNvSpPr>
          <p:nvPr/>
        </p:nvSpPr>
        <p:spPr>
          <a:xfrm>
            <a:off x="790575" y="3022599"/>
            <a:ext cx="2781300" cy="11176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Verifica solo l'esito più frequente</a:t>
            </a:r>
            <a:endParaRPr sz="1875" b="0">
              <a:solidFill>
                <a:srgbClr val="203344"/>
              </a:solidFill>
              <a:latin typeface="Arial"/>
              <a:ea typeface="Arial"/>
              <a:cs typeface="Arial"/>
            </a:endParaRPr>
          </a:p>
        </p:txBody>
      </p:sp>
      <p:sp>
        <p:nvSpPr>
          <p:cNvPr id="9" name="Rectangle: Rounded Corners 8">
            <a:extLst>
              <a:ext uri="{FF2B5EF4-FFF2-40B4-BE49-F238E27FC236}">
                <a16:creationId xmlns:a16="http://schemas.microsoft.com/office/drawing/2014/main" id="{A7ED80C4-3A04-48D9-8600-16713139334D}"/>
              </a:ext>
            </a:extLst>
          </p:cNvPr>
          <p:cNvSpPr>
            <a:spLocks noGrp="1"/>
          </p:cNvSpPr>
          <p:nvPr/>
        </p:nvSpPr>
        <p:spPr>
          <a:xfrm>
            <a:off x="4524375" y="2311399"/>
            <a:ext cx="3143250" cy="1905000"/>
          </a:xfrm>
          <a:prstGeom prst="roundRect">
            <a:avLst>
              <a:gd name="adj" fmla="val 6135"/>
            </a:avLst>
          </a:prstGeom>
          <a:solidFill>
            <a:srgbClr val="EEF4F8"/>
          </a:solidFill>
          <a:ln w="14288">
            <a:solidFill>
              <a:srgbClr val="5084BF"/>
            </a:solidFill>
          </a:ln>
        </p:spPr>
        <p:txBody>
          <a:bodyPr/>
          <a:lstStyle/>
          <a:p>
            <a:endParaRPr lang="en-GB"/>
          </a:p>
        </p:txBody>
      </p:sp>
      <p:sp>
        <p:nvSpPr>
          <p:cNvPr id="10" name="Rectangle 9">
            <a:extLst>
              <a:ext uri="{FF2B5EF4-FFF2-40B4-BE49-F238E27FC236}">
                <a16:creationId xmlns:a16="http://schemas.microsoft.com/office/drawing/2014/main" id="{B7718673-DDE6-4B0E-80B1-2DEB783CDC31}"/>
              </a:ext>
            </a:extLst>
          </p:cNvPr>
          <p:cNvSpPr>
            <a:spLocks noGrp="1"/>
          </p:cNvSpPr>
          <p:nvPr/>
        </p:nvSpPr>
        <p:spPr>
          <a:xfrm>
            <a:off x="4705350" y="2463800"/>
            <a:ext cx="2781300" cy="552450"/>
          </a:xfrm>
          <a:prstGeom prst="rect">
            <a:avLst/>
          </a:prstGeom>
          <a:noFill/>
          <a:ln w="0">
            <a:noFill/>
          </a:ln>
        </p:spPr>
        <p:txBody>
          <a:bodyPr>
            <a:noAutofit/>
          </a:bodyPr>
          <a:lstStyle/>
          <a:p>
            <a:pPr>
              <a:defRPr sz="2175" b="1">
                <a:solidFill>
                  <a:srgbClr val="003366"/>
                </a:solidFill>
                <a:latin typeface="Arial"/>
                <a:ea typeface="Arial"/>
                <a:cs typeface="Arial"/>
              </a:defRPr>
            </a:pPr>
            <a:r>
              <a:rPr lang="it-IT" sz="2175" b="1">
                <a:solidFill>
                  <a:srgbClr val="003366"/>
                </a:solidFill>
                <a:latin typeface="Arial"/>
                <a:ea typeface="Arial"/>
                <a:cs typeface="Arial"/>
              </a:rPr>
              <a:t>TOP-4</a:t>
            </a:r>
            <a:endParaRPr sz="2175" b="1">
              <a:solidFill>
                <a:srgbClr val="003366"/>
              </a:solidFill>
              <a:latin typeface="Arial"/>
              <a:ea typeface="Arial"/>
              <a:cs typeface="Arial"/>
            </a:endParaRPr>
          </a:p>
        </p:txBody>
      </p:sp>
      <p:sp>
        <p:nvSpPr>
          <p:cNvPr id="11" name="Rectangle 10">
            <a:extLst>
              <a:ext uri="{FF2B5EF4-FFF2-40B4-BE49-F238E27FC236}">
                <a16:creationId xmlns:a16="http://schemas.microsoft.com/office/drawing/2014/main" id="{428CE012-A819-412F-A649-3EAB47BC23F5}"/>
              </a:ext>
            </a:extLst>
          </p:cNvPr>
          <p:cNvSpPr>
            <a:spLocks noGrp="1"/>
          </p:cNvSpPr>
          <p:nvPr/>
        </p:nvSpPr>
        <p:spPr>
          <a:xfrm>
            <a:off x="4705350" y="3022599"/>
            <a:ext cx="2781300" cy="11176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Verifica i quattro esiti più frequenti, uno alla volta, finché trova i fattori</a:t>
            </a:r>
            <a:endParaRPr sz="1875" b="0">
              <a:solidFill>
                <a:srgbClr val="203344"/>
              </a:solidFill>
              <a:latin typeface="Arial"/>
              <a:ea typeface="Arial"/>
              <a:cs typeface="Arial"/>
            </a:endParaRPr>
          </a:p>
        </p:txBody>
      </p:sp>
      <p:sp>
        <p:nvSpPr>
          <p:cNvPr id="12" name="Rectangle: Rounded Corners 11">
            <a:extLst>
              <a:ext uri="{FF2B5EF4-FFF2-40B4-BE49-F238E27FC236}">
                <a16:creationId xmlns:a16="http://schemas.microsoft.com/office/drawing/2014/main" id="{8E8D58EB-1F29-489F-84AA-EE5A27A893AB}"/>
              </a:ext>
            </a:extLst>
          </p:cNvPr>
          <p:cNvSpPr>
            <a:spLocks noGrp="1"/>
          </p:cNvSpPr>
          <p:nvPr/>
        </p:nvSpPr>
        <p:spPr>
          <a:xfrm>
            <a:off x="8439150" y="2311399"/>
            <a:ext cx="3143250" cy="1905000"/>
          </a:xfrm>
          <a:prstGeom prst="roundRect">
            <a:avLst>
              <a:gd name="adj" fmla="val 6135"/>
            </a:avLst>
          </a:prstGeom>
          <a:solidFill>
            <a:srgbClr val="EEF4F8"/>
          </a:solidFill>
          <a:ln w="14288">
            <a:solidFill>
              <a:srgbClr val="5084BF"/>
            </a:solidFill>
          </a:ln>
        </p:spPr>
        <p:txBody>
          <a:bodyPr/>
          <a:lstStyle/>
          <a:p>
            <a:endParaRPr lang="en-GB"/>
          </a:p>
        </p:txBody>
      </p:sp>
      <p:sp>
        <p:nvSpPr>
          <p:cNvPr id="13" name="Rectangle 12">
            <a:extLst>
              <a:ext uri="{FF2B5EF4-FFF2-40B4-BE49-F238E27FC236}">
                <a16:creationId xmlns:a16="http://schemas.microsoft.com/office/drawing/2014/main" id="{530CC7E4-D9E5-44BA-A967-3C00C77DC3EC}"/>
              </a:ext>
            </a:extLst>
          </p:cNvPr>
          <p:cNvSpPr>
            <a:spLocks noGrp="1"/>
          </p:cNvSpPr>
          <p:nvPr/>
        </p:nvSpPr>
        <p:spPr>
          <a:xfrm>
            <a:off x="8620125" y="2463800"/>
            <a:ext cx="2781300" cy="552450"/>
          </a:xfrm>
          <a:prstGeom prst="rect">
            <a:avLst/>
          </a:prstGeom>
          <a:noFill/>
          <a:ln w="0">
            <a:noFill/>
          </a:ln>
        </p:spPr>
        <p:txBody>
          <a:bodyPr>
            <a:noAutofit/>
          </a:bodyPr>
          <a:lstStyle/>
          <a:p>
            <a:pPr>
              <a:defRPr sz="2175" b="1">
                <a:solidFill>
                  <a:srgbClr val="003366"/>
                </a:solidFill>
                <a:latin typeface="Arial"/>
                <a:ea typeface="Arial"/>
                <a:cs typeface="Arial"/>
              </a:defRPr>
            </a:pPr>
            <a:r>
              <a:rPr lang="it-IT" sz="2175" b="1">
                <a:solidFill>
                  <a:srgbClr val="003366"/>
                </a:solidFill>
                <a:latin typeface="Arial"/>
                <a:ea typeface="Arial"/>
                <a:cs typeface="Arial"/>
              </a:rPr>
              <a:t>Metodo 2</a:t>
            </a:r>
            <a:endParaRPr sz="2175" b="1">
              <a:solidFill>
                <a:srgbClr val="003366"/>
              </a:solidFill>
              <a:latin typeface="Arial"/>
              <a:ea typeface="Arial"/>
              <a:cs typeface="Arial"/>
            </a:endParaRPr>
          </a:p>
        </p:txBody>
      </p:sp>
      <p:sp>
        <p:nvSpPr>
          <p:cNvPr id="14" name="Rectangle 13">
            <a:extLst>
              <a:ext uri="{FF2B5EF4-FFF2-40B4-BE49-F238E27FC236}">
                <a16:creationId xmlns:a16="http://schemas.microsoft.com/office/drawing/2014/main" id="{247C1F09-0415-4CBC-9397-423247F26ABF}"/>
              </a:ext>
            </a:extLst>
          </p:cNvPr>
          <p:cNvSpPr>
            <a:spLocks noGrp="1"/>
          </p:cNvSpPr>
          <p:nvPr/>
        </p:nvSpPr>
        <p:spPr>
          <a:xfrm>
            <a:off x="8620125" y="3022599"/>
            <a:ext cx="2781300" cy="11176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Applica TOP-4 solo se un classificatore ML lo approva</a:t>
            </a:r>
            <a:endParaRPr sz="1875" b="0">
              <a:solidFill>
                <a:srgbClr val="203344"/>
              </a:solidFill>
              <a:latin typeface="Arial"/>
              <a:ea typeface="Arial"/>
              <a:cs typeface="Arial"/>
            </a:endParaRPr>
          </a:p>
        </p:txBody>
      </p:sp>
      <p:sp>
        <p:nvSpPr>
          <p:cNvPr id="20" name="Arrow: Down 19">
            <a:extLst>
              <a:ext uri="{FF2B5EF4-FFF2-40B4-BE49-F238E27FC236}">
                <a16:creationId xmlns:a16="http://schemas.microsoft.com/office/drawing/2014/main" id="{88239EA8-D62F-53F3-64AE-80BC965C28FE}"/>
              </a:ext>
            </a:extLst>
          </p:cNvPr>
          <p:cNvSpPr/>
          <p:nvPr/>
        </p:nvSpPr>
        <p:spPr>
          <a:xfrm>
            <a:off x="2066925" y="19812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Arrow: Down 20">
            <a:extLst>
              <a:ext uri="{FF2B5EF4-FFF2-40B4-BE49-F238E27FC236}">
                <a16:creationId xmlns:a16="http://schemas.microsoft.com/office/drawing/2014/main" id="{3D70808E-B7B3-BDB5-55B7-351033EBED55}"/>
              </a:ext>
            </a:extLst>
          </p:cNvPr>
          <p:cNvSpPr/>
          <p:nvPr/>
        </p:nvSpPr>
        <p:spPr>
          <a:xfrm>
            <a:off x="2066925" y="43180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Arrow: Down 21">
            <a:extLst>
              <a:ext uri="{FF2B5EF4-FFF2-40B4-BE49-F238E27FC236}">
                <a16:creationId xmlns:a16="http://schemas.microsoft.com/office/drawing/2014/main" id="{D423980A-B534-E5EC-5903-37B0C4136F54}"/>
              </a:ext>
            </a:extLst>
          </p:cNvPr>
          <p:cNvSpPr/>
          <p:nvPr/>
        </p:nvSpPr>
        <p:spPr>
          <a:xfrm>
            <a:off x="5981700" y="19812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Arrow: Down 22">
            <a:extLst>
              <a:ext uri="{FF2B5EF4-FFF2-40B4-BE49-F238E27FC236}">
                <a16:creationId xmlns:a16="http://schemas.microsoft.com/office/drawing/2014/main" id="{C6B68448-7E61-3309-F0A1-DE27F018B49C}"/>
              </a:ext>
            </a:extLst>
          </p:cNvPr>
          <p:cNvSpPr/>
          <p:nvPr/>
        </p:nvSpPr>
        <p:spPr>
          <a:xfrm>
            <a:off x="5981700" y="43180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Arrow: Down 23">
            <a:extLst>
              <a:ext uri="{FF2B5EF4-FFF2-40B4-BE49-F238E27FC236}">
                <a16:creationId xmlns:a16="http://schemas.microsoft.com/office/drawing/2014/main" id="{FDD4F7C2-3C29-B429-391D-8209019EE7DB}"/>
              </a:ext>
            </a:extLst>
          </p:cNvPr>
          <p:cNvSpPr/>
          <p:nvPr/>
        </p:nvSpPr>
        <p:spPr>
          <a:xfrm>
            <a:off x="9896475" y="19812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Arrow: Down 24">
            <a:extLst>
              <a:ext uri="{FF2B5EF4-FFF2-40B4-BE49-F238E27FC236}">
                <a16:creationId xmlns:a16="http://schemas.microsoft.com/office/drawing/2014/main" id="{EBBA9AE0-D3D5-3C10-C16D-089BDBF025D6}"/>
              </a:ext>
            </a:extLst>
          </p:cNvPr>
          <p:cNvSpPr/>
          <p:nvPr/>
        </p:nvSpPr>
        <p:spPr>
          <a:xfrm>
            <a:off x="9896475" y="43180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tangle 26">
            <a:extLst>
              <a:ext uri="{FF2B5EF4-FFF2-40B4-BE49-F238E27FC236}">
                <a16:creationId xmlns:a16="http://schemas.microsoft.com/office/drawing/2014/main" id="{B611238E-C082-6AF6-60EE-43C467FDADAA}"/>
              </a:ext>
            </a:extLst>
          </p:cNvPr>
          <p:cNvSpPr/>
          <p:nvPr/>
        </p:nvSpPr>
        <p:spPr>
          <a:xfrm>
            <a:off x="609600" y="4622800"/>
            <a:ext cx="10972800" cy="508000"/>
          </a:xfrm>
          <a:prstGeom prst="rect">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b="1">
                <a:solidFill>
                  <a:srgbClr val="003366"/>
                </a:solidFill>
                <a:latin typeface="Arial" panose="020B0604020202020204" pitchFamily="34" charset="0"/>
              </a:rPr>
              <a:t>Verifica classica (frazioni continue e MCD) → fattori di N</a:t>
            </a:r>
            <a:endParaRPr lang="en-GB" b="1">
              <a:solidFill>
                <a:srgbClr val="003366"/>
              </a:solidFill>
              <a:latin typeface="Arial" panose="020B0604020202020204" pitchFamily="34" charset="0"/>
            </a:endParaRPr>
          </a:p>
        </p:txBody>
      </p:sp>
      <p:sp>
        <p:nvSpPr>
          <p:cNvPr id="28" name="TextBox 27">
            <a:extLst>
              <a:ext uri="{FF2B5EF4-FFF2-40B4-BE49-F238E27FC236}">
                <a16:creationId xmlns:a16="http://schemas.microsoft.com/office/drawing/2014/main" id="{A0E657BA-EE5E-C3DF-BEE0-723210ECF337}"/>
              </a:ext>
            </a:extLst>
          </p:cNvPr>
          <p:cNvSpPr txBox="1"/>
          <p:nvPr/>
        </p:nvSpPr>
        <p:spPr>
          <a:xfrm>
            <a:off x="609600" y="5588000"/>
            <a:ext cx="10972800" cy="369332"/>
          </a:xfrm>
          <a:prstGeom prst="rect">
            <a:avLst/>
          </a:prstGeom>
          <a:noFill/>
        </p:spPr>
        <p:txBody>
          <a:bodyPr vert="horz" wrap="square" rtlCol="0">
            <a:noAutofit/>
          </a:bodyPr>
          <a:lstStyle/>
          <a:p>
            <a:r>
              <a:rPr lang="it-IT" sz="2025" b="1">
                <a:solidFill>
                  <a:srgbClr val="175F99"/>
                </a:solidFill>
                <a:latin typeface="Arial" panose="020B0604020202020204" pitchFamily="34" charset="0"/>
              </a:rPr>
              <a:t>Confronto chiave: Metodo 2 contro TOP-4.</a:t>
            </a:r>
          </a:p>
          <a:p>
            <a:r>
              <a:rPr lang="it-IT" sz="2025" b="1">
                <a:solidFill>
                  <a:srgbClr val="175F99"/>
                </a:solidFill>
                <a:latin typeface="Arial" panose="020B0604020202020204" pitchFamily="34" charset="0"/>
              </a:rPr>
              <a:t>Così si vede quanto conta davvero il machine learning.</a:t>
            </a:r>
            <a:endParaRPr lang="en-GB" sz="2025" b="1">
              <a:solidFill>
                <a:srgbClr val="175F99"/>
              </a:solidFill>
              <a:latin typeface="Arial" panose="020B0604020202020204" pitchFamily="34" charset="0"/>
            </a:endParaRPr>
          </a:p>
        </p:txBody>
      </p:sp>
    </p:spTree>
    <p:extLst>
      <p:ext uri="{BB962C8B-B14F-4D97-AF65-F5344CB8AC3E}">
        <p14:creationId xmlns:p14="http://schemas.microsoft.com/office/powerpoint/2010/main" val="31027810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E63F5E73-50EB-4DE5-A1E1-7932B59E91B5}"/>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800" b="0">
                <a:solidFill>
                  <a:srgbClr val="003366"/>
                </a:solidFill>
                <a:latin typeface="Arial"/>
                <a:ea typeface="Arial"/>
                <a:cs typeface="Arial"/>
              </a:rPr>
              <a:t>Post-processing: confronto e risultati</a:t>
            </a:r>
            <a:endParaRPr sz="28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478C359-BEA8-4AFD-944F-9175CC4F4295}"/>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8134F752-5082-496F-BC77-8A8C1F34CF24}"/>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000" b="0">
                <a:solidFill>
                  <a:srgbClr val="203344"/>
                </a:solidFill>
                <a:latin typeface="Arial"/>
                <a:ea typeface="Arial"/>
                <a:cs typeface="Arial"/>
              </a:rPr>
              <a:t>Strategia 1 · Metodi e risultati</a:t>
            </a:r>
            <a:endParaRPr sz="10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CC35D492-ABDB-46BA-AE16-026C7410C362}"/>
              </a:ext>
            </a:extLst>
          </p:cNvPr>
          <p:cNvSpPr>
            <a:spLocks noGrp="1"/>
          </p:cNvSpPr>
          <p:nvPr/>
        </p:nvSpPr>
        <p:spPr>
          <a:xfrm>
            <a:off x="609600" y="1371600"/>
            <a:ext cx="10972800" cy="508000"/>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lang="it-IT" sz="2200" b="1">
                <a:solidFill>
                  <a:srgbClr val="FFFFFF"/>
                </a:solidFill>
                <a:latin typeface="Arial"/>
                <a:ea typeface="Arial"/>
                <a:cs typeface="Arial"/>
              </a:rPr>
              <a:t>Stesso istogramma di partenza: 1024 esecuzioni</a:t>
            </a:r>
            <a:endParaRPr sz="2200" b="1">
              <a:solidFill>
                <a:srgbClr val="FFFFFF"/>
              </a:solidFill>
              <a:latin typeface="Arial"/>
              <a:ea typeface="Arial"/>
              <a:cs typeface="Arial"/>
            </a:endParaRPr>
          </a:p>
        </p:txBody>
      </p:sp>
      <p:sp>
        <p:nvSpPr>
          <p:cNvPr id="6" name="Rectangle: Rounded Corners 5">
            <a:extLst>
              <a:ext uri="{FF2B5EF4-FFF2-40B4-BE49-F238E27FC236}">
                <a16:creationId xmlns:a16="http://schemas.microsoft.com/office/drawing/2014/main" id="{6C6B2847-EFC1-4D02-B73B-9163FA7FF42D}"/>
              </a:ext>
            </a:extLst>
          </p:cNvPr>
          <p:cNvSpPr>
            <a:spLocks noGrp="1"/>
          </p:cNvSpPr>
          <p:nvPr/>
        </p:nvSpPr>
        <p:spPr>
          <a:xfrm>
            <a:off x="609600" y="2057400"/>
            <a:ext cx="3143250" cy="1371600"/>
          </a:xfrm>
          <a:prstGeom prst="roundRect">
            <a:avLst>
              <a:gd name="adj" fmla="val 6135"/>
            </a:avLst>
          </a:prstGeom>
          <a:solidFill>
            <a:srgbClr val="EEF4F8"/>
          </a:solidFill>
          <a:ln w="14288">
            <a:solidFill>
              <a:srgbClr val="5084BF"/>
            </a:solidFill>
          </a:ln>
        </p:spPr>
        <p:txBody>
          <a:bodyPr/>
          <a:lstStyle/>
          <a:p>
            <a:endParaRPr lang="en-GB"/>
          </a:p>
        </p:txBody>
      </p:sp>
      <p:sp>
        <p:nvSpPr>
          <p:cNvPr id="7" name="Rectangle 6">
            <a:extLst>
              <a:ext uri="{FF2B5EF4-FFF2-40B4-BE49-F238E27FC236}">
                <a16:creationId xmlns:a16="http://schemas.microsoft.com/office/drawing/2014/main" id="{50207F82-D486-4618-9019-4A9B6B896244}"/>
              </a:ext>
            </a:extLst>
          </p:cNvPr>
          <p:cNvSpPr>
            <a:spLocks noGrp="1"/>
          </p:cNvSpPr>
          <p:nvPr/>
        </p:nvSpPr>
        <p:spPr>
          <a:xfrm>
            <a:off x="790575" y="2146300"/>
            <a:ext cx="2781300" cy="381000"/>
          </a:xfrm>
          <a:prstGeom prst="rect">
            <a:avLst/>
          </a:prstGeom>
          <a:noFill/>
          <a:ln w="0">
            <a:noFill/>
          </a:ln>
        </p:spPr>
        <p:txBody>
          <a:bodyPr>
            <a:noAutofit/>
          </a:bodyPr>
          <a:lstStyle/>
          <a:p>
            <a:pPr>
              <a:defRPr sz="2175" b="1">
                <a:solidFill>
                  <a:srgbClr val="003366"/>
                </a:solidFill>
                <a:latin typeface="Arial"/>
                <a:ea typeface="Arial"/>
                <a:cs typeface="Arial"/>
              </a:defRPr>
            </a:pPr>
            <a:r>
              <a:rPr lang="it-IT" sz="2300" b="1">
                <a:solidFill>
                  <a:srgbClr val="003366"/>
                </a:solidFill>
                <a:latin typeface="Arial"/>
                <a:ea typeface="Arial"/>
                <a:cs typeface="Arial"/>
              </a:rPr>
              <a:t>TOP-1</a:t>
            </a:r>
            <a:endParaRPr sz="2300" b="1">
              <a:solidFill>
                <a:srgbClr val="003366"/>
              </a:solidFill>
              <a:latin typeface="Arial"/>
              <a:ea typeface="Arial"/>
              <a:cs typeface="Arial"/>
            </a:endParaRPr>
          </a:p>
        </p:txBody>
      </p:sp>
      <p:sp>
        <p:nvSpPr>
          <p:cNvPr id="8" name="Rectangle 7">
            <a:extLst>
              <a:ext uri="{FF2B5EF4-FFF2-40B4-BE49-F238E27FC236}">
                <a16:creationId xmlns:a16="http://schemas.microsoft.com/office/drawing/2014/main" id="{448DCFE9-33F7-45E1-A769-1CD6F8ABDA24}"/>
              </a:ext>
            </a:extLst>
          </p:cNvPr>
          <p:cNvSpPr>
            <a:spLocks noGrp="1"/>
          </p:cNvSpPr>
          <p:nvPr/>
        </p:nvSpPr>
        <p:spPr>
          <a:xfrm>
            <a:off x="790575" y="2616200"/>
            <a:ext cx="2781300" cy="7620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700" b="0">
                <a:solidFill>
                  <a:srgbClr val="203344"/>
                </a:solidFill>
                <a:latin typeface="Arial"/>
                <a:ea typeface="Arial"/>
                <a:cs typeface="Arial"/>
              </a:rPr>
              <a:t>Verifica il risultato più frequente</a:t>
            </a:r>
            <a:endParaRPr sz="1700" b="0">
              <a:solidFill>
                <a:srgbClr val="203344"/>
              </a:solidFill>
              <a:latin typeface="Arial"/>
              <a:ea typeface="Arial"/>
              <a:cs typeface="Arial"/>
            </a:endParaRPr>
          </a:p>
        </p:txBody>
      </p:sp>
      <p:sp>
        <p:nvSpPr>
          <p:cNvPr id="9" name="Rectangle: Rounded Corners 8">
            <a:extLst>
              <a:ext uri="{FF2B5EF4-FFF2-40B4-BE49-F238E27FC236}">
                <a16:creationId xmlns:a16="http://schemas.microsoft.com/office/drawing/2014/main" id="{A7ED80C4-3A04-48D9-8600-16713139334D}"/>
              </a:ext>
            </a:extLst>
          </p:cNvPr>
          <p:cNvSpPr>
            <a:spLocks noGrp="1"/>
          </p:cNvSpPr>
          <p:nvPr/>
        </p:nvSpPr>
        <p:spPr>
          <a:xfrm>
            <a:off x="4524375" y="2057400"/>
            <a:ext cx="3143250" cy="1371600"/>
          </a:xfrm>
          <a:prstGeom prst="roundRect">
            <a:avLst>
              <a:gd name="adj" fmla="val 6135"/>
            </a:avLst>
          </a:prstGeom>
          <a:solidFill>
            <a:srgbClr val="EEF4F8"/>
          </a:solidFill>
          <a:ln w="14288">
            <a:solidFill>
              <a:srgbClr val="5084BF"/>
            </a:solidFill>
          </a:ln>
        </p:spPr>
        <p:txBody>
          <a:bodyPr/>
          <a:lstStyle/>
          <a:p>
            <a:endParaRPr lang="en-GB"/>
          </a:p>
        </p:txBody>
      </p:sp>
      <p:sp>
        <p:nvSpPr>
          <p:cNvPr id="10" name="Rectangle 9">
            <a:extLst>
              <a:ext uri="{FF2B5EF4-FFF2-40B4-BE49-F238E27FC236}">
                <a16:creationId xmlns:a16="http://schemas.microsoft.com/office/drawing/2014/main" id="{B7718673-DDE6-4B0E-80B1-2DEB783CDC31}"/>
              </a:ext>
            </a:extLst>
          </p:cNvPr>
          <p:cNvSpPr>
            <a:spLocks noGrp="1"/>
          </p:cNvSpPr>
          <p:nvPr/>
        </p:nvSpPr>
        <p:spPr>
          <a:xfrm>
            <a:off x="4705350" y="2146300"/>
            <a:ext cx="2781300" cy="381000"/>
          </a:xfrm>
          <a:prstGeom prst="rect">
            <a:avLst/>
          </a:prstGeom>
          <a:noFill/>
          <a:ln w="0">
            <a:noFill/>
          </a:ln>
        </p:spPr>
        <p:txBody>
          <a:bodyPr>
            <a:noAutofit/>
          </a:bodyPr>
          <a:lstStyle/>
          <a:p>
            <a:pPr>
              <a:defRPr sz="2175" b="1">
                <a:solidFill>
                  <a:srgbClr val="003366"/>
                </a:solidFill>
                <a:latin typeface="Arial"/>
                <a:ea typeface="Arial"/>
                <a:cs typeface="Arial"/>
              </a:defRPr>
            </a:pPr>
            <a:r>
              <a:rPr lang="it-IT" sz="2300" b="1">
                <a:solidFill>
                  <a:srgbClr val="003366"/>
                </a:solidFill>
                <a:latin typeface="Arial"/>
                <a:ea typeface="Arial"/>
                <a:cs typeface="Arial"/>
              </a:rPr>
              <a:t>TOP-4</a:t>
            </a:r>
            <a:endParaRPr sz="2300" b="1">
              <a:solidFill>
                <a:srgbClr val="003366"/>
              </a:solidFill>
              <a:latin typeface="Arial"/>
              <a:ea typeface="Arial"/>
              <a:cs typeface="Arial"/>
            </a:endParaRPr>
          </a:p>
        </p:txBody>
      </p:sp>
      <p:sp>
        <p:nvSpPr>
          <p:cNvPr id="11" name="Rectangle 10">
            <a:extLst>
              <a:ext uri="{FF2B5EF4-FFF2-40B4-BE49-F238E27FC236}">
                <a16:creationId xmlns:a16="http://schemas.microsoft.com/office/drawing/2014/main" id="{428CE012-A819-412F-A649-3EAB47BC23F5}"/>
              </a:ext>
            </a:extLst>
          </p:cNvPr>
          <p:cNvSpPr>
            <a:spLocks noGrp="1"/>
          </p:cNvSpPr>
          <p:nvPr/>
        </p:nvSpPr>
        <p:spPr>
          <a:xfrm>
            <a:off x="4705350" y="2616200"/>
            <a:ext cx="2781300" cy="7620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700" b="0">
                <a:solidFill>
                  <a:srgbClr val="203344"/>
                </a:solidFill>
                <a:latin typeface="Arial"/>
                <a:ea typeface="Arial"/>
                <a:cs typeface="Arial"/>
              </a:rPr>
              <a:t>Verifica fino a quattro esiti, in ordine di frequenza</a:t>
            </a:r>
            <a:endParaRPr sz="1700" b="0">
              <a:solidFill>
                <a:srgbClr val="203344"/>
              </a:solidFill>
              <a:latin typeface="Arial"/>
              <a:ea typeface="Arial"/>
              <a:cs typeface="Arial"/>
            </a:endParaRPr>
          </a:p>
        </p:txBody>
      </p:sp>
      <p:sp>
        <p:nvSpPr>
          <p:cNvPr id="12" name="Rectangle: Rounded Corners 11">
            <a:extLst>
              <a:ext uri="{FF2B5EF4-FFF2-40B4-BE49-F238E27FC236}">
                <a16:creationId xmlns:a16="http://schemas.microsoft.com/office/drawing/2014/main" id="{8E8D58EB-1F29-489F-84AA-EE5A27A893AB}"/>
              </a:ext>
            </a:extLst>
          </p:cNvPr>
          <p:cNvSpPr>
            <a:spLocks noGrp="1"/>
          </p:cNvSpPr>
          <p:nvPr/>
        </p:nvSpPr>
        <p:spPr>
          <a:xfrm>
            <a:off x="8439150" y="2057400"/>
            <a:ext cx="3143250" cy="1371600"/>
          </a:xfrm>
          <a:prstGeom prst="roundRect">
            <a:avLst>
              <a:gd name="adj" fmla="val 6135"/>
            </a:avLst>
          </a:prstGeom>
          <a:solidFill>
            <a:srgbClr val="EEF4F8"/>
          </a:solidFill>
          <a:ln w="14288">
            <a:solidFill>
              <a:srgbClr val="5084BF"/>
            </a:solidFill>
          </a:ln>
        </p:spPr>
        <p:txBody>
          <a:bodyPr/>
          <a:lstStyle/>
          <a:p>
            <a:endParaRPr lang="en-GB"/>
          </a:p>
        </p:txBody>
      </p:sp>
      <p:sp>
        <p:nvSpPr>
          <p:cNvPr id="13" name="Rectangle 12">
            <a:extLst>
              <a:ext uri="{FF2B5EF4-FFF2-40B4-BE49-F238E27FC236}">
                <a16:creationId xmlns:a16="http://schemas.microsoft.com/office/drawing/2014/main" id="{530CC7E4-D9E5-44BA-A967-3C00C77DC3EC}"/>
              </a:ext>
            </a:extLst>
          </p:cNvPr>
          <p:cNvSpPr>
            <a:spLocks noGrp="1"/>
          </p:cNvSpPr>
          <p:nvPr/>
        </p:nvSpPr>
        <p:spPr>
          <a:xfrm>
            <a:off x="8620125" y="2146300"/>
            <a:ext cx="2781300" cy="381000"/>
          </a:xfrm>
          <a:prstGeom prst="rect">
            <a:avLst/>
          </a:prstGeom>
          <a:noFill/>
          <a:ln w="0">
            <a:noFill/>
          </a:ln>
        </p:spPr>
        <p:txBody>
          <a:bodyPr>
            <a:noAutofit/>
          </a:bodyPr>
          <a:lstStyle/>
          <a:p>
            <a:pPr>
              <a:defRPr sz="2175" b="1">
                <a:solidFill>
                  <a:srgbClr val="003366"/>
                </a:solidFill>
                <a:latin typeface="Arial"/>
                <a:ea typeface="Arial"/>
                <a:cs typeface="Arial"/>
              </a:defRPr>
            </a:pPr>
            <a:r>
              <a:rPr lang="it-IT" sz="2300" b="1">
                <a:solidFill>
                  <a:srgbClr val="003366"/>
                </a:solidFill>
                <a:latin typeface="Arial"/>
                <a:ea typeface="Arial"/>
                <a:cs typeface="Arial"/>
              </a:rPr>
              <a:t>Metodo 2</a:t>
            </a:r>
            <a:endParaRPr sz="2300" b="1">
              <a:solidFill>
                <a:srgbClr val="003366"/>
              </a:solidFill>
              <a:latin typeface="Arial"/>
              <a:ea typeface="Arial"/>
              <a:cs typeface="Arial"/>
            </a:endParaRPr>
          </a:p>
        </p:txBody>
      </p:sp>
      <p:sp>
        <p:nvSpPr>
          <p:cNvPr id="14" name="Rectangle 13">
            <a:extLst>
              <a:ext uri="{FF2B5EF4-FFF2-40B4-BE49-F238E27FC236}">
                <a16:creationId xmlns:a16="http://schemas.microsoft.com/office/drawing/2014/main" id="{247C1F09-0415-4CBC-9397-423247F26ABF}"/>
              </a:ext>
            </a:extLst>
          </p:cNvPr>
          <p:cNvSpPr>
            <a:spLocks noGrp="1"/>
          </p:cNvSpPr>
          <p:nvPr/>
        </p:nvSpPr>
        <p:spPr>
          <a:xfrm>
            <a:off x="8620125" y="2616200"/>
            <a:ext cx="2781300" cy="7620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700" b="0">
                <a:solidFill>
                  <a:srgbClr val="203344"/>
                </a:solidFill>
                <a:latin typeface="Arial"/>
                <a:ea typeface="Arial"/>
                <a:cs typeface="Arial"/>
              </a:rPr>
              <a:t>Applica TOP-4 se il classificatore ML approva</a:t>
            </a:r>
            <a:endParaRPr sz="1700" b="0">
              <a:solidFill>
                <a:srgbClr val="203344"/>
              </a:solidFill>
              <a:latin typeface="Arial"/>
              <a:ea typeface="Arial"/>
              <a:cs typeface="Arial"/>
            </a:endParaRPr>
          </a:p>
        </p:txBody>
      </p:sp>
      <p:sp>
        <p:nvSpPr>
          <p:cNvPr id="27" name="Rectangle 26">
            <a:extLst>
              <a:ext uri="{FF2B5EF4-FFF2-40B4-BE49-F238E27FC236}">
                <a16:creationId xmlns:a16="http://schemas.microsoft.com/office/drawing/2014/main" id="{B611238E-C082-6AF6-60EE-43C467FDADAA}"/>
              </a:ext>
            </a:extLst>
          </p:cNvPr>
          <p:cNvSpPr/>
          <p:nvPr/>
        </p:nvSpPr>
        <p:spPr>
          <a:xfrm>
            <a:off x="609600" y="3581400"/>
            <a:ext cx="10972800" cy="406400"/>
          </a:xfrm>
          <a:prstGeom prst="rect">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900" b="1">
                <a:solidFill>
                  <a:srgbClr val="003366"/>
                </a:solidFill>
                <a:latin typeface="Arial" panose="020B0604020202020204" pitchFamily="34" charset="0"/>
              </a:rPr>
              <a:t>Verifica classica: frazioni continue e MCD</a:t>
            </a:r>
            <a:endParaRPr lang="en-GB" sz="1900" b="1">
              <a:solidFill>
                <a:srgbClr val="003366"/>
              </a:solidFill>
              <a:latin typeface="Arial" panose="020B0604020202020204" pitchFamily="34" charset="0"/>
            </a:endParaRPr>
          </a:p>
        </p:txBody>
      </p:sp>
      <p:sp>
        <p:nvSpPr>
          <p:cNvPr id="15" name="TextBox 14">
            <a:extLst>
              <a:ext uri="{FF2B5EF4-FFF2-40B4-BE49-F238E27FC236}">
                <a16:creationId xmlns:a16="http://schemas.microsoft.com/office/drawing/2014/main" id="{DFDD2B45-5CAC-7123-60D9-119116D7585C}"/>
              </a:ext>
            </a:extLst>
          </p:cNvPr>
          <p:cNvSpPr txBox="1"/>
          <p:nvPr/>
        </p:nvSpPr>
        <p:spPr>
          <a:xfrm>
            <a:off x="609600" y="6565900"/>
            <a:ext cx="10972800" cy="246221"/>
          </a:xfrm>
          <a:prstGeom prst="rect">
            <a:avLst/>
          </a:prstGeom>
          <a:noFill/>
        </p:spPr>
        <p:txBody>
          <a:bodyPr vert="horz" lIns="0" rIns="0" rtlCol="0">
            <a:spAutoFit/>
          </a:bodyPr>
          <a:lstStyle/>
          <a:p>
            <a:pPr algn="ctr"/>
            <a:r>
              <a:rPr lang="it-IT" sz="1000">
                <a:solidFill>
                  <a:srgbClr val="0B2F5B"/>
                </a:solidFill>
                <a:latin typeface="Arial" panose="020B0604020202020204" pitchFamily="34" charset="0"/>
              </a:rPr>
              <a:t>UC1: rumore di riferimento. UC2: rumore più severo. Simulazioni con Qiskit Aer.</a:t>
            </a:r>
            <a:endParaRPr lang="en-GB" sz="1000">
              <a:solidFill>
                <a:srgbClr val="0B2F5B"/>
              </a:solidFill>
              <a:latin typeface="Arial" panose="020B0604020202020204" pitchFamily="34" charset="0"/>
            </a:endParaRPr>
          </a:p>
        </p:txBody>
      </p:sp>
      <p:graphicFrame>
        <p:nvGraphicFramePr>
          <p:cNvPr id="16" name="Chart 15">
            <a:extLst>
              <a:ext uri="{FF2B5EF4-FFF2-40B4-BE49-F238E27FC236}">
                <a16:creationId xmlns:a16="http://schemas.microsoft.com/office/drawing/2014/main" id="{2DBBB897-748D-2D35-3FF4-C36DC53588CA}"/>
              </a:ext>
            </a:extLst>
          </p:cNvPr>
          <p:cNvGraphicFramePr/>
          <p:nvPr/>
        </p:nvGraphicFramePr>
        <p:xfrm>
          <a:off x="1206500" y="4013200"/>
          <a:ext cx="9779000" cy="2298700"/>
        </p:xfrm>
        <a:graphic>
          <a:graphicData uri="http://schemas.openxmlformats.org/drawingml/2006/chart">
            <c:chart xmlns:c="http://schemas.openxmlformats.org/drawingml/2006/chart" xmlns:r="http://schemas.openxmlformats.org/officeDocument/2006/relationships" r:id="rId4"/>
          </a:graphicData>
        </a:graphic>
      </p:graphicFrame>
      <p:sp>
        <p:nvSpPr>
          <p:cNvPr id="17" name="TextBox 16">
            <a:extLst>
              <a:ext uri="{FF2B5EF4-FFF2-40B4-BE49-F238E27FC236}">
                <a16:creationId xmlns:a16="http://schemas.microsoft.com/office/drawing/2014/main" id="{9155CC8F-DA2E-3185-5A9B-282B268C7C79}"/>
              </a:ext>
            </a:extLst>
          </p:cNvPr>
          <p:cNvSpPr txBox="1"/>
          <p:nvPr/>
        </p:nvSpPr>
        <p:spPr>
          <a:xfrm>
            <a:off x="609600" y="6362700"/>
            <a:ext cx="10972800" cy="238527"/>
          </a:xfrm>
          <a:prstGeom prst="rect">
            <a:avLst/>
          </a:prstGeom>
          <a:noFill/>
        </p:spPr>
        <p:txBody>
          <a:bodyPr vert="horz" lIns="0" rIns="0" rtlCol="0">
            <a:spAutoFit/>
          </a:bodyPr>
          <a:lstStyle/>
          <a:p>
            <a:pPr algn="ctr"/>
            <a:r>
              <a:rPr lang="it-IT" sz="950">
                <a:solidFill>
                  <a:srgbClr val="0B2F5B"/>
                </a:solidFill>
                <a:latin typeface="Arial" panose="020B0604020202020204" pitchFamily="34" charset="0"/>
              </a:rPr>
              <a:t>N = 15; 30 repliche per scenario. Preset senza calibrazione hardware.</a:t>
            </a:r>
            <a:endParaRPr lang="en-GB" sz="950" dirty="0">
              <a:solidFill>
                <a:srgbClr val="0B2F5B"/>
              </a:solidFill>
              <a:latin typeface="Arial" panose="020B0604020202020204" pitchFamily="34" charset="0"/>
            </a:endParaRPr>
          </a:p>
        </p:txBody>
      </p:sp>
    </p:spTree>
    <p:extLst>
      <p:ext uri="{BB962C8B-B14F-4D97-AF65-F5344CB8AC3E}">
        <p14:creationId xmlns:p14="http://schemas.microsoft.com/office/powerpoint/2010/main" val="557946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E63F5E73-50EB-4DE5-A1E1-7932B59E91B5}"/>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800" b="0">
                <a:solidFill>
                  <a:srgbClr val="003366"/>
                </a:solidFill>
                <a:latin typeface="Arial"/>
                <a:ea typeface="Arial"/>
                <a:cs typeface="Arial"/>
              </a:rPr>
              <a:t>Post-processing: confronto e risultati</a:t>
            </a:r>
            <a:endParaRPr sz="28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478C359-BEA8-4AFD-944F-9175CC4F4295}"/>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8134F752-5082-496F-BC77-8A8C1F34CF24}"/>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000" b="0">
                <a:solidFill>
                  <a:srgbClr val="203344"/>
                </a:solidFill>
                <a:latin typeface="Arial"/>
                <a:ea typeface="Arial"/>
                <a:cs typeface="Arial"/>
              </a:rPr>
              <a:t>Strategia 1 · Metodi e risultati</a:t>
            </a:r>
            <a:endParaRPr sz="10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CC35D492-ABDB-46BA-AE16-026C7410C362}"/>
              </a:ext>
            </a:extLst>
          </p:cNvPr>
          <p:cNvSpPr>
            <a:spLocks noGrp="1"/>
          </p:cNvSpPr>
          <p:nvPr/>
        </p:nvSpPr>
        <p:spPr>
          <a:xfrm>
            <a:off x="609600" y="1371600"/>
            <a:ext cx="10972800" cy="508000"/>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lang="it-IT" sz="2200" b="1">
                <a:solidFill>
                  <a:srgbClr val="FFFFFF"/>
                </a:solidFill>
                <a:latin typeface="Arial"/>
                <a:ea typeface="Arial"/>
                <a:cs typeface="Arial"/>
              </a:rPr>
              <a:t>Stesso istogramma di partenza: 1024 esecuzioni</a:t>
            </a:r>
            <a:endParaRPr sz="2200" b="1">
              <a:solidFill>
                <a:srgbClr val="FFFFFF"/>
              </a:solidFill>
              <a:latin typeface="Arial"/>
              <a:ea typeface="Arial"/>
              <a:cs typeface="Arial"/>
            </a:endParaRPr>
          </a:p>
        </p:txBody>
      </p:sp>
      <p:sp>
        <p:nvSpPr>
          <p:cNvPr id="6" name="Rectangle: Rounded Corners 5">
            <a:extLst>
              <a:ext uri="{FF2B5EF4-FFF2-40B4-BE49-F238E27FC236}">
                <a16:creationId xmlns:a16="http://schemas.microsoft.com/office/drawing/2014/main" id="{6C6B2847-EFC1-4D02-B73B-9163FA7FF42D}"/>
              </a:ext>
            </a:extLst>
          </p:cNvPr>
          <p:cNvSpPr>
            <a:spLocks noGrp="1"/>
          </p:cNvSpPr>
          <p:nvPr/>
        </p:nvSpPr>
        <p:spPr>
          <a:xfrm>
            <a:off x="609600" y="2057400"/>
            <a:ext cx="3143250" cy="1371600"/>
          </a:xfrm>
          <a:prstGeom prst="roundRect">
            <a:avLst>
              <a:gd name="adj" fmla="val 6135"/>
            </a:avLst>
          </a:prstGeom>
          <a:solidFill>
            <a:srgbClr val="EEF4F8"/>
          </a:solidFill>
          <a:ln w="14288">
            <a:solidFill>
              <a:srgbClr val="5084BF"/>
            </a:solidFill>
          </a:ln>
        </p:spPr>
        <p:txBody>
          <a:bodyPr/>
          <a:lstStyle/>
          <a:p>
            <a:endParaRPr lang="en-GB"/>
          </a:p>
        </p:txBody>
      </p:sp>
      <p:sp>
        <p:nvSpPr>
          <p:cNvPr id="7" name="Rectangle 6">
            <a:extLst>
              <a:ext uri="{FF2B5EF4-FFF2-40B4-BE49-F238E27FC236}">
                <a16:creationId xmlns:a16="http://schemas.microsoft.com/office/drawing/2014/main" id="{50207F82-D486-4618-9019-4A9B6B896244}"/>
              </a:ext>
            </a:extLst>
          </p:cNvPr>
          <p:cNvSpPr>
            <a:spLocks noGrp="1"/>
          </p:cNvSpPr>
          <p:nvPr/>
        </p:nvSpPr>
        <p:spPr>
          <a:xfrm>
            <a:off x="790575" y="2146300"/>
            <a:ext cx="2781300" cy="381000"/>
          </a:xfrm>
          <a:prstGeom prst="rect">
            <a:avLst/>
          </a:prstGeom>
          <a:noFill/>
          <a:ln w="0">
            <a:noFill/>
          </a:ln>
        </p:spPr>
        <p:txBody>
          <a:bodyPr>
            <a:noAutofit/>
          </a:bodyPr>
          <a:lstStyle/>
          <a:p>
            <a:pPr>
              <a:defRPr sz="2175" b="1">
                <a:solidFill>
                  <a:srgbClr val="003366"/>
                </a:solidFill>
                <a:latin typeface="Arial"/>
                <a:ea typeface="Arial"/>
                <a:cs typeface="Arial"/>
              </a:defRPr>
            </a:pPr>
            <a:r>
              <a:rPr lang="it-IT" sz="2300" b="1">
                <a:solidFill>
                  <a:srgbClr val="003366"/>
                </a:solidFill>
                <a:latin typeface="Arial"/>
                <a:ea typeface="Arial"/>
                <a:cs typeface="Arial"/>
              </a:rPr>
              <a:t>TOP-1</a:t>
            </a:r>
            <a:endParaRPr sz="2300" b="1">
              <a:solidFill>
                <a:srgbClr val="003366"/>
              </a:solidFill>
              <a:latin typeface="Arial"/>
              <a:ea typeface="Arial"/>
              <a:cs typeface="Arial"/>
            </a:endParaRPr>
          </a:p>
        </p:txBody>
      </p:sp>
      <p:sp>
        <p:nvSpPr>
          <p:cNvPr id="8" name="Rectangle 7">
            <a:extLst>
              <a:ext uri="{FF2B5EF4-FFF2-40B4-BE49-F238E27FC236}">
                <a16:creationId xmlns:a16="http://schemas.microsoft.com/office/drawing/2014/main" id="{448DCFE9-33F7-45E1-A769-1CD6F8ABDA24}"/>
              </a:ext>
            </a:extLst>
          </p:cNvPr>
          <p:cNvSpPr>
            <a:spLocks noGrp="1"/>
          </p:cNvSpPr>
          <p:nvPr/>
        </p:nvSpPr>
        <p:spPr>
          <a:xfrm>
            <a:off x="790575" y="2616200"/>
            <a:ext cx="2781300" cy="7620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700" b="0">
                <a:solidFill>
                  <a:srgbClr val="203344"/>
                </a:solidFill>
                <a:latin typeface="Arial"/>
                <a:ea typeface="Arial"/>
                <a:cs typeface="Arial"/>
              </a:rPr>
              <a:t>Verifica il risultato più frequente</a:t>
            </a:r>
            <a:endParaRPr sz="1700" b="0">
              <a:solidFill>
                <a:srgbClr val="203344"/>
              </a:solidFill>
              <a:latin typeface="Arial"/>
              <a:ea typeface="Arial"/>
              <a:cs typeface="Arial"/>
            </a:endParaRPr>
          </a:p>
        </p:txBody>
      </p:sp>
      <p:sp>
        <p:nvSpPr>
          <p:cNvPr id="9" name="Rectangle: Rounded Corners 8">
            <a:extLst>
              <a:ext uri="{FF2B5EF4-FFF2-40B4-BE49-F238E27FC236}">
                <a16:creationId xmlns:a16="http://schemas.microsoft.com/office/drawing/2014/main" id="{A7ED80C4-3A04-48D9-8600-16713139334D}"/>
              </a:ext>
            </a:extLst>
          </p:cNvPr>
          <p:cNvSpPr>
            <a:spLocks noGrp="1"/>
          </p:cNvSpPr>
          <p:nvPr/>
        </p:nvSpPr>
        <p:spPr>
          <a:xfrm>
            <a:off x="4524375" y="2057400"/>
            <a:ext cx="3143250" cy="1371600"/>
          </a:xfrm>
          <a:prstGeom prst="roundRect">
            <a:avLst>
              <a:gd name="adj" fmla="val 6135"/>
            </a:avLst>
          </a:prstGeom>
          <a:solidFill>
            <a:srgbClr val="EEF4F8"/>
          </a:solidFill>
          <a:ln w="14288">
            <a:solidFill>
              <a:srgbClr val="5084BF"/>
            </a:solidFill>
          </a:ln>
        </p:spPr>
        <p:txBody>
          <a:bodyPr/>
          <a:lstStyle/>
          <a:p>
            <a:endParaRPr lang="en-GB"/>
          </a:p>
        </p:txBody>
      </p:sp>
      <p:sp>
        <p:nvSpPr>
          <p:cNvPr id="10" name="Rectangle 9">
            <a:extLst>
              <a:ext uri="{FF2B5EF4-FFF2-40B4-BE49-F238E27FC236}">
                <a16:creationId xmlns:a16="http://schemas.microsoft.com/office/drawing/2014/main" id="{B7718673-DDE6-4B0E-80B1-2DEB783CDC31}"/>
              </a:ext>
            </a:extLst>
          </p:cNvPr>
          <p:cNvSpPr>
            <a:spLocks noGrp="1"/>
          </p:cNvSpPr>
          <p:nvPr/>
        </p:nvSpPr>
        <p:spPr>
          <a:xfrm>
            <a:off x="4705350" y="2146300"/>
            <a:ext cx="2781300" cy="381000"/>
          </a:xfrm>
          <a:prstGeom prst="rect">
            <a:avLst/>
          </a:prstGeom>
          <a:noFill/>
          <a:ln w="0">
            <a:noFill/>
          </a:ln>
        </p:spPr>
        <p:txBody>
          <a:bodyPr>
            <a:noAutofit/>
          </a:bodyPr>
          <a:lstStyle/>
          <a:p>
            <a:pPr>
              <a:defRPr sz="2175" b="1">
                <a:solidFill>
                  <a:srgbClr val="003366"/>
                </a:solidFill>
                <a:latin typeface="Arial"/>
                <a:ea typeface="Arial"/>
                <a:cs typeface="Arial"/>
              </a:defRPr>
            </a:pPr>
            <a:r>
              <a:rPr lang="it-IT" sz="2300" b="1">
                <a:solidFill>
                  <a:srgbClr val="003366"/>
                </a:solidFill>
                <a:latin typeface="Arial"/>
                <a:ea typeface="Arial"/>
                <a:cs typeface="Arial"/>
              </a:rPr>
              <a:t>TOP-4</a:t>
            </a:r>
            <a:endParaRPr sz="2300" b="1">
              <a:solidFill>
                <a:srgbClr val="003366"/>
              </a:solidFill>
              <a:latin typeface="Arial"/>
              <a:ea typeface="Arial"/>
              <a:cs typeface="Arial"/>
            </a:endParaRPr>
          </a:p>
        </p:txBody>
      </p:sp>
      <p:sp>
        <p:nvSpPr>
          <p:cNvPr id="11" name="Rectangle 10">
            <a:extLst>
              <a:ext uri="{FF2B5EF4-FFF2-40B4-BE49-F238E27FC236}">
                <a16:creationId xmlns:a16="http://schemas.microsoft.com/office/drawing/2014/main" id="{428CE012-A819-412F-A649-3EAB47BC23F5}"/>
              </a:ext>
            </a:extLst>
          </p:cNvPr>
          <p:cNvSpPr>
            <a:spLocks noGrp="1"/>
          </p:cNvSpPr>
          <p:nvPr/>
        </p:nvSpPr>
        <p:spPr>
          <a:xfrm>
            <a:off x="4705350" y="2616200"/>
            <a:ext cx="2781300" cy="7620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700" b="0">
                <a:solidFill>
                  <a:srgbClr val="203344"/>
                </a:solidFill>
                <a:latin typeface="Arial"/>
                <a:ea typeface="Arial"/>
                <a:cs typeface="Arial"/>
              </a:rPr>
              <a:t>Verifica fino a quattro esiti, in ordine di frequenza</a:t>
            </a:r>
            <a:endParaRPr sz="1700" b="0">
              <a:solidFill>
                <a:srgbClr val="203344"/>
              </a:solidFill>
              <a:latin typeface="Arial"/>
              <a:ea typeface="Arial"/>
              <a:cs typeface="Arial"/>
            </a:endParaRPr>
          </a:p>
        </p:txBody>
      </p:sp>
      <p:sp>
        <p:nvSpPr>
          <p:cNvPr id="12" name="Rectangle: Rounded Corners 11">
            <a:extLst>
              <a:ext uri="{FF2B5EF4-FFF2-40B4-BE49-F238E27FC236}">
                <a16:creationId xmlns:a16="http://schemas.microsoft.com/office/drawing/2014/main" id="{8E8D58EB-1F29-489F-84AA-EE5A27A893AB}"/>
              </a:ext>
            </a:extLst>
          </p:cNvPr>
          <p:cNvSpPr>
            <a:spLocks noGrp="1"/>
          </p:cNvSpPr>
          <p:nvPr/>
        </p:nvSpPr>
        <p:spPr>
          <a:xfrm>
            <a:off x="8439150" y="2057400"/>
            <a:ext cx="3143250" cy="1371600"/>
          </a:xfrm>
          <a:prstGeom prst="roundRect">
            <a:avLst>
              <a:gd name="adj" fmla="val 6135"/>
            </a:avLst>
          </a:prstGeom>
          <a:solidFill>
            <a:srgbClr val="EEF4F8"/>
          </a:solidFill>
          <a:ln w="14288">
            <a:solidFill>
              <a:srgbClr val="5084BF"/>
            </a:solidFill>
          </a:ln>
        </p:spPr>
        <p:txBody>
          <a:bodyPr/>
          <a:lstStyle/>
          <a:p>
            <a:endParaRPr lang="en-GB"/>
          </a:p>
        </p:txBody>
      </p:sp>
      <p:sp>
        <p:nvSpPr>
          <p:cNvPr id="13" name="Rectangle 12">
            <a:extLst>
              <a:ext uri="{FF2B5EF4-FFF2-40B4-BE49-F238E27FC236}">
                <a16:creationId xmlns:a16="http://schemas.microsoft.com/office/drawing/2014/main" id="{530CC7E4-D9E5-44BA-A967-3C00C77DC3EC}"/>
              </a:ext>
            </a:extLst>
          </p:cNvPr>
          <p:cNvSpPr>
            <a:spLocks noGrp="1"/>
          </p:cNvSpPr>
          <p:nvPr/>
        </p:nvSpPr>
        <p:spPr>
          <a:xfrm>
            <a:off x="8620125" y="2146300"/>
            <a:ext cx="2781300" cy="381000"/>
          </a:xfrm>
          <a:prstGeom prst="rect">
            <a:avLst/>
          </a:prstGeom>
          <a:noFill/>
          <a:ln w="0">
            <a:noFill/>
          </a:ln>
        </p:spPr>
        <p:txBody>
          <a:bodyPr>
            <a:noAutofit/>
          </a:bodyPr>
          <a:lstStyle/>
          <a:p>
            <a:pPr>
              <a:defRPr sz="2175" b="1">
                <a:solidFill>
                  <a:srgbClr val="003366"/>
                </a:solidFill>
                <a:latin typeface="Arial"/>
                <a:ea typeface="Arial"/>
                <a:cs typeface="Arial"/>
              </a:defRPr>
            </a:pPr>
            <a:r>
              <a:rPr lang="it-IT" sz="2300" b="1">
                <a:solidFill>
                  <a:srgbClr val="003366"/>
                </a:solidFill>
                <a:latin typeface="Arial"/>
                <a:ea typeface="Arial"/>
                <a:cs typeface="Arial"/>
              </a:rPr>
              <a:t>Metodo 2</a:t>
            </a:r>
            <a:endParaRPr sz="2300" b="1">
              <a:solidFill>
                <a:srgbClr val="003366"/>
              </a:solidFill>
              <a:latin typeface="Arial"/>
              <a:ea typeface="Arial"/>
              <a:cs typeface="Arial"/>
            </a:endParaRPr>
          </a:p>
        </p:txBody>
      </p:sp>
      <p:sp>
        <p:nvSpPr>
          <p:cNvPr id="14" name="Rectangle 13">
            <a:extLst>
              <a:ext uri="{FF2B5EF4-FFF2-40B4-BE49-F238E27FC236}">
                <a16:creationId xmlns:a16="http://schemas.microsoft.com/office/drawing/2014/main" id="{247C1F09-0415-4CBC-9397-423247F26ABF}"/>
              </a:ext>
            </a:extLst>
          </p:cNvPr>
          <p:cNvSpPr>
            <a:spLocks noGrp="1"/>
          </p:cNvSpPr>
          <p:nvPr/>
        </p:nvSpPr>
        <p:spPr>
          <a:xfrm>
            <a:off x="8620125" y="2616200"/>
            <a:ext cx="2781300" cy="7620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700" b="0">
                <a:solidFill>
                  <a:srgbClr val="203344"/>
                </a:solidFill>
                <a:latin typeface="Arial"/>
                <a:ea typeface="Arial"/>
                <a:cs typeface="Arial"/>
              </a:rPr>
              <a:t>Applica TOP-4 se il classificatore ML approva</a:t>
            </a:r>
            <a:endParaRPr sz="1700" b="0">
              <a:solidFill>
                <a:srgbClr val="203344"/>
              </a:solidFill>
              <a:latin typeface="Arial"/>
              <a:ea typeface="Arial"/>
              <a:cs typeface="Arial"/>
            </a:endParaRPr>
          </a:p>
        </p:txBody>
      </p:sp>
      <p:sp>
        <p:nvSpPr>
          <p:cNvPr id="27" name="Rectangle 26">
            <a:extLst>
              <a:ext uri="{FF2B5EF4-FFF2-40B4-BE49-F238E27FC236}">
                <a16:creationId xmlns:a16="http://schemas.microsoft.com/office/drawing/2014/main" id="{B611238E-C082-6AF6-60EE-43C467FDADAA}"/>
              </a:ext>
            </a:extLst>
          </p:cNvPr>
          <p:cNvSpPr/>
          <p:nvPr/>
        </p:nvSpPr>
        <p:spPr>
          <a:xfrm>
            <a:off x="609600" y="3581400"/>
            <a:ext cx="10972800" cy="406400"/>
          </a:xfrm>
          <a:prstGeom prst="rect">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900" b="1">
                <a:solidFill>
                  <a:srgbClr val="003366"/>
                </a:solidFill>
                <a:latin typeface="Arial" panose="020B0604020202020204" pitchFamily="34" charset="0"/>
              </a:rPr>
              <a:t>Verifica classica: frazioni continue e MCD</a:t>
            </a:r>
            <a:endParaRPr lang="en-GB" sz="1900" b="1">
              <a:solidFill>
                <a:srgbClr val="003366"/>
              </a:solidFill>
              <a:latin typeface="Arial" panose="020B0604020202020204" pitchFamily="34" charset="0"/>
            </a:endParaRPr>
          </a:p>
        </p:txBody>
      </p:sp>
      <p:sp>
        <p:nvSpPr>
          <p:cNvPr id="28" name="TextBox 27">
            <a:extLst>
              <a:ext uri="{FF2B5EF4-FFF2-40B4-BE49-F238E27FC236}">
                <a16:creationId xmlns:a16="http://schemas.microsoft.com/office/drawing/2014/main" id="{A0E657BA-EE5E-C3DF-BEE0-723210ECF337}"/>
              </a:ext>
            </a:extLst>
          </p:cNvPr>
          <p:cNvSpPr txBox="1"/>
          <p:nvPr/>
        </p:nvSpPr>
        <p:spPr>
          <a:xfrm>
            <a:off x="609600" y="4229100"/>
            <a:ext cx="3810000" cy="1270000"/>
          </a:xfrm>
          <a:prstGeom prst="rect">
            <a:avLst/>
          </a:prstGeom>
          <a:noFill/>
        </p:spPr>
        <p:txBody>
          <a:bodyPr vert="horz" wrap="square" rtlCol="0">
            <a:noAutofit/>
          </a:bodyPr>
          <a:lstStyle/>
          <a:p>
            <a:r>
              <a:rPr lang="it-IT" sz="1900" b="1" dirty="0">
                <a:solidFill>
                  <a:srgbClr val="175F99"/>
                </a:solidFill>
                <a:latin typeface="Arial" panose="020B0604020202020204" pitchFamily="34" charset="0"/>
              </a:rPr>
              <a:t>TOP-4: fattori al primo tentativo</a:t>
            </a:r>
          </a:p>
          <a:p>
            <a:r>
              <a:rPr lang="it-IT" sz="1900" b="1" dirty="0">
                <a:solidFill>
                  <a:srgbClr val="175F99"/>
                </a:solidFill>
                <a:latin typeface="Arial" panose="020B0604020202020204" pitchFamily="34" charset="0"/>
              </a:rPr>
              <a:t>30/30 repliche</a:t>
            </a:r>
          </a:p>
          <a:p>
            <a:r>
              <a:rPr lang="it-IT" sz="1900" b="1" dirty="0">
                <a:solidFill>
                  <a:srgbClr val="175F99"/>
                </a:solidFill>
                <a:latin typeface="Arial" panose="020B0604020202020204" pitchFamily="34" charset="0"/>
              </a:rPr>
              <a:t>in entrambi gli scenari.</a:t>
            </a:r>
            <a:endParaRPr lang="en-GB" sz="1900" b="1" dirty="0">
              <a:solidFill>
                <a:srgbClr val="175F99"/>
              </a:solidFill>
              <a:latin typeface="Arial" panose="020B0604020202020204" pitchFamily="34" charset="0"/>
            </a:endParaRPr>
          </a:p>
        </p:txBody>
      </p:sp>
      <p:sp>
        <p:nvSpPr>
          <p:cNvPr id="2" name="TextBox 1">
            <a:extLst>
              <a:ext uri="{FF2B5EF4-FFF2-40B4-BE49-F238E27FC236}">
                <a16:creationId xmlns:a16="http://schemas.microsoft.com/office/drawing/2014/main" id="{4F86F150-45F0-3EB4-ACA6-DD86AD751D35}"/>
              </a:ext>
            </a:extLst>
          </p:cNvPr>
          <p:cNvSpPr txBox="1"/>
          <p:nvPr/>
        </p:nvSpPr>
        <p:spPr>
          <a:xfrm>
            <a:off x="609600" y="5397499"/>
            <a:ext cx="3810000" cy="353943"/>
          </a:xfrm>
          <a:prstGeom prst="rect">
            <a:avLst/>
          </a:prstGeom>
          <a:noFill/>
        </p:spPr>
        <p:txBody>
          <a:bodyPr vert="horz" lIns="0" rIns="0" rtlCol="0">
            <a:spAutoFit/>
          </a:bodyPr>
          <a:lstStyle/>
          <a:p>
            <a:r>
              <a:rPr lang="it-IT" sz="1700" dirty="0">
                <a:solidFill>
                  <a:srgbClr val="0B2F5B"/>
                </a:solidFill>
                <a:latin typeface="Arial" panose="020B0604020202020204" pitchFamily="34" charset="0"/>
              </a:rPr>
              <a:t>Il filtro ML non migliora questo risultato.</a:t>
            </a:r>
            <a:endParaRPr lang="en-GB" sz="1700" dirty="0">
              <a:solidFill>
                <a:srgbClr val="0B2F5B"/>
              </a:solidFill>
              <a:latin typeface="Arial" panose="020B0604020202020204" pitchFamily="34" charset="0"/>
            </a:endParaRPr>
          </a:p>
        </p:txBody>
      </p:sp>
      <p:sp>
        <p:nvSpPr>
          <p:cNvPr id="15" name="TextBox 14">
            <a:extLst>
              <a:ext uri="{FF2B5EF4-FFF2-40B4-BE49-F238E27FC236}">
                <a16:creationId xmlns:a16="http://schemas.microsoft.com/office/drawing/2014/main" id="{DFDD2B45-5CAC-7123-60D9-119116D7585C}"/>
              </a:ext>
            </a:extLst>
          </p:cNvPr>
          <p:cNvSpPr txBox="1"/>
          <p:nvPr/>
        </p:nvSpPr>
        <p:spPr>
          <a:xfrm>
            <a:off x="4699000" y="6350000"/>
            <a:ext cx="6883400" cy="430887"/>
          </a:xfrm>
          <a:prstGeom prst="rect">
            <a:avLst/>
          </a:prstGeom>
          <a:noFill/>
        </p:spPr>
        <p:txBody>
          <a:bodyPr vert="horz" lIns="0" rIns="0" rtlCol="0">
            <a:spAutoFit/>
          </a:bodyPr>
          <a:lstStyle/>
          <a:p>
            <a:pPr algn="ctr"/>
            <a:r>
              <a:rPr lang="it-IT" sz="1100">
                <a:solidFill>
                  <a:srgbClr val="0B2F5B"/>
                </a:solidFill>
                <a:latin typeface="Arial" panose="020B0604020202020204" pitchFamily="34" charset="0"/>
              </a:rPr>
              <a:t>UC1: rumore di riferimento. UC2: rumore più severo.</a:t>
            </a:r>
          </a:p>
          <a:p>
            <a:pPr algn="ctr"/>
            <a:r>
              <a:rPr lang="it-IT" sz="1100">
                <a:solidFill>
                  <a:srgbClr val="0B2F5B"/>
                </a:solidFill>
                <a:latin typeface="Arial" panose="020B0604020202020204" pitchFamily="34" charset="0"/>
              </a:rPr>
              <a:t>Scenari simulati con Qiskit Aer; preset uniformi illustrativi.</a:t>
            </a:r>
            <a:endParaRPr lang="en-GB" sz="1100">
              <a:solidFill>
                <a:srgbClr val="0B2F5B"/>
              </a:solidFill>
              <a:latin typeface="Arial" panose="020B0604020202020204" pitchFamily="34" charset="0"/>
            </a:endParaRPr>
          </a:p>
        </p:txBody>
      </p:sp>
      <p:graphicFrame>
        <p:nvGraphicFramePr>
          <p:cNvPr id="16" name="Chart 15">
            <a:extLst>
              <a:ext uri="{FF2B5EF4-FFF2-40B4-BE49-F238E27FC236}">
                <a16:creationId xmlns:a16="http://schemas.microsoft.com/office/drawing/2014/main" id="{2DBBB897-748D-2D35-3FF4-C36DC53588CA}"/>
              </a:ext>
            </a:extLst>
          </p:cNvPr>
          <p:cNvGraphicFramePr/>
          <p:nvPr/>
        </p:nvGraphicFramePr>
        <p:xfrm>
          <a:off x="4699000" y="4076700"/>
          <a:ext cx="6883400" cy="22733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8752448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E63F5E73-50EB-4DE5-A1E1-7932B59E91B5}"/>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800" b="0">
                <a:solidFill>
                  <a:srgbClr val="003366"/>
                </a:solidFill>
                <a:latin typeface="Arial"/>
                <a:ea typeface="Arial"/>
                <a:cs typeface="Arial"/>
              </a:rPr>
              <a:t>Post-processing: confronto e risultati</a:t>
            </a:r>
            <a:endParaRPr sz="28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478C359-BEA8-4AFD-944F-9175CC4F4295}"/>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8134F752-5082-496F-BC77-8A8C1F34CF24}"/>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000" b="0">
                <a:solidFill>
                  <a:srgbClr val="203344"/>
                </a:solidFill>
                <a:latin typeface="Arial"/>
                <a:ea typeface="Arial"/>
                <a:cs typeface="Arial"/>
              </a:rPr>
              <a:t>Strategia 1 · Metodi e risultati</a:t>
            </a:r>
            <a:endParaRPr sz="10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CC35D492-ABDB-46BA-AE16-026C7410C362}"/>
              </a:ext>
            </a:extLst>
          </p:cNvPr>
          <p:cNvSpPr>
            <a:spLocks noGrp="1"/>
          </p:cNvSpPr>
          <p:nvPr/>
        </p:nvSpPr>
        <p:spPr>
          <a:xfrm>
            <a:off x="609600" y="1371600"/>
            <a:ext cx="10972800" cy="508000"/>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lang="it-IT" sz="2200" b="1">
                <a:solidFill>
                  <a:srgbClr val="FFFFFF"/>
                </a:solidFill>
                <a:latin typeface="Arial"/>
                <a:ea typeface="Arial"/>
                <a:cs typeface="Arial"/>
              </a:rPr>
              <a:t>Stesso istogramma di partenza: 1024 esecuzioni</a:t>
            </a:r>
            <a:endParaRPr sz="2200" b="1">
              <a:solidFill>
                <a:srgbClr val="FFFFFF"/>
              </a:solidFill>
              <a:latin typeface="Arial"/>
              <a:ea typeface="Arial"/>
              <a:cs typeface="Arial"/>
            </a:endParaRPr>
          </a:p>
        </p:txBody>
      </p:sp>
      <p:sp>
        <p:nvSpPr>
          <p:cNvPr id="6" name="Rectangle: Rounded Corners 5">
            <a:extLst>
              <a:ext uri="{FF2B5EF4-FFF2-40B4-BE49-F238E27FC236}">
                <a16:creationId xmlns:a16="http://schemas.microsoft.com/office/drawing/2014/main" id="{6C6B2847-EFC1-4D02-B73B-9163FA7FF42D}"/>
              </a:ext>
            </a:extLst>
          </p:cNvPr>
          <p:cNvSpPr>
            <a:spLocks noGrp="1"/>
          </p:cNvSpPr>
          <p:nvPr/>
        </p:nvSpPr>
        <p:spPr>
          <a:xfrm>
            <a:off x="609600" y="2057400"/>
            <a:ext cx="3143250" cy="1371600"/>
          </a:xfrm>
          <a:prstGeom prst="roundRect">
            <a:avLst>
              <a:gd name="adj" fmla="val 6135"/>
            </a:avLst>
          </a:prstGeom>
          <a:solidFill>
            <a:srgbClr val="EEF4F8"/>
          </a:solidFill>
          <a:ln w="14288">
            <a:solidFill>
              <a:srgbClr val="5084BF"/>
            </a:solidFill>
          </a:ln>
        </p:spPr>
        <p:txBody>
          <a:bodyPr/>
          <a:lstStyle/>
          <a:p>
            <a:endParaRPr lang="en-GB"/>
          </a:p>
        </p:txBody>
      </p:sp>
      <p:sp>
        <p:nvSpPr>
          <p:cNvPr id="7" name="Rectangle 6">
            <a:extLst>
              <a:ext uri="{FF2B5EF4-FFF2-40B4-BE49-F238E27FC236}">
                <a16:creationId xmlns:a16="http://schemas.microsoft.com/office/drawing/2014/main" id="{50207F82-D486-4618-9019-4A9B6B896244}"/>
              </a:ext>
            </a:extLst>
          </p:cNvPr>
          <p:cNvSpPr>
            <a:spLocks noGrp="1"/>
          </p:cNvSpPr>
          <p:nvPr/>
        </p:nvSpPr>
        <p:spPr>
          <a:xfrm>
            <a:off x="790575" y="2146300"/>
            <a:ext cx="2781300" cy="381000"/>
          </a:xfrm>
          <a:prstGeom prst="rect">
            <a:avLst/>
          </a:prstGeom>
          <a:noFill/>
          <a:ln w="0">
            <a:noFill/>
          </a:ln>
        </p:spPr>
        <p:txBody>
          <a:bodyPr>
            <a:noAutofit/>
          </a:bodyPr>
          <a:lstStyle/>
          <a:p>
            <a:pPr>
              <a:defRPr sz="2175" b="1">
                <a:solidFill>
                  <a:srgbClr val="003366"/>
                </a:solidFill>
                <a:latin typeface="Arial"/>
                <a:ea typeface="Arial"/>
                <a:cs typeface="Arial"/>
              </a:defRPr>
            </a:pPr>
            <a:r>
              <a:rPr lang="it-IT" sz="2300" b="1">
                <a:solidFill>
                  <a:srgbClr val="003366"/>
                </a:solidFill>
                <a:latin typeface="Arial"/>
                <a:ea typeface="Arial"/>
                <a:cs typeface="Arial"/>
              </a:rPr>
              <a:t>TOP-1</a:t>
            </a:r>
            <a:endParaRPr sz="2300" b="1">
              <a:solidFill>
                <a:srgbClr val="003366"/>
              </a:solidFill>
              <a:latin typeface="Arial"/>
              <a:ea typeface="Arial"/>
              <a:cs typeface="Arial"/>
            </a:endParaRPr>
          </a:p>
        </p:txBody>
      </p:sp>
      <p:sp>
        <p:nvSpPr>
          <p:cNvPr id="8" name="Rectangle 7">
            <a:extLst>
              <a:ext uri="{FF2B5EF4-FFF2-40B4-BE49-F238E27FC236}">
                <a16:creationId xmlns:a16="http://schemas.microsoft.com/office/drawing/2014/main" id="{448DCFE9-33F7-45E1-A769-1CD6F8ABDA24}"/>
              </a:ext>
            </a:extLst>
          </p:cNvPr>
          <p:cNvSpPr>
            <a:spLocks noGrp="1"/>
          </p:cNvSpPr>
          <p:nvPr/>
        </p:nvSpPr>
        <p:spPr>
          <a:xfrm>
            <a:off x="790575" y="2616200"/>
            <a:ext cx="2781300" cy="7620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700" b="0">
                <a:solidFill>
                  <a:srgbClr val="203344"/>
                </a:solidFill>
                <a:latin typeface="Arial"/>
                <a:ea typeface="Arial"/>
                <a:cs typeface="Arial"/>
              </a:rPr>
              <a:t>Verifica il risultato più frequente</a:t>
            </a:r>
            <a:endParaRPr sz="1700" b="0">
              <a:solidFill>
                <a:srgbClr val="203344"/>
              </a:solidFill>
              <a:latin typeface="Arial"/>
              <a:ea typeface="Arial"/>
              <a:cs typeface="Arial"/>
            </a:endParaRPr>
          </a:p>
        </p:txBody>
      </p:sp>
      <p:sp>
        <p:nvSpPr>
          <p:cNvPr id="9" name="Rectangle: Rounded Corners 8">
            <a:extLst>
              <a:ext uri="{FF2B5EF4-FFF2-40B4-BE49-F238E27FC236}">
                <a16:creationId xmlns:a16="http://schemas.microsoft.com/office/drawing/2014/main" id="{A7ED80C4-3A04-48D9-8600-16713139334D}"/>
              </a:ext>
            </a:extLst>
          </p:cNvPr>
          <p:cNvSpPr>
            <a:spLocks noGrp="1"/>
          </p:cNvSpPr>
          <p:nvPr/>
        </p:nvSpPr>
        <p:spPr>
          <a:xfrm>
            <a:off x="4524375" y="2057400"/>
            <a:ext cx="3143250" cy="1371600"/>
          </a:xfrm>
          <a:prstGeom prst="roundRect">
            <a:avLst>
              <a:gd name="adj" fmla="val 6135"/>
            </a:avLst>
          </a:prstGeom>
          <a:solidFill>
            <a:srgbClr val="EEF4F8"/>
          </a:solidFill>
          <a:ln w="14288">
            <a:solidFill>
              <a:srgbClr val="5084BF"/>
            </a:solidFill>
          </a:ln>
        </p:spPr>
        <p:txBody>
          <a:bodyPr/>
          <a:lstStyle/>
          <a:p>
            <a:endParaRPr lang="en-GB"/>
          </a:p>
        </p:txBody>
      </p:sp>
      <p:sp>
        <p:nvSpPr>
          <p:cNvPr id="10" name="Rectangle 9">
            <a:extLst>
              <a:ext uri="{FF2B5EF4-FFF2-40B4-BE49-F238E27FC236}">
                <a16:creationId xmlns:a16="http://schemas.microsoft.com/office/drawing/2014/main" id="{B7718673-DDE6-4B0E-80B1-2DEB783CDC31}"/>
              </a:ext>
            </a:extLst>
          </p:cNvPr>
          <p:cNvSpPr>
            <a:spLocks noGrp="1"/>
          </p:cNvSpPr>
          <p:nvPr/>
        </p:nvSpPr>
        <p:spPr>
          <a:xfrm>
            <a:off x="4705350" y="2146300"/>
            <a:ext cx="2781300" cy="381000"/>
          </a:xfrm>
          <a:prstGeom prst="rect">
            <a:avLst/>
          </a:prstGeom>
          <a:noFill/>
          <a:ln w="0">
            <a:noFill/>
          </a:ln>
        </p:spPr>
        <p:txBody>
          <a:bodyPr>
            <a:noAutofit/>
          </a:bodyPr>
          <a:lstStyle/>
          <a:p>
            <a:pPr>
              <a:defRPr sz="2175" b="1">
                <a:solidFill>
                  <a:srgbClr val="003366"/>
                </a:solidFill>
                <a:latin typeface="Arial"/>
                <a:ea typeface="Arial"/>
                <a:cs typeface="Arial"/>
              </a:defRPr>
            </a:pPr>
            <a:r>
              <a:rPr lang="it-IT" sz="2300" b="1">
                <a:solidFill>
                  <a:srgbClr val="003366"/>
                </a:solidFill>
                <a:latin typeface="Arial"/>
                <a:ea typeface="Arial"/>
                <a:cs typeface="Arial"/>
              </a:rPr>
              <a:t>TOP-4</a:t>
            </a:r>
            <a:endParaRPr sz="2300" b="1">
              <a:solidFill>
                <a:srgbClr val="003366"/>
              </a:solidFill>
              <a:latin typeface="Arial"/>
              <a:ea typeface="Arial"/>
              <a:cs typeface="Arial"/>
            </a:endParaRPr>
          </a:p>
        </p:txBody>
      </p:sp>
      <p:sp>
        <p:nvSpPr>
          <p:cNvPr id="11" name="Rectangle 10">
            <a:extLst>
              <a:ext uri="{FF2B5EF4-FFF2-40B4-BE49-F238E27FC236}">
                <a16:creationId xmlns:a16="http://schemas.microsoft.com/office/drawing/2014/main" id="{428CE012-A819-412F-A649-3EAB47BC23F5}"/>
              </a:ext>
            </a:extLst>
          </p:cNvPr>
          <p:cNvSpPr>
            <a:spLocks noGrp="1"/>
          </p:cNvSpPr>
          <p:nvPr/>
        </p:nvSpPr>
        <p:spPr>
          <a:xfrm>
            <a:off x="4705350" y="2616200"/>
            <a:ext cx="2781300" cy="7620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700" b="0">
                <a:solidFill>
                  <a:srgbClr val="203344"/>
                </a:solidFill>
                <a:latin typeface="Arial"/>
                <a:ea typeface="Arial"/>
                <a:cs typeface="Arial"/>
              </a:rPr>
              <a:t>Verifica fino a quattro esiti, in ordine di frequenza</a:t>
            </a:r>
            <a:endParaRPr sz="1700" b="0">
              <a:solidFill>
                <a:srgbClr val="203344"/>
              </a:solidFill>
              <a:latin typeface="Arial"/>
              <a:ea typeface="Arial"/>
              <a:cs typeface="Arial"/>
            </a:endParaRPr>
          </a:p>
        </p:txBody>
      </p:sp>
      <p:sp>
        <p:nvSpPr>
          <p:cNvPr id="12" name="Rectangle: Rounded Corners 11">
            <a:extLst>
              <a:ext uri="{FF2B5EF4-FFF2-40B4-BE49-F238E27FC236}">
                <a16:creationId xmlns:a16="http://schemas.microsoft.com/office/drawing/2014/main" id="{8E8D58EB-1F29-489F-84AA-EE5A27A893AB}"/>
              </a:ext>
            </a:extLst>
          </p:cNvPr>
          <p:cNvSpPr>
            <a:spLocks noGrp="1"/>
          </p:cNvSpPr>
          <p:nvPr/>
        </p:nvSpPr>
        <p:spPr>
          <a:xfrm>
            <a:off x="8439150" y="2057400"/>
            <a:ext cx="3143250" cy="1371600"/>
          </a:xfrm>
          <a:prstGeom prst="roundRect">
            <a:avLst>
              <a:gd name="adj" fmla="val 6135"/>
            </a:avLst>
          </a:prstGeom>
          <a:solidFill>
            <a:srgbClr val="EEF4F8"/>
          </a:solidFill>
          <a:ln w="14288">
            <a:solidFill>
              <a:srgbClr val="5084BF"/>
            </a:solidFill>
          </a:ln>
        </p:spPr>
        <p:txBody>
          <a:bodyPr/>
          <a:lstStyle/>
          <a:p>
            <a:endParaRPr lang="en-GB"/>
          </a:p>
        </p:txBody>
      </p:sp>
      <p:sp>
        <p:nvSpPr>
          <p:cNvPr id="13" name="Rectangle 12">
            <a:extLst>
              <a:ext uri="{FF2B5EF4-FFF2-40B4-BE49-F238E27FC236}">
                <a16:creationId xmlns:a16="http://schemas.microsoft.com/office/drawing/2014/main" id="{530CC7E4-D9E5-44BA-A967-3C00C77DC3EC}"/>
              </a:ext>
            </a:extLst>
          </p:cNvPr>
          <p:cNvSpPr>
            <a:spLocks noGrp="1"/>
          </p:cNvSpPr>
          <p:nvPr/>
        </p:nvSpPr>
        <p:spPr>
          <a:xfrm>
            <a:off x="8620125" y="2146300"/>
            <a:ext cx="2781300" cy="381000"/>
          </a:xfrm>
          <a:prstGeom prst="rect">
            <a:avLst/>
          </a:prstGeom>
          <a:noFill/>
          <a:ln w="0">
            <a:noFill/>
          </a:ln>
        </p:spPr>
        <p:txBody>
          <a:bodyPr>
            <a:noAutofit/>
          </a:bodyPr>
          <a:lstStyle/>
          <a:p>
            <a:pPr>
              <a:defRPr sz="2175" b="1">
                <a:solidFill>
                  <a:srgbClr val="003366"/>
                </a:solidFill>
                <a:latin typeface="Arial"/>
                <a:ea typeface="Arial"/>
                <a:cs typeface="Arial"/>
              </a:defRPr>
            </a:pPr>
            <a:r>
              <a:rPr lang="it-IT" sz="2300" b="1">
                <a:solidFill>
                  <a:srgbClr val="003366"/>
                </a:solidFill>
                <a:latin typeface="Arial"/>
                <a:ea typeface="Arial"/>
                <a:cs typeface="Arial"/>
              </a:rPr>
              <a:t>Metodo 2</a:t>
            </a:r>
            <a:endParaRPr sz="2300" b="1">
              <a:solidFill>
                <a:srgbClr val="003366"/>
              </a:solidFill>
              <a:latin typeface="Arial"/>
              <a:ea typeface="Arial"/>
              <a:cs typeface="Arial"/>
            </a:endParaRPr>
          </a:p>
        </p:txBody>
      </p:sp>
      <p:sp>
        <p:nvSpPr>
          <p:cNvPr id="14" name="Rectangle 13">
            <a:extLst>
              <a:ext uri="{FF2B5EF4-FFF2-40B4-BE49-F238E27FC236}">
                <a16:creationId xmlns:a16="http://schemas.microsoft.com/office/drawing/2014/main" id="{247C1F09-0415-4CBC-9397-423247F26ABF}"/>
              </a:ext>
            </a:extLst>
          </p:cNvPr>
          <p:cNvSpPr>
            <a:spLocks noGrp="1"/>
          </p:cNvSpPr>
          <p:nvPr/>
        </p:nvSpPr>
        <p:spPr>
          <a:xfrm>
            <a:off x="8620125" y="2616200"/>
            <a:ext cx="2781300" cy="7620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700" b="0">
                <a:solidFill>
                  <a:srgbClr val="203344"/>
                </a:solidFill>
                <a:latin typeface="Arial"/>
                <a:ea typeface="Arial"/>
                <a:cs typeface="Arial"/>
              </a:rPr>
              <a:t>Applica TOP-4 se il classificatore ML approva</a:t>
            </a:r>
            <a:endParaRPr sz="1700" b="0">
              <a:solidFill>
                <a:srgbClr val="203344"/>
              </a:solidFill>
              <a:latin typeface="Arial"/>
              <a:ea typeface="Arial"/>
              <a:cs typeface="Arial"/>
            </a:endParaRPr>
          </a:p>
        </p:txBody>
      </p:sp>
      <p:sp>
        <p:nvSpPr>
          <p:cNvPr id="27" name="Rectangle 26">
            <a:extLst>
              <a:ext uri="{FF2B5EF4-FFF2-40B4-BE49-F238E27FC236}">
                <a16:creationId xmlns:a16="http://schemas.microsoft.com/office/drawing/2014/main" id="{B611238E-C082-6AF6-60EE-43C467FDADAA}"/>
              </a:ext>
            </a:extLst>
          </p:cNvPr>
          <p:cNvSpPr/>
          <p:nvPr/>
        </p:nvSpPr>
        <p:spPr>
          <a:xfrm>
            <a:off x="609600" y="3581400"/>
            <a:ext cx="10972800" cy="406400"/>
          </a:xfrm>
          <a:prstGeom prst="rect">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900" b="1">
                <a:solidFill>
                  <a:srgbClr val="003366"/>
                </a:solidFill>
                <a:latin typeface="Arial" panose="020B0604020202020204" pitchFamily="34" charset="0"/>
              </a:rPr>
              <a:t>Verifica classica: frazioni continue e MCD</a:t>
            </a:r>
            <a:endParaRPr lang="en-GB" sz="1900" b="1">
              <a:solidFill>
                <a:srgbClr val="003366"/>
              </a:solidFill>
              <a:latin typeface="Arial" panose="020B0604020202020204" pitchFamily="34" charset="0"/>
            </a:endParaRPr>
          </a:p>
        </p:txBody>
      </p:sp>
      <p:sp>
        <p:nvSpPr>
          <p:cNvPr id="28" name="TextBox 27">
            <a:extLst>
              <a:ext uri="{FF2B5EF4-FFF2-40B4-BE49-F238E27FC236}">
                <a16:creationId xmlns:a16="http://schemas.microsoft.com/office/drawing/2014/main" id="{A0E657BA-EE5E-C3DF-BEE0-723210ECF337}"/>
              </a:ext>
            </a:extLst>
          </p:cNvPr>
          <p:cNvSpPr txBox="1"/>
          <p:nvPr/>
        </p:nvSpPr>
        <p:spPr>
          <a:xfrm>
            <a:off x="609600" y="4241800"/>
            <a:ext cx="3810000" cy="1320800"/>
          </a:xfrm>
          <a:prstGeom prst="rect">
            <a:avLst/>
          </a:prstGeom>
          <a:noFill/>
        </p:spPr>
        <p:txBody>
          <a:bodyPr vert="horz" wrap="square" rtlCol="0">
            <a:noAutofit/>
          </a:bodyPr>
          <a:lstStyle/>
          <a:p>
            <a:r>
              <a:rPr lang="it-IT" sz="2000" b="1" dirty="0">
                <a:solidFill>
                  <a:srgbClr val="175F99"/>
                </a:solidFill>
                <a:latin typeface="Arial" panose="020B0604020202020204" pitchFamily="34" charset="0"/>
              </a:rPr>
              <a:t>TOP-4 trova i fattori</a:t>
            </a:r>
          </a:p>
          <a:p>
            <a:r>
              <a:rPr lang="it-IT" sz="2000" b="1" dirty="0">
                <a:solidFill>
                  <a:srgbClr val="175F99"/>
                </a:solidFill>
                <a:latin typeface="Arial" panose="020B0604020202020204" pitchFamily="34" charset="0"/>
              </a:rPr>
              <a:t>al primo tentativo</a:t>
            </a:r>
          </a:p>
          <a:p>
            <a:r>
              <a:rPr lang="it-IT" sz="2000" b="1" dirty="0">
                <a:solidFill>
                  <a:srgbClr val="175F99"/>
                </a:solidFill>
                <a:latin typeface="Arial" panose="020B0604020202020204" pitchFamily="34" charset="0"/>
              </a:rPr>
              <a:t>in tutte le 30 repliche,</a:t>
            </a:r>
          </a:p>
          <a:p>
            <a:r>
              <a:rPr lang="it-IT" sz="2000" b="1" dirty="0">
                <a:solidFill>
                  <a:srgbClr val="175F99"/>
                </a:solidFill>
                <a:latin typeface="Arial" panose="020B0604020202020204" pitchFamily="34" charset="0"/>
              </a:rPr>
              <a:t>in entrambi gli scenari.</a:t>
            </a:r>
            <a:endParaRPr lang="en-GB" sz="2000" b="1" dirty="0">
              <a:solidFill>
                <a:srgbClr val="175F99"/>
              </a:solidFill>
              <a:latin typeface="Arial" panose="020B0604020202020204" pitchFamily="34" charset="0"/>
            </a:endParaRPr>
          </a:p>
        </p:txBody>
      </p:sp>
      <p:sp>
        <p:nvSpPr>
          <p:cNvPr id="2" name="TextBox 1">
            <a:extLst>
              <a:ext uri="{FF2B5EF4-FFF2-40B4-BE49-F238E27FC236}">
                <a16:creationId xmlns:a16="http://schemas.microsoft.com/office/drawing/2014/main" id="{4F86F150-45F0-3EB4-ACA6-DD86AD751D35}"/>
              </a:ext>
            </a:extLst>
          </p:cNvPr>
          <p:cNvSpPr txBox="1"/>
          <p:nvPr/>
        </p:nvSpPr>
        <p:spPr>
          <a:xfrm>
            <a:off x="609600" y="5664200"/>
            <a:ext cx="3810000" cy="615553"/>
          </a:xfrm>
          <a:prstGeom prst="rect">
            <a:avLst/>
          </a:prstGeom>
          <a:noFill/>
        </p:spPr>
        <p:txBody>
          <a:bodyPr vert="horz" lIns="0" rIns="0" rtlCol="0">
            <a:spAutoFit/>
          </a:bodyPr>
          <a:lstStyle/>
          <a:p>
            <a:r>
              <a:rPr lang="it-IT" sz="1700" dirty="0">
                <a:solidFill>
                  <a:srgbClr val="0B2F5B"/>
                </a:solidFill>
                <a:latin typeface="Arial" panose="020B0604020202020204" pitchFamily="34" charset="0"/>
              </a:rPr>
              <a:t>Il filtro ML non migliora</a:t>
            </a:r>
          </a:p>
          <a:p>
            <a:r>
              <a:rPr lang="it-IT" sz="1700" dirty="0">
                <a:solidFill>
                  <a:srgbClr val="0B2F5B"/>
                </a:solidFill>
                <a:latin typeface="Arial" panose="020B0604020202020204" pitchFamily="34" charset="0"/>
              </a:rPr>
              <a:t>questo risultato.</a:t>
            </a:r>
            <a:endParaRPr lang="en-GB" sz="1700" dirty="0">
              <a:solidFill>
                <a:srgbClr val="0B2F5B"/>
              </a:solidFill>
              <a:latin typeface="Arial" panose="020B0604020202020204" pitchFamily="34" charset="0"/>
            </a:endParaRPr>
          </a:p>
        </p:txBody>
      </p:sp>
      <p:sp>
        <p:nvSpPr>
          <p:cNvPr id="15" name="TextBox 14">
            <a:extLst>
              <a:ext uri="{FF2B5EF4-FFF2-40B4-BE49-F238E27FC236}">
                <a16:creationId xmlns:a16="http://schemas.microsoft.com/office/drawing/2014/main" id="{DFDD2B45-5CAC-7123-60D9-119116D7585C}"/>
              </a:ext>
            </a:extLst>
          </p:cNvPr>
          <p:cNvSpPr txBox="1"/>
          <p:nvPr/>
        </p:nvSpPr>
        <p:spPr>
          <a:xfrm>
            <a:off x="4699000" y="6350000"/>
            <a:ext cx="6883400" cy="430887"/>
          </a:xfrm>
          <a:prstGeom prst="rect">
            <a:avLst/>
          </a:prstGeom>
          <a:noFill/>
        </p:spPr>
        <p:txBody>
          <a:bodyPr vert="horz" lIns="0" rIns="0" rtlCol="0">
            <a:spAutoFit/>
          </a:bodyPr>
          <a:lstStyle/>
          <a:p>
            <a:pPr algn="ctr"/>
            <a:r>
              <a:rPr lang="it-IT" sz="1100">
                <a:solidFill>
                  <a:srgbClr val="0B2F5B"/>
                </a:solidFill>
                <a:latin typeface="Arial" panose="020B0604020202020204" pitchFamily="34" charset="0"/>
              </a:rPr>
              <a:t>UC1: rumore di riferimento. UC2: rumore più severo.</a:t>
            </a:r>
          </a:p>
          <a:p>
            <a:pPr algn="ctr"/>
            <a:r>
              <a:rPr lang="it-IT" sz="1100">
                <a:solidFill>
                  <a:srgbClr val="0B2F5B"/>
                </a:solidFill>
                <a:latin typeface="Arial" panose="020B0604020202020204" pitchFamily="34" charset="0"/>
              </a:rPr>
              <a:t>Scenari simulati con Qiskit Aer; preset uniformi illustrativi.</a:t>
            </a:r>
            <a:endParaRPr lang="en-GB" sz="1100">
              <a:solidFill>
                <a:srgbClr val="0B2F5B"/>
              </a:solidFill>
              <a:latin typeface="Arial" panose="020B0604020202020204" pitchFamily="34" charset="0"/>
            </a:endParaRPr>
          </a:p>
        </p:txBody>
      </p:sp>
      <p:graphicFrame>
        <p:nvGraphicFramePr>
          <p:cNvPr id="16" name="Chart 15">
            <a:extLst>
              <a:ext uri="{FF2B5EF4-FFF2-40B4-BE49-F238E27FC236}">
                <a16:creationId xmlns:a16="http://schemas.microsoft.com/office/drawing/2014/main" id="{2DBBB897-748D-2D35-3FF4-C36DC53588CA}"/>
              </a:ext>
            </a:extLst>
          </p:cNvPr>
          <p:cNvGraphicFramePr/>
          <p:nvPr/>
        </p:nvGraphicFramePr>
        <p:xfrm>
          <a:off x="4699000" y="4076700"/>
          <a:ext cx="6883400" cy="2273300"/>
        </p:xfrm>
        <a:graphic>
          <a:graphicData uri="http://schemas.openxmlformats.org/drawingml/2006/chart">
            <c:chart xmlns:c="http://schemas.openxmlformats.org/drawingml/2006/chart" xmlns:r="http://schemas.openxmlformats.org/officeDocument/2006/relationships" r:id="rId4"/>
          </a:graphicData>
        </a:graphic>
      </p:graphicFrame>
      <p:sp>
        <p:nvSpPr>
          <p:cNvPr id="17" name="TextBox 16">
            <a:extLst>
              <a:ext uri="{FF2B5EF4-FFF2-40B4-BE49-F238E27FC236}">
                <a16:creationId xmlns:a16="http://schemas.microsoft.com/office/drawing/2014/main" id="{9155CC8F-DA2E-3185-5A9B-282B268C7C79}"/>
              </a:ext>
            </a:extLst>
          </p:cNvPr>
          <p:cNvSpPr txBox="1"/>
          <p:nvPr/>
        </p:nvSpPr>
        <p:spPr>
          <a:xfrm>
            <a:off x="609600" y="6438900"/>
            <a:ext cx="3810000" cy="400110"/>
          </a:xfrm>
          <a:prstGeom prst="rect">
            <a:avLst/>
          </a:prstGeom>
          <a:noFill/>
        </p:spPr>
        <p:txBody>
          <a:bodyPr vert="horz" lIns="0" rIns="0" rtlCol="0">
            <a:spAutoFit/>
          </a:bodyPr>
          <a:lstStyle/>
          <a:p>
            <a:r>
              <a:rPr lang="it-IT" sz="1000" dirty="0">
                <a:solidFill>
                  <a:srgbClr val="0B2F5B"/>
                </a:solidFill>
                <a:latin typeface="Arial" panose="020B0604020202020204" pitchFamily="34" charset="0"/>
              </a:rPr>
              <a:t>N = 15; 30 repliche per scenario.</a:t>
            </a:r>
          </a:p>
          <a:p>
            <a:r>
              <a:rPr lang="it-IT" sz="1000" dirty="0">
                <a:solidFill>
                  <a:srgbClr val="0B2F5B"/>
                </a:solidFill>
                <a:latin typeface="Arial" panose="020B0604020202020204" pitchFamily="34" charset="0"/>
              </a:rPr>
              <a:t>Senza calibrazione hardware.</a:t>
            </a:r>
            <a:endParaRPr lang="en-GB" sz="1000" dirty="0">
              <a:solidFill>
                <a:srgbClr val="0B2F5B"/>
              </a:solidFill>
              <a:latin typeface="Arial" panose="020B0604020202020204" pitchFamily="34" charset="0"/>
            </a:endParaRPr>
          </a:p>
        </p:txBody>
      </p:sp>
    </p:spTree>
    <p:extLst>
      <p:ext uri="{BB962C8B-B14F-4D97-AF65-F5344CB8AC3E}">
        <p14:creationId xmlns:p14="http://schemas.microsoft.com/office/powerpoint/2010/main" val="7742211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E63F5E73-50EB-4DE5-A1E1-7932B59E91B5}"/>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Strategia 1: post-processing e ablazione ML</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478C359-BEA8-4AFD-944F-9175CC4F4295}"/>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8134F752-5082-496F-BC77-8A8C1F34CF24}"/>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1 · Post-processing | 5</a:t>
            </a:r>
            <a:endParaRPr sz="1200" b="0">
              <a:solidFill>
                <a:srgbClr val="203344"/>
              </a:solidFill>
              <a:latin typeface="Arial"/>
              <a:ea typeface="Arial"/>
              <a:cs typeface="Arial"/>
            </a:endParaRPr>
          </a:p>
        </p:txBody>
      </p:sp>
      <p:sp>
        <p:nvSpPr>
          <p:cNvPr id="101" name="S1 tit sx"/>
          <p:cNvSpPr/>
          <p:nvPr/>
        </p:nvSpPr>
        <p:spPr>
          <a:xfrm>
            <a:off x="609600" y="1400000"/>
            <a:ext cx="5000000" cy="450000"/>
          </a:xfrm>
          <a:prstGeom prst="rect">
            <a:avLst/>
          </a:prstGeom>
          <a:noFill/>
          <a:ln>
            <a:noFill/>
          </a:ln>
        </p:spPr>
        <p:txBody>
          <a:bodyPr wrap="square" lIns="0" tIns="0" rIns="0" bIns="0" rtlCol="0" anchor="t">
            <a:noAutofit/>
          </a:bodyPr>
          <a:lstStyle/>
          <a:p>
            <a:pPr algn="l">
              <a:buNone/>
            </a:pPr>
            <a:r>
              <a:rPr lang="it-IT" sz="1800" b="1">
                <a:solidFill>
                  <a:srgbClr val="003366"/>
                </a:solidFill>
                <a:latin typeface="Arial" panose="020B0604020202020204" pitchFamily="34" charset="0"/>
                <a:cs typeface="Arial"/>
              </a:rPr>
              <a:t>1024 esecuzioni → classifica degli esiti</a:t>
            </a:r>
          </a:p>
        </p:txBody>
      </p:sp>
      <p:sp>
        <p:nvSpPr>
          <p:cNvPr id="102" name="S1 barra 0"/>
          <p:cNvSpPr/>
          <p:nvPr/>
        </p:nvSpPr>
        <p:spPr>
          <a:xfrm>
            <a:off x="669600" y="2175000"/>
            <a:ext cx="300000" cy="2375000"/>
          </a:xfrm>
          <a:prstGeom prst="rect">
            <a:avLst/>
          </a:prstGeom>
          <a:solidFill>
            <a:srgbClr val="D9822B"/>
          </a:solidFill>
          <a:ln>
            <a:noFill/>
          </a:ln>
        </p:spPr>
        <p:txBody>
          <a:bodyPr wrap="square" lIns="91440" tIns="91440" rIns="91440" bIns="91440" rtlCol="0" anchor="ctr">
            <a:noAutofit/>
          </a:bodyPr>
          <a:lstStyle/>
          <a:p>
            <a:endParaRPr lang="it-IT"/>
          </a:p>
        </p:txBody>
      </p:sp>
      <p:sp>
        <p:nvSpPr>
          <p:cNvPr id="103" name="S1 rank 0"/>
          <p:cNvSpPr/>
          <p:nvPr/>
        </p:nvSpPr>
        <p:spPr>
          <a:xfrm>
            <a:off x="569600" y="4600000"/>
            <a:ext cx="500000" cy="330000"/>
          </a:xfrm>
          <a:prstGeom prst="rect">
            <a:avLst/>
          </a:prstGeom>
          <a:noFill/>
          <a:ln>
            <a:noFill/>
          </a:ln>
        </p:spPr>
        <p:txBody>
          <a:bodyPr wrap="square" lIns="0" tIns="0" rIns="0" bIns="0" rtlCol="0" anchor="ctr">
            <a:noAutofit/>
          </a:bodyPr>
          <a:lstStyle/>
          <a:p>
            <a:pPr algn="ctr">
              <a:buNone/>
            </a:pPr>
            <a:r>
              <a:rPr lang="it-IT" sz="1600" b="1">
                <a:solidFill>
                  <a:srgbClr val="A85A12"/>
                </a:solidFill>
                <a:latin typeface="Arial" panose="020B0604020202020204" pitchFamily="34" charset="0"/>
                <a:cs typeface="Arial"/>
              </a:rPr>
              <a:t>1°</a:t>
            </a:r>
          </a:p>
        </p:txBody>
      </p:sp>
      <p:sp>
        <p:nvSpPr>
          <p:cNvPr id="104" name="S1 barra 1"/>
          <p:cNvSpPr/>
          <p:nvPr/>
        </p:nvSpPr>
        <p:spPr>
          <a:xfrm>
            <a:off x="1079600" y="2300000"/>
            <a:ext cx="300000" cy="2250000"/>
          </a:xfrm>
          <a:prstGeom prst="rect">
            <a:avLst/>
          </a:prstGeom>
          <a:solidFill>
            <a:srgbClr val="D9822B"/>
          </a:solidFill>
          <a:ln>
            <a:noFill/>
          </a:ln>
        </p:spPr>
        <p:txBody>
          <a:bodyPr wrap="square" lIns="91440" tIns="91440" rIns="91440" bIns="91440" rtlCol="0" anchor="ctr">
            <a:noAutofit/>
          </a:bodyPr>
          <a:lstStyle/>
          <a:p>
            <a:endParaRPr lang="it-IT"/>
          </a:p>
        </p:txBody>
      </p:sp>
      <p:sp>
        <p:nvSpPr>
          <p:cNvPr id="105" name="S1 rank 1"/>
          <p:cNvSpPr/>
          <p:nvPr/>
        </p:nvSpPr>
        <p:spPr>
          <a:xfrm>
            <a:off x="979600" y="4600000"/>
            <a:ext cx="500000" cy="330000"/>
          </a:xfrm>
          <a:prstGeom prst="rect">
            <a:avLst/>
          </a:prstGeom>
          <a:noFill/>
          <a:ln>
            <a:noFill/>
          </a:ln>
        </p:spPr>
        <p:txBody>
          <a:bodyPr wrap="square" lIns="0" tIns="0" rIns="0" bIns="0" rtlCol="0" anchor="ctr">
            <a:noAutofit/>
          </a:bodyPr>
          <a:lstStyle/>
          <a:p>
            <a:pPr algn="ctr">
              <a:buNone/>
            </a:pPr>
            <a:r>
              <a:rPr lang="it-IT" sz="1600" b="1">
                <a:solidFill>
                  <a:srgbClr val="A85A12"/>
                </a:solidFill>
                <a:latin typeface="Arial" panose="020B0604020202020204" pitchFamily="34" charset="0"/>
                <a:cs typeface="Arial"/>
              </a:rPr>
              <a:t>2°</a:t>
            </a:r>
          </a:p>
        </p:txBody>
      </p:sp>
      <p:sp>
        <p:nvSpPr>
          <p:cNvPr id="106" name="S1 barra 2"/>
          <p:cNvSpPr/>
          <p:nvPr/>
        </p:nvSpPr>
        <p:spPr>
          <a:xfrm>
            <a:off x="1489600" y="2400000"/>
            <a:ext cx="300000" cy="2150000"/>
          </a:xfrm>
          <a:prstGeom prst="rect">
            <a:avLst/>
          </a:prstGeom>
          <a:solidFill>
            <a:srgbClr val="D9822B"/>
          </a:solidFill>
          <a:ln>
            <a:noFill/>
          </a:ln>
        </p:spPr>
        <p:txBody>
          <a:bodyPr wrap="square" lIns="91440" tIns="91440" rIns="91440" bIns="91440" rtlCol="0" anchor="ctr">
            <a:noAutofit/>
          </a:bodyPr>
          <a:lstStyle/>
          <a:p>
            <a:endParaRPr lang="it-IT"/>
          </a:p>
        </p:txBody>
      </p:sp>
      <p:sp>
        <p:nvSpPr>
          <p:cNvPr id="107" name="S1 rank 2"/>
          <p:cNvSpPr/>
          <p:nvPr/>
        </p:nvSpPr>
        <p:spPr>
          <a:xfrm>
            <a:off x="1389600" y="4600000"/>
            <a:ext cx="500000" cy="330000"/>
          </a:xfrm>
          <a:prstGeom prst="rect">
            <a:avLst/>
          </a:prstGeom>
          <a:noFill/>
          <a:ln>
            <a:noFill/>
          </a:ln>
        </p:spPr>
        <p:txBody>
          <a:bodyPr wrap="square" lIns="0" tIns="0" rIns="0" bIns="0" rtlCol="0" anchor="ctr">
            <a:noAutofit/>
          </a:bodyPr>
          <a:lstStyle/>
          <a:p>
            <a:pPr algn="ctr">
              <a:buNone/>
            </a:pPr>
            <a:r>
              <a:rPr lang="it-IT" sz="1600" b="1">
                <a:solidFill>
                  <a:srgbClr val="A85A12"/>
                </a:solidFill>
                <a:latin typeface="Arial" panose="020B0604020202020204" pitchFamily="34" charset="0"/>
                <a:cs typeface="Arial"/>
              </a:rPr>
              <a:t>3°</a:t>
            </a:r>
          </a:p>
        </p:txBody>
      </p:sp>
      <p:sp>
        <p:nvSpPr>
          <p:cNvPr id="108" name="S1 barra 3"/>
          <p:cNvSpPr/>
          <p:nvPr/>
        </p:nvSpPr>
        <p:spPr>
          <a:xfrm>
            <a:off x="1899600" y="2500001"/>
            <a:ext cx="300000" cy="2049999"/>
          </a:xfrm>
          <a:prstGeom prst="rect">
            <a:avLst/>
          </a:prstGeom>
          <a:solidFill>
            <a:srgbClr val="D9822B"/>
          </a:solidFill>
          <a:ln>
            <a:noFill/>
          </a:ln>
        </p:spPr>
        <p:txBody>
          <a:bodyPr wrap="square" lIns="91440" tIns="91440" rIns="91440" bIns="91440" rtlCol="0" anchor="ctr">
            <a:noAutofit/>
          </a:bodyPr>
          <a:lstStyle/>
          <a:p>
            <a:endParaRPr lang="it-IT"/>
          </a:p>
        </p:txBody>
      </p:sp>
      <p:sp>
        <p:nvSpPr>
          <p:cNvPr id="109" name="S1 rank 3"/>
          <p:cNvSpPr/>
          <p:nvPr/>
        </p:nvSpPr>
        <p:spPr>
          <a:xfrm>
            <a:off x="1799600" y="4600000"/>
            <a:ext cx="500000" cy="330000"/>
          </a:xfrm>
          <a:prstGeom prst="rect">
            <a:avLst/>
          </a:prstGeom>
          <a:noFill/>
          <a:ln>
            <a:noFill/>
          </a:ln>
        </p:spPr>
        <p:txBody>
          <a:bodyPr wrap="square" lIns="0" tIns="0" rIns="0" bIns="0" rtlCol="0" anchor="ctr">
            <a:noAutofit/>
          </a:bodyPr>
          <a:lstStyle/>
          <a:p>
            <a:pPr algn="ctr">
              <a:buNone/>
            </a:pPr>
            <a:r>
              <a:rPr lang="it-IT" sz="1600" b="1">
                <a:solidFill>
                  <a:srgbClr val="A85A12"/>
                </a:solidFill>
                <a:latin typeface="Arial" panose="020B0604020202020204" pitchFamily="34" charset="0"/>
                <a:cs typeface="Arial"/>
              </a:rPr>
              <a:t>4°</a:t>
            </a:r>
          </a:p>
        </p:txBody>
      </p:sp>
      <p:sp>
        <p:nvSpPr>
          <p:cNvPr id="110" name="S1 barra 4"/>
          <p:cNvSpPr/>
          <p:nvPr/>
        </p:nvSpPr>
        <p:spPr>
          <a:xfrm>
            <a:off x="2309600" y="4050000"/>
            <a:ext cx="300000" cy="500000"/>
          </a:xfrm>
          <a:prstGeom prst="rect">
            <a:avLst/>
          </a:prstGeom>
          <a:solidFill>
            <a:srgbClr val="C9D3DD"/>
          </a:solidFill>
          <a:ln>
            <a:noFill/>
          </a:ln>
        </p:spPr>
        <p:txBody>
          <a:bodyPr wrap="square" lIns="91440" tIns="91440" rIns="91440" bIns="91440" rtlCol="0" anchor="ctr">
            <a:noAutofit/>
          </a:bodyPr>
          <a:lstStyle/>
          <a:p>
            <a:endParaRPr lang="it-IT"/>
          </a:p>
        </p:txBody>
      </p:sp>
      <p:sp>
        <p:nvSpPr>
          <p:cNvPr id="111" name="S1 barra 5"/>
          <p:cNvSpPr/>
          <p:nvPr/>
        </p:nvSpPr>
        <p:spPr>
          <a:xfrm>
            <a:off x="2719600" y="4125000"/>
            <a:ext cx="300000" cy="425000"/>
          </a:xfrm>
          <a:prstGeom prst="rect">
            <a:avLst/>
          </a:prstGeom>
          <a:solidFill>
            <a:srgbClr val="C9D3DD"/>
          </a:solidFill>
          <a:ln>
            <a:noFill/>
          </a:ln>
        </p:spPr>
        <p:txBody>
          <a:bodyPr wrap="square" lIns="91440" tIns="91440" rIns="91440" bIns="91440" rtlCol="0" anchor="ctr">
            <a:noAutofit/>
          </a:bodyPr>
          <a:lstStyle/>
          <a:p>
            <a:endParaRPr lang="it-IT"/>
          </a:p>
        </p:txBody>
      </p:sp>
      <p:sp>
        <p:nvSpPr>
          <p:cNvPr id="112" name="S1 barra 6"/>
          <p:cNvSpPr/>
          <p:nvPr/>
        </p:nvSpPr>
        <p:spPr>
          <a:xfrm>
            <a:off x="3129600" y="4175000"/>
            <a:ext cx="300000" cy="375000"/>
          </a:xfrm>
          <a:prstGeom prst="rect">
            <a:avLst/>
          </a:prstGeom>
          <a:solidFill>
            <a:srgbClr val="C9D3DD"/>
          </a:solidFill>
          <a:ln>
            <a:noFill/>
          </a:ln>
        </p:spPr>
        <p:txBody>
          <a:bodyPr wrap="square" lIns="91440" tIns="91440" rIns="91440" bIns="91440" rtlCol="0" anchor="ctr">
            <a:noAutofit/>
          </a:bodyPr>
          <a:lstStyle/>
          <a:p>
            <a:endParaRPr lang="it-IT"/>
          </a:p>
        </p:txBody>
      </p:sp>
      <p:sp>
        <p:nvSpPr>
          <p:cNvPr id="113" name="S1 barra 7"/>
          <p:cNvSpPr/>
          <p:nvPr/>
        </p:nvSpPr>
        <p:spPr>
          <a:xfrm>
            <a:off x="3539600" y="4225000"/>
            <a:ext cx="300000" cy="325000"/>
          </a:xfrm>
          <a:prstGeom prst="rect">
            <a:avLst/>
          </a:prstGeom>
          <a:solidFill>
            <a:srgbClr val="C9D3DD"/>
          </a:solidFill>
          <a:ln>
            <a:noFill/>
          </a:ln>
        </p:spPr>
        <p:txBody>
          <a:bodyPr wrap="square" lIns="91440" tIns="91440" rIns="91440" bIns="91440" rtlCol="0" anchor="ctr">
            <a:noAutofit/>
          </a:bodyPr>
          <a:lstStyle/>
          <a:p>
            <a:endParaRPr lang="it-IT"/>
          </a:p>
        </p:txBody>
      </p:sp>
      <p:sp>
        <p:nvSpPr>
          <p:cNvPr id="114" name="S1 barra 8"/>
          <p:cNvSpPr/>
          <p:nvPr/>
        </p:nvSpPr>
        <p:spPr>
          <a:xfrm>
            <a:off x="3949600" y="4275000"/>
            <a:ext cx="300000" cy="275000"/>
          </a:xfrm>
          <a:prstGeom prst="rect">
            <a:avLst/>
          </a:prstGeom>
          <a:solidFill>
            <a:srgbClr val="C9D3DD"/>
          </a:solidFill>
          <a:ln>
            <a:noFill/>
          </a:ln>
        </p:spPr>
        <p:txBody>
          <a:bodyPr wrap="square" lIns="91440" tIns="91440" rIns="91440" bIns="91440" rtlCol="0" anchor="ctr">
            <a:noAutofit/>
          </a:bodyPr>
          <a:lstStyle/>
          <a:p>
            <a:endParaRPr lang="it-IT"/>
          </a:p>
        </p:txBody>
      </p:sp>
      <p:sp>
        <p:nvSpPr>
          <p:cNvPr id="115" name="S1 barra 9"/>
          <p:cNvSpPr/>
          <p:nvPr/>
        </p:nvSpPr>
        <p:spPr>
          <a:xfrm>
            <a:off x="4359600" y="4300000"/>
            <a:ext cx="300000" cy="250000"/>
          </a:xfrm>
          <a:prstGeom prst="rect">
            <a:avLst/>
          </a:prstGeom>
          <a:solidFill>
            <a:srgbClr val="C9D3DD"/>
          </a:solidFill>
          <a:ln>
            <a:noFill/>
          </a:ln>
        </p:spPr>
        <p:txBody>
          <a:bodyPr wrap="square" lIns="91440" tIns="91440" rIns="91440" bIns="91440" rtlCol="0" anchor="ctr">
            <a:noAutofit/>
          </a:bodyPr>
          <a:lstStyle/>
          <a:p>
            <a:endParaRPr lang="it-IT"/>
          </a:p>
        </p:txBody>
      </p:sp>
      <p:sp>
        <p:nvSpPr>
          <p:cNvPr id="116" name="S1 barra 10"/>
          <p:cNvSpPr/>
          <p:nvPr/>
        </p:nvSpPr>
        <p:spPr>
          <a:xfrm>
            <a:off x="4769600" y="4325000"/>
            <a:ext cx="300000" cy="225000"/>
          </a:xfrm>
          <a:prstGeom prst="rect">
            <a:avLst/>
          </a:prstGeom>
          <a:solidFill>
            <a:srgbClr val="C9D3DD"/>
          </a:solidFill>
          <a:ln>
            <a:noFill/>
          </a:ln>
        </p:spPr>
        <p:txBody>
          <a:bodyPr wrap="square" lIns="91440" tIns="91440" rIns="91440" bIns="91440" rtlCol="0" anchor="ctr">
            <a:noAutofit/>
          </a:bodyPr>
          <a:lstStyle/>
          <a:p>
            <a:endParaRPr lang="it-IT"/>
          </a:p>
        </p:txBody>
      </p:sp>
      <p:sp>
        <p:nvSpPr>
          <p:cNvPr id="117" name="S1 barra 11"/>
          <p:cNvSpPr/>
          <p:nvPr/>
        </p:nvSpPr>
        <p:spPr>
          <a:xfrm>
            <a:off x="5179600" y="4350000"/>
            <a:ext cx="300000" cy="200000"/>
          </a:xfrm>
          <a:prstGeom prst="rect">
            <a:avLst/>
          </a:prstGeom>
          <a:solidFill>
            <a:srgbClr val="C9D3DD"/>
          </a:solidFill>
          <a:ln>
            <a:noFill/>
          </a:ln>
        </p:spPr>
        <p:txBody>
          <a:bodyPr wrap="square" lIns="91440" tIns="91440" rIns="91440" bIns="91440" rtlCol="0" anchor="ctr">
            <a:noAutofit/>
          </a:bodyPr>
          <a:lstStyle/>
          <a:p>
            <a:endParaRPr lang="it-IT"/>
          </a:p>
        </p:txBody>
      </p:sp>
      <p:sp>
        <p:nvSpPr>
          <p:cNvPr id="118" name="S1 asse"/>
          <p:cNvSpPr/>
          <p:nvPr/>
        </p:nvSpPr>
        <p:spPr>
          <a:xfrm>
            <a:off x="609600" y="4550000"/>
            <a:ext cx="4900000" cy="12700"/>
          </a:xfrm>
          <a:prstGeom prst="rect">
            <a:avLst/>
          </a:prstGeom>
          <a:solidFill>
            <a:srgbClr val="6B7785"/>
          </a:solidFill>
          <a:ln>
            <a:noFill/>
          </a:ln>
        </p:spPr>
        <p:txBody>
          <a:bodyPr wrap="square" lIns="91440" tIns="91440" rIns="91440" bIns="91440" rtlCol="0" anchor="ctr">
            <a:noAutofit/>
          </a:bodyPr>
          <a:lstStyle/>
          <a:p>
            <a:endParaRPr lang="it-IT"/>
          </a:p>
        </p:txBody>
      </p:sp>
      <p:sp>
        <p:nvSpPr>
          <p:cNvPr id="119" name="S1 nota"/>
          <p:cNvSpPr/>
          <p:nvPr/>
        </p:nvSpPr>
        <p:spPr>
          <a:xfrm>
            <a:off x="609600" y="4970000"/>
            <a:ext cx="5000000" cy="330000"/>
          </a:xfrm>
          <a:prstGeom prst="rect">
            <a:avLst/>
          </a:prstGeom>
          <a:noFill/>
          <a:ln>
            <a:noFill/>
          </a:ln>
        </p:spPr>
        <p:txBody>
          <a:bodyPr wrap="square" lIns="0" tIns="0" rIns="0" bIns="0" rtlCol="0" anchor="ctr">
            <a:noAutofit/>
          </a:bodyPr>
          <a:lstStyle/>
          <a:p>
            <a:pPr algn="l">
              <a:buNone/>
            </a:pPr>
            <a:r>
              <a:rPr lang="it-IT" sz="1300" i="1">
                <a:solidFill>
                  <a:srgbClr val="6B7785"/>
                </a:solidFill>
                <a:latin typeface="Arial" panose="020B0604020202020204" pitchFamily="34" charset="0"/>
                <a:cs typeface="Arial"/>
              </a:rPr>
              <a:t>esiti dal più frequente al meno frequente · esempio illustrativo</a:t>
            </a:r>
          </a:p>
        </p:txBody>
      </p:sp>
      <p:sp>
        <p:nvSpPr>
          <p:cNvPr id="120" name="S1 riga 0"/>
          <p:cNvSpPr/>
          <p:nvPr/>
        </p:nvSpPr>
        <p:spPr>
          <a:xfrm>
            <a:off x="6100000" y="1400000"/>
            <a:ext cx="5482400" cy="1080000"/>
          </a:xfrm>
          <a:prstGeom prst="roundRect">
            <a:avLst>
              <a:gd name="adj" fmla="val 10000"/>
            </a:avLst>
          </a:prstGeom>
          <a:solidFill>
            <a:srgbClr val="EEF4F8"/>
          </a:solidFill>
          <a:ln w="14288">
            <a:solidFill>
              <a:srgbClr val="5084BF"/>
            </a:solidFill>
          </a:ln>
        </p:spPr>
        <p:txBody>
          <a:bodyPr wrap="square" lIns="91440" tIns="91440" rIns="91440" bIns="91440" rtlCol="0" anchor="ctr">
            <a:noAutofit/>
          </a:bodyPr>
          <a:lstStyle/>
          <a:p>
            <a:endParaRPr lang="it-IT"/>
          </a:p>
        </p:txBody>
      </p:sp>
      <p:sp>
        <p:nvSpPr>
          <p:cNvPr id="121" name="S1 lab 0"/>
          <p:cNvSpPr/>
          <p:nvPr/>
        </p:nvSpPr>
        <p:spPr>
          <a:xfrm>
            <a:off x="6280000" y="1510000"/>
            <a:ext cx="2600000" cy="450000"/>
          </a:xfrm>
          <a:prstGeom prst="rect">
            <a:avLst/>
          </a:prstGeom>
          <a:noFill/>
          <a:ln>
            <a:noFill/>
          </a:ln>
        </p:spPr>
        <p:txBody>
          <a:bodyPr wrap="square" lIns="0" tIns="0" rIns="0" bIns="0" rtlCol="0" anchor="t">
            <a:noAutofit/>
          </a:bodyPr>
          <a:lstStyle/>
          <a:p>
            <a:pPr algn="l">
              <a:buNone/>
            </a:pPr>
            <a:r>
              <a:rPr lang="it-IT" sz="2200" b="1">
                <a:solidFill>
                  <a:srgbClr val="003366"/>
                </a:solidFill>
                <a:latin typeface="Arial" panose="020B0604020202020204" pitchFamily="34" charset="0"/>
                <a:cs typeface="Arial"/>
              </a:rPr>
              <a:t>TOP-1</a:t>
            </a:r>
          </a:p>
        </p:txBody>
      </p:sp>
      <p:sp>
        <p:nvSpPr>
          <p:cNvPr id="122" name="S1 desc 0"/>
          <p:cNvSpPr/>
          <p:nvPr/>
        </p:nvSpPr>
        <p:spPr>
          <a:xfrm>
            <a:off x="6280000" y="1960000"/>
            <a:ext cx="2650000" cy="480000"/>
          </a:xfrm>
          <a:prstGeom prst="rect">
            <a:avLst/>
          </a:prstGeom>
          <a:noFill/>
          <a:ln>
            <a:noFill/>
          </a:ln>
        </p:spPr>
        <p:txBody>
          <a:bodyPr wrap="square" lIns="0" tIns="0" rIns="0" bIns="0" rtlCol="0" anchor="t">
            <a:noAutofit/>
          </a:bodyPr>
          <a:lstStyle/>
          <a:p>
            <a:pPr algn="l">
              <a:buNone/>
            </a:pPr>
            <a:r>
              <a:rPr lang="it-IT" sz="1400">
                <a:solidFill>
                  <a:srgbClr val="203344"/>
                </a:solidFill>
                <a:latin typeface="Arial" panose="020B0604020202020204" pitchFamily="34" charset="0"/>
                <a:cs typeface="Arial"/>
              </a:rPr>
              <a:t>verifica solo il primo</a:t>
            </a:r>
          </a:p>
        </p:txBody>
      </p:sp>
      <p:sp>
        <p:nvSpPr>
          <p:cNvPr id="123" name="S1 tile 00"/>
          <p:cNvSpPr/>
          <p:nvPr/>
        </p:nvSpPr>
        <p:spPr>
          <a:xfrm>
            <a:off x="9722400" y="1760000"/>
            <a:ext cx="360000" cy="360000"/>
          </a:xfrm>
          <a:prstGeom prst="roundRect">
            <a:avLst>
              <a:gd name="adj" fmla="val 15000"/>
            </a:avLst>
          </a:prstGeom>
          <a:solidFill>
            <a:srgbClr val="D9822B"/>
          </a:solidFill>
          <a:ln>
            <a:noFill/>
          </a:ln>
        </p:spPr>
        <p:txBody>
          <a:bodyPr wrap="square" lIns="0" tIns="0" rIns="0" bIns="0" rtlCol="0" anchor="ctr">
            <a:noAutofit/>
          </a:bodyPr>
          <a:lstStyle/>
          <a:p>
            <a:pPr algn="ctr">
              <a:buNone/>
            </a:pPr>
            <a:r>
              <a:rPr lang="it-IT" sz="1600" b="1">
                <a:solidFill>
                  <a:srgbClr val="FFFFFF"/>
                </a:solidFill>
                <a:latin typeface="Arial" panose="020B0604020202020204" pitchFamily="34" charset="0"/>
                <a:cs typeface="Arial"/>
              </a:rPr>
              <a:t>1</a:t>
            </a:r>
          </a:p>
        </p:txBody>
      </p:sp>
      <p:sp>
        <p:nvSpPr>
          <p:cNvPr id="124" name="S1 tile 01"/>
          <p:cNvSpPr/>
          <p:nvPr/>
        </p:nvSpPr>
        <p:spPr>
          <a:xfrm>
            <a:off x="10162400" y="1760000"/>
            <a:ext cx="360000" cy="360000"/>
          </a:xfrm>
          <a:prstGeom prst="roundRect">
            <a:avLst>
              <a:gd name="adj" fmla="val 15000"/>
            </a:avLst>
          </a:prstGeom>
          <a:solidFill>
            <a:srgbClr val="FFFFFF"/>
          </a:solidFill>
          <a:ln w="14288">
            <a:solidFill>
              <a:srgbClr val="C9D3DD"/>
            </a:solidFill>
          </a:ln>
        </p:spPr>
        <p:txBody>
          <a:bodyPr wrap="square" lIns="0" tIns="0" rIns="0" bIns="0" rtlCol="0" anchor="ctr">
            <a:noAutofit/>
          </a:bodyPr>
          <a:lstStyle/>
          <a:p>
            <a:pPr algn="ctr">
              <a:buNone/>
            </a:pPr>
            <a:r>
              <a:rPr lang="it-IT" sz="1600" b="1">
                <a:solidFill>
                  <a:srgbClr val="6B7785"/>
                </a:solidFill>
                <a:latin typeface="Arial" panose="020B0604020202020204" pitchFamily="34" charset="0"/>
                <a:cs typeface="Arial"/>
              </a:rPr>
              <a:t>2</a:t>
            </a:r>
          </a:p>
        </p:txBody>
      </p:sp>
      <p:sp>
        <p:nvSpPr>
          <p:cNvPr id="125" name="S1 tile 02"/>
          <p:cNvSpPr/>
          <p:nvPr/>
        </p:nvSpPr>
        <p:spPr>
          <a:xfrm>
            <a:off x="10602400" y="1760000"/>
            <a:ext cx="360000" cy="360000"/>
          </a:xfrm>
          <a:prstGeom prst="roundRect">
            <a:avLst>
              <a:gd name="adj" fmla="val 15000"/>
            </a:avLst>
          </a:prstGeom>
          <a:solidFill>
            <a:srgbClr val="FFFFFF"/>
          </a:solidFill>
          <a:ln w="14288">
            <a:solidFill>
              <a:srgbClr val="C9D3DD"/>
            </a:solidFill>
          </a:ln>
        </p:spPr>
        <p:txBody>
          <a:bodyPr wrap="square" lIns="0" tIns="0" rIns="0" bIns="0" rtlCol="0" anchor="ctr">
            <a:noAutofit/>
          </a:bodyPr>
          <a:lstStyle/>
          <a:p>
            <a:pPr algn="ctr">
              <a:buNone/>
            </a:pPr>
            <a:r>
              <a:rPr lang="it-IT" sz="1600" b="1">
                <a:solidFill>
                  <a:srgbClr val="6B7785"/>
                </a:solidFill>
                <a:latin typeface="Arial" panose="020B0604020202020204" pitchFamily="34" charset="0"/>
                <a:cs typeface="Arial"/>
              </a:rPr>
              <a:t>3</a:t>
            </a:r>
          </a:p>
        </p:txBody>
      </p:sp>
      <p:sp>
        <p:nvSpPr>
          <p:cNvPr id="126" name="S1 tile 03"/>
          <p:cNvSpPr/>
          <p:nvPr/>
        </p:nvSpPr>
        <p:spPr>
          <a:xfrm>
            <a:off x="11042400" y="1760000"/>
            <a:ext cx="360000" cy="360000"/>
          </a:xfrm>
          <a:prstGeom prst="roundRect">
            <a:avLst>
              <a:gd name="adj" fmla="val 15000"/>
            </a:avLst>
          </a:prstGeom>
          <a:solidFill>
            <a:srgbClr val="FFFFFF"/>
          </a:solidFill>
          <a:ln w="14288">
            <a:solidFill>
              <a:srgbClr val="C9D3DD"/>
            </a:solidFill>
          </a:ln>
        </p:spPr>
        <p:txBody>
          <a:bodyPr wrap="square" lIns="0" tIns="0" rIns="0" bIns="0" rtlCol="0" anchor="ctr">
            <a:noAutofit/>
          </a:bodyPr>
          <a:lstStyle/>
          <a:p>
            <a:pPr algn="ctr">
              <a:buNone/>
            </a:pPr>
            <a:r>
              <a:rPr lang="it-IT" sz="1600" b="1">
                <a:solidFill>
                  <a:srgbClr val="6B7785"/>
                </a:solidFill>
                <a:latin typeface="Arial" panose="020B0604020202020204" pitchFamily="34" charset="0"/>
                <a:cs typeface="Arial"/>
              </a:rPr>
              <a:t>4</a:t>
            </a:r>
          </a:p>
        </p:txBody>
      </p:sp>
      <p:sp>
        <p:nvSpPr>
          <p:cNvPr id="127" name="S1 riga 1"/>
          <p:cNvSpPr/>
          <p:nvPr/>
        </p:nvSpPr>
        <p:spPr>
          <a:xfrm>
            <a:off x="6100000" y="2650000"/>
            <a:ext cx="5482400" cy="1080000"/>
          </a:xfrm>
          <a:prstGeom prst="roundRect">
            <a:avLst>
              <a:gd name="adj" fmla="val 10000"/>
            </a:avLst>
          </a:prstGeom>
          <a:solidFill>
            <a:srgbClr val="EEF4F8"/>
          </a:solidFill>
          <a:ln w="14288">
            <a:solidFill>
              <a:srgbClr val="5084BF"/>
            </a:solidFill>
          </a:ln>
        </p:spPr>
        <p:txBody>
          <a:bodyPr wrap="square" lIns="91440" tIns="91440" rIns="91440" bIns="91440" rtlCol="0" anchor="ctr">
            <a:noAutofit/>
          </a:bodyPr>
          <a:lstStyle/>
          <a:p>
            <a:endParaRPr lang="it-IT"/>
          </a:p>
        </p:txBody>
      </p:sp>
      <p:sp>
        <p:nvSpPr>
          <p:cNvPr id="128" name="S1 lab 1"/>
          <p:cNvSpPr/>
          <p:nvPr/>
        </p:nvSpPr>
        <p:spPr>
          <a:xfrm>
            <a:off x="6280000" y="2760000"/>
            <a:ext cx="2600000" cy="450000"/>
          </a:xfrm>
          <a:prstGeom prst="rect">
            <a:avLst/>
          </a:prstGeom>
          <a:noFill/>
          <a:ln>
            <a:noFill/>
          </a:ln>
        </p:spPr>
        <p:txBody>
          <a:bodyPr wrap="square" lIns="0" tIns="0" rIns="0" bIns="0" rtlCol="0" anchor="t">
            <a:noAutofit/>
          </a:bodyPr>
          <a:lstStyle/>
          <a:p>
            <a:pPr algn="l">
              <a:buNone/>
            </a:pPr>
            <a:r>
              <a:rPr lang="it-IT" sz="2200" b="1">
                <a:solidFill>
                  <a:srgbClr val="003366"/>
                </a:solidFill>
                <a:latin typeface="Arial" panose="020B0604020202020204" pitchFamily="34" charset="0"/>
                <a:cs typeface="Arial"/>
              </a:rPr>
              <a:t>TOP-4</a:t>
            </a:r>
          </a:p>
        </p:txBody>
      </p:sp>
      <p:sp>
        <p:nvSpPr>
          <p:cNvPr id="129" name="S1 desc 1"/>
          <p:cNvSpPr/>
          <p:nvPr/>
        </p:nvSpPr>
        <p:spPr>
          <a:xfrm>
            <a:off x="6280000" y="3210000"/>
            <a:ext cx="2650000" cy="480000"/>
          </a:xfrm>
          <a:prstGeom prst="rect">
            <a:avLst/>
          </a:prstGeom>
          <a:noFill/>
          <a:ln>
            <a:noFill/>
          </a:ln>
        </p:spPr>
        <p:txBody>
          <a:bodyPr wrap="square" lIns="0" tIns="0" rIns="0" bIns="0" rtlCol="0" anchor="t">
            <a:noAutofit/>
          </a:bodyPr>
          <a:lstStyle/>
          <a:p>
            <a:pPr algn="l">
              <a:buNone/>
            </a:pPr>
            <a:r>
              <a:rPr lang="it-IT" sz="1400">
                <a:solidFill>
                  <a:srgbClr val="203344"/>
                </a:solidFill>
                <a:latin typeface="Arial" panose="020B0604020202020204" pitchFamily="34" charset="0"/>
                <a:cs typeface="Arial"/>
              </a:rPr>
              <a:t>verifica i primi quattro, uno alla volta</a:t>
            </a:r>
          </a:p>
        </p:txBody>
      </p:sp>
      <p:sp>
        <p:nvSpPr>
          <p:cNvPr id="130" name="S1 tile 10"/>
          <p:cNvSpPr/>
          <p:nvPr/>
        </p:nvSpPr>
        <p:spPr>
          <a:xfrm>
            <a:off x="9722400" y="3010000"/>
            <a:ext cx="360000" cy="360000"/>
          </a:xfrm>
          <a:prstGeom prst="roundRect">
            <a:avLst>
              <a:gd name="adj" fmla="val 15000"/>
            </a:avLst>
          </a:prstGeom>
          <a:solidFill>
            <a:srgbClr val="D9822B"/>
          </a:solidFill>
          <a:ln>
            <a:noFill/>
          </a:ln>
        </p:spPr>
        <p:txBody>
          <a:bodyPr wrap="square" lIns="0" tIns="0" rIns="0" bIns="0" rtlCol="0" anchor="ctr">
            <a:noAutofit/>
          </a:bodyPr>
          <a:lstStyle/>
          <a:p>
            <a:pPr algn="ctr">
              <a:buNone/>
            </a:pPr>
            <a:r>
              <a:rPr lang="it-IT" sz="1600" b="1">
                <a:solidFill>
                  <a:srgbClr val="FFFFFF"/>
                </a:solidFill>
                <a:latin typeface="Arial" panose="020B0604020202020204" pitchFamily="34" charset="0"/>
                <a:cs typeface="Arial"/>
              </a:rPr>
              <a:t>1</a:t>
            </a:r>
          </a:p>
        </p:txBody>
      </p:sp>
      <p:sp>
        <p:nvSpPr>
          <p:cNvPr id="131" name="S1 tile 11"/>
          <p:cNvSpPr/>
          <p:nvPr/>
        </p:nvSpPr>
        <p:spPr>
          <a:xfrm>
            <a:off x="10162400" y="3010000"/>
            <a:ext cx="360000" cy="360000"/>
          </a:xfrm>
          <a:prstGeom prst="roundRect">
            <a:avLst>
              <a:gd name="adj" fmla="val 15000"/>
            </a:avLst>
          </a:prstGeom>
          <a:solidFill>
            <a:srgbClr val="D9822B"/>
          </a:solidFill>
          <a:ln>
            <a:noFill/>
          </a:ln>
        </p:spPr>
        <p:txBody>
          <a:bodyPr wrap="square" lIns="0" tIns="0" rIns="0" bIns="0" rtlCol="0" anchor="ctr">
            <a:noAutofit/>
          </a:bodyPr>
          <a:lstStyle/>
          <a:p>
            <a:pPr algn="ctr">
              <a:buNone/>
            </a:pPr>
            <a:r>
              <a:rPr lang="it-IT" sz="1600" b="1">
                <a:solidFill>
                  <a:srgbClr val="FFFFFF"/>
                </a:solidFill>
                <a:latin typeface="Arial" panose="020B0604020202020204" pitchFamily="34" charset="0"/>
                <a:cs typeface="Arial"/>
              </a:rPr>
              <a:t>2</a:t>
            </a:r>
          </a:p>
        </p:txBody>
      </p:sp>
      <p:sp>
        <p:nvSpPr>
          <p:cNvPr id="132" name="S1 tile 12"/>
          <p:cNvSpPr/>
          <p:nvPr/>
        </p:nvSpPr>
        <p:spPr>
          <a:xfrm>
            <a:off x="10602400" y="3010000"/>
            <a:ext cx="360000" cy="360000"/>
          </a:xfrm>
          <a:prstGeom prst="roundRect">
            <a:avLst>
              <a:gd name="adj" fmla="val 15000"/>
            </a:avLst>
          </a:prstGeom>
          <a:solidFill>
            <a:srgbClr val="D9822B"/>
          </a:solidFill>
          <a:ln>
            <a:noFill/>
          </a:ln>
        </p:spPr>
        <p:txBody>
          <a:bodyPr wrap="square" lIns="0" tIns="0" rIns="0" bIns="0" rtlCol="0" anchor="ctr">
            <a:noAutofit/>
          </a:bodyPr>
          <a:lstStyle/>
          <a:p>
            <a:pPr algn="ctr">
              <a:buNone/>
            </a:pPr>
            <a:r>
              <a:rPr lang="it-IT" sz="1600" b="1">
                <a:solidFill>
                  <a:srgbClr val="FFFFFF"/>
                </a:solidFill>
                <a:latin typeface="Arial" panose="020B0604020202020204" pitchFamily="34" charset="0"/>
                <a:cs typeface="Arial"/>
              </a:rPr>
              <a:t>3</a:t>
            </a:r>
          </a:p>
        </p:txBody>
      </p:sp>
      <p:sp>
        <p:nvSpPr>
          <p:cNvPr id="133" name="S1 tile 13"/>
          <p:cNvSpPr/>
          <p:nvPr/>
        </p:nvSpPr>
        <p:spPr>
          <a:xfrm>
            <a:off x="11042400" y="3010000"/>
            <a:ext cx="360000" cy="360000"/>
          </a:xfrm>
          <a:prstGeom prst="roundRect">
            <a:avLst>
              <a:gd name="adj" fmla="val 15000"/>
            </a:avLst>
          </a:prstGeom>
          <a:solidFill>
            <a:srgbClr val="D9822B"/>
          </a:solidFill>
          <a:ln>
            <a:noFill/>
          </a:ln>
        </p:spPr>
        <p:txBody>
          <a:bodyPr wrap="square" lIns="0" tIns="0" rIns="0" bIns="0" rtlCol="0" anchor="ctr">
            <a:noAutofit/>
          </a:bodyPr>
          <a:lstStyle/>
          <a:p>
            <a:pPr algn="ctr">
              <a:buNone/>
            </a:pPr>
            <a:r>
              <a:rPr lang="it-IT" sz="1600" b="1">
                <a:solidFill>
                  <a:srgbClr val="FFFFFF"/>
                </a:solidFill>
                <a:latin typeface="Arial" panose="020B0604020202020204" pitchFamily="34" charset="0"/>
                <a:cs typeface="Arial"/>
              </a:rPr>
              <a:t>4</a:t>
            </a:r>
          </a:p>
        </p:txBody>
      </p:sp>
      <p:sp>
        <p:nvSpPr>
          <p:cNvPr id="134" name="S1 riga 2"/>
          <p:cNvSpPr/>
          <p:nvPr/>
        </p:nvSpPr>
        <p:spPr>
          <a:xfrm>
            <a:off x="6100000" y="3900000"/>
            <a:ext cx="5482400" cy="1080000"/>
          </a:xfrm>
          <a:prstGeom prst="roundRect">
            <a:avLst>
              <a:gd name="adj" fmla="val 10000"/>
            </a:avLst>
          </a:prstGeom>
          <a:solidFill>
            <a:srgbClr val="EEF4F8"/>
          </a:solidFill>
          <a:ln w="14288">
            <a:solidFill>
              <a:srgbClr val="5084BF"/>
            </a:solidFill>
          </a:ln>
        </p:spPr>
        <p:txBody>
          <a:bodyPr wrap="square" lIns="91440" tIns="91440" rIns="91440" bIns="91440" rtlCol="0" anchor="ctr">
            <a:noAutofit/>
          </a:bodyPr>
          <a:lstStyle/>
          <a:p>
            <a:endParaRPr lang="it-IT"/>
          </a:p>
        </p:txBody>
      </p:sp>
      <p:sp>
        <p:nvSpPr>
          <p:cNvPr id="135" name="S1 lab 2"/>
          <p:cNvSpPr/>
          <p:nvPr/>
        </p:nvSpPr>
        <p:spPr>
          <a:xfrm>
            <a:off x="6280000" y="4010000"/>
            <a:ext cx="2600000" cy="450000"/>
          </a:xfrm>
          <a:prstGeom prst="rect">
            <a:avLst/>
          </a:prstGeom>
          <a:noFill/>
          <a:ln>
            <a:noFill/>
          </a:ln>
        </p:spPr>
        <p:txBody>
          <a:bodyPr wrap="square" lIns="0" tIns="0" rIns="0" bIns="0" rtlCol="0" anchor="t">
            <a:noAutofit/>
          </a:bodyPr>
          <a:lstStyle/>
          <a:p>
            <a:pPr algn="l">
              <a:buNone/>
            </a:pPr>
            <a:r>
              <a:rPr lang="it-IT" sz="2200" b="1">
                <a:solidFill>
                  <a:srgbClr val="003366"/>
                </a:solidFill>
                <a:latin typeface="Arial" panose="020B0604020202020204" pitchFamily="34" charset="0"/>
                <a:cs typeface="Arial"/>
              </a:rPr>
              <a:t>Metodo 2</a:t>
            </a:r>
          </a:p>
        </p:txBody>
      </p:sp>
      <p:sp>
        <p:nvSpPr>
          <p:cNvPr id="136" name="S1 desc 2"/>
          <p:cNvSpPr/>
          <p:nvPr/>
        </p:nvSpPr>
        <p:spPr>
          <a:xfrm>
            <a:off x="6280000" y="4460000"/>
            <a:ext cx="2450000" cy="480000"/>
          </a:xfrm>
          <a:prstGeom prst="rect">
            <a:avLst/>
          </a:prstGeom>
          <a:noFill/>
          <a:ln>
            <a:noFill/>
          </a:ln>
        </p:spPr>
        <p:txBody>
          <a:bodyPr wrap="square" lIns="0" tIns="0" rIns="0" bIns="0" rtlCol="0" anchor="t">
            <a:noAutofit/>
          </a:bodyPr>
          <a:lstStyle/>
          <a:p>
            <a:pPr algn="l">
              <a:buNone/>
            </a:pPr>
            <a:r>
              <a:rPr lang="it-IT" sz="1400">
                <a:solidFill>
                  <a:srgbClr val="203344"/>
                </a:solidFill>
                <a:latin typeface="Arial" panose="020B0604020202020204" pitchFamily="34" charset="0"/>
                <a:cs typeface="Arial"/>
              </a:rPr>
              <a:t>TOP-4, ma solo se il classificatore ML approva</a:t>
            </a:r>
          </a:p>
        </p:txBody>
      </p:sp>
      <p:sp>
        <p:nvSpPr>
          <p:cNvPr id="137" name="S1 tile 20"/>
          <p:cNvSpPr/>
          <p:nvPr/>
        </p:nvSpPr>
        <p:spPr>
          <a:xfrm>
            <a:off x="9722400" y="4260000"/>
            <a:ext cx="360000" cy="360000"/>
          </a:xfrm>
          <a:prstGeom prst="roundRect">
            <a:avLst>
              <a:gd name="adj" fmla="val 15000"/>
            </a:avLst>
          </a:prstGeom>
          <a:solidFill>
            <a:srgbClr val="D9822B"/>
          </a:solidFill>
          <a:ln>
            <a:noFill/>
          </a:ln>
        </p:spPr>
        <p:txBody>
          <a:bodyPr wrap="square" lIns="0" tIns="0" rIns="0" bIns="0" rtlCol="0" anchor="ctr">
            <a:noAutofit/>
          </a:bodyPr>
          <a:lstStyle/>
          <a:p>
            <a:pPr algn="ctr">
              <a:buNone/>
            </a:pPr>
            <a:r>
              <a:rPr lang="it-IT" sz="1600" b="1">
                <a:solidFill>
                  <a:srgbClr val="FFFFFF"/>
                </a:solidFill>
                <a:latin typeface="Arial" panose="020B0604020202020204" pitchFamily="34" charset="0"/>
                <a:cs typeface="Arial"/>
              </a:rPr>
              <a:t>1</a:t>
            </a:r>
          </a:p>
        </p:txBody>
      </p:sp>
      <p:sp>
        <p:nvSpPr>
          <p:cNvPr id="138" name="S1 tile 21"/>
          <p:cNvSpPr/>
          <p:nvPr/>
        </p:nvSpPr>
        <p:spPr>
          <a:xfrm>
            <a:off x="10162400" y="4260000"/>
            <a:ext cx="360000" cy="360000"/>
          </a:xfrm>
          <a:prstGeom prst="roundRect">
            <a:avLst>
              <a:gd name="adj" fmla="val 15000"/>
            </a:avLst>
          </a:prstGeom>
          <a:solidFill>
            <a:srgbClr val="D9822B"/>
          </a:solidFill>
          <a:ln>
            <a:noFill/>
          </a:ln>
        </p:spPr>
        <p:txBody>
          <a:bodyPr wrap="square" lIns="0" tIns="0" rIns="0" bIns="0" rtlCol="0" anchor="ctr">
            <a:noAutofit/>
          </a:bodyPr>
          <a:lstStyle/>
          <a:p>
            <a:pPr algn="ctr">
              <a:buNone/>
            </a:pPr>
            <a:r>
              <a:rPr lang="it-IT" sz="1600" b="1">
                <a:solidFill>
                  <a:srgbClr val="FFFFFF"/>
                </a:solidFill>
                <a:latin typeface="Arial" panose="020B0604020202020204" pitchFamily="34" charset="0"/>
                <a:cs typeface="Arial"/>
              </a:rPr>
              <a:t>2</a:t>
            </a:r>
          </a:p>
        </p:txBody>
      </p:sp>
      <p:sp>
        <p:nvSpPr>
          <p:cNvPr id="139" name="S1 tile 22"/>
          <p:cNvSpPr/>
          <p:nvPr/>
        </p:nvSpPr>
        <p:spPr>
          <a:xfrm>
            <a:off x="10602400" y="4260000"/>
            <a:ext cx="360000" cy="360000"/>
          </a:xfrm>
          <a:prstGeom prst="roundRect">
            <a:avLst>
              <a:gd name="adj" fmla="val 15000"/>
            </a:avLst>
          </a:prstGeom>
          <a:solidFill>
            <a:srgbClr val="D9822B"/>
          </a:solidFill>
          <a:ln>
            <a:noFill/>
          </a:ln>
        </p:spPr>
        <p:txBody>
          <a:bodyPr wrap="square" lIns="0" tIns="0" rIns="0" bIns="0" rtlCol="0" anchor="ctr">
            <a:noAutofit/>
          </a:bodyPr>
          <a:lstStyle/>
          <a:p>
            <a:pPr algn="ctr">
              <a:buNone/>
            </a:pPr>
            <a:r>
              <a:rPr lang="it-IT" sz="1600" b="1">
                <a:solidFill>
                  <a:srgbClr val="FFFFFF"/>
                </a:solidFill>
                <a:latin typeface="Arial" panose="020B0604020202020204" pitchFamily="34" charset="0"/>
                <a:cs typeface="Arial"/>
              </a:rPr>
              <a:t>3</a:t>
            </a:r>
          </a:p>
        </p:txBody>
      </p:sp>
      <p:sp>
        <p:nvSpPr>
          <p:cNvPr id="140" name="S1 tile 23"/>
          <p:cNvSpPr/>
          <p:nvPr/>
        </p:nvSpPr>
        <p:spPr>
          <a:xfrm>
            <a:off x="11042400" y="4260000"/>
            <a:ext cx="360000" cy="360000"/>
          </a:xfrm>
          <a:prstGeom prst="roundRect">
            <a:avLst>
              <a:gd name="adj" fmla="val 15000"/>
            </a:avLst>
          </a:prstGeom>
          <a:solidFill>
            <a:srgbClr val="D9822B"/>
          </a:solidFill>
          <a:ln>
            <a:noFill/>
          </a:ln>
        </p:spPr>
        <p:txBody>
          <a:bodyPr wrap="square" lIns="0" tIns="0" rIns="0" bIns="0" rtlCol="0" anchor="ctr">
            <a:noAutofit/>
          </a:bodyPr>
          <a:lstStyle/>
          <a:p>
            <a:pPr algn="ctr">
              <a:buNone/>
            </a:pPr>
            <a:r>
              <a:rPr lang="it-IT" sz="1600" b="1">
                <a:solidFill>
                  <a:srgbClr val="FFFFFF"/>
                </a:solidFill>
                <a:latin typeface="Arial" panose="020B0604020202020204" pitchFamily="34" charset="0"/>
                <a:cs typeface="Arial"/>
              </a:rPr>
              <a:t>4</a:t>
            </a:r>
          </a:p>
        </p:txBody>
      </p:sp>
      <p:sp>
        <p:nvSpPr>
          <p:cNvPr id="141" name="S1 ml"/>
          <p:cNvSpPr/>
          <p:nvPr/>
        </p:nvSpPr>
        <p:spPr>
          <a:xfrm>
            <a:off x="8862400" y="4240000"/>
            <a:ext cx="700000" cy="400000"/>
          </a:xfrm>
          <a:prstGeom prst="roundRect">
            <a:avLst>
              <a:gd name="adj" fmla="val 50000"/>
            </a:avLst>
          </a:prstGeom>
          <a:solidFill>
            <a:srgbClr val="003366"/>
          </a:solidFill>
          <a:ln>
            <a:noFill/>
          </a:ln>
        </p:spPr>
        <p:txBody>
          <a:bodyPr wrap="square" lIns="0" tIns="0" rIns="0" bIns="0" rtlCol="0" anchor="ctr">
            <a:noAutofit/>
          </a:bodyPr>
          <a:lstStyle/>
          <a:p>
            <a:pPr algn="ctr">
              <a:buNone/>
            </a:pPr>
            <a:r>
              <a:rPr lang="it-IT" sz="1600" b="1">
                <a:solidFill>
                  <a:srgbClr val="FFFFFF"/>
                </a:solidFill>
                <a:latin typeface="Arial" panose="020B0604020202020204" pitchFamily="34" charset="0"/>
                <a:cs typeface="Arial"/>
              </a:rPr>
              <a:t>ML</a:t>
            </a:r>
          </a:p>
        </p:txBody>
      </p:sp>
      <p:sp>
        <p:nvSpPr>
          <p:cNvPr id="142" name="S1 ml freccia"/>
          <p:cNvSpPr/>
          <p:nvPr/>
        </p:nvSpPr>
        <p:spPr>
          <a:xfrm>
            <a:off x="9592400" y="4380000"/>
            <a:ext cx="100000" cy="120000"/>
          </a:xfrm>
          <a:prstGeom prst="rightArrow">
            <a:avLst/>
          </a:prstGeom>
          <a:solidFill>
            <a:srgbClr val="003366"/>
          </a:solidFill>
          <a:ln>
            <a:noFill/>
          </a:ln>
        </p:spPr>
        <p:txBody>
          <a:bodyPr wrap="square" lIns="91440" tIns="91440" rIns="91440" bIns="91440" rtlCol="0" anchor="ctr">
            <a:noAutofit/>
          </a:bodyPr>
          <a:lstStyle/>
          <a:p>
            <a:endParaRPr lang="it-IT"/>
          </a:p>
        </p:txBody>
      </p:sp>
      <p:sp>
        <p:nvSpPr>
          <p:cNvPr id="143" name="S1 domanda"/>
          <p:cNvSpPr/>
          <p:nvPr/>
        </p:nvSpPr>
        <p:spPr>
          <a:xfrm>
            <a:off x="609600" y="5550000"/>
            <a:ext cx="10972800" cy="950000"/>
          </a:xfrm>
          <a:prstGeom prst="roundRect">
            <a:avLst>
              <a:gd name="adj" fmla="val 15000"/>
            </a:avLst>
          </a:prstGeom>
          <a:solidFill>
            <a:srgbClr val="175F99"/>
          </a:solidFill>
          <a:ln>
            <a:noFill/>
          </a:ln>
        </p:spPr>
        <p:txBody>
          <a:bodyPr wrap="square" lIns="91440" tIns="91440" rIns="91440" bIns="91440" rtlCol="0" anchor="ctr">
            <a:noAutofit/>
          </a:bodyPr>
          <a:lstStyle/>
          <a:p>
            <a:pPr algn="ctr">
              <a:spcAft>
                <a:spcPts val="300"/>
              </a:spcAft>
              <a:buNone/>
            </a:pPr>
            <a:r>
              <a:rPr lang="it-IT" sz="1800" b="1">
                <a:solidFill>
                  <a:srgbClr val="FFFFFF"/>
                </a:solidFill>
                <a:latin typeface="Arial" panose="020B0604020202020204" pitchFamily="34" charset="0"/>
                <a:cs typeface="Arial"/>
              </a:rPr>
              <a:t>TOP-4 e Metodo 2 verificano gli stessi quattro esiti: cambia solo il ML.</a:t>
            </a:r>
          </a:p>
          <a:p>
            <a:pPr algn="ctr">
              <a:buNone/>
            </a:pPr>
            <a:r>
              <a:rPr lang="it-IT" sz="1800">
                <a:solidFill>
                  <a:srgbClr val="CFE0F1"/>
                </a:solidFill>
                <a:latin typeface="Arial" panose="020B0604020202020204" pitchFamily="34" charset="0"/>
                <a:cs typeface="Arial"/>
              </a:rPr>
              <a:t>Confrontandoli vedo se il machine learning serve davvero.</a:t>
            </a:r>
          </a:p>
        </p:txBody>
      </p:sp>
    </p:spTree>
    <p:extLst>
      <p:ext uri="{BB962C8B-B14F-4D97-AF65-F5344CB8AC3E}">
        <p14:creationId xmlns:p14="http://schemas.microsoft.com/office/powerpoint/2010/main" val="38825358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3" name="Picture 12" descr="v2_s14_iterazioni_primo_successo.png"/>
          <p:cNvPicPr>
            <a:picLocks noChangeAspect="1"/>
          </p:cNvPicPr>
          <p:nvPr/>
        </p:nvPicPr>
        <p:blipFill>
          <a:blip r:embed="rId3"/>
          <a:stretch>
            <a:fillRect/>
          </a:stretch>
        </p:blipFill>
        <p:spPr>
          <a:xfrm>
            <a:off x="609600" y="1428750"/>
            <a:ext cx="6333428" cy="4095750"/>
          </a:xfrm>
          <a:prstGeom prst="rect">
            <a:avLst/>
          </a:prstGeom>
        </p:spPr>
      </p:pic>
      <p:sp>
        <p:nvSpPr>
          <p:cNvPr id="11" name="Rectangle 10">
            <a:extLst>
              <a:ext uri="{FF2B5EF4-FFF2-40B4-BE49-F238E27FC236}">
                <a16:creationId xmlns:a16="http://schemas.microsoft.com/office/drawing/2014/main" id="{9E95F82B-CDE8-448E-B6D8-A3E05F218E05}"/>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1: il beneficio viene da TOP-4</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4"/>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441F74C-BA89-458E-AB53-0F4F7EFF5A41}"/>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ABD41A47-49F1-4096-92F6-B4B9DFAA222F}"/>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1 · Post-processing | 6</a:t>
            </a:r>
            <a:endParaRPr sz="1200" b="0">
              <a:solidFill>
                <a:srgbClr val="203344"/>
              </a:solidFill>
              <a:latin typeface="Arial"/>
              <a:ea typeface="Arial"/>
              <a:cs typeface="Arial"/>
            </a:endParaRPr>
          </a:p>
        </p:txBody>
      </p:sp>
      <p:sp>
        <p:nvSpPr>
          <p:cNvPr id="6" name="Rectangle 5">
            <a:extLst>
              <a:ext uri="{FF2B5EF4-FFF2-40B4-BE49-F238E27FC236}">
                <a16:creationId xmlns:a16="http://schemas.microsoft.com/office/drawing/2014/main" id="{37BF5463-337E-49AE-80CA-06E347012199}"/>
              </a:ext>
            </a:extLst>
          </p:cNvPr>
          <p:cNvSpPr>
            <a:spLocks noGrp="1"/>
          </p:cNvSpPr>
          <p:nvPr/>
        </p:nvSpPr>
        <p:spPr>
          <a:xfrm>
            <a:off x="7810500" y="1628775"/>
            <a:ext cx="3771900" cy="800100"/>
          </a:xfrm>
          <a:prstGeom prst="rect">
            <a:avLst/>
          </a:prstGeom>
          <a:noFill/>
          <a:ln w="0">
            <a:noFill/>
          </a:ln>
        </p:spPr>
        <p:txBody>
          <a:bodyPr>
            <a:noAutofit/>
          </a:bodyPr>
          <a:lstStyle/>
          <a:p>
            <a:pPr>
              <a:defRPr sz="5250" b="1">
                <a:solidFill>
                  <a:srgbClr val="175F99"/>
                </a:solidFill>
                <a:latin typeface="Arial"/>
                <a:ea typeface="Arial"/>
                <a:cs typeface="Arial"/>
              </a:defRPr>
            </a:pPr>
            <a:r>
              <a:rPr sz="5250" b="1">
                <a:solidFill>
                  <a:srgbClr val="B5641A"/>
                </a:solidFill>
                <a:latin typeface="Arial"/>
                <a:ea typeface="Arial"/>
                <a:cs typeface="Arial"/>
              </a:rPr>
              <a:t>1,00</a:t>
            </a:r>
          </a:p>
        </p:txBody>
      </p:sp>
      <p:sp>
        <p:nvSpPr>
          <p:cNvPr id="7" name="Rectangle 6">
            <a:extLst>
              <a:ext uri="{FF2B5EF4-FFF2-40B4-BE49-F238E27FC236}">
                <a16:creationId xmlns:a16="http://schemas.microsoft.com/office/drawing/2014/main" id="{BFC548CF-E898-4D0E-BA1B-8F970B902EDF}"/>
              </a:ext>
            </a:extLst>
          </p:cNvPr>
          <p:cNvSpPr>
            <a:spLocks noGrp="1"/>
          </p:cNvSpPr>
          <p:nvPr/>
        </p:nvSpPr>
        <p:spPr>
          <a:xfrm>
            <a:off x="7810500" y="2466975"/>
            <a:ext cx="3771900" cy="1095375"/>
          </a:xfrm>
          <a:prstGeom prst="rect">
            <a:avLst/>
          </a:prstGeom>
          <a:noFill/>
          <a:ln w="0">
            <a:noFill/>
          </a:ln>
        </p:spPr>
        <p:txBody>
          <a:bodyPr>
            <a:noAutofit/>
          </a:bodyPr>
          <a:lstStyle/>
          <a:p>
            <a:pPr>
              <a:defRPr sz="2025" b="0">
                <a:solidFill>
                  <a:srgbClr val="203344"/>
                </a:solidFill>
                <a:latin typeface="Arial"/>
                <a:ea typeface="Arial"/>
                <a:cs typeface="Arial"/>
              </a:defRPr>
            </a:pPr>
            <a:r>
              <a:rPr lang="it-IT" sz="2025" b="0">
                <a:solidFill>
                  <a:srgbClr val="203344"/>
                </a:solidFill>
                <a:latin typeface="Arial"/>
                <a:ea typeface="Arial"/>
                <a:cs typeface="Arial"/>
              </a:rPr>
              <a:t>tentativi medi con TOP-4</a:t>
            </a:r>
          </a:p>
          <a:p>
            <a:pPr>
              <a:defRPr sz="2025" b="0">
                <a:solidFill>
                  <a:srgbClr val="203344"/>
                </a:solidFill>
                <a:latin typeface="Arial"/>
                <a:ea typeface="Arial"/>
                <a:cs typeface="Arial"/>
              </a:defRPr>
            </a:pPr>
            <a:r>
              <a:rPr lang="it-IT" sz="2025" b="0">
                <a:solidFill>
                  <a:srgbClr val="203344"/>
                </a:solidFill>
                <a:latin typeface="Arial"/>
                <a:ea typeface="Arial"/>
                <a:cs typeface="Arial"/>
              </a:rPr>
              <a:t>(30 repliche su 30)</a:t>
            </a:r>
            <a:endParaRPr sz="2025" b="0">
              <a:solidFill>
                <a:srgbClr val="203344"/>
              </a:solidFill>
              <a:latin typeface="Arial"/>
              <a:ea typeface="Arial"/>
              <a:cs typeface="Arial"/>
            </a:endParaRPr>
          </a:p>
        </p:txBody>
      </p:sp>
      <p:sp>
        <p:nvSpPr>
          <p:cNvPr id="8" name="Rectangle 7">
            <a:extLst>
              <a:ext uri="{FF2B5EF4-FFF2-40B4-BE49-F238E27FC236}">
                <a16:creationId xmlns:a16="http://schemas.microsoft.com/office/drawing/2014/main" id="{1C2AA07C-8300-40A1-AF46-782A9117948E}"/>
              </a:ext>
            </a:extLst>
          </p:cNvPr>
          <p:cNvSpPr>
            <a:spLocks noGrp="1"/>
          </p:cNvSpPr>
          <p:nvPr/>
        </p:nvSpPr>
        <p:spPr>
          <a:xfrm>
            <a:off x="7810500" y="3714750"/>
            <a:ext cx="3771900" cy="1047750"/>
          </a:xfrm>
          <a:prstGeom prst="rect">
            <a:avLst/>
          </a:prstGeom>
          <a:noFill/>
          <a:ln w="0">
            <a:noFill/>
          </a:ln>
        </p:spPr>
        <p:txBody>
          <a:bodyPr>
            <a:noAutofit/>
          </a:bodyPr>
          <a:lstStyle/>
          <a:p>
            <a:pPr>
              <a:defRPr sz="2175" b="0">
                <a:solidFill>
                  <a:srgbClr val="203344"/>
                </a:solidFill>
                <a:latin typeface="Arial"/>
                <a:ea typeface="Arial"/>
                <a:cs typeface="Arial"/>
              </a:defRPr>
            </a:pPr>
            <a:r>
              <a:rPr lang="it-IT" sz="1725" b="1">
                <a:solidFill>
                  <a:srgbClr val="175F99"/>
                </a:solidFill>
                <a:latin typeface="Arial"/>
                <a:ea typeface="Arial"/>
                <a:cs typeface="Arial"/>
              </a:rPr>
              <a:t>Gli altri metodi (UC1 · UC2)</a:t>
            </a:r>
          </a:p>
          <a:p>
            <a:pPr>
              <a:defRPr sz="2175" b="0">
                <a:solidFill>
                  <a:srgbClr val="203344"/>
                </a:solidFill>
                <a:latin typeface="Arial"/>
                <a:ea typeface="Arial"/>
                <a:cs typeface="Arial"/>
              </a:defRPr>
            </a:pPr>
            <a:r>
              <a:rPr lang="it-IT">
                <a:solidFill>
                  <a:srgbClr val="203344"/>
                </a:solidFill>
                <a:latin typeface="Arial"/>
                <a:ea typeface="Arial"/>
                <a:cs typeface="Arial"/>
              </a:rPr>
              <a:t>TOP-1: 1,37 · 1,50</a:t>
            </a:r>
          </a:p>
          <a:p>
            <a:pPr>
              <a:defRPr sz="2175" b="0">
                <a:solidFill>
                  <a:srgbClr val="203344"/>
                </a:solidFill>
                <a:latin typeface="Arial"/>
                <a:ea typeface="Arial"/>
                <a:cs typeface="Arial"/>
              </a:defRPr>
            </a:pPr>
            <a:r>
              <a:rPr lang="it-IT">
                <a:solidFill>
                  <a:srgbClr val="203344"/>
                </a:solidFill>
                <a:latin typeface="Arial"/>
                <a:ea typeface="Arial"/>
                <a:cs typeface="Arial"/>
              </a:rPr>
              <a:t>Metodo 2: 1,50 · 1,37</a:t>
            </a:r>
            <a:endParaRPr>
              <a:solidFill>
                <a:srgbClr val="203344"/>
              </a:solidFill>
              <a:latin typeface="Arial"/>
              <a:ea typeface="Arial"/>
              <a:cs typeface="Arial"/>
            </a:endParaRPr>
          </a:p>
        </p:txBody>
      </p:sp>
      <p:sp>
        <p:nvSpPr>
          <p:cNvPr id="10" name="Rectangle 9">
            <a:extLst>
              <a:ext uri="{FF2B5EF4-FFF2-40B4-BE49-F238E27FC236}">
                <a16:creationId xmlns:a16="http://schemas.microsoft.com/office/drawing/2014/main" id="{A7AC68A4-E2EE-4085-845B-47EDAAA6D577}"/>
              </a:ext>
            </a:extLst>
          </p:cNvPr>
          <p:cNvSpPr>
            <a:spLocks noGrp="1"/>
          </p:cNvSpPr>
          <p:nvPr/>
        </p:nvSpPr>
        <p:spPr>
          <a:xfrm>
            <a:off x="609600" y="6229350"/>
            <a:ext cx="10972800" cy="495300"/>
          </a:xfrm>
          <a:prstGeom prst="rect">
            <a:avLst/>
          </a:prstGeom>
          <a:noFill/>
          <a:ln w="0">
            <a:noFill/>
          </a:ln>
        </p:spPr>
        <p:txBody>
          <a:bodyPr>
            <a:noAutofit/>
          </a:bodyPr>
          <a:lstStyle/>
          <a:p>
            <a:pPr>
              <a:defRPr sz="1950" b="1">
                <a:solidFill>
                  <a:srgbClr val="175F99"/>
                </a:solidFill>
                <a:latin typeface="Arial"/>
                <a:ea typeface="Arial"/>
                <a:cs typeface="Arial"/>
              </a:defRPr>
            </a:pPr>
            <a:r>
              <a:rPr lang="it-IT" sz="1950" b="1">
                <a:solidFill>
                  <a:srgbClr val="175F99"/>
                </a:solidFill>
                <a:latin typeface="Arial"/>
                <a:ea typeface="Arial"/>
                <a:cs typeface="Arial"/>
              </a:rPr>
              <a:t>Il vantaggio viene dai candidati in più, non dal machine learning.</a:t>
            </a:r>
            <a:endParaRPr sz="1950" b="1">
              <a:solidFill>
                <a:srgbClr val="175F99"/>
              </a:solidFill>
              <a:latin typeface="Arial"/>
              <a:ea typeface="Arial"/>
              <a:cs typeface="Arial"/>
            </a:endParaRPr>
          </a:p>
        </p:txBody>
      </p:sp>
      <p:sp>
        <p:nvSpPr>
          <p:cNvPr id="14" name="TextBox 13"/>
          <p:cNvSpPr txBox="1"/>
          <p:nvPr/>
        </p:nvSpPr>
        <p:spPr>
          <a:xfrm>
            <a:off x="7810500" y="4857750"/>
            <a:ext cx="3771900" cy="476250"/>
          </a:xfrm>
          <a:prstGeom prst="rect">
            <a:avLst/>
          </a:prstGeom>
          <a:noFill/>
        </p:spPr>
        <p:txBody>
          <a:bodyPr wrap="square">
            <a:spAutoFit/>
          </a:bodyPr>
          <a:lstStyle/>
          <a:p>
            <a:r>
              <a:rPr sz="1300" b="1">
                <a:solidFill>
                  <a:srgbClr val="B8621B"/>
                </a:solidFill>
              </a:rPr>
              <a:t>Metodo 2 peggiore di TOP-4: p = 0,003 (UC1) e 0,010 (UC2), test appaiato con correzione di Holm</a:t>
            </a:r>
          </a:p>
        </p:txBody>
      </p:sp>
      <p:sp>
        <p:nvSpPr>
          <p:cNvPr id="15" name="TextBox 14"/>
          <p:cNvSpPr txBox="1"/>
          <p:nvPr/>
        </p:nvSpPr>
        <p:spPr>
          <a:xfrm>
            <a:off x="7810500" y="5476875"/>
            <a:ext cx="3771900" cy="381000"/>
          </a:xfrm>
          <a:prstGeom prst="rect">
            <a:avLst/>
          </a:prstGeom>
          <a:noFill/>
        </p:spPr>
        <p:txBody>
          <a:bodyPr wrap="square">
            <a:spAutoFit/>
          </a:bodyPr>
          <a:lstStyle/>
          <a:p>
            <a:r>
              <a:rPr sz="1200" b="0">
                <a:solidFill>
                  <a:srgbClr val="5B6573"/>
                </a:solidFill>
              </a:rPr>
              <a:t>UC1 e UC2: due preset di rumore uniforme, illustrativi; 30 repliche ciascuno.</a:t>
            </a:r>
          </a:p>
        </p:txBody>
      </p:sp>
    </p:spTree>
    <p:extLst>
      <p:ext uri="{BB962C8B-B14F-4D97-AF65-F5344CB8AC3E}">
        <p14:creationId xmlns:p14="http://schemas.microsoft.com/office/powerpoint/2010/main" val="29869049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1A0FE10-7D08-45A5-9369-B8A8D92211C3}"/>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Strategia 2: correzione quantistica degli errori</a:t>
            </a:r>
            <a:endParaRPr sz="2700" b="0">
              <a:solidFill>
                <a:srgbClr val="003366"/>
              </a:solidFill>
              <a:latin typeface="Arial"/>
              <a:ea typeface="Arial"/>
              <a:cs typeface="Arial"/>
            </a:endParaRPr>
          </a:p>
        </p:txBody>
      </p:sp>
      <p:pic>
        <p:nvPicPr>
          <p:cNvPr id="17" name="Picture 16"/>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C63BB1C7-E1F5-4EAD-96B7-5E2DB8BF621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CD7F7CC-AA63-4989-8F76-D977A27FE48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2 · Correzione degli errori | 7</a:t>
            </a:r>
            <a:endParaRPr sz="1200" b="0">
              <a:solidFill>
                <a:srgbClr val="203344"/>
              </a:solidFill>
              <a:latin typeface="Arial"/>
              <a:ea typeface="Arial"/>
              <a:cs typeface="Arial"/>
            </a:endParaRPr>
          </a:p>
        </p:txBody>
      </p:sp>
      <p:sp>
        <p:nvSpPr>
          <p:cNvPr id="2" name="TextBox 1">
            <a:extLst>
              <a:ext uri="{FF2B5EF4-FFF2-40B4-BE49-F238E27FC236}">
                <a16:creationId xmlns:a16="http://schemas.microsoft.com/office/drawing/2014/main" id="{02CC2BCD-8065-AF14-A761-223B420003D9}"/>
              </a:ext>
            </a:extLst>
          </p:cNvPr>
          <p:cNvSpPr txBox="1"/>
          <p:nvPr/>
        </p:nvSpPr>
        <p:spPr>
          <a:xfrm>
            <a:off x="609600" y="1244600"/>
            <a:ext cx="10972800" cy="369332"/>
          </a:xfrm>
          <a:prstGeom prst="rect">
            <a:avLst/>
          </a:prstGeom>
          <a:noFill/>
        </p:spPr>
        <p:txBody>
          <a:bodyPr vert="horz" wrap="square" rtlCol="0">
            <a:noAutofit/>
          </a:bodyPr>
          <a:lstStyle/>
          <a:p>
            <a:r>
              <a:rPr lang="it-IT" sz="1725">
                <a:solidFill>
                  <a:srgbClr val="203344"/>
                </a:solidFill>
                <a:latin typeface="Arial" panose="020B0604020202020204" pitchFamily="34" charset="0"/>
              </a:rPr>
              <a:t>Più qubit fisici proteggono un qubit logico</a:t>
            </a:r>
          </a:p>
        </p:txBody>
      </p:sp>
      <p:sp>
        <p:nvSpPr>
          <p:cNvPr id="27" name="TextBox 26">
            <a:extLst>
              <a:ext uri="{FF2B5EF4-FFF2-40B4-BE49-F238E27FC236}">
                <a16:creationId xmlns:a16="http://schemas.microsoft.com/office/drawing/2014/main" id="{F0CC65BC-FC56-74B3-8292-99AF6B487F00}"/>
              </a:ext>
            </a:extLst>
          </p:cNvPr>
          <p:cNvSpPr txBox="1"/>
          <p:nvPr/>
        </p:nvSpPr>
        <p:spPr>
          <a:xfrm>
            <a:off x="609600" y="6150000"/>
            <a:ext cx="10972800" cy="450000"/>
          </a:xfrm>
          <a:prstGeom prst="rect">
            <a:avLst/>
          </a:prstGeom>
          <a:noFill/>
        </p:spPr>
        <p:txBody>
          <a:bodyPr vert="horz" wrap="square" rtlCol="0">
            <a:noAutofit/>
          </a:bodyPr>
          <a:lstStyle/>
          <a:p>
            <a:r>
              <a:rPr lang="it-IT" sz="1950" b="1">
                <a:solidFill>
                  <a:srgbClr val="175F99"/>
                </a:solidFill>
                <a:latin typeface="Arial" panose="020B0604020202020204" pitchFamily="34" charset="0"/>
              </a:rPr>
              <a:t>Stessa idea, due compromessi: protezione contro numero di qubit.</a:t>
            </a:r>
          </a:p>
        </p:txBody>
      </p:sp>
      <p:sp>
        <p:nvSpPr>
          <p:cNvPr id="5" name="Titolo Surface code">
            <a:extLst>
              <a:ext uri="{FF2B5EF4-FFF2-40B4-BE49-F238E27FC236}">
                <a16:creationId xmlns:a16="http://schemas.microsoft.com/office/drawing/2014/main" id="{4C3B8168-C5E4-C943-B290-4CCC46E463FC}"/>
              </a:ext>
            </a:extLst>
          </p:cNvPr>
          <p:cNvSpPr txBox="1"/>
          <p:nvPr/>
        </p:nvSpPr>
        <p:spPr>
          <a:xfrm>
            <a:off x="698500" y="1981200"/>
            <a:ext cx="4927600" cy="276999"/>
          </a:xfrm>
          <a:prstGeom prst="rect">
            <a:avLst/>
          </a:prstGeom>
          <a:noFill/>
        </p:spPr>
        <p:txBody>
          <a:bodyPr vert="horz" wrap="square" lIns="0" tIns="0" rIns="0" bIns="0" rtlCol="0">
            <a:noAutofit/>
          </a:bodyPr>
          <a:lstStyle/>
          <a:p>
            <a:r>
              <a:rPr lang="en-GB" sz="2500" b="1">
                <a:solidFill>
                  <a:srgbClr val="003366"/>
                </a:solidFill>
                <a:latin typeface="Arial" panose="020B0604020202020204" pitchFamily="34" charset="0"/>
              </a:rPr>
              <a:t>Surface code</a:t>
            </a:r>
          </a:p>
        </p:txBody>
      </p:sp>
      <p:sp>
        <p:nvSpPr>
          <p:cNvPr id="6" name="Ruolo Surface code">
            <a:extLst>
              <a:ext uri="{FF2B5EF4-FFF2-40B4-BE49-F238E27FC236}">
                <a16:creationId xmlns:a16="http://schemas.microsoft.com/office/drawing/2014/main" id="{7DF6681A-B258-27C8-CF42-98391475DB04}"/>
              </a:ext>
            </a:extLst>
          </p:cNvPr>
          <p:cNvSpPr txBox="1"/>
          <p:nvPr/>
        </p:nvSpPr>
        <p:spPr>
          <a:xfrm>
            <a:off x="698500" y="2501900"/>
            <a:ext cx="4927600" cy="276999"/>
          </a:xfrm>
          <a:prstGeom prst="rect">
            <a:avLst/>
          </a:prstGeom>
          <a:noFill/>
        </p:spPr>
        <p:txBody>
          <a:bodyPr vert="horz" wrap="square" lIns="0" tIns="0" rIns="0" bIns="0" rtlCol="0">
            <a:noAutofit/>
          </a:bodyPr>
          <a:lstStyle/>
          <a:p>
            <a:r>
              <a:rPr lang="en-GB" sz="1500">
                <a:solidFill>
                  <a:srgbClr val="677586"/>
                </a:solidFill>
                <a:latin typeface="Arial" panose="020B0604020202020204" pitchFamily="34" charset="0"/>
              </a:rPr>
              <a:t>Il riferimento</a:t>
            </a:r>
          </a:p>
        </p:txBody>
      </p:sp>
      <p:sp>
        <p:nvSpPr>
          <p:cNvPr id="7" name="Qubit Surface code">
            <a:extLst>
              <a:ext uri="{FF2B5EF4-FFF2-40B4-BE49-F238E27FC236}">
                <a16:creationId xmlns:a16="http://schemas.microsoft.com/office/drawing/2014/main" id="{2D8FCC40-D242-5095-4B76-7A6A2A9C68D5}"/>
              </a:ext>
            </a:extLst>
          </p:cNvPr>
          <p:cNvSpPr txBox="1"/>
          <p:nvPr/>
        </p:nvSpPr>
        <p:spPr>
          <a:xfrm>
            <a:off x="698500" y="2870200"/>
            <a:ext cx="4953000" cy="276999"/>
          </a:xfrm>
          <a:prstGeom prst="rect">
            <a:avLst/>
          </a:prstGeom>
          <a:noFill/>
        </p:spPr>
        <p:txBody>
          <a:bodyPr vert="horz" wrap="square" lIns="0" tIns="0" rIns="0" bIns="0" rtlCol="0">
            <a:noAutofit/>
          </a:bodyPr>
          <a:lstStyle/>
          <a:p>
            <a:r>
              <a:rPr lang="en-GB" sz="6000" b="1">
                <a:solidFill>
                  <a:srgbClr val="1963A0"/>
                </a:solidFill>
                <a:latin typeface="Arial" panose="020B0604020202020204" pitchFamily="34" charset="0"/>
              </a:rPr>
              <a:t>~2000</a:t>
            </a:r>
          </a:p>
        </p:txBody>
      </p:sp>
      <p:sp>
        <p:nvSpPr>
          <p:cNvPr id="8" name="Unita Surface code">
            <a:extLst>
              <a:ext uri="{FF2B5EF4-FFF2-40B4-BE49-F238E27FC236}">
                <a16:creationId xmlns:a16="http://schemas.microsoft.com/office/drawing/2014/main" id="{D91D9651-E68E-0550-75C5-9D9B1CE41E2E}"/>
              </a:ext>
            </a:extLst>
          </p:cNvPr>
          <p:cNvSpPr txBox="1"/>
          <p:nvPr/>
        </p:nvSpPr>
        <p:spPr>
          <a:xfrm>
            <a:off x="698500" y="3835400"/>
            <a:ext cx="4953000" cy="276999"/>
          </a:xfrm>
          <a:prstGeom prst="rect">
            <a:avLst/>
          </a:prstGeom>
          <a:noFill/>
        </p:spPr>
        <p:txBody>
          <a:bodyPr vert="horz" wrap="square" lIns="0" tIns="0" rIns="0" bIns="0" rtlCol="0">
            <a:noAutofit/>
          </a:bodyPr>
          <a:lstStyle/>
          <a:p>
            <a:r>
              <a:rPr lang="it-IT">
                <a:solidFill>
                  <a:srgbClr val="23374A"/>
                </a:solidFill>
                <a:latin typeface="Arial" panose="020B0604020202020204" pitchFamily="34" charset="0"/>
              </a:rPr>
              <a:t>qubit fisici per 12 qubit logici</a:t>
            </a:r>
            <a:endParaRPr lang="en-GB">
              <a:solidFill>
                <a:srgbClr val="23374A"/>
              </a:solidFill>
              <a:latin typeface="Arial" panose="020B0604020202020204" pitchFamily="34" charset="0"/>
            </a:endParaRPr>
          </a:p>
        </p:txBody>
      </p:sp>
      <p:sp>
        <p:nvSpPr>
          <p:cNvPr id="9" name="Descrizione Surface code">
            <a:extLst>
              <a:ext uri="{FF2B5EF4-FFF2-40B4-BE49-F238E27FC236}">
                <a16:creationId xmlns:a16="http://schemas.microsoft.com/office/drawing/2014/main" id="{3504FA27-35EF-0675-401B-2148BAA6C791}"/>
              </a:ext>
            </a:extLst>
          </p:cNvPr>
          <p:cNvSpPr txBox="1"/>
          <p:nvPr/>
        </p:nvSpPr>
        <p:spPr>
          <a:xfrm>
            <a:off x="698500" y="4292600"/>
            <a:ext cx="4953000" cy="276999"/>
          </a:xfrm>
          <a:prstGeom prst="rect">
            <a:avLst/>
          </a:prstGeom>
          <a:noFill/>
        </p:spPr>
        <p:txBody>
          <a:bodyPr vert="horz" wrap="square" lIns="0" tIns="0" rIns="0" bIns="0" rtlCol="0">
            <a:noAutofit/>
          </a:bodyPr>
          <a:lstStyle/>
          <a:p>
            <a:r>
              <a:rPr lang="it-IT" sz="1600">
                <a:solidFill>
                  <a:srgbClr val="23374A"/>
                </a:solidFill>
                <a:latin typeface="Arial" panose="020B0604020202020204" pitchFamily="34" charset="0"/>
              </a:rPr>
              <a:t>Robusto, ma richiede molti qubit</a:t>
            </a:r>
            <a:endParaRPr lang="en-GB" sz="1600">
              <a:solidFill>
                <a:srgbClr val="23374A"/>
              </a:solidFill>
              <a:latin typeface="Arial" panose="020B0604020202020204" pitchFamily="34" charset="0"/>
            </a:endParaRPr>
          </a:p>
        </p:txBody>
      </p:sp>
      <p:sp>
        <p:nvSpPr>
          <p:cNvPr id="10" name="Titolo Gross code">
            <a:extLst>
              <a:ext uri="{FF2B5EF4-FFF2-40B4-BE49-F238E27FC236}">
                <a16:creationId xmlns:a16="http://schemas.microsoft.com/office/drawing/2014/main" id="{973640EB-055A-3E1F-5712-49253DC62188}"/>
              </a:ext>
            </a:extLst>
          </p:cNvPr>
          <p:cNvSpPr txBox="1"/>
          <p:nvPr/>
        </p:nvSpPr>
        <p:spPr>
          <a:xfrm>
            <a:off x="6413500" y="1981200"/>
            <a:ext cx="4953000" cy="276999"/>
          </a:xfrm>
          <a:prstGeom prst="rect">
            <a:avLst/>
          </a:prstGeom>
          <a:noFill/>
        </p:spPr>
        <p:txBody>
          <a:bodyPr vert="horz" wrap="square" lIns="0" tIns="0" rIns="0" bIns="0" rtlCol="0">
            <a:noAutofit/>
          </a:bodyPr>
          <a:lstStyle/>
          <a:p>
            <a:r>
              <a:rPr lang="en-GB" sz="2500" b="1">
                <a:solidFill>
                  <a:srgbClr val="003366"/>
                </a:solidFill>
                <a:latin typeface="Arial" panose="020B0604020202020204" pitchFamily="34" charset="0"/>
              </a:rPr>
              <a:t>Gross code</a:t>
            </a:r>
          </a:p>
        </p:txBody>
      </p:sp>
      <p:sp>
        <p:nvSpPr>
          <p:cNvPr id="11" name="Ruolo Gross code">
            <a:extLst>
              <a:ext uri="{FF2B5EF4-FFF2-40B4-BE49-F238E27FC236}">
                <a16:creationId xmlns:a16="http://schemas.microsoft.com/office/drawing/2014/main" id="{1CB297D8-F2DE-E630-334B-29572DF3614C}"/>
              </a:ext>
            </a:extLst>
          </p:cNvPr>
          <p:cNvSpPr txBox="1"/>
          <p:nvPr/>
        </p:nvSpPr>
        <p:spPr>
          <a:xfrm>
            <a:off x="6413500" y="2501900"/>
            <a:ext cx="4953000" cy="276999"/>
          </a:xfrm>
          <a:prstGeom prst="rect">
            <a:avLst/>
          </a:prstGeom>
          <a:noFill/>
        </p:spPr>
        <p:txBody>
          <a:bodyPr vert="horz" wrap="square" lIns="0" tIns="0" rIns="0" bIns="0" rtlCol="0">
            <a:noAutofit/>
          </a:bodyPr>
          <a:lstStyle/>
          <a:p>
            <a:r>
              <a:rPr lang="en-GB" sz="1500">
                <a:solidFill>
                  <a:srgbClr val="677586"/>
                </a:solidFill>
                <a:latin typeface="Arial" panose="020B0604020202020204" pitchFamily="34" charset="0"/>
              </a:rPr>
              <a:t>L'alternativa di IBM</a:t>
            </a:r>
          </a:p>
        </p:txBody>
      </p:sp>
      <p:sp>
        <p:nvSpPr>
          <p:cNvPr id="12" name="Qubit Gross code">
            <a:extLst>
              <a:ext uri="{FF2B5EF4-FFF2-40B4-BE49-F238E27FC236}">
                <a16:creationId xmlns:a16="http://schemas.microsoft.com/office/drawing/2014/main" id="{0F14DDA5-5873-1937-E78F-8F9166D6CC05}"/>
              </a:ext>
            </a:extLst>
          </p:cNvPr>
          <p:cNvSpPr txBox="1"/>
          <p:nvPr/>
        </p:nvSpPr>
        <p:spPr>
          <a:xfrm>
            <a:off x="6413500" y="2870200"/>
            <a:ext cx="4953000" cy="276999"/>
          </a:xfrm>
          <a:prstGeom prst="rect">
            <a:avLst/>
          </a:prstGeom>
          <a:noFill/>
        </p:spPr>
        <p:txBody>
          <a:bodyPr vert="horz" wrap="square" lIns="0" tIns="0" rIns="0" bIns="0" rtlCol="0">
            <a:noAutofit/>
          </a:bodyPr>
          <a:lstStyle/>
          <a:p>
            <a:r>
              <a:rPr lang="en-GB" sz="6000" b="1">
                <a:solidFill>
                  <a:srgbClr val="DB8221"/>
                </a:solidFill>
                <a:latin typeface="Arial" panose="020B0604020202020204" pitchFamily="34" charset="0"/>
              </a:rPr>
              <a:t>144</a:t>
            </a:r>
          </a:p>
        </p:txBody>
      </p:sp>
      <p:sp>
        <p:nvSpPr>
          <p:cNvPr id="13" name="Unita Gross code">
            <a:extLst>
              <a:ext uri="{FF2B5EF4-FFF2-40B4-BE49-F238E27FC236}">
                <a16:creationId xmlns:a16="http://schemas.microsoft.com/office/drawing/2014/main" id="{C81A07BC-1E1B-6A9A-6473-DB8D28D44186}"/>
              </a:ext>
            </a:extLst>
          </p:cNvPr>
          <p:cNvSpPr txBox="1"/>
          <p:nvPr/>
        </p:nvSpPr>
        <p:spPr>
          <a:xfrm>
            <a:off x="6413500" y="3835400"/>
            <a:ext cx="4953000" cy="276999"/>
          </a:xfrm>
          <a:prstGeom prst="rect">
            <a:avLst/>
          </a:prstGeom>
          <a:noFill/>
        </p:spPr>
        <p:txBody>
          <a:bodyPr vert="horz" wrap="square" lIns="0" tIns="0" rIns="0" bIns="0" rtlCol="0">
            <a:noAutofit/>
          </a:bodyPr>
          <a:lstStyle/>
          <a:p>
            <a:r>
              <a:rPr lang="it-IT">
                <a:solidFill>
                  <a:srgbClr val="23374A"/>
                </a:solidFill>
                <a:latin typeface="Arial" panose="020B0604020202020204" pitchFamily="34" charset="0"/>
              </a:rPr>
              <a:t>qubit fisici per 12 qubit logici</a:t>
            </a:r>
            <a:endParaRPr lang="en-GB">
              <a:solidFill>
                <a:srgbClr val="23374A"/>
              </a:solidFill>
              <a:latin typeface="Arial" panose="020B0604020202020204" pitchFamily="34" charset="0"/>
            </a:endParaRPr>
          </a:p>
        </p:txBody>
      </p:sp>
      <p:sp>
        <p:nvSpPr>
          <p:cNvPr id="14" name="Descrizione Gross code">
            <a:extLst>
              <a:ext uri="{FF2B5EF4-FFF2-40B4-BE49-F238E27FC236}">
                <a16:creationId xmlns:a16="http://schemas.microsoft.com/office/drawing/2014/main" id="{F7B33801-480E-0AAC-E234-13A17499D7EF}"/>
              </a:ext>
            </a:extLst>
          </p:cNvPr>
          <p:cNvSpPr txBox="1"/>
          <p:nvPr/>
        </p:nvSpPr>
        <p:spPr>
          <a:xfrm>
            <a:off x="6413500" y="4292600"/>
            <a:ext cx="4953000" cy="276999"/>
          </a:xfrm>
          <a:prstGeom prst="rect">
            <a:avLst/>
          </a:prstGeom>
          <a:noFill/>
        </p:spPr>
        <p:txBody>
          <a:bodyPr vert="horz" wrap="square" lIns="0" tIns="0" rIns="0" bIns="0" rtlCol="0">
            <a:noAutofit/>
          </a:bodyPr>
          <a:lstStyle/>
          <a:p>
            <a:r>
              <a:rPr lang="en-GB" sz="1600">
                <a:solidFill>
                  <a:srgbClr val="23374A"/>
                </a:solidFill>
                <a:latin typeface="Arial" panose="020B0604020202020204" pitchFamily="34" charset="0"/>
              </a:rPr>
              <a:t>Codice qLDPC</a:t>
            </a:r>
          </a:p>
        </p:txBody>
      </p:sp>
      <p:sp>
        <p:nvSpPr>
          <p:cNvPr id="15" name="Etichetta esperimenti">
            <a:extLst>
              <a:ext uri="{FF2B5EF4-FFF2-40B4-BE49-F238E27FC236}">
                <a16:creationId xmlns:a16="http://schemas.microsoft.com/office/drawing/2014/main" id="{B02FA154-6B27-1254-137B-B96CC2799B94}"/>
              </a:ext>
            </a:extLst>
          </p:cNvPr>
          <p:cNvSpPr txBox="1"/>
          <p:nvPr/>
        </p:nvSpPr>
        <p:spPr>
          <a:xfrm>
            <a:off x="698500" y="5003800"/>
            <a:ext cx="2794000" cy="276999"/>
          </a:xfrm>
          <a:prstGeom prst="rect">
            <a:avLst/>
          </a:prstGeom>
          <a:noFill/>
        </p:spPr>
        <p:txBody>
          <a:bodyPr vert="horz" wrap="square" lIns="0" tIns="0" rIns="0" bIns="0" rtlCol="0">
            <a:noAutofit/>
          </a:bodyPr>
          <a:lstStyle/>
          <a:p>
            <a:r>
              <a:rPr lang="en-GB" sz="1100" b="1">
                <a:solidFill>
                  <a:srgbClr val="677586"/>
                </a:solidFill>
                <a:latin typeface="Arial" panose="020B0604020202020204" pitchFamily="34" charset="0"/>
              </a:rPr>
              <a:t>COSA HO VALUTATO</a:t>
            </a:r>
          </a:p>
        </p:txBody>
      </p:sp>
      <p:sp>
        <p:nvSpPr>
          <p:cNvPr id="26" name="Esperimenti Surface code">
            <a:extLst>
              <a:ext uri="{FF2B5EF4-FFF2-40B4-BE49-F238E27FC236}">
                <a16:creationId xmlns:a16="http://schemas.microsoft.com/office/drawing/2014/main" id="{99A234BB-6CCE-6952-2670-148FF5192A82}"/>
              </a:ext>
            </a:extLst>
          </p:cNvPr>
          <p:cNvSpPr txBox="1"/>
          <p:nvPr/>
        </p:nvSpPr>
        <p:spPr>
          <a:xfrm>
            <a:off x="698500" y="5359400"/>
            <a:ext cx="4978400" cy="276999"/>
          </a:xfrm>
          <a:prstGeom prst="rect">
            <a:avLst/>
          </a:prstGeom>
          <a:noFill/>
        </p:spPr>
        <p:txBody>
          <a:bodyPr vert="horz" wrap="square" lIns="0" tIns="0" rIns="0" bIns="0" rtlCol="0">
            <a:noAutofit/>
          </a:bodyPr>
          <a:lstStyle/>
          <a:p>
            <a:r>
              <a:rPr lang="en-GB" sz="2000" b="1">
                <a:solidFill>
                  <a:srgbClr val="1963A0"/>
                </a:solidFill>
                <a:latin typeface="Arial" panose="020B0604020202020204" pitchFamily="34" charset="0"/>
              </a:rPr>
              <a:t>1  Soglia       2  Decoder</a:t>
            </a:r>
          </a:p>
        </p:txBody>
      </p:sp>
      <p:sp>
        <p:nvSpPr>
          <p:cNvPr id="28" name="Esperimenti Gross code">
            <a:extLst>
              <a:ext uri="{FF2B5EF4-FFF2-40B4-BE49-F238E27FC236}">
                <a16:creationId xmlns:a16="http://schemas.microsoft.com/office/drawing/2014/main" id="{86B4C62E-1803-D311-A73A-6323A1AEF90F}"/>
              </a:ext>
            </a:extLst>
          </p:cNvPr>
          <p:cNvSpPr txBox="1"/>
          <p:nvPr/>
        </p:nvSpPr>
        <p:spPr>
          <a:xfrm>
            <a:off x="6413500" y="5359400"/>
            <a:ext cx="4978400" cy="276999"/>
          </a:xfrm>
          <a:prstGeom prst="rect">
            <a:avLst/>
          </a:prstGeom>
          <a:noFill/>
        </p:spPr>
        <p:txBody>
          <a:bodyPr vert="horz" wrap="square" lIns="0" tIns="0" rIns="0" bIns="0" rtlCol="0">
            <a:noAutofit/>
          </a:bodyPr>
          <a:lstStyle/>
          <a:p>
            <a:r>
              <a:rPr lang="en-GB" sz="2000" b="1">
                <a:solidFill>
                  <a:srgbClr val="DB8221"/>
                </a:solidFill>
                <a:latin typeface="Arial" panose="020B0604020202020204" pitchFamily="34" charset="0"/>
              </a:rPr>
              <a:t>3  Qubit necessari</a:t>
            </a:r>
          </a:p>
        </p:txBody>
      </p:sp>
      <p:sp>
        <p:nvSpPr>
          <p:cNvPr id="29" name="Nota confronto">
            <a:extLst>
              <a:ext uri="{FF2B5EF4-FFF2-40B4-BE49-F238E27FC236}">
                <a16:creationId xmlns:a16="http://schemas.microsoft.com/office/drawing/2014/main" id="{F95D5EEB-EEDF-4C9B-CFB4-1BD086D3DBC2}"/>
              </a:ext>
            </a:extLst>
          </p:cNvPr>
          <p:cNvSpPr txBox="1"/>
          <p:nvPr/>
        </p:nvSpPr>
        <p:spPr>
          <a:xfrm>
            <a:off x="6413500" y="5727700"/>
            <a:ext cx="4978400" cy="276999"/>
          </a:xfrm>
          <a:prstGeom prst="rect">
            <a:avLst/>
          </a:prstGeom>
          <a:noFill/>
        </p:spPr>
        <p:txBody>
          <a:bodyPr vert="horz" wrap="square" lIns="0" tIns="0" rIns="0" bIns="0" rtlCol="0">
            <a:noAutofit/>
          </a:bodyPr>
          <a:lstStyle/>
          <a:p>
            <a:r>
              <a:rPr lang="it-IT" sz="1200">
                <a:solidFill>
                  <a:srgbClr val="677586"/>
                </a:solidFill>
                <a:latin typeface="Arial" panose="020B0604020202020204" pitchFamily="34" charset="0"/>
              </a:rPr>
              <a:t>Confronto con il surface code</a:t>
            </a:r>
            <a:endParaRPr lang="en-GB" sz="1200">
              <a:solidFill>
                <a:srgbClr val="677586"/>
              </a:solidFill>
              <a:latin typeface="Arial" panose="020B0604020202020204" pitchFamily="34" charset="0"/>
            </a:endParaRPr>
          </a:p>
        </p:txBody>
      </p:sp>
    </p:spTree>
    <p:extLst>
      <p:ext uri="{BB962C8B-B14F-4D97-AF65-F5344CB8AC3E}">
        <p14:creationId xmlns:p14="http://schemas.microsoft.com/office/powerpoint/2010/main" val="309775880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1A0FE10-7D08-45A5-9369-B8A8D92211C3}"/>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Strategia 2: correzione quantistica degli errori</a:t>
            </a:r>
            <a:endParaRPr sz="2700" b="0">
              <a:solidFill>
                <a:srgbClr val="003366"/>
              </a:solidFill>
              <a:latin typeface="Arial"/>
              <a:ea typeface="Arial"/>
              <a:cs typeface="Arial"/>
            </a:endParaRPr>
          </a:p>
        </p:txBody>
      </p:sp>
      <p:pic>
        <p:nvPicPr>
          <p:cNvPr id="17" name="Picture 16"/>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C63BB1C7-E1F5-4EAD-96B7-5E2DB8BF621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CD7F7CC-AA63-4989-8F76-D977A27FE48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2 · Correzione degli errori | 7</a:t>
            </a:r>
            <a:endParaRPr sz="1200" b="0">
              <a:solidFill>
                <a:srgbClr val="203344"/>
              </a:solidFill>
              <a:latin typeface="Arial"/>
              <a:ea typeface="Arial"/>
              <a:cs typeface="Arial"/>
            </a:endParaRPr>
          </a:p>
        </p:txBody>
      </p:sp>
      <p:sp>
        <p:nvSpPr>
          <p:cNvPr id="2" name="TextBox 1">
            <a:extLst>
              <a:ext uri="{FF2B5EF4-FFF2-40B4-BE49-F238E27FC236}">
                <a16:creationId xmlns:a16="http://schemas.microsoft.com/office/drawing/2014/main" id="{02CC2BCD-8065-AF14-A761-223B420003D9}"/>
              </a:ext>
            </a:extLst>
          </p:cNvPr>
          <p:cNvSpPr txBox="1"/>
          <p:nvPr/>
        </p:nvSpPr>
        <p:spPr>
          <a:xfrm>
            <a:off x="609600" y="1244600"/>
            <a:ext cx="10972800" cy="369332"/>
          </a:xfrm>
          <a:prstGeom prst="rect">
            <a:avLst/>
          </a:prstGeom>
          <a:noFill/>
        </p:spPr>
        <p:txBody>
          <a:bodyPr vert="horz" wrap="square" rtlCol="0">
            <a:noAutofit/>
          </a:bodyPr>
          <a:lstStyle/>
          <a:p>
            <a:r>
              <a:rPr lang="it-IT" sz="1725">
                <a:solidFill>
                  <a:srgbClr val="203344"/>
                </a:solidFill>
                <a:latin typeface="Arial" panose="020B0604020202020204" pitchFamily="34" charset="0"/>
              </a:rPr>
              <a:t>Più qubit fisici proteggono un qubit logico</a:t>
            </a:r>
          </a:p>
        </p:txBody>
      </p:sp>
      <p:sp>
        <p:nvSpPr>
          <p:cNvPr id="27" name="TextBox 26">
            <a:extLst>
              <a:ext uri="{FF2B5EF4-FFF2-40B4-BE49-F238E27FC236}">
                <a16:creationId xmlns:a16="http://schemas.microsoft.com/office/drawing/2014/main" id="{F0CC65BC-FC56-74B3-8292-99AF6B487F00}"/>
              </a:ext>
            </a:extLst>
          </p:cNvPr>
          <p:cNvSpPr txBox="1"/>
          <p:nvPr/>
        </p:nvSpPr>
        <p:spPr>
          <a:xfrm>
            <a:off x="609600" y="6150000"/>
            <a:ext cx="10972800" cy="450000"/>
          </a:xfrm>
          <a:prstGeom prst="rect">
            <a:avLst/>
          </a:prstGeom>
          <a:noFill/>
        </p:spPr>
        <p:txBody>
          <a:bodyPr vert="horz" wrap="square" rtlCol="0">
            <a:noAutofit/>
          </a:bodyPr>
          <a:lstStyle/>
          <a:p>
            <a:r>
              <a:rPr lang="it-IT" sz="1950" b="1">
                <a:solidFill>
                  <a:srgbClr val="175F99"/>
                </a:solidFill>
                <a:latin typeface="Arial" panose="020B0604020202020204" pitchFamily="34" charset="0"/>
              </a:rPr>
              <a:t>Stessa idea, due compromessi: protezione contro numero di qubit.</a:t>
            </a:r>
          </a:p>
        </p:txBody>
      </p:sp>
      <p:graphicFrame>
        <p:nvGraphicFramePr>
          <p:cNvPr id="18" name="Table 17">
            <a:extLst>
              <a:ext uri="{FF2B5EF4-FFF2-40B4-BE49-F238E27FC236}">
                <a16:creationId xmlns:a16="http://schemas.microsoft.com/office/drawing/2014/main" id="{A5D9587E-481F-FCD2-85AC-70494BC8E951}"/>
              </a:ext>
            </a:extLst>
          </p:cNvPr>
          <p:cNvGraphicFramePr>
            <a:graphicFrameLocks noGrp="1"/>
          </p:cNvGraphicFramePr>
          <p:nvPr/>
        </p:nvGraphicFramePr>
        <p:xfrm>
          <a:off x="609600" y="2044700"/>
          <a:ext cx="10972800" cy="334772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713271035"/>
                    </a:ext>
                  </a:extLst>
                </a:gridCol>
                <a:gridCol w="4152900">
                  <a:extLst>
                    <a:ext uri="{9D8B030D-6E8A-4147-A177-3AD203B41FA5}">
                      <a16:colId xmlns:a16="http://schemas.microsoft.com/office/drawing/2014/main" val="4001966902"/>
                    </a:ext>
                  </a:extLst>
                </a:gridCol>
                <a:gridCol w="4152900">
                  <a:extLst>
                    <a:ext uri="{9D8B030D-6E8A-4147-A177-3AD203B41FA5}">
                      <a16:colId xmlns:a16="http://schemas.microsoft.com/office/drawing/2014/main" val="3335385368"/>
                    </a:ext>
                  </a:extLst>
                </a:gridCol>
              </a:tblGrid>
              <a:tr h="571500">
                <a:tc>
                  <a:txBody>
                    <a:bodyPr/>
                    <a:lstStyle/>
                    <a:p>
                      <a:endParaRPr lang="en-GB" sz="1800" b="0">
                        <a:solidFill>
                          <a:srgbClr val="003366"/>
                        </a:solidFill>
                        <a:latin typeface="Arial" panose="020B0604020202020204" pitchFamily="34" charset="0"/>
                      </a:endParaRPr>
                    </a:p>
                  </a:txBody>
                  <a:tcPr marL="203200" marR="152400" marT="127000" marB="101600" anchor="ctr">
                    <a:lnL w="12700" cmpd="sng">
                      <a:solidFill>
                        <a:schemeClr val="lt1"/>
                      </a:solidFill>
                    </a:lnL>
                    <a:lnR w="12700" cmpd="sng">
                      <a:solidFill>
                        <a:schemeClr val="lt1"/>
                      </a:solidFill>
                    </a:lnR>
                    <a:lnT w="12700" cmpd="sng">
                      <a:solidFill>
                        <a:schemeClr val="lt1"/>
                      </a:solidFill>
                    </a:lnT>
                    <a:lnB w="38100" cmpd="sng">
                      <a:solidFill>
                        <a:schemeClr val="lt1"/>
                      </a:solidFill>
                    </a:lnB>
                    <a:solidFill>
                      <a:srgbClr val="FFFFFF"/>
                    </a:solidFill>
                  </a:tcPr>
                </a:tc>
                <a:tc>
                  <a:txBody>
                    <a:bodyPr/>
                    <a:lstStyle/>
                    <a:p>
                      <a:r>
                        <a:rPr lang="en-GB" sz="2300" b="1">
                          <a:solidFill>
                            <a:srgbClr val="1963A0"/>
                          </a:solidFill>
                          <a:latin typeface="Arial" panose="020B0604020202020204" pitchFamily="34" charset="0"/>
                        </a:rPr>
                        <a:t>Surface code</a:t>
                      </a:r>
                    </a:p>
                  </a:txBody>
                  <a:tcPr marL="203200" marR="152400" marT="127000" marB="101600" anchor="ctr">
                    <a:lnL w="12700" cmpd="sng">
                      <a:solidFill>
                        <a:schemeClr val="lt1"/>
                      </a:solidFill>
                    </a:lnL>
                    <a:lnR w="12700" cmpd="sng">
                      <a:solidFill>
                        <a:schemeClr val="lt1"/>
                      </a:solidFill>
                    </a:lnR>
                    <a:lnT w="12700" cmpd="sng">
                      <a:solidFill>
                        <a:schemeClr val="lt1"/>
                      </a:solidFill>
                    </a:lnT>
                    <a:lnB w="38100" cmpd="sng">
                      <a:solidFill>
                        <a:schemeClr val="lt1"/>
                      </a:solidFill>
                    </a:lnB>
                    <a:solidFill>
                      <a:srgbClr val="EDF3F7"/>
                    </a:solidFill>
                  </a:tcPr>
                </a:tc>
                <a:tc>
                  <a:txBody>
                    <a:bodyPr/>
                    <a:lstStyle/>
                    <a:p>
                      <a:r>
                        <a:rPr lang="en-GB" sz="2300" b="1">
                          <a:solidFill>
                            <a:srgbClr val="DB8221"/>
                          </a:solidFill>
                          <a:latin typeface="Arial" panose="020B0604020202020204" pitchFamily="34" charset="0"/>
                        </a:rPr>
                        <a:t>Gross code</a:t>
                      </a:r>
                    </a:p>
                  </a:txBody>
                  <a:tcPr marL="203200" marR="152400" marT="127000" marB="101600" anchor="ctr">
                    <a:lnL w="12700" cmpd="sng">
                      <a:solidFill>
                        <a:schemeClr val="lt1"/>
                      </a:solidFill>
                    </a:lnL>
                    <a:lnR w="12700" cmpd="sng">
                      <a:solidFill>
                        <a:schemeClr val="lt1"/>
                      </a:solidFill>
                    </a:lnR>
                    <a:lnT w="12700" cmpd="sng">
                      <a:solidFill>
                        <a:schemeClr val="lt1"/>
                      </a:solidFill>
                    </a:lnT>
                    <a:lnB w="38100" cmpd="sng">
                      <a:solidFill>
                        <a:schemeClr val="lt1"/>
                      </a:solidFill>
                    </a:lnB>
                    <a:solidFill>
                      <a:srgbClr val="FCF2E6"/>
                    </a:solidFill>
                  </a:tcPr>
                </a:tc>
                <a:extLst>
                  <a:ext uri="{0D108BD9-81ED-4DB2-BD59-A6C34878D82A}">
                    <a16:rowId xmlns:a16="http://schemas.microsoft.com/office/drawing/2014/main" val="3234018016"/>
                  </a:ext>
                </a:extLst>
              </a:tr>
              <a:tr h="1333500">
                <a:tc>
                  <a:txBody>
                    <a:bodyPr/>
                    <a:lstStyle/>
                    <a:p>
                      <a:r>
                        <a:rPr lang="it-IT" sz="1700" b="0">
                          <a:solidFill>
                            <a:srgbClr val="23374A"/>
                          </a:solidFill>
                          <a:latin typeface="Arial" panose="020B0604020202020204" pitchFamily="34" charset="0"/>
                        </a:rPr>
                        <a:t>Qubit fisici</a:t>
                      </a:r>
                    </a:p>
                    <a:p>
                      <a:r>
                        <a:rPr lang="it-IT" sz="1700" b="0">
                          <a:solidFill>
                            <a:srgbClr val="23374A"/>
                          </a:solidFill>
                          <a:latin typeface="Arial" panose="020B0604020202020204" pitchFamily="34" charset="0"/>
                        </a:rPr>
                        <a:t>per 12 qubit logici</a:t>
                      </a:r>
                      <a:endParaRPr lang="en-GB" sz="1700" b="0">
                        <a:solidFill>
                          <a:srgbClr val="23374A"/>
                        </a:solidFill>
                        <a:latin typeface="Arial" panose="020B0604020202020204" pitchFamily="34" charset="0"/>
                      </a:endParaRPr>
                    </a:p>
                  </a:txBody>
                  <a:tcPr marL="203200" marR="152400" marT="127000" marB="101600" anchor="ctr">
                    <a:lnL w="12700" cmpd="sng">
                      <a:solidFill>
                        <a:schemeClr val="lt1"/>
                      </a:solidFill>
                    </a:lnL>
                    <a:lnR w="12700" cmpd="sng">
                      <a:solidFill>
                        <a:schemeClr val="lt1"/>
                      </a:solidFill>
                    </a:lnR>
                    <a:lnT w="38100" cmpd="sng">
                      <a:solidFill>
                        <a:schemeClr val="lt1"/>
                      </a:solidFill>
                    </a:lnT>
                    <a:lnB w="12700" cmpd="sng">
                      <a:solidFill>
                        <a:schemeClr val="lt1"/>
                      </a:solidFill>
                    </a:lnB>
                    <a:solidFill>
                      <a:srgbClr val="FFFFFF"/>
                    </a:solidFill>
                  </a:tcPr>
                </a:tc>
                <a:tc>
                  <a:txBody>
                    <a:bodyPr/>
                    <a:lstStyle/>
                    <a:p>
                      <a:r>
                        <a:rPr lang="en-GB" sz="4800" b="1">
                          <a:solidFill>
                            <a:srgbClr val="1963A0"/>
                          </a:solidFill>
                          <a:latin typeface="Arial" panose="020B0604020202020204" pitchFamily="34" charset="0"/>
                        </a:rPr>
                        <a:t>~2000</a:t>
                      </a:r>
                    </a:p>
                  </a:txBody>
                  <a:tcPr marL="203200" marR="152400" marT="127000" marB="101600" anchor="ctr">
                    <a:lnL w="12700" cmpd="sng">
                      <a:solidFill>
                        <a:schemeClr val="lt1"/>
                      </a:solidFill>
                    </a:lnL>
                    <a:lnR w="12700" cmpd="sng">
                      <a:solidFill>
                        <a:schemeClr val="lt1"/>
                      </a:solidFill>
                    </a:lnR>
                    <a:lnT w="38100" cmpd="sng">
                      <a:solidFill>
                        <a:schemeClr val="lt1"/>
                      </a:solidFill>
                    </a:lnT>
                    <a:lnB w="12700" cmpd="sng">
                      <a:solidFill>
                        <a:schemeClr val="lt1"/>
                      </a:solidFill>
                    </a:lnB>
                    <a:solidFill>
                      <a:srgbClr val="EDF3F7"/>
                    </a:solidFill>
                  </a:tcPr>
                </a:tc>
                <a:tc>
                  <a:txBody>
                    <a:bodyPr/>
                    <a:lstStyle/>
                    <a:p>
                      <a:r>
                        <a:rPr lang="en-GB" sz="4800" b="1">
                          <a:solidFill>
                            <a:srgbClr val="DB8221"/>
                          </a:solidFill>
                          <a:latin typeface="Arial" panose="020B0604020202020204" pitchFamily="34" charset="0"/>
                        </a:rPr>
                        <a:t>144</a:t>
                      </a:r>
                    </a:p>
                  </a:txBody>
                  <a:tcPr marL="203200" marR="152400" marT="127000" marB="101600" anchor="ctr">
                    <a:lnL w="12700" cmpd="sng">
                      <a:solidFill>
                        <a:schemeClr val="lt1"/>
                      </a:solidFill>
                    </a:lnL>
                    <a:lnR w="12700" cmpd="sng">
                      <a:solidFill>
                        <a:schemeClr val="lt1"/>
                      </a:solidFill>
                    </a:lnR>
                    <a:lnT w="38100" cmpd="sng">
                      <a:solidFill>
                        <a:schemeClr val="lt1"/>
                      </a:solidFill>
                    </a:lnT>
                    <a:lnB w="12700" cmpd="sng">
                      <a:solidFill>
                        <a:schemeClr val="lt1"/>
                      </a:solidFill>
                    </a:lnB>
                    <a:solidFill>
                      <a:srgbClr val="FCF2E6"/>
                    </a:solidFill>
                  </a:tcPr>
                </a:tc>
                <a:extLst>
                  <a:ext uri="{0D108BD9-81ED-4DB2-BD59-A6C34878D82A}">
                    <a16:rowId xmlns:a16="http://schemas.microsoft.com/office/drawing/2014/main" val="2121664218"/>
                  </a:ext>
                </a:extLst>
              </a:tr>
              <a:tr h="673100">
                <a:tc>
                  <a:txBody>
                    <a:bodyPr/>
                    <a:lstStyle/>
                    <a:p>
                      <a:r>
                        <a:rPr lang="en-GB" sz="1700" b="0">
                          <a:solidFill>
                            <a:srgbClr val="23374A"/>
                          </a:solidFill>
                          <a:latin typeface="Arial" panose="020B0604020202020204" pitchFamily="34" charset="0"/>
                        </a:rPr>
                        <a:t>Caratteristiche</a:t>
                      </a:r>
                    </a:p>
                  </a:txBody>
                  <a:tcPr marL="203200" marR="152400" marT="127000" marB="101600" anchor="ctr">
                    <a:lnL w="12700" cmpd="sng">
                      <a:solidFill>
                        <a:schemeClr val="lt1"/>
                      </a:solidFill>
                    </a:lnL>
                    <a:lnR w="12700" cmpd="sng">
                      <a:solidFill>
                        <a:schemeClr val="lt1"/>
                      </a:solidFill>
                    </a:lnR>
                    <a:lnT w="12700" cmpd="sng">
                      <a:solidFill>
                        <a:schemeClr val="lt1"/>
                      </a:solidFill>
                    </a:lnT>
                    <a:lnB w="12700" cmpd="sng">
                      <a:solidFill>
                        <a:schemeClr val="lt1"/>
                      </a:solidFill>
                    </a:lnB>
                    <a:solidFill>
                      <a:srgbClr val="FFFFFF"/>
                    </a:solidFill>
                  </a:tcPr>
                </a:tc>
                <a:tc>
                  <a:txBody>
                    <a:bodyPr/>
                    <a:lstStyle/>
                    <a:p>
                      <a:r>
                        <a:rPr lang="en-GB" sz="1900" b="0">
                          <a:solidFill>
                            <a:srgbClr val="23374A"/>
                          </a:solidFill>
                          <a:latin typeface="Arial" panose="020B0604020202020204" pitchFamily="34" charset="0"/>
                        </a:rPr>
                        <a:t>Robusto, ma costoso</a:t>
                      </a:r>
                    </a:p>
                  </a:txBody>
                  <a:tcPr marL="203200" marR="152400" marT="127000" marB="101600" anchor="ctr">
                    <a:lnL w="12700" cmpd="sng">
                      <a:solidFill>
                        <a:schemeClr val="lt1"/>
                      </a:solidFill>
                    </a:lnL>
                    <a:lnR w="12700" cmpd="sng">
                      <a:solidFill>
                        <a:schemeClr val="lt1"/>
                      </a:solidFill>
                    </a:lnR>
                    <a:lnT w="12700" cmpd="sng">
                      <a:solidFill>
                        <a:schemeClr val="lt1"/>
                      </a:solidFill>
                    </a:lnT>
                    <a:lnB w="12700" cmpd="sng">
                      <a:solidFill>
                        <a:schemeClr val="lt1"/>
                      </a:solidFill>
                    </a:lnB>
                    <a:solidFill>
                      <a:srgbClr val="EDF3F7"/>
                    </a:solidFill>
                  </a:tcPr>
                </a:tc>
                <a:tc>
                  <a:txBody>
                    <a:bodyPr/>
                    <a:lstStyle/>
                    <a:p>
                      <a:r>
                        <a:rPr lang="en-GB" sz="1900" b="0">
                          <a:solidFill>
                            <a:srgbClr val="23374A"/>
                          </a:solidFill>
                          <a:latin typeface="Arial" panose="020B0604020202020204" pitchFamily="34" charset="0"/>
                        </a:rPr>
                        <a:t>Codice qLDPC di IBM</a:t>
                      </a:r>
                    </a:p>
                  </a:txBody>
                  <a:tcPr marL="203200" marR="152400" marT="127000" marB="101600" anchor="ctr">
                    <a:lnL w="12700" cmpd="sng">
                      <a:solidFill>
                        <a:schemeClr val="lt1"/>
                      </a:solidFill>
                    </a:lnL>
                    <a:lnR w="12700" cmpd="sng">
                      <a:solidFill>
                        <a:schemeClr val="lt1"/>
                      </a:solidFill>
                    </a:lnR>
                    <a:lnT w="12700" cmpd="sng">
                      <a:solidFill>
                        <a:schemeClr val="lt1"/>
                      </a:solidFill>
                    </a:lnT>
                    <a:lnB w="12700" cmpd="sng">
                      <a:solidFill>
                        <a:schemeClr val="lt1"/>
                      </a:solidFill>
                    </a:lnB>
                    <a:solidFill>
                      <a:srgbClr val="FCF2E6"/>
                    </a:solidFill>
                  </a:tcPr>
                </a:tc>
                <a:extLst>
                  <a:ext uri="{0D108BD9-81ED-4DB2-BD59-A6C34878D82A}">
                    <a16:rowId xmlns:a16="http://schemas.microsoft.com/office/drawing/2014/main" val="1829665046"/>
                  </a:ext>
                </a:extLst>
              </a:tr>
              <a:tr h="762000">
                <a:tc>
                  <a:txBody>
                    <a:bodyPr/>
                    <a:lstStyle/>
                    <a:p>
                      <a:r>
                        <a:rPr lang="en-GB" sz="1700" b="0">
                          <a:solidFill>
                            <a:srgbClr val="23374A"/>
                          </a:solidFill>
                          <a:latin typeface="Arial" panose="020B0604020202020204" pitchFamily="34" charset="0"/>
                        </a:rPr>
                        <a:t>Cosa ho valutato</a:t>
                      </a:r>
                    </a:p>
                  </a:txBody>
                  <a:tcPr marL="203200" marR="152400" marT="127000" marB="101600" anchor="ctr">
                    <a:lnL w="12700" cmpd="sng">
                      <a:solidFill>
                        <a:schemeClr val="lt1"/>
                      </a:solidFill>
                    </a:lnL>
                    <a:lnR w="12700" cmpd="sng">
                      <a:solidFill>
                        <a:schemeClr val="lt1"/>
                      </a:solidFill>
                    </a:lnR>
                    <a:lnT w="12700" cmpd="sng">
                      <a:solidFill>
                        <a:schemeClr val="lt1"/>
                      </a:solidFill>
                    </a:lnT>
                    <a:lnB w="12700" cmpd="sng">
                      <a:solidFill>
                        <a:schemeClr val="lt1"/>
                      </a:solidFill>
                    </a:lnB>
                    <a:solidFill>
                      <a:srgbClr val="FFFFFF"/>
                    </a:solidFill>
                  </a:tcPr>
                </a:tc>
                <a:tc>
                  <a:txBody>
                    <a:bodyPr/>
                    <a:lstStyle/>
                    <a:p>
                      <a:r>
                        <a:rPr lang="en-GB" sz="1900" b="1">
                          <a:solidFill>
                            <a:srgbClr val="1963A0"/>
                          </a:solidFill>
                          <a:latin typeface="Arial" panose="020B0604020202020204" pitchFamily="34" charset="0"/>
                        </a:rPr>
                        <a:t>Soglia e decoder</a:t>
                      </a:r>
                    </a:p>
                  </a:txBody>
                  <a:tcPr marL="203200" marR="152400" marT="127000" marB="101600" anchor="ctr">
                    <a:lnL w="12700" cmpd="sng">
                      <a:solidFill>
                        <a:schemeClr val="lt1"/>
                      </a:solidFill>
                    </a:lnL>
                    <a:lnR w="12700" cmpd="sng">
                      <a:solidFill>
                        <a:schemeClr val="lt1"/>
                      </a:solidFill>
                    </a:lnR>
                    <a:lnT w="12700" cmpd="sng">
                      <a:solidFill>
                        <a:schemeClr val="lt1"/>
                      </a:solidFill>
                    </a:lnT>
                    <a:lnB w="12700" cmpd="sng">
                      <a:solidFill>
                        <a:schemeClr val="lt1"/>
                      </a:solidFill>
                    </a:lnB>
                    <a:solidFill>
                      <a:srgbClr val="EDF3F7"/>
                    </a:solidFill>
                  </a:tcPr>
                </a:tc>
                <a:tc>
                  <a:txBody>
                    <a:bodyPr/>
                    <a:lstStyle/>
                    <a:p>
                      <a:r>
                        <a:rPr lang="it-IT" sz="1700" b="1">
                          <a:solidFill>
                            <a:srgbClr val="DB8221"/>
                          </a:solidFill>
                          <a:latin typeface="Arial" panose="020B0604020202020204" pitchFamily="34" charset="0"/>
                        </a:rPr>
                        <a:t>Qubit necessari</a:t>
                      </a:r>
                    </a:p>
                    <a:p>
                      <a:r>
                        <a:rPr lang="it-IT" sz="1700" b="1">
                          <a:solidFill>
                            <a:srgbClr val="DB8221"/>
                          </a:solidFill>
                          <a:latin typeface="Arial" panose="020B0604020202020204" pitchFamily="34" charset="0"/>
                        </a:rPr>
                        <a:t>confronto con il surface code</a:t>
                      </a:r>
                      <a:endParaRPr lang="en-GB" sz="1700" b="1">
                        <a:solidFill>
                          <a:srgbClr val="DB8221"/>
                        </a:solidFill>
                        <a:latin typeface="Arial" panose="020B0604020202020204" pitchFamily="34" charset="0"/>
                      </a:endParaRPr>
                    </a:p>
                  </a:txBody>
                  <a:tcPr marL="203200" marR="152400" marT="127000" marB="101600" anchor="ctr">
                    <a:lnL w="12700" cmpd="sng">
                      <a:solidFill>
                        <a:schemeClr val="lt1"/>
                      </a:solidFill>
                    </a:lnL>
                    <a:lnR w="12700" cmpd="sng">
                      <a:solidFill>
                        <a:schemeClr val="lt1"/>
                      </a:solidFill>
                    </a:lnR>
                    <a:lnT w="12700" cmpd="sng">
                      <a:solidFill>
                        <a:schemeClr val="lt1"/>
                      </a:solidFill>
                    </a:lnT>
                    <a:lnB w="12700" cmpd="sng">
                      <a:solidFill>
                        <a:schemeClr val="lt1"/>
                      </a:solidFill>
                    </a:lnB>
                    <a:solidFill>
                      <a:srgbClr val="FCF2E6"/>
                    </a:solidFill>
                  </a:tcPr>
                </a:tc>
                <a:extLst>
                  <a:ext uri="{0D108BD9-81ED-4DB2-BD59-A6C34878D82A}">
                    <a16:rowId xmlns:a16="http://schemas.microsoft.com/office/drawing/2014/main" val="1540931219"/>
                  </a:ext>
                </a:extLst>
              </a:tr>
            </a:tbl>
          </a:graphicData>
        </a:graphic>
      </p:graphicFrame>
    </p:spTree>
    <p:extLst>
      <p:ext uri="{BB962C8B-B14F-4D97-AF65-F5344CB8AC3E}">
        <p14:creationId xmlns:p14="http://schemas.microsoft.com/office/powerpoint/2010/main" val="173082899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1A0FE10-7D08-45A5-9369-B8A8D92211C3}"/>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Strategia 2: correzione quantistica degli errori</a:t>
            </a:r>
            <a:endParaRPr sz="2700" b="0">
              <a:solidFill>
                <a:srgbClr val="003366"/>
              </a:solidFill>
              <a:latin typeface="Arial"/>
              <a:ea typeface="Arial"/>
              <a:cs typeface="Arial"/>
            </a:endParaRPr>
          </a:p>
        </p:txBody>
      </p:sp>
      <p:pic>
        <p:nvPicPr>
          <p:cNvPr id="17" name="Picture 16"/>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C63BB1C7-E1F5-4EAD-96B7-5E2DB8BF621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CD7F7CC-AA63-4989-8F76-D977A27FE48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2 · Correzione degli errori | 7</a:t>
            </a:r>
            <a:endParaRPr sz="1200" b="0">
              <a:solidFill>
                <a:srgbClr val="203344"/>
              </a:solidFill>
              <a:latin typeface="Arial"/>
              <a:ea typeface="Arial"/>
              <a:cs typeface="Arial"/>
            </a:endParaRPr>
          </a:p>
        </p:txBody>
      </p:sp>
      <p:sp>
        <p:nvSpPr>
          <p:cNvPr id="2" name="TextBox 1">
            <a:extLst>
              <a:ext uri="{FF2B5EF4-FFF2-40B4-BE49-F238E27FC236}">
                <a16:creationId xmlns:a16="http://schemas.microsoft.com/office/drawing/2014/main" id="{02CC2BCD-8065-AF14-A761-223B420003D9}"/>
              </a:ext>
            </a:extLst>
          </p:cNvPr>
          <p:cNvSpPr txBox="1"/>
          <p:nvPr/>
        </p:nvSpPr>
        <p:spPr>
          <a:xfrm>
            <a:off x="609600" y="1244600"/>
            <a:ext cx="10972800" cy="369332"/>
          </a:xfrm>
          <a:prstGeom prst="rect">
            <a:avLst/>
          </a:prstGeom>
          <a:noFill/>
        </p:spPr>
        <p:txBody>
          <a:bodyPr vert="horz" wrap="square" rtlCol="0">
            <a:noAutofit/>
          </a:bodyPr>
          <a:lstStyle/>
          <a:p>
            <a:r>
              <a:rPr lang="it-IT" sz="1725">
                <a:solidFill>
                  <a:srgbClr val="203344"/>
                </a:solidFill>
                <a:latin typeface="Arial" panose="020B0604020202020204" pitchFamily="34" charset="0"/>
              </a:rPr>
              <a:t>Idea comune: più qubit fisici proteggono un qubit logico; un decoder legge le sindromi (i segnali d'errore) e sceglie la correzione.</a:t>
            </a:r>
            <a:endParaRPr lang="en-GB" sz="1725">
              <a:solidFill>
                <a:srgbClr val="203344"/>
              </a:solidFill>
              <a:latin typeface="Arial" panose="020B0604020202020204" pitchFamily="34" charset="0"/>
            </a:endParaRPr>
          </a:p>
        </p:txBody>
      </p:sp>
      <p:sp>
        <p:nvSpPr>
          <p:cNvPr id="18" name="Rectangle: Rounded Corners 17">
            <a:extLst>
              <a:ext uri="{FF2B5EF4-FFF2-40B4-BE49-F238E27FC236}">
                <a16:creationId xmlns:a16="http://schemas.microsoft.com/office/drawing/2014/main" id="{AC9DEF35-39AA-F617-3B4C-E858BF45BBB0}"/>
              </a:ext>
            </a:extLst>
          </p:cNvPr>
          <p:cNvSpPr/>
          <p:nvPr/>
        </p:nvSpPr>
        <p:spPr>
          <a:xfrm>
            <a:off x="609600" y="1905000"/>
            <a:ext cx="5334000" cy="27178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Rounded Corners 18">
            <a:extLst>
              <a:ext uri="{FF2B5EF4-FFF2-40B4-BE49-F238E27FC236}">
                <a16:creationId xmlns:a16="http://schemas.microsoft.com/office/drawing/2014/main" id="{95661C65-2684-3063-6807-9D8EF5ABDD01}"/>
              </a:ext>
            </a:extLst>
          </p:cNvPr>
          <p:cNvSpPr/>
          <p:nvPr/>
        </p:nvSpPr>
        <p:spPr>
          <a:xfrm>
            <a:off x="6248400" y="1905000"/>
            <a:ext cx="5334000" cy="27178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TextBox 19">
            <a:extLst>
              <a:ext uri="{FF2B5EF4-FFF2-40B4-BE49-F238E27FC236}">
                <a16:creationId xmlns:a16="http://schemas.microsoft.com/office/drawing/2014/main" id="{869506C8-FC11-2811-D894-827E70F8AA96}"/>
              </a:ext>
            </a:extLst>
          </p:cNvPr>
          <p:cNvSpPr txBox="1"/>
          <p:nvPr/>
        </p:nvSpPr>
        <p:spPr>
          <a:xfrm>
            <a:off x="787400" y="2032000"/>
            <a:ext cx="4978400" cy="369332"/>
          </a:xfrm>
          <a:prstGeom prst="rect">
            <a:avLst/>
          </a:prstGeom>
          <a:noFill/>
        </p:spPr>
        <p:txBody>
          <a:bodyPr vert="horz" wrap="square" rtlCol="0">
            <a:noAutofit/>
          </a:bodyPr>
          <a:lstStyle/>
          <a:p>
            <a:r>
              <a:rPr lang="en-GB" sz="2025" b="1">
                <a:solidFill>
                  <a:srgbClr val="003366"/>
                </a:solidFill>
                <a:latin typeface="Arial" panose="020B0604020202020204" pitchFamily="34" charset="0"/>
              </a:rPr>
              <a:t>Surface code · il riferimento</a:t>
            </a:r>
          </a:p>
        </p:txBody>
      </p:sp>
      <p:sp>
        <p:nvSpPr>
          <p:cNvPr id="21" name="TextBox 20">
            <a:extLst>
              <a:ext uri="{FF2B5EF4-FFF2-40B4-BE49-F238E27FC236}">
                <a16:creationId xmlns:a16="http://schemas.microsoft.com/office/drawing/2014/main" id="{857FD32E-EA8E-B329-B336-DE0EE6795F38}"/>
              </a:ext>
            </a:extLst>
          </p:cNvPr>
          <p:cNvSpPr txBox="1"/>
          <p:nvPr/>
        </p:nvSpPr>
        <p:spPr>
          <a:xfrm>
            <a:off x="787400" y="2463800"/>
            <a:ext cx="4978400" cy="369332"/>
          </a:xfrm>
          <a:prstGeom prst="rect">
            <a:avLst/>
          </a:prstGeom>
          <a:noFill/>
        </p:spPr>
        <p:txBody>
          <a:bodyPr vert="horz" wrap="square" rtlCol="0">
            <a:noAutofit/>
          </a:bodyPr>
          <a:lstStyle/>
          <a:p>
            <a:pPr>
              <a:spcAft>
                <a:spcPts val="600"/>
              </a:spcAft>
            </a:pPr>
            <a:r>
              <a:rPr lang="it-IT" sz="1575">
                <a:solidFill>
                  <a:srgbClr val="203344"/>
                </a:solidFill>
                <a:latin typeface="Arial" panose="020B0604020202020204" pitchFamily="34" charset="0"/>
              </a:rPr>
              <a:t>Il codice più studiato e robusto, ma costoso: per 12 qubit logici servono circa 2000 qubit di dato.</a:t>
            </a:r>
          </a:p>
          <a:p>
            <a:pPr>
              <a:spcAft>
                <a:spcPts val="600"/>
              </a:spcAft>
            </a:pPr>
            <a:r>
              <a:rPr lang="it-IT" sz="1575">
                <a:solidFill>
                  <a:srgbClr val="203344"/>
                </a:solidFill>
                <a:latin typeface="Arial" panose="020B0604020202020204" pitchFamily="34" charset="0"/>
              </a:rPr>
              <a:t>Qui ho confrontato i decoder: MWPM (classico), rete neurale, ibrido e BP+OSD.</a:t>
            </a:r>
          </a:p>
          <a:p>
            <a:pPr>
              <a:spcAft>
                <a:spcPts val="600"/>
              </a:spcAft>
            </a:pPr>
            <a:r>
              <a:rPr lang="it-IT" sz="1575">
                <a:solidFill>
                  <a:srgbClr val="203344"/>
                </a:solidFill>
                <a:latin typeface="Arial" panose="020B0604020202020204" pitchFamily="34" charset="0"/>
              </a:rPr>
              <a:t>Circuito completo, con i qubit ancilla che misurano le sindromi; rumore su porte e misure, anche </a:t>
            </a:r>
            <a:r>
              <a:rPr lang="it-IT" sz="1575" err="1">
                <a:solidFill>
                  <a:srgbClr val="203344"/>
                </a:solidFill>
                <a:latin typeface="Arial" panose="020B0604020202020204" pitchFamily="34" charset="0"/>
              </a:rPr>
              <a:t>crosstalk</a:t>
            </a:r>
            <a:r>
              <a:rPr lang="it-IT" sz="1575">
                <a:solidFill>
                  <a:srgbClr val="203344"/>
                </a:solidFill>
                <a:latin typeface="Arial" panose="020B0604020202020204" pitchFamily="34" charset="0"/>
              </a:rPr>
              <a:t>.</a:t>
            </a:r>
            <a:endParaRPr lang="en-GB" sz="1575">
              <a:solidFill>
                <a:srgbClr val="203344"/>
              </a:solidFill>
              <a:latin typeface="Arial" panose="020B0604020202020204" pitchFamily="34" charset="0"/>
            </a:endParaRPr>
          </a:p>
        </p:txBody>
      </p:sp>
      <p:sp>
        <p:nvSpPr>
          <p:cNvPr id="22" name="TextBox 21">
            <a:extLst>
              <a:ext uri="{FF2B5EF4-FFF2-40B4-BE49-F238E27FC236}">
                <a16:creationId xmlns:a16="http://schemas.microsoft.com/office/drawing/2014/main" id="{8846A3DB-8C7A-059A-3406-00678FBF6068}"/>
              </a:ext>
            </a:extLst>
          </p:cNvPr>
          <p:cNvSpPr txBox="1"/>
          <p:nvPr/>
        </p:nvSpPr>
        <p:spPr>
          <a:xfrm>
            <a:off x="6426200" y="2032000"/>
            <a:ext cx="4978400" cy="369332"/>
          </a:xfrm>
          <a:prstGeom prst="rect">
            <a:avLst/>
          </a:prstGeom>
          <a:noFill/>
        </p:spPr>
        <p:txBody>
          <a:bodyPr vert="horz" wrap="square" rtlCol="0">
            <a:noAutofit/>
          </a:bodyPr>
          <a:lstStyle/>
          <a:p>
            <a:r>
              <a:rPr lang="it-IT" sz="2025" b="1">
                <a:solidFill>
                  <a:srgbClr val="003366"/>
                </a:solidFill>
                <a:latin typeface="Arial" panose="020B0604020202020204" pitchFamily="34" charset="0"/>
              </a:rPr>
              <a:t>Gross code · l'alternativa di IBM</a:t>
            </a:r>
            <a:endParaRPr lang="en-GB" sz="2025" b="1">
              <a:solidFill>
                <a:srgbClr val="003366"/>
              </a:solidFill>
              <a:latin typeface="Arial" panose="020B0604020202020204" pitchFamily="34" charset="0"/>
            </a:endParaRPr>
          </a:p>
        </p:txBody>
      </p:sp>
      <p:sp>
        <p:nvSpPr>
          <p:cNvPr id="23" name="TextBox 22">
            <a:extLst>
              <a:ext uri="{FF2B5EF4-FFF2-40B4-BE49-F238E27FC236}">
                <a16:creationId xmlns:a16="http://schemas.microsoft.com/office/drawing/2014/main" id="{D67C5876-F2AC-D4AC-554A-2845DA338BE9}"/>
              </a:ext>
            </a:extLst>
          </p:cNvPr>
          <p:cNvSpPr txBox="1"/>
          <p:nvPr/>
        </p:nvSpPr>
        <p:spPr>
          <a:xfrm>
            <a:off x="6426200" y="2463800"/>
            <a:ext cx="4978400" cy="369332"/>
          </a:xfrm>
          <a:prstGeom prst="rect">
            <a:avLst/>
          </a:prstGeom>
          <a:noFill/>
        </p:spPr>
        <p:txBody>
          <a:bodyPr vert="horz" wrap="square" rtlCol="0">
            <a:noAutofit/>
          </a:bodyPr>
          <a:lstStyle/>
          <a:p>
            <a:pPr>
              <a:spcAft>
                <a:spcPts val="600"/>
              </a:spcAft>
            </a:pPr>
            <a:r>
              <a:rPr lang="it-IT" sz="1575">
                <a:solidFill>
                  <a:srgbClr val="203344"/>
                </a:solidFill>
                <a:latin typeface="Arial" panose="020B0604020202020204" pitchFamily="34" charset="0"/>
              </a:rPr>
              <a:t>Codice qLDPC proposto da IBM: protegge gli stessi 12 qubit logici con 144 qubit di dato.</a:t>
            </a:r>
          </a:p>
          <a:p>
            <a:pPr>
              <a:spcAft>
                <a:spcPts val="600"/>
              </a:spcAft>
            </a:pPr>
            <a:r>
              <a:rPr lang="it-IT" sz="1575">
                <a:solidFill>
                  <a:srgbClr val="203344"/>
                </a:solidFill>
                <a:latin typeface="Arial" panose="020B0604020202020204" pitchFamily="34" charset="0"/>
              </a:rPr>
              <a:t>Decoder BP+OSD.</a:t>
            </a:r>
          </a:p>
          <a:p>
            <a:pPr>
              <a:spcAft>
                <a:spcPts val="600"/>
              </a:spcAft>
            </a:pPr>
            <a:r>
              <a:rPr lang="it-IT" sz="1575">
                <a:solidFill>
                  <a:srgbClr val="203344"/>
                </a:solidFill>
                <a:latin typeface="Arial" panose="020B0604020202020204" pitchFamily="34" charset="0"/>
              </a:rPr>
              <a:t>Simulo solo gli errori, come sequenze di 144 bit: niente ancilla, sindromi perfette.</a:t>
            </a:r>
            <a:endParaRPr lang="en-GB" sz="1575">
              <a:solidFill>
                <a:srgbClr val="203344"/>
              </a:solidFill>
              <a:latin typeface="Arial" panose="020B0604020202020204" pitchFamily="34" charset="0"/>
            </a:endParaRPr>
          </a:p>
        </p:txBody>
      </p:sp>
      <p:sp>
        <p:nvSpPr>
          <p:cNvPr id="24" name="Rectangle: Rounded Corners 23">
            <a:extLst>
              <a:ext uri="{FF2B5EF4-FFF2-40B4-BE49-F238E27FC236}">
                <a16:creationId xmlns:a16="http://schemas.microsoft.com/office/drawing/2014/main" id="{8A433B95-FA57-CBF7-76F8-A6D5100B633C}"/>
              </a:ext>
            </a:extLst>
          </p:cNvPr>
          <p:cNvSpPr/>
          <p:nvPr/>
        </p:nvSpPr>
        <p:spPr>
          <a:xfrm>
            <a:off x="609600" y="4775200"/>
            <a:ext cx="10972800" cy="965200"/>
          </a:xfrm>
          <a:prstGeom prst="roundRect">
            <a:avLst>
              <a:gd name="adj" fmla="val 6000"/>
            </a:avLst>
          </a:prstGeom>
          <a:solidFill>
            <a:srgbClr val="FDF1E4"/>
          </a:solidFill>
          <a:ln w="19050">
            <a:solidFill>
              <a:srgbClr val="D982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Box 24">
            <a:extLst>
              <a:ext uri="{FF2B5EF4-FFF2-40B4-BE49-F238E27FC236}">
                <a16:creationId xmlns:a16="http://schemas.microsoft.com/office/drawing/2014/main" id="{CE9970CF-B93F-E493-A038-3F9BE7D46CE6}"/>
              </a:ext>
            </a:extLst>
          </p:cNvPr>
          <p:cNvSpPr txBox="1"/>
          <p:nvPr/>
        </p:nvSpPr>
        <p:spPr>
          <a:xfrm>
            <a:off x="787400" y="4826000"/>
            <a:ext cx="10617200" cy="369332"/>
          </a:xfrm>
          <a:prstGeom prst="rect">
            <a:avLst/>
          </a:prstGeom>
          <a:noFill/>
        </p:spPr>
        <p:txBody>
          <a:bodyPr vert="horz" wrap="square" rtlCol="0">
            <a:noAutofit/>
          </a:bodyPr>
          <a:lstStyle/>
          <a:p>
            <a:r>
              <a:rPr lang="it-IT" sz="1725" b="1">
                <a:solidFill>
                  <a:srgbClr val="B5641A"/>
                </a:solidFill>
                <a:latin typeface="Arial" panose="020B0604020202020204" pitchFamily="34" charset="0"/>
              </a:rPr>
              <a:t>Perché due codici?</a:t>
            </a:r>
          </a:p>
          <a:p>
            <a:r>
              <a:rPr lang="it-IT" sz="1575">
                <a:solidFill>
                  <a:srgbClr val="203344"/>
                </a:solidFill>
                <a:latin typeface="Arial" panose="020B0604020202020204" pitchFamily="34" charset="0"/>
              </a:rPr>
              <a:t>Il surface code è lo standard ma richiede molti qubit; il Gross code promette una protezione simile con 10–14 volte meno qubit. Confrontarli dice quanto si può risparmiare.</a:t>
            </a:r>
            <a:endParaRPr lang="en-GB" sz="1575">
              <a:solidFill>
                <a:srgbClr val="203344"/>
              </a:solidFill>
              <a:latin typeface="Arial" panose="020B0604020202020204" pitchFamily="34" charset="0"/>
            </a:endParaRPr>
          </a:p>
        </p:txBody>
      </p:sp>
      <p:sp>
        <p:nvSpPr>
          <p:cNvPr id="26" name="TextBox 25">
            <a:extLst>
              <a:ext uri="{FF2B5EF4-FFF2-40B4-BE49-F238E27FC236}">
                <a16:creationId xmlns:a16="http://schemas.microsoft.com/office/drawing/2014/main" id="{7A8B7BF9-EBFF-23BB-8494-C317E06E5D5B}"/>
              </a:ext>
            </a:extLst>
          </p:cNvPr>
          <p:cNvSpPr txBox="1"/>
          <p:nvPr/>
        </p:nvSpPr>
        <p:spPr>
          <a:xfrm>
            <a:off x="609600" y="5816600"/>
            <a:ext cx="10972800" cy="369332"/>
          </a:xfrm>
          <a:prstGeom prst="rect">
            <a:avLst/>
          </a:prstGeom>
          <a:noFill/>
        </p:spPr>
        <p:txBody>
          <a:bodyPr vert="horz" wrap="square" rtlCol="0">
            <a:noAutofit/>
          </a:bodyPr>
          <a:lstStyle/>
          <a:p>
            <a:r>
              <a:rPr lang="it-IT" sz="1275">
                <a:solidFill>
                  <a:srgbClr val="647487"/>
                </a:solidFill>
                <a:latin typeface="Arial" panose="020B0604020202020204" pitchFamily="34" charset="0"/>
              </a:rPr>
              <a:t>Simulazioni con Stim e PyMatching (surface code) e ldpc (Gross code). La correzione degli errori è studiata separatamente da Shor.</a:t>
            </a:r>
            <a:endParaRPr lang="en-GB" sz="1275">
              <a:solidFill>
                <a:srgbClr val="647487"/>
              </a:solidFill>
              <a:latin typeface="Arial" panose="020B0604020202020204" pitchFamily="34" charset="0"/>
            </a:endParaRPr>
          </a:p>
        </p:txBody>
      </p:sp>
      <p:sp>
        <p:nvSpPr>
          <p:cNvPr id="27" name="TextBox 26">
            <a:extLst>
              <a:ext uri="{FF2B5EF4-FFF2-40B4-BE49-F238E27FC236}">
                <a16:creationId xmlns:a16="http://schemas.microsoft.com/office/drawing/2014/main" id="{F0CC65BC-FC56-74B3-8292-99AF6B487F00}"/>
              </a:ext>
            </a:extLst>
          </p:cNvPr>
          <p:cNvSpPr txBox="1"/>
          <p:nvPr/>
        </p:nvSpPr>
        <p:spPr>
          <a:xfrm>
            <a:off x="609600" y="61976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Stessa idea, due compromessi diversi tra protezione e numero di qubit.</a:t>
            </a:r>
            <a:endParaRPr lang="en-GB" sz="1950" b="1">
              <a:solidFill>
                <a:srgbClr val="175F99"/>
              </a:solidFill>
              <a:latin typeface="Arial" panose="020B0604020202020204" pitchFamily="34" charset="0"/>
            </a:endParaRPr>
          </a:p>
        </p:txBody>
      </p:sp>
    </p:spTree>
    <p:extLst>
      <p:ext uri="{BB962C8B-B14F-4D97-AF65-F5344CB8AC3E}">
        <p14:creationId xmlns:p14="http://schemas.microsoft.com/office/powerpoint/2010/main" val="3848242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5" name="Picture 14" descr="v2_s15_surface_code_soglia_z.png"/>
          <p:cNvPicPr>
            <a:picLocks noChangeAspect="1"/>
          </p:cNvPicPr>
          <p:nvPr/>
        </p:nvPicPr>
        <p:blipFill>
          <a:blip r:embed="rId3"/>
          <a:stretch>
            <a:fillRect/>
          </a:stretch>
        </p:blipFill>
        <p:spPr>
          <a:xfrm>
            <a:off x="609600" y="1500000"/>
            <a:ext cx="6820815" cy="4300000"/>
          </a:xfrm>
          <a:prstGeom prst="rect">
            <a:avLst/>
          </a:prstGeom>
        </p:spPr>
      </p:pic>
      <p:sp>
        <p:nvSpPr>
          <p:cNvPr id="11" name="Rectangle 10">
            <a:extLst>
              <a:ext uri="{FF2B5EF4-FFF2-40B4-BE49-F238E27FC236}">
                <a16:creationId xmlns:a16="http://schemas.microsoft.com/office/drawing/2014/main" id="{4AA26051-CE9A-44FC-98B2-DC8331178E93}"/>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2: la QEC aiuta sotto soglia</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4"/>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865D6DAB-35C4-44C3-BE25-5179AEC9B4BF}"/>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DF278FCC-CAE1-457F-906A-2CA805A50B3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2 · Correzione degli errori | 8</a:t>
            </a:r>
            <a:endParaRPr sz="1200" b="0">
              <a:solidFill>
                <a:srgbClr val="203344"/>
              </a:solidFill>
              <a:latin typeface="Arial"/>
              <a:ea typeface="Arial"/>
              <a:cs typeface="Arial"/>
            </a:endParaRPr>
          </a:p>
        </p:txBody>
      </p:sp>
      <p:sp>
        <p:nvSpPr>
          <p:cNvPr id="6" name="Rectangle 5">
            <a:extLst>
              <a:ext uri="{FF2B5EF4-FFF2-40B4-BE49-F238E27FC236}">
                <a16:creationId xmlns:a16="http://schemas.microsoft.com/office/drawing/2014/main" id="{0C456B77-8485-4875-A49F-280A5006DBAD}"/>
              </a:ext>
            </a:extLst>
          </p:cNvPr>
          <p:cNvSpPr>
            <a:spLocks noGrp="1"/>
          </p:cNvSpPr>
          <p:nvPr/>
        </p:nvSpPr>
        <p:spPr>
          <a:xfrm>
            <a:off x="7800000" y="2350000"/>
            <a:ext cx="3782400" cy="950000"/>
          </a:xfrm>
          <a:prstGeom prst="rect">
            <a:avLst/>
          </a:prstGeom>
          <a:noFill/>
          <a:ln w="0">
            <a:noFill/>
          </a:ln>
        </p:spPr>
        <p:txBody>
          <a:bodyPr>
            <a:noAutofit/>
          </a:bodyPr>
          <a:lstStyle/>
          <a:p>
            <a:pPr>
              <a:defRPr sz="4575" b="1">
                <a:solidFill>
                  <a:srgbClr val="175F99"/>
                </a:solidFill>
                <a:latin typeface="Arial"/>
                <a:ea typeface="Arial"/>
                <a:cs typeface="Arial"/>
              </a:defRPr>
            </a:pPr>
            <a:r>
              <a:rPr sz="4575" b="1">
                <a:solidFill>
                  <a:srgbClr val="175F99"/>
                </a:solidFill>
                <a:latin typeface="Arial"/>
                <a:ea typeface="Arial"/>
                <a:cs typeface="Arial"/>
              </a:rPr>
              <a:t>0,86%</a:t>
            </a:r>
          </a:p>
        </p:txBody>
      </p:sp>
      <p:sp>
        <p:nvSpPr>
          <p:cNvPr id="7" name="Rectangle 6">
            <a:extLst>
              <a:ext uri="{FF2B5EF4-FFF2-40B4-BE49-F238E27FC236}">
                <a16:creationId xmlns:a16="http://schemas.microsoft.com/office/drawing/2014/main" id="{84BFCB9A-D13F-41D2-8F42-9C9249466A06}"/>
              </a:ext>
            </a:extLst>
          </p:cNvPr>
          <p:cNvSpPr>
            <a:spLocks noGrp="1"/>
          </p:cNvSpPr>
          <p:nvPr/>
        </p:nvSpPr>
        <p:spPr>
          <a:xfrm>
            <a:off x="7800000" y="3300000"/>
            <a:ext cx="3782400" cy="800000"/>
          </a:xfrm>
          <a:prstGeom prst="rect">
            <a:avLst/>
          </a:prstGeom>
          <a:noFill/>
          <a:ln w="0">
            <a:noFill/>
          </a:ln>
        </p:spPr>
        <p:txBody>
          <a:bodyPr>
            <a:noAutofit/>
          </a:bodyPr>
          <a:lstStyle/>
          <a:p>
            <a:pPr>
              <a:defRPr sz="2025" b="0">
                <a:solidFill>
                  <a:srgbClr val="203344"/>
                </a:solidFill>
                <a:latin typeface="Arial"/>
                <a:ea typeface="Arial"/>
                <a:cs typeface="Arial"/>
              </a:defRPr>
            </a:pPr>
            <a:r>
              <a:rPr lang="it-IT" sz="2025" b="0">
                <a:solidFill>
                  <a:srgbClr val="203344"/>
                </a:solidFill>
                <a:latin typeface="Arial"/>
                <a:ea typeface="Arial"/>
                <a:cs typeface="Arial"/>
              </a:rPr>
              <a:t>soglia di errore fisico</a:t>
            </a:r>
          </a:p>
        </p:txBody>
      </p:sp>
      <p:sp>
        <p:nvSpPr>
          <p:cNvPr id="10" name="Rectangle 9">
            <a:extLst>
              <a:ext uri="{FF2B5EF4-FFF2-40B4-BE49-F238E27FC236}">
                <a16:creationId xmlns:a16="http://schemas.microsoft.com/office/drawing/2014/main" id="{DB181A39-D107-484D-8C5C-DA919F356FAC}"/>
              </a:ext>
            </a:extLst>
          </p:cNvPr>
          <p:cNvSpPr>
            <a:spLocks noGrp="1"/>
          </p:cNvSpPr>
          <p:nvPr/>
        </p:nvSpPr>
        <p:spPr>
          <a:xfrm>
            <a:off x="609600" y="6150000"/>
            <a:ext cx="10972800" cy="450000"/>
          </a:xfrm>
          <a:prstGeom prst="rect">
            <a:avLst/>
          </a:prstGeom>
          <a:noFill/>
          <a:ln w="0">
            <a:noFill/>
          </a:ln>
        </p:spPr>
        <p:txBody>
          <a:bodyPr>
            <a:noAutofit/>
          </a:bodyPr>
          <a:lstStyle/>
          <a:p>
            <a:pPr>
              <a:defRPr sz="2025" b="1">
                <a:solidFill>
                  <a:srgbClr val="175F99"/>
                </a:solidFill>
                <a:latin typeface="Arial"/>
                <a:ea typeface="Arial"/>
                <a:cs typeface="Arial"/>
              </a:defRPr>
            </a:pPr>
            <a:r>
              <a:rPr lang="it-IT" sz="2025" b="1">
                <a:solidFill>
                  <a:srgbClr val="175F99"/>
                </a:solidFill>
                <a:latin typeface="Arial"/>
                <a:ea typeface="Arial"/>
                <a:cs typeface="Arial"/>
              </a:rPr>
              <a:t>Sotto soglia, codici più grandi correggono meglio; sopra soglia peggiorano.</a:t>
            </a:r>
            <a:endParaRPr sz="2025" b="1">
              <a:solidFill>
                <a:srgbClr val="175F99"/>
              </a:solidFill>
              <a:latin typeface="Arial"/>
              <a:ea typeface="Arial"/>
              <a:cs typeface="Arial"/>
            </a:endParaRPr>
          </a:p>
        </p:txBody>
      </p:sp>
      <p:sp>
        <p:nvSpPr>
          <p:cNvPr id="404" name="Passo 0"/>
          <p:cNvSpPr/>
          <p:nvPr/>
        </p:nvSpPr>
        <p:spPr>
          <a:xfrm>
            <a:off x="7800000" y="1500000"/>
            <a:ext cx="1180000" cy="360000"/>
          </a:xfrm>
          <a:prstGeom prst="roundRect">
            <a:avLst>
              <a:gd name="adj" fmla="val 50000"/>
            </a:avLst>
          </a:prstGeom>
          <a:solidFill>
            <a:srgbClr val="D9822B"/>
          </a:solidFill>
          <a:ln>
            <a:noFill/>
          </a:ln>
        </p:spPr>
        <p:txBody>
          <a:bodyPr wrap="square" lIns="0" tIns="0" rIns="0" bIns="0" rtlCol="0" anchor="ctr">
            <a:noAutofit/>
          </a:bodyPr>
          <a:lstStyle/>
          <a:p>
            <a:pPr algn="ctr">
              <a:buNone/>
            </a:pPr>
            <a:r>
              <a:rPr lang="it-IT" sz="1200" b="1">
                <a:solidFill>
                  <a:srgbClr val="FFFFFF"/>
                </a:solidFill>
                <a:latin typeface="Arial" panose="020B0604020202020204" pitchFamily="34" charset="0"/>
                <a:cs typeface="Arial"/>
              </a:rPr>
              <a:t>1  Soglia</a:t>
            </a:r>
          </a:p>
        </p:txBody>
      </p:sp>
      <p:sp>
        <p:nvSpPr>
          <p:cNvPr id="405" name="Passo 1"/>
          <p:cNvSpPr/>
          <p:nvPr/>
        </p:nvSpPr>
        <p:spPr>
          <a:xfrm>
            <a:off x="9101200" y="1500000"/>
            <a:ext cx="1180000" cy="360000"/>
          </a:xfrm>
          <a:prstGeom prst="roundRect">
            <a:avLst>
              <a:gd name="adj" fmla="val 50000"/>
            </a:avLst>
          </a:prstGeom>
          <a:solidFill>
            <a:srgbClr val="FFFFFF"/>
          </a:solidFill>
          <a:ln w="14288">
            <a:solidFill>
              <a:srgbClr val="C9D3DD"/>
            </a:solidFill>
          </a:ln>
        </p:spPr>
        <p:txBody>
          <a:bodyPr wrap="square" lIns="0" tIns="0" rIns="0" bIns="0" rtlCol="0" anchor="ctr">
            <a:noAutofit/>
          </a:bodyPr>
          <a:lstStyle/>
          <a:p>
            <a:pPr algn="ctr">
              <a:buNone/>
            </a:pPr>
            <a:r>
              <a:rPr lang="it-IT" sz="1200" b="1">
                <a:solidFill>
                  <a:srgbClr val="6B7785"/>
                </a:solidFill>
                <a:latin typeface="Arial" panose="020B0604020202020204" pitchFamily="34" charset="0"/>
                <a:cs typeface="Arial"/>
              </a:rPr>
              <a:t>2  Decoder</a:t>
            </a:r>
          </a:p>
        </p:txBody>
      </p:sp>
      <p:sp>
        <p:nvSpPr>
          <p:cNvPr id="406" name="Passo 2"/>
          <p:cNvSpPr/>
          <p:nvPr/>
        </p:nvSpPr>
        <p:spPr>
          <a:xfrm>
            <a:off x="10402400" y="1500000"/>
            <a:ext cx="1180000" cy="360000"/>
          </a:xfrm>
          <a:prstGeom prst="roundRect">
            <a:avLst>
              <a:gd name="adj" fmla="val 50000"/>
            </a:avLst>
          </a:prstGeom>
          <a:solidFill>
            <a:srgbClr val="FFFFFF"/>
          </a:solidFill>
          <a:ln w="14288">
            <a:solidFill>
              <a:srgbClr val="C9D3DD"/>
            </a:solidFill>
          </a:ln>
        </p:spPr>
        <p:txBody>
          <a:bodyPr wrap="square" lIns="0" tIns="0" rIns="0" bIns="0" rtlCol="0" anchor="ctr">
            <a:noAutofit/>
          </a:bodyPr>
          <a:lstStyle/>
          <a:p>
            <a:pPr algn="ctr">
              <a:buNone/>
            </a:pPr>
            <a:r>
              <a:rPr lang="it-IT" sz="1200" b="1">
                <a:solidFill>
                  <a:srgbClr val="6B7785"/>
                </a:solidFill>
                <a:latin typeface="Arial" panose="020B0604020202020204" pitchFamily="34" charset="0"/>
                <a:cs typeface="Arial"/>
              </a:rPr>
              <a:t>3  Qubit</a:t>
            </a:r>
          </a:p>
        </p:txBody>
      </p:sp>
      <p:sp>
        <p:nvSpPr>
          <p:cNvPr id="9" name="Passo 0"/>
          <p:cNvSpPr/>
          <p:nvPr/>
        </p:nvSpPr>
        <p:spPr>
          <a:xfrm>
            <a:off x="7800000" y="1500000"/>
            <a:ext cx="1180000" cy="360000"/>
          </a:xfrm>
          <a:prstGeom prst="roundRect">
            <a:avLst>
              <a:gd name="adj" fmla="val 50000"/>
            </a:avLst>
          </a:prstGeom>
          <a:solidFill>
            <a:srgbClr val="D9822B"/>
          </a:solidFill>
          <a:ln>
            <a:noFill/>
          </a:ln>
        </p:spPr>
        <p:txBody>
          <a:bodyPr wrap="square" lIns="0" tIns="0" rIns="0" bIns="0" rtlCol="0" anchor="ctr">
            <a:noAutofit/>
          </a:bodyPr>
          <a:lstStyle/>
          <a:p>
            <a:pPr algn="ctr">
              <a:buNone/>
            </a:pPr>
            <a:r>
              <a:rPr lang="it-IT" sz="1200" b="1">
                <a:solidFill>
                  <a:srgbClr val="FFFFFF"/>
                </a:solidFill>
                <a:latin typeface="Arial" panose="020B0604020202020204" pitchFamily="34" charset="0"/>
                <a:cs typeface="Arial"/>
              </a:rPr>
              <a:t>1  Soglia</a:t>
            </a:r>
          </a:p>
        </p:txBody>
      </p:sp>
      <p:sp>
        <p:nvSpPr>
          <p:cNvPr id="13" name="Passo 1"/>
          <p:cNvSpPr/>
          <p:nvPr/>
        </p:nvSpPr>
        <p:spPr>
          <a:xfrm>
            <a:off x="9101200" y="1500000"/>
            <a:ext cx="1180000" cy="360000"/>
          </a:xfrm>
          <a:prstGeom prst="roundRect">
            <a:avLst>
              <a:gd name="adj" fmla="val 50000"/>
            </a:avLst>
          </a:prstGeom>
          <a:solidFill>
            <a:srgbClr val="FFFFFF"/>
          </a:solidFill>
          <a:ln w="14288">
            <a:solidFill>
              <a:srgbClr val="C9D3DD"/>
            </a:solidFill>
          </a:ln>
        </p:spPr>
        <p:txBody>
          <a:bodyPr wrap="square" lIns="0" tIns="0" rIns="0" bIns="0" rtlCol="0" anchor="ctr">
            <a:noAutofit/>
          </a:bodyPr>
          <a:lstStyle/>
          <a:p>
            <a:pPr algn="ctr">
              <a:buNone/>
            </a:pPr>
            <a:r>
              <a:rPr lang="it-IT" sz="1200" b="1">
                <a:solidFill>
                  <a:srgbClr val="6B7785"/>
                </a:solidFill>
                <a:latin typeface="Arial" panose="020B0604020202020204" pitchFamily="34" charset="0"/>
                <a:cs typeface="Arial"/>
              </a:rPr>
              <a:t>2  Decoder</a:t>
            </a:r>
          </a:p>
        </p:txBody>
      </p:sp>
      <p:sp>
        <p:nvSpPr>
          <p:cNvPr id="14" name="Passo 2"/>
          <p:cNvSpPr/>
          <p:nvPr/>
        </p:nvSpPr>
        <p:spPr>
          <a:xfrm>
            <a:off x="10402400" y="1500000"/>
            <a:ext cx="1180000" cy="360000"/>
          </a:xfrm>
          <a:prstGeom prst="roundRect">
            <a:avLst>
              <a:gd name="adj" fmla="val 50000"/>
            </a:avLst>
          </a:prstGeom>
          <a:solidFill>
            <a:srgbClr val="FFFFFF"/>
          </a:solidFill>
          <a:ln w="14288">
            <a:solidFill>
              <a:srgbClr val="C9D3DD"/>
            </a:solidFill>
          </a:ln>
        </p:spPr>
        <p:txBody>
          <a:bodyPr wrap="square" lIns="0" tIns="0" rIns="0" bIns="0" rtlCol="0" anchor="ctr">
            <a:noAutofit/>
          </a:bodyPr>
          <a:lstStyle/>
          <a:p>
            <a:pPr algn="ctr">
              <a:buNone/>
            </a:pPr>
            <a:r>
              <a:rPr lang="it-IT" sz="1200" b="1">
                <a:solidFill>
                  <a:srgbClr val="6B7785"/>
                </a:solidFill>
                <a:latin typeface="Arial" panose="020B0604020202020204" pitchFamily="34" charset="0"/>
                <a:cs typeface="Arial"/>
              </a:rPr>
              <a:t>3  Qubit</a:t>
            </a:r>
          </a:p>
        </p:txBody>
      </p:sp>
      <p:sp>
        <p:nvSpPr>
          <p:cNvPr id="16" name="Passo 0"/>
          <p:cNvSpPr/>
          <p:nvPr/>
        </p:nvSpPr>
        <p:spPr>
          <a:xfrm>
            <a:off x="7800000" y="1500000"/>
            <a:ext cx="1180000" cy="360000"/>
          </a:xfrm>
          <a:prstGeom prst="roundRect">
            <a:avLst>
              <a:gd name="adj" fmla="val 50000"/>
            </a:avLst>
          </a:prstGeom>
          <a:solidFill>
            <a:srgbClr val="D9822B"/>
          </a:solidFill>
          <a:ln>
            <a:noFill/>
          </a:ln>
        </p:spPr>
        <p:txBody>
          <a:bodyPr wrap="square" lIns="0" tIns="0" rIns="0" bIns="0" rtlCol="0" anchor="ctr">
            <a:noAutofit/>
          </a:bodyPr>
          <a:lstStyle/>
          <a:p>
            <a:pPr algn="ctr">
              <a:buNone/>
            </a:pPr>
            <a:r>
              <a:rPr lang="it-IT" sz="1200" b="1">
                <a:solidFill>
                  <a:srgbClr val="FFFFFF"/>
                </a:solidFill>
                <a:latin typeface="Arial" panose="020B0604020202020204" pitchFamily="34" charset="0"/>
                <a:cs typeface="Arial"/>
              </a:rPr>
              <a:t>1  Soglia</a:t>
            </a:r>
          </a:p>
        </p:txBody>
      </p:sp>
      <p:sp>
        <p:nvSpPr>
          <p:cNvPr id="17" name="Passo 1"/>
          <p:cNvSpPr/>
          <p:nvPr/>
        </p:nvSpPr>
        <p:spPr>
          <a:xfrm>
            <a:off x="9101200" y="1500000"/>
            <a:ext cx="1180000" cy="360000"/>
          </a:xfrm>
          <a:prstGeom prst="roundRect">
            <a:avLst>
              <a:gd name="adj" fmla="val 50000"/>
            </a:avLst>
          </a:prstGeom>
          <a:solidFill>
            <a:srgbClr val="FFFFFF"/>
          </a:solidFill>
          <a:ln w="14288">
            <a:solidFill>
              <a:srgbClr val="C9D3DD"/>
            </a:solidFill>
          </a:ln>
        </p:spPr>
        <p:txBody>
          <a:bodyPr wrap="square" lIns="0" tIns="0" rIns="0" bIns="0" rtlCol="0" anchor="ctr">
            <a:noAutofit/>
          </a:bodyPr>
          <a:lstStyle/>
          <a:p>
            <a:pPr algn="ctr">
              <a:buNone/>
            </a:pPr>
            <a:r>
              <a:rPr lang="it-IT" sz="1200" b="1">
                <a:solidFill>
                  <a:srgbClr val="6B7785"/>
                </a:solidFill>
                <a:latin typeface="Arial" panose="020B0604020202020204" pitchFamily="34" charset="0"/>
                <a:cs typeface="Arial"/>
              </a:rPr>
              <a:t>2  Decoder</a:t>
            </a:r>
          </a:p>
        </p:txBody>
      </p:sp>
      <p:sp>
        <p:nvSpPr>
          <p:cNvPr id="18" name="Passo 2"/>
          <p:cNvSpPr/>
          <p:nvPr/>
        </p:nvSpPr>
        <p:spPr>
          <a:xfrm>
            <a:off x="10402400" y="1500000"/>
            <a:ext cx="1180000" cy="360000"/>
          </a:xfrm>
          <a:prstGeom prst="roundRect">
            <a:avLst>
              <a:gd name="adj" fmla="val 50000"/>
            </a:avLst>
          </a:prstGeom>
          <a:solidFill>
            <a:srgbClr val="FFFFFF"/>
          </a:solidFill>
          <a:ln w="14288">
            <a:solidFill>
              <a:srgbClr val="C9D3DD"/>
            </a:solidFill>
          </a:ln>
        </p:spPr>
        <p:txBody>
          <a:bodyPr wrap="square" lIns="0" tIns="0" rIns="0" bIns="0" rtlCol="0" anchor="ctr">
            <a:noAutofit/>
          </a:bodyPr>
          <a:lstStyle/>
          <a:p>
            <a:pPr algn="ctr">
              <a:buNone/>
            </a:pPr>
            <a:r>
              <a:rPr lang="it-IT" sz="1200" b="1">
                <a:solidFill>
                  <a:srgbClr val="6B7785"/>
                </a:solidFill>
                <a:latin typeface="Arial" panose="020B0604020202020204" pitchFamily="34" charset="0"/>
                <a:cs typeface="Arial"/>
              </a:rPr>
              <a:t>3  Qubit</a:t>
            </a:r>
          </a:p>
        </p:txBody>
      </p:sp>
      <p:sp>
        <p:nvSpPr>
          <p:cNvPr id="2" name="Passo 0"/>
          <p:cNvSpPr/>
          <p:nvPr/>
        </p:nvSpPr>
        <p:spPr>
          <a:xfrm>
            <a:off x="7800000" y="1500000"/>
            <a:ext cx="1180000" cy="360000"/>
          </a:xfrm>
          <a:prstGeom prst="roundRect">
            <a:avLst>
              <a:gd name="adj" fmla="val 50000"/>
            </a:avLst>
          </a:prstGeom>
          <a:solidFill>
            <a:srgbClr val="D9822B"/>
          </a:solidFill>
          <a:ln>
            <a:noFill/>
          </a:ln>
        </p:spPr>
        <p:txBody>
          <a:bodyPr wrap="square" lIns="0" tIns="0" rIns="0" bIns="0" rtlCol="0" anchor="ctr">
            <a:noAutofit/>
          </a:bodyPr>
          <a:lstStyle/>
          <a:p>
            <a:pPr algn="ctr">
              <a:buNone/>
            </a:pPr>
            <a:r>
              <a:rPr lang="it-IT" sz="1200" b="1">
                <a:solidFill>
                  <a:srgbClr val="FFFFFF"/>
                </a:solidFill>
                <a:latin typeface="Arial" panose="020B0604020202020204" pitchFamily="34" charset="0"/>
                <a:cs typeface="Arial"/>
              </a:rPr>
              <a:t>1  Soglia</a:t>
            </a:r>
          </a:p>
        </p:txBody>
      </p:sp>
      <p:sp>
        <p:nvSpPr>
          <p:cNvPr id="5" name="Passo 1"/>
          <p:cNvSpPr/>
          <p:nvPr/>
        </p:nvSpPr>
        <p:spPr>
          <a:xfrm>
            <a:off x="9101200" y="1500000"/>
            <a:ext cx="1180000" cy="360000"/>
          </a:xfrm>
          <a:prstGeom prst="roundRect">
            <a:avLst>
              <a:gd name="adj" fmla="val 50000"/>
            </a:avLst>
          </a:prstGeom>
          <a:solidFill>
            <a:srgbClr val="FFFFFF"/>
          </a:solidFill>
          <a:ln w="14288">
            <a:solidFill>
              <a:srgbClr val="C9D3DD"/>
            </a:solidFill>
          </a:ln>
        </p:spPr>
        <p:txBody>
          <a:bodyPr wrap="square" lIns="0" tIns="0" rIns="0" bIns="0" rtlCol="0" anchor="ctr">
            <a:noAutofit/>
          </a:bodyPr>
          <a:lstStyle/>
          <a:p>
            <a:pPr algn="ctr">
              <a:buNone/>
            </a:pPr>
            <a:r>
              <a:rPr lang="it-IT" sz="1200" b="1">
                <a:solidFill>
                  <a:srgbClr val="6B7785"/>
                </a:solidFill>
                <a:latin typeface="Arial" panose="020B0604020202020204" pitchFamily="34" charset="0"/>
                <a:cs typeface="Arial"/>
              </a:rPr>
              <a:t>2  Decoder</a:t>
            </a:r>
          </a:p>
        </p:txBody>
      </p:sp>
      <p:sp>
        <p:nvSpPr>
          <p:cNvPr id="8" name="Passo 2"/>
          <p:cNvSpPr/>
          <p:nvPr/>
        </p:nvSpPr>
        <p:spPr>
          <a:xfrm>
            <a:off x="10402400" y="1500000"/>
            <a:ext cx="1180000" cy="360000"/>
          </a:xfrm>
          <a:prstGeom prst="roundRect">
            <a:avLst>
              <a:gd name="adj" fmla="val 50000"/>
            </a:avLst>
          </a:prstGeom>
          <a:solidFill>
            <a:srgbClr val="FFFFFF"/>
          </a:solidFill>
          <a:ln w="14288">
            <a:solidFill>
              <a:srgbClr val="C9D3DD"/>
            </a:solidFill>
          </a:ln>
        </p:spPr>
        <p:txBody>
          <a:bodyPr wrap="square" lIns="0" tIns="0" rIns="0" bIns="0" rtlCol="0" anchor="ctr">
            <a:noAutofit/>
          </a:bodyPr>
          <a:lstStyle/>
          <a:p>
            <a:pPr algn="ctr">
              <a:buNone/>
            </a:pPr>
            <a:r>
              <a:rPr lang="it-IT" sz="1200" b="1">
                <a:solidFill>
                  <a:srgbClr val="6B7785"/>
                </a:solidFill>
                <a:latin typeface="Arial" panose="020B0604020202020204" pitchFamily="34" charset="0"/>
                <a:cs typeface="Arial"/>
              </a:rPr>
              <a:t>3  Qubit</a:t>
            </a:r>
          </a:p>
        </p:txBody>
      </p:sp>
    </p:spTree>
    <p:extLst>
      <p:ext uri="{BB962C8B-B14F-4D97-AF65-F5344CB8AC3E}">
        <p14:creationId xmlns:p14="http://schemas.microsoft.com/office/powerpoint/2010/main" val="23441892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3" name="Picture 12" descr="v2_s16_decoder_bposd_ibrido.png"/>
          <p:cNvPicPr>
            <a:picLocks noChangeAspect="1"/>
          </p:cNvPicPr>
          <p:nvPr/>
        </p:nvPicPr>
        <p:blipFill>
          <a:blip r:embed="rId3"/>
          <a:stretch>
            <a:fillRect/>
          </a:stretch>
        </p:blipFill>
        <p:spPr>
          <a:xfrm>
            <a:off x="609600" y="1500000"/>
            <a:ext cx="7093870" cy="4300000"/>
          </a:xfrm>
          <a:prstGeom prst="rect">
            <a:avLst/>
          </a:prstGeom>
        </p:spPr>
      </p:pic>
      <p:sp>
        <p:nvSpPr>
          <p:cNvPr id="11" name="Rectangle 10">
            <a:extLst>
              <a:ext uri="{FF2B5EF4-FFF2-40B4-BE49-F238E27FC236}">
                <a16:creationId xmlns:a16="http://schemas.microsoft.com/office/drawing/2014/main" id="{102FDD2B-0B15-4559-A78F-7510806E9E7B}"/>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2: decoder ibrido con crosstalk</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4"/>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9AED080-374B-49B1-8F03-8E6FD7F6D0AB}"/>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9383A908-0877-4618-A927-9F701AE6012C}"/>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2 · Correzione degli errori | 9</a:t>
            </a:r>
            <a:endParaRPr sz="1200" b="0">
              <a:solidFill>
                <a:srgbClr val="203344"/>
              </a:solidFill>
              <a:latin typeface="Arial"/>
              <a:ea typeface="Arial"/>
              <a:cs typeface="Arial"/>
            </a:endParaRPr>
          </a:p>
        </p:txBody>
      </p:sp>
      <p:sp>
        <p:nvSpPr>
          <p:cNvPr id="6" name="Rectangle 5">
            <a:extLst>
              <a:ext uri="{FF2B5EF4-FFF2-40B4-BE49-F238E27FC236}">
                <a16:creationId xmlns:a16="http://schemas.microsoft.com/office/drawing/2014/main" id="{B20ABF44-F325-4D36-BD1F-ABAF3859847D}"/>
              </a:ext>
            </a:extLst>
          </p:cNvPr>
          <p:cNvSpPr>
            <a:spLocks noGrp="1"/>
          </p:cNvSpPr>
          <p:nvPr/>
        </p:nvSpPr>
        <p:spPr>
          <a:xfrm>
            <a:off x="7800000" y="2350000"/>
            <a:ext cx="3782400" cy="950000"/>
          </a:xfrm>
          <a:prstGeom prst="rect">
            <a:avLst/>
          </a:prstGeom>
          <a:noFill/>
          <a:ln w="0">
            <a:noFill/>
          </a:ln>
        </p:spPr>
        <p:txBody>
          <a:bodyPr>
            <a:noAutofit/>
          </a:bodyPr>
          <a:lstStyle/>
          <a:p>
            <a:pPr>
              <a:defRPr sz="4575" b="1">
                <a:solidFill>
                  <a:srgbClr val="175F99"/>
                </a:solidFill>
                <a:latin typeface="Arial"/>
                <a:ea typeface="Arial"/>
                <a:cs typeface="Arial"/>
              </a:defRPr>
            </a:pPr>
            <a:r>
              <a:rPr sz="4575" b="1">
                <a:solidFill>
                  <a:srgbClr val="B5641A"/>
                </a:solidFill>
                <a:latin typeface="Arial"/>
                <a:ea typeface="Arial"/>
                <a:cs typeface="Arial"/>
              </a:rPr>
              <a:t>−16,8%</a:t>
            </a:r>
          </a:p>
        </p:txBody>
      </p:sp>
      <p:sp>
        <p:nvSpPr>
          <p:cNvPr id="7" name="Rectangle 6">
            <a:extLst>
              <a:ext uri="{FF2B5EF4-FFF2-40B4-BE49-F238E27FC236}">
                <a16:creationId xmlns:a16="http://schemas.microsoft.com/office/drawing/2014/main" id="{337B76D2-161E-4AC3-85EB-CBF789DC78E0}"/>
              </a:ext>
            </a:extLst>
          </p:cNvPr>
          <p:cNvSpPr>
            <a:spLocks noGrp="1"/>
          </p:cNvSpPr>
          <p:nvPr/>
        </p:nvSpPr>
        <p:spPr>
          <a:xfrm>
            <a:off x="7800000" y="3300000"/>
            <a:ext cx="3782400" cy="800000"/>
          </a:xfrm>
          <a:prstGeom prst="rect">
            <a:avLst/>
          </a:prstGeom>
          <a:noFill/>
          <a:ln w="0">
            <a:noFill/>
          </a:ln>
        </p:spPr>
        <p:txBody>
          <a:bodyPr>
            <a:noAutofit/>
          </a:bodyPr>
          <a:lstStyle/>
          <a:p>
            <a:pPr>
              <a:defRPr sz="2025" b="0">
                <a:solidFill>
                  <a:srgbClr val="203344"/>
                </a:solidFill>
                <a:latin typeface="Arial"/>
                <a:ea typeface="Arial"/>
                <a:cs typeface="Arial"/>
              </a:defRPr>
            </a:pPr>
            <a:r>
              <a:rPr lang="it-IT" sz="2025" b="0">
                <a:solidFill>
                  <a:srgbClr val="203344"/>
                </a:solidFill>
                <a:latin typeface="Arial"/>
                <a:ea typeface="Arial"/>
                <a:cs typeface="Arial"/>
              </a:rPr>
              <a:t>errori in meno con il decoder ibrido</a:t>
            </a:r>
          </a:p>
        </p:txBody>
      </p:sp>
      <p:sp>
        <p:nvSpPr>
          <p:cNvPr id="10" name="Rectangle 9">
            <a:extLst>
              <a:ext uri="{FF2B5EF4-FFF2-40B4-BE49-F238E27FC236}">
                <a16:creationId xmlns:a16="http://schemas.microsoft.com/office/drawing/2014/main" id="{EE85C313-4101-4A13-8229-69A60076480D}"/>
              </a:ext>
            </a:extLst>
          </p:cNvPr>
          <p:cNvSpPr>
            <a:spLocks noGrp="1"/>
          </p:cNvSpPr>
          <p:nvPr/>
        </p:nvSpPr>
        <p:spPr>
          <a:xfrm>
            <a:off x="609600" y="6150000"/>
            <a:ext cx="10972800" cy="450000"/>
          </a:xfrm>
          <a:prstGeom prst="rect">
            <a:avLst/>
          </a:prstGeom>
          <a:noFill/>
          <a:ln w="0">
            <a:noFill/>
          </a:ln>
        </p:spPr>
        <p:txBody>
          <a:bodyPr>
            <a:noAutofit/>
          </a:bodyPr>
          <a:lstStyle/>
          <a:p>
            <a:pPr>
              <a:defRPr sz="1950" b="1">
                <a:solidFill>
                  <a:srgbClr val="175F99"/>
                </a:solidFill>
                <a:latin typeface="Arial"/>
                <a:ea typeface="Arial"/>
                <a:cs typeface="Arial"/>
              </a:defRPr>
            </a:pPr>
            <a:r>
              <a:rPr lang="it-IT" b="1">
                <a:solidFill>
                  <a:srgbClr val="175F99"/>
                </a:solidFill>
                <a:latin typeface="Arial"/>
                <a:ea typeface="Arial"/>
                <a:cs typeface="Arial"/>
              </a:rPr>
              <a:t>Il ML aiuta come correttore di MWPM; il vantaggio cala sui codici più grandi.</a:t>
            </a:r>
            <a:endParaRPr b="1">
              <a:solidFill>
                <a:srgbClr val="175F99"/>
              </a:solidFill>
              <a:latin typeface="Arial"/>
              <a:ea typeface="Arial"/>
              <a:cs typeface="Arial"/>
            </a:endParaRPr>
          </a:p>
        </p:txBody>
      </p:sp>
      <p:sp>
        <p:nvSpPr>
          <p:cNvPr id="407" name="Passo 0"/>
          <p:cNvSpPr/>
          <p:nvPr/>
        </p:nvSpPr>
        <p:spPr>
          <a:xfrm>
            <a:off x="7800000" y="1500000"/>
            <a:ext cx="1180000" cy="360000"/>
          </a:xfrm>
          <a:prstGeom prst="roundRect">
            <a:avLst>
              <a:gd name="adj" fmla="val 50000"/>
            </a:avLst>
          </a:prstGeom>
          <a:solidFill>
            <a:srgbClr val="FFFFFF"/>
          </a:solidFill>
          <a:ln w="14288">
            <a:solidFill>
              <a:srgbClr val="C9D3DD"/>
            </a:solidFill>
          </a:ln>
        </p:spPr>
        <p:txBody>
          <a:bodyPr wrap="square" lIns="0" tIns="0" rIns="0" bIns="0" rtlCol="0" anchor="ctr">
            <a:noAutofit/>
          </a:bodyPr>
          <a:lstStyle/>
          <a:p>
            <a:pPr algn="ctr">
              <a:buNone/>
            </a:pPr>
            <a:r>
              <a:rPr lang="it-IT" sz="1200" b="1">
                <a:solidFill>
                  <a:srgbClr val="6B7785"/>
                </a:solidFill>
                <a:latin typeface="Arial" panose="020B0604020202020204" pitchFamily="34" charset="0"/>
                <a:cs typeface="Arial"/>
              </a:rPr>
              <a:t>1  Soglia</a:t>
            </a:r>
          </a:p>
        </p:txBody>
      </p:sp>
      <p:sp>
        <p:nvSpPr>
          <p:cNvPr id="408" name="Passo 1"/>
          <p:cNvSpPr/>
          <p:nvPr/>
        </p:nvSpPr>
        <p:spPr>
          <a:xfrm>
            <a:off x="9101200" y="1500000"/>
            <a:ext cx="1180000" cy="360000"/>
          </a:xfrm>
          <a:prstGeom prst="roundRect">
            <a:avLst>
              <a:gd name="adj" fmla="val 50000"/>
            </a:avLst>
          </a:prstGeom>
          <a:solidFill>
            <a:srgbClr val="D9822B"/>
          </a:solidFill>
          <a:ln>
            <a:noFill/>
          </a:ln>
        </p:spPr>
        <p:txBody>
          <a:bodyPr wrap="square" lIns="0" tIns="0" rIns="0" bIns="0" rtlCol="0" anchor="ctr">
            <a:noAutofit/>
          </a:bodyPr>
          <a:lstStyle/>
          <a:p>
            <a:pPr algn="ctr">
              <a:buNone/>
            </a:pPr>
            <a:r>
              <a:rPr lang="it-IT" sz="1200" b="1">
                <a:solidFill>
                  <a:srgbClr val="FFFFFF"/>
                </a:solidFill>
                <a:latin typeface="Arial" panose="020B0604020202020204" pitchFamily="34" charset="0"/>
                <a:cs typeface="Arial"/>
              </a:rPr>
              <a:t>2  Decoder</a:t>
            </a:r>
          </a:p>
        </p:txBody>
      </p:sp>
      <p:sp>
        <p:nvSpPr>
          <p:cNvPr id="409" name="Passo 2"/>
          <p:cNvSpPr/>
          <p:nvPr/>
        </p:nvSpPr>
        <p:spPr>
          <a:xfrm>
            <a:off x="10402400" y="1500000"/>
            <a:ext cx="1180000" cy="360000"/>
          </a:xfrm>
          <a:prstGeom prst="roundRect">
            <a:avLst>
              <a:gd name="adj" fmla="val 50000"/>
            </a:avLst>
          </a:prstGeom>
          <a:solidFill>
            <a:srgbClr val="FFFFFF"/>
          </a:solidFill>
          <a:ln w="14288">
            <a:solidFill>
              <a:srgbClr val="C9D3DD"/>
            </a:solidFill>
          </a:ln>
        </p:spPr>
        <p:txBody>
          <a:bodyPr wrap="square" lIns="0" tIns="0" rIns="0" bIns="0" rtlCol="0" anchor="ctr">
            <a:noAutofit/>
          </a:bodyPr>
          <a:lstStyle/>
          <a:p>
            <a:pPr algn="ctr">
              <a:buNone/>
            </a:pPr>
            <a:r>
              <a:rPr lang="it-IT" sz="1200" b="1">
                <a:solidFill>
                  <a:srgbClr val="6B7785"/>
                </a:solidFill>
                <a:latin typeface="Arial" panose="020B0604020202020204" pitchFamily="34" charset="0"/>
                <a:cs typeface="Arial"/>
              </a:rPr>
              <a:t>3  Qubit</a:t>
            </a:r>
          </a:p>
        </p:txBody>
      </p:sp>
      <p:sp>
        <p:nvSpPr>
          <p:cNvPr id="9" name="Passo 0"/>
          <p:cNvSpPr/>
          <p:nvPr/>
        </p:nvSpPr>
        <p:spPr>
          <a:xfrm>
            <a:off x="7800000" y="1500000"/>
            <a:ext cx="1180000" cy="360000"/>
          </a:xfrm>
          <a:prstGeom prst="roundRect">
            <a:avLst>
              <a:gd name="adj" fmla="val 50000"/>
            </a:avLst>
          </a:prstGeom>
          <a:solidFill>
            <a:srgbClr val="FFFFFF"/>
          </a:solidFill>
          <a:ln w="14288">
            <a:solidFill>
              <a:srgbClr val="C9D3DD"/>
            </a:solidFill>
          </a:ln>
        </p:spPr>
        <p:txBody>
          <a:bodyPr wrap="square" lIns="0" tIns="0" rIns="0" bIns="0" rtlCol="0" anchor="ctr">
            <a:noAutofit/>
          </a:bodyPr>
          <a:lstStyle/>
          <a:p>
            <a:pPr algn="ctr">
              <a:buNone/>
            </a:pPr>
            <a:r>
              <a:rPr lang="it-IT" sz="1200" b="1">
                <a:solidFill>
                  <a:srgbClr val="6B7785"/>
                </a:solidFill>
                <a:latin typeface="Arial" panose="020B0604020202020204" pitchFamily="34" charset="0"/>
                <a:cs typeface="Arial"/>
              </a:rPr>
              <a:t>1  Soglia</a:t>
            </a:r>
          </a:p>
        </p:txBody>
      </p:sp>
      <p:sp>
        <p:nvSpPr>
          <p:cNvPr id="14" name="Passo 1"/>
          <p:cNvSpPr/>
          <p:nvPr/>
        </p:nvSpPr>
        <p:spPr>
          <a:xfrm>
            <a:off x="9101200" y="1500000"/>
            <a:ext cx="1180000" cy="360000"/>
          </a:xfrm>
          <a:prstGeom prst="roundRect">
            <a:avLst>
              <a:gd name="adj" fmla="val 50000"/>
            </a:avLst>
          </a:prstGeom>
          <a:solidFill>
            <a:srgbClr val="D9822B"/>
          </a:solidFill>
          <a:ln>
            <a:noFill/>
          </a:ln>
        </p:spPr>
        <p:txBody>
          <a:bodyPr wrap="square" lIns="0" tIns="0" rIns="0" bIns="0" rtlCol="0" anchor="ctr">
            <a:noAutofit/>
          </a:bodyPr>
          <a:lstStyle/>
          <a:p>
            <a:pPr algn="ctr">
              <a:buNone/>
            </a:pPr>
            <a:r>
              <a:rPr lang="it-IT" sz="1200" b="1">
                <a:solidFill>
                  <a:srgbClr val="FFFFFF"/>
                </a:solidFill>
                <a:latin typeface="Arial" panose="020B0604020202020204" pitchFamily="34" charset="0"/>
                <a:cs typeface="Arial"/>
              </a:rPr>
              <a:t>2  Decoder</a:t>
            </a:r>
          </a:p>
        </p:txBody>
      </p:sp>
      <p:sp>
        <p:nvSpPr>
          <p:cNvPr id="15" name="Passo 2"/>
          <p:cNvSpPr/>
          <p:nvPr/>
        </p:nvSpPr>
        <p:spPr>
          <a:xfrm>
            <a:off x="10402400" y="1500000"/>
            <a:ext cx="1180000" cy="360000"/>
          </a:xfrm>
          <a:prstGeom prst="roundRect">
            <a:avLst>
              <a:gd name="adj" fmla="val 50000"/>
            </a:avLst>
          </a:prstGeom>
          <a:solidFill>
            <a:srgbClr val="FFFFFF"/>
          </a:solidFill>
          <a:ln w="14288">
            <a:solidFill>
              <a:srgbClr val="C9D3DD"/>
            </a:solidFill>
          </a:ln>
        </p:spPr>
        <p:txBody>
          <a:bodyPr wrap="square" lIns="0" tIns="0" rIns="0" bIns="0" rtlCol="0" anchor="ctr">
            <a:noAutofit/>
          </a:bodyPr>
          <a:lstStyle/>
          <a:p>
            <a:pPr algn="ctr">
              <a:buNone/>
            </a:pPr>
            <a:r>
              <a:rPr lang="it-IT" sz="1200" b="1">
                <a:solidFill>
                  <a:srgbClr val="6B7785"/>
                </a:solidFill>
                <a:latin typeface="Arial" panose="020B0604020202020204" pitchFamily="34" charset="0"/>
                <a:cs typeface="Arial"/>
              </a:rPr>
              <a:t>3  Qubit</a:t>
            </a:r>
          </a:p>
        </p:txBody>
      </p:sp>
      <p:sp>
        <p:nvSpPr>
          <p:cNvPr id="16" name="Passo 0"/>
          <p:cNvSpPr/>
          <p:nvPr/>
        </p:nvSpPr>
        <p:spPr>
          <a:xfrm>
            <a:off x="7800000" y="1500000"/>
            <a:ext cx="1180000" cy="360000"/>
          </a:xfrm>
          <a:prstGeom prst="roundRect">
            <a:avLst>
              <a:gd name="adj" fmla="val 50000"/>
            </a:avLst>
          </a:prstGeom>
          <a:solidFill>
            <a:srgbClr val="FFFFFF"/>
          </a:solidFill>
          <a:ln w="14288">
            <a:solidFill>
              <a:srgbClr val="C9D3DD"/>
            </a:solidFill>
          </a:ln>
        </p:spPr>
        <p:txBody>
          <a:bodyPr wrap="square" lIns="0" tIns="0" rIns="0" bIns="0" rtlCol="0" anchor="ctr">
            <a:noAutofit/>
          </a:bodyPr>
          <a:lstStyle/>
          <a:p>
            <a:pPr algn="ctr">
              <a:buNone/>
            </a:pPr>
            <a:r>
              <a:rPr lang="it-IT" sz="1200" b="1">
                <a:solidFill>
                  <a:srgbClr val="6B7785"/>
                </a:solidFill>
                <a:latin typeface="Arial" panose="020B0604020202020204" pitchFamily="34" charset="0"/>
                <a:cs typeface="Arial"/>
              </a:rPr>
              <a:t>1  Soglia</a:t>
            </a:r>
          </a:p>
        </p:txBody>
      </p:sp>
      <p:sp>
        <p:nvSpPr>
          <p:cNvPr id="17" name="Passo 1"/>
          <p:cNvSpPr/>
          <p:nvPr/>
        </p:nvSpPr>
        <p:spPr>
          <a:xfrm>
            <a:off x="9101200" y="1500000"/>
            <a:ext cx="1180000" cy="360000"/>
          </a:xfrm>
          <a:prstGeom prst="roundRect">
            <a:avLst>
              <a:gd name="adj" fmla="val 50000"/>
            </a:avLst>
          </a:prstGeom>
          <a:solidFill>
            <a:srgbClr val="D9822B"/>
          </a:solidFill>
          <a:ln>
            <a:noFill/>
          </a:ln>
        </p:spPr>
        <p:txBody>
          <a:bodyPr wrap="square" lIns="0" tIns="0" rIns="0" bIns="0" rtlCol="0" anchor="ctr">
            <a:noAutofit/>
          </a:bodyPr>
          <a:lstStyle/>
          <a:p>
            <a:pPr algn="ctr">
              <a:buNone/>
            </a:pPr>
            <a:r>
              <a:rPr lang="it-IT" sz="1200" b="1">
                <a:solidFill>
                  <a:srgbClr val="FFFFFF"/>
                </a:solidFill>
                <a:latin typeface="Arial" panose="020B0604020202020204" pitchFamily="34" charset="0"/>
                <a:cs typeface="Arial"/>
              </a:rPr>
              <a:t>2  Decoder</a:t>
            </a:r>
          </a:p>
        </p:txBody>
      </p:sp>
      <p:sp>
        <p:nvSpPr>
          <p:cNvPr id="18" name="Passo 2"/>
          <p:cNvSpPr/>
          <p:nvPr/>
        </p:nvSpPr>
        <p:spPr>
          <a:xfrm>
            <a:off x="10402400" y="1500000"/>
            <a:ext cx="1180000" cy="360000"/>
          </a:xfrm>
          <a:prstGeom prst="roundRect">
            <a:avLst>
              <a:gd name="adj" fmla="val 50000"/>
            </a:avLst>
          </a:prstGeom>
          <a:solidFill>
            <a:srgbClr val="FFFFFF"/>
          </a:solidFill>
          <a:ln w="14288">
            <a:solidFill>
              <a:srgbClr val="C9D3DD"/>
            </a:solidFill>
          </a:ln>
        </p:spPr>
        <p:txBody>
          <a:bodyPr wrap="square" lIns="0" tIns="0" rIns="0" bIns="0" rtlCol="0" anchor="ctr">
            <a:noAutofit/>
          </a:bodyPr>
          <a:lstStyle/>
          <a:p>
            <a:pPr algn="ctr">
              <a:buNone/>
            </a:pPr>
            <a:r>
              <a:rPr lang="it-IT" sz="1200" b="1">
                <a:solidFill>
                  <a:srgbClr val="6B7785"/>
                </a:solidFill>
                <a:latin typeface="Arial" panose="020B0604020202020204" pitchFamily="34" charset="0"/>
                <a:cs typeface="Arial"/>
              </a:rPr>
              <a:t>3  Qubit</a:t>
            </a:r>
          </a:p>
        </p:txBody>
      </p:sp>
      <p:sp>
        <p:nvSpPr>
          <p:cNvPr id="2" name="Passo 0"/>
          <p:cNvSpPr/>
          <p:nvPr/>
        </p:nvSpPr>
        <p:spPr>
          <a:xfrm>
            <a:off x="7800000" y="1500000"/>
            <a:ext cx="1180000" cy="360000"/>
          </a:xfrm>
          <a:prstGeom prst="roundRect">
            <a:avLst>
              <a:gd name="adj" fmla="val 50000"/>
            </a:avLst>
          </a:prstGeom>
          <a:solidFill>
            <a:srgbClr val="FFFFFF"/>
          </a:solidFill>
          <a:ln w="14288">
            <a:solidFill>
              <a:srgbClr val="C9D3DD"/>
            </a:solidFill>
          </a:ln>
        </p:spPr>
        <p:txBody>
          <a:bodyPr wrap="square" lIns="0" tIns="0" rIns="0" bIns="0" rtlCol="0" anchor="ctr">
            <a:noAutofit/>
          </a:bodyPr>
          <a:lstStyle/>
          <a:p>
            <a:pPr algn="ctr">
              <a:buNone/>
            </a:pPr>
            <a:r>
              <a:rPr lang="it-IT" sz="1200" b="1">
                <a:solidFill>
                  <a:srgbClr val="6B7785"/>
                </a:solidFill>
                <a:latin typeface="Arial" panose="020B0604020202020204" pitchFamily="34" charset="0"/>
                <a:cs typeface="Arial"/>
              </a:rPr>
              <a:t>1  Soglia</a:t>
            </a:r>
          </a:p>
        </p:txBody>
      </p:sp>
      <p:sp>
        <p:nvSpPr>
          <p:cNvPr id="5" name="Passo 1"/>
          <p:cNvSpPr/>
          <p:nvPr/>
        </p:nvSpPr>
        <p:spPr>
          <a:xfrm>
            <a:off x="9101200" y="1500000"/>
            <a:ext cx="1180000" cy="360000"/>
          </a:xfrm>
          <a:prstGeom prst="roundRect">
            <a:avLst>
              <a:gd name="adj" fmla="val 50000"/>
            </a:avLst>
          </a:prstGeom>
          <a:solidFill>
            <a:srgbClr val="D9822B"/>
          </a:solidFill>
          <a:ln>
            <a:noFill/>
          </a:ln>
        </p:spPr>
        <p:txBody>
          <a:bodyPr wrap="square" lIns="0" tIns="0" rIns="0" bIns="0" rtlCol="0" anchor="ctr">
            <a:noAutofit/>
          </a:bodyPr>
          <a:lstStyle/>
          <a:p>
            <a:pPr algn="ctr">
              <a:buNone/>
            </a:pPr>
            <a:r>
              <a:rPr lang="it-IT" sz="1200" b="1">
                <a:solidFill>
                  <a:srgbClr val="FFFFFF"/>
                </a:solidFill>
                <a:latin typeface="Arial" panose="020B0604020202020204" pitchFamily="34" charset="0"/>
                <a:cs typeface="Arial"/>
              </a:rPr>
              <a:t>2  Decoder</a:t>
            </a:r>
          </a:p>
        </p:txBody>
      </p:sp>
      <p:sp>
        <p:nvSpPr>
          <p:cNvPr id="8" name="Passo 2"/>
          <p:cNvSpPr/>
          <p:nvPr/>
        </p:nvSpPr>
        <p:spPr>
          <a:xfrm>
            <a:off x="10402400" y="1500000"/>
            <a:ext cx="1180000" cy="360000"/>
          </a:xfrm>
          <a:prstGeom prst="roundRect">
            <a:avLst>
              <a:gd name="adj" fmla="val 50000"/>
            </a:avLst>
          </a:prstGeom>
          <a:solidFill>
            <a:srgbClr val="FFFFFF"/>
          </a:solidFill>
          <a:ln w="14288">
            <a:solidFill>
              <a:srgbClr val="C9D3DD"/>
            </a:solidFill>
          </a:ln>
        </p:spPr>
        <p:txBody>
          <a:bodyPr wrap="square" lIns="0" tIns="0" rIns="0" bIns="0" rtlCol="0" anchor="ctr">
            <a:noAutofit/>
          </a:bodyPr>
          <a:lstStyle/>
          <a:p>
            <a:pPr algn="ctr">
              <a:buNone/>
            </a:pPr>
            <a:r>
              <a:rPr lang="it-IT" sz="1200" b="1">
                <a:solidFill>
                  <a:srgbClr val="6B7785"/>
                </a:solidFill>
                <a:latin typeface="Arial" panose="020B0604020202020204" pitchFamily="34" charset="0"/>
                <a:cs typeface="Arial"/>
              </a:rPr>
              <a:t>3  Qubit</a:t>
            </a:r>
          </a:p>
        </p:txBody>
      </p:sp>
    </p:spTree>
    <p:extLst>
      <p:ext uri="{BB962C8B-B14F-4D97-AF65-F5344CB8AC3E}">
        <p14:creationId xmlns:p14="http://schemas.microsoft.com/office/powerpoint/2010/main" val="203592846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2DD45B49-2B11-4DFB-98C7-25966E63F343}"/>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2: Gross code e numero di qubit</a:t>
            </a:r>
            <a:endParaRPr sz="2700" b="0">
              <a:solidFill>
                <a:srgbClr val="003366"/>
              </a:solidFill>
              <a:latin typeface="Arial"/>
              <a:ea typeface="Arial"/>
              <a:cs typeface="Arial"/>
            </a:endParaRPr>
          </a:p>
        </p:txBody>
      </p:sp>
      <p:pic>
        <p:nvPicPr>
          <p:cNvPr id="16" name="Picture 15"/>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E81DA0D9-D748-4F9F-9C08-BE658E4E9967}"/>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6E3FE9E0-BFDE-43C4-92FF-F134608A13C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2 · Correzione degli errori | 10</a:t>
            </a:r>
            <a:endParaRPr sz="1200" b="0">
              <a:solidFill>
                <a:srgbClr val="203344"/>
              </a:solidFill>
              <a:latin typeface="Arial"/>
              <a:ea typeface="Arial"/>
              <a:cs typeface="Arial"/>
            </a:endParaRPr>
          </a:p>
        </p:txBody>
      </p:sp>
      <p:sp>
        <p:nvSpPr>
          <p:cNvPr id="14" name="Rectangle 13">
            <a:extLst>
              <a:ext uri="{FF2B5EF4-FFF2-40B4-BE49-F238E27FC236}">
                <a16:creationId xmlns:a16="http://schemas.microsoft.com/office/drawing/2014/main" id="{56FACC26-75FB-4DAA-A0AD-6154F7148699}"/>
              </a:ext>
            </a:extLst>
          </p:cNvPr>
          <p:cNvSpPr>
            <a:spLocks noGrp="1"/>
          </p:cNvSpPr>
          <p:nvPr/>
        </p:nvSpPr>
        <p:spPr>
          <a:xfrm>
            <a:off x="609600" y="6150000"/>
            <a:ext cx="10972800" cy="450000"/>
          </a:xfrm>
          <a:prstGeom prst="rect">
            <a:avLst/>
          </a:prstGeom>
          <a:noFill/>
          <a:ln w="0">
            <a:noFill/>
          </a:ln>
        </p:spPr>
        <p:txBody>
          <a:bodyPr>
            <a:noAutofit/>
          </a:bodyPr>
          <a:lstStyle/>
          <a:p>
            <a:pPr>
              <a:defRPr sz="1950" b="1">
                <a:solidFill>
                  <a:srgbClr val="175F99"/>
                </a:solidFill>
                <a:latin typeface="Arial"/>
                <a:ea typeface="Arial"/>
                <a:cs typeface="Arial"/>
              </a:defRPr>
            </a:pPr>
            <a:r>
              <a:rPr lang="it-IT" sz="1950" b="1">
                <a:solidFill>
                  <a:srgbClr val="175F99"/>
                </a:solidFill>
                <a:latin typeface="Arial"/>
                <a:ea typeface="Arial"/>
                <a:cs typeface="Arial"/>
              </a:rPr>
              <a:t>10–14 volte meno qubit e, all'1% di errore, anche meno errori logici.</a:t>
            </a:r>
          </a:p>
        </p:txBody>
      </p:sp>
      <p:sp>
        <p:nvSpPr>
          <p:cNvPr id="40" name="Nota simulazione"/>
          <p:cNvSpPr>
            <a:spLocks noGrp="1"/>
          </p:cNvSpPr>
          <p:nvPr/>
        </p:nvSpPr>
        <p:spPr>
          <a:xfrm>
            <a:off x="609600" y="5150000"/>
            <a:ext cx="7000000" cy="500000"/>
          </a:xfrm>
          <a:prstGeom prst="rect">
            <a:avLst/>
          </a:prstGeom>
          <a:noFill/>
          <a:ln w="0">
            <a:noFill/>
          </a:ln>
        </p:spPr>
        <p:txBody>
          <a:bodyPr>
            <a:noAutofit/>
          </a:bodyPr>
          <a:lstStyle/>
          <a:p>
            <a:pPr>
              <a:defRPr sz="1500" b="0">
                <a:solidFill>
                  <a:srgbClr val="5A6B7B"/>
                </a:solidFill>
                <a:latin typeface="Arial"/>
                <a:ea typeface="Arial"/>
                <a:cs typeface="Arial"/>
              </a:defRPr>
            </a:pPr>
            <a:r>
              <a:rPr lang="it-IT" sz="1500" b="0">
                <a:solidFill>
                  <a:srgbClr val="5A6B7B"/>
                </a:solidFill>
                <a:latin typeface="Arial"/>
                <a:ea typeface="Arial"/>
                <a:cs typeface="Arial"/>
              </a:rPr>
              <a:t>Qubit per 12 qubit logici, errore logico all'1% · modello semplificato (code-capacity), uguale per tutti i codici</a:t>
            </a:r>
          </a:p>
        </p:txBody>
      </p:sp>
      <p:sp>
        <p:nvSpPr>
          <p:cNvPr id="2" name="TextBox 1">
            <a:extLst>
              <a:ext uri="{FF2B5EF4-FFF2-40B4-BE49-F238E27FC236}">
                <a16:creationId xmlns:a16="http://schemas.microsoft.com/office/drawing/2014/main" id="{6CC69F4F-C1C0-F662-B4B2-B110AEC17965}"/>
              </a:ext>
            </a:extLst>
          </p:cNvPr>
          <p:cNvSpPr txBox="1"/>
          <p:nvPr/>
        </p:nvSpPr>
        <p:spPr>
          <a:xfrm>
            <a:off x="609600" y="1950000"/>
            <a:ext cx="3000000" cy="700000"/>
          </a:xfrm>
          <a:prstGeom prst="rect">
            <a:avLst/>
          </a:prstGeom>
          <a:noFill/>
        </p:spPr>
        <p:txBody>
          <a:bodyPr vert="horz" wrap="square" rtlCol="0">
            <a:noAutofit/>
          </a:bodyPr>
          <a:lstStyle/>
          <a:p>
            <a:r>
              <a:rPr lang="en-GB" sz="1800" b="1">
                <a:solidFill>
                  <a:srgbClr val="203344"/>
                </a:solidFill>
                <a:latin typeface="Arial" panose="020B0604020202020204" pitchFamily="34" charset="0"/>
              </a:rPr>
              <a:t>Gross code</a:t>
            </a:r>
          </a:p>
          <a:p>
            <a:r>
              <a:rPr lang="en-GB" sz="1400">
                <a:solidFill>
                  <a:srgbClr val="6B7785"/>
                </a:solidFill>
                <a:latin typeface="Arial" panose="020B0604020202020204" pitchFamily="34" charset="0"/>
              </a:rPr>
              <a:t>errore logico 1,0×10⁻⁶</a:t>
            </a:r>
          </a:p>
        </p:txBody>
      </p:sp>
      <p:sp>
        <p:nvSpPr>
          <p:cNvPr id="17" name="Rectangle 16">
            <a:extLst>
              <a:ext uri="{FF2B5EF4-FFF2-40B4-BE49-F238E27FC236}">
                <a16:creationId xmlns:a16="http://schemas.microsoft.com/office/drawing/2014/main" id="{9148C583-5F91-EA23-2FB5-8EE6E27AC3C5}"/>
              </a:ext>
            </a:extLst>
          </p:cNvPr>
          <p:cNvSpPr/>
          <p:nvPr/>
        </p:nvSpPr>
        <p:spPr>
          <a:xfrm>
            <a:off x="3700000" y="2030000"/>
            <a:ext cx="184615" cy="420000"/>
          </a:xfrm>
          <a:prstGeom prst="rect">
            <a:avLst/>
          </a:prstGeom>
          <a:solidFill>
            <a:srgbClr val="D9822B"/>
          </a:solidFill>
          <a:ln w="19050">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7BF7674F-7718-D766-7EEB-A9A243251484}"/>
              </a:ext>
            </a:extLst>
          </p:cNvPr>
          <p:cNvSpPr txBox="1"/>
          <p:nvPr/>
        </p:nvSpPr>
        <p:spPr>
          <a:xfrm>
            <a:off x="4004615" y="2010000"/>
            <a:ext cx="1300000" cy="450000"/>
          </a:xfrm>
          <a:prstGeom prst="rect">
            <a:avLst/>
          </a:prstGeom>
          <a:noFill/>
        </p:spPr>
        <p:txBody>
          <a:bodyPr vert="horz" wrap="square" rtlCol="0">
            <a:noAutofit/>
          </a:bodyPr>
          <a:lstStyle/>
          <a:p>
            <a:r>
              <a:rPr lang="it-IT" sz="1950" b="1">
                <a:solidFill>
                  <a:srgbClr val="B5641A"/>
                </a:solidFill>
                <a:latin typeface="Arial" panose="020B0604020202020204" pitchFamily="34" charset="0"/>
              </a:rPr>
              <a:t>144</a:t>
            </a:r>
          </a:p>
        </p:txBody>
      </p:sp>
      <p:sp>
        <p:nvSpPr>
          <p:cNvPr id="19" name="TextBox 18">
            <a:extLst>
              <a:ext uri="{FF2B5EF4-FFF2-40B4-BE49-F238E27FC236}">
                <a16:creationId xmlns:a16="http://schemas.microsoft.com/office/drawing/2014/main" id="{FBADE274-5C8A-78BC-573F-8D208A4B8336}"/>
              </a:ext>
            </a:extLst>
          </p:cNvPr>
          <p:cNvSpPr txBox="1"/>
          <p:nvPr/>
        </p:nvSpPr>
        <p:spPr>
          <a:xfrm>
            <a:off x="609600" y="3000000"/>
            <a:ext cx="3000000" cy="700000"/>
          </a:xfrm>
          <a:prstGeom prst="rect">
            <a:avLst/>
          </a:prstGeom>
          <a:noFill/>
        </p:spPr>
        <p:txBody>
          <a:bodyPr vert="horz" wrap="square" rtlCol="0">
            <a:noAutofit/>
          </a:bodyPr>
          <a:lstStyle/>
          <a:p>
            <a:r>
              <a:rPr lang="fr-FR" sz="1800">
                <a:solidFill>
                  <a:srgbClr val="203344"/>
                </a:solidFill>
                <a:latin typeface="Arial" panose="020B0604020202020204" pitchFamily="34" charset="0"/>
              </a:rPr>
              <a:t>Surface code, d = 11</a:t>
            </a:r>
          </a:p>
          <a:p>
            <a:r>
              <a:rPr lang="fr-FR" sz="1400">
                <a:solidFill>
                  <a:srgbClr val="6B7785"/>
                </a:solidFill>
                <a:latin typeface="Arial" panose="020B0604020202020204" pitchFamily="34" charset="0"/>
              </a:rPr>
              <a:t>12 patch · errore logico 1,2×10⁻⁵</a:t>
            </a:r>
          </a:p>
        </p:txBody>
      </p:sp>
      <p:sp>
        <p:nvSpPr>
          <p:cNvPr id="20" name="Rectangle 19">
            <a:extLst>
              <a:ext uri="{FF2B5EF4-FFF2-40B4-BE49-F238E27FC236}">
                <a16:creationId xmlns:a16="http://schemas.microsoft.com/office/drawing/2014/main" id="{17EEBA82-F5DD-FBA4-53C0-D669891ED9C6}"/>
              </a:ext>
            </a:extLst>
          </p:cNvPr>
          <p:cNvSpPr/>
          <p:nvPr/>
        </p:nvSpPr>
        <p:spPr>
          <a:xfrm>
            <a:off x="3700000" y="3080000"/>
            <a:ext cx="1861538" cy="420000"/>
          </a:xfrm>
          <a:prstGeom prst="rect">
            <a:avLst/>
          </a:prstGeom>
          <a:solidFill>
            <a:srgbClr val="B8C7D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extBox 20">
            <a:extLst>
              <a:ext uri="{FF2B5EF4-FFF2-40B4-BE49-F238E27FC236}">
                <a16:creationId xmlns:a16="http://schemas.microsoft.com/office/drawing/2014/main" id="{985FA1F8-8FD8-D08F-6193-F42B82486A22}"/>
              </a:ext>
            </a:extLst>
          </p:cNvPr>
          <p:cNvSpPr txBox="1"/>
          <p:nvPr/>
        </p:nvSpPr>
        <p:spPr>
          <a:xfrm>
            <a:off x="5681538" y="3060000"/>
            <a:ext cx="1300000" cy="450000"/>
          </a:xfrm>
          <a:prstGeom prst="rect">
            <a:avLst/>
          </a:prstGeom>
          <a:noFill/>
        </p:spPr>
        <p:txBody>
          <a:bodyPr vert="horz" wrap="square" rtlCol="0">
            <a:noAutofit/>
          </a:bodyPr>
          <a:lstStyle/>
          <a:p>
            <a:r>
              <a:rPr lang="en-GB" sz="1950" b="1">
                <a:solidFill>
                  <a:srgbClr val="203344"/>
                </a:solidFill>
                <a:latin typeface="Arial" panose="020B0604020202020204" pitchFamily="34" charset="0"/>
              </a:rPr>
              <a:t>1 452</a:t>
            </a:r>
          </a:p>
        </p:txBody>
      </p:sp>
      <p:sp>
        <p:nvSpPr>
          <p:cNvPr id="22" name="TextBox 21">
            <a:extLst>
              <a:ext uri="{FF2B5EF4-FFF2-40B4-BE49-F238E27FC236}">
                <a16:creationId xmlns:a16="http://schemas.microsoft.com/office/drawing/2014/main" id="{07F3761C-CB28-DF95-8288-1CF2A85D3EB3}"/>
              </a:ext>
            </a:extLst>
          </p:cNvPr>
          <p:cNvSpPr txBox="1"/>
          <p:nvPr/>
        </p:nvSpPr>
        <p:spPr>
          <a:xfrm>
            <a:off x="609600" y="4050000"/>
            <a:ext cx="3000000" cy="700000"/>
          </a:xfrm>
          <a:prstGeom prst="rect">
            <a:avLst/>
          </a:prstGeom>
          <a:noFill/>
        </p:spPr>
        <p:txBody>
          <a:bodyPr vert="horz" wrap="square" rtlCol="0">
            <a:noAutofit/>
          </a:bodyPr>
          <a:lstStyle/>
          <a:p>
            <a:r>
              <a:rPr lang="fr-FR" sz="1800">
                <a:solidFill>
                  <a:srgbClr val="203344"/>
                </a:solidFill>
                <a:latin typeface="Arial" panose="020B0604020202020204" pitchFamily="34" charset="0"/>
              </a:rPr>
              <a:t>Surface code, d = 13</a:t>
            </a:r>
          </a:p>
          <a:p>
            <a:r>
              <a:rPr lang="fr-FR" sz="1400">
                <a:solidFill>
                  <a:srgbClr val="6B7785"/>
                </a:solidFill>
                <a:latin typeface="Arial" panose="020B0604020202020204" pitchFamily="34" charset="0"/>
              </a:rPr>
              <a:t>12 patch · errore logico 1,6×10⁻⁶</a:t>
            </a:r>
          </a:p>
        </p:txBody>
      </p:sp>
      <p:sp>
        <p:nvSpPr>
          <p:cNvPr id="23" name="Rectangle 22">
            <a:extLst>
              <a:ext uri="{FF2B5EF4-FFF2-40B4-BE49-F238E27FC236}">
                <a16:creationId xmlns:a16="http://schemas.microsoft.com/office/drawing/2014/main" id="{BA0EF537-C669-94C1-3B0E-710E8987E75F}"/>
              </a:ext>
            </a:extLst>
          </p:cNvPr>
          <p:cNvSpPr/>
          <p:nvPr/>
        </p:nvSpPr>
        <p:spPr>
          <a:xfrm>
            <a:off x="3700000" y="4130000"/>
            <a:ext cx="2600000" cy="420000"/>
          </a:xfrm>
          <a:prstGeom prst="rect">
            <a:avLst/>
          </a:prstGeom>
          <a:solidFill>
            <a:srgbClr val="B8C7D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TextBox 23">
            <a:extLst>
              <a:ext uri="{FF2B5EF4-FFF2-40B4-BE49-F238E27FC236}">
                <a16:creationId xmlns:a16="http://schemas.microsoft.com/office/drawing/2014/main" id="{F9CCD019-9513-713C-464B-129DFFF0690F}"/>
              </a:ext>
            </a:extLst>
          </p:cNvPr>
          <p:cNvSpPr txBox="1"/>
          <p:nvPr/>
        </p:nvSpPr>
        <p:spPr>
          <a:xfrm>
            <a:off x="6420000" y="4110000"/>
            <a:ext cx="1300000" cy="450000"/>
          </a:xfrm>
          <a:prstGeom prst="rect">
            <a:avLst/>
          </a:prstGeom>
          <a:noFill/>
        </p:spPr>
        <p:txBody>
          <a:bodyPr vert="horz" wrap="square" rtlCol="0">
            <a:noAutofit/>
          </a:bodyPr>
          <a:lstStyle/>
          <a:p>
            <a:r>
              <a:rPr lang="en-GB" sz="1950" b="1">
                <a:solidFill>
                  <a:srgbClr val="203344"/>
                </a:solidFill>
                <a:latin typeface="Arial" panose="020B0604020202020204" pitchFamily="34" charset="0"/>
              </a:rPr>
              <a:t>2 028</a:t>
            </a:r>
          </a:p>
        </p:txBody>
      </p:sp>
      <p:sp>
        <p:nvSpPr>
          <p:cNvPr id="410" name="Numero grande"/>
          <p:cNvSpPr/>
          <p:nvPr/>
        </p:nvSpPr>
        <p:spPr>
          <a:xfrm>
            <a:off x="7800000" y="2350000"/>
            <a:ext cx="3782400" cy="950000"/>
          </a:xfrm>
          <a:prstGeom prst="rect">
            <a:avLst/>
          </a:prstGeom>
          <a:noFill/>
          <a:ln>
            <a:noFill/>
          </a:ln>
        </p:spPr>
        <p:txBody>
          <a:bodyPr wrap="square" lIns="0" tIns="0" rIns="0" bIns="0" rtlCol="0" anchor="t">
            <a:noAutofit/>
          </a:bodyPr>
          <a:lstStyle/>
          <a:p>
            <a:pPr algn="l">
              <a:buNone/>
            </a:pPr>
            <a:r>
              <a:rPr lang="it-IT" sz="4800" b="1">
                <a:solidFill>
                  <a:srgbClr val="D9822B"/>
                </a:solidFill>
                <a:latin typeface="Arial" panose="020B0604020202020204" pitchFamily="34" charset="0"/>
                <a:cs typeface="Arial"/>
              </a:rPr>
              <a:t>10–14×</a:t>
            </a:r>
          </a:p>
        </p:txBody>
      </p:sp>
      <p:sp>
        <p:nvSpPr>
          <p:cNvPr id="411" name="Etichetta numero"/>
          <p:cNvSpPr/>
          <p:nvPr/>
        </p:nvSpPr>
        <p:spPr>
          <a:xfrm>
            <a:off x="7800000" y="3300000"/>
            <a:ext cx="3782400" cy="800000"/>
          </a:xfrm>
          <a:prstGeom prst="rect">
            <a:avLst/>
          </a:prstGeom>
          <a:noFill/>
          <a:ln>
            <a:noFill/>
          </a:ln>
        </p:spPr>
        <p:txBody>
          <a:bodyPr wrap="square" lIns="0" tIns="0" rIns="0" bIns="0" rtlCol="0" anchor="t">
            <a:noAutofit/>
          </a:bodyPr>
          <a:lstStyle/>
          <a:p>
            <a:pPr algn="l">
              <a:buNone/>
            </a:pPr>
            <a:r>
              <a:rPr lang="it-IT" sz="2000">
                <a:solidFill>
                  <a:srgbClr val="203344"/>
                </a:solidFill>
                <a:latin typeface="Arial" panose="020B0604020202020204" pitchFamily="34" charset="0"/>
                <a:cs typeface="Arial"/>
              </a:rPr>
              <a:t>meno qubit del surface code</a:t>
            </a:r>
          </a:p>
        </p:txBody>
      </p:sp>
      <p:sp>
        <p:nvSpPr>
          <p:cNvPr id="412" name="Passo 0"/>
          <p:cNvSpPr/>
          <p:nvPr/>
        </p:nvSpPr>
        <p:spPr>
          <a:xfrm>
            <a:off x="7800000" y="1500000"/>
            <a:ext cx="1180000" cy="360000"/>
          </a:xfrm>
          <a:prstGeom prst="roundRect">
            <a:avLst>
              <a:gd name="adj" fmla="val 50000"/>
            </a:avLst>
          </a:prstGeom>
          <a:solidFill>
            <a:srgbClr val="FFFFFF"/>
          </a:solidFill>
          <a:ln w="14288">
            <a:solidFill>
              <a:srgbClr val="C9D3DD"/>
            </a:solidFill>
          </a:ln>
        </p:spPr>
        <p:txBody>
          <a:bodyPr wrap="square" lIns="0" tIns="0" rIns="0" bIns="0" rtlCol="0" anchor="ctr">
            <a:noAutofit/>
          </a:bodyPr>
          <a:lstStyle/>
          <a:p>
            <a:pPr algn="ctr">
              <a:buNone/>
            </a:pPr>
            <a:r>
              <a:rPr lang="it-IT" sz="1200" b="1">
                <a:solidFill>
                  <a:srgbClr val="6B7785"/>
                </a:solidFill>
                <a:latin typeface="Arial" panose="020B0604020202020204" pitchFamily="34" charset="0"/>
                <a:cs typeface="Arial"/>
              </a:rPr>
              <a:t>1  Soglia</a:t>
            </a:r>
          </a:p>
        </p:txBody>
      </p:sp>
      <p:sp>
        <p:nvSpPr>
          <p:cNvPr id="413" name="Passo 1"/>
          <p:cNvSpPr/>
          <p:nvPr/>
        </p:nvSpPr>
        <p:spPr>
          <a:xfrm>
            <a:off x="9101200" y="1500000"/>
            <a:ext cx="1180000" cy="360000"/>
          </a:xfrm>
          <a:prstGeom prst="roundRect">
            <a:avLst>
              <a:gd name="adj" fmla="val 50000"/>
            </a:avLst>
          </a:prstGeom>
          <a:solidFill>
            <a:srgbClr val="FFFFFF"/>
          </a:solidFill>
          <a:ln w="14288">
            <a:solidFill>
              <a:srgbClr val="C9D3DD"/>
            </a:solidFill>
          </a:ln>
        </p:spPr>
        <p:txBody>
          <a:bodyPr wrap="square" lIns="0" tIns="0" rIns="0" bIns="0" rtlCol="0" anchor="ctr">
            <a:noAutofit/>
          </a:bodyPr>
          <a:lstStyle/>
          <a:p>
            <a:pPr algn="ctr">
              <a:buNone/>
            </a:pPr>
            <a:r>
              <a:rPr lang="it-IT" sz="1200" b="1">
                <a:solidFill>
                  <a:srgbClr val="6B7785"/>
                </a:solidFill>
                <a:latin typeface="Arial" panose="020B0604020202020204" pitchFamily="34" charset="0"/>
                <a:cs typeface="Arial"/>
              </a:rPr>
              <a:t>2  Decoder</a:t>
            </a:r>
          </a:p>
        </p:txBody>
      </p:sp>
      <p:sp>
        <p:nvSpPr>
          <p:cNvPr id="414" name="Passo 2"/>
          <p:cNvSpPr/>
          <p:nvPr/>
        </p:nvSpPr>
        <p:spPr>
          <a:xfrm>
            <a:off x="10402400" y="1500000"/>
            <a:ext cx="1180000" cy="360000"/>
          </a:xfrm>
          <a:prstGeom prst="roundRect">
            <a:avLst>
              <a:gd name="adj" fmla="val 50000"/>
            </a:avLst>
          </a:prstGeom>
          <a:solidFill>
            <a:srgbClr val="D9822B"/>
          </a:solidFill>
          <a:ln>
            <a:noFill/>
          </a:ln>
        </p:spPr>
        <p:txBody>
          <a:bodyPr wrap="square" lIns="0" tIns="0" rIns="0" bIns="0" rtlCol="0" anchor="ctr">
            <a:noAutofit/>
          </a:bodyPr>
          <a:lstStyle/>
          <a:p>
            <a:pPr algn="ctr">
              <a:buNone/>
            </a:pPr>
            <a:r>
              <a:rPr lang="it-IT" sz="1200" b="1">
                <a:solidFill>
                  <a:srgbClr val="FFFFFF"/>
                </a:solidFill>
                <a:latin typeface="Arial" panose="020B0604020202020204" pitchFamily="34" charset="0"/>
                <a:cs typeface="Arial"/>
              </a:rPr>
              <a:t>3  Qubit</a:t>
            </a:r>
          </a:p>
        </p:txBody>
      </p:sp>
      <p:sp>
        <p:nvSpPr>
          <p:cNvPr id="10" name="Numero grande"/>
          <p:cNvSpPr/>
          <p:nvPr/>
        </p:nvSpPr>
        <p:spPr>
          <a:xfrm>
            <a:off x="7800000" y="2350000"/>
            <a:ext cx="3782400" cy="950000"/>
          </a:xfrm>
          <a:prstGeom prst="rect">
            <a:avLst/>
          </a:prstGeom>
          <a:noFill/>
          <a:ln>
            <a:noFill/>
          </a:ln>
        </p:spPr>
        <p:txBody>
          <a:bodyPr wrap="square" lIns="0" tIns="0" rIns="0" bIns="0" rtlCol="0" anchor="t">
            <a:noAutofit/>
          </a:bodyPr>
          <a:lstStyle/>
          <a:p>
            <a:pPr algn="l">
              <a:buNone/>
            </a:pPr>
            <a:r>
              <a:rPr lang="it-IT" sz="4800" b="1">
                <a:solidFill>
                  <a:srgbClr val="D9822B"/>
                </a:solidFill>
                <a:latin typeface="Arial" panose="020B0604020202020204" pitchFamily="34" charset="0"/>
                <a:cs typeface="Arial"/>
              </a:rPr>
              <a:t>10–14×</a:t>
            </a:r>
          </a:p>
        </p:txBody>
      </p:sp>
      <p:sp>
        <p:nvSpPr>
          <p:cNvPr id="11" name="Etichetta numero"/>
          <p:cNvSpPr/>
          <p:nvPr/>
        </p:nvSpPr>
        <p:spPr>
          <a:xfrm>
            <a:off x="7800000" y="3300000"/>
            <a:ext cx="3782400" cy="800000"/>
          </a:xfrm>
          <a:prstGeom prst="rect">
            <a:avLst/>
          </a:prstGeom>
          <a:noFill/>
          <a:ln>
            <a:noFill/>
          </a:ln>
        </p:spPr>
        <p:txBody>
          <a:bodyPr wrap="square" lIns="0" tIns="0" rIns="0" bIns="0" rtlCol="0" anchor="t">
            <a:noAutofit/>
          </a:bodyPr>
          <a:lstStyle/>
          <a:p>
            <a:pPr algn="l">
              <a:buNone/>
            </a:pPr>
            <a:r>
              <a:rPr lang="it-IT" sz="2000">
                <a:solidFill>
                  <a:srgbClr val="203344"/>
                </a:solidFill>
                <a:latin typeface="Arial" panose="020B0604020202020204" pitchFamily="34" charset="0"/>
                <a:cs typeface="Arial"/>
              </a:rPr>
              <a:t>meno qubit del surface code</a:t>
            </a:r>
          </a:p>
        </p:txBody>
      </p:sp>
      <p:sp>
        <p:nvSpPr>
          <p:cNvPr id="12" name="Passo 0"/>
          <p:cNvSpPr/>
          <p:nvPr/>
        </p:nvSpPr>
        <p:spPr>
          <a:xfrm>
            <a:off x="7800000" y="1500000"/>
            <a:ext cx="1180000" cy="360000"/>
          </a:xfrm>
          <a:prstGeom prst="roundRect">
            <a:avLst>
              <a:gd name="adj" fmla="val 50000"/>
            </a:avLst>
          </a:prstGeom>
          <a:solidFill>
            <a:srgbClr val="FFFFFF"/>
          </a:solidFill>
          <a:ln w="14288">
            <a:solidFill>
              <a:srgbClr val="C9D3DD"/>
            </a:solidFill>
          </a:ln>
        </p:spPr>
        <p:txBody>
          <a:bodyPr wrap="square" lIns="0" tIns="0" rIns="0" bIns="0" rtlCol="0" anchor="ctr">
            <a:noAutofit/>
          </a:bodyPr>
          <a:lstStyle/>
          <a:p>
            <a:pPr algn="ctr">
              <a:buNone/>
            </a:pPr>
            <a:r>
              <a:rPr lang="it-IT" sz="1200" b="1">
                <a:solidFill>
                  <a:srgbClr val="6B7785"/>
                </a:solidFill>
                <a:latin typeface="Arial" panose="020B0604020202020204" pitchFamily="34" charset="0"/>
                <a:cs typeface="Arial"/>
              </a:rPr>
              <a:t>1  Soglia</a:t>
            </a:r>
          </a:p>
        </p:txBody>
      </p:sp>
      <p:sp>
        <p:nvSpPr>
          <p:cNvPr id="13" name="Passo 1"/>
          <p:cNvSpPr/>
          <p:nvPr/>
        </p:nvSpPr>
        <p:spPr>
          <a:xfrm>
            <a:off x="9101200" y="1500000"/>
            <a:ext cx="1180000" cy="360000"/>
          </a:xfrm>
          <a:prstGeom prst="roundRect">
            <a:avLst>
              <a:gd name="adj" fmla="val 50000"/>
            </a:avLst>
          </a:prstGeom>
          <a:solidFill>
            <a:srgbClr val="FFFFFF"/>
          </a:solidFill>
          <a:ln w="14288">
            <a:solidFill>
              <a:srgbClr val="C9D3DD"/>
            </a:solidFill>
          </a:ln>
        </p:spPr>
        <p:txBody>
          <a:bodyPr wrap="square" lIns="0" tIns="0" rIns="0" bIns="0" rtlCol="0" anchor="ctr">
            <a:noAutofit/>
          </a:bodyPr>
          <a:lstStyle/>
          <a:p>
            <a:pPr algn="ctr">
              <a:buNone/>
            </a:pPr>
            <a:r>
              <a:rPr lang="it-IT" sz="1200" b="1">
                <a:solidFill>
                  <a:srgbClr val="6B7785"/>
                </a:solidFill>
                <a:latin typeface="Arial" panose="020B0604020202020204" pitchFamily="34" charset="0"/>
                <a:cs typeface="Arial"/>
              </a:rPr>
              <a:t>2  Decoder</a:t>
            </a:r>
          </a:p>
        </p:txBody>
      </p:sp>
      <p:sp>
        <p:nvSpPr>
          <p:cNvPr id="25" name="Passo 2"/>
          <p:cNvSpPr/>
          <p:nvPr/>
        </p:nvSpPr>
        <p:spPr>
          <a:xfrm>
            <a:off x="10402400" y="1500000"/>
            <a:ext cx="1180000" cy="360000"/>
          </a:xfrm>
          <a:prstGeom prst="roundRect">
            <a:avLst>
              <a:gd name="adj" fmla="val 50000"/>
            </a:avLst>
          </a:prstGeom>
          <a:solidFill>
            <a:srgbClr val="D9822B"/>
          </a:solidFill>
          <a:ln>
            <a:noFill/>
          </a:ln>
        </p:spPr>
        <p:txBody>
          <a:bodyPr wrap="square" lIns="0" tIns="0" rIns="0" bIns="0" rtlCol="0" anchor="ctr">
            <a:noAutofit/>
          </a:bodyPr>
          <a:lstStyle/>
          <a:p>
            <a:pPr algn="ctr">
              <a:buNone/>
            </a:pPr>
            <a:r>
              <a:rPr lang="it-IT" sz="1200" b="1">
                <a:solidFill>
                  <a:srgbClr val="FFFFFF"/>
                </a:solidFill>
                <a:latin typeface="Arial" panose="020B0604020202020204" pitchFamily="34" charset="0"/>
                <a:cs typeface="Arial"/>
              </a:rPr>
              <a:t>3  Qubit</a:t>
            </a:r>
          </a:p>
        </p:txBody>
      </p:sp>
      <p:sp>
        <p:nvSpPr>
          <p:cNvPr id="26" name="Numero grande"/>
          <p:cNvSpPr/>
          <p:nvPr/>
        </p:nvSpPr>
        <p:spPr>
          <a:xfrm>
            <a:off x="7800000" y="2350000"/>
            <a:ext cx="3782400" cy="950000"/>
          </a:xfrm>
          <a:prstGeom prst="rect">
            <a:avLst/>
          </a:prstGeom>
          <a:noFill/>
          <a:ln>
            <a:noFill/>
          </a:ln>
        </p:spPr>
        <p:txBody>
          <a:bodyPr wrap="square" lIns="0" tIns="0" rIns="0" bIns="0" rtlCol="0" anchor="t">
            <a:noAutofit/>
          </a:bodyPr>
          <a:lstStyle/>
          <a:p>
            <a:pPr algn="l">
              <a:buNone/>
            </a:pPr>
            <a:r>
              <a:rPr lang="it-IT" sz="4800" b="1">
                <a:solidFill>
                  <a:srgbClr val="D9822B"/>
                </a:solidFill>
                <a:latin typeface="Arial" panose="020B0604020202020204" pitchFamily="34" charset="0"/>
                <a:cs typeface="Arial"/>
              </a:rPr>
              <a:t>10–14×</a:t>
            </a:r>
          </a:p>
        </p:txBody>
      </p:sp>
      <p:sp>
        <p:nvSpPr>
          <p:cNvPr id="27" name="Etichetta numero"/>
          <p:cNvSpPr/>
          <p:nvPr/>
        </p:nvSpPr>
        <p:spPr>
          <a:xfrm>
            <a:off x="7800000" y="3300000"/>
            <a:ext cx="3782400" cy="800000"/>
          </a:xfrm>
          <a:prstGeom prst="rect">
            <a:avLst/>
          </a:prstGeom>
          <a:noFill/>
          <a:ln>
            <a:noFill/>
          </a:ln>
        </p:spPr>
        <p:txBody>
          <a:bodyPr wrap="square" lIns="0" tIns="0" rIns="0" bIns="0" rtlCol="0" anchor="t">
            <a:noAutofit/>
          </a:bodyPr>
          <a:lstStyle/>
          <a:p>
            <a:pPr algn="l">
              <a:buNone/>
            </a:pPr>
            <a:r>
              <a:rPr lang="it-IT" sz="2000">
                <a:solidFill>
                  <a:srgbClr val="203344"/>
                </a:solidFill>
                <a:latin typeface="Arial" panose="020B0604020202020204" pitchFamily="34" charset="0"/>
                <a:cs typeface="Arial"/>
              </a:rPr>
              <a:t>meno qubit del surface code</a:t>
            </a:r>
          </a:p>
        </p:txBody>
      </p:sp>
      <p:sp>
        <p:nvSpPr>
          <p:cNvPr id="28" name="Passo 0"/>
          <p:cNvSpPr/>
          <p:nvPr/>
        </p:nvSpPr>
        <p:spPr>
          <a:xfrm>
            <a:off x="7800000" y="1500000"/>
            <a:ext cx="1180000" cy="360000"/>
          </a:xfrm>
          <a:prstGeom prst="roundRect">
            <a:avLst>
              <a:gd name="adj" fmla="val 50000"/>
            </a:avLst>
          </a:prstGeom>
          <a:solidFill>
            <a:srgbClr val="FFFFFF"/>
          </a:solidFill>
          <a:ln w="14288">
            <a:solidFill>
              <a:srgbClr val="C9D3DD"/>
            </a:solidFill>
          </a:ln>
        </p:spPr>
        <p:txBody>
          <a:bodyPr wrap="square" lIns="0" tIns="0" rIns="0" bIns="0" rtlCol="0" anchor="ctr">
            <a:noAutofit/>
          </a:bodyPr>
          <a:lstStyle/>
          <a:p>
            <a:pPr algn="ctr">
              <a:buNone/>
            </a:pPr>
            <a:r>
              <a:rPr lang="it-IT" sz="1200" b="1">
                <a:solidFill>
                  <a:srgbClr val="6B7785"/>
                </a:solidFill>
                <a:latin typeface="Arial" panose="020B0604020202020204" pitchFamily="34" charset="0"/>
                <a:cs typeface="Arial"/>
              </a:rPr>
              <a:t>1  Soglia</a:t>
            </a:r>
          </a:p>
        </p:txBody>
      </p:sp>
      <p:sp>
        <p:nvSpPr>
          <p:cNvPr id="29" name="Passo 1"/>
          <p:cNvSpPr/>
          <p:nvPr/>
        </p:nvSpPr>
        <p:spPr>
          <a:xfrm>
            <a:off x="9101200" y="1500000"/>
            <a:ext cx="1180000" cy="360000"/>
          </a:xfrm>
          <a:prstGeom prst="roundRect">
            <a:avLst>
              <a:gd name="adj" fmla="val 50000"/>
            </a:avLst>
          </a:prstGeom>
          <a:solidFill>
            <a:srgbClr val="FFFFFF"/>
          </a:solidFill>
          <a:ln w="14288">
            <a:solidFill>
              <a:srgbClr val="C9D3DD"/>
            </a:solidFill>
          </a:ln>
        </p:spPr>
        <p:txBody>
          <a:bodyPr wrap="square" lIns="0" tIns="0" rIns="0" bIns="0" rtlCol="0" anchor="ctr">
            <a:noAutofit/>
          </a:bodyPr>
          <a:lstStyle/>
          <a:p>
            <a:pPr algn="ctr">
              <a:buNone/>
            </a:pPr>
            <a:r>
              <a:rPr lang="it-IT" sz="1200" b="1">
                <a:solidFill>
                  <a:srgbClr val="6B7785"/>
                </a:solidFill>
                <a:latin typeface="Arial" panose="020B0604020202020204" pitchFamily="34" charset="0"/>
                <a:cs typeface="Arial"/>
              </a:rPr>
              <a:t>2  Decoder</a:t>
            </a:r>
          </a:p>
        </p:txBody>
      </p:sp>
      <p:sp>
        <p:nvSpPr>
          <p:cNvPr id="30" name="Passo 2"/>
          <p:cNvSpPr/>
          <p:nvPr/>
        </p:nvSpPr>
        <p:spPr>
          <a:xfrm>
            <a:off x="10402400" y="1500000"/>
            <a:ext cx="1180000" cy="360000"/>
          </a:xfrm>
          <a:prstGeom prst="roundRect">
            <a:avLst>
              <a:gd name="adj" fmla="val 50000"/>
            </a:avLst>
          </a:prstGeom>
          <a:solidFill>
            <a:srgbClr val="D9822B"/>
          </a:solidFill>
          <a:ln>
            <a:noFill/>
          </a:ln>
        </p:spPr>
        <p:txBody>
          <a:bodyPr wrap="square" lIns="0" tIns="0" rIns="0" bIns="0" rtlCol="0" anchor="ctr">
            <a:noAutofit/>
          </a:bodyPr>
          <a:lstStyle/>
          <a:p>
            <a:pPr algn="ctr">
              <a:buNone/>
            </a:pPr>
            <a:r>
              <a:rPr lang="it-IT" sz="1200" b="1">
                <a:solidFill>
                  <a:srgbClr val="FFFFFF"/>
                </a:solidFill>
                <a:latin typeface="Arial" panose="020B0604020202020204" pitchFamily="34" charset="0"/>
                <a:cs typeface="Arial"/>
              </a:rPr>
              <a:t>3  Qubit</a:t>
            </a:r>
          </a:p>
        </p:txBody>
      </p:sp>
      <p:sp>
        <p:nvSpPr>
          <p:cNvPr id="5" name="Numero grande"/>
          <p:cNvSpPr/>
          <p:nvPr/>
        </p:nvSpPr>
        <p:spPr>
          <a:xfrm>
            <a:off x="7800000" y="2350000"/>
            <a:ext cx="3782400" cy="950000"/>
          </a:xfrm>
          <a:prstGeom prst="rect">
            <a:avLst/>
          </a:prstGeom>
          <a:noFill/>
          <a:ln>
            <a:noFill/>
          </a:ln>
        </p:spPr>
        <p:txBody>
          <a:bodyPr wrap="square" lIns="0" tIns="0" rIns="0" bIns="0" rtlCol="0" anchor="t">
            <a:noAutofit/>
          </a:bodyPr>
          <a:lstStyle/>
          <a:p>
            <a:pPr algn="l">
              <a:buNone/>
            </a:pPr>
            <a:r>
              <a:rPr lang="it-IT" sz="4800" b="1">
                <a:solidFill>
                  <a:srgbClr val="D9822B"/>
                </a:solidFill>
                <a:latin typeface="Arial" panose="020B0604020202020204" pitchFamily="34" charset="0"/>
                <a:cs typeface="Arial"/>
              </a:rPr>
              <a:t>10–14×</a:t>
            </a:r>
          </a:p>
        </p:txBody>
      </p:sp>
      <p:sp>
        <p:nvSpPr>
          <p:cNvPr id="6" name="Etichetta numero"/>
          <p:cNvSpPr/>
          <p:nvPr/>
        </p:nvSpPr>
        <p:spPr>
          <a:xfrm>
            <a:off x="7800000" y="3300000"/>
            <a:ext cx="3782400" cy="800000"/>
          </a:xfrm>
          <a:prstGeom prst="rect">
            <a:avLst/>
          </a:prstGeom>
          <a:noFill/>
          <a:ln>
            <a:noFill/>
          </a:ln>
        </p:spPr>
        <p:txBody>
          <a:bodyPr wrap="square" lIns="0" tIns="0" rIns="0" bIns="0" rtlCol="0" anchor="t">
            <a:noAutofit/>
          </a:bodyPr>
          <a:lstStyle/>
          <a:p>
            <a:pPr algn="l">
              <a:buNone/>
            </a:pPr>
            <a:r>
              <a:rPr lang="it-IT" sz="2000">
                <a:solidFill>
                  <a:srgbClr val="203344"/>
                </a:solidFill>
                <a:latin typeface="Arial" panose="020B0604020202020204" pitchFamily="34" charset="0"/>
                <a:cs typeface="Arial"/>
              </a:rPr>
              <a:t>meno qubit del surface code</a:t>
            </a:r>
          </a:p>
        </p:txBody>
      </p:sp>
      <p:sp>
        <p:nvSpPr>
          <p:cNvPr id="7" name="Passo 0"/>
          <p:cNvSpPr/>
          <p:nvPr/>
        </p:nvSpPr>
        <p:spPr>
          <a:xfrm>
            <a:off x="7800000" y="1500000"/>
            <a:ext cx="1180000" cy="360000"/>
          </a:xfrm>
          <a:prstGeom prst="roundRect">
            <a:avLst>
              <a:gd name="adj" fmla="val 50000"/>
            </a:avLst>
          </a:prstGeom>
          <a:solidFill>
            <a:srgbClr val="FFFFFF"/>
          </a:solidFill>
          <a:ln w="14288">
            <a:solidFill>
              <a:srgbClr val="C9D3DD"/>
            </a:solidFill>
          </a:ln>
        </p:spPr>
        <p:txBody>
          <a:bodyPr wrap="square" lIns="0" tIns="0" rIns="0" bIns="0" rtlCol="0" anchor="ctr">
            <a:noAutofit/>
          </a:bodyPr>
          <a:lstStyle/>
          <a:p>
            <a:pPr algn="ctr">
              <a:buNone/>
            </a:pPr>
            <a:r>
              <a:rPr lang="it-IT" sz="1200" b="1">
                <a:solidFill>
                  <a:srgbClr val="6B7785"/>
                </a:solidFill>
                <a:latin typeface="Arial" panose="020B0604020202020204" pitchFamily="34" charset="0"/>
                <a:cs typeface="Arial"/>
              </a:rPr>
              <a:t>1  Soglia</a:t>
            </a:r>
          </a:p>
        </p:txBody>
      </p:sp>
      <p:sp>
        <p:nvSpPr>
          <p:cNvPr id="8" name="Passo 1"/>
          <p:cNvSpPr/>
          <p:nvPr/>
        </p:nvSpPr>
        <p:spPr>
          <a:xfrm>
            <a:off x="9101200" y="1500000"/>
            <a:ext cx="1180000" cy="360000"/>
          </a:xfrm>
          <a:prstGeom prst="roundRect">
            <a:avLst>
              <a:gd name="adj" fmla="val 50000"/>
            </a:avLst>
          </a:prstGeom>
          <a:solidFill>
            <a:srgbClr val="FFFFFF"/>
          </a:solidFill>
          <a:ln w="14288">
            <a:solidFill>
              <a:srgbClr val="C9D3DD"/>
            </a:solidFill>
          </a:ln>
        </p:spPr>
        <p:txBody>
          <a:bodyPr wrap="square" lIns="0" tIns="0" rIns="0" bIns="0" rtlCol="0" anchor="ctr">
            <a:noAutofit/>
          </a:bodyPr>
          <a:lstStyle/>
          <a:p>
            <a:pPr algn="ctr">
              <a:buNone/>
            </a:pPr>
            <a:r>
              <a:rPr lang="it-IT" sz="1200" b="1">
                <a:solidFill>
                  <a:srgbClr val="6B7785"/>
                </a:solidFill>
                <a:latin typeface="Arial" panose="020B0604020202020204" pitchFamily="34" charset="0"/>
                <a:cs typeface="Arial"/>
              </a:rPr>
              <a:t>2  Decoder</a:t>
            </a:r>
          </a:p>
        </p:txBody>
      </p:sp>
      <p:sp>
        <p:nvSpPr>
          <p:cNvPr id="9" name="Passo 2"/>
          <p:cNvSpPr/>
          <p:nvPr/>
        </p:nvSpPr>
        <p:spPr>
          <a:xfrm>
            <a:off x="10402400" y="1500000"/>
            <a:ext cx="1180000" cy="360000"/>
          </a:xfrm>
          <a:prstGeom prst="roundRect">
            <a:avLst>
              <a:gd name="adj" fmla="val 50000"/>
            </a:avLst>
          </a:prstGeom>
          <a:solidFill>
            <a:srgbClr val="D9822B"/>
          </a:solidFill>
          <a:ln>
            <a:noFill/>
          </a:ln>
        </p:spPr>
        <p:txBody>
          <a:bodyPr wrap="square" lIns="0" tIns="0" rIns="0" bIns="0" rtlCol="0" anchor="ctr">
            <a:noAutofit/>
          </a:bodyPr>
          <a:lstStyle/>
          <a:p>
            <a:pPr algn="ctr">
              <a:buNone/>
            </a:pPr>
            <a:r>
              <a:rPr lang="it-IT" sz="1200" b="1">
                <a:solidFill>
                  <a:srgbClr val="FFFFFF"/>
                </a:solidFill>
                <a:latin typeface="Arial" panose="020B0604020202020204" pitchFamily="34" charset="0"/>
                <a:cs typeface="Arial"/>
              </a:rPr>
              <a:t>3  Qubit</a:t>
            </a:r>
          </a:p>
        </p:txBody>
      </p:sp>
    </p:spTree>
    <p:extLst>
      <p:ext uri="{BB962C8B-B14F-4D97-AF65-F5344CB8AC3E}">
        <p14:creationId xmlns:p14="http://schemas.microsoft.com/office/powerpoint/2010/main" val="52880396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AA26051-CE9A-44FC-98B2-DC8331178E93}"/>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2: cosa fa la correzione degli errori</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865D6DAB-35C4-44C3-BE25-5179AEC9B4BF}"/>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DF278FCC-CAE1-457F-906A-2CA805A50B3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2 · Correzione degli errori | 8</a:t>
            </a:r>
            <a:endParaRPr sz="1200" b="0">
              <a:solidFill>
                <a:srgbClr val="203344"/>
              </a:solidFill>
              <a:latin typeface="Arial"/>
              <a:ea typeface="Arial"/>
              <a:cs typeface="Arial"/>
            </a:endParaRPr>
          </a:p>
        </p:txBody>
      </p:sp>
      <p:sp>
        <p:nvSpPr>
          <p:cNvPr id="801" name="Pill 0"/>
          <p:cNvSpPr/>
          <p:nvPr/>
        </p:nvSpPr>
        <p:spPr>
          <a:xfrm>
            <a:off x="609600" y="1330000"/>
            <a:ext cx="3400000" cy="380000"/>
          </a:xfrm>
          <a:prstGeom prst="roundRect">
            <a:avLst>
              <a:gd name="adj" fmla="val 50000"/>
            </a:avLst>
          </a:prstGeom>
          <a:solidFill>
            <a:srgbClr val="D9822B"/>
          </a:solidFill>
          <a:ln>
            <a:noFill/>
          </a:ln>
        </p:spPr>
        <p:txBody>
          <a:bodyPr wrap="square" lIns="0" tIns="0" rIns="0" bIns="0" rtlCol="0" anchor="ctr">
            <a:noAutofit/>
          </a:bodyPr>
          <a:lstStyle/>
          <a:p>
            <a:pPr algn="ctr">
              <a:buNone/>
            </a:pPr>
            <a:r>
              <a:rPr lang="it-IT" sz="1400" b="1">
                <a:solidFill>
                  <a:srgbClr val="FFFFFF"/>
                </a:solidFill>
                <a:latin typeface="Arial" panose="020B0604020202020204" pitchFamily="34" charset="0"/>
                <a:cs typeface="Arial"/>
              </a:rPr>
              <a:t>1  Soglia</a:t>
            </a:r>
          </a:p>
        </p:txBody>
      </p:sp>
      <p:sp>
        <p:nvSpPr>
          <p:cNvPr id="802" name="Pill 1"/>
          <p:cNvSpPr/>
          <p:nvPr/>
        </p:nvSpPr>
        <p:spPr>
          <a:xfrm>
            <a:off x="4396000" y="1330000"/>
            <a:ext cx="3400000" cy="380000"/>
          </a:xfrm>
          <a:prstGeom prst="roundRect">
            <a:avLst>
              <a:gd name="adj" fmla="val 50000"/>
            </a:avLst>
          </a:prstGeom>
          <a:solidFill>
            <a:srgbClr val="D9822B"/>
          </a:solidFill>
          <a:ln>
            <a:noFill/>
          </a:ln>
        </p:spPr>
        <p:txBody>
          <a:bodyPr wrap="square" lIns="0" tIns="0" rIns="0" bIns="0" rtlCol="0" anchor="ctr">
            <a:noAutofit/>
          </a:bodyPr>
          <a:lstStyle/>
          <a:p>
            <a:pPr algn="ctr">
              <a:buNone/>
            </a:pPr>
            <a:r>
              <a:rPr lang="it-IT" sz="1400" b="1">
                <a:solidFill>
                  <a:srgbClr val="FFFFFF"/>
                </a:solidFill>
                <a:latin typeface="Arial" panose="020B0604020202020204" pitchFamily="34" charset="0"/>
                <a:cs typeface="Arial"/>
              </a:rPr>
              <a:t>2  Decoder</a:t>
            </a:r>
          </a:p>
        </p:txBody>
      </p:sp>
      <p:sp>
        <p:nvSpPr>
          <p:cNvPr id="803" name="Pill 2"/>
          <p:cNvSpPr/>
          <p:nvPr/>
        </p:nvSpPr>
        <p:spPr>
          <a:xfrm>
            <a:off x="8182400" y="1330000"/>
            <a:ext cx="3400000" cy="380000"/>
          </a:xfrm>
          <a:prstGeom prst="roundRect">
            <a:avLst>
              <a:gd name="adj" fmla="val 50000"/>
            </a:avLst>
          </a:prstGeom>
          <a:solidFill>
            <a:srgbClr val="D9822B"/>
          </a:solidFill>
          <a:ln>
            <a:noFill/>
          </a:ln>
        </p:spPr>
        <p:txBody>
          <a:bodyPr wrap="square" lIns="0" tIns="0" rIns="0" bIns="0" rtlCol="0" anchor="ctr">
            <a:noAutofit/>
          </a:bodyPr>
          <a:lstStyle/>
          <a:p>
            <a:pPr algn="ctr">
              <a:buNone/>
            </a:pPr>
            <a:r>
              <a:rPr lang="it-IT" sz="1400" b="1">
                <a:solidFill>
                  <a:srgbClr val="FFFFFF"/>
                </a:solidFill>
                <a:latin typeface="Arial" panose="020B0604020202020204" pitchFamily="34" charset="0"/>
                <a:cs typeface="Arial"/>
              </a:rPr>
              <a:t>3  Qubit</a:t>
            </a:r>
          </a:p>
        </p:txBody>
      </p:sp>
      <p:pic>
        <p:nvPicPr>
          <p:cNvPr id="804" name="Grafico 0" descr="Errore logico contro errore fisico per distanze 3-9: le curve si incrociano alla soglia"/>
          <p:cNvPicPr>
            <a:picLocks noChangeAspect="1"/>
          </p:cNvPicPr>
          <p:nvPr/>
        </p:nvPicPr>
        <p:blipFill>
          <a:blip r:embed="rId4"/>
          <a:stretch>
            <a:fillRect/>
          </a:stretch>
        </p:blipFill>
        <p:spPr>
          <a:xfrm>
            <a:off x="609601" y="1858281"/>
            <a:ext cx="3399998" cy="2143438"/>
          </a:xfrm>
          <a:prstGeom prst="rect">
            <a:avLst/>
          </a:prstGeom>
        </p:spPr>
      </p:pic>
      <p:pic>
        <p:nvPicPr>
          <p:cNvPr id="805" name="Grafico 1" descr="Guadagno del decoder ibrido rispetto a MWPM al variare del crosstalk"/>
          <p:cNvPicPr>
            <a:picLocks noChangeAspect="1"/>
          </p:cNvPicPr>
          <p:nvPr/>
        </p:nvPicPr>
        <p:blipFill>
          <a:blip r:embed="rId5"/>
          <a:stretch>
            <a:fillRect/>
          </a:stretch>
        </p:blipFill>
        <p:spPr>
          <a:xfrm>
            <a:off x="4396000" y="1899533"/>
            <a:ext cx="3399999" cy="2060934"/>
          </a:xfrm>
          <a:prstGeom prst="rect">
            <a:avLst/>
          </a:prstGeom>
        </p:spPr>
      </p:pic>
      <p:sp>
        <p:nvSpPr>
          <p:cNvPr id="806" name="Barra lab 0"/>
          <p:cNvSpPr/>
          <p:nvPr/>
        </p:nvSpPr>
        <p:spPr>
          <a:xfrm>
            <a:off x="8182400" y="2080000"/>
            <a:ext cx="1300000" cy="400000"/>
          </a:xfrm>
          <a:prstGeom prst="rect">
            <a:avLst/>
          </a:prstGeom>
          <a:noFill/>
          <a:ln>
            <a:noFill/>
          </a:ln>
        </p:spPr>
        <p:txBody>
          <a:bodyPr wrap="square" lIns="0" tIns="0" rIns="0" bIns="0" rtlCol="0" anchor="ctr">
            <a:noAutofit/>
          </a:bodyPr>
          <a:lstStyle/>
          <a:p>
            <a:pPr algn="l">
              <a:buNone/>
            </a:pPr>
            <a:r>
              <a:rPr lang="it-IT" sz="1300" b="1">
                <a:solidFill>
                  <a:srgbClr val="203344"/>
                </a:solidFill>
                <a:latin typeface="Arial" panose="020B0604020202020204" pitchFamily="34" charset="0"/>
                <a:cs typeface="Arial"/>
              </a:rPr>
              <a:t>Gross code</a:t>
            </a:r>
          </a:p>
        </p:txBody>
      </p:sp>
      <p:sp>
        <p:nvSpPr>
          <p:cNvPr id="807" name="Barra 0"/>
          <p:cNvSpPr/>
          <p:nvPr/>
        </p:nvSpPr>
        <p:spPr>
          <a:xfrm>
            <a:off x="9532400" y="2130000"/>
            <a:ext cx="99408" cy="300000"/>
          </a:xfrm>
          <a:prstGeom prst="rect">
            <a:avLst/>
          </a:prstGeom>
          <a:solidFill>
            <a:srgbClr val="D9822B"/>
          </a:solidFill>
          <a:ln>
            <a:noFill/>
          </a:ln>
        </p:spPr>
        <p:txBody>
          <a:bodyPr wrap="square" lIns="91440" tIns="91440" rIns="91440" bIns="91440" rtlCol="0" anchor="ctr">
            <a:noAutofit/>
          </a:bodyPr>
          <a:lstStyle/>
          <a:p>
            <a:endParaRPr lang="it-IT"/>
          </a:p>
        </p:txBody>
      </p:sp>
      <p:sp>
        <p:nvSpPr>
          <p:cNvPr id="808" name="Barra val 0"/>
          <p:cNvSpPr/>
          <p:nvPr/>
        </p:nvSpPr>
        <p:spPr>
          <a:xfrm>
            <a:off x="9691808" y="2080000"/>
            <a:ext cx="650000" cy="400000"/>
          </a:xfrm>
          <a:prstGeom prst="rect">
            <a:avLst/>
          </a:prstGeom>
          <a:noFill/>
          <a:ln>
            <a:noFill/>
          </a:ln>
        </p:spPr>
        <p:txBody>
          <a:bodyPr wrap="square" lIns="0" tIns="0" rIns="0" bIns="0" rtlCol="0" anchor="ctr">
            <a:noAutofit/>
          </a:bodyPr>
          <a:lstStyle/>
          <a:p>
            <a:pPr algn="l">
              <a:buNone/>
            </a:pPr>
            <a:r>
              <a:rPr lang="it-IT" sz="1300" b="1">
                <a:solidFill>
                  <a:srgbClr val="A85A12"/>
                </a:solidFill>
                <a:latin typeface="Arial" panose="020B0604020202020204" pitchFamily="34" charset="0"/>
                <a:cs typeface="Arial"/>
              </a:rPr>
              <a:t>144</a:t>
            </a:r>
          </a:p>
        </p:txBody>
      </p:sp>
      <p:sp>
        <p:nvSpPr>
          <p:cNvPr id="809" name="Barra lab 1"/>
          <p:cNvSpPr/>
          <p:nvPr/>
        </p:nvSpPr>
        <p:spPr>
          <a:xfrm>
            <a:off x="8182400" y="2700000"/>
            <a:ext cx="1300000" cy="400000"/>
          </a:xfrm>
          <a:prstGeom prst="rect">
            <a:avLst/>
          </a:prstGeom>
          <a:noFill/>
          <a:ln>
            <a:noFill/>
          </a:ln>
        </p:spPr>
        <p:txBody>
          <a:bodyPr wrap="square" lIns="0" tIns="0" rIns="0" bIns="0" rtlCol="0" anchor="ctr">
            <a:noAutofit/>
          </a:bodyPr>
          <a:lstStyle/>
          <a:p>
            <a:pPr algn="l">
              <a:buNone/>
            </a:pPr>
            <a:r>
              <a:rPr lang="it-IT" sz="1300">
                <a:solidFill>
                  <a:srgbClr val="203344"/>
                </a:solidFill>
                <a:latin typeface="Arial" panose="020B0604020202020204" pitchFamily="34" charset="0"/>
                <a:cs typeface="Arial"/>
              </a:rPr>
              <a:t>Surface d = 11</a:t>
            </a:r>
          </a:p>
        </p:txBody>
      </p:sp>
      <p:sp>
        <p:nvSpPr>
          <p:cNvPr id="810" name="Barra 1"/>
          <p:cNvSpPr/>
          <p:nvPr/>
        </p:nvSpPr>
        <p:spPr>
          <a:xfrm>
            <a:off x="9532400" y="2750000"/>
            <a:ext cx="1002366" cy="300000"/>
          </a:xfrm>
          <a:prstGeom prst="rect">
            <a:avLst/>
          </a:prstGeom>
          <a:solidFill>
            <a:srgbClr val="B8C7D9"/>
          </a:solidFill>
          <a:ln>
            <a:noFill/>
          </a:ln>
        </p:spPr>
        <p:txBody>
          <a:bodyPr wrap="square" lIns="91440" tIns="91440" rIns="91440" bIns="91440" rtlCol="0" anchor="ctr">
            <a:noAutofit/>
          </a:bodyPr>
          <a:lstStyle/>
          <a:p>
            <a:endParaRPr lang="it-IT"/>
          </a:p>
        </p:txBody>
      </p:sp>
      <p:sp>
        <p:nvSpPr>
          <p:cNvPr id="811" name="Barra val 1"/>
          <p:cNvSpPr/>
          <p:nvPr/>
        </p:nvSpPr>
        <p:spPr>
          <a:xfrm>
            <a:off x="10594766" y="2700000"/>
            <a:ext cx="650000" cy="400000"/>
          </a:xfrm>
          <a:prstGeom prst="rect">
            <a:avLst/>
          </a:prstGeom>
          <a:noFill/>
          <a:ln>
            <a:noFill/>
          </a:ln>
        </p:spPr>
        <p:txBody>
          <a:bodyPr wrap="square" lIns="0" tIns="0" rIns="0" bIns="0" rtlCol="0" anchor="ctr">
            <a:noAutofit/>
          </a:bodyPr>
          <a:lstStyle/>
          <a:p>
            <a:pPr algn="l">
              <a:buNone/>
            </a:pPr>
            <a:r>
              <a:rPr lang="it-IT" sz="1300" b="1">
                <a:solidFill>
                  <a:srgbClr val="203344"/>
                </a:solidFill>
                <a:latin typeface="Arial" panose="020B0604020202020204" pitchFamily="34" charset="0"/>
                <a:cs typeface="Arial"/>
              </a:rPr>
              <a:t>1 452</a:t>
            </a:r>
          </a:p>
        </p:txBody>
      </p:sp>
      <p:sp>
        <p:nvSpPr>
          <p:cNvPr id="812" name="Barra lab 2"/>
          <p:cNvSpPr/>
          <p:nvPr/>
        </p:nvSpPr>
        <p:spPr>
          <a:xfrm>
            <a:off x="8182400" y="3320000"/>
            <a:ext cx="1300000" cy="400000"/>
          </a:xfrm>
          <a:prstGeom prst="rect">
            <a:avLst/>
          </a:prstGeom>
          <a:noFill/>
          <a:ln>
            <a:noFill/>
          </a:ln>
        </p:spPr>
        <p:txBody>
          <a:bodyPr wrap="square" lIns="0" tIns="0" rIns="0" bIns="0" rtlCol="0" anchor="ctr">
            <a:noAutofit/>
          </a:bodyPr>
          <a:lstStyle/>
          <a:p>
            <a:pPr algn="l">
              <a:buNone/>
            </a:pPr>
            <a:r>
              <a:rPr lang="it-IT" sz="1300">
                <a:solidFill>
                  <a:srgbClr val="203344"/>
                </a:solidFill>
                <a:latin typeface="Arial" panose="020B0604020202020204" pitchFamily="34" charset="0"/>
                <a:cs typeface="Arial"/>
              </a:rPr>
              <a:t>Surface d = 13</a:t>
            </a:r>
          </a:p>
        </p:txBody>
      </p:sp>
      <p:sp>
        <p:nvSpPr>
          <p:cNvPr id="813" name="Barra 2"/>
          <p:cNvSpPr/>
          <p:nvPr/>
        </p:nvSpPr>
        <p:spPr>
          <a:xfrm>
            <a:off x="9532400" y="3370000"/>
            <a:ext cx="1400000" cy="300000"/>
          </a:xfrm>
          <a:prstGeom prst="rect">
            <a:avLst/>
          </a:prstGeom>
          <a:solidFill>
            <a:srgbClr val="B8C7D9"/>
          </a:solidFill>
          <a:ln>
            <a:noFill/>
          </a:ln>
        </p:spPr>
        <p:txBody>
          <a:bodyPr wrap="square" lIns="91440" tIns="91440" rIns="91440" bIns="91440" rtlCol="0" anchor="ctr">
            <a:noAutofit/>
          </a:bodyPr>
          <a:lstStyle/>
          <a:p>
            <a:endParaRPr lang="it-IT"/>
          </a:p>
        </p:txBody>
      </p:sp>
      <p:sp>
        <p:nvSpPr>
          <p:cNvPr id="814" name="Barra val 2"/>
          <p:cNvSpPr/>
          <p:nvPr/>
        </p:nvSpPr>
        <p:spPr>
          <a:xfrm>
            <a:off x="10992400" y="3320000"/>
            <a:ext cx="650000" cy="400000"/>
          </a:xfrm>
          <a:prstGeom prst="rect">
            <a:avLst/>
          </a:prstGeom>
          <a:noFill/>
          <a:ln>
            <a:noFill/>
          </a:ln>
        </p:spPr>
        <p:txBody>
          <a:bodyPr wrap="square" lIns="0" tIns="0" rIns="0" bIns="0" rtlCol="0" anchor="ctr">
            <a:noAutofit/>
          </a:bodyPr>
          <a:lstStyle/>
          <a:p>
            <a:pPr algn="l">
              <a:buNone/>
            </a:pPr>
            <a:r>
              <a:rPr lang="it-IT" sz="1300" b="1">
                <a:solidFill>
                  <a:srgbClr val="203344"/>
                </a:solidFill>
                <a:latin typeface="Arial" panose="020B0604020202020204" pitchFamily="34" charset="0"/>
                <a:cs typeface="Arial"/>
              </a:rPr>
              <a:t>2 028</a:t>
            </a:r>
          </a:p>
        </p:txBody>
      </p:sp>
      <p:sp>
        <p:nvSpPr>
          <p:cNvPr id="815" name="Barre nota"/>
          <p:cNvSpPr/>
          <p:nvPr/>
        </p:nvSpPr>
        <p:spPr>
          <a:xfrm>
            <a:off x="8182400" y="3940000"/>
            <a:ext cx="3400000" cy="300000"/>
          </a:xfrm>
          <a:prstGeom prst="rect">
            <a:avLst/>
          </a:prstGeom>
          <a:noFill/>
          <a:ln>
            <a:noFill/>
          </a:ln>
        </p:spPr>
        <p:txBody>
          <a:bodyPr wrap="square" lIns="0" tIns="0" rIns="0" bIns="0" rtlCol="0" anchor="ctr">
            <a:noAutofit/>
          </a:bodyPr>
          <a:lstStyle/>
          <a:p>
            <a:pPr algn="l">
              <a:buNone/>
            </a:pPr>
            <a:r>
              <a:rPr lang="it-IT" sz="1200" i="1">
                <a:solidFill>
                  <a:srgbClr val="6B7785"/>
                </a:solidFill>
                <a:latin typeface="Arial" panose="020B0604020202020204" pitchFamily="34" charset="0"/>
                <a:cs typeface="Arial"/>
              </a:rPr>
              <a:t>qubit per 12 qubit logici</a:t>
            </a:r>
          </a:p>
        </p:txBody>
      </p:sp>
      <p:sp>
        <p:nvSpPr>
          <p:cNvPr id="816" name="Numero 0"/>
          <p:cNvSpPr/>
          <p:nvPr/>
        </p:nvSpPr>
        <p:spPr>
          <a:xfrm>
            <a:off x="609600" y="4180000"/>
            <a:ext cx="3400000" cy="750000"/>
          </a:xfrm>
          <a:prstGeom prst="rect">
            <a:avLst/>
          </a:prstGeom>
          <a:noFill/>
          <a:ln>
            <a:noFill/>
          </a:ln>
        </p:spPr>
        <p:txBody>
          <a:bodyPr wrap="square" lIns="0" tIns="0" rIns="0" bIns="0" rtlCol="0" anchor="ctr">
            <a:noAutofit/>
          </a:bodyPr>
          <a:lstStyle/>
          <a:p>
            <a:pPr algn="ctr">
              <a:buNone/>
            </a:pPr>
            <a:r>
              <a:rPr lang="it-IT" sz="4000" b="1">
                <a:solidFill>
                  <a:srgbClr val="175F99"/>
                </a:solidFill>
                <a:latin typeface="Arial" panose="020B0604020202020204" pitchFamily="34" charset="0"/>
                <a:cs typeface="Arial"/>
              </a:rPr>
              <a:t>0,86%</a:t>
            </a:r>
          </a:p>
        </p:txBody>
      </p:sp>
      <p:sp>
        <p:nvSpPr>
          <p:cNvPr id="817" name="Etichetta 0"/>
          <p:cNvSpPr/>
          <p:nvPr/>
        </p:nvSpPr>
        <p:spPr>
          <a:xfrm>
            <a:off x="609600" y="4930000"/>
            <a:ext cx="3400000" cy="650000"/>
          </a:xfrm>
          <a:prstGeom prst="rect">
            <a:avLst/>
          </a:prstGeom>
          <a:noFill/>
          <a:ln>
            <a:noFill/>
          </a:ln>
        </p:spPr>
        <p:txBody>
          <a:bodyPr wrap="square" lIns="0" tIns="0" rIns="0" bIns="0" rtlCol="0" anchor="t">
            <a:noAutofit/>
          </a:bodyPr>
          <a:lstStyle/>
          <a:p>
            <a:pPr algn="ctr">
              <a:buNone/>
            </a:pPr>
            <a:r>
              <a:rPr lang="it-IT" sz="1600">
                <a:solidFill>
                  <a:srgbClr val="203344"/>
                </a:solidFill>
                <a:latin typeface="Arial" panose="020B0604020202020204" pitchFamily="34" charset="0"/>
                <a:cs typeface="Arial"/>
              </a:rPr>
              <a:t>soglia: sotto, codici più grandi correggono meglio</a:t>
            </a:r>
          </a:p>
        </p:txBody>
      </p:sp>
      <p:sp>
        <p:nvSpPr>
          <p:cNvPr id="818" name="Numero 1"/>
          <p:cNvSpPr/>
          <p:nvPr/>
        </p:nvSpPr>
        <p:spPr>
          <a:xfrm>
            <a:off x="4396000" y="4180000"/>
            <a:ext cx="3400000" cy="750000"/>
          </a:xfrm>
          <a:prstGeom prst="rect">
            <a:avLst/>
          </a:prstGeom>
          <a:noFill/>
          <a:ln>
            <a:noFill/>
          </a:ln>
        </p:spPr>
        <p:txBody>
          <a:bodyPr wrap="square" lIns="0" tIns="0" rIns="0" bIns="0" rtlCol="0" anchor="ctr">
            <a:noAutofit/>
          </a:bodyPr>
          <a:lstStyle/>
          <a:p>
            <a:pPr algn="ctr">
              <a:buNone/>
            </a:pPr>
            <a:r>
              <a:rPr lang="it-IT" sz="4000" b="1">
                <a:solidFill>
                  <a:srgbClr val="D9822B"/>
                </a:solidFill>
                <a:latin typeface="Arial" panose="020B0604020202020204" pitchFamily="34" charset="0"/>
                <a:cs typeface="Arial"/>
              </a:rPr>
              <a:t>−16,8%</a:t>
            </a:r>
          </a:p>
        </p:txBody>
      </p:sp>
      <p:sp>
        <p:nvSpPr>
          <p:cNvPr id="819" name="Etichetta 1"/>
          <p:cNvSpPr/>
          <p:nvPr/>
        </p:nvSpPr>
        <p:spPr>
          <a:xfrm>
            <a:off x="4396000" y="4930000"/>
            <a:ext cx="3400000" cy="650000"/>
          </a:xfrm>
          <a:prstGeom prst="rect">
            <a:avLst/>
          </a:prstGeom>
          <a:noFill/>
          <a:ln>
            <a:noFill/>
          </a:ln>
        </p:spPr>
        <p:txBody>
          <a:bodyPr wrap="square" lIns="0" tIns="0" rIns="0" bIns="0" rtlCol="0" anchor="t">
            <a:noAutofit/>
          </a:bodyPr>
          <a:lstStyle/>
          <a:p>
            <a:pPr algn="ctr">
              <a:buNone/>
            </a:pPr>
            <a:r>
              <a:rPr lang="it-IT" sz="1600">
                <a:solidFill>
                  <a:srgbClr val="203344"/>
                </a:solidFill>
                <a:latin typeface="Arial" panose="020B0604020202020204" pitchFamily="34" charset="0"/>
                <a:cs typeface="Arial"/>
              </a:rPr>
              <a:t>errori in meno con il decoder ibrido</a:t>
            </a:r>
          </a:p>
        </p:txBody>
      </p:sp>
      <p:sp>
        <p:nvSpPr>
          <p:cNvPr id="820" name="Numero 2"/>
          <p:cNvSpPr/>
          <p:nvPr/>
        </p:nvSpPr>
        <p:spPr>
          <a:xfrm>
            <a:off x="8182400" y="4180000"/>
            <a:ext cx="3400000" cy="750000"/>
          </a:xfrm>
          <a:prstGeom prst="rect">
            <a:avLst/>
          </a:prstGeom>
          <a:noFill/>
          <a:ln>
            <a:noFill/>
          </a:ln>
        </p:spPr>
        <p:txBody>
          <a:bodyPr wrap="square" lIns="0" tIns="0" rIns="0" bIns="0" rtlCol="0" anchor="ctr">
            <a:noAutofit/>
          </a:bodyPr>
          <a:lstStyle/>
          <a:p>
            <a:pPr algn="ctr">
              <a:buNone/>
            </a:pPr>
            <a:r>
              <a:rPr lang="it-IT" sz="4000" b="1">
                <a:solidFill>
                  <a:srgbClr val="D9822B"/>
                </a:solidFill>
                <a:latin typeface="Arial" panose="020B0604020202020204" pitchFamily="34" charset="0"/>
                <a:cs typeface="Arial"/>
              </a:rPr>
              <a:t>10–14×</a:t>
            </a:r>
          </a:p>
        </p:txBody>
      </p:sp>
      <p:sp>
        <p:nvSpPr>
          <p:cNvPr id="821" name="Etichetta 2"/>
          <p:cNvSpPr/>
          <p:nvPr/>
        </p:nvSpPr>
        <p:spPr>
          <a:xfrm>
            <a:off x="8182400" y="4930000"/>
            <a:ext cx="3400000" cy="650000"/>
          </a:xfrm>
          <a:prstGeom prst="rect">
            <a:avLst/>
          </a:prstGeom>
          <a:noFill/>
          <a:ln>
            <a:noFill/>
          </a:ln>
        </p:spPr>
        <p:txBody>
          <a:bodyPr wrap="square" lIns="0" tIns="0" rIns="0" bIns="0" rtlCol="0" anchor="t">
            <a:noAutofit/>
          </a:bodyPr>
          <a:lstStyle/>
          <a:p>
            <a:pPr algn="ctr">
              <a:buNone/>
            </a:pPr>
            <a:r>
              <a:rPr lang="it-IT" sz="1600">
                <a:solidFill>
                  <a:srgbClr val="203344"/>
                </a:solidFill>
                <a:latin typeface="Arial" panose="020B0604020202020204" pitchFamily="34" charset="0"/>
                <a:cs typeface="Arial"/>
              </a:rPr>
              <a:t>meno qubit con il Gross code</a:t>
            </a:r>
          </a:p>
        </p:txBody>
      </p:sp>
      <p:sp>
        <p:nvSpPr>
          <p:cNvPr id="822" name="Messaggio"/>
          <p:cNvSpPr/>
          <p:nvPr/>
        </p:nvSpPr>
        <p:spPr>
          <a:xfrm>
            <a:off x="609600" y="6000000"/>
            <a:ext cx="10972800" cy="500000"/>
          </a:xfrm>
          <a:prstGeom prst="rect">
            <a:avLst/>
          </a:prstGeom>
          <a:noFill/>
          <a:ln>
            <a:noFill/>
          </a:ln>
        </p:spPr>
        <p:txBody>
          <a:bodyPr wrap="square" lIns="0" tIns="0" rIns="0" bIns="0" rtlCol="0" anchor="ctr">
            <a:noAutofit/>
          </a:bodyPr>
          <a:lstStyle/>
          <a:p>
            <a:pPr algn="l">
              <a:buNone/>
            </a:pPr>
            <a:r>
              <a:rPr lang="it-IT" sz="1900" b="1">
                <a:solidFill>
                  <a:srgbClr val="1F5C99"/>
                </a:solidFill>
                <a:latin typeface="Arial" panose="020B0604020202020204" pitchFamily="34" charset="0"/>
                <a:cs typeface="Arial"/>
              </a:rPr>
              <a:t>La correzione funziona sotto soglia, il ML aiuta da assistente, il Gross code risparmia qubit.</a:t>
            </a:r>
          </a:p>
        </p:txBody>
      </p:sp>
    </p:spTree>
    <p:extLst>
      <p:ext uri="{BB962C8B-B14F-4D97-AF65-F5344CB8AC3E}">
        <p14:creationId xmlns:p14="http://schemas.microsoft.com/office/powerpoint/2010/main" val="234418926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descr="v2_s18_aqft_n15_holdout.png"/>
          <p:cNvPicPr>
            <a:picLocks noChangeAspect="1"/>
          </p:cNvPicPr>
          <p:nvPr/>
        </p:nvPicPr>
        <p:blipFill>
          <a:blip r:embed="rId3"/>
          <a:stretch>
            <a:fillRect/>
          </a:stretch>
        </p:blipFill>
        <p:spPr>
          <a:xfrm>
            <a:off x="6477000" y="2667001"/>
            <a:ext cx="5105524" cy="3217329"/>
          </a:xfrm>
          <a:prstGeom prst="rect">
            <a:avLst/>
          </a:prstGeom>
        </p:spPr>
      </p:pic>
      <p:sp>
        <p:nvSpPr>
          <p:cNvPr id="11" name="Rectangle 10">
            <a:extLst>
              <a:ext uri="{FF2B5EF4-FFF2-40B4-BE49-F238E27FC236}">
                <a16:creationId xmlns:a16="http://schemas.microsoft.com/office/drawing/2014/main" id="{8A715D2C-BFF8-4F44-9B9C-E1B9D835B317}"/>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QFT approssimata: principio e risultati</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4"/>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EA2291F3-B2FD-49F3-B6D2-121D3BDBF3CD}"/>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42F908A8-B2EF-405D-A77D-5756ADD4C77A}"/>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3 · QFT approssimata | 11–12</a:t>
            </a:r>
            <a:endParaRPr sz="1200" b="0">
              <a:solidFill>
                <a:srgbClr val="203344"/>
              </a:solidFill>
              <a:latin typeface="Arial"/>
              <a:ea typeface="Arial"/>
              <a:cs typeface="Arial"/>
            </a:endParaRPr>
          </a:p>
        </p:txBody>
      </p:sp>
      <p:sp>
        <p:nvSpPr>
          <p:cNvPr id="2" name="TextBox 1">
            <a:extLst>
              <a:ext uri="{FF2B5EF4-FFF2-40B4-BE49-F238E27FC236}">
                <a16:creationId xmlns:a16="http://schemas.microsoft.com/office/drawing/2014/main" id="{94ABD03E-3EFB-95D9-121E-1C5DB7053792}"/>
              </a:ext>
            </a:extLst>
          </p:cNvPr>
          <p:cNvSpPr txBox="1"/>
          <p:nvPr/>
        </p:nvSpPr>
        <p:spPr>
          <a:xfrm>
            <a:off x="609600" y="1485900"/>
            <a:ext cx="5257800" cy="276999"/>
          </a:xfrm>
          <a:prstGeom prst="rect">
            <a:avLst/>
          </a:prstGeom>
          <a:noFill/>
        </p:spPr>
        <p:txBody>
          <a:bodyPr vert="horz" wrap="square" lIns="0" tIns="0" rIns="0" bIns="0" rtlCol="0">
            <a:noAutofit/>
          </a:bodyPr>
          <a:lstStyle/>
          <a:p>
            <a:r>
              <a:rPr lang="en-GB" sz="2200" b="1">
                <a:solidFill>
                  <a:srgbClr val="003366"/>
                </a:solidFill>
                <a:latin typeface="Arial" panose="020B0604020202020204" pitchFamily="34" charset="0"/>
              </a:rPr>
              <a:t>Come intervengo</a:t>
            </a:r>
          </a:p>
        </p:txBody>
      </p:sp>
      <p:sp>
        <p:nvSpPr>
          <p:cNvPr id="5" name="TextBox 4">
            <a:extLst>
              <a:ext uri="{FF2B5EF4-FFF2-40B4-BE49-F238E27FC236}">
                <a16:creationId xmlns:a16="http://schemas.microsoft.com/office/drawing/2014/main" id="{0990A77E-E589-39E0-206D-07FB075AC84E}"/>
              </a:ext>
            </a:extLst>
          </p:cNvPr>
          <p:cNvSpPr txBox="1"/>
          <p:nvPr/>
        </p:nvSpPr>
        <p:spPr>
          <a:xfrm>
            <a:off x="609600" y="1968500"/>
            <a:ext cx="5257800" cy="276999"/>
          </a:xfrm>
          <a:prstGeom prst="rect">
            <a:avLst/>
          </a:prstGeom>
          <a:noFill/>
        </p:spPr>
        <p:txBody>
          <a:bodyPr vert="horz" wrap="square" lIns="0" tIns="0" rIns="0" bIns="0" rtlCol="0">
            <a:noAutofit/>
          </a:bodyPr>
          <a:lstStyle/>
          <a:p>
            <a:r>
              <a:rPr lang="it-IT">
                <a:solidFill>
                  <a:srgbClr val="23374A"/>
                </a:solidFill>
                <a:latin typeface="Arial" panose="020B0604020202020204" pitchFamily="34" charset="0"/>
              </a:rPr>
              <a:t>Tolgo le rotazioni di piccolo angolo della QFT: meno operazioni esposte al rumore, al prezzo di precisione.</a:t>
            </a:r>
            <a:endParaRPr lang="en-GB">
              <a:solidFill>
                <a:srgbClr val="23374A"/>
              </a:solidFill>
              <a:latin typeface="Arial" panose="020B0604020202020204" pitchFamily="34" charset="0"/>
            </a:endParaRPr>
          </a:p>
        </p:txBody>
      </p:sp>
      <p:sp>
        <p:nvSpPr>
          <p:cNvPr id="8" name="TextBox 7">
            <a:extLst>
              <a:ext uri="{FF2B5EF4-FFF2-40B4-BE49-F238E27FC236}">
                <a16:creationId xmlns:a16="http://schemas.microsoft.com/office/drawing/2014/main" id="{7229CAC4-8A94-36E1-8843-75BEDF51123D}"/>
              </a:ext>
            </a:extLst>
          </p:cNvPr>
          <p:cNvSpPr txBox="1"/>
          <p:nvPr/>
        </p:nvSpPr>
        <p:spPr>
          <a:xfrm>
            <a:off x="609600" y="2984500"/>
            <a:ext cx="5257800" cy="276999"/>
          </a:xfrm>
          <a:prstGeom prst="rect">
            <a:avLst/>
          </a:prstGeom>
          <a:noFill/>
        </p:spPr>
        <p:txBody>
          <a:bodyPr vert="horz" wrap="square" lIns="0" tIns="0" rIns="0" bIns="0" rtlCol="0">
            <a:noAutofit/>
          </a:bodyPr>
          <a:lstStyle/>
          <a:p>
            <a:r>
              <a:rPr lang="en-GB" sz="2000" b="1">
                <a:solidFill>
                  <a:srgbClr val="003366"/>
                </a:solidFill>
                <a:latin typeface="Arial" panose="020B0604020202020204" pitchFamily="34" charset="0"/>
              </a:rPr>
              <a:t>Perché può funzionare</a:t>
            </a:r>
          </a:p>
        </p:txBody>
      </p:sp>
      <p:sp>
        <p:nvSpPr>
          <p:cNvPr id="9" name="TextBox 8">
            <a:extLst>
              <a:ext uri="{FF2B5EF4-FFF2-40B4-BE49-F238E27FC236}">
                <a16:creationId xmlns:a16="http://schemas.microsoft.com/office/drawing/2014/main" id="{1F2E6282-46A1-3E87-6DD6-11769999615A}"/>
              </a:ext>
            </a:extLst>
          </p:cNvPr>
          <p:cNvSpPr txBox="1"/>
          <p:nvPr/>
        </p:nvSpPr>
        <p:spPr>
          <a:xfrm>
            <a:off x="609600" y="3441700"/>
            <a:ext cx="5257800" cy="276999"/>
          </a:xfrm>
          <a:prstGeom prst="rect">
            <a:avLst/>
          </a:prstGeom>
          <a:noFill/>
        </p:spPr>
        <p:txBody>
          <a:bodyPr vert="horz" wrap="square" lIns="0" tIns="0" rIns="0" bIns="0" rtlCol="0">
            <a:noAutofit/>
          </a:bodyPr>
          <a:lstStyle/>
          <a:p>
            <a:r>
              <a:rPr lang="it-IT" sz="1700">
                <a:solidFill>
                  <a:srgbClr val="23374A"/>
                </a:solidFill>
                <a:latin typeface="Arial" panose="020B0604020202020204" pitchFamily="34" charset="0"/>
              </a:rPr>
              <a:t>Per ricostruire il periodo basta una stima di fase sufficientemente precisa.</a:t>
            </a:r>
            <a:endParaRPr lang="en-GB" sz="1700">
              <a:solidFill>
                <a:srgbClr val="23374A"/>
              </a:solidFill>
              <a:latin typeface="Arial" panose="020B0604020202020204" pitchFamily="34" charset="0"/>
            </a:endParaRPr>
          </a:p>
        </p:txBody>
      </p:sp>
      <p:sp>
        <p:nvSpPr>
          <p:cNvPr id="13" name="TextBox 12">
            <a:extLst>
              <a:ext uri="{FF2B5EF4-FFF2-40B4-BE49-F238E27FC236}">
                <a16:creationId xmlns:a16="http://schemas.microsoft.com/office/drawing/2014/main" id="{B8FD37BA-8A7A-4759-6AE8-99710AB08499}"/>
              </a:ext>
            </a:extLst>
          </p:cNvPr>
          <p:cNvSpPr txBox="1"/>
          <p:nvPr/>
        </p:nvSpPr>
        <p:spPr>
          <a:xfrm>
            <a:off x="609600" y="4140200"/>
            <a:ext cx="5257800" cy="276999"/>
          </a:xfrm>
          <a:prstGeom prst="rect">
            <a:avLst/>
          </a:prstGeom>
          <a:noFill/>
        </p:spPr>
        <p:txBody>
          <a:bodyPr vert="horz" wrap="square" lIns="0" tIns="0" rIns="0" bIns="0" rtlCol="0">
            <a:noAutofit/>
          </a:bodyPr>
          <a:lstStyle/>
          <a:p>
            <a:r>
              <a:rPr lang="it-IT" sz="1400">
                <a:solidFill>
                  <a:srgbClr val="677586"/>
                </a:solidFill>
                <a:latin typeface="Arial" panose="020B0604020202020204" pitchFamily="34" charset="0"/>
              </a:rPr>
              <a:t>Test: N = 15, N = 21 e stima di fase isolata (6–10 qubit).</a:t>
            </a:r>
            <a:endParaRPr lang="en-GB" sz="1400">
              <a:solidFill>
                <a:srgbClr val="677586"/>
              </a:solidFill>
              <a:latin typeface="Arial" panose="020B0604020202020204" pitchFamily="34" charset="0"/>
            </a:endParaRPr>
          </a:p>
        </p:txBody>
      </p:sp>
      <p:sp>
        <p:nvSpPr>
          <p:cNvPr id="14" name="TextBox 13">
            <a:extLst>
              <a:ext uri="{FF2B5EF4-FFF2-40B4-BE49-F238E27FC236}">
                <a16:creationId xmlns:a16="http://schemas.microsoft.com/office/drawing/2014/main" id="{1020496D-25A4-DF40-4177-FDE6DFFA68ED}"/>
              </a:ext>
            </a:extLst>
          </p:cNvPr>
          <p:cNvSpPr txBox="1"/>
          <p:nvPr/>
        </p:nvSpPr>
        <p:spPr>
          <a:xfrm>
            <a:off x="6477000" y="1473200"/>
            <a:ext cx="5105400" cy="276999"/>
          </a:xfrm>
          <a:prstGeom prst="rect">
            <a:avLst/>
          </a:prstGeom>
          <a:noFill/>
        </p:spPr>
        <p:txBody>
          <a:bodyPr vert="horz" wrap="square" lIns="0" tIns="0" rIns="0" bIns="0" rtlCol="0">
            <a:noAutofit/>
          </a:bodyPr>
          <a:lstStyle/>
          <a:p>
            <a:r>
              <a:rPr lang="en-GB" sz="3600" b="1">
                <a:solidFill>
                  <a:srgbClr val="BA6513"/>
                </a:solidFill>
                <a:latin typeface="Arial" panose="020B0604020202020204" pitchFamily="34" charset="0"/>
              </a:rPr>
              <a:t>+14,87 punti</a:t>
            </a:r>
          </a:p>
        </p:txBody>
      </p:sp>
      <p:sp>
        <p:nvSpPr>
          <p:cNvPr id="15" name="TextBox 14">
            <a:extLst>
              <a:ext uri="{FF2B5EF4-FFF2-40B4-BE49-F238E27FC236}">
                <a16:creationId xmlns:a16="http://schemas.microsoft.com/office/drawing/2014/main" id="{75AD3F83-CB5F-F11B-F3D0-009EC1E1B9ED}"/>
              </a:ext>
            </a:extLst>
          </p:cNvPr>
          <p:cNvSpPr txBox="1"/>
          <p:nvPr/>
        </p:nvSpPr>
        <p:spPr>
          <a:xfrm>
            <a:off x="6477000" y="2082800"/>
            <a:ext cx="5105400" cy="276999"/>
          </a:xfrm>
          <a:prstGeom prst="rect">
            <a:avLst/>
          </a:prstGeom>
          <a:noFill/>
        </p:spPr>
        <p:txBody>
          <a:bodyPr vert="horz" wrap="square" lIns="0" tIns="0" rIns="0" bIns="0" rtlCol="0">
            <a:noAutofit/>
          </a:bodyPr>
          <a:lstStyle/>
          <a:p>
            <a:r>
              <a:rPr lang="it-IT" sz="1700">
                <a:solidFill>
                  <a:srgbClr val="23374A"/>
                </a:solidFill>
                <a:latin typeface="Arial" panose="020B0604020202020204" pitchFamily="34" charset="0"/>
              </a:rPr>
              <a:t>di successo su N = 15, sui dati di verifica</a:t>
            </a:r>
            <a:endParaRPr lang="en-GB" sz="1700">
              <a:solidFill>
                <a:srgbClr val="23374A"/>
              </a:solidFill>
              <a:latin typeface="Arial" panose="020B0604020202020204" pitchFamily="34" charset="0"/>
            </a:endParaRPr>
          </a:p>
        </p:txBody>
      </p:sp>
      <p:sp>
        <p:nvSpPr>
          <p:cNvPr id="16" name="TextBox 15">
            <a:extLst>
              <a:ext uri="{FF2B5EF4-FFF2-40B4-BE49-F238E27FC236}">
                <a16:creationId xmlns:a16="http://schemas.microsoft.com/office/drawing/2014/main" id="{B0BD4B9F-108E-721C-BFBF-2DFFC1CCF9AC}"/>
              </a:ext>
            </a:extLst>
          </p:cNvPr>
          <p:cNvSpPr txBox="1"/>
          <p:nvPr/>
        </p:nvSpPr>
        <p:spPr>
          <a:xfrm>
            <a:off x="6477000" y="2413000"/>
            <a:ext cx="5105400" cy="276999"/>
          </a:xfrm>
          <a:prstGeom prst="rect">
            <a:avLst/>
          </a:prstGeom>
          <a:noFill/>
        </p:spPr>
        <p:txBody>
          <a:bodyPr vert="horz" wrap="square" lIns="0" tIns="0" rIns="0" bIns="0" rtlCol="0">
            <a:noAutofit/>
          </a:bodyPr>
          <a:lstStyle/>
          <a:p>
            <a:r>
              <a:rPr lang="it-IT" sz="1200">
                <a:solidFill>
                  <a:srgbClr val="677586"/>
                </a:solidFill>
                <a:latin typeface="Arial" panose="020B0604020202020204" pitchFamily="34" charset="0"/>
              </a:rPr>
              <a:t>IC 95%: da +12,7 a +17,0 punti</a:t>
            </a:r>
            <a:endParaRPr lang="en-GB" sz="1200">
              <a:solidFill>
                <a:srgbClr val="677586"/>
              </a:solidFill>
              <a:latin typeface="Arial" panose="020B0604020202020204" pitchFamily="34" charset="0"/>
            </a:endParaRPr>
          </a:p>
        </p:txBody>
      </p:sp>
      <p:graphicFrame>
        <p:nvGraphicFramePr>
          <p:cNvPr id="17" name="Table 16">
            <a:extLst>
              <a:ext uri="{FF2B5EF4-FFF2-40B4-BE49-F238E27FC236}">
                <a16:creationId xmlns:a16="http://schemas.microsoft.com/office/drawing/2014/main" id="{A2570973-48F4-9D12-7257-E552E77531E8}"/>
              </a:ext>
            </a:extLst>
          </p:cNvPr>
          <p:cNvGraphicFramePr>
            <a:graphicFrameLocks noGrp="1"/>
          </p:cNvGraphicFramePr>
          <p:nvPr>
            <p:extLst>
              <p:ext uri="{D42A27DB-BD31-4B8C-83A1-F6EECF244321}">
                <p14:modId xmlns:p14="http://schemas.microsoft.com/office/powerpoint/2010/main" val="681183"/>
              </p:ext>
            </p:extLst>
          </p:nvPr>
        </p:nvGraphicFramePr>
        <p:xfrm>
          <a:off x="609600" y="4711700"/>
          <a:ext cx="5257800" cy="1155700"/>
        </p:xfrm>
        <a:graphic>
          <a:graphicData uri="http://schemas.openxmlformats.org/drawingml/2006/table">
            <a:tbl>
              <a:tblPr firstRow="1" bandRow="1">
                <a:tableStyleId>{5C22544A-7EE6-4342-B048-85BDC9FD1C3A}</a:tableStyleId>
              </a:tblPr>
              <a:tblGrid>
                <a:gridCol w="2336800">
                  <a:extLst>
                    <a:ext uri="{9D8B030D-6E8A-4147-A177-3AD203B41FA5}">
                      <a16:colId xmlns:a16="http://schemas.microsoft.com/office/drawing/2014/main" val="2314292560"/>
                    </a:ext>
                  </a:extLst>
                </a:gridCol>
                <a:gridCol w="1460500">
                  <a:extLst>
                    <a:ext uri="{9D8B030D-6E8A-4147-A177-3AD203B41FA5}">
                      <a16:colId xmlns:a16="http://schemas.microsoft.com/office/drawing/2014/main" val="1918257104"/>
                    </a:ext>
                  </a:extLst>
                </a:gridCol>
                <a:gridCol w="1460500">
                  <a:extLst>
                    <a:ext uri="{9D8B030D-6E8A-4147-A177-3AD203B41FA5}">
                      <a16:colId xmlns:a16="http://schemas.microsoft.com/office/drawing/2014/main" val="4203436662"/>
                    </a:ext>
                  </a:extLst>
                </a:gridCol>
              </a:tblGrid>
              <a:tr h="288925">
                <a:tc>
                  <a:txBody>
                    <a:bodyPr/>
                    <a:lstStyle/>
                    <a:p>
                      <a:r>
                        <a:rPr lang="en-GB" sz="1200" b="1">
                          <a:solidFill>
                            <a:srgbClr val="FFFFFF"/>
                          </a:solidFill>
                          <a:latin typeface="Arial" panose="020B0604020202020204" pitchFamily="34" charset="0"/>
                        </a:rPr>
                        <a:t>N = 15</a:t>
                      </a:r>
                    </a:p>
                  </a:txBody>
                  <a:tcPr marL="88900" marR="50800" marT="38100" marB="38100">
                    <a:lnL w="12700" cmpd="sng">
                      <a:solidFill>
                        <a:schemeClr val="lt1"/>
                      </a:solidFill>
                    </a:lnL>
                    <a:lnR w="12700" cmpd="sng">
                      <a:solidFill>
                        <a:schemeClr val="lt1"/>
                      </a:solidFill>
                    </a:lnR>
                    <a:lnT w="12700" cmpd="sng">
                      <a:solidFill>
                        <a:schemeClr val="lt1"/>
                      </a:solidFill>
                    </a:lnT>
                    <a:lnB w="38100" cmpd="sng">
                      <a:solidFill>
                        <a:schemeClr val="lt1"/>
                      </a:solidFill>
                    </a:lnB>
                    <a:solidFill>
                      <a:srgbClr val="1963A0"/>
                    </a:solidFill>
                  </a:tcPr>
                </a:tc>
                <a:tc>
                  <a:txBody>
                    <a:bodyPr/>
                    <a:lstStyle/>
                    <a:p>
                      <a:r>
                        <a:rPr lang="en-GB" sz="1200" b="1">
                          <a:solidFill>
                            <a:srgbClr val="FFFFFF"/>
                          </a:solidFill>
                          <a:latin typeface="Arial" panose="020B0604020202020204" pitchFamily="34" charset="0"/>
                        </a:rPr>
                        <a:t>QFT piena</a:t>
                      </a:r>
                    </a:p>
                  </a:txBody>
                  <a:tcPr marL="88900" marR="50800" marT="38100" marB="38100">
                    <a:lnL w="12700" cmpd="sng">
                      <a:solidFill>
                        <a:schemeClr val="lt1"/>
                      </a:solidFill>
                    </a:lnL>
                    <a:lnR w="12700" cmpd="sng">
                      <a:solidFill>
                        <a:schemeClr val="lt1"/>
                      </a:solidFill>
                    </a:lnR>
                    <a:lnT w="12700" cmpd="sng">
                      <a:solidFill>
                        <a:schemeClr val="lt1"/>
                      </a:solidFill>
                    </a:lnT>
                    <a:lnB w="38100" cmpd="sng">
                      <a:solidFill>
                        <a:schemeClr val="lt1"/>
                      </a:solidFill>
                    </a:lnB>
                    <a:solidFill>
                      <a:srgbClr val="1963A0"/>
                    </a:solidFill>
                  </a:tcPr>
                </a:tc>
                <a:tc>
                  <a:txBody>
                    <a:bodyPr/>
                    <a:lstStyle/>
                    <a:p>
                      <a:r>
                        <a:rPr lang="en-GB" sz="1200" b="1">
                          <a:solidFill>
                            <a:srgbClr val="FFFFFF"/>
                          </a:solidFill>
                          <a:latin typeface="Arial" panose="020B0604020202020204" pitchFamily="34" charset="0"/>
                        </a:rPr>
                        <a:t>AQFT</a:t>
                      </a:r>
                    </a:p>
                  </a:txBody>
                  <a:tcPr marL="88900" marR="50800" marT="38100" marB="38100">
                    <a:lnL w="12700" cmpd="sng">
                      <a:solidFill>
                        <a:schemeClr val="lt1"/>
                      </a:solidFill>
                    </a:lnL>
                    <a:lnR w="12700" cmpd="sng">
                      <a:solidFill>
                        <a:schemeClr val="lt1"/>
                      </a:solidFill>
                    </a:lnR>
                    <a:lnT w="12700" cmpd="sng">
                      <a:solidFill>
                        <a:schemeClr val="lt1"/>
                      </a:solidFill>
                    </a:lnT>
                    <a:lnB w="38100" cmpd="sng">
                      <a:solidFill>
                        <a:schemeClr val="lt1"/>
                      </a:solidFill>
                    </a:lnB>
                    <a:solidFill>
                      <a:srgbClr val="1963A0"/>
                    </a:solidFill>
                  </a:tcPr>
                </a:tc>
                <a:extLst>
                  <a:ext uri="{0D108BD9-81ED-4DB2-BD59-A6C34878D82A}">
                    <a16:rowId xmlns:a16="http://schemas.microsoft.com/office/drawing/2014/main" val="2412497855"/>
                  </a:ext>
                </a:extLst>
              </a:tr>
              <a:tr h="288925">
                <a:tc>
                  <a:txBody>
                    <a:bodyPr/>
                    <a:lstStyle/>
                    <a:p>
                      <a:r>
                        <a:rPr lang="en-GB" sz="1200">
                          <a:solidFill>
                            <a:srgbClr val="23374A"/>
                          </a:solidFill>
                          <a:latin typeface="Arial" panose="020B0604020202020204" pitchFamily="34" charset="0"/>
                        </a:rPr>
                        <a:t>Successo</a:t>
                      </a:r>
                    </a:p>
                  </a:txBody>
                  <a:tcPr marL="88900" marR="50800" marT="38100" marB="38100">
                    <a:lnL w="12700" cmpd="sng">
                      <a:solidFill>
                        <a:schemeClr val="lt1"/>
                      </a:solidFill>
                    </a:lnL>
                    <a:lnR w="12700" cmpd="sng">
                      <a:solidFill>
                        <a:schemeClr val="lt1"/>
                      </a:solidFill>
                    </a:lnR>
                    <a:lnT w="38100" cmpd="sng">
                      <a:solidFill>
                        <a:schemeClr val="lt1"/>
                      </a:solidFill>
                    </a:lnT>
                    <a:lnB w="12700" cmpd="sng">
                      <a:solidFill>
                        <a:schemeClr val="lt1"/>
                      </a:solidFill>
                    </a:lnB>
                    <a:solidFill>
                      <a:srgbClr val="EDF3F7"/>
                    </a:solidFill>
                  </a:tcPr>
                </a:tc>
                <a:tc>
                  <a:txBody>
                    <a:bodyPr/>
                    <a:lstStyle/>
                    <a:p>
                      <a:r>
                        <a:rPr lang="en-GB" sz="1200">
                          <a:solidFill>
                            <a:srgbClr val="23374A"/>
                          </a:solidFill>
                          <a:latin typeface="Arial" panose="020B0604020202020204" pitchFamily="34" charset="0"/>
                        </a:rPr>
                        <a:t>47,92%</a:t>
                      </a:r>
                    </a:p>
                  </a:txBody>
                  <a:tcPr marL="88900" marR="50800" marT="38100" marB="38100">
                    <a:lnL w="12700" cmpd="sng">
                      <a:solidFill>
                        <a:schemeClr val="lt1"/>
                      </a:solidFill>
                    </a:lnL>
                    <a:lnR w="12700" cmpd="sng">
                      <a:solidFill>
                        <a:schemeClr val="lt1"/>
                      </a:solidFill>
                    </a:lnR>
                    <a:lnT w="38100" cmpd="sng">
                      <a:solidFill>
                        <a:schemeClr val="lt1"/>
                      </a:solidFill>
                    </a:lnT>
                    <a:lnB w="12700" cmpd="sng">
                      <a:solidFill>
                        <a:schemeClr val="lt1"/>
                      </a:solidFill>
                    </a:lnB>
                    <a:solidFill>
                      <a:srgbClr val="EDF3F7"/>
                    </a:solidFill>
                  </a:tcPr>
                </a:tc>
                <a:tc>
                  <a:txBody>
                    <a:bodyPr/>
                    <a:lstStyle/>
                    <a:p>
                      <a:r>
                        <a:rPr lang="en-GB" sz="1200">
                          <a:solidFill>
                            <a:srgbClr val="23374A"/>
                          </a:solidFill>
                          <a:latin typeface="Arial" panose="020B0604020202020204" pitchFamily="34" charset="0"/>
                        </a:rPr>
                        <a:t>62,79%</a:t>
                      </a:r>
                    </a:p>
                  </a:txBody>
                  <a:tcPr marL="88900" marR="50800" marT="38100" marB="38100">
                    <a:lnL w="12700" cmpd="sng">
                      <a:solidFill>
                        <a:schemeClr val="lt1"/>
                      </a:solidFill>
                    </a:lnL>
                    <a:lnR w="12700" cmpd="sng">
                      <a:solidFill>
                        <a:schemeClr val="lt1"/>
                      </a:solidFill>
                    </a:lnR>
                    <a:lnT w="38100" cmpd="sng">
                      <a:solidFill>
                        <a:schemeClr val="lt1"/>
                      </a:solidFill>
                    </a:lnT>
                    <a:lnB w="12700" cmpd="sng">
                      <a:solidFill>
                        <a:schemeClr val="lt1"/>
                      </a:solidFill>
                    </a:lnB>
                    <a:solidFill>
                      <a:srgbClr val="EDF3F7"/>
                    </a:solidFill>
                  </a:tcPr>
                </a:tc>
                <a:extLst>
                  <a:ext uri="{0D108BD9-81ED-4DB2-BD59-A6C34878D82A}">
                    <a16:rowId xmlns:a16="http://schemas.microsoft.com/office/drawing/2014/main" val="2937333207"/>
                  </a:ext>
                </a:extLst>
              </a:tr>
              <a:tr h="288925">
                <a:tc>
                  <a:txBody>
                    <a:bodyPr/>
                    <a:lstStyle/>
                    <a:p>
                      <a:r>
                        <a:rPr lang="fr-FR" sz="1200">
                          <a:solidFill>
                            <a:srgbClr val="23374A"/>
                          </a:solidFill>
                          <a:latin typeface="Arial" panose="020B0604020202020204" pitchFamily="34" charset="0"/>
                        </a:rPr>
                        <a:t>Porte a 2 qubit (ECR)</a:t>
                      </a:r>
                      <a:endParaRPr lang="en-GB" sz="1200">
                        <a:solidFill>
                          <a:srgbClr val="23374A"/>
                        </a:solidFill>
                        <a:latin typeface="Arial" panose="020B0604020202020204" pitchFamily="34" charset="0"/>
                      </a:endParaRPr>
                    </a:p>
                  </a:txBody>
                  <a:tcPr marL="88900" marR="50800" marT="38100" marB="38100">
                    <a:lnL w="12700" cmpd="sng">
                      <a:solidFill>
                        <a:schemeClr val="lt1"/>
                      </a:solidFill>
                    </a:lnL>
                    <a:lnR w="12700" cmpd="sng">
                      <a:solidFill>
                        <a:schemeClr val="lt1"/>
                      </a:solidFill>
                    </a:lnR>
                    <a:lnT w="12700" cmpd="sng">
                      <a:solidFill>
                        <a:schemeClr val="lt1"/>
                      </a:solidFill>
                    </a:lnT>
                    <a:lnB w="12700" cmpd="sng">
                      <a:solidFill>
                        <a:schemeClr val="lt1"/>
                      </a:solidFill>
                    </a:lnB>
                    <a:solidFill>
                      <a:srgbClr val="EDF3F7"/>
                    </a:solidFill>
                  </a:tcPr>
                </a:tc>
                <a:tc>
                  <a:txBody>
                    <a:bodyPr/>
                    <a:lstStyle/>
                    <a:p>
                      <a:r>
                        <a:rPr lang="en-GB" sz="1200">
                          <a:solidFill>
                            <a:srgbClr val="23374A"/>
                          </a:solidFill>
                          <a:latin typeface="Arial" panose="020B0604020202020204" pitchFamily="34" charset="0"/>
                        </a:rPr>
                        <a:t>362</a:t>
                      </a:r>
                    </a:p>
                  </a:txBody>
                  <a:tcPr marL="88900" marR="50800" marT="38100" marB="38100">
                    <a:lnL w="12700" cmpd="sng">
                      <a:solidFill>
                        <a:schemeClr val="lt1"/>
                      </a:solidFill>
                    </a:lnL>
                    <a:lnR w="12700" cmpd="sng">
                      <a:solidFill>
                        <a:schemeClr val="lt1"/>
                      </a:solidFill>
                    </a:lnR>
                    <a:lnT w="12700" cmpd="sng">
                      <a:solidFill>
                        <a:schemeClr val="lt1"/>
                      </a:solidFill>
                    </a:lnT>
                    <a:lnB w="12700" cmpd="sng">
                      <a:solidFill>
                        <a:schemeClr val="lt1"/>
                      </a:solidFill>
                    </a:lnB>
                    <a:solidFill>
                      <a:srgbClr val="EDF3F7"/>
                    </a:solidFill>
                  </a:tcPr>
                </a:tc>
                <a:tc>
                  <a:txBody>
                    <a:bodyPr/>
                    <a:lstStyle/>
                    <a:p>
                      <a:r>
                        <a:rPr lang="en-GB" sz="1200">
                          <a:solidFill>
                            <a:srgbClr val="23374A"/>
                          </a:solidFill>
                          <a:latin typeface="Arial" panose="020B0604020202020204" pitchFamily="34" charset="0"/>
                        </a:rPr>
                        <a:t>279</a:t>
                      </a:r>
                    </a:p>
                  </a:txBody>
                  <a:tcPr marL="88900" marR="50800" marT="38100" marB="38100">
                    <a:lnL w="12700" cmpd="sng">
                      <a:solidFill>
                        <a:schemeClr val="lt1"/>
                      </a:solidFill>
                    </a:lnL>
                    <a:lnR w="12700" cmpd="sng">
                      <a:solidFill>
                        <a:schemeClr val="lt1"/>
                      </a:solidFill>
                    </a:lnR>
                    <a:lnT w="12700" cmpd="sng">
                      <a:solidFill>
                        <a:schemeClr val="lt1"/>
                      </a:solidFill>
                    </a:lnT>
                    <a:lnB w="12700" cmpd="sng">
                      <a:solidFill>
                        <a:schemeClr val="lt1"/>
                      </a:solidFill>
                    </a:lnB>
                    <a:solidFill>
                      <a:srgbClr val="EDF3F7"/>
                    </a:solidFill>
                  </a:tcPr>
                </a:tc>
                <a:extLst>
                  <a:ext uri="{0D108BD9-81ED-4DB2-BD59-A6C34878D82A}">
                    <a16:rowId xmlns:a16="http://schemas.microsoft.com/office/drawing/2014/main" val="2324775208"/>
                  </a:ext>
                </a:extLst>
              </a:tr>
              <a:tr h="288925">
                <a:tc>
                  <a:txBody>
                    <a:bodyPr/>
                    <a:lstStyle/>
                    <a:p>
                      <a:r>
                        <a:rPr lang="en-GB" sz="1200">
                          <a:solidFill>
                            <a:srgbClr val="23374A"/>
                          </a:solidFill>
                          <a:latin typeface="Arial" panose="020B0604020202020204" pitchFamily="34" charset="0"/>
                        </a:rPr>
                        <a:t>Profondità</a:t>
                      </a:r>
                    </a:p>
                  </a:txBody>
                  <a:tcPr marL="88900" marR="50800" marT="38100" marB="38100">
                    <a:lnL w="12700" cmpd="sng">
                      <a:solidFill>
                        <a:schemeClr val="lt1"/>
                      </a:solidFill>
                    </a:lnL>
                    <a:lnR w="12700" cmpd="sng">
                      <a:solidFill>
                        <a:schemeClr val="lt1"/>
                      </a:solidFill>
                    </a:lnR>
                    <a:lnT w="12700" cmpd="sng">
                      <a:solidFill>
                        <a:schemeClr val="lt1"/>
                      </a:solidFill>
                    </a:lnT>
                    <a:lnB w="12700" cmpd="sng">
                      <a:solidFill>
                        <a:schemeClr val="lt1"/>
                      </a:solidFill>
                    </a:lnB>
                    <a:solidFill>
                      <a:srgbClr val="EDF3F7"/>
                    </a:solidFill>
                  </a:tcPr>
                </a:tc>
                <a:tc>
                  <a:txBody>
                    <a:bodyPr/>
                    <a:lstStyle/>
                    <a:p>
                      <a:r>
                        <a:rPr lang="en-GB" sz="1200">
                          <a:solidFill>
                            <a:srgbClr val="23374A"/>
                          </a:solidFill>
                          <a:latin typeface="Arial" panose="020B0604020202020204" pitchFamily="34" charset="0"/>
                        </a:rPr>
                        <a:t>1351</a:t>
                      </a:r>
                    </a:p>
                  </a:txBody>
                  <a:tcPr marL="88900" marR="50800" marT="38100" marB="38100">
                    <a:lnL w="12700" cmpd="sng">
                      <a:solidFill>
                        <a:schemeClr val="lt1"/>
                      </a:solidFill>
                    </a:lnL>
                    <a:lnR w="12700" cmpd="sng">
                      <a:solidFill>
                        <a:schemeClr val="lt1"/>
                      </a:solidFill>
                    </a:lnR>
                    <a:lnT w="12700" cmpd="sng">
                      <a:solidFill>
                        <a:schemeClr val="lt1"/>
                      </a:solidFill>
                    </a:lnT>
                    <a:lnB w="12700" cmpd="sng">
                      <a:solidFill>
                        <a:schemeClr val="lt1"/>
                      </a:solidFill>
                    </a:lnB>
                    <a:solidFill>
                      <a:srgbClr val="EDF3F7"/>
                    </a:solidFill>
                  </a:tcPr>
                </a:tc>
                <a:tc>
                  <a:txBody>
                    <a:bodyPr/>
                    <a:lstStyle/>
                    <a:p>
                      <a:r>
                        <a:rPr lang="en-GB" sz="1200">
                          <a:solidFill>
                            <a:srgbClr val="23374A"/>
                          </a:solidFill>
                          <a:latin typeface="Arial" panose="020B0604020202020204" pitchFamily="34" charset="0"/>
                        </a:rPr>
                        <a:t>1141</a:t>
                      </a:r>
                    </a:p>
                  </a:txBody>
                  <a:tcPr marL="88900" marR="50800" marT="38100" marB="38100">
                    <a:lnL w="12700" cmpd="sng">
                      <a:solidFill>
                        <a:schemeClr val="lt1"/>
                      </a:solidFill>
                    </a:lnL>
                    <a:lnR w="12700" cmpd="sng">
                      <a:solidFill>
                        <a:schemeClr val="lt1"/>
                      </a:solidFill>
                    </a:lnR>
                    <a:lnT w="12700" cmpd="sng">
                      <a:solidFill>
                        <a:schemeClr val="lt1"/>
                      </a:solidFill>
                    </a:lnT>
                    <a:lnB w="12700" cmpd="sng">
                      <a:solidFill>
                        <a:schemeClr val="lt1"/>
                      </a:solidFill>
                    </a:lnB>
                    <a:solidFill>
                      <a:srgbClr val="EDF3F7"/>
                    </a:solidFill>
                  </a:tcPr>
                </a:tc>
                <a:extLst>
                  <a:ext uri="{0D108BD9-81ED-4DB2-BD59-A6C34878D82A}">
                    <a16:rowId xmlns:a16="http://schemas.microsoft.com/office/drawing/2014/main" val="2982604348"/>
                  </a:ext>
                </a:extLst>
              </a:tr>
            </a:tbl>
          </a:graphicData>
        </a:graphic>
      </p:graphicFrame>
      <p:sp>
        <p:nvSpPr>
          <p:cNvPr id="20" name="TextBox 19">
            <a:extLst>
              <a:ext uri="{FF2B5EF4-FFF2-40B4-BE49-F238E27FC236}">
                <a16:creationId xmlns:a16="http://schemas.microsoft.com/office/drawing/2014/main" id="{2F7D7FEB-AB08-91A0-F1BF-6A5AB505AC69}"/>
              </a:ext>
            </a:extLst>
          </p:cNvPr>
          <p:cNvSpPr txBox="1"/>
          <p:nvPr/>
        </p:nvSpPr>
        <p:spPr>
          <a:xfrm>
            <a:off x="609600" y="5981700"/>
            <a:ext cx="10972800" cy="276999"/>
          </a:xfrm>
          <a:prstGeom prst="rect">
            <a:avLst/>
          </a:prstGeom>
          <a:noFill/>
        </p:spPr>
        <p:txBody>
          <a:bodyPr vert="horz" wrap="square" lIns="0" tIns="0" rIns="0" bIns="0" rtlCol="0">
            <a:noAutofit/>
          </a:bodyPr>
          <a:lstStyle/>
          <a:p>
            <a:r>
              <a:rPr lang="it-IT" sz="1100">
                <a:solidFill>
                  <a:srgbClr val="677586"/>
                </a:solidFill>
                <a:latin typeface="Arial" panose="020B0604020202020204" pitchFamily="34" charset="0"/>
              </a:rPr>
              <a:t>Rumore IBM (FakeSherbrooke) riprodotto in simulazione; scelta su metà dei dati e verifica sull altra metà.</a:t>
            </a:r>
            <a:endParaRPr lang="en-GB" sz="1100">
              <a:solidFill>
                <a:srgbClr val="677586"/>
              </a:solidFill>
              <a:latin typeface="Arial" panose="020B0604020202020204" pitchFamily="34" charset="0"/>
            </a:endParaRPr>
          </a:p>
        </p:txBody>
      </p:sp>
      <p:sp>
        <p:nvSpPr>
          <p:cNvPr id="21" name="TextBox 20">
            <a:extLst>
              <a:ext uri="{FF2B5EF4-FFF2-40B4-BE49-F238E27FC236}">
                <a16:creationId xmlns:a16="http://schemas.microsoft.com/office/drawing/2014/main" id="{470F5327-1993-461E-8E0D-407EAA736804}"/>
              </a:ext>
            </a:extLst>
          </p:cNvPr>
          <p:cNvSpPr txBox="1"/>
          <p:nvPr/>
        </p:nvSpPr>
        <p:spPr>
          <a:xfrm>
            <a:off x="609600" y="6350000"/>
            <a:ext cx="10972800" cy="276999"/>
          </a:xfrm>
          <a:prstGeom prst="rect">
            <a:avLst/>
          </a:prstGeom>
          <a:noFill/>
        </p:spPr>
        <p:txBody>
          <a:bodyPr vert="horz" wrap="square" lIns="0" tIns="0" rIns="0" bIns="0" rtlCol="0">
            <a:noAutofit/>
          </a:bodyPr>
          <a:lstStyle/>
          <a:p>
            <a:r>
              <a:rPr lang="it-IT" sz="1700" b="1">
                <a:solidFill>
                  <a:srgbClr val="1963A0"/>
                </a:solidFill>
                <a:latin typeface="Arial" panose="020B0604020202020204" pitchFamily="34" charset="0"/>
              </a:rPr>
              <a:t>N = 15: +14,87 punti e −22,9% di porte; su N = 21 il beneficio non è dimostrato.</a:t>
            </a:r>
            <a:endParaRPr lang="en-GB" sz="1700" b="1">
              <a:solidFill>
                <a:srgbClr val="1963A0"/>
              </a:solidFill>
              <a:latin typeface="Arial" panose="020B0604020202020204" pitchFamily="34" charset="0"/>
            </a:endParaRPr>
          </a:p>
        </p:txBody>
      </p:sp>
    </p:spTree>
    <p:extLst>
      <p:ext uri="{BB962C8B-B14F-4D97-AF65-F5344CB8AC3E}">
        <p14:creationId xmlns:p14="http://schemas.microsoft.com/office/powerpoint/2010/main" val="204243573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7C934D66-A19F-4F45-A910-9FC2198DE6D8}"/>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Strategia 3: QFT approssimata (AQFT)</a:t>
            </a:r>
            <a:endParaRPr sz="2700" b="0">
              <a:solidFill>
                <a:srgbClr val="003366"/>
              </a:solidFill>
              <a:latin typeface="Arial"/>
              <a:ea typeface="Arial"/>
              <a:cs typeface="Arial"/>
            </a:endParaRPr>
          </a:p>
        </p:txBody>
      </p:sp>
      <p:pic>
        <p:nvPicPr>
          <p:cNvPr id="24" name="Picture 23"/>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B7D945B-C75B-4179-BF6C-020587B974A1}"/>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40A8CD84-FE44-4433-9B90-AFC6409EC098}"/>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3 · QFT approssimata | 11</a:t>
            </a:r>
            <a:endParaRPr sz="1200" b="0">
              <a:solidFill>
                <a:srgbClr val="203344"/>
              </a:solidFill>
              <a:latin typeface="Arial"/>
              <a:ea typeface="Arial"/>
              <a:cs typeface="Arial"/>
            </a:endParaRPr>
          </a:p>
        </p:txBody>
      </p:sp>
      <p:sp>
        <p:nvSpPr>
          <p:cNvPr id="2" name="TextBox 1">
            <a:extLst>
              <a:ext uri="{FF2B5EF4-FFF2-40B4-BE49-F238E27FC236}">
                <a16:creationId xmlns:a16="http://schemas.microsoft.com/office/drawing/2014/main" id="{95352E57-B61F-C999-5D37-1F4387D07242}"/>
              </a:ext>
            </a:extLst>
          </p:cNvPr>
          <p:cNvSpPr txBox="1"/>
          <p:nvPr/>
        </p:nvSpPr>
        <p:spPr>
          <a:xfrm>
            <a:off x="609600" y="1244600"/>
            <a:ext cx="10972800" cy="369332"/>
          </a:xfrm>
          <a:prstGeom prst="rect">
            <a:avLst/>
          </a:prstGeom>
          <a:noFill/>
        </p:spPr>
        <p:txBody>
          <a:bodyPr vert="horz" wrap="square" rtlCol="0">
            <a:noAutofit/>
          </a:bodyPr>
          <a:lstStyle/>
          <a:p>
            <a:r>
              <a:rPr lang="it-IT" sz="1725">
                <a:solidFill>
                  <a:srgbClr val="203344"/>
                </a:solidFill>
                <a:latin typeface="Arial" panose="020B0604020202020204" pitchFamily="34" charset="0"/>
              </a:rPr>
              <a:t>Più porte significa più errori. Nella QFT molte rotazioni sono piccolissime: spostano la fase quasi di nulla, ma costano porte.</a:t>
            </a:r>
            <a:endParaRPr lang="en-GB" sz="1725">
              <a:solidFill>
                <a:srgbClr val="203344"/>
              </a:solidFill>
              <a:latin typeface="Arial" panose="020B0604020202020204" pitchFamily="34" charset="0"/>
            </a:endParaRPr>
          </a:p>
        </p:txBody>
      </p:sp>
      <p:sp>
        <p:nvSpPr>
          <p:cNvPr id="25" name="Rectangle: Rounded Corners 24">
            <a:extLst>
              <a:ext uri="{FF2B5EF4-FFF2-40B4-BE49-F238E27FC236}">
                <a16:creationId xmlns:a16="http://schemas.microsoft.com/office/drawing/2014/main" id="{7E78E41E-B49D-5A5D-871D-DECD7957C390}"/>
              </a:ext>
            </a:extLst>
          </p:cNvPr>
          <p:cNvSpPr/>
          <p:nvPr/>
        </p:nvSpPr>
        <p:spPr>
          <a:xfrm>
            <a:off x="609600" y="1981200"/>
            <a:ext cx="5029200" cy="14224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Rounded Corners 25">
            <a:extLst>
              <a:ext uri="{FF2B5EF4-FFF2-40B4-BE49-F238E27FC236}">
                <a16:creationId xmlns:a16="http://schemas.microsoft.com/office/drawing/2014/main" id="{361EE528-3606-AEF0-EBBD-B53CA48C9C2C}"/>
              </a:ext>
            </a:extLst>
          </p:cNvPr>
          <p:cNvSpPr/>
          <p:nvPr/>
        </p:nvSpPr>
        <p:spPr>
          <a:xfrm>
            <a:off x="6553200" y="1981200"/>
            <a:ext cx="5029200" cy="14224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TextBox 26">
            <a:extLst>
              <a:ext uri="{FF2B5EF4-FFF2-40B4-BE49-F238E27FC236}">
                <a16:creationId xmlns:a16="http://schemas.microsoft.com/office/drawing/2014/main" id="{0FE43342-5019-9F0B-BE0F-51B5406A711A}"/>
              </a:ext>
            </a:extLst>
          </p:cNvPr>
          <p:cNvSpPr txBox="1"/>
          <p:nvPr/>
        </p:nvSpPr>
        <p:spPr>
          <a:xfrm>
            <a:off x="787400" y="2082800"/>
            <a:ext cx="4673600" cy="369332"/>
          </a:xfrm>
          <a:prstGeom prst="rect">
            <a:avLst/>
          </a:prstGeom>
          <a:noFill/>
        </p:spPr>
        <p:txBody>
          <a:bodyPr vert="horz" wrap="square" rtlCol="0">
            <a:noAutofit/>
          </a:bodyPr>
          <a:lstStyle/>
          <a:p>
            <a:r>
              <a:rPr lang="en-GB" sz="2025" b="1">
                <a:solidFill>
                  <a:srgbClr val="003366"/>
                </a:solidFill>
                <a:latin typeface="Arial" panose="020B0604020202020204" pitchFamily="34" charset="0"/>
              </a:rPr>
              <a:t>QFT piena</a:t>
            </a:r>
          </a:p>
        </p:txBody>
      </p:sp>
      <p:sp>
        <p:nvSpPr>
          <p:cNvPr id="28" name="TextBox 27">
            <a:extLst>
              <a:ext uri="{FF2B5EF4-FFF2-40B4-BE49-F238E27FC236}">
                <a16:creationId xmlns:a16="http://schemas.microsoft.com/office/drawing/2014/main" id="{1DC0A524-1F7B-2CF3-21D7-9DA6710C8688}"/>
              </a:ext>
            </a:extLst>
          </p:cNvPr>
          <p:cNvSpPr txBox="1"/>
          <p:nvPr/>
        </p:nvSpPr>
        <p:spPr>
          <a:xfrm>
            <a:off x="787400" y="2489200"/>
            <a:ext cx="4673600" cy="369332"/>
          </a:xfrm>
          <a:prstGeom prst="rect">
            <a:avLst/>
          </a:prstGeom>
          <a:noFill/>
        </p:spPr>
        <p:txBody>
          <a:bodyPr vert="horz" wrap="square" rtlCol="0">
            <a:noAutofit/>
          </a:bodyPr>
          <a:lstStyle/>
          <a:p>
            <a:r>
              <a:rPr lang="it-IT" sz="1575">
                <a:solidFill>
                  <a:srgbClr val="203344"/>
                </a:solidFill>
                <a:latin typeface="Arial" panose="020B0604020202020204" pitchFamily="34" charset="0"/>
              </a:rPr>
              <a:t>tutte le rotazioni, dalle più grandi alle più piccole (π/2, π/4, …, π/128)</a:t>
            </a:r>
            <a:endParaRPr lang="en-GB" sz="1575">
              <a:solidFill>
                <a:srgbClr val="203344"/>
              </a:solidFill>
              <a:latin typeface="Arial" panose="020B0604020202020204" pitchFamily="34" charset="0"/>
            </a:endParaRPr>
          </a:p>
        </p:txBody>
      </p:sp>
      <p:sp>
        <p:nvSpPr>
          <p:cNvPr id="29" name="Arrow: Right 28">
            <a:extLst>
              <a:ext uri="{FF2B5EF4-FFF2-40B4-BE49-F238E27FC236}">
                <a16:creationId xmlns:a16="http://schemas.microsoft.com/office/drawing/2014/main" id="{D7385B42-C672-37F0-EA93-7736BBCDC002}"/>
              </a:ext>
            </a:extLst>
          </p:cNvPr>
          <p:cNvSpPr/>
          <p:nvPr/>
        </p:nvSpPr>
        <p:spPr>
          <a:xfrm>
            <a:off x="5791200" y="2540000"/>
            <a:ext cx="609600" cy="304800"/>
          </a:xfrm>
          <a:prstGeom prst="right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TextBox 29">
            <a:extLst>
              <a:ext uri="{FF2B5EF4-FFF2-40B4-BE49-F238E27FC236}">
                <a16:creationId xmlns:a16="http://schemas.microsoft.com/office/drawing/2014/main" id="{5E1B3776-88E2-3E55-98D8-03693B4B2752}"/>
              </a:ext>
            </a:extLst>
          </p:cNvPr>
          <p:cNvSpPr txBox="1"/>
          <p:nvPr/>
        </p:nvSpPr>
        <p:spPr>
          <a:xfrm>
            <a:off x="6731000" y="2082800"/>
            <a:ext cx="4673600" cy="369332"/>
          </a:xfrm>
          <a:prstGeom prst="rect">
            <a:avLst/>
          </a:prstGeom>
          <a:noFill/>
        </p:spPr>
        <p:txBody>
          <a:bodyPr vert="horz" wrap="square" rtlCol="0">
            <a:noAutofit/>
          </a:bodyPr>
          <a:lstStyle/>
          <a:p>
            <a:r>
              <a:rPr lang="en-GB" sz="2025" b="1">
                <a:solidFill>
                  <a:srgbClr val="003366"/>
                </a:solidFill>
                <a:latin typeface="Arial" panose="020B0604020202020204" pitchFamily="34" charset="0"/>
              </a:rPr>
              <a:t>QFT approssimata</a:t>
            </a:r>
          </a:p>
        </p:txBody>
      </p:sp>
      <p:sp>
        <p:nvSpPr>
          <p:cNvPr id="31" name="TextBox 30">
            <a:extLst>
              <a:ext uri="{FF2B5EF4-FFF2-40B4-BE49-F238E27FC236}">
                <a16:creationId xmlns:a16="http://schemas.microsoft.com/office/drawing/2014/main" id="{8F43277F-E401-37CE-EE39-DC997F9BEE96}"/>
              </a:ext>
            </a:extLst>
          </p:cNvPr>
          <p:cNvSpPr txBox="1"/>
          <p:nvPr/>
        </p:nvSpPr>
        <p:spPr>
          <a:xfrm>
            <a:off x="6731000" y="2489200"/>
            <a:ext cx="4673600" cy="369332"/>
          </a:xfrm>
          <a:prstGeom prst="rect">
            <a:avLst/>
          </a:prstGeom>
          <a:noFill/>
        </p:spPr>
        <p:txBody>
          <a:bodyPr vert="horz" wrap="square" rtlCol="0">
            <a:noAutofit/>
          </a:bodyPr>
          <a:lstStyle/>
          <a:p>
            <a:r>
              <a:rPr lang="it-IT" sz="1575">
                <a:solidFill>
                  <a:srgbClr val="203344"/>
                </a:solidFill>
                <a:latin typeface="Arial" panose="020B0604020202020204" pitchFamily="34" charset="0"/>
              </a:rPr>
              <a:t>tolgo le rotazioni più piccole; per N = 15 bastano quelle tra qubit vicini</a:t>
            </a:r>
            <a:endParaRPr lang="en-GB" sz="1575">
              <a:solidFill>
                <a:srgbClr val="203344"/>
              </a:solidFill>
              <a:latin typeface="Arial" panose="020B0604020202020204" pitchFamily="34" charset="0"/>
            </a:endParaRPr>
          </a:p>
        </p:txBody>
      </p:sp>
      <p:sp>
        <p:nvSpPr>
          <p:cNvPr id="32" name="Rectangle: Rounded Corners 31">
            <a:extLst>
              <a:ext uri="{FF2B5EF4-FFF2-40B4-BE49-F238E27FC236}">
                <a16:creationId xmlns:a16="http://schemas.microsoft.com/office/drawing/2014/main" id="{03BFD759-0FC9-8A52-32DE-7BD3B2BCFD97}"/>
              </a:ext>
            </a:extLst>
          </p:cNvPr>
          <p:cNvSpPr/>
          <p:nvPr/>
        </p:nvSpPr>
        <p:spPr>
          <a:xfrm>
            <a:off x="609600" y="3556000"/>
            <a:ext cx="10972800" cy="812800"/>
          </a:xfrm>
          <a:prstGeom prst="roundRect">
            <a:avLst>
              <a:gd name="adj" fmla="val 6000"/>
            </a:avLst>
          </a:prstGeom>
          <a:solidFill>
            <a:srgbClr val="FDF1E4"/>
          </a:solidFill>
          <a:ln w="19050">
            <a:solidFill>
              <a:srgbClr val="D982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TextBox 32">
            <a:extLst>
              <a:ext uri="{FF2B5EF4-FFF2-40B4-BE49-F238E27FC236}">
                <a16:creationId xmlns:a16="http://schemas.microsoft.com/office/drawing/2014/main" id="{413C35CB-ACBA-D28E-971E-1FB45EA81156}"/>
              </a:ext>
            </a:extLst>
          </p:cNvPr>
          <p:cNvSpPr txBox="1"/>
          <p:nvPr/>
        </p:nvSpPr>
        <p:spPr>
          <a:xfrm>
            <a:off x="787400" y="3606800"/>
            <a:ext cx="10617200" cy="369332"/>
          </a:xfrm>
          <a:prstGeom prst="rect">
            <a:avLst/>
          </a:prstGeom>
          <a:noFill/>
        </p:spPr>
        <p:txBody>
          <a:bodyPr vert="horz" wrap="square" rtlCol="0">
            <a:noAutofit/>
          </a:bodyPr>
          <a:lstStyle/>
          <a:p>
            <a:r>
              <a:rPr lang="it-IT" sz="1725" b="1">
                <a:solidFill>
                  <a:srgbClr val="B5641A"/>
                </a:solidFill>
                <a:latin typeface="Arial" panose="020B0604020202020204" pitchFamily="34" charset="0"/>
              </a:rPr>
              <a:t>Perché funziona</a:t>
            </a:r>
          </a:p>
          <a:p>
            <a:r>
              <a:rPr lang="it-IT" sz="1575">
                <a:solidFill>
                  <a:srgbClr val="203344"/>
                </a:solidFill>
                <a:latin typeface="Arial" panose="020B0604020202020204" pitchFamily="34" charset="0"/>
              </a:rPr>
              <a:t>Shor non ha bisogno della fase esatta: basta un valore abbastanza vicino perché il calcolo classico ritrovi il periodo.</a:t>
            </a:r>
            <a:endParaRPr lang="en-GB" sz="1575">
              <a:solidFill>
                <a:srgbClr val="203344"/>
              </a:solidFill>
              <a:latin typeface="Arial" panose="020B0604020202020204" pitchFamily="34" charset="0"/>
            </a:endParaRPr>
          </a:p>
        </p:txBody>
      </p:sp>
      <p:sp>
        <p:nvSpPr>
          <p:cNvPr id="34" name="Rectangle: Rounded Corners 33">
            <a:extLst>
              <a:ext uri="{FF2B5EF4-FFF2-40B4-BE49-F238E27FC236}">
                <a16:creationId xmlns:a16="http://schemas.microsoft.com/office/drawing/2014/main" id="{CA553507-CEF1-40FD-A606-FDC486F98C68}"/>
              </a:ext>
            </a:extLst>
          </p:cNvPr>
          <p:cNvSpPr/>
          <p:nvPr/>
        </p:nvSpPr>
        <p:spPr>
          <a:xfrm>
            <a:off x="609600" y="4521200"/>
            <a:ext cx="3429000" cy="9652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TextBox 34">
            <a:extLst>
              <a:ext uri="{FF2B5EF4-FFF2-40B4-BE49-F238E27FC236}">
                <a16:creationId xmlns:a16="http://schemas.microsoft.com/office/drawing/2014/main" id="{EBECDAA2-08BE-E059-2ECE-6596D3F633D6}"/>
              </a:ext>
            </a:extLst>
          </p:cNvPr>
          <p:cNvSpPr txBox="1"/>
          <p:nvPr/>
        </p:nvSpPr>
        <p:spPr>
          <a:xfrm>
            <a:off x="762000" y="4597400"/>
            <a:ext cx="3124200" cy="369332"/>
          </a:xfrm>
          <a:prstGeom prst="rect">
            <a:avLst/>
          </a:prstGeom>
          <a:noFill/>
        </p:spPr>
        <p:txBody>
          <a:bodyPr vert="horz" wrap="square" rtlCol="0">
            <a:noAutofit/>
          </a:bodyPr>
          <a:lstStyle/>
          <a:p>
            <a:r>
              <a:rPr lang="en-GB" sz="1725" b="1">
                <a:solidFill>
                  <a:srgbClr val="003366"/>
                </a:solidFill>
                <a:latin typeface="Arial" panose="020B0604020202020204" pitchFamily="34" charset="0"/>
              </a:rPr>
              <a:t>N = 15</a:t>
            </a:r>
          </a:p>
        </p:txBody>
      </p:sp>
      <p:sp>
        <p:nvSpPr>
          <p:cNvPr id="36" name="TextBox 35">
            <a:extLst>
              <a:ext uri="{FF2B5EF4-FFF2-40B4-BE49-F238E27FC236}">
                <a16:creationId xmlns:a16="http://schemas.microsoft.com/office/drawing/2014/main" id="{1F36D963-9E38-4E37-D144-3DAF38058D13}"/>
              </a:ext>
            </a:extLst>
          </p:cNvPr>
          <p:cNvSpPr txBox="1"/>
          <p:nvPr/>
        </p:nvSpPr>
        <p:spPr>
          <a:xfrm>
            <a:off x="762000" y="4978400"/>
            <a:ext cx="3124200" cy="369332"/>
          </a:xfrm>
          <a:prstGeom prst="rect">
            <a:avLst/>
          </a:prstGeom>
          <a:noFill/>
        </p:spPr>
        <p:txBody>
          <a:bodyPr vert="horz" wrap="square" rtlCol="0">
            <a:noAutofit/>
          </a:bodyPr>
          <a:lstStyle/>
          <a:p>
            <a:r>
              <a:rPr lang="en-GB" sz="1425">
                <a:solidFill>
                  <a:srgbClr val="203344"/>
                </a:solidFill>
                <a:latin typeface="Arial" panose="020B0604020202020204" pitchFamily="34" charset="0"/>
              </a:rPr>
              <a:t>QFT finale di Shor</a:t>
            </a:r>
          </a:p>
        </p:txBody>
      </p:sp>
      <p:sp>
        <p:nvSpPr>
          <p:cNvPr id="37" name="Rectangle: Rounded Corners 36">
            <a:extLst>
              <a:ext uri="{FF2B5EF4-FFF2-40B4-BE49-F238E27FC236}">
                <a16:creationId xmlns:a16="http://schemas.microsoft.com/office/drawing/2014/main" id="{FEA8EC40-EBE1-A508-E7A5-7753600D410D}"/>
              </a:ext>
            </a:extLst>
          </p:cNvPr>
          <p:cNvSpPr/>
          <p:nvPr/>
        </p:nvSpPr>
        <p:spPr>
          <a:xfrm>
            <a:off x="4381500" y="4521200"/>
            <a:ext cx="3429000" cy="9652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TextBox 37">
            <a:extLst>
              <a:ext uri="{FF2B5EF4-FFF2-40B4-BE49-F238E27FC236}">
                <a16:creationId xmlns:a16="http://schemas.microsoft.com/office/drawing/2014/main" id="{0BF72B91-2111-8551-D1D4-C5F9DA973716}"/>
              </a:ext>
            </a:extLst>
          </p:cNvPr>
          <p:cNvSpPr txBox="1"/>
          <p:nvPr/>
        </p:nvSpPr>
        <p:spPr>
          <a:xfrm>
            <a:off x="4533900" y="4597400"/>
            <a:ext cx="3124200" cy="369332"/>
          </a:xfrm>
          <a:prstGeom prst="rect">
            <a:avLst/>
          </a:prstGeom>
          <a:noFill/>
        </p:spPr>
        <p:txBody>
          <a:bodyPr vert="horz" wrap="square" rtlCol="0">
            <a:noAutofit/>
          </a:bodyPr>
          <a:lstStyle/>
          <a:p>
            <a:r>
              <a:rPr lang="en-GB" sz="1725" b="1">
                <a:solidFill>
                  <a:srgbClr val="003366"/>
                </a:solidFill>
                <a:latin typeface="Arial" panose="020B0604020202020204" pitchFamily="34" charset="0"/>
              </a:rPr>
              <a:t>N = 21</a:t>
            </a:r>
          </a:p>
        </p:txBody>
      </p:sp>
      <p:sp>
        <p:nvSpPr>
          <p:cNvPr id="39" name="TextBox 38">
            <a:extLst>
              <a:ext uri="{FF2B5EF4-FFF2-40B4-BE49-F238E27FC236}">
                <a16:creationId xmlns:a16="http://schemas.microsoft.com/office/drawing/2014/main" id="{7EF81A7D-9F96-01F4-85FC-8048116D2579}"/>
              </a:ext>
            </a:extLst>
          </p:cNvPr>
          <p:cNvSpPr txBox="1"/>
          <p:nvPr/>
        </p:nvSpPr>
        <p:spPr>
          <a:xfrm>
            <a:off x="4533900" y="4978400"/>
            <a:ext cx="3124200" cy="369332"/>
          </a:xfrm>
          <a:prstGeom prst="rect">
            <a:avLst/>
          </a:prstGeom>
          <a:noFill/>
        </p:spPr>
        <p:txBody>
          <a:bodyPr vert="horz" wrap="square" rtlCol="0">
            <a:noAutofit/>
          </a:bodyPr>
          <a:lstStyle/>
          <a:p>
            <a:r>
              <a:rPr lang="en-GB" sz="1425">
                <a:solidFill>
                  <a:srgbClr val="203344"/>
                </a:solidFill>
                <a:latin typeface="Arial" panose="020B0604020202020204" pitchFamily="34" charset="0"/>
              </a:rPr>
              <a:t>QFT dentro l'aritmetica modulare</a:t>
            </a:r>
          </a:p>
        </p:txBody>
      </p:sp>
      <p:sp>
        <p:nvSpPr>
          <p:cNvPr id="40" name="Rectangle: Rounded Corners 39">
            <a:extLst>
              <a:ext uri="{FF2B5EF4-FFF2-40B4-BE49-F238E27FC236}">
                <a16:creationId xmlns:a16="http://schemas.microsoft.com/office/drawing/2014/main" id="{402282E1-3BCE-89B1-37F7-AC59C0D67CC2}"/>
              </a:ext>
            </a:extLst>
          </p:cNvPr>
          <p:cNvSpPr/>
          <p:nvPr/>
        </p:nvSpPr>
        <p:spPr>
          <a:xfrm>
            <a:off x="8153400" y="4521200"/>
            <a:ext cx="3429000" cy="9652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TextBox 40">
            <a:extLst>
              <a:ext uri="{FF2B5EF4-FFF2-40B4-BE49-F238E27FC236}">
                <a16:creationId xmlns:a16="http://schemas.microsoft.com/office/drawing/2014/main" id="{E567FCEB-699E-E744-BC31-A3A44CFB6874}"/>
              </a:ext>
            </a:extLst>
          </p:cNvPr>
          <p:cNvSpPr txBox="1"/>
          <p:nvPr/>
        </p:nvSpPr>
        <p:spPr>
          <a:xfrm>
            <a:off x="8305800" y="4597400"/>
            <a:ext cx="3124200" cy="369332"/>
          </a:xfrm>
          <a:prstGeom prst="rect">
            <a:avLst/>
          </a:prstGeom>
          <a:noFill/>
        </p:spPr>
        <p:txBody>
          <a:bodyPr vert="horz" wrap="square" rtlCol="0">
            <a:noAutofit/>
          </a:bodyPr>
          <a:lstStyle/>
          <a:p>
            <a:r>
              <a:rPr lang="en-GB" sz="1725" b="1">
                <a:solidFill>
                  <a:srgbClr val="003366"/>
                </a:solidFill>
                <a:latin typeface="Arial" panose="020B0604020202020204" pitchFamily="34" charset="0"/>
              </a:rPr>
              <a:t>Stima di fase</a:t>
            </a:r>
          </a:p>
        </p:txBody>
      </p:sp>
      <p:sp>
        <p:nvSpPr>
          <p:cNvPr id="42" name="TextBox 41">
            <a:extLst>
              <a:ext uri="{FF2B5EF4-FFF2-40B4-BE49-F238E27FC236}">
                <a16:creationId xmlns:a16="http://schemas.microsoft.com/office/drawing/2014/main" id="{530C2E88-3EAA-8914-54A2-8F43E9C06BEF}"/>
              </a:ext>
            </a:extLst>
          </p:cNvPr>
          <p:cNvSpPr txBox="1"/>
          <p:nvPr/>
        </p:nvSpPr>
        <p:spPr>
          <a:xfrm>
            <a:off x="8305800" y="4978400"/>
            <a:ext cx="3124200" cy="369332"/>
          </a:xfrm>
          <a:prstGeom prst="rect">
            <a:avLst/>
          </a:prstGeom>
          <a:noFill/>
        </p:spPr>
        <p:txBody>
          <a:bodyPr vert="horz" wrap="square" rtlCol="0">
            <a:noAutofit/>
          </a:bodyPr>
          <a:lstStyle/>
          <a:p>
            <a:r>
              <a:rPr lang="it-IT" sz="1425">
                <a:solidFill>
                  <a:srgbClr val="203344"/>
                </a:solidFill>
                <a:latin typeface="Arial" panose="020B0604020202020204" pitchFamily="34" charset="0"/>
              </a:rPr>
              <a:t>test isolati, da 6 a 10 qubit</a:t>
            </a:r>
            <a:endParaRPr lang="en-GB" sz="1425">
              <a:solidFill>
                <a:srgbClr val="203344"/>
              </a:solidFill>
              <a:latin typeface="Arial" panose="020B0604020202020204" pitchFamily="34" charset="0"/>
            </a:endParaRPr>
          </a:p>
        </p:txBody>
      </p:sp>
      <p:sp>
        <p:nvSpPr>
          <p:cNvPr id="43" name="TextBox 42">
            <a:extLst>
              <a:ext uri="{FF2B5EF4-FFF2-40B4-BE49-F238E27FC236}">
                <a16:creationId xmlns:a16="http://schemas.microsoft.com/office/drawing/2014/main" id="{4CD43F7A-C369-C032-DFB0-39F88B6B42C6}"/>
              </a:ext>
            </a:extLst>
          </p:cNvPr>
          <p:cNvSpPr txBox="1"/>
          <p:nvPr/>
        </p:nvSpPr>
        <p:spPr>
          <a:xfrm>
            <a:off x="609600" y="5588000"/>
            <a:ext cx="10972800" cy="369332"/>
          </a:xfrm>
          <a:prstGeom prst="rect">
            <a:avLst/>
          </a:prstGeom>
          <a:noFill/>
        </p:spPr>
        <p:txBody>
          <a:bodyPr vert="horz" wrap="square" rtlCol="0">
            <a:noAutofit/>
          </a:bodyPr>
          <a:lstStyle/>
          <a:p>
            <a:r>
              <a:rPr lang="it-IT" sz="1275">
                <a:solidFill>
                  <a:srgbClr val="647487"/>
                </a:solidFill>
                <a:latin typeface="Arial" panose="020B0604020202020204" pitchFamily="34" charset="0"/>
              </a:rPr>
              <a:t>Rumore preso dalla calibrazione di un computer IBM (FakeSherbrooke). Il grado di approssimazione è scelto su metà dei dati e verificato sull'altra metà.</a:t>
            </a:r>
            <a:endParaRPr lang="en-GB" sz="1275">
              <a:solidFill>
                <a:srgbClr val="647487"/>
              </a:solidFill>
              <a:latin typeface="Arial" panose="020B0604020202020204" pitchFamily="34" charset="0"/>
            </a:endParaRPr>
          </a:p>
        </p:txBody>
      </p:sp>
      <p:sp>
        <p:nvSpPr>
          <p:cNvPr id="44" name="TextBox 43">
            <a:extLst>
              <a:ext uri="{FF2B5EF4-FFF2-40B4-BE49-F238E27FC236}">
                <a16:creationId xmlns:a16="http://schemas.microsoft.com/office/drawing/2014/main" id="{9A9E8929-75B6-6913-46FA-CDC4A629F0C9}"/>
              </a:ext>
            </a:extLst>
          </p:cNvPr>
          <p:cNvSpPr txBox="1"/>
          <p:nvPr/>
        </p:nvSpPr>
        <p:spPr>
          <a:xfrm>
            <a:off x="609600" y="61976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Meno rotazioni = meno porte e meno rumore, al prezzo di un po' di precisione.</a:t>
            </a:r>
            <a:endParaRPr lang="en-GB" sz="1950" b="1">
              <a:solidFill>
                <a:srgbClr val="175F99"/>
              </a:solidFill>
              <a:latin typeface="Arial" panose="020B0604020202020204" pitchFamily="34" charset="0"/>
            </a:endParaRPr>
          </a:p>
        </p:txBody>
      </p:sp>
    </p:spTree>
    <p:extLst>
      <p:ext uri="{BB962C8B-B14F-4D97-AF65-F5344CB8AC3E}">
        <p14:creationId xmlns:p14="http://schemas.microsoft.com/office/powerpoint/2010/main" val="114761680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descr="v2_s18_aqft_n15_holdout.png"/>
          <p:cNvPicPr>
            <a:picLocks noChangeAspect="1"/>
          </p:cNvPicPr>
          <p:nvPr/>
        </p:nvPicPr>
        <p:blipFill>
          <a:blip r:embed="rId3"/>
          <a:stretch>
            <a:fillRect/>
          </a:stretch>
        </p:blipFill>
        <p:spPr>
          <a:xfrm>
            <a:off x="609600" y="1428750"/>
            <a:ext cx="6499474" cy="4095750"/>
          </a:xfrm>
          <a:prstGeom prst="rect">
            <a:avLst/>
          </a:prstGeom>
        </p:spPr>
      </p:pic>
      <p:sp>
        <p:nvSpPr>
          <p:cNvPr id="11" name="Rectangle 10">
            <a:extLst>
              <a:ext uri="{FF2B5EF4-FFF2-40B4-BE49-F238E27FC236}">
                <a16:creationId xmlns:a16="http://schemas.microsoft.com/office/drawing/2014/main" id="{8A715D2C-BFF8-4F44-9B9C-E1B9D835B317}"/>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3: AQFT su N = 15</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4"/>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EA2291F3-B2FD-49F3-B6D2-121D3BDBF3CD}"/>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42F908A8-B2EF-405D-A77D-5756ADD4C77A}"/>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3 · QFT approssimata | 12</a:t>
            </a:r>
            <a:endParaRPr sz="1200" b="0">
              <a:solidFill>
                <a:srgbClr val="203344"/>
              </a:solidFill>
              <a:latin typeface="Arial"/>
              <a:ea typeface="Arial"/>
              <a:cs typeface="Arial"/>
            </a:endParaRPr>
          </a:p>
        </p:txBody>
      </p:sp>
      <p:sp>
        <p:nvSpPr>
          <p:cNvPr id="6" name="Rectangle 5">
            <a:extLst>
              <a:ext uri="{FF2B5EF4-FFF2-40B4-BE49-F238E27FC236}">
                <a16:creationId xmlns:a16="http://schemas.microsoft.com/office/drawing/2014/main" id="{68AFD0C9-328E-4D63-A4D9-E371C130FD82}"/>
              </a:ext>
            </a:extLst>
          </p:cNvPr>
          <p:cNvSpPr>
            <a:spLocks noGrp="1"/>
          </p:cNvSpPr>
          <p:nvPr/>
        </p:nvSpPr>
        <p:spPr>
          <a:xfrm>
            <a:off x="7810500" y="1609725"/>
            <a:ext cx="3771900" cy="800100"/>
          </a:xfrm>
          <a:prstGeom prst="rect">
            <a:avLst/>
          </a:prstGeom>
          <a:noFill/>
          <a:ln w="0">
            <a:noFill/>
          </a:ln>
        </p:spPr>
        <p:txBody>
          <a:bodyPr>
            <a:noAutofit/>
          </a:bodyPr>
          <a:lstStyle/>
          <a:p>
            <a:pPr>
              <a:defRPr sz="4725" b="1">
                <a:solidFill>
                  <a:srgbClr val="175F99"/>
                </a:solidFill>
                <a:latin typeface="Arial"/>
                <a:ea typeface="Arial"/>
                <a:cs typeface="Arial"/>
              </a:defRPr>
            </a:pPr>
            <a:r>
              <a:rPr sz="4725" b="1">
                <a:solidFill>
                  <a:srgbClr val="B5641A"/>
                </a:solidFill>
                <a:latin typeface="Arial"/>
                <a:ea typeface="Arial"/>
                <a:cs typeface="Arial"/>
              </a:rPr>
              <a:t>+14,87</a:t>
            </a:r>
          </a:p>
        </p:txBody>
      </p:sp>
      <p:sp>
        <p:nvSpPr>
          <p:cNvPr id="7" name="Rectangle 6">
            <a:extLst>
              <a:ext uri="{FF2B5EF4-FFF2-40B4-BE49-F238E27FC236}">
                <a16:creationId xmlns:a16="http://schemas.microsoft.com/office/drawing/2014/main" id="{A3C5E1FC-DBD5-48E4-A049-97253916A7E3}"/>
              </a:ext>
            </a:extLst>
          </p:cNvPr>
          <p:cNvSpPr>
            <a:spLocks noGrp="1"/>
          </p:cNvSpPr>
          <p:nvPr/>
        </p:nvSpPr>
        <p:spPr>
          <a:xfrm>
            <a:off x="7810500" y="2447925"/>
            <a:ext cx="3771900" cy="1095375"/>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Punti percentuali di successo</a:t>
            </a:r>
          </a:p>
          <a:p>
            <a:pPr>
              <a:defRPr sz="2025" b="0">
                <a:solidFill>
                  <a:srgbClr val="203344"/>
                </a:solidFill>
                <a:latin typeface="Arial"/>
                <a:ea typeface="Arial"/>
                <a:cs typeface="Arial"/>
              </a:defRPr>
            </a:pPr>
            <a:r>
              <a:rPr sz="2025" b="0">
                <a:solidFill>
                  <a:srgbClr val="203344"/>
                </a:solidFill>
                <a:latin typeface="Arial"/>
                <a:ea typeface="Arial"/>
                <a:cs typeface="Arial"/>
              </a:rPr>
              <a:t>su dati di verifica</a:t>
            </a:r>
          </a:p>
          <a:p>
            <a:r>
              <a:rPr sz="1600">
                <a:solidFill>
                  <a:srgbClr val="5B6573"/>
                </a:solidFill>
              </a:rPr>
              <a:t>IC 95%: da +12,7 a +17,0</a:t>
            </a:r>
          </a:p>
        </p:txBody>
      </p:sp>
      <p:graphicFrame>
        <p:nvGraphicFramePr>
          <p:cNvPr id="18" name="Table 17"/>
          <p:cNvGraphicFramePr/>
          <p:nvPr/>
        </p:nvGraphicFramePr>
        <p:xfrm>
          <a:off x="7810500" y="3629025"/>
          <a:ext cx="3771900" cy="2182178"/>
        </p:xfrm>
        <a:graphic>
          <a:graphicData uri="http://schemas.openxmlformats.org/drawingml/2006/table">
            <a:tbl>
              <a:tblPr/>
              <a:tblGrid>
                <a:gridCol w="1508760">
                  <a:extLst>
                    <a:ext uri="{9D8B030D-6E8A-4147-A177-3AD203B41FA5}">
                      <a16:colId xmlns:a16="http://schemas.microsoft.com/office/drawing/2014/main" val="20000"/>
                    </a:ext>
                  </a:extLst>
                </a:gridCol>
                <a:gridCol w="1131570">
                  <a:extLst>
                    <a:ext uri="{9D8B030D-6E8A-4147-A177-3AD203B41FA5}">
                      <a16:colId xmlns:a16="http://schemas.microsoft.com/office/drawing/2014/main" val="20001"/>
                    </a:ext>
                  </a:extLst>
                </a:gridCol>
                <a:gridCol w="1131570">
                  <a:extLst>
                    <a:ext uri="{9D8B030D-6E8A-4147-A177-3AD203B41FA5}">
                      <a16:colId xmlns:a16="http://schemas.microsoft.com/office/drawing/2014/main" val="20002"/>
                    </a:ext>
                  </a:extLst>
                </a:gridCol>
              </a:tblGrid>
              <a:tr h="473869">
                <a:tc>
                  <a:txBody>
                    <a:bodyPr/>
                    <a:lstStyle/>
                    <a:p>
                      <a:endParaRPr/>
                    </a:p>
                  </a:txBody>
                  <a:tcPr>
                    <a:solidFill>
                      <a:srgbClr val="175F99"/>
                    </a:solidFill>
                  </a:tcPr>
                </a:tc>
                <a:tc>
                  <a:txBody>
                    <a:bodyPr/>
                    <a:lstStyle/>
                    <a:p>
                      <a:r>
                        <a:rPr sz="1725" b="1">
                          <a:solidFill>
                            <a:srgbClr val="FFFFFF"/>
                          </a:solidFill>
                          <a:latin typeface="Arial"/>
                          <a:ea typeface="Arial"/>
                          <a:cs typeface="Arial"/>
                        </a:rPr>
                        <a:t>QFT piena</a:t>
                      </a:r>
                    </a:p>
                  </a:txBody>
                  <a:tcPr>
                    <a:solidFill>
                      <a:srgbClr val="175F99"/>
                    </a:solidFill>
                  </a:tcPr>
                </a:tc>
                <a:tc>
                  <a:txBody>
                    <a:bodyPr/>
                    <a:lstStyle/>
                    <a:p>
                      <a:r>
                        <a:rPr sz="1725" b="1">
                          <a:solidFill>
                            <a:srgbClr val="FFFFFF"/>
                          </a:solidFill>
                          <a:latin typeface="Arial"/>
                          <a:ea typeface="Arial"/>
                          <a:cs typeface="Arial"/>
                        </a:rPr>
                        <a:t>AQFT</a:t>
                      </a:r>
                    </a:p>
                  </a:txBody>
                  <a:tcPr>
                    <a:solidFill>
                      <a:srgbClr val="175F99"/>
                    </a:solidFill>
                  </a:tcPr>
                </a:tc>
                <a:extLst>
                  <a:ext uri="{0D108BD9-81ED-4DB2-BD59-A6C34878D82A}">
                    <a16:rowId xmlns:a16="http://schemas.microsoft.com/office/drawing/2014/main" val="10000"/>
                  </a:ext>
                </a:extLst>
              </a:tr>
              <a:tr h="473869">
                <a:tc>
                  <a:txBody>
                    <a:bodyPr/>
                    <a:lstStyle/>
                    <a:p>
                      <a:r>
                        <a:rPr sz="1725" b="0">
                          <a:solidFill>
                            <a:srgbClr val="203344"/>
                          </a:solidFill>
                          <a:latin typeface="Arial"/>
                          <a:ea typeface="Arial"/>
                          <a:cs typeface="Arial"/>
                        </a:rPr>
                        <a:t>Successo</a:t>
                      </a:r>
                    </a:p>
                  </a:txBody>
                  <a:tcPr>
                    <a:solidFill>
                      <a:srgbClr val="EEF4F8"/>
                    </a:solidFill>
                  </a:tcPr>
                </a:tc>
                <a:tc>
                  <a:txBody>
                    <a:bodyPr/>
                    <a:lstStyle/>
                    <a:p>
                      <a:r>
                        <a:rPr sz="1725" b="0">
                          <a:solidFill>
                            <a:srgbClr val="203344"/>
                          </a:solidFill>
                          <a:latin typeface="Arial"/>
                          <a:ea typeface="Arial"/>
                          <a:cs typeface="Arial"/>
                        </a:rPr>
                        <a:t>47,92%</a:t>
                      </a:r>
                    </a:p>
                  </a:txBody>
                  <a:tcPr>
                    <a:solidFill>
                      <a:srgbClr val="EEF4F8"/>
                    </a:solidFill>
                  </a:tcPr>
                </a:tc>
                <a:tc>
                  <a:txBody>
                    <a:bodyPr/>
                    <a:lstStyle/>
                    <a:p>
                      <a:r>
                        <a:rPr sz="1725" b="0">
                          <a:solidFill>
                            <a:srgbClr val="203344"/>
                          </a:solidFill>
                          <a:latin typeface="Arial"/>
                          <a:ea typeface="Arial"/>
                          <a:cs typeface="Arial"/>
                        </a:rPr>
                        <a:t>62,79%</a:t>
                      </a:r>
                    </a:p>
                  </a:txBody>
                  <a:tcPr>
                    <a:solidFill>
                      <a:srgbClr val="EEF4F8"/>
                    </a:solidFill>
                  </a:tcPr>
                </a:tc>
                <a:extLst>
                  <a:ext uri="{0D108BD9-81ED-4DB2-BD59-A6C34878D82A}">
                    <a16:rowId xmlns:a16="http://schemas.microsoft.com/office/drawing/2014/main" val="10001"/>
                  </a:ext>
                </a:extLst>
              </a:tr>
              <a:tr h="473869">
                <a:tc>
                  <a:txBody>
                    <a:bodyPr/>
                    <a:lstStyle/>
                    <a:p>
                      <a:r>
                        <a:rPr sz="1725" b="0">
                          <a:solidFill>
                            <a:srgbClr val="203344"/>
                          </a:solidFill>
                          <a:latin typeface="Arial"/>
                          <a:ea typeface="Arial"/>
                          <a:cs typeface="Arial"/>
                        </a:rPr>
                        <a:t>Porte a 2 qubit (ECR)</a:t>
                      </a:r>
                    </a:p>
                  </a:txBody>
                  <a:tcPr>
                    <a:solidFill>
                      <a:srgbClr val="FFFFFF"/>
                    </a:solidFill>
                  </a:tcPr>
                </a:tc>
                <a:tc>
                  <a:txBody>
                    <a:bodyPr/>
                    <a:lstStyle/>
                    <a:p>
                      <a:r>
                        <a:rPr sz="1725" b="0">
                          <a:solidFill>
                            <a:srgbClr val="203344"/>
                          </a:solidFill>
                          <a:latin typeface="Arial"/>
                          <a:ea typeface="Arial"/>
                          <a:cs typeface="Arial"/>
                        </a:rPr>
                        <a:t>362</a:t>
                      </a:r>
                    </a:p>
                  </a:txBody>
                  <a:tcPr>
                    <a:solidFill>
                      <a:srgbClr val="FFFFFF"/>
                    </a:solidFill>
                  </a:tcPr>
                </a:tc>
                <a:tc>
                  <a:txBody>
                    <a:bodyPr/>
                    <a:lstStyle/>
                    <a:p>
                      <a:r>
                        <a:rPr sz="1725" b="0">
                          <a:solidFill>
                            <a:srgbClr val="203344"/>
                          </a:solidFill>
                          <a:latin typeface="Arial"/>
                          <a:ea typeface="Arial"/>
                          <a:cs typeface="Arial"/>
                        </a:rPr>
                        <a:t>279</a:t>
                      </a:r>
                    </a:p>
                  </a:txBody>
                  <a:tcPr>
                    <a:solidFill>
                      <a:srgbClr val="FFFFFF"/>
                    </a:solidFill>
                  </a:tcPr>
                </a:tc>
                <a:extLst>
                  <a:ext uri="{0D108BD9-81ED-4DB2-BD59-A6C34878D82A}">
                    <a16:rowId xmlns:a16="http://schemas.microsoft.com/office/drawing/2014/main" val="10002"/>
                  </a:ext>
                </a:extLst>
              </a:tr>
              <a:tr h="473869">
                <a:tc>
                  <a:txBody>
                    <a:bodyPr/>
                    <a:lstStyle/>
                    <a:p>
                      <a:r>
                        <a:rPr sz="1725" b="0">
                          <a:solidFill>
                            <a:srgbClr val="203344"/>
                          </a:solidFill>
                          <a:latin typeface="Arial"/>
                          <a:ea typeface="Arial"/>
                          <a:cs typeface="Arial"/>
                        </a:rPr>
                        <a:t>Profondità</a:t>
                      </a:r>
                    </a:p>
                  </a:txBody>
                  <a:tcPr>
                    <a:solidFill>
                      <a:srgbClr val="EEF4F8"/>
                    </a:solidFill>
                  </a:tcPr>
                </a:tc>
                <a:tc>
                  <a:txBody>
                    <a:bodyPr/>
                    <a:lstStyle/>
                    <a:p>
                      <a:r>
                        <a:rPr sz="1725" b="0">
                          <a:solidFill>
                            <a:srgbClr val="203344"/>
                          </a:solidFill>
                          <a:latin typeface="Arial"/>
                          <a:ea typeface="Arial"/>
                          <a:cs typeface="Arial"/>
                        </a:rPr>
                        <a:t>1351</a:t>
                      </a:r>
                    </a:p>
                  </a:txBody>
                  <a:tcPr>
                    <a:solidFill>
                      <a:srgbClr val="EEF4F8"/>
                    </a:solidFill>
                  </a:tcPr>
                </a:tc>
                <a:tc>
                  <a:txBody>
                    <a:bodyPr/>
                    <a:lstStyle/>
                    <a:p>
                      <a:r>
                        <a:rPr sz="1725" b="0">
                          <a:solidFill>
                            <a:srgbClr val="203344"/>
                          </a:solidFill>
                          <a:latin typeface="Arial"/>
                          <a:ea typeface="Arial"/>
                          <a:cs typeface="Arial"/>
                        </a:rPr>
                        <a:t>1141</a:t>
                      </a:r>
                    </a:p>
                  </a:txBody>
                  <a:tcPr>
                    <a:solidFill>
                      <a:srgbClr val="EEF4F8"/>
                    </a:solidFill>
                  </a:tcPr>
                </a:tc>
                <a:extLst>
                  <a:ext uri="{0D108BD9-81ED-4DB2-BD59-A6C34878D82A}">
                    <a16:rowId xmlns:a16="http://schemas.microsoft.com/office/drawing/2014/main" val="10003"/>
                  </a:ext>
                </a:extLst>
              </a:tr>
            </a:tbl>
          </a:graphicData>
        </a:graphic>
      </p:graphicFrame>
      <p:sp>
        <p:nvSpPr>
          <p:cNvPr id="10" name="Rectangle 9">
            <a:extLst>
              <a:ext uri="{FF2B5EF4-FFF2-40B4-BE49-F238E27FC236}">
                <a16:creationId xmlns:a16="http://schemas.microsoft.com/office/drawing/2014/main" id="{CD681458-516B-464A-8A55-982CD3E3B7A1}"/>
              </a:ext>
            </a:extLst>
          </p:cNvPr>
          <p:cNvSpPr>
            <a:spLocks noGrp="1"/>
          </p:cNvSpPr>
          <p:nvPr/>
        </p:nvSpPr>
        <p:spPr>
          <a:xfrm>
            <a:off x="609600" y="6296025"/>
            <a:ext cx="10972800" cy="409575"/>
          </a:xfrm>
          <a:prstGeom prst="rect">
            <a:avLst/>
          </a:prstGeom>
          <a:noFill/>
          <a:ln w="0">
            <a:noFill/>
          </a:ln>
        </p:spPr>
        <p:txBody>
          <a:bodyPr>
            <a:noAutofit/>
          </a:bodyPr>
          <a:lstStyle/>
          <a:p>
            <a:pPr>
              <a:defRPr sz="2025" b="1">
                <a:solidFill>
                  <a:srgbClr val="175F99"/>
                </a:solidFill>
                <a:latin typeface="Arial"/>
                <a:ea typeface="Arial"/>
                <a:cs typeface="Arial"/>
              </a:defRPr>
            </a:pPr>
            <a:r>
              <a:rPr lang="it-IT" b="1">
                <a:solidFill>
                  <a:srgbClr val="175F99"/>
                </a:solidFill>
                <a:latin typeface="Arial"/>
                <a:ea typeface="Arial"/>
                <a:cs typeface="Arial"/>
              </a:rPr>
              <a:t>Su N = 15: più successo con il 22,9% di porte in meno; caso favorevole.</a:t>
            </a:r>
            <a:endParaRPr b="1">
              <a:solidFill>
                <a:srgbClr val="175F99"/>
              </a:solidFill>
              <a:latin typeface="Arial"/>
              <a:ea typeface="Arial"/>
              <a:cs typeface="Arial"/>
            </a:endParaRPr>
          </a:p>
        </p:txBody>
      </p:sp>
    </p:spTree>
    <p:extLst>
      <p:ext uri="{BB962C8B-B14F-4D97-AF65-F5344CB8AC3E}">
        <p14:creationId xmlns:p14="http://schemas.microsoft.com/office/powerpoint/2010/main" val="282233579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D44FC83-C70B-46CD-8C70-92D7C3D9C2A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Conclusioni e limiti</a:t>
            </a:r>
            <a:endParaRPr sz="2700" b="0">
              <a:solidFill>
                <a:srgbClr val="003366"/>
              </a:solidFill>
              <a:latin typeface="Arial"/>
              <a:ea typeface="Arial"/>
              <a:cs typeface="Arial"/>
            </a:endParaRPr>
          </a:p>
        </p:txBody>
      </p:sp>
      <p:pic>
        <p:nvPicPr>
          <p:cNvPr id="13" name="Picture 12"/>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20B7C71E-845D-4B6E-BAC4-41119EECCBA9}"/>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61EF0B45-22BD-40BF-B86A-74F485774734}"/>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Discussione e conclusioni | 14</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D9FD045C-2318-472B-9B26-08CDB5EF9595}"/>
              </a:ext>
            </a:extLst>
          </p:cNvPr>
          <p:cNvSpPr>
            <a:spLocks noGrp="1"/>
          </p:cNvSpPr>
          <p:nvPr/>
        </p:nvSpPr>
        <p:spPr>
          <a:xfrm>
            <a:off x="609600" y="1346200"/>
            <a:ext cx="10972800" cy="1016000"/>
          </a:xfrm>
          <a:prstGeom prst="rect">
            <a:avLst/>
          </a:prstGeom>
          <a:noFill/>
          <a:ln w="0">
            <a:noFill/>
          </a:ln>
        </p:spPr>
        <p:txBody>
          <a:bodyPr>
            <a:noAutofit/>
          </a:bodyPr>
          <a:lstStyle/>
          <a:p>
            <a:pPr>
              <a:defRPr sz="3450" b="1">
                <a:solidFill>
                  <a:srgbClr val="003366"/>
                </a:solidFill>
                <a:latin typeface="Arial"/>
                <a:ea typeface="Arial"/>
                <a:cs typeface="Arial"/>
              </a:defRPr>
            </a:pPr>
            <a:r>
              <a:rPr lang="it-IT" sz="2600" b="1">
                <a:solidFill>
                  <a:srgbClr val="003366"/>
                </a:solidFill>
                <a:latin typeface="Arial"/>
                <a:ea typeface="Arial"/>
                <a:cs typeface="Arial"/>
              </a:rPr>
              <a:t>Il valore di una tecnica dipende dall'informazione che sfrutta e dalla forza della baseline.</a:t>
            </a:r>
            <a:endParaRPr sz="2600" b="1">
              <a:solidFill>
                <a:srgbClr val="003366"/>
              </a:solidFill>
              <a:latin typeface="Arial"/>
              <a:ea typeface="Arial"/>
              <a:cs typeface="Arial"/>
            </a:endParaRPr>
          </a:p>
        </p:txBody>
      </p:sp>
      <p:sp>
        <p:nvSpPr>
          <p:cNvPr id="2" name="Rectangle: Rounded Corners 1">
            <a:extLst>
              <a:ext uri="{FF2B5EF4-FFF2-40B4-BE49-F238E27FC236}">
                <a16:creationId xmlns:a16="http://schemas.microsoft.com/office/drawing/2014/main" id="{79DE2815-21B7-682F-A426-5F90BFDD3396}"/>
              </a:ext>
            </a:extLst>
          </p:cNvPr>
          <p:cNvSpPr/>
          <p:nvPr/>
        </p:nvSpPr>
        <p:spPr>
          <a:xfrm>
            <a:off x="609600" y="2603500"/>
            <a:ext cx="3457600" cy="3302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Rounded Corners 13">
            <a:extLst>
              <a:ext uri="{FF2B5EF4-FFF2-40B4-BE49-F238E27FC236}">
                <a16:creationId xmlns:a16="http://schemas.microsoft.com/office/drawing/2014/main" id="{A1C020A3-720D-427F-D9DE-ECE06638CA52}"/>
              </a:ext>
            </a:extLst>
          </p:cNvPr>
          <p:cNvSpPr/>
          <p:nvPr/>
        </p:nvSpPr>
        <p:spPr>
          <a:xfrm>
            <a:off x="4367200" y="2603500"/>
            <a:ext cx="3457600" cy="3302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F5790D89-B65C-CB3A-B26D-A612DB8546D8}"/>
              </a:ext>
            </a:extLst>
          </p:cNvPr>
          <p:cNvSpPr txBox="1"/>
          <p:nvPr/>
        </p:nvSpPr>
        <p:spPr>
          <a:xfrm>
            <a:off x="789600" y="2755900"/>
            <a:ext cx="3097600" cy="381000"/>
          </a:xfrm>
          <a:prstGeom prst="rect">
            <a:avLst/>
          </a:prstGeom>
          <a:noFill/>
        </p:spPr>
        <p:txBody>
          <a:bodyPr vert="horz" wrap="square" rtlCol="0">
            <a:noAutofit/>
          </a:bodyPr>
          <a:lstStyle/>
          <a:p>
            <a:r>
              <a:rPr lang="en-GB" sz="2175" b="1">
                <a:solidFill>
                  <a:srgbClr val="003366"/>
                </a:solidFill>
                <a:latin typeface="Arial" panose="020B0604020202020204" pitchFamily="34" charset="0"/>
              </a:rPr>
              <a:t>Cosa </a:t>
            </a:r>
            <a:r>
              <a:rPr lang="en-GB" sz="2175" b="1" err="1">
                <a:solidFill>
                  <a:srgbClr val="003366"/>
                </a:solidFill>
                <a:latin typeface="Arial" panose="020B0604020202020204" pitchFamily="34" charset="0"/>
              </a:rPr>
              <a:t>ho</a:t>
            </a:r>
            <a:r>
              <a:rPr lang="en-GB" sz="2175" b="1">
                <a:solidFill>
                  <a:srgbClr val="003366"/>
                </a:solidFill>
                <a:latin typeface="Arial" panose="020B0604020202020204" pitchFamily="34" charset="0"/>
              </a:rPr>
              <a:t> </a:t>
            </a:r>
            <a:r>
              <a:rPr lang="en-GB" sz="2175" b="1" err="1">
                <a:solidFill>
                  <a:srgbClr val="003366"/>
                </a:solidFill>
                <a:latin typeface="Arial" panose="020B0604020202020204" pitchFamily="34" charset="0"/>
              </a:rPr>
              <a:t>mostrato</a:t>
            </a:r>
            <a:endParaRPr lang="en-GB" sz="2175" b="1">
              <a:solidFill>
                <a:srgbClr val="003366"/>
              </a:solidFill>
              <a:latin typeface="Arial" panose="020B0604020202020204" pitchFamily="34" charset="0"/>
            </a:endParaRPr>
          </a:p>
        </p:txBody>
      </p:sp>
      <p:sp>
        <p:nvSpPr>
          <p:cNvPr id="16" name="TextBox 15">
            <a:extLst>
              <a:ext uri="{FF2B5EF4-FFF2-40B4-BE49-F238E27FC236}">
                <a16:creationId xmlns:a16="http://schemas.microsoft.com/office/drawing/2014/main" id="{0B6CF6D8-7978-90DC-1925-74FEA6FB9763}"/>
              </a:ext>
            </a:extLst>
          </p:cNvPr>
          <p:cNvSpPr txBox="1"/>
          <p:nvPr/>
        </p:nvSpPr>
        <p:spPr>
          <a:xfrm>
            <a:off x="4547200" y="2755900"/>
            <a:ext cx="3097600" cy="381000"/>
          </a:xfrm>
          <a:prstGeom prst="rect">
            <a:avLst/>
          </a:prstGeom>
          <a:noFill/>
        </p:spPr>
        <p:txBody>
          <a:bodyPr vert="horz" wrap="square" rtlCol="0">
            <a:noAutofit/>
          </a:bodyPr>
          <a:lstStyle/>
          <a:p>
            <a:r>
              <a:rPr lang="en-GB" sz="2175" b="1">
                <a:solidFill>
                  <a:srgbClr val="003366"/>
                </a:solidFill>
                <a:latin typeface="Arial" panose="020B0604020202020204" pitchFamily="34" charset="0"/>
              </a:rPr>
              <a:t>Contributo personale</a:t>
            </a:r>
          </a:p>
        </p:txBody>
      </p:sp>
      <p:sp>
        <p:nvSpPr>
          <p:cNvPr id="17" name="TextBox 16">
            <a:extLst>
              <a:ext uri="{FF2B5EF4-FFF2-40B4-BE49-F238E27FC236}">
                <a16:creationId xmlns:a16="http://schemas.microsoft.com/office/drawing/2014/main" id="{BE5014B6-44D1-DC9B-7BB9-F99AF83A1D2A}"/>
              </a:ext>
            </a:extLst>
          </p:cNvPr>
          <p:cNvSpPr txBox="1"/>
          <p:nvPr/>
        </p:nvSpPr>
        <p:spPr>
          <a:xfrm>
            <a:off x="789600" y="3251200"/>
            <a:ext cx="3097600" cy="369332"/>
          </a:xfrm>
          <a:prstGeom prst="rect">
            <a:avLst/>
          </a:prstGeom>
          <a:noFill/>
        </p:spPr>
        <p:txBody>
          <a:bodyPr vert="horz" wrap="square" rtlCol="0">
            <a:noAutofit/>
          </a:bodyPr>
          <a:lstStyle/>
          <a:p>
            <a:pPr>
              <a:spcAft>
                <a:spcPts val="1000"/>
              </a:spcAft>
            </a:pPr>
            <a:r>
              <a:rPr lang="it-IT" sz="1725">
                <a:solidFill>
                  <a:srgbClr val="203344"/>
                </a:solidFill>
                <a:latin typeface="Arial" panose="020B0604020202020204" pitchFamily="34" charset="0"/>
              </a:rPr>
              <a:t>Più candidati, non il ML, riducono le iterazioni.</a:t>
            </a:r>
          </a:p>
          <a:p>
            <a:pPr>
              <a:spcAft>
                <a:spcPts val="1000"/>
              </a:spcAft>
            </a:pPr>
            <a:r>
              <a:rPr lang="it-IT" sz="1725">
                <a:solidFill>
                  <a:srgbClr val="203344"/>
                </a:solidFill>
                <a:latin typeface="Arial" panose="020B0604020202020204" pitchFamily="34" charset="0"/>
              </a:rPr>
              <a:t>La QEC aiuta solo sotto soglia; decoder e codice contano insieme.</a:t>
            </a:r>
          </a:p>
          <a:p>
            <a:pPr>
              <a:spcAft>
                <a:spcPts val="1000"/>
              </a:spcAft>
            </a:pPr>
            <a:r>
              <a:rPr lang="it-IT" sz="1725">
                <a:solidFill>
                  <a:srgbClr val="203344"/>
                </a:solidFill>
                <a:latin typeface="Arial" panose="020B0604020202020204" pitchFamily="34" charset="0"/>
              </a:rPr>
              <a:t>L'AQFT dà +14,87 punti su N = 15; su N = 21 il beneficio non è dimostrato.</a:t>
            </a:r>
            <a:endParaRPr lang="en-GB" sz="1725">
              <a:solidFill>
                <a:srgbClr val="203344"/>
              </a:solidFill>
              <a:latin typeface="Arial" panose="020B0604020202020204" pitchFamily="34" charset="0"/>
            </a:endParaRPr>
          </a:p>
        </p:txBody>
      </p:sp>
      <p:sp>
        <p:nvSpPr>
          <p:cNvPr id="18" name="TextBox 17">
            <a:extLst>
              <a:ext uri="{FF2B5EF4-FFF2-40B4-BE49-F238E27FC236}">
                <a16:creationId xmlns:a16="http://schemas.microsoft.com/office/drawing/2014/main" id="{3F45B240-B8AE-8BB8-DDD9-8B7D9D18CA56}"/>
              </a:ext>
            </a:extLst>
          </p:cNvPr>
          <p:cNvSpPr txBox="1"/>
          <p:nvPr/>
        </p:nvSpPr>
        <p:spPr>
          <a:xfrm>
            <a:off x="4547200" y="3251200"/>
            <a:ext cx="3097600" cy="369332"/>
          </a:xfrm>
          <a:prstGeom prst="rect">
            <a:avLst/>
          </a:prstGeom>
          <a:noFill/>
        </p:spPr>
        <p:txBody>
          <a:bodyPr vert="horz" wrap="square" rtlCol="0">
            <a:noAutofit/>
          </a:bodyPr>
          <a:lstStyle/>
          <a:p>
            <a:pPr>
              <a:spcAft>
                <a:spcPts val="1000"/>
              </a:spcAft>
            </a:pPr>
            <a:r>
              <a:rPr lang="it-IT" sz="1725">
                <a:solidFill>
                  <a:srgbClr val="203344"/>
                </a:solidFill>
                <a:latin typeface="Arial" panose="020B0604020202020204" pitchFamily="34" charset="0"/>
              </a:rPr>
              <a:t>Circuiti per N = 15, 21 e 35, implementati e validati.</a:t>
            </a:r>
          </a:p>
          <a:p>
            <a:pPr>
              <a:spcAft>
                <a:spcPts val="1000"/>
              </a:spcAft>
            </a:pPr>
            <a:r>
              <a:rPr lang="it-IT" sz="1725">
                <a:solidFill>
                  <a:srgbClr val="203344"/>
                </a:solidFill>
                <a:latin typeface="Arial" panose="020B0604020202020204" pitchFamily="34" charset="0"/>
              </a:rPr>
              <a:t>Campagne con baseline esplicite e confronti appaiati.</a:t>
            </a:r>
          </a:p>
          <a:p>
            <a:pPr>
              <a:spcAft>
                <a:spcPts val="1000"/>
              </a:spcAft>
            </a:pPr>
            <a:r>
              <a:rPr lang="it-IT" sz="1725">
                <a:solidFill>
                  <a:srgbClr val="203344"/>
                </a:solidFill>
                <a:latin typeface="Arial" panose="020B0604020202020204" pitchFamily="34" charset="0"/>
              </a:rPr>
              <a:t>Pipeline riproducibile: versioni, parametri e seed registrati.</a:t>
            </a:r>
          </a:p>
        </p:txBody>
      </p:sp>
      <p:sp>
        <p:nvSpPr>
          <p:cNvPr id="19" name="TextBox 18">
            <a:extLst>
              <a:ext uri="{FF2B5EF4-FFF2-40B4-BE49-F238E27FC236}">
                <a16:creationId xmlns:a16="http://schemas.microsoft.com/office/drawing/2014/main" id="{007C03F3-6ECC-0A57-515F-008B8206761D}"/>
              </a:ext>
            </a:extLst>
          </p:cNvPr>
          <p:cNvSpPr txBox="1"/>
          <p:nvPr/>
        </p:nvSpPr>
        <p:spPr>
          <a:xfrm>
            <a:off x="609600" y="6096000"/>
            <a:ext cx="10972800" cy="369332"/>
          </a:xfrm>
          <a:prstGeom prst="rect">
            <a:avLst/>
          </a:prstGeom>
          <a:noFill/>
        </p:spPr>
        <p:txBody>
          <a:bodyPr vert="horz" wrap="square" rtlCol="0">
            <a:noAutofit/>
          </a:bodyPr>
          <a:lstStyle/>
          <a:p>
            <a:r>
              <a:rPr lang="it-IT" sz="1725" b="1">
                <a:solidFill>
                  <a:srgbClr val="175F99"/>
                </a:solidFill>
                <a:latin typeface="Arial" panose="020B0604020202020204" pitchFamily="34" charset="0"/>
              </a:rPr>
              <a:t>Ottimizzazione del circuito e QEC sono complementari: la prima contiene le risorse, la seconda protegge l'esecuzione.</a:t>
            </a:r>
            <a:endParaRPr lang="en-GB" sz="1725" b="1">
              <a:solidFill>
                <a:srgbClr val="175F99"/>
              </a:solidFill>
              <a:latin typeface="Arial" panose="020B0604020202020204" pitchFamily="34" charset="0"/>
            </a:endParaRPr>
          </a:p>
        </p:txBody>
      </p:sp>
      <p:sp>
        <p:nvSpPr>
          <p:cNvPr id="6" name="Rectangle: Rounded Corners 13">
            <a:extLst>
              <a:ext uri="{FF2B5EF4-FFF2-40B4-BE49-F238E27FC236}">
                <a16:creationId xmlns:a16="http://schemas.microsoft.com/office/drawing/2014/main" id="{A1C020A3-720D-427F-D9DE-ECE06638CA52}"/>
              </a:ext>
            </a:extLst>
          </p:cNvPr>
          <p:cNvSpPr/>
          <p:nvPr/>
        </p:nvSpPr>
        <p:spPr>
          <a:xfrm>
            <a:off x="8124800" y="2603500"/>
            <a:ext cx="3457600" cy="3302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15">
            <a:extLst>
              <a:ext uri="{FF2B5EF4-FFF2-40B4-BE49-F238E27FC236}">
                <a16:creationId xmlns:a16="http://schemas.microsoft.com/office/drawing/2014/main" id="{0B6CF6D8-7978-90DC-1925-74FEA6FB9763}"/>
              </a:ext>
            </a:extLst>
          </p:cNvPr>
          <p:cNvSpPr txBox="1"/>
          <p:nvPr/>
        </p:nvSpPr>
        <p:spPr>
          <a:xfrm>
            <a:off x="8304800" y="2755900"/>
            <a:ext cx="3097600" cy="381000"/>
          </a:xfrm>
          <a:prstGeom prst="rect">
            <a:avLst/>
          </a:prstGeom>
          <a:noFill/>
        </p:spPr>
        <p:txBody>
          <a:bodyPr vert="horz" wrap="square" rtlCol="0">
            <a:noAutofit/>
          </a:bodyPr>
          <a:lstStyle/>
          <a:p>
            <a:r>
              <a:rPr lang="en-GB" sz="2175" b="1">
                <a:solidFill>
                  <a:srgbClr val="003366"/>
                </a:solidFill>
                <a:latin typeface="Arial" panose="020B0604020202020204" pitchFamily="34" charset="0"/>
              </a:rPr>
              <a:t>Limiti e sviluppi futuri</a:t>
            </a:r>
          </a:p>
        </p:txBody>
      </p:sp>
      <p:sp>
        <p:nvSpPr>
          <p:cNvPr id="8" name="TextBox 17">
            <a:extLst>
              <a:ext uri="{FF2B5EF4-FFF2-40B4-BE49-F238E27FC236}">
                <a16:creationId xmlns:a16="http://schemas.microsoft.com/office/drawing/2014/main" id="{3F45B240-B8AE-8BB8-DDD9-8B7D9D18CA56}"/>
              </a:ext>
            </a:extLst>
          </p:cNvPr>
          <p:cNvSpPr txBox="1"/>
          <p:nvPr/>
        </p:nvSpPr>
        <p:spPr>
          <a:xfrm>
            <a:off x="8304800" y="3251200"/>
            <a:ext cx="3097600" cy="369332"/>
          </a:xfrm>
          <a:prstGeom prst="rect">
            <a:avLst/>
          </a:prstGeom>
          <a:noFill/>
        </p:spPr>
        <p:txBody>
          <a:bodyPr vert="horz" wrap="square" rtlCol="0">
            <a:noAutofit/>
          </a:bodyPr>
          <a:lstStyle/>
          <a:p>
            <a:pPr>
              <a:spcAft>
                <a:spcPts val="1000"/>
              </a:spcAft>
            </a:pPr>
            <a:r>
              <a:rPr lang="it-IT" sz="1725">
                <a:solidFill>
                  <a:srgbClr val="203344"/>
                </a:solidFill>
                <a:latin typeface="Arial" panose="020B0604020202020204" pitchFamily="34" charset="0"/>
              </a:rPr>
              <a:t>Solo simulazione, su poche istanze.</a:t>
            </a:r>
          </a:p>
          <a:p>
            <a:pPr>
              <a:spcAft>
                <a:spcPts val="1000"/>
              </a:spcAft>
            </a:pPr>
            <a:r>
              <a:rPr lang="it-IT" sz="1725">
                <a:solidFill>
                  <a:srgbClr val="203344"/>
                </a:solidFill>
                <a:latin typeface="Arial" panose="020B0604020202020204" pitchFamily="34" charset="0"/>
              </a:rPr>
              <a:t>Nessuna esecuzione di Shor protetta dagli errori.</a:t>
            </a:r>
          </a:p>
          <a:p>
            <a:pPr>
              <a:spcAft>
                <a:spcPts val="1000"/>
              </a:spcAft>
            </a:pPr>
            <a:r>
              <a:rPr lang="it-IT" sz="1725">
                <a:solidFill>
                  <a:srgbClr val="203344"/>
                </a:solidFill>
                <a:latin typeface="Arial" panose="020B0604020202020204" pitchFamily="34" charset="0"/>
              </a:rPr>
              <a:t>Prossimo passo: circuiti più leggeri, uniti alla correzione degli errori.</a:t>
            </a:r>
          </a:p>
        </p:txBody>
      </p:sp>
    </p:spTree>
    <p:extLst>
      <p:ext uri="{BB962C8B-B14F-4D97-AF65-F5344CB8AC3E}">
        <p14:creationId xmlns:p14="http://schemas.microsoft.com/office/powerpoint/2010/main" val="61342278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1CA37C23-8EF6-4C17-A4F4-E71FFDA7BF90}"/>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Demo: Shor passo per passo, con e senza rumore</a:t>
            </a:r>
            <a:endParaRPr sz="2700" b="0">
              <a:solidFill>
                <a:srgbClr val="003366"/>
              </a:solidFill>
              <a:latin typeface="Arial"/>
              <a:ea typeface="Arial"/>
              <a:cs typeface="Arial"/>
            </a:endParaRPr>
          </a:p>
        </p:txBody>
      </p:sp>
      <p:pic>
        <p:nvPicPr>
          <p:cNvPr id="16" name="Picture 15"/>
          <p:cNvPicPr>
            <a:picLocks noChangeAspect="1"/>
          </p:cNvPicPr>
          <p:nvPr/>
        </p:nvPicPr>
        <p:blipFill>
          <a:blip r:embed="rId5"/>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42491AB4-A50E-4972-B4BC-A45D2FE2D097}"/>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BCA1C702-C5F3-4FAF-A2B8-E1EA38A991CF}"/>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Discussione e conclusioni | 13</a:t>
            </a:r>
            <a:endParaRPr sz="1200" b="0">
              <a:solidFill>
                <a:srgbClr val="203344"/>
              </a:solidFill>
              <a:latin typeface="Arial"/>
              <a:ea typeface="Arial"/>
              <a:cs typeface="Arial"/>
            </a:endParaRPr>
          </a:p>
        </p:txBody>
      </p:sp>
      <p:pic>
        <p:nvPicPr>
          <p:cNvPr id="2" name="Video demo">
            <a:hlinkClick r:id="" action="ppaction://media"/>
            <a:extLst>
              <a:ext uri="{FF2B5EF4-FFF2-40B4-BE49-F238E27FC236}">
                <a16:creationId xmlns:a16="http://schemas.microsoft.com/office/drawing/2014/main" id="{3D85B229-0E24-4FE6-B0E9-3A912C1EAE9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1625600" y="1270000"/>
            <a:ext cx="8940800" cy="5029200"/>
          </a:xfrm>
          <a:prstGeom prst="rect">
            <a:avLst/>
          </a:prstGeom>
        </p:spPr>
      </p:pic>
      <p:sp>
        <p:nvSpPr>
          <p:cNvPr id="17" name="TextBox 16">
            <a:extLst>
              <a:ext uri="{FF2B5EF4-FFF2-40B4-BE49-F238E27FC236}">
                <a16:creationId xmlns:a16="http://schemas.microsoft.com/office/drawing/2014/main" id="{B9C09EE8-FAE3-DE90-B529-415FBD4F7A44}"/>
              </a:ext>
            </a:extLst>
          </p:cNvPr>
          <p:cNvSpPr txBox="1"/>
          <p:nvPr/>
        </p:nvSpPr>
        <p:spPr>
          <a:xfrm>
            <a:off x="609600" y="6451600"/>
            <a:ext cx="10972800" cy="288541"/>
          </a:xfrm>
          <a:prstGeom prst="rect">
            <a:avLst/>
          </a:prstGeom>
          <a:noFill/>
        </p:spPr>
        <p:txBody>
          <a:bodyPr vert="horz" wrap="square" rtlCol="0">
            <a:spAutoFit/>
          </a:bodyPr>
          <a:lstStyle/>
          <a:p>
            <a:pPr algn="ctr"/>
            <a:r>
              <a:rPr lang="it-IT" sz="1275">
                <a:solidFill>
                  <a:srgbClr val="647487"/>
                </a:solidFill>
                <a:latin typeface="Arial" panose="020B0604020202020204" pitchFamily="34" charset="0"/>
              </a:rPr>
              <a:t>Demo web illustrativa: modello di rumore uniforme (preset UC1). I numeri della demo non sono risultati della tesi.</a:t>
            </a:r>
            <a:endParaRPr lang="en-GB" sz="1275">
              <a:solidFill>
                <a:srgbClr val="647487"/>
              </a:solidFill>
              <a:latin typeface="Arial" panose="020B0604020202020204" pitchFamily="34" charset="0"/>
            </a:endParaRPr>
          </a:p>
        </p:txBody>
      </p:sp>
    </p:spTree>
    <p:extLst>
      <p:ext uri="{BB962C8B-B14F-4D97-AF65-F5344CB8AC3E}">
        <p14:creationId xmlns:p14="http://schemas.microsoft.com/office/powerpoint/2010/main" val="603391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93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2"/>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2"/>
                                        </p:tgtEl>
                                      </p:cBhvr>
                                    </p:cmd>
                                  </p:childTnLst>
                                </p:cTn>
                              </p:par>
                            </p:childTnLst>
                          </p:cTn>
                        </p:par>
                      </p:childTnLst>
                    </p:cTn>
                  </p:par>
                </p:childTnLst>
              </p:cTn>
              <p:nextCondLst>
                <p:cond evt="onClick" delay="0">
                  <p:tgtEl>
                    <p:spTgt spid="2"/>
                  </p:tgtEl>
                </p:cond>
              </p:nextCondLst>
            </p:seq>
            <p:video>
              <p:cMediaNode vol="80000">
                <p:cTn id="12" fill="hold" display="0">
                  <p:stCondLst>
                    <p:cond delay="indefinite"/>
                  </p:stCondLst>
                </p:cTn>
                <p:tgtEl>
                  <p:spTgt spid="2"/>
                </p:tgtEl>
              </p:cMediaNode>
            </p:video>
          </p:childTnLst>
        </p:cTn>
      </p:par>
    </p:tn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16248</Words>
  <Application>Microsoft Office PowerPoint</Application>
  <PresentationFormat>Widescreen</PresentationFormat>
  <Paragraphs>1254</Paragraphs>
  <Slides>57</Slides>
  <Notes>57</Notes>
  <HiddenSlides>17</HiddenSlides>
  <MMClips>3</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Claudio Dragotta</cp:lastModifiedBy>
  <cp:revision>5</cp:revision>
  <dcterms:created xsi:type="dcterms:W3CDTF">2026-10-04T20:49:31Z</dcterms:created>
  <dcterms:modified xsi:type="dcterms:W3CDTF">2026-10-08T19:04:55Z</dcterms:modified>
</cp:coreProperties>
</file>