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80" r:id="rId7"/>
    <p:sldId id="259" r:id="rId8"/>
    <p:sldId id="287" r:id="rId9"/>
    <p:sldId id="288" r:id="rId10"/>
    <p:sldId id="261" r:id="rId11"/>
    <p:sldId id="263" r:id="rId12"/>
    <p:sldId id="265" r:id="rId13"/>
    <p:sldId id="266" r:id="rId14"/>
    <p:sldId id="267" r:id="rId15"/>
    <p:sldId id="268" r:id="rId16"/>
    <p:sldId id="269" r:id="rId17"/>
    <p:sldId id="270" r:id="rId18"/>
    <p:sldId id="271" r:id="rId19"/>
    <p:sldId id="272" r:id="rId20"/>
    <p:sldId id="275" r:id="rId21"/>
    <p:sldId id="276"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e questi stati sono fragilissimi: basta una minima perturbazione per alterarne il valore. Per questo un computer quantistico non è mai preciso al cento per cento: gli errori fanno parte della sua natura, e anche le macchine future dovranno conviverci.</a:t>
            </a:r>
          </a:p>
          <a:p>
            <a:r>
              <a:rPr lang="it-IT" sz="1400">
                <a:latin typeface="Arial" panose="020B0604020202020204" pitchFamily="34" charset="0"/>
              </a:rPr>
              <a:t>Lo scopo della mia tesi è stato quindi analizzare l'algoritmo di Shor proprio in queste condizioni, e capire quali strategie gli permettono di dare comunque risultati buoni, pur girando su un hardware imperfetto.</a:t>
            </a:r>
          </a:p>
          <a:p>
            <a:r>
              <a:rPr lang="it-IT" sz="1400">
                <a:latin typeface="Arial" panose="020B0604020202020204" pitchFamily="34" charset="0"/>
              </a:rPr>
              <a:t>Ho lavorato su tre strategie: il machine learning applicato ai risultati, la correzione quantistica degli errori, e la riduzione delle porte del circuito. Vi anticipo la conclusione: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Shor è così importante. La sicurezza di RSA, che protegge buona parte delle nostre comunicazioni, si basa su un fatto: fattorizzare un numero molto grande è difficilissimo per un computer classico. Shor ha dimostrato che un computer quantistico ideale lo farebbe in tempo polinomiale, cioè enormemente più in fretta.</a:t>
            </a:r>
          </a:p>
          <a:p>
            <a:r>
              <a:rPr lang="it-IT" sz="1400">
                <a:latin typeface="Arial" panose="020B0604020202020204" pitchFamily="34" charset="0"/>
              </a:rPr>
              <a:t>Il punto è quella parola, ideale. Sulle macchine reali il rumore altera proprio l'informazione da cui Shor ricava la soluzione, quindi più rumore c'è, meno probabilità abbiamo di trovare i fattori.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scegliamo un parametro a, la base, che non deve avere divisori in comune con N. La funzione a alla x modulo N è periodica, e il compito del computer quantistico è trovarne il periodo, che chiamiamo r.</a:t>
            </a:r>
          </a:p>
          <a:p>
            <a:r>
              <a:rPr lang="it-IT" sz="1400">
                <a:latin typeface="Arial" panose="020B0604020202020204" pitchFamily="34" charset="0"/>
              </a:rPr>
              <a:t>Nel mio esempio N è 15 e a è 7: come vedete nel grafico, i valori si ripetono ogni quattro passi, quindi r è 4. Una volta noto r, un semplice calcolo classico ci dà un fattore, 3, e di conseguenza anche l'altro, 15 diviso 3, cioè 5.</a:t>
            </a:r>
          </a:p>
          <a:p>
            <a:r>
              <a:rPr lang="it-IT" sz="1400">
                <a:latin typeface="Arial" panose="020B0604020202020204" pitchFamily="34" charset="0"/>
              </a:rPr>
              <a:t>Il circuito usa 8 qubit di controllo, che stimano il periodo, e 4 qubit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difendersi dal rumore, la letteratura propone tre famiglie di soluzioni: ripulire i risultati dopo la misura, anche con il machine learning; proteggere i qubit con la correzione degli errori; oppure semplificare il circuito. Il limite comune è che spesso queste tecniche non vengono confrontate con un riferimento adeguato, e quindi non si capisce quanto aiutino davvero. Ed è da qui che parte il mio lavoro.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4239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miei obiettivi seguono queste tre strade, e per ognuna ho fissato un riferimento chiaro. Primo, capire se il machine learning migliora davvero la lettura dei risultati. Secondo, confrontare diversi codici di correzione degli errori. Terzo, verificare se togliere porte al circuito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8 di controllo e 4 di lavoro. È il caso su cui ho fatto tutte le prove con rumore.</a:t>
            </a:r>
          </a:p>
          <a:p>
            <a:r>
              <a:rPr lang="it-IT" sz="1400">
                <a:latin typeface="Arial" panose="020B0604020202020204" pitchFamily="34" charset="0"/>
              </a:rPr>
              <a:t>Il secondo è N uguale a 21, che richiede 20 qubit: sempre 8 di controllo, 5 di lavoro, perché 21 si scrive con 5 bit, e 7 qubit ausiliari per i calcoli modulari. Su questo ho verificato il circuito senza rumore e fatto alcune prove con rumore sulla QFT approssimata.</a:t>
            </a:r>
          </a:p>
          <a:p>
            <a:r>
              <a:rPr lang="it-IT" sz="1400">
                <a:latin typeface="Arial" panose="020B0604020202020204" pitchFamily="34" charset="0"/>
              </a:rPr>
              <a:t>Tutto è stato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produce un istogramma di risultati, e il problema è scegliere quali verificare.</a:t>
            </a:r>
          </a:p>
          <a:p>
            <a:r>
              <a:rPr lang="it-IT" sz="1400">
                <a:latin typeface="Arial" panose="020B0604020202020204" pitchFamily="34" charset="0"/>
              </a:rPr>
              <a:t>TOP-1 verifica solo il risultato più frequente. TOP-4 verifica, uno alla volta, i quattro più frequenti, finché non trova i fattori. Il Metodo 2 aggiunge prima un classificatore di machine learning, che decide se vale la pena verificare.</a:t>
            </a:r>
          </a:p>
          <a:p>
            <a:r>
              <a:rPr lang="it-IT" sz="1400">
                <a:latin typeface="Arial" panose="020B0604020202020204" pitchFamily="34" charset="0"/>
              </a:rPr>
              <a:t>Il confronto decisivo è tra il Metodo 2 e TOP-4 senza classificatore: è l'unico modo per capire quanto conta davvero il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L'idea è usare più qubit fisici per proteggere un solo qubit logico: così, se un qubit sbaglia, l'errore si può individuare e correggere.</a:t>
            </a:r>
          </a:p>
          <a:p>
            <a:r>
              <a:rPr lang="it-IT" sz="1400">
                <a:latin typeface="Arial" panose="020B0604020202020204" pitchFamily="34" charset="0"/>
              </a:rPr>
              <a:t>Il codice di riferimento è il surface code, che però è molto oneroso: per proteggere 12 qubit logici servono circa 2000 qubit di dato. Per questo ho analizzato anche il Gross code proposto da IBM, che per gli stessi 12 qubit logici ne usa 144.</a:t>
            </a:r>
          </a:p>
          <a:p>
            <a:r>
              <a:rPr lang="it-IT" sz="1400">
                <a:latin typeface="Arial" panose="020B0604020202020204" pitchFamily="34" charset="0"/>
              </a:rPr>
              <a:t>Sul Gross code ho testato l'algoritmo di correzione: ho simulato gli errori come sequenze di 144 bit e verificato se il decoder li corregge. Non ho simulato lo stato di 144 qubit, che nessun computer è in grado di simulare.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più porte ha il circuito, più lo stato si altera. Ridurre le porte significa ridurre gli errori.</a:t>
            </a:r>
          </a:p>
          <a:p>
            <a:r>
              <a:rPr lang="it-IT" sz="1400">
                <a:latin typeface="Arial" panose="020B0604020202020204" pitchFamily="34" charset="0"/>
              </a:rPr>
              <a:t>Ho lavorato sulla trasformata di Fourier, la QFT, che è fatta di rotazioni sempre più piccole. In Shor la QFT serve a campionare il risultato: non serve un valore esatto, basta un valore abbastanza vicino perché il calcolo classico ritrovi il periodo. Per questo posso togliere le rotazioni più piccole; nel caso di N uguale a 15 è bastato tenere solo il primo livello.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partendo dal problema di base: quanto il rumore degrada Shor. Per simularlo, dopo ogni porta inserisco con una certa probabilità un operatore di Pauli casuale, cioè un'inversione del bit, della fase o di entrambi.</a:t>
            </a:r>
          </a:p>
          <a:p>
            <a:r>
              <a:rPr lang="it-IT" sz="1400">
                <a:latin typeface="Arial" panose="020B0604020202020204" pitchFamily="34" charset="0"/>
              </a:rPr>
              <a:t>Senza rumore il successo è del 74,89%, in linea con il 75% atteso. Ma basta l'1% di errore per porta per scendere al 56%, e con il 5% siamo sotto il 30%. Oltre il 10% la curva si appiattisce sul livello casuale: lì Shor, di fatto,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TOP-4 trova i fattori sempre al primo tentativo, cioè già dal primo istogramma. Il classificatore, pur essendo molto accurato, non migliora le cose, anzi fa peggio di TOP-4, perché a volte scarta proprio i risultati buoni.</a:t>
            </a:r>
          </a:p>
          <a:p>
            <a:r>
              <a:rPr lang="it-IT" sz="1400">
                <a:latin typeface="Arial" panose="020B0604020202020204" pitchFamily="34" charset="0"/>
              </a:rPr>
              <a:t>Quindi il vantaggio non viene dall'intelligenza artificiale, ma semplicemente dal provare più candidati.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e mostra un comportamento fondamentale. Nella zona verde, quando gli errori sono sotto una certa soglia, usare codici più grandi riduce gli errori. Nella zona rossa, sopra la soglia, succede il contrario: aggiungere qubit peggiora le cose. Ho stimato questa soglia tra lo 0,8 e lo 0,9% di errore.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Da solo non batte il decoder classico. Ma quando gli errori sono correlati tra qubit vicini, il cosiddetto crosstalk, un decoder ibrido, che corregge il decoder classico solo quando serve, riduce gli errori del 16,8% sul codice più piccolo. Sui codici più grandi questo vantaggio si riduce.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usa 144 qubit, il surface code circa 2000. Nel modello semplificato che ho usato, con un errore fisico dallo 0,75% in su, il Gross code protegge anche meglio.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Su N uguale a 15 funziona bene: togliendo le rotazioni più piccole,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unire questa strada alla correzione degli errori.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8</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14</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20</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base a con MCD(a, N) = 1</a:t>
            </a:r>
            <a:endParaRPr lang="en-US" sz="14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esponenziazione modulare e QPE (stima di fase)</a:t>
            </a:r>
            <a:endParaRPr lang="en-US" sz="14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256530"/>
          </a:xfrm>
          <a:prstGeom prst="rect">
            <a:avLst/>
          </a:prstGeom>
          <a:noFill/>
          <a:ln/>
        </p:spPr>
        <p:txBody>
          <a:bodyPr wrap="square" lIns="0" tIns="0" rIns="0" bIns="0" rtlCol="0" anchor="t">
            <a:normAutofit fontScale="62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esito y su m qubit: y / 2^m ≈ s / r, s intero</a:t>
            </a:r>
            <a:endParaRPr lang="en-US" sz="14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256530"/>
          </a:xfrm>
          <a:prstGeom prst="rect">
            <a:avLst/>
          </a:prstGeom>
          <a:noFill/>
          <a:ln/>
        </p:spPr>
        <p:txBody>
          <a:bodyPr wrap="square" lIns="0" tIns="0" rIns="0" bIns="0" rtlCol="0" anchor="t">
            <a:normAutofit fontScale="47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frazioni continue e MCD (massimo comune divisore)</a:t>
            </a:r>
            <a:endParaRPr lang="en-US" sz="14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0"/>
          <p:cNvGraphicFramePr>
            <a:graphicFrameLocks noGrp="1"/>
          </p:cNvGraphicFramePr>
          <p:nvPr>
            <p:extLst>
              <p:ext uri="{D42A27DB-BD31-4B8C-83A1-F6EECF244321}">
                <p14:modId xmlns:p14="http://schemas.microsoft.com/office/powerpoint/2010/main" val="2373004794"/>
              </p:ext>
            </p:extLst>
          </p:nvPr>
        </p:nvGraphicFramePr>
        <p:xfrm>
          <a:off x="622300" y="1422400"/>
          <a:ext cx="10960100" cy="2753024"/>
        </p:xfrm>
        <a:graphic>
          <a:graphicData uri="http://schemas.openxmlformats.org/drawingml/2006/table">
            <a:tbl>
              <a:tblPr/>
              <a:tblGrid>
                <a:gridCol w="2849626">
                  <a:extLst>
                    <a:ext uri="{9D8B030D-6E8A-4147-A177-3AD203B41FA5}">
                      <a16:colId xmlns:a16="http://schemas.microsoft.com/office/drawing/2014/main" val="20000"/>
                    </a:ext>
                  </a:extLst>
                </a:gridCol>
                <a:gridCol w="3726434">
                  <a:extLst>
                    <a:ext uri="{9D8B030D-6E8A-4147-A177-3AD203B41FA5}">
                      <a16:colId xmlns:a16="http://schemas.microsoft.com/office/drawing/2014/main" val="20001"/>
                    </a:ext>
                  </a:extLst>
                </a:gridCol>
                <a:gridCol w="4384040">
                  <a:extLst>
                    <a:ext uri="{9D8B030D-6E8A-4147-A177-3AD203B41FA5}">
                      <a16:colId xmlns:a16="http://schemas.microsoft.com/office/drawing/2014/main" val="20002"/>
                    </a:ext>
                  </a:extLst>
                </a:gridCol>
              </a:tblGrid>
              <a:tr h="519361">
                <a:tc>
                  <a:txBody>
                    <a:bodyPr/>
                    <a:lstStyle/>
                    <a:p>
                      <a:pPr marL="0" indent="0">
                        <a:lnSpc>
                          <a:spcPts val="2660"/>
                        </a:lnSpc>
                        <a:buNone/>
                      </a:pPr>
                      <a:r>
                        <a:rPr lang="en-US" sz="1900" b="1" dirty="0">
                          <a:solidFill>
                            <a:srgbClr val="FFFFFF"/>
                          </a:solidFill>
                          <a:latin typeface="Arial" pitchFamily="34" charset="0"/>
                          <a:ea typeface="Arial" pitchFamily="34" charset="-122"/>
                          <a:cs typeface="Arial" pitchFamily="34" charset="-120"/>
                        </a:rPr>
                        <a:t>Famiglia</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124C7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4C7A"/>
                      </a:solidFill>
                      <a:prstDash val="solid"/>
                      <a:round/>
                      <a:headEnd type="none" w="med" len="med"/>
                      <a:tailEnd type="none" w="med" len="med"/>
                    </a:lnB>
                    <a:solidFill>
                      <a:srgbClr val="125C97"/>
                    </a:solidFill>
                  </a:tcPr>
                </a:tc>
                <a:tc>
                  <a:txBody>
                    <a:bodyPr/>
                    <a:lstStyle/>
                    <a:p>
                      <a:pPr marL="0" indent="0">
                        <a:lnSpc>
                          <a:spcPts val="2660"/>
                        </a:lnSpc>
                        <a:buNone/>
                      </a:pPr>
                      <a:r>
                        <a:rPr lang="en-US" sz="1900" b="1" dirty="0">
                          <a:solidFill>
                            <a:srgbClr val="FFFFFF"/>
                          </a:solidFill>
                          <a:latin typeface="Arial" pitchFamily="34" charset="0"/>
                          <a:ea typeface="Arial" pitchFamily="34" charset="-122"/>
                          <a:cs typeface="Arial" pitchFamily="34" charset="-120"/>
                        </a:rPr>
                        <a:t>Promessa</a:t>
                      </a:r>
                      <a:endParaRPr lang="en-US" sz="1900" dirty="0">
                        <a:latin typeface="Arial" charset="0"/>
                        <a:ea typeface="Arial" charset="0"/>
                        <a:cs typeface="Arial" charset="0"/>
                      </a:endParaRPr>
                    </a:p>
                  </a:txBody>
                  <a:tcPr marL="84455" marR="84455" marT="84455" marB="84455">
                    <a:lnL w="12700" cap="flat" cmpd="sng" algn="ctr">
                      <a:solidFill>
                        <a:srgbClr val="124C7A"/>
                      </a:solidFill>
                      <a:prstDash val="solid"/>
                      <a:round/>
                      <a:headEnd type="none" w="med" len="med"/>
                      <a:tailEnd type="none" w="med" len="med"/>
                    </a:lnL>
                    <a:lnR w="12700" cap="flat" cmpd="sng" algn="ctr">
                      <a:solidFill>
                        <a:srgbClr val="124C7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4C7A"/>
                      </a:solidFill>
                      <a:prstDash val="solid"/>
                      <a:round/>
                      <a:headEnd type="none" w="med" len="med"/>
                      <a:tailEnd type="none" w="med" len="med"/>
                    </a:lnB>
                    <a:solidFill>
                      <a:srgbClr val="125C97"/>
                    </a:solidFill>
                  </a:tcPr>
                </a:tc>
                <a:tc>
                  <a:txBody>
                    <a:bodyPr/>
                    <a:lstStyle/>
                    <a:p>
                      <a:pPr marL="0" indent="0">
                        <a:lnSpc>
                          <a:spcPts val="2660"/>
                        </a:lnSpc>
                        <a:buNone/>
                      </a:pPr>
                      <a:r>
                        <a:rPr lang="en-US" sz="1900" b="1" dirty="0">
                          <a:solidFill>
                            <a:srgbClr val="FFFFFF"/>
                          </a:solidFill>
                          <a:latin typeface="Arial" pitchFamily="34" charset="0"/>
                          <a:ea typeface="Arial" pitchFamily="34" charset="-122"/>
                          <a:cs typeface="Arial" pitchFamily="34" charset="-120"/>
                        </a:rPr>
                        <a:t>Rischio da controllare</a:t>
                      </a:r>
                      <a:endParaRPr lang="en-US" sz="1900" dirty="0">
                        <a:latin typeface="Arial" charset="0"/>
                        <a:ea typeface="Arial" charset="0"/>
                        <a:cs typeface="Arial" charset="0"/>
                      </a:endParaRPr>
                    </a:p>
                  </a:txBody>
                  <a:tcPr marL="84455" marR="84455" marT="84455" marB="84455">
                    <a:lnL w="12700" cap="flat" cmpd="sng" algn="ctr">
                      <a:solidFill>
                        <a:srgbClr val="124C7A"/>
                      </a:solidFill>
                      <a:prstDash val="solid"/>
                      <a:round/>
                      <a:headEnd type="none" w="med" len="med"/>
                      <a:tailEnd type="none" w="med" len="med"/>
                    </a:lnL>
                    <a:lnR w="12700" cap="flat" cmpd="sng" algn="ctr">
                      <a:solidFill>
                        <a:srgbClr val="124C7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4C7A"/>
                      </a:solidFill>
                      <a:prstDash val="solid"/>
                      <a:round/>
                      <a:headEnd type="none" w="med" len="med"/>
                      <a:tailEnd type="none" w="med" len="med"/>
                    </a:lnB>
                    <a:solidFill>
                      <a:srgbClr val="125C97"/>
                    </a:solidFill>
                  </a:tcPr>
                </a:tc>
                <a:extLst>
                  <a:ext uri="{0D108BD9-81ED-4DB2-BD59-A6C34878D82A}">
                    <a16:rowId xmlns:a16="http://schemas.microsoft.com/office/drawing/2014/main" val="10000"/>
                  </a:ext>
                </a:extLst>
              </a:tr>
              <a:tr h="857151">
                <a:tc>
                  <a:txBody>
                    <a:bodyPr/>
                    <a:lstStyle/>
                    <a:p>
                      <a:pPr marL="0" indent="0">
                        <a:lnSpc>
                          <a:spcPts val="2660"/>
                        </a:lnSpc>
                        <a:buNone/>
                      </a:pPr>
                      <a:r>
                        <a:rPr lang="en-US" sz="1900" dirty="0">
                          <a:solidFill>
                            <a:srgbClr val="125C97"/>
                          </a:solidFill>
                          <a:latin typeface="Arial" pitchFamily="34" charset="0"/>
                          <a:ea typeface="Arial" pitchFamily="34" charset="-122"/>
                          <a:cs typeface="Arial" pitchFamily="34" charset="-120"/>
                        </a:rPr>
                        <a:t>Post-processing e ML</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4C7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sfruttare l'informazione residua nell'istogramma</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4C7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il guadagno viene dai candidati provati, non dal modello</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4C7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857151">
                <a:tc>
                  <a:txBody>
                    <a:bodyPr/>
                    <a:lstStyle/>
                    <a:p>
                      <a:pPr marL="0" indent="0">
                        <a:lnSpc>
                          <a:spcPts val="2660"/>
                        </a:lnSpc>
                        <a:buNone/>
                      </a:pPr>
                      <a:r>
                        <a:rPr lang="en-US" sz="1900" dirty="0">
                          <a:solidFill>
                            <a:srgbClr val="125C97"/>
                          </a:solidFill>
                          <a:latin typeface="Arial" pitchFamily="34" charset="0"/>
                          <a:ea typeface="Arial" pitchFamily="34" charset="-122"/>
                          <a:cs typeface="Arial" pitchFamily="34" charset="-120"/>
                        </a:rPr>
                        <a:t>QEC e decoder appresi</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B9BF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FC4"/>
                      </a:solidFill>
                      <a:prstDash val="solid"/>
                      <a:round/>
                      <a:headEnd type="none" w="med" len="med"/>
                      <a:tailEnd type="none" w="med" len="med"/>
                    </a:lnB>
                    <a:solidFill>
                      <a:srgbClr val="E8EFF6"/>
                    </a:solidFill>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sopprimere l'errore logico</a:t>
                      </a:r>
                      <a:endParaRPr lang="en-US" sz="1900" dirty="0">
                        <a:latin typeface="Arial" charset="0"/>
                        <a:ea typeface="Arial" charset="0"/>
                        <a:cs typeface="Arial" charset="0"/>
                      </a:endParaRPr>
                    </a:p>
                  </a:txBody>
                  <a:tcPr marL="84455" marR="84455" marT="84455" marB="84455">
                    <a:lnL w="12700" cap="flat" cmpd="sng" algn="ctr">
                      <a:solidFill>
                        <a:srgbClr val="B9BFC4"/>
                      </a:solidFill>
                      <a:prstDash val="solid"/>
                      <a:round/>
                      <a:headEnd type="none" w="med" len="med"/>
                      <a:tailEnd type="none" w="med" len="med"/>
                    </a:lnL>
                    <a:lnR w="12700" cap="flat" cmpd="sng" algn="ctr">
                      <a:solidFill>
                        <a:srgbClr val="B9BF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FC4"/>
                      </a:solidFill>
                      <a:prstDash val="solid"/>
                      <a:round/>
                      <a:headEnd type="none" w="med" len="med"/>
                      <a:tailEnd type="none" w="med" len="med"/>
                    </a:lnB>
                    <a:solidFill>
                      <a:srgbClr val="E8EFF6"/>
                    </a:solidFill>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baseline analitica debole; soglia valida solo per la memoria</a:t>
                      </a:r>
                      <a:endParaRPr lang="en-US" sz="1900" dirty="0">
                        <a:latin typeface="Arial" charset="0"/>
                        <a:ea typeface="Arial" charset="0"/>
                        <a:cs typeface="Arial" charset="0"/>
                      </a:endParaRPr>
                    </a:p>
                  </a:txBody>
                  <a:tcPr marL="84455" marR="84455" marT="84455" marB="84455">
                    <a:lnL w="12700" cap="flat" cmpd="sng" algn="ctr">
                      <a:solidFill>
                        <a:srgbClr val="B9BFC4"/>
                      </a:solidFill>
                      <a:prstDash val="solid"/>
                      <a:round/>
                      <a:headEnd type="none" w="med" len="med"/>
                      <a:tailEnd type="none" w="med" len="med"/>
                    </a:lnL>
                    <a:lnR w="12700" cap="flat" cmpd="sng" algn="ctr">
                      <a:solidFill>
                        <a:srgbClr val="B9BF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FC4"/>
                      </a:solidFill>
                      <a:prstDash val="solid"/>
                      <a:round/>
                      <a:headEnd type="none" w="med" len="med"/>
                      <a:tailEnd type="none" w="med" len="med"/>
                    </a:lnB>
                    <a:solidFill>
                      <a:srgbClr val="E8EFF6"/>
                    </a:solidFill>
                  </a:tcPr>
                </a:tc>
                <a:extLst>
                  <a:ext uri="{0D108BD9-81ED-4DB2-BD59-A6C34878D82A}">
                    <a16:rowId xmlns:a16="http://schemas.microsoft.com/office/drawing/2014/main" val="10002"/>
                  </a:ext>
                </a:extLst>
              </a:tr>
              <a:tr h="519361">
                <a:tc>
                  <a:txBody>
                    <a:bodyPr/>
                    <a:lstStyle/>
                    <a:p>
                      <a:pPr marL="0" indent="0">
                        <a:lnSpc>
                          <a:spcPts val="2660"/>
                        </a:lnSpc>
                        <a:buNone/>
                      </a:pPr>
                      <a:r>
                        <a:rPr lang="en-US" sz="1900" dirty="0">
                          <a:solidFill>
                            <a:srgbClr val="125C97"/>
                          </a:solidFill>
                          <a:latin typeface="Arial" pitchFamily="34" charset="0"/>
                          <a:ea typeface="Arial" pitchFamily="34" charset="-122"/>
                          <a:cs typeface="Arial" pitchFamily="34" charset="-120"/>
                        </a:rPr>
                        <a:t>QFT approssimata</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F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meno porte, meno rumore</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F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660"/>
                        </a:lnSpc>
                        <a:buNone/>
                      </a:pPr>
                      <a:r>
                        <a:rPr lang="en-US" sz="1900" dirty="0">
                          <a:solidFill>
                            <a:srgbClr val="1F2933"/>
                          </a:solidFill>
                          <a:latin typeface="Arial" pitchFamily="34" charset="0"/>
                          <a:ea typeface="Arial" pitchFamily="34" charset="-122"/>
                          <a:cs typeface="Arial" pitchFamily="34" charset="-120"/>
                        </a:rPr>
                        <a:t>perdita di precisione di fase</a:t>
                      </a:r>
                      <a:endParaRPr lang="en-US" sz="1900" dirty="0">
                        <a:latin typeface="Arial" charset="0"/>
                        <a:ea typeface="Arial" charset="0"/>
                        <a:cs typeface="Arial" charset="0"/>
                      </a:endParaRPr>
                    </a:p>
                  </a:txBody>
                  <a:tcPr marL="84455" marR="84455" marT="84455" marB="8445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F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2"/>
          <p:cNvSpPr/>
          <p:nvPr/>
        </p:nvSpPr>
        <p:spPr>
          <a:xfrm>
            <a:off x="609600" y="4404023"/>
            <a:ext cx="10972800" cy="939800"/>
          </a:xfrm>
          <a:prstGeom prst="roundRect">
            <a:avLst>
              <a:gd name="adj" fmla="val 13514"/>
            </a:avLst>
          </a:prstGeom>
          <a:solidFill>
            <a:srgbClr val="0B2F5B"/>
          </a:solidFill>
          <a:ln/>
        </p:spPr>
        <p:txBody>
          <a:bodyPr wrap="square" lIns="191403" tIns="102503" rIns="0" bIns="77103" rtlCol="0" anchor="t">
            <a:normAutofit/>
          </a:bodyPr>
          <a:lstStyle/>
          <a:p>
            <a:pPr marL="0" indent="0" algn="l">
              <a:lnSpc>
                <a:spcPts val="2600"/>
              </a:lnSpc>
              <a:buNone/>
            </a:pPr>
            <a:r>
              <a:rPr lang="en-US" sz="2000" b="1" dirty="0">
                <a:solidFill>
                  <a:srgbClr val="FFFFFF"/>
                </a:solidFill>
                <a:latin typeface="Arial" pitchFamily="34" charset="0"/>
                <a:ea typeface="Arial" pitchFamily="34" charset="-122"/>
                <a:cs typeface="Arial" pitchFamily="34" charset="-120"/>
              </a:rPr>
              <a:t>Rimane aperto il problema di valutare ogni tecnica contro la baseline corretta, sulla metrica finale.</a:t>
            </a:r>
            <a:endParaRPr lang="en-US" sz="2000" dirty="0"/>
          </a:p>
        </p:txBody>
      </p:sp>
      <p:sp>
        <p:nvSpPr>
          <p:cNvPr id="8" name="Text 3"/>
          <p:cNvSpPr/>
          <p:nvPr/>
        </p:nvSpPr>
        <p:spPr>
          <a:xfrm>
            <a:off x="609600" y="5572423"/>
            <a:ext cx="11301984"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Yang e Markidis 2026 · Bausch et al., Nature 2024 · Roffe et al. 2020 · Bravyi et al., Nature 2024 · Barenco et al. 1996</a:t>
            </a:r>
            <a:endParaRPr lang="en-US" sz="1400" dirty="0"/>
          </a:p>
        </p:txBody>
      </p:sp>
      <p:sp>
        <p:nvSpPr>
          <p:cNvPr id="11" name="Rectangle 10">
            <a:extLst>
              <a:ext uri="{FF2B5EF4-FFF2-40B4-BE49-F238E27FC236}">
                <a16:creationId xmlns:a16="http://schemas.microsoft.com/office/drawing/2014/main" id="{8712A844-880B-D5D8-2DAF-9D7D2F73F18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Che cosa propone la letteratura</a:t>
            </a:r>
            <a:endParaRPr sz="2700" b="0">
              <a:solidFill>
                <a:srgbClr val="003366"/>
              </a:solidFill>
              <a:latin typeface="Arial"/>
              <a:ea typeface="Arial"/>
              <a:cs typeface="Arial"/>
            </a:endParaRPr>
          </a:p>
        </p:txBody>
      </p:sp>
      <p:pic>
        <p:nvPicPr>
          <p:cNvPr id="12" name="Picture 11">
            <a:extLst>
              <a:ext uri="{FF2B5EF4-FFF2-40B4-BE49-F238E27FC236}">
                <a16:creationId xmlns:a16="http://schemas.microsoft.com/office/drawing/2014/main" id="{CFDEC694-1618-A694-C954-F79ED09F6DD0}"/>
              </a:ext>
            </a:extLst>
          </p:cNvPr>
          <p:cNvPicPr>
            <a:picLocks noChangeAspect="1"/>
          </p:cNvPicPr>
          <p:nvPr/>
        </p:nvPicPr>
        <p:blipFill>
          <a:blip r:embed="rId3"/>
          <a:stretch/>
        </p:blipFill>
        <p:spPr>
          <a:xfrm>
            <a:off x="10896600" y="243116"/>
            <a:ext cx="838200" cy="694869"/>
          </a:xfrm>
          <a:prstGeom prst="rect">
            <a:avLst/>
          </a:prstGeom>
        </p:spPr>
      </p:pic>
      <p:sp>
        <p:nvSpPr>
          <p:cNvPr id="13" name="Rectangle 12">
            <a:extLst>
              <a:ext uri="{FF2B5EF4-FFF2-40B4-BE49-F238E27FC236}">
                <a16:creationId xmlns:a16="http://schemas.microsoft.com/office/drawing/2014/main" id="{F158A4F8-C416-CF1E-2155-68CFA66DE8C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14" name="Rectangle 13">
            <a:extLst>
              <a:ext uri="{FF2B5EF4-FFF2-40B4-BE49-F238E27FC236}">
                <a16:creationId xmlns:a16="http://schemas.microsoft.com/office/drawing/2014/main" id="{D043DB0E-9B40-440F-746D-A2E078DA9AB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82153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Studiare la sensibilità di Shor al rumore e valutare tre strategie.</a:t>
            </a: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cxnSp>
        <p:nvCxnSpPr>
          <p:cNvPr id="55" name="Straight Connector 54">
            <a:extLst>
              <a:ext uri="{FF2B5EF4-FFF2-40B4-BE49-F238E27FC236}">
                <a16:creationId xmlns:a16="http://schemas.microsoft.com/office/drawing/2014/main" id="{8CF114C0-D496-F35C-2BB6-352168A487F8}"/>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79332"/>
            <a:ext cx="2463800" cy="8890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73800" y="4230132"/>
            <a:ext cx="2286000" cy="369332"/>
          </a:xfrm>
          <a:prstGeom prst="rect">
            <a:avLst/>
          </a:prstGeom>
          <a:noFill/>
        </p:spPr>
        <p:txBody>
          <a:bodyPr vert="horz" wrap="square" rtlCol="0">
            <a:noAutofit/>
          </a:bodyPr>
          <a:lstStyle/>
          <a:p>
            <a:r>
              <a:rPr lang="en-GB" sz="1500" b="1" dirty="0">
                <a:solidFill>
                  <a:srgbClr val="4B2E83"/>
                </a:solidFill>
                <a:latin typeface="Arial" panose="020B0604020202020204" pitchFamily="34" charset="0"/>
              </a:rPr>
              <a:t>AQFT </a:t>
            </a:r>
          </a:p>
        </p:txBody>
      </p:sp>
      <p:sp>
        <p:nvSpPr>
          <p:cNvPr id="58" name="TextBox 57">
            <a:extLst>
              <a:ext uri="{FF2B5EF4-FFF2-40B4-BE49-F238E27FC236}">
                <a16:creationId xmlns:a16="http://schemas.microsoft.com/office/drawing/2014/main" id="{70E09711-6032-D441-5BEC-D255762B5C0F}"/>
              </a:ext>
            </a:extLst>
          </p:cNvPr>
          <p:cNvSpPr txBox="1"/>
          <p:nvPr/>
        </p:nvSpPr>
        <p:spPr>
          <a:xfrm>
            <a:off x="6273800" y="4534932"/>
            <a:ext cx="22860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8890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66200" y="3048000"/>
            <a:ext cx="22860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66200" y="3352800"/>
            <a:ext cx="22860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cxnSp>
        <p:nvCxnSpPr>
          <p:cNvPr id="62" name="Straight Connector 61">
            <a:extLst>
              <a:ext uri="{FF2B5EF4-FFF2-40B4-BE49-F238E27FC236}">
                <a16:creationId xmlns:a16="http://schemas.microsoft.com/office/drawing/2014/main" id="{990FBB8F-2C4D-C73F-287E-A513A8401676}"/>
              </a:ext>
            </a:extLst>
          </p:cNvPr>
          <p:cNvCxnSpPr/>
          <p:nvPr/>
        </p:nvCxnSpPr>
        <p:spPr>
          <a:xfrm>
            <a:off x="10096500" y="38862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40200"/>
            <a:ext cx="2463800" cy="8890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66200" y="4191000"/>
            <a:ext cx="22860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66200" y="4495800"/>
            <a:ext cx="22860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cxnSp>
        <p:nvCxnSpPr>
          <p:cNvPr id="66" name="Straight Connector 65">
            <a:extLst>
              <a:ext uri="{FF2B5EF4-FFF2-40B4-BE49-F238E27FC236}">
                <a16:creationId xmlns:a16="http://schemas.microsoft.com/office/drawing/2014/main" id="{791D46AE-1907-9193-AB59-DBDA50EAA2C1}"/>
              </a:ext>
            </a:extLst>
          </p:cNvPr>
          <p:cNvCxnSpPr>
            <a:cxnSpLocks/>
            <a:stCxn id="5" idx="2"/>
            <a:endCxn id="69" idx="0"/>
          </p:cNvCxnSpPr>
          <p:nvPr/>
        </p:nvCxnSpPr>
        <p:spPr>
          <a:xfrm>
            <a:off x="6096000" y="2768600"/>
            <a:ext cx="12700" cy="32299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cxnSp>
        <p:nvCxnSpPr>
          <p:cNvPr id="2" name="Straight Connector 1">
            <a:extLst>
              <a:ext uri="{FF2B5EF4-FFF2-40B4-BE49-F238E27FC236}">
                <a16:creationId xmlns:a16="http://schemas.microsoft.com/office/drawing/2014/main" id="{0DCA183A-0814-40EE-F409-AEC673328A13}"/>
              </a:ext>
            </a:extLst>
          </p:cNvPr>
          <p:cNvCxnSpPr>
            <a:cxnSpLocks/>
            <a:stCxn id="17" idx="2"/>
            <a:endCxn id="56" idx="0"/>
          </p:cNvCxnSpPr>
          <p:nvPr/>
        </p:nvCxnSpPr>
        <p:spPr>
          <a:xfrm>
            <a:off x="7404100" y="2667000"/>
            <a:ext cx="0" cy="1512332"/>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68" name="Rectangle: Rounded Corners 67">
            <a:extLst>
              <a:ext uri="{FF2B5EF4-FFF2-40B4-BE49-F238E27FC236}">
                <a16:creationId xmlns:a16="http://schemas.microsoft.com/office/drawing/2014/main" id="{591DD65E-84D6-869C-A834-5BCCD873E3BA}"/>
              </a:ext>
            </a:extLst>
          </p:cNvPr>
          <p:cNvSpPr/>
          <p:nvPr/>
        </p:nvSpPr>
        <p:spPr>
          <a:xfrm>
            <a:off x="3505200" y="304079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32200" y="3091590"/>
            <a:ext cx="49530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32200" y="3396390"/>
            <a:ext cx="49530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1905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2768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09600" y="3810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09600" y="4673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F550C7F5-9DB6-C4FB-160F-0DA86CD67156}"/>
              </a:ext>
            </a:extLst>
          </p:cNvPr>
          <p:cNvSpPr/>
          <p:nvPr/>
        </p:nvSpPr>
        <p:spPr>
          <a:xfrm>
            <a:off x="6248400" y="2032000"/>
            <a:ext cx="5334000" cy="3556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4852183-35E7-C8A1-0AA0-89A6A18EB24B}"/>
              </a:ext>
            </a:extLst>
          </p:cNvPr>
          <p:cNvSpPr txBox="1"/>
          <p:nvPr/>
        </p:nvSpPr>
        <p:spPr>
          <a:xfrm>
            <a:off x="6451600" y="21844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Come si legge</a:t>
            </a:r>
          </a:p>
        </p:txBody>
      </p:sp>
      <p:sp>
        <p:nvSpPr>
          <p:cNvPr id="26" name="TextBox 25">
            <a:extLst>
              <a:ext uri="{FF2B5EF4-FFF2-40B4-BE49-F238E27FC236}">
                <a16:creationId xmlns:a16="http://schemas.microsoft.com/office/drawing/2014/main" id="{AF938EC5-FB1B-258A-338B-32D7C62322AB}"/>
              </a:ext>
            </a:extLst>
          </p:cNvPr>
          <p:cNvSpPr txBox="1"/>
          <p:nvPr/>
        </p:nvSpPr>
        <p:spPr>
          <a:xfrm>
            <a:off x="6451600" y="26924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Un successo vicino al 24,61% non dimostra che resti informazione quantistica.</a:t>
            </a:r>
          </a:p>
          <a:p>
            <a:pPr>
              <a:spcAft>
                <a:spcPts val="1000"/>
              </a:spcAft>
            </a:pPr>
            <a:r>
              <a:rPr lang="it-IT" sz="1725">
                <a:solidFill>
                  <a:srgbClr val="203344"/>
                </a:solidFill>
                <a:latin typeface="Arial" panose="020B0604020202020204" pitchFamily="34" charset="0"/>
              </a:rPr>
              <a:t>Il riferimento dipende dall'istanza e dalla verifica classica, non dalla fedeltà dello stato.</a:t>
            </a:r>
          </a:p>
          <a:p>
            <a:pPr>
              <a:spcAft>
                <a:spcPts val="1000"/>
              </a:spcAft>
            </a:pPr>
            <a:r>
              <a:rPr lang="it-IT" sz="1725">
                <a:solidFill>
                  <a:srgbClr val="203344"/>
                </a:solidFill>
                <a:latin typeface="Arial" panose="020B0604020202020204" pitchFamily="34" charset="0"/>
              </a:rPr>
              <a:t>Lo stesso criterio vale per tutte le strategie confrontate.</a:t>
            </a:r>
            <a:endParaRPr lang="en-GB" sz="1725">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524000"/>
            <a:ext cx="10972800" cy="59055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Istogramma · 1024 shot</a:t>
            </a: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TOP-1</a:t>
            </a: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Verifica l’esito</a:t>
            </a:r>
          </a:p>
          <a:p>
            <a:pPr>
              <a:defRPr sz="1875" b="0">
                <a:solidFill>
                  <a:srgbClr val="203344"/>
                </a:solidFill>
                <a:latin typeface="Arial"/>
                <a:ea typeface="Arial"/>
                <a:cs typeface="Arial"/>
              </a:defRPr>
            </a:pPr>
            <a:r>
              <a:rPr sz="1875" b="0">
                <a:solidFill>
                  <a:srgbClr val="203344"/>
                </a:solidFill>
                <a:latin typeface="Arial"/>
                <a:ea typeface="Arial"/>
                <a:cs typeface="Arial"/>
              </a:rPr>
              <a:t>più frequente</a:t>
            </a: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TOP-4</a:t>
            </a: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Verifica fino a quattro</a:t>
            </a:r>
          </a:p>
          <a:p>
            <a:pPr>
              <a:defRPr sz="1875" b="0">
                <a:solidFill>
                  <a:srgbClr val="203344"/>
                </a:solidFill>
                <a:latin typeface="Arial"/>
                <a:ea typeface="Arial"/>
                <a:cs typeface="Arial"/>
              </a:defRPr>
            </a:pPr>
            <a:r>
              <a:rPr sz="1875" b="0">
                <a:solidFill>
                  <a:srgbClr val="203344"/>
                </a:solidFill>
                <a:latin typeface="Arial"/>
                <a:ea typeface="Arial"/>
                <a:cs typeface="Arial"/>
              </a:rPr>
              <a:t>esiti per frequenza</a:t>
            </a: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Metodo 2</a:t>
            </a: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Il classificatore abilita</a:t>
            </a:r>
          </a:p>
          <a:p>
            <a:pPr>
              <a:defRPr sz="1875" b="0">
                <a:solidFill>
                  <a:srgbClr val="203344"/>
                </a:solidFill>
                <a:latin typeface="Arial"/>
                <a:ea typeface="Arial"/>
                <a:cs typeface="Arial"/>
              </a:defRPr>
            </a:pPr>
            <a:r>
              <a:rPr sz="1875" b="0">
                <a:solidFill>
                  <a:srgbClr val="203344"/>
                </a:solidFill>
                <a:latin typeface="Arial"/>
                <a:ea typeface="Arial"/>
                <a:cs typeface="Arial"/>
              </a:rPr>
              <a:t>la verifica TOP-4</a:t>
            </a:r>
          </a:p>
        </p:txBody>
      </p:sp>
      <p:sp>
        <p:nvSpPr>
          <p:cNvPr id="15" name="Rectangle 14">
            <a:extLst>
              <a:ext uri="{FF2B5EF4-FFF2-40B4-BE49-F238E27FC236}">
                <a16:creationId xmlns:a16="http://schemas.microsoft.com/office/drawing/2014/main" id="{67E0F861-41D6-4EE9-B337-234D929EFD39}"/>
              </a:ext>
            </a:extLst>
          </p:cNvPr>
          <p:cNvSpPr>
            <a:spLocks noGrp="1"/>
          </p:cNvSpPr>
          <p:nvPr/>
        </p:nvSpPr>
        <p:spPr>
          <a:xfrm>
            <a:off x="609600" y="4467225"/>
            <a:ext cx="10972800" cy="5048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Stesso estrattore dei fattori, gestione dei pareggi e campioni appaiati</a:t>
            </a:r>
          </a:p>
        </p:txBody>
      </p:sp>
      <p:sp>
        <p:nvSpPr>
          <p:cNvPr id="16" name="Rectangle 15">
            <a:extLst>
              <a:ext uri="{FF2B5EF4-FFF2-40B4-BE49-F238E27FC236}">
                <a16:creationId xmlns:a16="http://schemas.microsoft.com/office/drawing/2014/main" id="{39F4CA97-488D-4622-BB3D-0F96D4BD7897}"/>
              </a:ext>
            </a:extLst>
          </p:cNvPr>
          <p:cNvSpPr>
            <a:spLocks noGrp="1"/>
          </p:cNvSpPr>
          <p:nvPr/>
        </p:nvSpPr>
        <p:spPr>
          <a:xfrm>
            <a:off x="609600" y="5772150"/>
            <a:ext cx="10972800" cy="590550"/>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M2 contro TOP-4 senza filtro isola il valore aggiunto del classificatore</a:t>
            </a:r>
          </a:p>
        </p:txBody>
      </p:sp>
      <p:sp>
        <p:nvSpPr>
          <p:cNvPr id="17" name="Rectangle 16">
            <a:extLst>
              <a:ext uri="{FF2B5EF4-FFF2-40B4-BE49-F238E27FC236}">
                <a16:creationId xmlns:a16="http://schemas.microsoft.com/office/drawing/2014/main" id="{334A24A2-8CD6-4D0C-8C4C-D0EB94BC141B}"/>
              </a:ext>
            </a:extLst>
          </p:cNvPr>
          <p:cNvSpPr>
            <a:spLocks noGrp="1"/>
          </p:cNvSpPr>
          <p:nvPr/>
        </p:nvSpPr>
        <p:spPr>
          <a:xfrm>
            <a:off x="609600" y="6362700"/>
            <a:ext cx="10972800" cy="276225"/>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2000 istogrammi per scenario: split 60/20/20, test indipendente di 400. 30 repliche, massimo 50 iterazioni.</a:t>
            </a:r>
          </a:p>
        </p:txBody>
      </p:sp>
    </p:spTree>
    <p:extLst>
      <p:ext uri="{BB962C8B-B14F-4D97-AF65-F5344CB8AC3E}">
        <p14:creationId xmlns:p14="http://schemas.microsoft.com/office/powerpoint/2010/main" val="18777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2BF2E4C9-BB39-4768-A1B2-18244192C53B}"/>
              </a:ext>
            </a:extLst>
          </p:cNvPr>
          <p:cNvSpPr>
            <a:spLocks noGrp="1"/>
          </p:cNvSpPr>
          <p:nvPr/>
        </p:nvSpPr>
        <p:spPr>
          <a:xfrm>
            <a:off x="609600"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46C003BE-DB8A-4399-8840-03FD9DD07018}"/>
              </a:ext>
            </a:extLst>
          </p:cNvPr>
          <p:cNvSpPr>
            <a:spLocks noGrp="1"/>
          </p:cNvSpPr>
          <p:nvPr/>
        </p:nvSpPr>
        <p:spPr>
          <a:xfrm>
            <a:off x="790575"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Surface code</a:t>
            </a:r>
          </a:p>
        </p:txBody>
      </p:sp>
      <p:sp>
        <p:nvSpPr>
          <p:cNvPr id="7" name="Rectangle 6">
            <a:extLst>
              <a:ext uri="{FF2B5EF4-FFF2-40B4-BE49-F238E27FC236}">
                <a16:creationId xmlns:a16="http://schemas.microsoft.com/office/drawing/2014/main" id="{64D25F89-0FF5-4EB4-BA59-ACC9CA4B4236}"/>
              </a:ext>
            </a:extLst>
          </p:cNvPr>
          <p:cNvSpPr>
            <a:spLocks noGrp="1"/>
          </p:cNvSpPr>
          <p:nvPr/>
        </p:nvSpPr>
        <p:spPr>
          <a:xfrm>
            <a:off x="790575"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Distanza d crescente: più errori correggibili</a:t>
            </a:r>
          </a:p>
          <a:p>
            <a:pPr>
              <a:defRPr sz="1875" b="0">
                <a:solidFill>
                  <a:srgbClr val="203344"/>
                </a:solidFill>
                <a:latin typeface="Arial"/>
                <a:ea typeface="Arial"/>
                <a:cs typeface="Arial"/>
              </a:defRPr>
            </a:pPr>
            <a:r>
              <a:rPr sz="1875" b="0">
                <a:solidFill>
                  <a:srgbClr val="203344"/>
                </a:solidFill>
                <a:latin typeface="Arial"/>
                <a:ea typeface="Arial"/>
                <a:cs typeface="Arial"/>
              </a:rPr>
              <a:t>Rumore su operazioni e misure</a:t>
            </a:r>
          </a:p>
          <a:p>
            <a:pPr>
              <a:defRPr sz="1875" b="0">
                <a:solidFill>
                  <a:srgbClr val="203344"/>
                </a:solidFill>
                <a:latin typeface="Arial"/>
                <a:ea typeface="Arial"/>
                <a:cs typeface="Arial"/>
              </a:defRPr>
            </a:pPr>
            <a:r>
              <a:rPr sz="1875" b="0">
                <a:solidFill>
                  <a:srgbClr val="203344"/>
                </a:solidFill>
                <a:latin typeface="Arial"/>
                <a:ea typeface="Arial"/>
                <a:cs typeface="Arial"/>
              </a:rPr>
              <a:t>Crosstalk in alcune prove</a:t>
            </a:r>
          </a:p>
        </p:txBody>
      </p:sp>
      <p:sp>
        <p:nvSpPr>
          <p:cNvPr id="8" name="Rectangle: Rounded Corners 7">
            <a:extLst>
              <a:ext uri="{FF2B5EF4-FFF2-40B4-BE49-F238E27FC236}">
                <a16:creationId xmlns:a16="http://schemas.microsoft.com/office/drawing/2014/main" id="{FE8409B5-A61E-4F89-AD54-5C9EDA42E889}"/>
              </a:ext>
            </a:extLst>
          </p:cNvPr>
          <p:cNvSpPr>
            <a:spLocks noGrp="1"/>
          </p:cNvSpPr>
          <p:nvPr/>
        </p:nvSpPr>
        <p:spPr>
          <a:xfrm>
            <a:off x="6296025"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71700CA6-33ED-4182-8866-CF9CC2122E50}"/>
              </a:ext>
            </a:extLst>
          </p:cNvPr>
          <p:cNvSpPr>
            <a:spLocks noGrp="1"/>
          </p:cNvSpPr>
          <p:nvPr/>
        </p:nvSpPr>
        <p:spPr>
          <a:xfrm>
            <a:off x="6477000"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Gross code · qLDPC</a:t>
            </a:r>
          </a:p>
        </p:txBody>
      </p:sp>
      <p:sp>
        <p:nvSpPr>
          <p:cNvPr id="10" name="Rectangle 9">
            <a:extLst>
              <a:ext uri="{FF2B5EF4-FFF2-40B4-BE49-F238E27FC236}">
                <a16:creationId xmlns:a16="http://schemas.microsoft.com/office/drawing/2014/main" id="{330A12A4-1521-4159-B26C-A2BE5C987FE5}"/>
              </a:ext>
            </a:extLst>
          </p:cNvPr>
          <p:cNvSpPr>
            <a:spLocks noGrp="1"/>
          </p:cNvSpPr>
          <p:nvPr/>
        </p:nvSpPr>
        <p:spPr>
          <a:xfrm>
            <a:off x="6477000"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12 qubit logici, 144 qubit di dato</a:t>
            </a:r>
          </a:p>
          <a:p>
            <a:pPr>
              <a:defRPr sz="1875" b="0">
                <a:solidFill>
                  <a:srgbClr val="203344"/>
                </a:solidFill>
                <a:latin typeface="Arial"/>
                <a:ea typeface="Arial"/>
                <a:cs typeface="Arial"/>
              </a:defRPr>
            </a:pPr>
            <a:r>
              <a:rPr sz="1875" b="0">
                <a:solidFill>
                  <a:srgbClr val="203344"/>
                </a:solidFill>
                <a:latin typeface="Arial"/>
                <a:ea typeface="Arial"/>
                <a:cs typeface="Arial"/>
              </a:rPr>
              <a:t>Code-capacity: errori X sui soli dati</a:t>
            </a:r>
          </a:p>
          <a:p>
            <a:pPr>
              <a:defRPr sz="1875" b="0">
                <a:solidFill>
                  <a:srgbClr val="203344"/>
                </a:solidFill>
                <a:latin typeface="Arial"/>
                <a:ea typeface="Arial"/>
                <a:cs typeface="Arial"/>
              </a:defRPr>
            </a:pPr>
            <a:r>
              <a:rPr sz="1875" b="0">
                <a:solidFill>
                  <a:srgbClr val="203344"/>
                </a:solidFill>
                <a:latin typeface="Arial"/>
                <a:ea typeface="Arial"/>
                <a:cs typeface="Arial"/>
              </a:rPr>
              <a:t>Sindrome perfetta</a:t>
            </a:r>
          </a:p>
          <a:p>
            <a:pPr>
              <a:defRPr sz="1875" b="0">
                <a:solidFill>
                  <a:srgbClr val="203344"/>
                </a:solidFill>
                <a:latin typeface="Arial"/>
                <a:ea typeface="Arial"/>
                <a:cs typeface="Arial"/>
              </a:defRPr>
            </a:pPr>
            <a:r>
              <a:rPr sz="1875" b="0">
                <a:solidFill>
                  <a:srgbClr val="203344"/>
                </a:solidFill>
                <a:latin typeface="Arial"/>
                <a:ea typeface="Arial"/>
                <a:cs typeface="Arial"/>
              </a:rPr>
              <a:t>Simulati gli errori, non lo stato</a:t>
            </a:r>
          </a:p>
        </p:txBody>
      </p:sp>
      <p:sp>
        <p:nvSpPr>
          <p:cNvPr id="11" name="Rectangle 10">
            <a:extLst>
              <a:ext uri="{FF2B5EF4-FFF2-40B4-BE49-F238E27FC236}">
                <a16:creationId xmlns:a16="http://schemas.microsoft.com/office/drawing/2014/main" id="{7833E351-A636-475D-8DAB-9B4D6F769E51}"/>
              </a:ext>
            </a:extLst>
          </p:cNvPr>
          <p:cNvSpPr>
            <a:spLocks noGrp="1"/>
          </p:cNvSpPr>
          <p:nvPr/>
        </p:nvSpPr>
        <p:spPr>
          <a:xfrm>
            <a:off x="609600" y="4295775"/>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surface code</a:t>
            </a:r>
          </a:p>
        </p:txBody>
      </p:sp>
      <p:sp>
        <p:nvSpPr>
          <p:cNvPr id="12" name="Rectangle 11">
            <a:extLst>
              <a:ext uri="{FF2B5EF4-FFF2-40B4-BE49-F238E27FC236}">
                <a16:creationId xmlns:a16="http://schemas.microsoft.com/office/drawing/2014/main" id="{4CC9B132-A3A6-4943-9896-1ED79428894F}"/>
              </a:ext>
            </a:extLst>
          </p:cNvPr>
          <p:cNvSpPr>
            <a:spLocks noGrp="1"/>
          </p:cNvSpPr>
          <p:nvPr/>
        </p:nvSpPr>
        <p:spPr>
          <a:xfrm>
            <a:off x="609600" y="4724400"/>
            <a:ext cx="5286375" cy="13430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MWPM (matching a peso minimo)</a:t>
            </a:r>
          </a:p>
          <a:p>
            <a:pPr>
              <a:defRPr sz="2100" b="0">
                <a:solidFill>
                  <a:srgbClr val="203344"/>
                </a:solidFill>
                <a:latin typeface="Arial"/>
                <a:ea typeface="Arial"/>
                <a:cs typeface="Arial"/>
              </a:defRPr>
            </a:pPr>
            <a:r>
              <a:rPr sz="2100" b="0">
                <a:solidFill>
                  <a:srgbClr val="203344"/>
                </a:solidFill>
                <a:latin typeface="Arial"/>
                <a:ea typeface="Arial"/>
                <a:cs typeface="Arial"/>
              </a:rPr>
              <a:t>Rete autonoma e decoder ibrido</a:t>
            </a:r>
          </a:p>
          <a:p>
            <a:pPr>
              <a:defRPr sz="2100" b="0">
                <a:solidFill>
                  <a:srgbClr val="203344"/>
                </a:solidFill>
                <a:latin typeface="Arial"/>
                <a:ea typeface="Arial"/>
                <a:cs typeface="Arial"/>
              </a:defRPr>
            </a:pPr>
            <a:r>
              <a:rPr sz="2100" b="0">
                <a:solidFill>
                  <a:srgbClr val="203344"/>
                </a:solidFill>
                <a:latin typeface="Arial"/>
                <a:ea typeface="Arial"/>
                <a:cs typeface="Arial"/>
              </a:rPr>
              <a:t>BP+OSD come ulteriore baseline</a:t>
            </a:r>
          </a:p>
        </p:txBody>
      </p:sp>
      <p:sp>
        <p:nvSpPr>
          <p:cNvPr id="13" name="Rectangle 12">
            <a:extLst>
              <a:ext uri="{FF2B5EF4-FFF2-40B4-BE49-F238E27FC236}">
                <a16:creationId xmlns:a16="http://schemas.microsoft.com/office/drawing/2014/main" id="{29089704-8A2A-4442-A7D6-C7B2EFF5A87C}"/>
              </a:ext>
            </a:extLst>
          </p:cNvPr>
          <p:cNvSpPr>
            <a:spLocks noGrp="1"/>
          </p:cNvSpPr>
          <p:nvPr/>
        </p:nvSpPr>
        <p:spPr>
          <a:xfrm>
            <a:off x="6296025" y="4295775"/>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Gross code</a:t>
            </a:r>
          </a:p>
        </p:txBody>
      </p:sp>
      <p:sp>
        <p:nvSpPr>
          <p:cNvPr id="14" name="Rectangle 13">
            <a:extLst>
              <a:ext uri="{FF2B5EF4-FFF2-40B4-BE49-F238E27FC236}">
                <a16:creationId xmlns:a16="http://schemas.microsoft.com/office/drawing/2014/main" id="{26F169C8-4EDE-4FA1-A0C4-AF14F251477B}"/>
              </a:ext>
            </a:extLst>
          </p:cNvPr>
          <p:cNvSpPr>
            <a:spLocks noGrp="1"/>
          </p:cNvSpPr>
          <p:nvPr/>
        </p:nvSpPr>
        <p:spPr>
          <a:xfrm>
            <a:off x="6296025" y="4724400"/>
            <a:ext cx="5286375" cy="13430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BP+OSD (belief propagation + OSD)</a:t>
            </a:r>
          </a:p>
          <a:p>
            <a:pPr>
              <a:defRPr sz="2100" b="0">
                <a:solidFill>
                  <a:srgbClr val="203344"/>
                </a:solidFill>
                <a:latin typeface="Arial"/>
                <a:ea typeface="Arial"/>
                <a:cs typeface="Arial"/>
              </a:defRPr>
            </a:pPr>
            <a:r>
              <a:rPr sz="2100" b="0">
                <a:solidFill>
                  <a:srgbClr val="203344"/>
                </a:solidFill>
                <a:latin typeface="Arial"/>
                <a:ea typeface="Arial"/>
                <a:cs typeface="Arial"/>
              </a:rPr>
              <a:t>Aggiornamenti paralleli o seriali</a:t>
            </a:r>
          </a:p>
          <a:p>
            <a:pPr>
              <a:defRPr sz="2100" b="0">
                <a:solidFill>
                  <a:srgbClr val="203344"/>
                </a:solidFill>
                <a:latin typeface="Arial"/>
                <a:ea typeface="Arial"/>
                <a:cs typeface="Arial"/>
              </a:defRPr>
            </a:pPr>
            <a:r>
              <a:rPr sz="2100" b="0">
                <a:solidFill>
                  <a:srgbClr val="203344"/>
                </a:solidFill>
                <a:latin typeface="Arial"/>
                <a:ea typeface="Arial"/>
                <a:cs typeface="Arial"/>
              </a:rPr>
              <a:t>Confronto con patch surface code</a:t>
            </a:r>
          </a:p>
        </p:txBody>
      </p:sp>
      <p:sp>
        <p:nvSpPr>
          <p:cNvPr id="15" name="Rectangle 14">
            <a:extLst>
              <a:ext uri="{FF2B5EF4-FFF2-40B4-BE49-F238E27FC236}">
                <a16:creationId xmlns:a16="http://schemas.microsoft.com/office/drawing/2014/main" id="{32E0AF76-6F62-4BCD-A0B3-87F7983A2B66}"/>
              </a:ext>
            </a:extLst>
          </p:cNvPr>
          <p:cNvSpPr>
            <a:spLocks noGrp="1"/>
          </p:cNvSpPr>
          <p:nvPr/>
        </p:nvSpPr>
        <p:spPr>
          <a:xfrm>
            <a:off x="609600" y="6419850"/>
            <a:ext cx="10972800" cy="24765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Stim campiona le sindromi del surface code. Training, selezione e test separati. La QEC resta distinta da Shor.</a:t>
            </a:r>
          </a:p>
        </p:txBody>
      </p:sp>
    </p:spTree>
    <p:extLst>
      <p:ext uri="{BB962C8B-B14F-4D97-AF65-F5344CB8AC3E}">
        <p14:creationId xmlns:p14="http://schemas.microsoft.com/office/powerpoint/2010/main" val="384824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13</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C0B02F1E-42B0-4215-A32B-407191EEB248}"/>
              </a:ext>
            </a:extLst>
          </p:cNvPr>
          <p:cNvSpPr>
            <a:spLocks noGrp="1"/>
          </p:cNvSpPr>
          <p:nvPr/>
        </p:nvSpPr>
        <p:spPr>
          <a:xfrm>
            <a:off x="609600"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B834D500-3518-41DE-B4F5-8EE1598E98B0}"/>
              </a:ext>
            </a:extLst>
          </p:cNvPr>
          <p:cNvSpPr>
            <a:spLocks noGrp="1"/>
          </p:cNvSpPr>
          <p:nvPr/>
        </p:nvSpPr>
        <p:spPr>
          <a:xfrm>
            <a:off x="790575"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piena</a:t>
            </a:r>
          </a:p>
        </p:txBody>
      </p:sp>
      <p:sp>
        <p:nvSpPr>
          <p:cNvPr id="7" name="Rectangle 6">
            <a:extLst>
              <a:ext uri="{FF2B5EF4-FFF2-40B4-BE49-F238E27FC236}">
                <a16:creationId xmlns:a16="http://schemas.microsoft.com/office/drawing/2014/main" id="{74408B65-40AE-4F22-ACE4-857881372EB6}"/>
              </a:ext>
            </a:extLst>
          </p:cNvPr>
          <p:cNvSpPr>
            <a:spLocks noGrp="1"/>
          </p:cNvSpPr>
          <p:nvPr/>
        </p:nvSpPr>
        <p:spPr>
          <a:xfrm>
            <a:off x="790575"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Rotazioni controllate</a:t>
            </a:r>
          </a:p>
          <a:p>
            <a:pPr>
              <a:defRPr sz="1875" b="0">
                <a:solidFill>
                  <a:srgbClr val="203344"/>
                </a:solidFill>
                <a:latin typeface="Arial"/>
                <a:ea typeface="Arial"/>
                <a:cs typeface="Arial"/>
              </a:defRPr>
            </a:pPr>
            <a:r>
              <a:rPr sz="1875" b="0">
                <a:solidFill>
                  <a:srgbClr val="203344"/>
                </a:solidFill>
                <a:latin typeface="Arial"/>
                <a:ea typeface="Arial"/>
                <a:cs typeface="Arial"/>
              </a:rPr>
              <a:t>di grande e piccolo angolo</a:t>
            </a:r>
          </a:p>
        </p:txBody>
      </p:sp>
      <p:sp>
        <p:nvSpPr>
          <p:cNvPr id="8" name="Arrow: Right 7">
            <a:extLst>
              <a:ext uri="{FF2B5EF4-FFF2-40B4-BE49-F238E27FC236}">
                <a16:creationId xmlns:a16="http://schemas.microsoft.com/office/drawing/2014/main" id="{84308519-41A0-4A6A-981E-EE7016A5A95F}"/>
              </a:ext>
            </a:extLst>
          </p:cNvPr>
          <p:cNvSpPr>
            <a:spLocks noGrp="1"/>
          </p:cNvSpPr>
          <p:nvPr/>
        </p:nvSpPr>
        <p:spPr>
          <a:xfrm>
            <a:off x="5819775" y="2133600"/>
            <a:ext cx="542925" cy="295275"/>
          </a:xfrm>
          <a:prstGeom prst="rightArrow">
            <a:avLst/>
          </a:prstGeom>
          <a:solidFill>
            <a:srgbClr val="647487"/>
          </a:solidFill>
          <a:ln w="0">
            <a:noFill/>
          </a:ln>
        </p:spPr>
        <p:txBody>
          <a:bodyPr/>
          <a:lstStyle/>
          <a:p>
            <a:endParaRPr lang="en-GB"/>
          </a:p>
        </p:txBody>
      </p:sp>
      <p:sp>
        <p:nvSpPr>
          <p:cNvPr id="9" name="Rectangle: Rounded Corners 8">
            <a:extLst>
              <a:ext uri="{FF2B5EF4-FFF2-40B4-BE49-F238E27FC236}">
                <a16:creationId xmlns:a16="http://schemas.microsoft.com/office/drawing/2014/main" id="{9D33D295-FC5A-4B11-9247-935CD5405A3E}"/>
              </a:ext>
            </a:extLst>
          </p:cNvPr>
          <p:cNvSpPr>
            <a:spLocks noGrp="1"/>
          </p:cNvSpPr>
          <p:nvPr/>
        </p:nvSpPr>
        <p:spPr>
          <a:xfrm>
            <a:off x="6524625"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358AB232-6DB1-4560-BDA1-394CCD1D4E69}"/>
              </a:ext>
            </a:extLst>
          </p:cNvPr>
          <p:cNvSpPr>
            <a:spLocks noGrp="1"/>
          </p:cNvSpPr>
          <p:nvPr/>
        </p:nvSpPr>
        <p:spPr>
          <a:xfrm>
            <a:off x="6705600"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approssimata</a:t>
            </a:r>
          </a:p>
        </p:txBody>
      </p:sp>
      <p:sp>
        <p:nvSpPr>
          <p:cNvPr id="11" name="Rectangle 10">
            <a:extLst>
              <a:ext uri="{FF2B5EF4-FFF2-40B4-BE49-F238E27FC236}">
                <a16:creationId xmlns:a16="http://schemas.microsoft.com/office/drawing/2014/main" id="{5EDBD92D-BC16-4B3C-BB50-513E87A5286A}"/>
              </a:ext>
            </a:extLst>
          </p:cNvPr>
          <p:cNvSpPr>
            <a:spLocks noGrp="1"/>
          </p:cNvSpPr>
          <p:nvPr/>
        </p:nvSpPr>
        <p:spPr>
          <a:xfrm>
            <a:off x="6705600"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Omette le rotazioni</a:t>
            </a:r>
          </a:p>
          <a:p>
            <a:pPr>
              <a:defRPr sz="1875" b="0">
                <a:solidFill>
                  <a:srgbClr val="203344"/>
                </a:solidFill>
                <a:latin typeface="Arial"/>
                <a:ea typeface="Arial"/>
                <a:cs typeface="Arial"/>
              </a:defRPr>
            </a:pPr>
            <a:r>
              <a:rPr sz="1875" b="0">
                <a:solidFill>
                  <a:srgbClr val="203344"/>
                </a:solidFill>
                <a:latin typeface="Arial"/>
                <a:ea typeface="Arial"/>
                <a:cs typeface="Arial"/>
              </a:rPr>
              <a:t>di piccolo angolo</a:t>
            </a:r>
          </a:p>
        </p:txBody>
      </p:sp>
      <p:sp>
        <p:nvSpPr>
          <p:cNvPr id="12" name="Rectangle 11">
            <a:extLst>
              <a:ext uri="{FF2B5EF4-FFF2-40B4-BE49-F238E27FC236}">
                <a16:creationId xmlns:a16="http://schemas.microsoft.com/office/drawing/2014/main" id="{31792E19-B2BF-4423-8A89-6DA7F3B162F7}"/>
              </a:ext>
            </a:extLst>
          </p:cNvPr>
          <p:cNvSpPr>
            <a:spLocks noGrp="1"/>
          </p:cNvSpPr>
          <p:nvPr/>
        </p:nvSpPr>
        <p:spPr>
          <a:xfrm>
            <a:off x="609600" y="3533775"/>
            <a:ext cx="10972800" cy="523875"/>
          </a:xfrm>
          <a:prstGeom prst="rect">
            <a:avLst/>
          </a:prstGeom>
          <a:noFill/>
          <a:ln w="0">
            <a:noFill/>
          </a:ln>
        </p:spPr>
        <p:txBody>
          <a:bodyPr>
            <a:noAutofit/>
          </a:bodyPr>
          <a:lstStyle/>
          <a:p>
            <a:pPr>
              <a:defRPr sz="2325" b="1">
                <a:solidFill>
                  <a:srgbClr val="175F99"/>
                </a:solidFill>
                <a:latin typeface="Arial"/>
                <a:ea typeface="Arial"/>
                <a:cs typeface="Arial"/>
              </a:defRPr>
            </a:pPr>
            <a:r>
              <a:rPr sz="2325" b="1">
                <a:solidFill>
                  <a:srgbClr val="175F99"/>
                </a:solidFill>
                <a:latin typeface="Arial"/>
                <a:ea typeface="Arial"/>
                <a:cs typeface="Arial"/>
              </a:rPr>
              <a:t>Meno porte e profondità, al prezzo della precisione di fase</a:t>
            </a:r>
          </a:p>
        </p:txBody>
      </p:sp>
      <p:sp>
        <p:nvSpPr>
          <p:cNvPr id="13" name="Rectangle: Rounded Corners 12">
            <a:extLst>
              <a:ext uri="{FF2B5EF4-FFF2-40B4-BE49-F238E27FC236}">
                <a16:creationId xmlns:a16="http://schemas.microsoft.com/office/drawing/2014/main" id="{7001608B-8A7B-493F-BC3F-E70EFEB6F72E}"/>
              </a:ext>
            </a:extLst>
          </p:cNvPr>
          <p:cNvSpPr>
            <a:spLocks noGrp="1"/>
          </p:cNvSpPr>
          <p:nvPr/>
        </p:nvSpPr>
        <p:spPr>
          <a:xfrm>
            <a:off x="6096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4" name="Rectangle 13">
            <a:extLst>
              <a:ext uri="{FF2B5EF4-FFF2-40B4-BE49-F238E27FC236}">
                <a16:creationId xmlns:a16="http://schemas.microsoft.com/office/drawing/2014/main" id="{DDC6FBF2-BD39-44EA-A940-B35847E78555}"/>
              </a:ext>
            </a:extLst>
          </p:cNvPr>
          <p:cNvSpPr>
            <a:spLocks noGrp="1"/>
          </p:cNvSpPr>
          <p:nvPr/>
        </p:nvSpPr>
        <p:spPr>
          <a:xfrm>
            <a:off x="7905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a:t>
            </a:r>
          </a:p>
        </p:txBody>
      </p:sp>
      <p:sp>
        <p:nvSpPr>
          <p:cNvPr id="15" name="Rectangle 14">
            <a:extLst>
              <a:ext uri="{FF2B5EF4-FFF2-40B4-BE49-F238E27FC236}">
                <a16:creationId xmlns:a16="http://schemas.microsoft.com/office/drawing/2014/main" id="{1B6CEE40-E2B0-4908-8DA0-2A430C69B8D4}"/>
              </a:ext>
            </a:extLst>
          </p:cNvPr>
          <p:cNvSpPr>
            <a:spLocks noGrp="1"/>
          </p:cNvSpPr>
          <p:nvPr/>
        </p:nvSpPr>
        <p:spPr>
          <a:xfrm>
            <a:off x="7905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inversa finale</a:t>
            </a:r>
          </a:p>
          <a:p>
            <a:pPr>
              <a:defRPr sz="1875" b="0">
                <a:solidFill>
                  <a:srgbClr val="203344"/>
                </a:solidFill>
                <a:latin typeface="Arial"/>
                <a:ea typeface="Arial"/>
                <a:cs typeface="Arial"/>
              </a:defRPr>
            </a:pPr>
            <a:r>
              <a:rPr sz="1875" b="0">
                <a:solidFill>
                  <a:srgbClr val="203344"/>
                </a:solidFill>
                <a:latin typeface="Arial"/>
                <a:ea typeface="Arial"/>
                <a:cs typeface="Arial"/>
              </a:rPr>
              <a:t>8192 shot nel pilota</a:t>
            </a:r>
          </a:p>
        </p:txBody>
      </p:sp>
      <p:sp>
        <p:nvSpPr>
          <p:cNvPr id="16" name="Rectangle: Rounded Corners 15">
            <a:extLst>
              <a:ext uri="{FF2B5EF4-FFF2-40B4-BE49-F238E27FC236}">
                <a16:creationId xmlns:a16="http://schemas.microsoft.com/office/drawing/2014/main" id="{ADBF0FCF-4420-4916-A2EB-08E9DA30D679}"/>
              </a:ext>
            </a:extLst>
          </p:cNvPr>
          <p:cNvSpPr>
            <a:spLocks noGrp="1"/>
          </p:cNvSpPr>
          <p:nvPr/>
        </p:nvSpPr>
        <p:spPr>
          <a:xfrm>
            <a:off x="43815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7" name="Rectangle 16">
            <a:extLst>
              <a:ext uri="{FF2B5EF4-FFF2-40B4-BE49-F238E27FC236}">
                <a16:creationId xmlns:a16="http://schemas.microsoft.com/office/drawing/2014/main" id="{BEBE5384-2BEF-4D2D-A3D4-07F219471525}"/>
              </a:ext>
            </a:extLst>
          </p:cNvPr>
          <p:cNvSpPr>
            <a:spLocks noGrp="1"/>
          </p:cNvSpPr>
          <p:nvPr/>
        </p:nvSpPr>
        <p:spPr>
          <a:xfrm>
            <a:off x="45624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a:t>
            </a:r>
          </a:p>
        </p:txBody>
      </p:sp>
      <p:sp>
        <p:nvSpPr>
          <p:cNvPr id="18" name="Rectangle 17">
            <a:extLst>
              <a:ext uri="{FF2B5EF4-FFF2-40B4-BE49-F238E27FC236}">
                <a16:creationId xmlns:a16="http://schemas.microsoft.com/office/drawing/2014/main" id="{7727BE4E-8867-473A-B1DF-4C7341493322}"/>
              </a:ext>
            </a:extLst>
          </p:cNvPr>
          <p:cNvSpPr>
            <a:spLocks noGrp="1"/>
          </p:cNvSpPr>
          <p:nvPr/>
        </p:nvSpPr>
        <p:spPr>
          <a:xfrm>
            <a:off x="45624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modulari</a:t>
            </a:r>
          </a:p>
          <a:p>
            <a:pPr>
              <a:defRPr sz="1875" b="0">
                <a:solidFill>
                  <a:srgbClr val="203344"/>
                </a:solidFill>
                <a:latin typeface="Arial"/>
                <a:ea typeface="Arial"/>
                <a:cs typeface="Arial"/>
              </a:defRPr>
            </a:pPr>
            <a:r>
              <a:rPr sz="1875" b="0">
                <a:solidFill>
                  <a:srgbClr val="203344"/>
                </a:solidFill>
                <a:latin typeface="Arial"/>
                <a:ea typeface="Arial"/>
                <a:cs typeface="Arial"/>
              </a:rPr>
              <a:t>256 shot</a:t>
            </a:r>
          </a:p>
        </p:txBody>
      </p:sp>
      <p:sp>
        <p:nvSpPr>
          <p:cNvPr id="19" name="Rectangle: Rounded Corners 18">
            <a:extLst>
              <a:ext uri="{FF2B5EF4-FFF2-40B4-BE49-F238E27FC236}">
                <a16:creationId xmlns:a16="http://schemas.microsoft.com/office/drawing/2014/main" id="{A00B0748-E621-4578-9075-26C6BC471272}"/>
              </a:ext>
            </a:extLst>
          </p:cNvPr>
          <p:cNvSpPr>
            <a:spLocks noGrp="1"/>
          </p:cNvSpPr>
          <p:nvPr/>
        </p:nvSpPr>
        <p:spPr>
          <a:xfrm>
            <a:off x="8153400" y="4295775"/>
            <a:ext cx="3429000" cy="1495425"/>
          </a:xfrm>
          <a:prstGeom prst="roundRect">
            <a:avLst>
              <a:gd name="adj" fmla="val 6369"/>
            </a:avLst>
          </a:prstGeom>
          <a:solidFill>
            <a:srgbClr val="EEF4F8"/>
          </a:solidFill>
          <a:ln w="14288">
            <a:solidFill>
              <a:srgbClr val="5084BF"/>
            </a:solidFill>
          </a:ln>
        </p:spPr>
        <p:txBody>
          <a:bodyPr/>
          <a:lstStyle/>
          <a:p>
            <a:endParaRPr lang="en-GB"/>
          </a:p>
        </p:txBody>
      </p:sp>
      <p:sp>
        <p:nvSpPr>
          <p:cNvPr id="20" name="Rectangle 19">
            <a:extLst>
              <a:ext uri="{FF2B5EF4-FFF2-40B4-BE49-F238E27FC236}">
                <a16:creationId xmlns:a16="http://schemas.microsoft.com/office/drawing/2014/main" id="{AD1A1833-4FB8-4B74-884C-2959D523D0FB}"/>
              </a:ext>
            </a:extLst>
          </p:cNvPr>
          <p:cNvSpPr>
            <a:spLocks noGrp="1"/>
          </p:cNvSpPr>
          <p:nvPr/>
        </p:nvSpPr>
        <p:spPr>
          <a:xfrm>
            <a:off x="8334375" y="4486275"/>
            <a:ext cx="306705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QPE isolata</a:t>
            </a:r>
          </a:p>
        </p:txBody>
      </p:sp>
      <p:sp>
        <p:nvSpPr>
          <p:cNvPr id="21" name="Rectangle 20">
            <a:extLst>
              <a:ext uri="{FF2B5EF4-FFF2-40B4-BE49-F238E27FC236}">
                <a16:creationId xmlns:a16="http://schemas.microsoft.com/office/drawing/2014/main" id="{74F1DE24-0151-4DC6-903A-42D747CA328F}"/>
              </a:ext>
            </a:extLst>
          </p:cNvPr>
          <p:cNvSpPr>
            <a:spLocks noGrp="1"/>
          </p:cNvSpPr>
          <p:nvPr/>
        </p:nvSpPr>
        <p:spPr>
          <a:xfrm>
            <a:off x="8334375" y="5095875"/>
            <a:ext cx="3067050"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Registri da 6 a 10 qubit</a:t>
            </a:r>
          </a:p>
          <a:p>
            <a:pPr>
              <a:defRPr sz="1875" b="0">
                <a:solidFill>
                  <a:srgbClr val="203344"/>
                </a:solidFill>
                <a:latin typeface="Arial"/>
                <a:ea typeface="Arial"/>
                <a:cs typeface="Arial"/>
              </a:defRPr>
            </a:pPr>
            <a:r>
              <a:rPr sz="1875" b="0">
                <a:solidFill>
                  <a:srgbClr val="203344"/>
                </a:solidFill>
                <a:latin typeface="Arial"/>
                <a:ea typeface="Arial"/>
                <a:cs typeface="Arial"/>
              </a:rPr>
              <a:t>Benchmark separati</a:t>
            </a:r>
          </a:p>
        </p:txBody>
      </p:sp>
      <p:sp>
        <p:nvSpPr>
          <p:cNvPr id="22" name="Rectangle 21">
            <a:extLst>
              <a:ext uri="{FF2B5EF4-FFF2-40B4-BE49-F238E27FC236}">
                <a16:creationId xmlns:a16="http://schemas.microsoft.com/office/drawing/2014/main" id="{02F8A054-845E-4F54-B8DC-298127502D1B}"/>
              </a:ext>
            </a:extLst>
          </p:cNvPr>
          <p:cNvSpPr>
            <a:spLocks noGrp="1"/>
          </p:cNvSpPr>
          <p:nvPr/>
        </p:nvSpPr>
        <p:spPr>
          <a:xfrm>
            <a:off x="609600" y="6200775"/>
            <a:ext cx="10972800" cy="41910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Rumore da FakeSherbrooke, calibrazione offline di una QPU IBM, senza T1/T2 (rilassamento e decoerenza) aggiuntivi. Grado (quante rotazioni omettere) scelto in selection e verificato su dati indipendenti.</a:t>
            </a:r>
          </a:p>
        </p:txBody>
      </p:sp>
    </p:spTree>
    <p:extLst>
      <p:ext uri="{BB962C8B-B14F-4D97-AF65-F5344CB8AC3E}">
        <p14:creationId xmlns:p14="http://schemas.microsoft.com/office/powerpoint/2010/main" val="49079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3705225"/>
            <a:ext cx="3305175" cy="1479550"/>
          </a:xfrm>
          <a:prstGeom prst="rect">
            <a:avLst/>
          </a:prstGeom>
          <a:noFill/>
          <a:ln w="0">
            <a:noFill/>
          </a:ln>
        </p:spPr>
        <p:txBody>
          <a:bodyPr>
            <a:noAutofit/>
          </a:bodyPr>
          <a:lstStyle/>
          <a:p>
            <a:pPr>
              <a:defRPr sz="2100" b="0">
                <a:solidFill>
                  <a:srgbClr val="203344"/>
                </a:solidFill>
                <a:latin typeface="Arial"/>
                <a:ea typeface="Arial"/>
                <a:cs typeface="Arial"/>
              </a:defRPr>
            </a:pPr>
            <a:r>
              <a:rPr lang="it-IT" sz="2100" b="0" dirty="0">
                <a:solidFill>
                  <a:srgbClr val="203344"/>
                </a:solidFill>
                <a:latin typeface="Arial"/>
                <a:ea typeface="Arial"/>
                <a:cs typeface="Arial"/>
              </a:rPr>
              <a:t>56,5%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1%</a:t>
            </a:r>
          </a:p>
          <a:p>
            <a:pPr>
              <a:defRPr sz="2100" b="0">
                <a:solidFill>
                  <a:srgbClr val="203344"/>
                </a:solidFill>
                <a:latin typeface="Arial"/>
                <a:ea typeface="Arial"/>
                <a:cs typeface="Arial"/>
              </a:defRPr>
            </a:pPr>
            <a:r>
              <a:rPr lang="it-IT" sz="2100" b="0" dirty="0">
                <a:solidFill>
                  <a:srgbClr val="203344"/>
                </a:solidFill>
                <a:latin typeface="Arial"/>
                <a:ea typeface="Arial"/>
                <a:cs typeface="Arial"/>
              </a:rPr>
              <a:t>45,2%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2%</a:t>
            </a:r>
          </a:p>
          <a:p>
            <a:pPr>
              <a:defRPr sz="2100" b="0">
                <a:solidFill>
                  <a:srgbClr val="203344"/>
                </a:solidFill>
                <a:latin typeface="Arial"/>
                <a:ea typeface="Arial"/>
                <a:cs typeface="Arial"/>
              </a:defRPr>
            </a:pPr>
            <a:r>
              <a:rPr lang="it-IT" sz="2100" b="0" dirty="0">
                <a:solidFill>
                  <a:srgbClr val="203344"/>
                </a:solidFill>
                <a:latin typeface="Arial"/>
                <a:ea typeface="Arial"/>
                <a:cs typeface="Arial"/>
              </a:rPr>
              <a:t>29,5%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5%</a:t>
            </a:r>
          </a:p>
          <a:p>
            <a:pPr>
              <a:defRPr sz="2100" b="0">
                <a:solidFill>
                  <a:srgbClr val="203344"/>
                </a:solidFill>
                <a:latin typeface="Arial"/>
                <a:ea typeface="Arial"/>
                <a:cs typeface="Arial"/>
              </a:defRPr>
            </a:pP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probabilità di un operatore di Pauli casuale (X, Y, Z) dopo ogni porta</a:t>
            </a:r>
            <a:endParaRPr sz="2100" b="0" dirty="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15315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Il plateau a circa 24,6% riflette la verifica classica, senza provare periodicità residua.</a:t>
            </a:r>
          </a:p>
        </p:txBody>
      </p:sp>
    </p:spTree>
    <p:extLst>
      <p:ext uri="{BB962C8B-B14F-4D97-AF65-F5344CB8AC3E}">
        <p14:creationId xmlns:p14="http://schemas.microsoft.com/office/powerpoint/2010/main" val="771501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175F99"/>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Iterazioni medie con TOP-4</a:t>
            </a:r>
          </a:p>
          <a:p>
            <a:pPr>
              <a:defRPr sz="2025" b="0">
                <a:solidFill>
                  <a:srgbClr val="203344"/>
                </a:solidFill>
                <a:latin typeface="Arial"/>
                <a:ea typeface="Arial"/>
                <a:cs typeface="Arial"/>
              </a:defRPr>
            </a:pPr>
            <a:r>
              <a:rPr sz="2025" b="0">
                <a:solidFill>
                  <a:srgbClr val="203344"/>
                </a:solidFill>
                <a:latin typeface="Arial"/>
                <a:ea typeface="Arial"/>
                <a:cs typeface="Arial"/>
              </a:rPr>
              <a:t>nei due scenari, 30/30 repliche</a:t>
            </a: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sz="2175" b="0">
                <a:solidFill>
                  <a:srgbClr val="203344"/>
                </a:solidFill>
                <a:latin typeface="Arial"/>
                <a:ea typeface="Arial"/>
                <a:cs typeface="Arial"/>
              </a:rPr>
              <a:t>TOP-1: 1,37 / 1,50</a:t>
            </a:r>
          </a:p>
          <a:p>
            <a:pPr>
              <a:defRPr sz="2175" b="0">
                <a:solidFill>
                  <a:srgbClr val="203344"/>
                </a:solidFill>
                <a:latin typeface="Arial"/>
                <a:ea typeface="Arial"/>
                <a:cs typeface="Arial"/>
              </a:defRPr>
            </a:pPr>
            <a:r>
              <a:rPr sz="2175" b="0">
                <a:solidFill>
                  <a:srgbClr val="203344"/>
                </a:solidFill>
                <a:latin typeface="Arial"/>
                <a:ea typeface="Arial"/>
                <a:cs typeface="Arial"/>
              </a:rPr>
              <a:t>M2: 1,50 / 1,37</a:t>
            </a:r>
          </a:p>
        </p:txBody>
      </p:sp>
      <p:sp>
        <p:nvSpPr>
          <p:cNvPr id="9" name="Rectangle 8">
            <a:extLst>
              <a:ext uri="{FF2B5EF4-FFF2-40B4-BE49-F238E27FC236}">
                <a16:creationId xmlns:a16="http://schemas.microsoft.com/office/drawing/2014/main" id="{07CA9E98-8402-43B7-97FD-2F8054CAC72C}"/>
              </a:ext>
            </a:extLst>
          </p:cNvPr>
          <p:cNvSpPr>
            <a:spLocks noGrp="1"/>
          </p:cNvSpPr>
          <p:nvPr/>
        </p:nvSpPr>
        <p:spPr>
          <a:xfrm>
            <a:off x="609600" y="5676900"/>
            <a:ext cx="10972800" cy="44767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SVM: F1 0,919 / 0,923; AUC 0,965 / 0,958. Capacità predittiva senza beneficio operativo.</a:t>
            </a: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M2: nessun vantaggio significativo su TOP-1. Prestazioni peggiori di TOP-4.</a:t>
            </a:r>
          </a:p>
        </p:txBody>
      </p:sp>
    </p:spTree>
    <p:extLst>
      <p:ext uri="{BB962C8B-B14F-4D97-AF65-F5344CB8AC3E}">
        <p14:creationId xmlns:p14="http://schemas.microsoft.com/office/powerpoint/2010/main" val="627115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0D01B0D8-9DFE-4AEC-8A9E-A39E4B265150}"/>
              </a:ext>
            </a:extLst>
          </p:cNvPr>
          <p:cNvSpPr>
            <a:spLocks noGrp="1"/>
          </p:cNvSpPr>
          <p:nvPr/>
        </p:nvSpPr>
        <p:spPr>
          <a:xfrm>
            <a:off x="8743950" y="4010025"/>
            <a:ext cx="2838450" cy="12382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Surface code</a:t>
            </a:r>
          </a:p>
          <a:p>
            <a:pPr>
              <a:defRPr sz="2025" b="0">
                <a:solidFill>
                  <a:srgbClr val="203344"/>
                </a:solidFill>
                <a:latin typeface="Arial"/>
                <a:ea typeface="Arial"/>
                <a:cs typeface="Arial"/>
              </a:defRPr>
            </a:pPr>
            <a:r>
              <a:rPr sz="2025" b="0">
                <a:solidFill>
                  <a:srgbClr val="203344"/>
                </a:solidFill>
                <a:latin typeface="Arial"/>
                <a:ea typeface="Arial"/>
                <a:cs typeface="Arial"/>
              </a:rPr>
              <a:t>MWPM</a:t>
            </a:r>
          </a:p>
          <a:p>
            <a:pPr>
              <a:defRPr sz="2025" b="0">
                <a:solidFill>
                  <a:srgbClr val="203344"/>
                </a:solidFill>
                <a:latin typeface="Arial"/>
                <a:ea typeface="Arial"/>
                <a:cs typeface="Arial"/>
              </a:defRPr>
            </a:pPr>
            <a:r>
              <a:rPr sz="2025" b="0">
                <a:solidFill>
                  <a:srgbClr val="203344"/>
                </a:solidFill>
                <a:latin typeface="Arial"/>
                <a:ea typeface="Arial"/>
                <a:cs typeface="Arial"/>
              </a:rPr>
              <a:t>Rumore circuit-level</a:t>
            </a:r>
          </a:p>
        </p:txBody>
      </p:sp>
      <p:sp>
        <p:nvSpPr>
          <p:cNvPr id="9" name="Rectangle 8">
            <a:extLst>
              <a:ext uri="{FF2B5EF4-FFF2-40B4-BE49-F238E27FC236}">
                <a16:creationId xmlns:a16="http://schemas.microsoft.com/office/drawing/2014/main" id="{2658335A-8795-4816-9E39-083D9B0282FB}"/>
              </a:ext>
            </a:extLst>
          </p:cNvPr>
          <p:cNvSpPr>
            <a:spLocks noGrp="1"/>
          </p:cNvSpPr>
          <p:nvPr/>
        </p:nvSpPr>
        <p:spPr>
          <a:xfrm>
            <a:off x="609600" y="5410200"/>
            <a:ext cx="10972800" cy="6572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Ripetizione: p_L = 3p² − 2p³, con p errore fisico</a:t>
            </a:r>
          </a:p>
          <a:p>
            <a:pPr>
              <a:defRPr sz="1950" b="0">
                <a:solidFill>
                  <a:srgbClr val="203344"/>
                </a:solidFill>
                <a:latin typeface="Arial"/>
                <a:ea typeface="Arial"/>
                <a:cs typeface="Arial"/>
              </a:defRPr>
            </a:pPr>
            <a:r>
              <a:rPr sz="1950" b="0">
                <a:solidFill>
                  <a:srgbClr val="203344"/>
                </a:solidFill>
                <a:latin typeface="Arial"/>
                <a:ea typeface="Arial"/>
                <a:cs typeface="Arial"/>
              </a:rPr>
              <a:t>Steane: pendenza 1,94 e pseudo-soglia ≈ 0,08</a:t>
            </a: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Sotto soglia più distanza riduce p_L. Sopra soglia l’ordine si inverte.</a:t>
            </a:r>
          </a:p>
        </p:txBody>
      </p:sp>
    </p:spTree>
    <p:extLst>
      <p:ext uri="{BB962C8B-B14F-4D97-AF65-F5344CB8AC3E}">
        <p14:creationId xmlns:p14="http://schemas.microsoft.com/office/powerpoint/2010/main" val="1581526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9" name="Rectangle 8">
            <a:extLst>
              <a:ext uri="{FF2B5EF4-FFF2-40B4-BE49-F238E27FC236}">
                <a16:creationId xmlns:a16="http://schemas.microsoft.com/office/drawing/2014/main" id="{EC44B8B0-E77A-4E91-A8A5-592AE207918F}"/>
              </a:ext>
            </a:extLst>
          </p:cNvPr>
          <p:cNvSpPr>
            <a:spLocks noGrp="1"/>
          </p:cNvSpPr>
          <p:nvPr/>
        </p:nvSpPr>
        <p:spPr>
          <a:xfrm>
            <a:off x="609600" y="5695950"/>
            <a:ext cx="10972800" cy="419100"/>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La rete autonoma non supera MWPM con rumore nominale. Beneficio ridotto a d = 5, non significativo a d = 7.</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Il ML aiuta come correttore residuale. A d = 5, BP+OSD supera l’ibrido.</a:t>
            </a:r>
          </a:p>
        </p:txBody>
      </p:sp>
    </p:spTree>
    <p:extLst>
      <p:ext uri="{BB962C8B-B14F-4D97-AF65-F5344CB8AC3E}">
        <p14:creationId xmlns:p14="http://schemas.microsoft.com/office/powerpoint/2010/main" val="1922446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sz="1500" b="0">
                <a:solidFill>
                  <a:srgbClr val="5A6B7B"/>
                </a:solidFill>
                <a:latin typeface="Arial"/>
                <a:ea typeface="Arial"/>
                <a:cs typeface="Arial"/>
              </a:rPr>
              <a:t>Simulazione classica degli errori: vettori di 144 bit, sindrome e decodifica. Lo stato quantistico di 144 qubit non viene simulato. [[n, k, d]]: n qubit di dato, k qubit logici, distanza d.</a:t>
            </a: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1270000" cy="381000"/>
          </a:xfrm>
          <a:prstGeom prst="rect">
            <a:avLst/>
          </a:prstGeom>
          <a:noFill/>
        </p:spPr>
        <p:txBody>
          <a:bodyPr vert="horz" wrap="square" rtlCol="0">
            <a:noAutofit/>
          </a:bodyPr>
          <a:lstStyle/>
          <a:p>
            <a:r>
              <a:rPr lang="en-GB" sz="1950" b="1">
                <a:solidFill>
                  <a:srgbClr val="175F99"/>
                </a:solidFill>
                <a:latin typeface="Arial" panose="020B0604020202020204" pitchFamily="34" charset="0"/>
              </a:rPr>
              <a:t>144</a:t>
            </a: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19</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175F99"/>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B925C649-2754-4787-9340-CF13E6F34FBC}"/>
              </a:ext>
            </a:extLst>
          </p:cNvPr>
          <p:cNvSpPr>
            <a:spLocks noGrp="1"/>
          </p:cNvSpPr>
          <p:nvPr/>
        </p:nvSpPr>
        <p:spPr>
          <a:xfrm>
            <a:off x="609600" y="5772150"/>
            <a:ext cx="10972800" cy="39052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IC Newcombe 95%: [12,73; 16,99] punti (IC: intervallo di confidenza). ECR: porta a due qubit.</a:t>
            </a:r>
          </a:p>
        </p:txBody>
      </p:sp>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−22,9% porte ECR e −15,5% profondità. Istanza favorevole: r = 4.</a:t>
            </a:r>
          </a:p>
        </p:txBody>
      </p:sp>
    </p:spTree>
    <p:extLst>
      <p:ext uri="{BB962C8B-B14F-4D97-AF65-F5344CB8AC3E}">
        <p14:creationId xmlns:p14="http://schemas.microsoft.com/office/powerpoint/2010/main" val="10239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3798</Words>
  <Application>Microsoft Office PowerPoint</Application>
  <DocSecurity>0</DocSecurity>
  <PresentationFormat>Widescreen</PresentationFormat>
  <Paragraphs>389</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19</cp:revision>
  <dcterms:created xsi:type="dcterms:W3CDTF">2026-10-04T20:49:31Z</dcterms:created>
  <dcterms:modified xsi:type="dcterms:W3CDTF">2026-10-05T14:55:17Z</dcterms:modified>
</cp:coreProperties>
</file>