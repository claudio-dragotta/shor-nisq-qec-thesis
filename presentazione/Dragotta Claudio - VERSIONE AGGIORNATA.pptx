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5.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4"/>
  </p:notesMasterIdLst>
  <p:sldIdLst>
    <p:sldId id="256" r:id="rId2"/>
    <p:sldId id="286" r:id="rId3"/>
    <p:sldId id="279" r:id="rId6"/>
    <p:sldId id="287" r:id="rId8"/>
    <p:sldId id="263" r:id="rId11"/>
    <p:sldId id="268" r:id="rId15"/>
    <p:sldId id="265" r:id="rId12"/>
    <p:sldId id="269" r:id="rId16"/>
    <p:sldId id="270" r:id="rId17"/>
    <p:sldId id="271" r:id="rId18"/>
    <p:sldId id="266" r:id="rId13"/>
    <p:sldId id="272" r:id="rId19"/>
    <p:sldId id="289" r:id="rId22"/>
    <p:sldId id="275" r:id="rId20"/>
    <p:sldId id="277" r:id="rId23"/>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1" d="100"/>
          <a:sy n="81" d="100"/>
        </p:scale>
        <p:origin x="423" y="3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6" Type="http://schemas.openxmlformats.org/officeDocument/2006/relationships/slide" Target="slides/slide3.xml"/><Relationship Id="rId8"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7.xml"/><Relationship Id="rId13" Type="http://schemas.openxmlformats.org/officeDocument/2006/relationships/slide" Target="slides/slide11.xml"/><Relationship Id="rId15" Type="http://schemas.openxmlformats.org/officeDocument/2006/relationships/slide" Target="slides/slide6.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2.xml"/><Relationship Id="rId20" Type="http://schemas.openxmlformats.org/officeDocument/2006/relationships/slide" Target="slides/slide14.xml"/><Relationship Id="rId22" Type="http://schemas.openxmlformats.org/officeDocument/2006/relationships/slide" Target="slides/slide13.xml"/><Relationship Id="rId23" Type="http://schemas.openxmlformats.org/officeDocument/2006/relationships/slide" Target="slides/slide15.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Buongiorno a tutti. Ringrazio la commissione per la parola. Sono Claudio Dragotta e vi presento la mia tesi, che ho svolto con il professor Soda e l'ingegner Caprio.</a:t>
            </a:r>
          </a:p>
          <a:p/>
          <a:p>
            <a:r>
              <a:t>▶ CAMBIA SLIDE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Ogni volta che pagate online o aprite la vostra banca dal telefono, i vostri dati sono protetti da un lucchetto matematico che si chiama RSA. Questo lucchetto regge su un'idea semplice: moltiplicare due numeri primi è facile, ma tornare indietro, per un numero di centinaia di cifre, è impossibile per qualunque computer di oggi.</a:t>
            </a:r>
          </a:p>
          <a:p>
            <a:r>
              <a:t>Nel 1994 Peter Shor ha dimostrato che un computer quantistico questo problema lo risolverebbe in modo efficiente.</a:t>
            </a:r>
          </a:p>
          <a:p>
            <a:r>
              <a:t>C'è però un ma. Anche in un mondo perfetto, Shor non è infallibile: trova i fattori circa tre volte su quattro, il 75% dei casi. E i computer quantistici veri non sono perfetti. I qubit, le unità di informazione quantistica, sono fragilissimi: un minimo disturbo li altera. Le operazioni sbagliano, i qubit perdono l'informazione col passare del tempo, e anche la lettura finale può sbagliare.</a:t>
            </a:r>
          </a:p>
          <a:p>
            <a:r>
              <a:t>La domanda della mia tesi è questa: cosa succede a Shor quando la macchina sbaglia, e che cosa posso fare per renderlo più resistente? Per rispondere ho simulato al computer questi errori e ho messo alla prova tre strategie.</a:t>
            </a:r>
          </a:p>
          <a:p/>
          <a:p>
            <a:r>
              <a:t>▶ CAMBIA SLIDE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Come funziona Shor? Prendiamo il mio caso: fattorizzare 15. Scelgo un numero di partenza, il 7, e calcolo le sue potenze, guardando solo il resto della divisione per 15. Esce 1, 7, 4, 13, e poi di nuovo 1, 7, 4, 13: la sequenza si ripete ogni quattro passi, come un ritmo. Quel 4 si chiama periodo, ed è tutto ciò che serve: da lì un semplice calcolo restituisce i fattori, 15 uguale 3 per 5.</a:t>
            </a:r>
          </a:p>
          <a:p>
            <a:r>
              <a:t>Per numeri enormi questo ritmo è nascosto, e un computer classico non riesce a trovarlo. Il computer quantistico ci riesce perché esplora tutte le potenze insieme e fa emergere il ritmo grazie all'interferenza, come onde che si rinforzano. Nel mio caso il circuito usa 12 qubit.</a:t>
            </a:r>
          </a:p>
          <a:p>
            <a:r>
              <a:t>Il grafico a destra mostra cosa succede quando la macchina sbaglia. Ho simulato il rumore così: dopo ogni operazione, con una piccola probabilità, il qubit subisce un errore casuale, si capovolge oppure perde il suo segno. In alto c'è il 75% ideale; in basso, tratteggiato, circa il 25%, cioè il risultato che otterrei tirando a caso.</a:t>
            </a:r>
          </a:p>
          <a:p>
            <a:r>
              <a:t>Senza errori ottengo il 74,89%, esattamente come previsto. Ma basta un errore dell'1% per operazione, che sembra pochissimo, per scendere al 56%: il circuito contiene centinaia di operazioni e gli errori si sommano. Oltre il 10% Shor fa come chi tira a indovinare.</a:t>
            </a:r>
          </a:p>
          <a:p/>
          <a:p>
            <a:r>
              <a:t>▶ CAMBIA SLIDE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366057294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Per spiegare le tre strategie uso un'immagine. Pensate a una lettera che arriva rovinata dal viaggio. Avete tre possibilità: provare a interpretarla meglio dopo che è arrivata, proteggerla durante il viaggio, oppure scriverla più corta, così c'è meno da rovinare.</a:t>
            </a:r>
          </a:p>
          <a:p>
            <a:r>
              <a:t>In giallo vedete i passi di Shor, in viola dove sono intervenuto. La prima lavora dopo la misura: provo a leggere meglio i risultati, anche con il machine learning. La seconda è la correzione degli errori, che protegge i qubit durante il calcolo; l'ho studiata in esperimenti dedicati, separati dal circuito di Shor. La terza è la QFT approssimata, che toglie operazioni al circuito.</a:t>
            </a:r>
          </a:p>
          <a:p>
            <a:r>
              <a:t>Per ognuna vi mostro prima come funziona e subito dopo che cosa ho trovato.</a:t>
            </a:r>
          </a:p>
          <a:p/>
          <a:p>
            <a:r>
              <a:t>▶ CAMBIA SLIDE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Prima strategia: leggere meglio i risultati. Un computer quantistico non dà una risposta sola. Eseguo il circuito 1024 volte e ottengo una classifica delle risposte, dalla più frequente alla meno frequente.</a:t>
            </a:r>
          </a:p>
          <a:p>
            <a:r>
              <a:t>Ho confrontato tre modi. TOP-1 controlla solo la risposta più frequente. TOP-4 controlla, una alla volta, le prime quattro, finché trova i fattori. Il terzo, che nella tesi chiamo Metodo 2, aggiunge l'intelligenza artificiale: un classificatore decide se la classifica è affidabile, e solo allora si provano le prime quattro.</a:t>
            </a:r>
          </a:p>
          <a:p>
            <a:r>
              <a:t>La domanda onesta è: se il Metodo 2 funziona, il merito è dell'intelligenza artificiale o dei tentativi in più? Per scoprirlo lo confronto con TOP-4, che fa gli stessi tentativi.</a:t>
            </a:r>
          </a:p>
          <a:p/>
          <a:p>
            <a:r>
              <a:t>▶ CAMBIA SLIDE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Seconda strategia: proteggere la lettera durante il viaggio. È la correzione quantistica degli errori. L'idea la conoscete: al telefono, se la linea è disturbata, ripetete la parola tre volte e vince la maggioranza.</a:t>
            </a:r>
          </a:p>
          <a:p>
            <a:r>
              <a:t>Con i qubit c'è una difficoltà: non posso copiarli, e se li guardo direttamente distruggo l'informazione. Allora uso qubit di servizio, detti ancilla, che controllano se i qubit vicini sono d'accordo tra loro senza leggerli. I loro segnali si chiamano sindromi, e funzionano come campanelli d'allarme. Il decoder è il detective che, dai campanelli che suonano, capisce dov'è l'errore e come correggerlo.</a:t>
            </a:r>
          </a:p>
          <a:p>
            <a:r>
              <a:t>Ho studiato due codici. Il surface code, il riferimento, è robusto ma costoso: per i 12 qubit di Shor ne servono circa 2000. L'ho simulato con il circuito completo, ancilla comprese, confrontando diversi decoder, tra cui una rete neurale. Il Gross code, proposto da IBM, promette una protezione simile con molti meno qubit; qui ho simulato solo gli errori, senza ancilla: un modello più semplice.</a:t>
            </a:r>
          </a:p>
          <a:p/>
          <a:p>
            <a:r>
              <a:t>▶ CAMBIA SLIDE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Terza strategia: scrivere una lettera più corta. Ogni operazione è un'occasione di errore, quindi meno operazioni significa meno errori.</a:t>
            </a:r>
          </a:p>
          <a:p>
            <a:r>
              <a:t>Ho lavorato sulla QFT, la trasformata di Fourier quantistica: la lente che trasforma il ritmo nascosto in picchi ben visibili. Al suo interno ci sono rotazioni sempre più piccole. Le ultime sono come girare una manopola di una frazione di grado: costano un'operazione intera, ma cambiano quasi nulla.</a:t>
            </a:r>
          </a:p>
          <a:p>
            <a:r>
              <a:t>Nella versione approssimata le tolgo. Funziona perché Shor non ha bisogno della fase esatta: gli basta un valore abbastanza vicino perché il calcolo finale ritrovi il ritmo. L'ho provata su 15, su 21 e su test dedicati, con il rumore misurato su un vero computer IBM e riprodotto in simulazione.</a:t>
            </a:r>
          </a:p>
          <a:p/>
          <a:p>
            <a:r>
              <a:t>▶ CAMBIA SLIDE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Ed ecco la risposta. Nel grafico, barre più basse significano meno tentativi per arrivare ai fattori. Nel riquadro arancione, TOP-4 trova i fattori sempre al primo colpo, in tutte le 30 ripetizioni dell'esperimento.</a:t>
            </a:r>
          </a:p>
          <a:p>
            <a:r>
              <a:t>Il classificatore è molto accurato, eppure il Metodo 2 non migliora nulla, anzi fa un po' peggio, perché ogni tanto scarta proprio i risultati buoni. In pratica il classificatore premia le stesse risposte frequenti che TOP-4 controlla già: non aggiunge informazione. Aggiungo un limite: è stato addestrato su dati simulati, non su una macchina reale.</a:t>
            </a:r>
          </a:p>
          <a:p>
            <a:r>
              <a:t>La lezione: uno strumento sofisticato va sempre confrontato con l'alternativa più semplice.</a:t>
            </a:r>
          </a:p>
          <a:p/>
          <a:p>
            <a:r>
              <a:t>▶ CAMBIA SLIDE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Il primo risultato è la soglia. Ogni colore è un codice con più qubit di protezione. Nella zona verde le curve dei codici più grandi stanno più in basso: aggiungere qubit riduce gli errori. Nella zona rossa succede il contrario: più qubit, più errori.</a:t>
            </a:r>
          </a:p>
          <a:p>
            <a:r>
              <a:t>È come una squadra: aggiungere persone aiuta solo se ognuno sa già fare bene il proprio lavoro. Il punto in cui le curve si incrociano è la soglia, che ho stimato tra lo 0,8 e lo 0,9% di errore per operazione.</a:t>
            </a:r>
          </a:p>
          <a:p>
            <a:r>
              <a:t>E per Shor cosa significa? Torniamo al grafico di prima. Se la correzione riduce l'errore che resta a 0,2% per operazione, Shor si mantiene intorno al 70%; a 0,5%, al 64%; senza correzione, all'1%, scende al 56%. La correzione aiuta, ma non riporta Shor al 75%. È una stima: ho simulato Shor con un errore residuo, non l'intero circuito protetto.</a:t>
            </a:r>
          </a:p>
          <a:p/>
          <a:p>
            <a:r>
              <a:t>▶ CAMBIA SLIDE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Qui l'intelligenza artificiale trova finalmente un ruolo. Nella realtà i qubit vicini si disturbano a vicenda, come conversazioni in una stanza affollata: si chiama crosstalk. Il decoder classico non tiene conto di questi errori collegati.</a:t>
            </a:r>
          </a:p>
          <a:p>
            <a:r>
              <a:t>Una rete neurale da sola non batte il decoder classico. Ma usata come assistente che ne corregge le decisioni, il decoder ibrido, la linea arancione continua, funziona. Nel punto cerchiato gli errori scendono del 16,8%.</a:t>
            </a:r>
          </a:p>
          <a:p>
            <a:r>
              <a:t>Sui codici più grandi, le linee tratteggiate, il vantaggio quasi sparisce, e un decoder classico più potente, BP+OSD, le linee grigie, fa ancora meglio. L'intelligenza artificiale aiuta da assistente, non da sostituto.</a:t>
            </a:r>
          </a:p>
          <a:p/>
          <a:p>
            <a:r>
              <a:t>▶ CAMBIA SLIDE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Infine il confronto tra i due codici. Per proteggere gli stessi 12 qubit, il Gross code, la barra arancione, usa 144 qubit; il surface code ne richiede da 1452 a 2028. Da 10 a 14 volte di meno.</a:t>
            </a:r>
          </a:p>
          <a:p>
            <a:r>
              <a:t>Un dettaglio importante: per un confronto alla pari, qui anche il surface code è simulato nello stesso modello semplificato, senza ancilla. Per questo questi numeri non vanno confrontati con la soglia di prima, che usa il circuito completo.</a:t>
            </a:r>
          </a:p>
          <a:p>
            <a:r>
              <a:t>E non protegge peggio: in questo modello, all'1% di errore sbaglia circa una volta su un milione, meglio delle soluzioni con il surface code. Anche qui il decoder conta: con la versione giusta gli errori calano di circa cento volte.</a:t>
            </a:r>
          </a:p>
          <a:p/>
          <a:p>
            <a:r>
              <a:t>▶ CAMBIA SLIDE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Ed ecco il risultato. A destra c'è la QFT completa, verso sinistra tolgo sempre più rotazioni. Con la QFT completa Shor si ferma al 48%. Con la versione scelta, quella cerchiata, sale al 63%: quasi 15 punti in più, con il 23% di operazioni a due qubit in meno.</a:t>
            </a:r>
          </a:p>
          <a:p>
            <a:r>
              <a:t>Devo però essere onesto: 15 è un caso favorevole, perché il suo ritmo è di 4 e le rotazioni tolte non portavano informazione. Su 21 le operazioni si dimezzano, ma un vantaggio non è dimostrato. L'approssimazione va quindi scelta caso per caso.</a:t>
            </a:r>
          </a:p>
          <a:p/>
          <a:p>
            <a:r>
              <a:t>▶ CAMBIA SLIDE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Torno alla lettera rovinata.</a:t>
            </a:r>
          </a:p>
          <a:p>
            <a:r>
              <a:t>Interpretarla meglio dopo che è arrivata aiuta poco: nel post-processing il vantaggio viene dal provare più risposte, non dall'intelligenza artificiale. Proteggerla durante il viaggio funziona, ma solo se la macchina è già abbastanza buona, sotto la soglia; e codice e decoder vanno scelti insieme. Accorciarla, con la QFT approssimata, aiuta, ma non in tutti i casi.</a:t>
            </a:r>
          </a:p>
          <a:p>
            <a:r>
              <a:t>Il mio contributo è stato costruire e verificare i circuiti, progettare confronti onesti e rendere ogni risultato riproducibile.</a:t>
            </a:r>
          </a:p>
          <a:p>
            <a:r>
              <a:t>I limiti li dichiaro: ho lavorato in simulazione, su pochi casi, e senza un'esecuzione di Shor completamente protetta. Il passo successivo è rendere i circuiti più leggeri e unirli alla correzione degli errori.</a:t>
            </a:r>
          </a:p>
          <a:p/>
          <a:p>
            <a:r>
              <a:t>▶ CAMBIA SLIDE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[Il video parte da solo e dura 2 minuti. Parla sopra il video, seguendo le scritte in basso; i tempi tra parentesi sono quelli del video.]</a:t>
            </a:r>
          </a:p>
          <a:p>
            <a:r>
              <a:t>[0:00] Prima di concludere, vi faccio vedere il simulatore che ho realizzato. Segue Shor passo per passo, prima senza errori e poi con il rumore.</a:t>
            </a:r>
          </a:p>
          <a:p>
            <a:r>
              <a:t>[0:06] È lo stesso caso: fattorizzare 15 partendo da 7. Ogni riga è un qubit; a destra, ogni sfera mostra con una freccia lo stato del suo qubit.</a:t>
            </a:r>
          </a:p>
          <a:p>
            <a:r>
              <a:t>[0:17] Prima tutti i qubit vengono messi in sovrapposizione, cioè in più stati contemporaneamente. Poi le moltiplicazioni per 7 scrivono il ritmo nei qubit. Le frecce si accorciano, ma non è un errore: è l'entanglement, i qubit diventano legati tra loro.</a:t>
            </a:r>
          </a:p>
          <a:p>
            <a:r>
              <a:t>[0:30] La QFT trasforma il ritmo in quattro picchi, e dalla misura un calcolo classico ricava 15 uguale 3 per 5.</a:t>
            </a:r>
          </a:p>
          <a:p>
            <a:r>
              <a:t>[0:48] Ora lo stesso circuito con il rumore: le frecce si accorciano anche dove prima restavano intere. Lo stato si sta rovinando.</a:t>
            </a:r>
          </a:p>
          <a:p>
            <a:r>
              <a:t>[1:08] Qui si vede dove entra il rumore: ogni operazione ha il suo errore, quelle su due qubit sono le più fragili, e anche la lettura finale può sbagliare.</a:t>
            </a:r>
          </a:p>
          <a:p>
            <a:r>
              <a:t>[1:15] Ripetendo il circuito molte volte, i risultati si sparpagliano su tutte le risposte possibili e i picchi si abbassano: è lo stesso calo che avete visto nel grafico all'inizio.</a:t>
            </a:r>
          </a:p>
          <a:p>
            <a:r>
              <a:t>[1:33] Questa è informazione persa. Una volta misurata, non si recupera più.</a:t>
            </a:r>
          </a:p>
          <a:p>
            <a:r>
              <a:t>[1:53] Ed è proprio il messaggio della mia tesi: il rumore va affrontato durante il calcolo, perché dopo la misura l'informazione distrutta non si può ricostruire.</a:t>
            </a:r>
          </a:p>
          <a:p/>
          <a:p>
            <a:r>
              <a:t>▶ CAMBIA SLIDE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Vi ringrazio per l'attenzione. Sono a disposizione per le vostre domande.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4" name="Accent rule">
            <a:extLst>
              <a:ext uri="{FF2B5EF4-FFF2-40B4-BE49-F238E27FC236}">
                <a16:creationId xmlns:a16="http://schemas.microsoft.com/office/drawing/2014/main" id="{F1858EE6-424E-4AB1-810E-A806DCA5570B}"/>
              </a:ext>
            </a:extLst>
          </p:cNvPr>
          <p:cNvSpPr>
            <a:spLocks noGrp="1"/>
          </p:cNvSpPr>
          <p:nvPr/>
        </p:nvSpPr>
        <p:spPr>
          <a:xfrm>
            <a:off x="5791200" y="2209800"/>
            <a:ext cx="609600" cy="38100"/>
          </a:xfrm>
          <a:prstGeom prst="rect">
            <a:avLst/>
          </a:prstGeom>
          <a:solidFill>
            <a:schemeClr val="accent1"/>
          </a:solidFill>
          <a:ln>
            <a:noFill/>
            <a:prstDash val="solid"/>
          </a:ln>
        </p:spPr>
      </p:sp>
      <p:sp>
        <p:nvSpPr>
          <p:cNvPr id="2" name="Title">
            <a:extLst>
              <a:ext uri="{FF2B5EF4-FFF2-40B4-BE49-F238E27FC236}">
                <a16:creationId xmlns:a16="http://schemas.microsoft.com/office/drawing/2014/main" id="{6514CB97-FAF0-4732-BC5E-17B6727A7832}"/>
              </a:ext>
            </a:extLst>
          </p:cNvPr>
          <p:cNvSpPr>
            <a:spLocks noGrp="1"/>
          </p:cNvSpPr>
          <p:nvPr>
            <p:ph type="title"/>
          </p:nvPr>
        </p:nvSpPr>
        <p:spPr>
          <a:xfrm>
            <a:off x="1219200" y="2590800"/>
            <a:ext cx="9753600" cy="990600"/>
          </a:xfrm>
          <a:prstGeom prst="rect">
            <a:avLst/>
          </a:prstGeom>
          <a:noFill/>
          <a:ln>
            <a:noFill/>
            <a:prstDash val="solid"/>
          </a:ln>
        </p:spPr>
        <p:txBody>
          <a:bodyPr wrap="square" lIns="0" tIns="0" rIns="0" bIns="0" anchor="ctr">
            <a:normAutofit/>
          </a:bodyPr>
          <a:lstStyle>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3" name="Subtitle">
            <a:extLst>
              <a:ext uri="{FF2B5EF4-FFF2-40B4-BE49-F238E27FC236}">
                <a16:creationId xmlns:a16="http://schemas.microsoft.com/office/drawing/2014/main" id="{4CED97E8-227E-4885-98D6-50556E9F5B76}"/>
              </a:ext>
            </a:extLst>
          </p:cNvPr>
          <p:cNvSpPr>
            <a:spLocks noGrp="1"/>
          </p:cNvSpPr>
          <p:nvPr>
            <p:ph type="subTitle" idx="1"/>
          </p:nvPr>
        </p:nvSpPr>
        <p:spPr>
          <a:xfrm>
            <a:off x="1828800" y="3771900"/>
            <a:ext cx="8534400" cy="762000"/>
          </a:xfrm>
          <a:prstGeom prst="rect">
            <a:avLst/>
          </a:prstGeom>
          <a:noFill/>
          <a:ln>
            <a:noFill/>
            <a:prstDash val="solid"/>
          </a:ln>
        </p:spPr>
        <p:txBody>
          <a:bodyPr wrap="square" lIns="0" tIns="0" rIns="0" bIns="0" anchor="ctr">
            <a:normAutofit/>
          </a:bodyPr>
          <a:lstStyle>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Section Header">
    <p:spTree>
      <p:nvGrpSpPr>
        <p:cNvPr id="1" name=""/>
        <p:cNvGrpSpPr/>
        <p:nvPr/>
      </p:nvGrpSpPr>
      <p:grpSpPr>
        <a:xfrm>
          <a:off x="0" y="0"/>
          <a:ext cx="0" cy="0"/>
          <a:chOff x="0" y="0"/>
          <a:chExt cx="0" cy="0"/>
        </a:xfrm>
      </p:grpSpPr>
      <p:sp>
        <p:nvSpPr>
          <p:cNvPr id="3" name="Accent rule">
            <a:extLst>
              <a:ext uri="{FF2B5EF4-FFF2-40B4-BE49-F238E27FC236}">
                <a16:creationId xmlns:a16="http://schemas.microsoft.com/office/drawing/2014/main" id="{A663DF4A-4087-4F6D-82DA-23E9FEC04352}"/>
              </a:ext>
            </a:extLst>
          </p:cNvPr>
          <p:cNvSpPr>
            <a:spLocks noGrp="1"/>
          </p:cNvSpPr>
          <p:nvPr/>
        </p:nvSpPr>
        <p:spPr>
          <a:xfrm>
            <a:off x="5791200" y="2476500"/>
            <a:ext cx="609600" cy="38100"/>
          </a:xfrm>
          <a:prstGeom prst="rect">
            <a:avLst/>
          </a:prstGeom>
          <a:solidFill>
            <a:schemeClr val="accent1"/>
          </a:solidFill>
          <a:ln>
            <a:noFill/>
            <a:prstDash val="solid"/>
          </a:ln>
        </p:spPr>
      </p:sp>
      <p:sp>
        <p:nvSpPr>
          <p:cNvPr id="2" name="Section title">
            <a:extLst>
              <a:ext uri="{FF2B5EF4-FFF2-40B4-BE49-F238E27FC236}">
                <a16:creationId xmlns:a16="http://schemas.microsoft.com/office/drawing/2014/main" id="{8B9A1AEB-1337-4FDB-8590-1B3D0E21C09B}"/>
              </a:ext>
            </a:extLst>
          </p:cNvPr>
          <p:cNvSpPr>
            <a:spLocks noGrp="1"/>
          </p:cNvSpPr>
          <p:nvPr>
            <p:ph type="title"/>
          </p:nvPr>
        </p:nvSpPr>
        <p:spPr>
          <a:xfrm>
            <a:off x="1219200" y="2857500"/>
            <a:ext cx="9753600" cy="1143000"/>
          </a:xfrm>
          <a:prstGeom prst="rect">
            <a:avLst/>
          </a:prstGeom>
          <a:noFill/>
          <a:ln>
            <a:noFill/>
            <a:prstDash val="solid"/>
          </a:ln>
        </p:spPr>
        <p:txBody>
          <a:bodyPr wrap="square" lIns="0" tIns="0" rIns="0" bIns="0" anchor="ctr">
            <a:normAutofit/>
          </a:bodyPr>
          <a:lstStyle>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Title and Body">
    <p:spTree>
      <p:nvGrpSpPr>
        <p:cNvPr id="1" name=""/>
        <p:cNvGrpSpPr/>
        <p:nvPr/>
      </p:nvGrpSpPr>
      <p:grpSpPr>
        <a:xfrm>
          <a:off x="0" y="0"/>
          <a:ext cx="0" cy="0"/>
          <a:chOff x="0" y="0"/>
          <a:chExt cx="0" cy="0"/>
        </a:xfrm>
      </p:grpSpPr>
      <p:sp>
        <p:nvSpPr>
          <p:cNvPr id="4" name="Accent rule">
            <a:extLst>
              <a:ext uri="{FF2B5EF4-FFF2-40B4-BE49-F238E27FC236}">
                <a16:creationId xmlns:a16="http://schemas.microsoft.com/office/drawing/2014/main" id="{A39FE0B0-283F-4103-BB99-25BC8D69CC94}"/>
              </a:ext>
            </a:extLst>
          </p:cNvPr>
          <p:cNvSpPr>
            <a:spLocks noGrp="1"/>
          </p:cNvSpPr>
          <p:nvPr/>
        </p:nvSpPr>
        <p:spPr>
          <a:xfrm>
            <a:off x="685800" y="1524000"/>
            <a:ext cx="609600" cy="38100"/>
          </a:xfrm>
          <a:prstGeom prst="rect">
            <a:avLst/>
          </a:prstGeom>
          <a:solidFill>
            <a:schemeClr val="accent1"/>
          </a:solidFill>
          <a:ln>
            <a:noFill/>
            <a:prstDash val="solid"/>
          </a:ln>
        </p:spPr>
      </p:sp>
      <p:sp>
        <p:nvSpPr>
          <p:cNvPr id="2" name="Title">
            <a:extLst>
              <a:ext uri="{FF2B5EF4-FFF2-40B4-BE49-F238E27FC236}">
                <a16:creationId xmlns:a16="http://schemas.microsoft.com/office/drawing/2014/main" id="{304BBB57-2B77-4FAD-BE78-CF62A299E522}"/>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3" name="Body">
            <a:extLst>
              <a:ext uri="{FF2B5EF4-FFF2-40B4-BE49-F238E27FC236}">
                <a16:creationId xmlns:a16="http://schemas.microsoft.com/office/drawing/2014/main" id="{5F216316-52A7-4631-BF49-70DCCADAA9CA}"/>
              </a:ext>
            </a:extLst>
          </p:cNvPr>
          <p:cNvSpPr>
            <a:spLocks noGrp="1"/>
          </p:cNvSpPr>
          <p:nvPr>
            <p:ph type="body" idx="1"/>
          </p:nvPr>
        </p:nvSpPr>
        <p:spPr>
          <a:xfrm>
            <a:off x="685800" y="1905000"/>
            <a:ext cx="10820400" cy="4267200"/>
          </a:xfrm>
          <a:prstGeom prst="rect">
            <a:avLst/>
          </a:prstGeom>
          <a:noFill/>
          <a:ln>
            <a:noFill/>
            <a:prstDash val="solid"/>
          </a:ln>
        </p:spPr>
        <p:txBody>
          <a:bodyPr wrap="square" lIns="0" tIns="0" rIns="0" bIns="0" anchor="t">
            <a:normAutofit/>
          </a:bodyPr>
          <a:lstStyle>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Title and Two Column">
    <p:spTree>
      <p:nvGrpSpPr>
        <p:cNvPr id="1" name=""/>
        <p:cNvGrpSpPr/>
        <p:nvPr/>
      </p:nvGrpSpPr>
      <p:grpSpPr>
        <a:xfrm>
          <a:off x="0" y="0"/>
          <a:ext cx="0" cy="0"/>
          <a:chOff x="0" y="0"/>
          <a:chExt cx="0" cy="0"/>
        </a:xfrm>
      </p:grpSpPr>
      <p:sp>
        <p:nvSpPr>
          <p:cNvPr id="5" name="Accent rule">
            <a:extLst>
              <a:ext uri="{FF2B5EF4-FFF2-40B4-BE49-F238E27FC236}">
                <a16:creationId xmlns:a16="http://schemas.microsoft.com/office/drawing/2014/main" id="{B633D398-86D8-4430-87C4-A0D518D99350}"/>
              </a:ext>
            </a:extLst>
          </p:cNvPr>
          <p:cNvSpPr>
            <a:spLocks noGrp="1"/>
          </p:cNvSpPr>
          <p:nvPr/>
        </p:nvSpPr>
        <p:spPr>
          <a:xfrm>
            <a:off x="685800" y="1524000"/>
            <a:ext cx="609600" cy="38100"/>
          </a:xfrm>
          <a:prstGeom prst="rect">
            <a:avLst/>
          </a:prstGeom>
          <a:solidFill>
            <a:schemeClr val="accent1"/>
          </a:solidFill>
          <a:ln>
            <a:noFill/>
            <a:prstDash val="solid"/>
          </a:ln>
        </p:spPr>
      </p:sp>
      <p:sp>
        <p:nvSpPr>
          <p:cNvPr id="2" name="Title">
            <a:extLst>
              <a:ext uri="{FF2B5EF4-FFF2-40B4-BE49-F238E27FC236}">
                <a16:creationId xmlns:a16="http://schemas.microsoft.com/office/drawing/2014/main" id="{D36752AA-9A66-4626-854C-9FDD2D07F050}"/>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3" name="Left column">
            <a:extLst>
              <a:ext uri="{FF2B5EF4-FFF2-40B4-BE49-F238E27FC236}">
                <a16:creationId xmlns:a16="http://schemas.microsoft.com/office/drawing/2014/main" id="{693C91F2-5F98-444D-9840-B7EF3D7398D3}"/>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
        <p:nvSpPr>
          <p:cNvPr id="4" name="Right column">
            <a:extLst>
              <a:ext uri="{FF2B5EF4-FFF2-40B4-BE49-F238E27FC236}">
                <a16:creationId xmlns:a16="http://schemas.microsoft.com/office/drawing/2014/main" id="{0DD29D6C-3E54-4ED2-A05F-EB92359B7339}"/>
              </a:ext>
            </a:extLst>
          </p:cNvPr>
          <p:cNvSpPr>
            <a:spLocks noGrp="1"/>
          </p:cNvSpPr>
          <p:nvPr>
            <p:ph type="body" idx="2"/>
          </p:nvPr>
        </p:nvSpPr>
        <p:spPr>
          <a:xfrm>
            <a:off x="6477000" y="1905000"/>
            <a:ext cx="5029200" cy="4267200"/>
          </a:xfrm>
          <a:prstGeom prst="rect">
            <a:avLst/>
          </a:prstGeom>
          <a:noFill/>
          <a:ln>
            <a:noFill/>
            <a:prstDash val="solid"/>
          </a:ln>
        </p:spPr>
        <p:txBody>
          <a:bodyPr wrap="square" lIns="0" tIns="0" rIns="0" bIns="0" anchor="t">
            <a:normAutofit/>
          </a:bodyPr>
          <a:lstStyle>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Title and One Column">
    <p:spTree>
      <p:nvGrpSpPr>
        <p:cNvPr id="1" name=""/>
        <p:cNvGrpSpPr/>
        <p:nvPr/>
      </p:nvGrpSpPr>
      <p:grpSpPr>
        <a:xfrm>
          <a:off x="0" y="0"/>
          <a:ext cx="0" cy="0"/>
          <a:chOff x="0" y="0"/>
          <a:chExt cx="0" cy="0"/>
        </a:xfrm>
      </p:grpSpPr>
      <p:sp>
        <p:nvSpPr>
          <p:cNvPr id="4" name="Accent rule">
            <a:extLst>
              <a:ext uri="{FF2B5EF4-FFF2-40B4-BE49-F238E27FC236}">
                <a16:creationId xmlns:a16="http://schemas.microsoft.com/office/drawing/2014/main" id="{F28F2ADC-7267-455D-82A7-8F988504DFC1}"/>
              </a:ext>
            </a:extLst>
          </p:cNvPr>
          <p:cNvSpPr>
            <a:spLocks noGrp="1"/>
          </p:cNvSpPr>
          <p:nvPr/>
        </p:nvSpPr>
        <p:spPr>
          <a:xfrm>
            <a:off x="685800" y="1524000"/>
            <a:ext cx="609600" cy="38100"/>
          </a:xfrm>
          <a:prstGeom prst="rect">
            <a:avLst/>
          </a:prstGeom>
          <a:solidFill>
            <a:schemeClr val="accent1"/>
          </a:solidFill>
          <a:ln>
            <a:noFill/>
            <a:prstDash val="solid"/>
          </a:ln>
        </p:spPr>
      </p:sp>
      <p:sp>
        <p:nvSpPr>
          <p:cNvPr id="2" name="Title">
            <a:extLst>
              <a:ext uri="{FF2B5EF4-FFF2-40B4-BE49-F238E27FC236}">
                <a16:creationId xmlns:a16="http://schemas.microsoft.com/office/drawing/2014/main" id="{AD1E56D0-BA82-4CC2-9BED-8D28510295FD}"/>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3" name="Left column">
            <a:extLst>
              <a:ext uri="{FF2B5EF4-FFF2-40B4-BE49-F238E27FC236}">
                <a16:creationId xmlns:a16="http://schemas.microsoft.com/office/drawing/2014/main" id="{2CB2DCDA-14F3-4D6A-993C-E6E4DB696497}"/>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cSld name="1_Title and body">
    <p:bg>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562620"/>
            <a:ext cx="7874000" cy="377180"/>
          </a:xfrm>
          <a:prstGeom prst="rect">
            <a:avLst/>
          </a:prstGeom>
          <a:noFill/>
          <a:ln/>
        </p:spPr>
        <p:txBody>
          <a:bodyPr wrap="square" lIns="0" tIns="0" rIns="0" bIns="0" rtlCol="0" anchor="t"/>
          <a:lstStyle>
            <a:lvl1pPr marL="0" indent="0" algn="l">
              <a:lnSpc>
                <a:spcPct val="115000"/>
              </a:lnSpc>
              <a:buNone/>
              <a:defRPr lang="en-US" sz="2700" dirty="0">
                <a:solidFill>
                  <a:srgbClr val="125C97"/>
                </a:solidFill>
                <a:latin typeface="Arial" pitchFamily="34" charset="0"/>
                <a:ea typeface="Arial" pitchFamily="34" charset="-122"/>
                <a:cs typeface="Arial" pitchFamily="34" charset="-120"/>
              </a:defRPr>
            </a:lvl1pPr>
          </a:lstStyle>
          <a:p>
            <a:pPr marL="0" indent="0" algn="l">
              <a:lnSpc>
                <a:spcPct val="115000"/>
              </a:lnSpc>
              <a:buNone/>
            </a:pPr>
            <a:endParaRPr lang="en-US" sz="2700" dirty="0"/>
          </a:p>
        </p:txBody>
      </p:sp>
      <p:sp>
        <p:nvSpPr>
          <p:cNvPr id="3" name="Text Placeholder 2"/>
          <p:cNvSpPr>
            <a:spLocks noGrp="1"/>
          </p:cNvSpPr>
          <p:nvPr>
            <p:ph type="body" idx="101"/>
          </p:nvPr>
        </p:nvSpPr>
        <p:spPr>
          <a:xfrm>
            <a:off x="609600" y="1244600"/>
            <a:ext cx="10769600" cy="4800600"/>
          </a:xfrm>
          <a:prstGeom prst="rect">
            <a:avLst/>
          </a:prstGeom>
          <a:noFill/>
          <a:ln/>
        </p:spPr>
        <p:txBody>
          <a:bodyPr wrap="square" lIns="0" tIns="0" rIns="0" bIns="0" rtlCol="0" anchor="t"/>
          <a:lstStyle>
            <a:lvl1pPr marL="0" indent="0" algn="l">
              <a:lnSpc>
                <a:spcPct val="140000"/>
              </a:lnSpc>
              <a:buNone/>
              <a:defRPr lang="en-US" sz="1600" dirty="0">
                <a:solidFill>
                  <a:srgbClr val="125C97"/>
                </a:solidFill>
                <a:latin typeface="Arial" pitchFamily="34" charset="0"/>
                <a:ea typeface="Arial" pitchFamily="34" charset="-122"/>
                <a:cs typeface="Arial" pitchFamily="34" charset="-120"/>
              </a:defRPr>
            </a:lvl1pPr>
          </a:lstStyle>
          <a:p>
            <a:pPr marL="0" indent="0" algn="l">
              <a:lnSpc>
                <a:spcPct val="140000"/>
              </a:lnSpc>
              <a:buNone/>
            </a:pPr>
            <a:endParaRPr lang="en-US" sz="1600" dirty="0"/>
          </a:p>
        </p:txBody>
      </p:sp>
    </p:spTree>
    <p:extLst>
      <p:ext uri="{BB962C8B-B14F-4D97-AF65-F5344CB8AC3E}">
        <p14:creationId xmlns:p14="http://schemas.microsoft.com/office/powerpoint/2010/main" val="117773602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1.png"/><Relationship Id="rId7" Type="http://schemas.openxmlformats.org/officeDocument/2006/relationships/image" Target="../media/image1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1.png"/><Relationship Id="rId4" Type="http://schemas.openxmlformats.org/officeDocument/2006/relationships/image" Target="../media/image8.png"/><Relationship Id="rId5"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9.png"/><Relationship Id="rId5" Type="http://schemas.openxmlformats.org/officeDocument/2006/relationships/image" Target="../media/image1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1.png"/><Relationship Id="rId4" Type="http://schemas.openxmlformats.org/officeDocument/2006/relationships/image" Target="../media/image10.png"/><Relationship Id="rId5"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image" Target="../media/image1.png"/><Relationship Id="rId4" Type="http://schemas.openxmlformats.org/officeDocument/2006/relationships/image" Target="../media/image11.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microsoft.com/office/2007/relationships/media" Target="../media/media1.mp4"/><Relationship Id="rId2" Type="http://schemas.openxmlformats.org/officeDocument/2006/relationships/video" Target="../media/media1.mp4"/><Relationship Id="rId3" Type="http://schemas.openxmlformats.org/officeDocument/2006/relationships/slideLayout" Target="../slideLayouts/slideLayout6.xml"/><Relationship Id="rId4" Type="http://schemas.openxmlformats.org/officeDocument/2006/relationships/notesSlide" Target="../notesSlides/notesSlide21.xml"/><Relationship Id="rId5" Type="http://schemas.openxmlformats.org/officeDocument/2006/relationships/image" Target="../media/image1.png"/><Relationship Id="rId6"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 Id="rId3" Type="http://schemas.openxmlformats.org/officeDocument/2006/relationships/image" Target="../media/image2.png"/><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11" name="Picture 10"/>
          <p:cNvPicPr>
            <a:picLocks noChangeAspect="1"/>
          </p:cNvPicPr>
          <p:nvPr/>
        </p:nvPicPr>
        <p:blipFill>
          <a:blip r:embed="rId3"/>
          <a:stretch/>
        </p:blipFill>
        <p:spPr>
          <a:xfrm>
            <a:off x="609600" y="405288"/>
            <a:ext cx="952500" cy="789624"/>
          </a:xfrm>
          <a:prstGeom prst="rect">
            <a:avLst/>
          </a:prstGeom>
        </p:spPr>
      </p:pic>
      <p:sp>
        <p:nvSpPr>
          <p:cNvPr id="2" name="Rectangle 1">
            <a:extLst>
              <a:ext uri="{FF2B5EF4-FFF2-40B4-BE49-F238E27FC236}">
                <a16:creationId xmlns:a16="http://schemas.microsoft.com/office/drawing/2014/main" id="{3C9F48EF-C541-4AB5-9D04-99775057D874}"/>
              </a:ext>
            </a:extLst>
          </p:cNvPr>
          <p:cNvSpPr>
            <a:spLocks noGrp="1"/>
          </p:cNvSpPr>
          <p:nvPr/>
        </p:nvSpPr>
        <p:spPr>
          <a:xfrm>
            <a:off x="1752600" y="438150"/>
            <a:ext cx="9239250" cy="323850"/>
          </a:xfrm>
          <a:prstGeom prst="rect">
            <a:avLst/>
          </a:prstGeom>
          <a:noFill/>
          <a:ln w="0">
            <a:noFill/>
          </a:ln>
        </p:spPr>
        <p:txBody>
          <a:bodyPr>
            <a:noAutofit/>
          </a:bodyPr>
          <a:lstStyle/>
          <a:p>
            <a:pPr>
              <a:defRPr sz="1725" b="1">
                <a:solidFill>
                  <a:srgbClr val="175F99"/>
                </a:solidFill>
                <a:latin typeface="Arial"/>
                <a:ea typeface="Arial"/>
                <a:cs typeface="Arial"/>
              </a:defRPr>
            </a:pPr>
            <a:r>
              <a:rPr sz="1725" b="1">
                <a:solidFill>
                  <a:srgbClr val="175F99"/>
                </a:solidFill>
                <a:latin typeface="Arial"/>
                <a:ea typeface="Arial"/>
                <a:cs typeface="Arial"/>
              </a:rPr>
              <a:t>Università Campus Bio-Medico di Roma</a:t>
            </a:r>
          </a:p>
        </p:txBody>
      </p:sp>
      <p:sp>
        <p:nvSpPr>
          <p:cNvPr id="3" name="Rectangle 2">
            <a:extLst>
              <a:ext uri="{FF2B5EF4-FFF2-40B4-BE49-F238E27FC236}">
                <a16:creationId xmlns:a16="http://schemas.microsoft.com/office/drawing/2014/main" id="{85D2D7C9-2F27-45C3-B3DC-01B26E0CA917}"/>
              </a:ext>
            </a:extLst>
          </p:cNvPr>
          <p:cNvSpPr>
            <a:spLocks noGrp="1"/>
          </p:cNvSpPr>
          <p:nvPr/>
        </p:nvSpPr>
        <p:spPr>
          <a:xfrm>
            <a:off x="1752600" y="809625"/>
            <a:ext cx="8858250" cy="647700"/>
          </a:xfrm>
          <a:prstGeom prst="rect">
            <a:avLst/>
          </a:prstGeom>
          <a:noFill/>
          <a:ln w="0">
            <a:noFill/>
          </a:ln>
        </p:spPr>
        <p:txBody>
          <a:bodyPr>
            <a:noAutofit/>
          </a:bodyPr>
          <a:lstStyle/>
          <a:p>
            <a:pPr>
              <a:defRPr sz="1575" b="0">
                <a:solidFill>
                  <a:srgbClr val="203344"/>
                </a:solidFill>
                <a:latin typeface="Arial"/>
                <a:ea typeface="Arial"/>
                <a:cs typeface="Arial"/>
              </a:defRPr>
            </a:pPr>
            <a:r>
              <a:rPr sz="1575" b="0">
                <a:solidFill>
                  <a:srgbClr val="203344"/>
                </a:solidFill>
                <a:latin typeface="Arial"/>
                <a:ea typeface="Arial"/>
                <a:cs typeface="Arial"/>
              </a:rPr>
              <a:t>Facoltà Dipartimentale di Ingegneria</a:t>
            </a:r>
          </a:p>
          <a:p>
            <a:pPr>
              <a:defRPr sz="1575" b="0">
                <a:solidFill>
                  <a:srgbClr val="203344"/>
                </a:solidFill>
                <a:latin typeface="Arial"/>
                <a:ea typeface="Arial"/>
                <a:cs typeface="Arial"/>
              </a:defRPr>
            </a:pPr>
            <a:r>
              <a:rPr sz="1575" b="0">
                <a:solidFill>
                  <a:srgbClr val="203344"/>
                </a:solidFill>
                <a:latin typeface="Arial"/>
                <a:ea typeface="Arial"/>
                <a:cs typeface="Arial"/>
              </a:rPr>
              <a:t>Laurea Magistrale in Ingegneria dei Sistemi Intelligenti</a:t>
            </a:r>
          </a:p>
        </p:txBody>
      </p:sp>
      <p:sp>
        <p:nvSpPr>
          <p:cNvPr id="4" name="Rectangle 3">
            <a:extLst>
              <a:ext uri="{FF2B5EF4-FFF2-40B4-BE49-F238E27FC236}">
                <a16:creationId xmlns:a16="http://schemas.microsoft.com/office/drawing/2014/main" id="{23642B9C-F891-4E0A-A9AD-6E326DDD4410}"/>
              </a:ext>
            </a:extLst>
          </p:cNvPr>
          <p:cNvSpPr>
            <a:spLocks noGrp="1"/>
          </p:cNvSpPr>
          <p:nvPr/>
        </p:nvSpPr>
        <p:spPr>
          <a:xfrm>
            <a:off x="609600" y="1990725"/>
            <a:ext cx="7334250" cy="1371600"/>
          </a:xfrm>
          <a:prstGeom prst="rect">
            <a:avLst/>
          </a:prstGeom>
          <a:noFill/>
          <a:ln w="0">
            <a:noFill/>
          </a:ln>
        </p:spPr>
        <p:txBody>
          <a:bodyPr>
            <a:noAutofit/>
          </a:bodyPr>
          <a:lstStyle/>
          <a:p>
            <a:pPr>
              <a:defRPr sz="4275" b="1">
                <a:solidFill>
                  <a:srgbClr val="003366"/>
                </a:solidFill>
                <a:latin typeface="Arial"/>
                <a:ea typeface="Arial"/>
                <a:cs typeface="Arial"/>
              </a:defRPr>
            </a:pPr>
            <a:r>
              <a:rPr sz="4275" b="1">
                <a:solidFill>
                  <a:srgbClr val="003366"/>
                </a:solidFill>
                <a:latin typeface="Arial"/>
                <a:ea typeface="Arial"/>
                <a:cs typeface="Arial"/>
              </a:rPr>
              <a:t>Shor’s algorithm</a:t>
            </a:r>
          </a:p>
          <a:p>
            <a:pPr>
              <a:defRPr sz="4275" b="1">
                <a:solidFill>
                  <a:srgbClr val="003366"/>
                </a:solidFill>
                <a:latin typeface="Arial"/>
                <a:ea typeface="Arial"/>
                <a:cs typeface="Arial"/>
              </a:defRPr>
            </a:pPr>
            <a:r>
              <a:rPr sz="4275" b="1">
                <a:solidFill>
                  <a:srgbClr val="003366"/>
                </a:solidFill>
                <a:latin typeface="Arial"/>
                <a:ea typeface="Arial"/>
                <a:cs typeface="Arial"/>
              </a:rPr>
              <a:t>under noise</a:t>
            </a:r>
          </a:p>
        </p:txBody>
      </p:sp>
      <p:sp>
        <p:nvSpPr>
          <p:cNvPr id="5" name="Rectangle 4">
            <a:extLst>
              <a:ext uri="{FF2B5EF4-FFF2-40B4-BE49-F238E27FC236}">
                <a16:creationId xmlns:a16="http://schemas.microsoft.com/office/drawing/2014/main" id="{F6A9A1EC-12DD-49BB-B82C-D1D7C02BC5F9}"/>
              </a:ext>
            </a:extLst>
          </p:cNvPr>
          <p:cNvSpPr>
            <a:spLocks noGrp="1"/>
          </p:cNvSpPr>
          <p:nvPr/>
        </p:nvSpPr>
        <p:spPr>
          <a:xfrm>
            <a:off x="609600" y="3581400"/>
            <a:ext cx="7067550" cy="1276350"/>
          </a:xfrm>
          <a:prstGeom prst="rect">
            <a:avLst/>
          </a:prstGeom>
          <a:noFill/>
          <a:ln w="0">
            <a:noFill/>
          </a:ln>
        </p:spPr>
        <p:txBody>
          <a:bodyPr>
            <a:noAutofit/>
          </a:bodyPr>
          <a:lstStyle/>
          <a:p>
            <a:pPr>
              <a:defRPr sz="2325" b="0">
                <a:solidFill>
                  <a:srgbClr val="203344"/>
                </a:solidFill>
                <a:latin typeface="Arial"/>
                <a:ea typeface="Arial"/>
                <a:cs typeface="Arial"/>
              </a:defRPr>
            </a:pPr>
            <a:r>
              <a:rPr sz="2325" b="0">
                <a:solidFill>
                  <a:srgbClr val="203344"/>
                </a:solidFill>
                <a:latin typeface="Arial"/>
                <a:ea typeface="Arial"/>
                <a:cs typeface="Arial"/>
              </a:rPr>
              <a:t>Machine-learning ablation,</a:t>
            </a:r>
          </a:p>
          <a:p>
            <a:pPr>
              <a:defRPr sz="2325" b="0">
                <a:solidFill>
                  <a:srgbClr val="203344"/>
                </a:solidFill>
                <a:latin typeface="Arial"/>
                <a:ea typeface="Arial"/>
                <a:cs typeface="Arial"/>
              </a:defRPr>
            </a:pPr>
            <a:r>
              <a:rPr sz="2325" b="0">
                <a:solidFill>
                  <a:srgbClr val="203344"/>
                </a:solidFill>
                <a:latin typeface="Arial"/>
                <a:ea typeface="Arial"/>
                <a:cs typeface="Arial"/>
              </a:rPr>
              <a:t>quantum error correction</a:t>
            </a:r>
          </a:p>
          <a:p>
            <a:pPr>
              <a:defRPr sz="2325" b="0">
                <a:solidFill>
                  <a:srgbClr val="203344"/>
                </a:solidFill>
                <a:latin typeface="Arial"/>
                <a:ea typeface="Arial"/>
                <a:cs typeface="Arial"/>
              </a:defRPr>
            </a:pPr>
            <a:r>
              <a:rPr sz="2325" b="0">
                <a:solidFill>
                  <a:srgbClr val="203344"/>
                </a:solidFill>
                <a:latin typeface="Arial"/>
                <a:ea typeface="Arial"/>
                <a:cs typeface="Arial"/>
              </a:rPr>
              <a:t>and approximate QFT</a:t>
            </a:r>
          </a:p>
        </p:txBody>
      </p:sp>
      <p:pic>
        <p:nvPicPr>
          <p:cNvPr id="16" name="Picture 15"/>
          <p:cNvPicPr>
            <a:picLocks noChangeAspect="1"/>
          </p:cNvPicPr>
          <p:nvPr/>
        </p:nvPicPr>
        <p:blipFill>
          <a:blip r:embed="rId4"/>
          <a:stretch/>
        </p:blipFill>
        <p:spPr>
          <a:xfrm>
            <a:off x="7829550" y="1990312"/>
            <a:ext cx="3695700" cy="3467927"/>
          </a:xfrm>
          <a:prstGeom prst="rect">
            <a:avLst/>
          </a:prstGeom>
        </p:spPr>
      </p:pic>
      <p:sp>
        <p:nvSpPr>
          <p:cNvPr id="7" name="Rectangle 6">
            <a:extLst>
              <a:ext uri="{FF2B5EF4-FFF2-40B4-BE49-F238E27FC236}">
                <a16:creationId xmlns:a16="http://schemas.microsoft.com/office/drawing/2014/main" id="{B3D49A18-4070-4177-B7DF-7692A24022DE}"/>
              </a:ext>
            </a:extLst>
          </p:cNvPr>
          <p:cNvSpPr>
            <a:spLocks noGrp="1"/>
          </p:cNvSpPr>
          <p:nvPr/>
        </p:nvSpPr>
        <p:spPr>
          <a:xfrm>
            <a:off x="609600" y="5457825"/>
            <a:ext cx="4381500" cy="323850"/>
          </a:xfrm>
          <a:prstGeom prst="rect">
            <a:avLst/>
          </a:prstGeom>
          <a:noFill/>
          <a:ln w="0">
            <a:noFill/>
          </a:ln>
        </p:spPr>
        <p:txBody>
          <a:bodyPr>
            <a:noAutofit/>
          </a:bodyPr>
          <a:lstStyle/>
          <a:p>
            <a:pPr>
              <a:defRPr sz="1725" b="1">
                <a:solidFill>
                  <a:srgbClr val="175F99"/>
                </a:solidFill>
                <a:latin typeface="Arial"/>
                <a:ea typeface="Arial"/>
                <a:cs typeface="Arial"/>
              </a:defRPr>
            </a:pPr>
            <a:r>
              <a:rPr sz="1725" b="1">
                <a:solidFill>
                  <a:srgbClr val="175F99"/>
                </a:solidFill>
                <a:latin typeface="Arial"/>
                <a:ea typeface="Arial"/>
                <a:cs typeface="Arial"/>
              </a:rPr>
              <a:t>Claudio Dragotta</a:t>
            </a:r>
          </a:p>
        </p:txBody>
      </p:sp>
      <p:sp>
        <p:nvSpPr>
          <p:cNvPr id="8" name="Rectangle 7">
            <a:extLst>
              <a:ext uri="{FF2B5EF4-FFF2-40B4-BE49-F238E27FC236}">
                <a16:creationId xmlns:a16="http://schemas.microsoft.com/office/drawing/2014/main" id="{F97B7AF3-F65D-47FE-AD63-B30D3BE685FA}"/>
              </a:ext>
            </a:extLst>
          </p:cNvPr>
          <p:cNvSpPr>
            <a:spLocks noGrp="1"/>
          </p:cNvSpPr>
          <p:nvPr/>
        </p:nvSpPr>
        <p:spPr>
          <a:xfrm>
            <a:off x="609600" y="5829300"/>
            <a:ext cx="3143250" cy="314325"/>
          </a:xfrm>
          <a:prstGeom prst="rect">
            <a:avLst/>
          </a:prstGeom>
          <a:noFill/>
          <a:ln w="0">
            <a:noFill/>
          </a:ln>
        </p:spPr>
        <p:txBody>
          <a:bodyPr>
            <a:noAutofit/>
          </a:bodyPr>
          <a:lstStyle/>
          <a:p>
            <a:pPr>
              <a:defRPr sz="1575" b="0">
                <a:solidFill>
                  <a:srgbClr val="203344"/>
                </a:solidFill>
                <a:latin typeface="Arial"/>
                <a:ea typeface="Arial"/>
                <a:cs typeface="Arial"/>
              </a:defRPr>
            </a:pPr>
            <a:r>
              <a:rPr sz="1575" b="0">
                <a:solidFill>
                  <a:srgbClr val="203344"/>
                </a:solidFill>
                <a:latin typeface="Arial"/>
                <a:ea typeface="Arial"/>
                <a:cs typeface="Arial"/>
              </a:rPr>
              <a:t>Laureando</a:t>
            </a:r>
          </a:p>
        </p:txBody>
      </p:sp>
      <p:sp>
        <p:nvSpPr>
          <p:cNvPr id="9" name="Rectangle 8">
            <a:extLst>
              <a:ext uri="{FF2B5EF4-FFF2-40B4-BE49-F238E27FC236}">
                <a16:creationId xmlns:a16="http://schemas.microsoft.com/office/drawing/2014/main" id="{B617E2E1-2F16-4949-80F2-901CB2C1A95D}"/>
              </a:ext>
            </a:extLst>
          </p:cNvPr>
          <p:cNvSpPr>
            <a:spLocks noGrp="1"/>
          </p:cNvSpPr>
          <p:nvPr/>
        </p:nvSpPr>
        <p:spPr>
          <a:xfrm>
            <a:off x="5172075" y="5457825"/>
            <a:ext cx="6286500" cy="733425"/>
          </a:xfrm>
          <a:prstGeom prst="rect">
            <a:avLst/>
          </a:prstGeom>
          <a:noFill/>
          <a:ln w="0">
            <a:noFill/>
          </a:ln>
        </p:spPr>
        <p:txBody>
          <a:bodyPr>
            <a:noAutofit/>
          </a:bodyPr>
          <a:lstStyle/>
          <a:p>
            <a:pPr>
              <a:defRPr sz="1725" b="0">
                <a:solidFill>
                  <a:srgbClr val="203344"/>
                </a:solidFill>
                <a:latin typeface="Arial"/>
                <a:ea typeface="Arial"/>
                <a:cs typeface="Arial"/>
              </a:defRPr>
            </a:pPr>
            <a:r>
              <a:rPr sz="1725" b="0">
                <a:solidFill>
                  <a:srgbClr val="203344"/>
                </a:solidFill>
                <a:latin typeface="Arial"/>
                <a:ea typeface="Arial"/>
                <a:cs typeface="Arial"/>
              </a:rPr>
              <a:t>Relatore  Prof. Paolo Soda</a:t>
            </a:r>
          </a:p>
          <a:p>
            <a:pPr>
              <a:defRPr sz="1725" b="0">
                <a:solidFill>
                  <a:srgbClr val="203344"/>
                </a:solidFill>
                <a:latin typeface="Arial"/>
                <a:ea typeface="Arial"/>
                <a:cs typeface="Arial"/>
              </a:defRPr>
            </a:pPr>
            <a:r>
              <a:rPr sz="1725" b="0">
                <a:solidFill>
                  <a:srgbClr val="203344"/>
                </a:solidFill>
                <a:latin typeface="Arial"/>
                <a:ea typeface="Arial"/>
                <a:cs typeface="Arial"/>
              </a:rPr>
              <a:t>Correlatore  Ing. Floriano Caprio</a:t>
            </a:r>
          </a:p>
        </p:txBody>
      </p:sp>
      <p:sp>
        <p:nvSpPr>
          <p:cNvPr id="10" name="Rectangle 9">
            <a:extLst>
              <a:ext uri="{FF2B5EF4-FFF2-40B4-BE49-F238E27FC236}">
                <a16:creationId xmlns:a16="http://schemas.microsoft.com/office/drawing/2014/main" id="{05208FE7-C760-4EA1-9A0B-58579754F642}"/>
              </a:ext>
            </a:extLst>
          </p:cNvPr>
          <p:cNvSpPr>
            <a:spLocks noGrp="1"/>
          </p:cNvSpPr>
          <p:nvPr/>
        </p:nvSpPr>
        <p:spPr>
          <a:xfrm>
            <a:off x="609600" y="6410325"/>
            <a:ext cx="5810250" cy="228600"/>
          </a:xfrm>
          <a:prstGeom prst="rect">
            <a:avLst/>
          </a:prstGeom>
          <a:noFill/>
          <a:ln w="0">
            <a:noFill/>
          </a:ln>
        </p:spPr>
        <p:txBody>
          <a:bodyPr>
            <a:noAutofit/>
          </a:bodyPr>
          <a:lstStyle/>
          <a:p>
            <a:pPr>
              <a:defRPr sz="1350" b="0">
                <a:solidFill>
                  <a:srgbClr val="647487"/>
                </a:solidFill>
                <a:latin typeface="Arial"/>
                <a:ea typeface="Arial"/>
                <a:cs typeface="Arial"/>
              </a:defRPr>
            </a:pPr>
            <a:r>
              <a:rPr sz="1350" b="0">
                <a:solidFill>
                  <a:srgbClr val="647487"/>
                </a:solidFill>
                <a:latin typeface="Arial"/>
                <a:ea typeface="Arial"/>
                <a:cs typeface="Arial"/>
              </a:rPr>
              <a:t>A.A. 2025/2026</a:t>
            </a:r>
          </a:p>
        </p:txBody>
      </p:sp>
    </p:spTree>
    <p:extLst>
      <p:ext uri="{BB962C8B-B14F-4D97-AF65-F5344CB8AC3E}">
        <p14:creationId xmlns:p14="http://schemas.microsoft.com/office/powerpoint/2010/main" val="127754804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993C3B39-6012-409D-8C55-2E1E8048285C}"/>
              </a:ext>
            </a:extLst>
          </p:cNvPr>
          <p:cNvSpPr>
            <a:spLocks noGrp="1"/>
          </p:cNvSpPr>
          <p:nvPr/>
        </p:nvSpPr>
        <p:spPr>
          <a:xfrm>
            <a:off x="609600" y="400050"/>
            <a:ext cx="9906000" cy="619125"/>
          </a:xfrm>
          <a:prstGeom prst="rect">
            <a:avLst/>
          </a:prstGeom>
          <a:noFill/>
          <a:ln w="0">
            <a:noFill/>
          </a:ln>
        </p:spPr>
        <p:txBody>
          <a:bodyPr>
            <a:noAutofit/>
          </a:bodyPr>
          <a:lstStyle/>
          <a:p>
            <a:pPr>
              <a:defRPr sz="2700" b="0">
                <a:solidFill>
                  <a:srgbClr val="003366"/>
                </a:solidFill>
                <a:latin typeface="Arial"/>
                <a:ea typeface="Arial"/>
                <a:cs typeface="Arial"/>
              </a:defRPr>
            </a:pPr>
            <a:r>
              <a:rPr lang="it-IT" sz="2700" b="0">
                <a:solidFill>
                  <a:srgbClr val="003366"/>
                </a:solidFill>
                <a:latin typeface="Arial"/>
                <a:ea typeface="Arial"/>
                <a:cs typeface="Arial"/>
              </a:rPr>
              <a:t>Il problema e l'obiettivo</a:t>
            </a:r>
            <a:endParaRPr sz="2700" b="0">
              <a:solidFill>
                <a:srgbClr val="003366"/>
              </a:solidFill>
              <a:latin typeface="Arial"/>
              <a:ea typeface="Arial"/>
              <a:cs typeface="Arial"/>
            </a:endParaRPr>
          </a:p>
        </p:txBody>
      </p:sp>
      <p:pic>
        <p:nvPicPr>
          <p:cNvPr id="19" name="Picture 18"/>
          <p:cNvPicPr>
            <a:picLocks noChangeAspect="1"/>
          </p:cNvPicPr>
          <p:nvPr/>
        </p:nvPicPr>
        <p:blipFill>
          <a:blip r:embed="rId3"/>
          <a:stretch/>
        </p:blipFill>
        <p:spPr>
          <a:xfrm>
            <a:off x="10896600" y="243116"/>
            <a:ext cx="838200" cy="694869"/>
          </a:xfrm>
          <a:prstGeom prst="rect">
            <a:avLst/>
          </a:prstGeom>
        </p:spPr>
      </p:pic>
      <p:sp>
        <p:nvSpPr>
          <p:cNvPr id="3" name="Rectangle 2">
            <a:extLst>
              <a:ext uri="{FF2B5EF4-FFF2-40B4-BE49-F238E27FC236}">
                <a16:creationId xmlns:a16="http://schemas.microsoft.com/office/drawing/2014/main" id="{782AFE8A-0115-4407-BDA2-396C170A0820}"/>
              </a:ext>
            </a:extLst>
          </p:cNvPr>
          <p:cNvSpPr>
            <a:spLocks noGrp="1"/>
          </p:cNvSpPr>
          <p:nvPr/>
        </p:nvSpPr>
        <p:spPr>
          <a:xfrm>
            <a:off x="609600" y="1095375"/>
            <a:ext cx="10096500" cy="19050"/>
          </a:xfrm>
          <a:prstGeom prst="rect">
            <a:avLst/>
          </a:prstGeom>
          <a:solidFill>
            <a:srgbClr val="5084BF"/>
          </a:solidFill>
          <a:ln w="0">
            <a:noFill/>
          </a:ln>
        </p:spPr>
        <p:txBody>
          <a:bodyPr/>
          <a:lstStyle/>
          <a:p>
            <a:endParaRPr lang="en-GB"/>
          </a:p>
        </p:txBody>
      </p:sp>
      <p:sp>
        <p:nvSpPr>
          <p:cNvPr id="4" name="Rectangle 3">
            <a:extLst>
              <a:ext uri="{FF2B5EF4-FFF2-40B4-BE49-F238E27FC236}">
                <a16:creationId xmlns:a16="http://schemas.microsoft.com/office/drawing/2014/main" id="{FBD900CC-09C6-4AFF-B224-9EC736B42A92}"/>
              </a:ext>
            </a:extLst>
          </p:cNvPr>
          <p:cNvSpPr>
            <a:spLocks noGrp="1"/>
          </p:cNvSpPr>
          <p:nvPr/>
        </p:nvSpPr>
        <p:spPr>
          <a:xfrm>
            <a:off x="7477125" y="828675"/>
            <a:ext cx="3228975" cy="219075"/>
          </a:xfrm>
          <a:prstGeom prst="rect">
            <a:avLst/>
          </a:prstGeom>
          <a:noFill/>
          <a:ln w="0">
            <a:noFill/>
          </a:ln>
        </p:spPr>
        <p:txBody>
          <a:bodyPr rIns="0">
            <a:noAutofit/>
          </a:bodyPr>
          <a:lstStyle/>
          <a:p>
            <a:pPr algn="r">
              <a:defRPr sz="1200" b="0">
                <a:solidFill>
                  <a:srgbClr val="203344"/>
                </a:solidFill>
                <a:latin typeface="Arial"/>
                <a:ea typeface="Arial"/>
                <a:cs typeface="Arial"/>
              </a:defRPr>
            </a:pPr>
            <a:r>
              <a:rPr lang="it-IT" sz="1200" b="0">
                <a:solidFill>
                  <a:srgbClr val="203344"/>
                </a:solidFill>
                <a:latin typeface="Arial"/>
                <a:ea typeface="Arial"/>
                <a:cs typeface="Arial"/>
              </a:rPr>
              <a:t>Introduzione | 2</a:t>
            </a:r>
            <a:endParaRPr sz="1200" b="0">
              <a:solidFill>
                <a:srgbClr val="203344"/>
              </a:solidFill>
              <a:latin typeface="Arial"/>
              <a:ea typeface="Arial"/>
              <a:cs typeface="Arial"/>
            </a:endParaRPr>
          </a:p>
        </p:txBody>
      </p:sp>
      <p:sp>
        <p:nvSpPr>
          <p:cNvPr id="2" name="TextBox 1">
            <a:extLst>
              <a:ext uri="{FF2B5EF4-FFF2-40B4-BE49-F238E27FC236}">
                <a16:creationId xmlns:a16="http://schemas.microsoft.com/office/drawing/2014/main" id="{F157E4D6-593B-F797-437E-0DB411060B6B}"/>
              </a:ext>
            </a:extLst>
          </p:cNvPr>
          <p:cNvSpPr txBox="1"/>
          <p:nvPr/>
        </p:nvSpPr>
        <p:spPr>
          <a:xfrm>
            <a:off x="609600" y="1320800"/>
            <a:ext cx="10972800" cy="369332"/>
          </a:xfrm>
          <a:prstGeom prst="rect">
            <a:avLst/>
          </a:prstGeom>
          <a:noFill/>
        </p:spPr>
        <p:txBody>
          <a:bodyPr vert="horz" wrap="square" rtlCol="0">
            <a:noAutofit/>
          </a:bodyPr>
          <a:lstStyle/>
          <a:p>
            <a:r>
              <a:rPr lang="it-IT" sz="2100">
                <a:solidFill>
                  <a:srgbClr val="203344"/>
                </a:solidFill>
                <a:latin typeface="Arial" panose="020B0604020202020204" pitchFamily="34" charset="0"/>
              </a:rPr>
              <a:t>Perché conta: RSA si basa sulla difficoltà di fattorizzare numeri molto grandi.</a:t>
            </a:r>
            <a:endParaRPr lang="en-GB" sz="2100">
              <a:solidFill>
                <a:srgbClr val="203344"/>
              </a:solidFill>
              <a:latin typeface="Arial" panose="020B0604020202020204" pitchFamily="34" charset="0"/>
            </a:endParaRPr>
          </a:p>
        </p:txBody>
      </p:sp>
      <p:sp>
        <p:nvSpPr>
          <p:cNvPr id="20" name="Rectangle: Rounded Corners 19">
            <a:extLst>
              <a:ext uri="{FF2B5EF4-FFF2-40B4-BE49-F238E27FC236}">
                <a16:creationId xmlns:a16="http://schemas.microsoft.com/office/drawing/2014/main" id="{38666E43-9709-96E7-2343-4CD0DE161345}"/>
              </a:ext>
            </a:extLst>
          </p:cNvPr>
          <p:cNvSpPr/>
          <p:nvPr/>
        </p:nvSpPr>
        <p:spPr>
          <a:xfrm>
            <a:off x="609600" y="1905000"/>
            <a:ext cx="3429000" cy="3937000"/>
          </a:xfrm>
          <a:prstGeom prst="roundRect">
            <a:avLst>
              <a:gd name="adj" fmla="val 6000"/>
            </a:avLst>
          </a:prstGeom>
          <a:solidFill>
            <a:srgbClr val="EEF4F8"/>
          </a:solidFill>
          <a:ln w="14288">
            <a:solidFill>
              <a:srgbClr val="5084B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ectangle 20">
            <a:extLst>
              <a:ext uri="{FF2B5EF4-FFF2-40B4-BE49-F238E27FC236}">
                <a16:creationId xmlns:a16="http://schemas.microsoft.com/office/drawing/2014/main" id="{ED59C2EA-1B0E-4539-4F9E-DD553E4CBF9C}"/>
              </a:ext>
            </a:extLst>
          </p:cNvPr>
          <p:cNvSpPr/>
          <p:nvPr/>
        </p:nvSpPr>
        <p:spPr>
          <a:xfrm>
            <a:off x="812800" y="2108200"/>
            <a:ext cx="508000" cy="508000"/>
          </a:xfrm>
          <a:prstGeom prst="rect">
            <a:avLst/>
          </a:prstGeom>
          <a:solidFill>
            <a:srgbClr val="175F99"/>
          </a:solidFill>
          <a:ln w="19050">
            <a:noFill/>
            <a:prstDash val="solid"/>
          </a:ln>
          <a:effectLst/>
          <a:extLst>
            <a:ext uri="{91240B29-F687-4F45-9708-019B960494DF}">
              <a14:hiddenLine xmlns:a14="http://schemas.microsoft.com/office/drawing/2010/main" w="19050">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b="1">
                <a:solidFill>
                  <a:srgbClr val="FFFFFF"/>
                </a:solidFill>
                <a:latin typeface="Arial" panose="020B0604020202020204" pitchFamily="34" charset="0"/>
              </a:rPr>
              <a:t>1</a:t>
            </a:r>
          </a:p>
        </p:txBody>
      </p:sp>
      <p:sp>
        <p:nvSpPr>
          <p:cNvPr id="22" name="TextBox 21">
            <a:extLst>
              <a:ext uri="{FF2B5EF4-FFF2-40B4-BE49-F238E27FC236}">
                <a16:creationId xmlns:a16="http://schemas.microsoft.com/office/drawing/2014/main" id="{EC775805-E19D-BF97-56E7-7A6F48267843}"/>
              </a:ext>
            </a:extLst>
          </p:cNvPr>
          <p:cNvSpPr txBox="1"/>
          <p:nvPr/>
        </p:nvSpPr>
        <p:spPr>
          <a:xfrm>
            <a:off x="1422400" y="2159000"/>
            <a:ext cx="2476500" cy="369332"/>
          </a:xfrm>
          <a:prstGeom prst="rect">
            <a:avLst/>
          </a:prstGeom>
          <a:noFill/>
        </p:spPr>
        <p:txBody>
          <a:bodyPr vert="horz" wrap="square" rtlCol="0">
            <a:noAutofit/>
          </a:bodyPr>
          <a:lstStyle/>
          <a:p>
            <a:r>
              <a:rPr lang="en-GB" sz="2175" b="1">
                <a:solidFill>
                  <a:srgbClr val="003366"/>
                </a:solidFill>
                <a:latin typeface="Arial" panose="020B0604020202020204" pitchFamily="34" charset="0"/>
              </a:rPr>
              <a:t>Problema</a:t>
            </a:r>
          </a:p>
        </p:txBody>
      </p:sp>
      <p:sp>
        <p:nvSpPr>
          <p:cNvPr id="23" name="TextBox 22">
            <a:extLst>
              <a:ext uri="{FF2B5EF4-FFF2-40B4-BE49-F238E27FC236}">
                <a16:creationId xmlns:a16="http://schemas.microsoft.com/office/drawing/2014/main" id="{BD49DC3A-4222-7AA8-818D-DCCAFB52C39D}"/>
              </a:ext>
            </a:extLst>
          </p:cNvPr>
          <p:cNvSpPr txBox="1"/>
          <p:nvPr/>
        </p:nvSpPr>
        <p:spPr>
          <a:xfrm>
            <a:off x="762000" y="2794000"/>
            <a:ext cx="3124200" cy="369332"/>
          </a:xfrm>
          <a:prstGeom prst="rect">
            <a:avLst/>
          </a:prstGeom>
          <a:noFill/>
        </p:spPr>
        <p:txBody>
          <a:bodyPr vert="horz" wrap="square" rtlCol="0">
            <a:noAutofit/>
          </a:bodyPr>
          <a:lstStyle/>
          <a:p>
            <a:pPr>
              <a:spcAft>
                <a:spcPts val="800"/>
              </a:spcAft>
            </a:pPr>
            <a:r>
              <a:rPr lang="it-IT" sz="1725">
                <a:solidFill>
                  <a:srgbClr val="203344"/>
                </a:solidFill>
                <a:latin typeface="Arial" panose="020B0604020202020204" pitchFamily="34" charset="0"/>
              </a:rPr>
              <a:t>Shor riesce al 75% già senza errori.</a:t>
            </a:r>
          </a:p>
          <a:p>
            <a:pPr>
              <a:spcAft>
                <a:spcPts val="800"/>
              </a:spcAft>
            </a:pPr>
            <a:r>
              <a:rPr lang="it-IT" sz="1725">
                <a:solidFill>
                  <a:srgbClr val="203344"/>
                </a:solidFill>
                <a:latin typeface="Arial" panose="020B0604020202020204" pitchFamily="34" charset="0"/>
              </a:rPr>
              <a:t>Sull'hardware reale errori di porta, decoerenza e misura lo abbassano ancora.</a:t>
            </a:r>
          </a:p>
        </p:txBody>
      </p:sp>
      <p:sp>
        <p:nvSpPr>
          <p:cNvPr id="24" name="Rectangle: Rounded Corners 23">
            <a:extLst>
              <a:ext uri="{FF2B5EF4-FFF2-40B4-BE49-F238E27FC236}">
                <a16:creationId xmlns:a16="http://schemas.microsoft.com/office/drawing/2014/main" id="{555842E6-6C5D-B868-4612-2978F031FC3A}"/>
              </a:ext>
            </a:extLst>
          </p:cNvPr>
          <p:cNvSpPr/>
          <p:nvPr/>
        </p:nvSpPr>
        <p:spPr>
          <a:xfrm>
            <a:off x="4381500" y="1905000"/>
            <a:ext cx="3429000" cy="3937000"/>
          </a:xfrm>
          <a:prstGeom prst="roundRect">
            <a:avLst>
              <a:gd name="adj" fmla="val 6000"/>
            </a:avLst>
          </a:prstGeom>
          <a:solidFill>
            <a:srgbClr val="EEF4F8"/>
          </a:solidFill>
          <a:ln w="14288">
            <a:solidFill>
              <a:srgbClr val="5084B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Rectangle 24">
            <a:extLst>
              <a:ext uri="{FF2B5EF4-FFF2-40B4-BE49-F238E27FC236}">
                <a16:creationId xmlns:a16="http://schemas.microsoft.com/office/drawing/2014/main" id="{460D08D6-D801-4D22-47C5-343B22786BFD}"/>
              </a:ext>
            </a:extLst>
          </p:cNvPr>
          <p:cNvSpPr/>
          <p:nvPr/>
        </p:nvSpPr>
        <p:spPr>
          <a:xfrm>
            <a:off x="4584700" y="2108200"/>
            <a:ext cx="508000" cy="508000"/>
          </a:xfrm>
          <a:prstGeom prst="rect">
            <a:avLst/>
          </a:prstGeom>
          <a:solidFill>
            <a:srgbClr val="175F99"/>
          </a:solidFill>
          <a:ln w="19050">
            <a:noFill/>
            <a:prstDash val="solid"/>
          </a:ln>
          <a:effectLst/>
          <a:extLst>
            <a:ext uri="{91240B29-F687-4F45-9708-019B960494DF}">
              <a14:hiddenLine xmlns:a14="http://schemas.microsoft.com/office/drawing/2010/main" w="19050">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b="1">
                <a:solidFill>
                  <a:srgbClr val="FFFFFF"/>
                </a:solidFill>
                <a:latin typeface="Arial" panose="020B0604020202020204" pitchFamily="34" charset="0"/>
              </a:rPr>
              <a:t>2</a:t>
            </a:r>
          </a:p>
        </p:txBody>
      </p:sp>
      <p:sp>
        <p:nvSpPr>
          <p:cNvPr id="26" name="TextBox 25">
            <a:extLst>
              <a:ext uri="{FF2B5EF4-FFF2-40B4-BE49-F238E27FC236}">
                <a16:creationId xmlns:a16="http://schemas.microsoft.com/office/drawing/2014/main" id="{C4BD2BFF-53E9-C722-0C64-F7443124A63F}"/>
              </a:ext>
            </a:extLst>
          </p:cNvPr>
          <p:cNvSpPr txBox="1"/>
          <p:nvPr/>
        </p:nvSpPr>
        <p:spPr>
          <a:xfrm>
            <a:off x="5194300" y="2159000"/>
            <a:ext cx="2476500" cy="369332"/>
          </a:xfrm>
          <a:prstGeom prst="rect">
            <a:avLst/>
          </a:prstGeom>
          <a:noFill/>
        </p:spPr>
        <p:txBody>
          <a:bodyPr vert="horz" wrap="square" rtlCol="0">
            <a:noAutofit/>
          </a:bodyPr>
          <a:lstStyle/>
          <a:p>
            <a:r>
              <a:rPr lang="en-GB" sz="2175" b="1">
                <a:solidFill>
                  <a:srgbClr val="003366"/>
                </a:solidFill>
                <a:latin typeface="Arial" panose="020B0604020202020204" pitchFamily="34" charset="0"/>
              </a:rPr>
              <a:t>Obiettivo</a:t>
            </a:r>
          </a:p>
        </p:txBody>
      </p:sp>
      <p:sp>
        <p:nvSpPr>
          <p:cNvPr id="27" name="TextBox 26">
            <a:extLst>
              <a:ext uri="{FF2B5EF4-FFF2-40B4-BE49-F238E27FC236}">
                <a16:creationId xmlns:a16="http://schemas.microsoft.com/office/drawing/2014/main" id="{F33042A1-D440-C8AD-9BB5-A4BC2AD200EE}"/>
              </a:ext>
            </a:extLst>
          </p:cNvPr>
          <p:cNvSpPr txBox="1"/>
          <p:nvPr/>
        </p:nvSpPr>
        <p:spPr>
          <a:xfrm>
            <a:off x="4533900" y="2794000"/>
            <a:ext cx="3124200" cy="369332"/>
          </a:xfrm>
          <a:prstGeom prst="rect">
            <a:avLst/>
          </a:prstGeom>
          <a:noFill/>
        </p:spPr>
        <p:txBody>
          <a:bodyPr vert="horz" wrap="square" rtlCol="0">
            <a:noAutofit/>
          </a:bodyPr>
          <a:lstStyle/>
          <a:p>
            <a:pPr>
              <a:spcAft>
                <a:spcPts val="800"/>
              </a:spcAft>
            </a:pPr>
            <a:r>
              <a:rPr lang="it-IT" sz="1725">
                <a:solidFill>
                  <a:srgbClr val="203344"/>
                </a:solidFill>
                <a:latin typeface="Arial" panose="020B0604020202020204" pitchFamily="34" charset="0"/>
              </a:rPr>
              <a:t>Simulare questi errori per capire come si comporta Shor,</a:t>
            </a:r>
          </a:p>
          <a:p>
            <a:pPr>
              <a:spcAft>
                <a:spcPts val="800"/>
              </a:spcAft>
            </a:pPr>
            <a:r>
              <a:rPr lang="it-IT" sz="1725">
                <a:solidFill>
                  <a:srgbClr val="203344"/>
                </a:solidFill>
                <a:latin typeface="Arial" panose="020B0604020202020204" pitchFamily="34" charset="0"/>
              </a:rPr>
              <a:t>e trovare strategie che lo rendano più efficace e resiliente.</a:t>
            </a:r>
          </a:p>
        </p:txBody>
      </p:sp>
      <p:sp>
        <p:nvSpPr>
          <p:cNvPr id="28" name="Rectangle: Rounded Corners 27">
            <a:extLst>
              <a:ext uri="{FF2B5EF4-FFF2-40B4-BE49-F238E27FC236}">
                <a16:creationId xmlns:a16="http://schemas.microsoft.com/office/drawing/2014/main" id="{759CAFCD-0A2D-3C97-1661-0E8BF22ABE49}"/>
              </a:ext>
            </a:extLst>
          </p:cNvPr>
          <p:cNvSpPr/>
          <p:nvPr/>
        </p:nvSpPr>
        <p:spPr>
          <a:xfrm>
            <a:off x="8153400" y="1905000"/>
            <a:ext cx="3429000" cy="3937000"/>
          </a:xfrm>
          <a:prstGeom prst="roundRect">
            <a:avLst>
              <a:gd name="adj" fmla="val 6000"/>
            </a:avLst>
          </a:prstGeom>
          <a:solidFill>
            <a:srgbClr val="EEF4F8"/>
          </a:solidFill>
          <a:ln w="14288">
            <a:solidFill>
              <a:srgbClr val="5084B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Rectangle 28">
            <a:extLst>
              <a:ext uri="{FF2B5EF4-FFF2-40B4-BE49-F238E27FC236}">
                <a16:creationId xmlns:a16="http://schemas.microsoft.com/office/drawing/2014/main" id="{D71E0B23-3FE9-DD0B-917B-2FA502E64EB1}"/>
              </a:ext>
            </a:extLst>
          </p:cNvPr>
          <p:cNvSpPr/>
          <p:nvPr/>
        </p:nvSpPr>
        <p:spPr>
          <a:xfrm>
            <a:off x="8356600" y="2108200"/>
            <a:ext cx="508000" cy="508000"/>
          </a:xfrm>
          <a:prstGeom prst="rect">
            <a:avLst/>
          </a:prstGeom>
          <a:solidFill>
            <a:srgbClr val="175F99"/>
          </a:solidFill>
          <a:ln w="19050">
            <a:noFill/>
            <a:prstDash val="solid"/>
          </a:ln>
          <a:effectLst/>
          <a:extLst>
            <a:ext uri="{91240B29-F687-4F45-9708-019B960494DF}">
              <a14:hiddenLine xmlns:a14="http://schemas.microsoft.com/office/drawing/2010/main" w="19050">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b="1">
                <a:solidFill>
                  <a:srgbClr val="FFFFFF"/>
                </a:solidFill>
                <a:latin typeface="Arial" panose="020B0604020202020204" pitchFamily="34" charset="0"/>
              </a:rPr>
              <a:t>3</a:t>
            </a:r>
          </a:p>
        </p:txBody>
      </p:sp>
      <p:sp>
        <p:nvSpPr>
          <p:cNvPr id="30" name="TextBox 29">
            <a:extLst>
              <a:ext uri="{FF2B5EF4-FFF2-40B4-BE49-F238E27FC236}">
                <a16:creationId xmlns:a16="http://schemas.microsoft.com/office/drawing/2014/main" id="{2E190D6B-F540-5CB0-9FE8-22255D524DB2}"/>
              </a:ext>
            </a:extLst>
          </p:cNvPr>
          <p:cNvSpPr txBox="1"/>
          <p:nvPr/>
        </p:nvSpPr>
        <p:spPr>
          <a:xfrm>
            <a:off x="8966200" y="2159000"/>
            <a:ext cx="2476500" cy="369332"/>
          </a:xfrm>
          <a:prstGeom prst="rect">
            <a:avLst/>
          </a:prstGeom>
          <a:noFill/>
        </p:spPr>
        <p:txBody>
          <a:bodyPr vert="horz" wrap="square" rtlCol="0">
            <a:noAutofit/>
          </a:bodyPr>
          <a:lstStyle/>
          <a:p>
            <a:r>
              <a:rPr lang="en-GB" sz="2175" b="1">
                <a:solidFill>
                  <a:srgbClr val="003366"/>
                </a:solidFill>
                <a:latin typeface="Arial" panose="020B0604020202020204" pitchFamily="34" charset="0"/>
              </a:rPr>
              <a:t>Strategie</a:t>
            </a:r>
          </a:p>
        </p:txBody>
      </p:sp>
      <p:sp>
        <p:nvSpPr>
          <p:cNvPr id="31" name="TextBox 30">
            <a:extLst>
              <a:ext uri="{FF2B5EF4-FFF2-40B4-BE49-F238E27FC236}">
                <a16:creationId xmlns:a16="http://schemas.microsoft.com/office/drawing/2014/main" id="{C7069C3B-6869-DCBD-86CB-A65A3CECA421}"/>
              </a:ext>
            </a:extLst>
          </p:cNvPr>
          <p:cNvSpPr txBox="1"/>
          <p:nvPr/>
        </p:nvSpPr>
        <p:spPr>
          <a:xfrm>
            <a:off x="8305800" y="2794000"/>
            <a:ext cx="3124200" cy="369332"/>
          </a:xfrm>
          <a:prstGeom prst="rect">
            <a:avLst/>
          </a:prstGeom>
          <a:noFill/>
        </p:spPr>
        <p:txBody>
          <a:bodyPr vert="horz" wrap="square" rtlCol="0">
            <a:noAutofit/>
          </a:bodyPr>
          <a:lstStyle/>
          <a:p>
            <a:pPr>
              <a:spcAft>
                <a:spcPts val="800"/>
              </a:spcAft>
            </a:pPr>
            <a:r>
              <a:rPr lang="it-IT" sz="1725">
                <a:solidFill>
                  <a:srgbClr val="203344"/>
                </a:solidFill>
                <a:latin typeface="Arial" panose="020B0604020202020204" pitchFamily="34" charset="0"/>
              </a:rPr>
              <a:t>1. Machine learning sui risultati, dopo la misura</a:t>
            </a:r>
          </a:p>
          <a:p>
            <a:pPr>
              <a:spcAft>
                <a:spcPts val="800"/>
              </a:spcAft>
            </a:pPr>
            <a:r>
              <a:rPr lang="it-IT" sz="1725">
                <a:solidFill>
                  <a:srgbClr val="203344"/>
                </a:solidFill>
                <a:latin typeface="Arial" panose="020B0604020202020204" pitchFamily="34" charset="0"/>
              </a:rPr>
              <a:t>2. Correzione quantistica degli errori, durante il calcolo</a:t>
            </a:r>
          </a:p>
          <a:p>
            <a:pPr>
              <a:spcAft>
                <a:spcPts val="800"/>
              </a:spcAft>
            </a:pPr>
            <a:r>
              <a:rPr lang="it-IT" sz="1725">
                <a:solidFill>
                  <a:srgbClr val="203344"/>
                </a:solidFill>
                <a:latin typeface="Arial" panose="020B0604020202020204" pitchFamily="34" charset="0"/>
              </a:rPr>
              <a:t>3. QFT approssimata: meno porte, meno errori</a:t>
            </a:r>
          </a:p>
        </p:txBody>
      </p:sp>
      <p:sp>
        <p:nvSpPr>
          <p:cNvPr id="32" name="TextBox 31">
            <a:extLst>
              <a:ext uri="{FF2B5EF4-FFF2-40B4-BE49-F238E27FC236}">
                <a16:creationId xmlns:a16="http://schemas.microsoft.com/office/drawing/2014/main" id="{74F896F5-2254-1EF9-F5BE-1DC859F7343F}"/>
              </a:ext>
            </a:extLst>
          </p:cNvPr>
          <p:cNvSpPr txBox="1"/>
          <p:nvPr/>
        </p:nvSpPr>
        <p:spPr>
          <a:xfrm>
            <a:off x="609600" y="6070600"/>
            <a:ext cx="10972800" cy="369332"/>
          </a:xfrm>
          <a:prstGeom prst="rect">
            <a:avLst/>
          </a:prstGeom>
          <a:noFill/>
        </p:spPr>
        <p:txBody>
          <a:bodyPr vert="horz" wrap="square" rtlCol="0">
            <a:noAutofit/>
          </a:bodyPr>
          <a:lstStyle/>
          <a:p>
            <a:r>
              <a:rPr lang="it-IT" sz="1950" b="1">
                <a:solidFill>
                  <a:srgbClr val="175F99"/>
                </a:solidFill>
                <a:latin typeface="Arial" panose="020B0604020202020204" pitchFamily="34" charset="0"/>
              </a:rPr>
              <a:t>Per ogni strategia: prima il metodo, subito dopo il risultato.</a:t>
            </a:r>
            <a:endParaRPr lang="en-GB" sz="1950" b="1">
              <a:solidFill>
                <a:srgbClr val="175F99"/>
              </a:solidFill>
              <a:latin typeface="Arial" panose="020B0604020202020204" pitchFamily="34" charset="0"/>
            </a:endParaRPr>
          </a:p>
        </p:txBody>
      </p:sp>
    </p:spTree>
    <p:extLst>
      <p:ext uri="{BB962C8B-B14F-4D97-AF65-F5344CB8AC3E}">
        <p14:creationId xmlns:p14="http://schemas.microsoft.com/office/powerpoint/2010/main" val="90261002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hape 2"/>
          <p:cNvSpPr/>
          <p:nvPr/>
        </p:nvSpPr>
        <p:spPr>
          <a:xfrm>
            <a:off x="609600" y="1422400"/>
            <a:ext cx="2419350" cy="1757660"/>
          </a:xfrm>
          <a:prstGeom prst="roundRect">
            <a:avLst>
              <a:gd name="adj" fmla="val 7226"/>
            </a:avLst>
          </a:prstGeom>
          <a:solidFill>
            <a:srgbClr val="3F73B0"/>
          </a:solidFill>
          <a:ln/>
        </p:spPr>
        <p:txBody>
          <a:bodyPr/>
          <a:lstStyle/>
          <a:p>
            <a:endParaRPr lang="en-GB"/>
          </a:p>
        </p:txBody>
      </p:sp>
      <p:sp>
        <p:nvSpPr>
          <p:cNvPr id="7" name="Text 3"/>
          <p:cNvSpPr/>
          <p:nvPr/>
        </p:nvSpPr>
        <p:spPr>
          <a:xfrm>
            <a:off x="711200" y="1536700"/>
            <a:ext cx="355600" cy="355600"/>
          </a:xfrm>
          <a:prstGeom prst="roundRect">
            <a:avLst>
              <a:gd name="adj" fmla="val 50000"/>
            </a:avLst>
          </a:prstGeom>
          <a:solidFill>
            <a:srgbClr val="FFFFFF"/>
          </a:solidFill>
          <a:ln/>
        </p:spPr>
        <p:txBody>
          <a:bodyPr wrap="square" lIns="0" tIns="0" rIns="0" bIns="0" rtlCol="0" anchor="ctr">
            <a:normAutofit/>
          </a:bodyPr>
          <a:lstStyle/>
          <a:p>
            <a:pPr marL="0" indent="0" algn="ctr">
              <a:lnSpc>
                <a:spcPts val="1800"/>
              </a:lnSpc>
              <a:buNone/>
            </a:pPr>
            <a:r>
              <a:rPr lang="en-US" sz="1800" b="1" dirty="0">
                <a:solidFill>
                  <a:srgbClr val="125C97"/>
                </a:solidFill>
                <a:latin typeface="Arial" pitchFamily="34" charset="0"/>
                <a:ea typeface="Arial" pitchFamily="34" charset="-122"/>
                <a:cs typeface="Arial" pitchFamily="34" charset="-120"/>
              </a:rPr>
              <a:t>1</a:t>
            </a:r>
            <a:endParaRPr lang="en-US" sz="1800" dirty="0"/>
          </a:p>
        </p:txBody>
      </p:sp>
      <p:sp>
        <p:nvSpPr>
          <p:cNvPr id="8" name="Text 4"/>
          <p:cNvSpPr/>
          <p:nvPr/>
        </p:nvSpPr>
        <p:spPr>
          <a:xfrm>
            <a:off x="711200" y="1943100"/>
            <a:ext cx="2282635" cy="6350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FFFFFF"/>
                </a:solidFill>
                <a:latin typeface="Arial" pitchFamily="34" charset="0"/>
                <a:ea typeface="Arial" pitchFamily="34" charset="-122"/>
                <a:cs typeface="Arial" pitchFamily="34" charset="-120"/>
              </a:rPr>
              <a:t>Pre-processing</a:t>
            </a:r>
            <a:endParaRPr lang="en-US" sz="2000" dirty="0"/>
          </a:p>
          <a:p>
            <a:pPr marL="0" indent="0" algn="l">
              <a:lnSpc>
                <a:spcPts val="2400"/>
              </a:lnSpc>
              <a:buNone/>
            </a:pPr>
            <a:r>
              <a:rPr lang="en-US" sz="2000" b="1" dirty="0">
                <a:solidFill>
                  <a:srgbClr val="FFFFFF"/>
                </a:solidFill>
                <a:latin typeface="Arial" pitchFamily="34" charset="0"/>
                <a:ea typeface="Arial" pitchFamily="34" charset="-122"/>
                <a:cs typeface="Arial" pitchFamily="34" charset="-120"/>
              </a:rPr>
              <a:t>classico</a:t>
            </a:r>
            <a:endParaRPr lang="en-US" sz="2000" dirty="0"/>
          </a:p>
        </p:txBody>
      </p:sp>
      <p:sp>
        <p:nvSpPr>
          <p:cNvPr id="9" name="Text 5"/>
          <p:cNvSpPr/>
          <p:nvPr/>
        </p:nvSpPr>
        <p:spPr>
          <a:xfrm>
            <a:off x="711200" y="2603500"/>
            <a:ext cx="2282635" cy="508000"/>
          </a:xfrm>
          <a:prstGeom prst="rect">
            <a:avLst/>
          </a:prstGeom>
          <a:noFill/>
          <a:ln/>
        </p:spPr>
        <p:txBody>
          <a:bodyPr wrap="square" lIns="0" tIns="0" rIns="0" bIns="0" rtlCol="0" anchor="t">
            <a:noAutofit/>
          </a:bodyPr>
          <a:lstStyle/>
          <a:p>
            <a:pPr marL="0" indent="0" algn="l">
              <a:lnSpc>
                <a:spcPts val="1820"/>
              </a:lnSpc>
              <a:buNone/>
            </a:pPr>
            <a:r>
              <a:rPr lang="en-US" sz="1300" dirty="0">
                <a:solidFill>
                  <a:srgbClr val="FFFFFF"/>
                </a:solidFill>
                <a:latin typeface="Arial" pitchFamily="34" charset="0"/>
                <a:ea typeface="Arial" pitchFamily="34" charset="-122"/>
                <a:cs typeface="Arial" pitchFamily="34" charset="-120"/>
              </a:rPr>
              <a:t>base a con MCD(a, N) = 1</a:t>
            </a:r>
            <a:endParaRPr lang="en-US" sz="1300" dirty="0"/>
          </a:p>
        </p:txBody>
      </p:sp>
      <p:pic>
        <p:nvPicPr>
          <p:cNvPr id="10" name="Image 2" descr="arrow-right"/>
          <p:cNvPicPr>
            <a:picLocks noChangeAspect="1"/>
          </p:cNvPicPr>
          <p:nvPr/>
        </p:nvPicPr>
        <p:blipFill>
          <a:blip r:embed="rId3"/>
          <a:srcRect/>
          <a:stretch/>
        </p:blipFill>
        <p:spPr>
          <a:xfrm>
            <a:off x="3105150" y="2212330"/>
            <a:ext cx="279400" cy="177800"/>
          </a:xfrm>
          <a:prstGeom prst="rect">
            <a:avLst/>
          </a:prstGeom>
        </p:spPr>
      </p:pic>
      <p:sp>
        <p:nvSpPr>
          <p:cNvPr id="11" name="Shape 6"/>
          <p:cNvSpPr/>
          <p:nvPr/>
        </p:nvSpPr>
        <p:spPr>
          <a:xfrm>
            <a:off x="3460750" y="1422400"/>
            <a:ext cx="2419350" cy="1757660"/>
          </a:xfrm>
          <a:prstGeom prst="roundRect">
            <a:avLst>
              <a:gd name="adj" fmla="val 7226"/>
            </a:avLst>
          </a:prstGeom>
          <a:solidFill>
            <a:srgbClr val="125C97"/>
          </a:solidFill>
          <a:ln/>
        </p:spPr>
        <p:txBody>
          <a:bodyPr/>
          <a:lstStyle/>
          <a:p>
            <a:endParaRPr lang="en-GB"/>
          </a:p>
        </p:txBody>
      </p:sp>
      <p:sp>
        <p:nvSpPr>
          <p:cNvPr id="12" name="Text 7"/>
          <p:cNvSpPr/>
          <p:nvPr/>
        </p:nvSpPr>
        <p:spPr>
          <a:xfrm>
            <a:off x="3562350" y="1536700"/>
            <a:ext cx="355600" cy="355600"/>
          </a:xfrm>
          <a:prstGeom prst="roundRect">
            <a:avLst>
              <a:gd name="adj" fmla="val 50000"/>
            </a:avLst>
          </a:prstGeom>
          <a:solidFill>
            <a:srgbClr val="FFFFFF"/>
          </a:solidFill>
          <a:ln/>
        </p:spPr>
        <p:txBody>
          <a:bodyPr wrap="square" lIns="0" tIns="0" rIns="0" bIns="0" rtlCol="0" anchor="ctr">
            <a:normAutofit/>
          </a:bodyPr>
          <a:lstStyle/>
          <a:p>
            <a:pPr marL="0" indent="0" algn="ctr">
              <a:lnSpc>
                <a:spcPts val="1800"/>
              </a:lnSpc>
              <a:buNone/>
            </a:pPr>
            <a:r>
              <a:rPr lang="en-US" sz="1800" b="1" dirty="0">
                <a:solidFill>
                  <a:srgbClr val="125C97"/>
                </a:solidFill>
                <a:latin typeface="Arial" pitchFamily="34" charset="0"/>
                <a:ea typeface="Arial" pitchFamily="34" charset="-122"/>
                <a:cs typeface="Arial" pitchFamily="34" charset="-120"/>
              </a:rPr>
              <a:t>2</a:t>
            </a:r>
            <a:endParaRPr lang="en-US" sz="1800" dirty="0"/>
          </a:p>
        </p:txBody>
      </p:sp>
      <p:sp>
        <p:nvSpPr>
          <p:cNvPr id="13" name="Text 8"/>
          <p:cNvSpPr/>
          <p:nvPr/>
        </p:nvSpPr>
        <p:spPr>
          <a:xfrm>
            <a:off x="3562350" y="1943100"/>
            <a:ext cx="2282635" cy="6350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FFFFFF"/>
                </a:solidFill>
                <a:latin typeface="Arial" pitchFamily="34" charset="0"/>
                <a:ea typeface="Arial" pitchFamily="34" charset="-122"/>
                <a:cs typeface="Arial" pitchFamily="34" charset="-120"/>
              </a:rPr>
              <a:t>Ricerca</a:t>
            </a:r>
            <a:endParaRPr lang="en-US" sz="2000" dirty="0"/>
          </a:p>
          <a:p>
            <a:pPr marL="0" indent="0" algn="l">
              <a:lnSpc>
                <a:spcPts val="2400"/>
              </a:lnSpc>
              <a:buNone/>
            </a:pPr>
            <a:r>
              <a:rPr lang="en-US" sz="2000" b="1" dirty="0">
                <a:solidFill>
                  <a:srgbClr val="FFFFFF"/>
                </a:solidFill>
                <a:latin typeface="Arial" pitchFamily="34" charset="0"/>
                <a:ea typeface="Arial" pitchFamily="34" charset="-122"/>
                <a:cs typeface="Arial" pitchFamily="34" charset="-120"/>
              </a:rPr>
              <a:t>del periodo</a:t>
            </a:r>
            <a:endParaRPr lang="en-US" sz="2000" dirty="0"/>
          </a:p>
        </p:txBody>
      </p:sp>
      <p:sp>
        <p:nvSpPr>
          <p:cNvPr id="14" name="Text 9"/>
          <p:cNvSpPr/>
          <p:nvPr/>
        </p:nvSpPr>
        <p:spPr>
          <a:xfrm>
            <a:off x="3562350" y="2603500"/>
            <a:ext cx="2282635" cy="508000"/>
          </a:xfrm>
          <a:prstGeom prst="rect">
            <a:avLst/>
          </a:prstGeom>
          <a:noFill/>
          <a:ln/>
        </p:spPr>
        <p:txBody>
          <a:bodyPr wrap="square" lIns="0" tIns="0" rIns="0" bIns="0" rtlCol="0" anchor="t">
            <a:noAutofit/>
          </a:bodyPr>
          <a:lstStyle/>
          <a:p>
            <a:pPr marL="0" indent="0" algn="l">
              <a:lnSpc>
                <a:spcPts val="1820"/>
              </a:lnSpc>
              <a:buNone/>
            </a:pPr>
            <a:r>
              <a:rPr lang="en-US" sz="1300" dirty="0">
                <a:solidFill>
                  <a:srgbClr val="FFFFFF"/>
                </a:solidFill>
                <a:latin typeface="Arial" pitchFamily="34" charset="0"/>
                <a:ea typeface="Arial" pitchFamily="34" charset="-122"/>
                <a:cs typeface="Arial" pitchFamily="34" charset="-120"/>
              </a:rPr>
              <a:t>esponenziazione modulare e QPE (stima di fase)</a:t>
            </a:r>
            <a:endParaRPr lang="en-US" sz="1300" dirty="0"/>
          </a:p>
        </p:txBody>
      </p:sp>
      <p:pic>
        <p:nvPicPr>
          <p:cNvPr id="15" name="Image 3" descr="arrow-right"/>
          <p:cNvPicPr>
            <a:picLocks noChangeAspect="1"/>
          </p:cNvPicPr>
          <p:nvPr/>
        </p:nvPicPr>
        <p:blipFill>
          <a:blip r:embed="rId3"/>
          <a:srcRect/>
          <a:stretch/>
        </p:blipFill>
        <p:spPr>
          <a:xfrm>
            <a:off x="5956300" y="2212330"/>
            <a:ext cx="279400" cy="177800"/>
          </a:xfrm>
          <a:prstGeom prst="rect">
            <a:avLst/>
          </a:prstGeom>
        </p:spPr>
      </p:pic>
      <p:sp>
        <p:nvSpPr>
          <p:cNvPr id="16" name="Shape 10"/>
          <p:cNvSpPr/>
          <p:nvPr/>
        </p:nvSpPr>
        <p:spPr>
          <a:xfrm>
            <a:off x="6311900" y="1422400"/>
            <a:ext cx="2419350" cy="1757660"/>
          </a:xfrm>
          <a:prstGeom prst="roundRect">
            <a:avLst>
              <a:gd name="adj" fmla="val 7226"/>
            </a:avLst>
          </a:prstGeom>
          <a:solidFill>
            <a:srgbClr val="3F73B0"/>
          </a:solidFill>
          <a:ln/>
        </p:spPr>
        <p:txBody>
          <a:bodyPr/>
          <a:lstStyle/>
          <a:p>
            <a:endParaRPr lang="en-GB"/>
          </a:p>
        </p:txBody>
      </p:sp>
      <p:sp>
        <p:nvSpPr>
          <p:cNvPr id="17" name="Text 11"/>
          <p:cNvSpPr/>
          <p:nvPr/>
        </p:nvSpPr>
        <p:spPr>
          <a:xfrm>
            <a:off x="6413500" y="1536700"/>
            <a:ext cx="355600" cy="355600"/>
          </a:xfrm>
          <a:prstGeom prst="roundRect">
            <a:avLst>
              <a:gd name="adj" fmla="val 50000"/>
            </a:avLst>
          </a:prstGeom>
          <a:solidFill>
            <a:srgbClr val="FFFFFF"/>
          </a:solidFill>
          <a:ln/>
        </p:spPr>
        <p:txBody>
          <a:bodyPr wrap="square" lIns="0" tIns="0" rIns="0" bIns="0" rtlCol="0" anchor="ctr">
            <a:normAutofit/>
          </a:bodyPr>
          <a:lstStyle/>
          <a:p>
            <a:pPr marL="0" indent="0" algn="ctr">
              <a:lnSpc>
                <a:spcPts val="1800"/>
              </a:lnSpc>
              <a:buNone/>
            </a:pPr>
            <a:r>
              <a:rPr lang="en-US" sz="1800" b="1" dirty="0">
                <a:solidFill>
                  <a:srgbClr val="125C97"/>
                </a:solidFill>
                <a:latin typeface="Arial" pitchFamily="34" charset="0"/>
                <a:ea typeface="Arial" pitchFamily="34" charset="-122"/>
                <a:cs typeface="Arial" pitchFamily="34" charset="-120"/>
              </a:rPr>
              <a:t>3</a:t>
            </a:r>
            <a:endParaRPr lang="en-US" sz="1800" dirty="0"/>
          </a:p>
        </p:txBody>
      </p:sp>
      <p:sp>
        <p:nvSpPr>
          <p:cNvPr id="18" name="Text 12"/>
          <p:cNvSpPr/>
          <p:nvPr/>
        </p:nvSpPr>
        <p:spPr>
          <a:xfrm>
            <a:off x="6413500" y="1943100"/>
            <a:ext cx="2282635" cy="6350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FFFFFF"/>
                </a:solidFill>
                <a:latin typeface="Arial" pitchFamily="34" charset="0"/>
                <a:ea typeface="Arial" pitchFamily="34" charset="-122"/>
                <a:cs typeface="Arial" pitchFamily="34" charset="-120"/>
              </a:rPr>
              <a:t>QFT inversa</a:t>
            </a:r>
            <a:endParaRPr lang="en-US" sz="2000" dirty="0"/>
          </a:p>
          <a:p>
            <a:pPr marL="0" indent="0" algn="l">
              <a:lnSpc>
                <a:spcPts val="2400"/>
              </a:lnSpc>
              <a:buNone/>
            </a:pPr>
            <a:r>
              <a:rPr lang="en-US" sz="2000" b="1" dirty="0">
                <a:solidFill>
                  <a:srgbClr val="FFFFFF"/>
                </a:solidFill>
                <a:latin typeface="Arial" pitchFamily="34" charset="0"/>
                <a:ea typeface="Arial" pitchFamily="34" charset="-122"/>
                <a:cs typeface="Arial" pitchFamily="34" charset="-120"/>
              </a:rPr>
              <a:t>e misura</a:t>
            </a:r>
            <a:endParaRPr lang="en-US" sz="2000" dirty="0"/>
          </a:p>
        </p:txBody>
      </p:sp>
      <p:sp>
        <p:nvSpPr>
          <p:cNvPr id="19" name="Text 13"/>
          <p:cNvSpPr/>
          <p:nvPr/>
        </p:nvSpPr>
        <p:spPr>
          <a:xfrm>
            <a:off x="6413500" y="2603500"/>
            <a:ext cx="2282635" cy="508000"/>
          </a:xfrm>
          <a:prstGeom prst="rect">
            <a:avLst/>
          </a:prstGeom>
          <a:noFill/>
          <a:ln/>
        </p:spPr>
        <p:txBody>
          <a:bodyPr wrap="square" lIns="0" tIns="0" rIns="0" bIns="0" rtlCol="0" anchor="t">
            <a:noAutofit/>
          </a:bodyPr>
          <a:lstStyle/>
          <a:p>
            <a:pPr marL="0" indent="0" algn="l">
              <a:lnSpc>
                <a:spcPts val="1820"/>
              </a:lnSpc>
              <a:buNone/>
            </a:pPr>
            <a:r>
              <a:rPr lang="es-ES" sz="1300">
                <a:solidFill>
                  <a:srgbClr val="FFFFFF"/>
                </a:solidFill>
                <a:latin typeface="Arial" pitchFamily="34" charset="0"/>
                <a:ea typeface="Arial" pitchFamily="34" charset="-122"/>
                <a:cs typeface="Arial" pitchFamily="34" charset="-120"/>
              </a:rPr>
              <a:t>esito y: y / </a:t>
            </a:r>
            <a:r>
              <a:rPr lang="es-ES" sz="1300">
                <a:solidFill>
                  <a:srgbClr val="FFFFFF"/>
                </a:solidFill>
                <a:latin typeface="Arial" pitchFamily="34" charset="0"/>
                <a:ea typeface="Arial" pitchFamily="34" charset="-122"/>
                <a:cs typeface="Arial" pitchFamily="34" charset="-120"/>
              </a:rPr>
              <a:t>2</a:t>
            </a:r>
            <a:r>
              <a:rPr lang="es-ES" sz="1300" baseline="30000">
                <a:solidFill>
                  <a:srgbClr val="FFFFFF"/>
                </a:solidFill>
                <a:latin typeface="Arial" pitchFamily="34" charset="0"/>
                <a:ea typeface="Arial" pitchFamily="34" charset="-122"/>
                <a:cs typeface="Arial" pitchFamily="34" charset="-120"/>
              </a:rPr>
              <a:t>m</a:t>
            </a:r>
            <a:r>
              <a:rPr lang="es-ES" sz="1300">
                <a:solidFill>
                  <a:srgbClr val="FFFFFF"/>
                </a:solidFill>
                <a:latin typeface="Arial" pitchFamily="34" charset="0"/>
                <a:ea typeface="Arial" pitchFamily="34" charset="-122"/>
                <a:cs typeface="Arial" pitchFamily="34" charset="-120"/>
              </a:rPr>
              <a:t> ≈ s / r</a:t>
            </a:r>
            <a:endParaRPr lang="en-US" sz="1300" dirty="0"/>
          </a:p>
        </p:txBody>
      </p:sp>
      <p:pic>
        <p:nvPicPr>
          <p:cNvPr id="20" name="Image 4" descr="arrow-right"/>
          <p:cNvPicPr>
            <a:picLocks noChangeAspect="1"/>
          </p:cNvPicPr>
          <p:nvPr/>
        </p:nvPicPr>
        <p:blipFill>
          <a:blip r:embed="rId3"/>
          <a:srcRect/>
          <a:stretch/>
        </p:blipFill>
        <p:spPr>
          <a:xfrm>
            <a:off x="8807450" y="2212330"/>
            <a:ext cx="279400" cy="177800"/>
          </a:xfrm>
          <a:prstGeom prst="rect">
            <a:avLst/>
          </a:prstGeom>
        </p:spPr>
      </p:pic>
      <p:sp>
        <p:nvSpPr>
          <p:cNvPr id="21" name="Shape 14"/>
          <p:cNvSpPr/>
          <p:nvPr/>
        </p:nvSpPr>
        <p:spPr>
          <a:xfrm>
            <a:off x="9163050" y="1422400"/>
            <a:ext cx="2419350" cy="1757660"/>
          </a:xfrm>
          <a:prstGeom prst="roundRect">
            <a:avLst>
              <a:gd name="adj" fmla="val 7226"/>
            </a:avLst>
          </a:prstGeom>
          <a:solidFill>
            <a:srgbClr val="125C97"/>
          </a:solidFill>
          <a:ln/>
        </p:spPr>
        <p:txBody>
          <a:bodyPr/>
          <a:lstStyle/>
          <a:p>
            <a:endParaRPr lang="en-GB"/>
          </a:p>
        </p:txBody>
      </p:sp>
      <p:sp>
        <p:nvSpPr>
          <p:cNvPr id="22" name="Text 15"/>
          <p:cNvSpPr/>
          <p:nvPr/>
        </p:nvSpPr>
        <p:spPr>
          <a:xfrm>
            <a:off x="9264650" y="1536700"/>
            <a:ext cx="355600" cy="355600"/>
          </a:xfrm>
          <a:prstGeom prst="roundRect">
            <a:avLst>
              <a:gd name="adj" fmla="val 50000"/>
            </a:avLst>
          </a:prstGeom>
          <a:solidFill>
            <a:srgbClr val="FFFFFF"/>
          </a:solidFill>
          <a:ln/>
        </p:spPr>
        <p:txBody>
          <a:bodyPr wrap="square" lIns="0" tIns="0" rIns="0" bIns="0" rtlCol="0" anchor="ctr">
            <a:normAutofit/>
          </a:bodyPr>
          <a:lstStyle/>
          <a:p>
            <a:pPr marL="0" indent="0" algn="ctr">
              <a:lnSpc>
                <a:spcPts val="1800"/>
              </a:lnSpc>
              <a:buNone/>
            </a:pPr>
            <a:r>
              <a:rPr lang="en-US" sz="1800" b="1" dirty="0">
                <a:solidFill>
                  <a:srgbClr val="125C97"/>
                </a:solidFill>
                <a:latin typeface="Arial" pitchFamily="34" charset="0"/>
                <a:ea typeface="Arial" pitchFamily="34" charset="-122"/>
                <a:cs typeface="Arial" pitchFamily="34" charset="-120"/>
              </a:rPr>
              <a:t>4</a:t>
            </a:r>
            <a:endParaRPr lang="en-US" sz="1800" dirty="0"/>
          </a:p>
        </p:txBody>
      </p:sp>
      <p:sp>
        <p:nvSpPr>
          <p:cNvPr id="23" name="Text 16"/>
          <p:cNvSpPr/>
          <p:nvPr/>
        </p:nvSpPr>
        <p:spPr>
          <a:xfrm>
            <a:off x="9264650" y="1943100"/>
            <a:ext cx="2282635" cy="6350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FFFFFF"/>
                </a:solidFill>
                <a:latin typeface="Arial" pitchFamily="34" charset="0"/>
                <a:ea typeface="Arial" pitchFamily="34" charset="-122"/>
                <a:cs typeface="Arial" pitchFamily="34" charset="-120"/>
              </a:rPr>
              <a:t>Post-processing</a:t>
            </a:r>
            <a:endParaRPr lang="en-US" sz="2000" dirty="0"/>
          </a:p>
          <a:p>
            <a:pPr marL="0" indent="0" algn="l">
              <a:lnSpc>
                <a:spcPts val="2400"/>
              </a:lnSpc>
              <a:buNone/>
            </a:pPr>
            <a:r>
              <a:rPr lang="en-US" sz="2000" b="1" dirty="0">
                <a:solidFill>
                  <a:srgbClr val="FFFFFF"/>
                </a:solidFill>
                <a:latin typeface="Arial" pitchFamily="34" charset="0"/>
                <a:ea typeface="Arial" pitchFamily="34" charset="-122"/>
                <a:cs typeface="Arial" pitchFamily="34" charset="-120"/>
              </a:rPr>
              <a:t>classico</a:t>
            </a:r>
            <a:endParaRPr lang="en-US" sz="2000" dirty="0"/>
          </a:p>
        </p:txBody>
      </p:sp>
      <p:sp>
        <p:nvSpPr>
          <p:cNvPr id="24" name="Text 17"/>
          <p:cNvSpPr/>
          <p:nvPr/>
        </p:nvSpPr>
        <p:spPr>
          <a:xfrm>
            <a:off x="9264650" y="2603500"/>
            <a:ext cx="2282635" cy="508000"/>
          </a:xfrm>
          <a:prstGeom prst="rect">
            <a:avLst/>
          </a:prstGeom>
          <a:noFill/>
          <a:ln/>
        </p:spPr>
        <p:txBody>
          <a:bodyPr wrap="square" lIns="0" tIns="0" rIns="0" bIns="0" rtlCol="0" anchor="t">
            <a:noAutofit/>
          </a:bodyPr>
          <a:lstStyle/>
          <a:p>
            <a:pPr marL="0" indent="0" algn="l">
              <a:lnSpc>
                <a:spcPts val="1820"/>
              </a:lnSpc>
              <a:buNone/>
            </a:pPr>
            <a:r>
              <a:rPr lang="en-US" sz="1300">
                <a:solidFill>
                  <a:srgbClr val="FFFFFF"/>
                </a:solidFill>
                <a:latin typeface="Arial" pitchFamily="34" charset="0"/>
                <a:ea typeface="Arial" pitchFamily="34" charset="-122"/>
                <a:cs typeface="Arial" pitchFamily="34" charset="-120"/>
              </a:rPr>
              <a:t>frazioni continue e MCD</a:t>
            </a:r>
            <a:endParaRPr lang="en-US" sz="1300" dirty="0"/>
          </a:p>
        </p:txBody>
      </p:sp>
      <p:pic>
        <p:nvPicPr>
          <p:cNvPr id="25" name="Image 5" descr="Grafico di 7^x mod 15 per x da 0 a 11: la sequenza 1, 7, 4, 13 si ripete ogni quattro valori"/>
          <p:cNvPicPr>
            <a:picLocks noChangeAspect="1"/>
          </p:cNvPicPr>
          <p:nvPr/>
        </p:nvPicPr>
        <p:blipFill>
          <a:blip r:embed="rId4"/>
          <a:srcRect t="-50" b="-50"/>
          <a:stretch/>
        </p:blipFill>
        <p:spPr>
          <a:xfrm>
            <a:off x="609600" y="3350000"/>
            <a:ext cx="4900000" cy="1592500"/>
          </a:xfrm>
          <a:prstGeom prst="rect">
            <a:avLst/>
          </a:prstGeom>
        </p:spPr>
      </p:pic>
      <p:sp>
        <p:nvSpPr>
          <p:cNvPr id="26" name="Text 18"/>
          <p:cNvSpPr/>
          <p:nvPr/>
        </p:nvSpPr>
        <p:spPr>
          <a:xfrm>
            <a:off x="609600" y="5050000"/>
            <a:ext cx="5100000" cy="700000"/>
          </a:xfrm>
          <a:prstGeom prst="rect">
            <a:avLst/>
          </a:prstGeom>
          <a:noFill/>
          <a:ln/>
        </p:spPr>
        <p:txBody>
          <a:bodyPr wrap="square" lIns="0" tIns="0" rIns="0" bIns="0" rtlCol="0" anchor="t">
            <a:normAutofit fontScale="77500" lnSpcReduction="20000"/>
          </a:bodyPr>
          <a:lstStyle/>
          <a:p>
            <a:pPr marL="0" indent="0" algn="l">
              <a:lnSpc>
                <a:spcPts val="2600"/>
              </a:lnSpc>
              <a:buNone/>
            </a:pPr>
            <a:r>
              <a:rPr lang="en-US" sz="2000" dirty="0">
                <a:solidFill>
                  <a:srgbClr val="1F2933"/>
                </a:solidFill>
                <a:latin typeface="Arial" pitchFamily="34" charset="0"/>
                <a:ea typeface="Arial" pitchFamily="34" charset="-122"/>
                <a:cs typeface="Arial" pitchFamily="34" charset="-120"/>
              </a:rPr>
              <a:t>N da fattorizzare, a base coprima con N, r periodo di </a:t>
            </a:r>
            <a:r>
              <a:rPr lang="en-US" sz="2000" dirty="0">
                <a:solidFill>
                  <a:srgbClr val="1F2933"/>
                </a:solidFill>
                <a:latin typeface="Arial" pitchFamily="34" charset="0"/>
                <a:ea typeface="Arial" pitchFamily="34" charset="-122"/>
                <a:cs typeface="Arial" pitchFamily="34" charset="-120"/>
              </a:rPr>
              <a:t>a</a:t>
            </a:r>
            <a:r>
              <a:rPr lang="en-US" sz="2000" dirty="0" baseline="30000">
                <a:solidFill>
                  <a:srgbClr val="1F2933"/>
                </a:solidFill>
                <a:latin typeface="Arial" pitchFamily="34" charset="0"/>
                <a:ea typeface="Arial" pitchFamily="34" charset="-122"/>
                <a:cs typeface="Arial" pitchFamily="34" charset="-120"/>
              </a:rPr>
              <a:t>x</a:t>
            </a:r>
            <a:r>
              <a:rPr lang="en-US" sz="2000" dirty="0">
                <a:solidFill>
                  <a:srgbClr val="1F2933"/>
                </a:solidFill>
                <a:latin typeface="Arial" pitchFamily="34" charset="0"/>
                <a:ea typeface="Arial" pitchFamily="34" charset="-122"/>
                <a:cs typeface="Arial" pitchFamily="34" charset="-120"/>
              </a:rPr>
              <a:t> mod N. Con N = 15 e a = 7, </a:t>
            </a:r>
            <a:r>
              <a:rPr lang="en-US" sz="2000" dirty="0">
                <a:solidFill>
                  <a:srgbClr val="1F2933"/>
                </a:solidFill>
                <a:latin typeface="Arial" pitchFamily="34" charset="0"/>
                <a:ea typeface="Arial" pitchFamily="34" charset="-122"/>
                <a:cs typeface="Arial" pitchFamily="34" charset="-120"/>
              </a:rPr>
              <a:t>7</a:t>
            </a:r>
            <a:r>
              <a:rPr lang="en-US" sz="2000" dirty="0" baseline="30000">
                <a:solidFill>
                  <a:srgbClr val="1F2933"/>
                </a:solidFill>
                <a:latin typeface="Arial" pitchFamily="34" charset="0"/>
                <a:ea typeface="Arial" pitchFamily="34" charset="-122"/>
                <a:cs typeface="Arial" pitchFamily="34" charset="-120"/>
              </a:rPr>
              <a:t>x</a:t>
            </a:r>
            <a:r>
              <a:rPr lang="en-US" sz="2000" dirty="0">
                <a:solidFill>
                  <a:srgbClr val="1F2933"/>
                </a:solidFill>
                <a:latin typeface="Arial" pitchFamily="34" charset="0"/>
                <a:ea typeface="Arial" pitchFamily="34" charset="-122"/>
                <a:cs typeface="Arial" pitchFamily="34" charset="-120"/>
              </a:rPr>
              <a:t> mod 15 si ripete ogni 4 valori: </a:t>
            </a:r>
            <a:r>
              <a:rPr lang="en-US" sz="2000" b="1" dirty="0">
                <a:solidFill>
                  <a:srgbClr val="1F2933"/>
                </a:solidFill>
                <a:latin typeface="Arial" pitchFamily="34" charset="0"/>
                <a:ea typeface="Arial" pitchFamily="34" charset="-122"/>
                <a:cs typeface="Arial" pitchFamily="34" charset="-120"/>
              </a:rPr>
              <a:t>r = 4</a:t>
            </a:r>
            <a:r>
              <a:rPr lang="en-US" sz="2000" dirty="0">
                <a:solidFill>
                  <a:srgbClr val="1F2933"/>
                </a:solidFill>
                <a:latin typeface="Arial" pitchFamily="34" charset="0"/>
                <a:ea typeface="Arial" pitchFamily="34" charset="-122"/>
                <a:cs typeface="Arial" pitchFamily="34" charset="-120"/>
              </a:rPr>
              <a:t>, da cui </a:t>
            </a:r>
            <a:r>
              <a:rPr lang="en-US" sz="2000" b="1" dirty="0">
                <a:solidFill>
                  <a:srgbClr val="1F2933"/>
                </a:solidFill>
                <a:latin typeface="Arial" pitchFamily="34" charset="0"/>
                <a:ea typeface="Arial" pitchFamily="34" charset="-122"/>
                <a:cs typeface="Arial" pitchFamily="34" charset="-120"/>
              </a:rPr>
              <a:t>15 = 3 × 5</a:t>
            </a:r>
            <a:r>
              <a:rPr lang="en-US" sz="2000" dirty="0">
                <a:solidFill>
                  <a:srgbClr val="1F2933"/>
                </a:solidFill>
                <a:latin typeface="Arial" pitchFamily="34" charset="0"/>
                <a:ea typeface="Arial" pitchFamily="34" charset="-122"/>
                <a:cs typeface="Arial" pitchFamily="34" charset="-120"/>
              </a:rPr>
              <a:t>.</a:t>
            </a:r>
            <a:endParaRPr lang="en-US" sz="2000" dirty="0"/>
          </a:p>
        </p:txBody>
      </p:sp>
      <p:sp>
        <p:nvSpPr>
          <p:cNvPr id="31" name="Rectangle 30">
            <a:extLst>
              <a:ext uri="{FF2B5EF4-FFF2-40B4-BE49-F238E27FC236}">
                <a16:creationId xmlns:a16="http://schemas.microsoft.com/office/drawing/2014/main" id="{8936EAE4-D3F4-CE9C-7102-79F539B5E879}"/>
              </a:ext>
            </a:extLst>
          </p:cNvPr>
          <p:cNvSpPr>
            <a:spLocks noGrp="1"/>
          </p:cNvSpPr>
          <p:nvPr/>
        </p:nvSpPr>
        <p:spPr>
          <a:xfrm>
            <a:off x="609600" y="400050"/>
            <a:ext cx="9906000" cy="619125"/>
          </a:xfrm>
          <a:prstGeom prst="rect">
            <a:avLst/>
          </a:prstGeom>
          <a:noFill/>
          <a:ln w="0">
            <a:noFill/>
          </a:ln>
        </p:spPr>
        <p:txBody>
          <a:bodyPr>
            <a:noAutofit/>
          </a:bodyPr>
          <a:lstStyle/>
          <a:p>
            <a:pPr>
              <a:defRPr sz="2700" b="0">
                <a:solidFill>
                  <a:srgbClr val="003366"/>
                </a:solidFill>
                <a:latin typeface="Arial"/>
                <a:ea typeface="Arial"/>
                <a:cs typeface="Arial"/>
              </a:defRPr>
            </a:pPr>
            <a:r>
              <a:rPr lang="it-IT" sz="2700" b="0">
                <a:solidFill>
                  <a:srgbClr val="003366"/>
                </a:solidFill>
                <a:latin typeface="Arial"/>
                <a:ea typeface="Arial"/>
                <a:cs typeface="Arial"/>
              </a:rPr>
              <a:t>Come funziona Shor, e cosa gli fa il rumore</a:t>
            </a:r>
            <a:endParaRPr sz="2700" b="0">
              <a:solidFill>
                <a:srgbClr val="003366"/>
              </a:solidFill>
              <a:latin typeface="Arial"/>
              <a:ea typeface="Arial"/>
              <a:cs typeface="Arial"/>
            </a:endParaRPr>
          </a:p>
        </p:txBody>
      </p:sp>
      <p:pic>
        <p:nvPicPr>
          <p:cNvPr id="32" name="Picture 31">
            <a:extLst>
              <a:ext uri="{FF2B5EF4-FFF2-40B4-BE49-F238E27FC236}">
                <a16:creationId xmlns:a16="http://schemas.microsoft.com/office/drawing/2014/main" id="{51215FA5-569D-E798-EB49-460B98022349}"/>
              </a:ext>
            </a:extLst>
          </p:cNvPr>
          <p:cNvPicPr>
            <a:picLocks noChangeAspect="1"/>
          </p:cNvPicPr>
          <p:nvPr/>
        </p:nvPicPr>
        <p:blipFill>
          <a:blip r:embed="rId6"/>
          <a:stretch/>
        </p:blipFill>
        <p:spPr>
          <a:xfrm>
            <a:off x="10896600" y="243116"/>
            <a:ext cx="838200" cy="694869"/>
          </a:xfrm>
          <a:prstGeom prst="rect">
            <a:avLst/>
          </a:prstGeom>
        </p:spPr>
      </p:pic>
      <p:sp>
        <p:nvSpPr>
          <p:cNvPr id="33" name="Rectangle 32">
            <a:extLst>
              <a:ext uri="{FF2B5EF4-FFF2-40B4-BE49-F238E27FC236}">
                <a16:creationId xmlns:a16="http://schemas.microsoft.com/office/drawing/2014/main" id="{13330CE6-81CE-3B3E-6A94-7253F8038753}"/>
              </a:ext>
            </a:extLst>
          </p:cNvPr>
          <p:cNvSpPr>
            <a:spLocks noGrp="1"/>
          </p:cNvSpPr>
          <p:nvPr/>
        </p:nvSpPr>
        <p:spPr>
          <a:xfrm>
            <a:off x="609600" y="1095375"/>
            <a:ext cx="10096500" cy="19050"/>
          </a:xfrm>
          <a:prstGeom prst="rect">
            <a:avLst/>
          </a:prstGeom>
          <a:solidFill>
            <a:srgbClr val="5084BF"/>
          </a:solidFill>
          <a:ln w="0">
            <a:noFill/>
          </a:ln>
        </p:spPr>
        <p:txBody>
          <a:bodyPr/>
          <a:lstStyle/>
          <a:p>
            <a:endParaRPr lang="en-GB"/>
          </a:p>
        </p:txBody>
      </p:sp>
      <p:sp>
        <p:nvSpPr>
          <p:cNvPr id="34" name="Rectangle 33">
            <a:extLst>
              <a:ext uri="{FF2B5EF4-FFF2-40B4-BE49-F238E27FC236}">
                <a16:creationId xmlns:a16="http://schemas.microsoft.com/office/drawing/2014/main" id="{5D040118-4907-CF50-04A9-BED2E35E4273}"/>
              </a:ext>
            </a:extLst>
          </p:cNvPr>
          <p:cNvSpPr>
            <a:spLocks noGrp="1"/>
          </p:cNvSpPr>
          <p:nvPr/>
        </p:nvSpPr>
        <p:spPr>
          <a:xfrm>
            <a:off x="7477125" y="828675"/>
            <a:ext cx="3228975" cy="219075"/>
          </a:xfrm>
          <a:prstGeom prst="rect">
            <a:avLst/>
          </a:prstGeom>
          <a:noFill/>
          <a:ln w="0">
            <a:noFill/>
          </a:ln>
        </p:spPr>
        <p:txBody>
          <a:bodyPr rIns="0">
            <a:noAutofit/>
          </a:bodyPr>
          <a:lstStyle/>
          <a:p>
            <a:pPr algn="r">
              <a:defRPr sz="1200" b="0">
                <a:solidFill>
                  <a:srgbClr val="203344"/>
                </a:solidFill>
                <a:latin typeface="Arial"/>
                <a:ea typeface="Arial"/>
                <a:cs typeface="Arial"/>
              </a:defRPr>
            </a:pPr>
            <a:r>
              <a:rPr lang="it-IT" sz="1200" b="0">
                <a:solidFill>
                  <a:srgbClr val="203344"/>
                </a:solidFill>
                <a:latin typeface="Arial"/>
                <a:ea typeface="Arial"/>
                <a:cs typeface="Arial"/>
              </a:rPr>
              <a:t>Introduzione | 3</a:t>
            </a:r>
            <a:endParaRPr sz="1200" b="0">
              <a:solidFill>
                <a:srgbClr val="203344"/>
              </a:solidFill>
              <a:latin typeface="Arial"/>
              <a:ea typeface="Arial"/>
              <a:cs typeface="Arial"/>
            </a:endParaRPr>
          </a:p>
        </p:txBody>
      </p:sp>
      <p:pic>
        <p:nvPicPr>
          <p:cNvPr id="13" name="Picture 12" descr="v2_s13_shor_successo_vs_pg.png"/>
          <p:cNvPicPr>
            <a:picLocks noChangeAspect="1"/>
          </p:cNvPicPr>
          <p:nvPr/>
        </p:nvPicPr>
        <p:blipFill>
          <a:blip r:embed="rId7"/>
          <a:stretch>
            <a:fillRect/>
          </a:stretch>
        </p:blipFill>
        <p:spPr>
          <a:xfrm>
            <a:off x="6936569" y="3350000"/>
            <a:ext cx="3809260" cy="2450000"/>
          </a:xfrm>
          <a:prstGeom prst="rect">
            <a:avLst/>
          </a:prstGeom>
        </p:spPr>
      </p:pic>
      <p:sp>
        <p:nvSpPr>
          <p:cNvPr id="26" name="Text 18"/>
          <p:cNvSpPr/>
          <p:nvPr/>
        </p:nvSpPr>
        <p:spPr>
          <a:xfrm>
            <a:off x="6100000" y="5900000"/>
            <a:ext cx="5482400" cy="700000"/>
          </a:xfrm>
          <a:prstGeom prst="rect">
            <a:avLst/>
          </a:prstGeom>
          <a:noFill/>
          <a:ln/>
        </p:spPr>
        <p:txBody>
          <a:bodyPr wrap="square" lIns="0" tIns="0" rIns="0" bIns="0" rtlCol="0" anchor="t">
            <a:normAutofit fontScale="77500" lnSpcReduction="20000"/>
          </a:bodyPr>
          <a:lstStyle/>
          <a:p>
            <a:pPr marL="0" indent="0" algn="l">
              <a:lnSpc>
                <a:spcPts val="2600"/>
              </a:lnSpc>
              <a:buNone/>
            </a:pPr>
            <a:r>
              <a:rPr lang="en-US" sz="2000" dirty="0">
                <a:solidFill>
                  <a:srgbClr val="1F2933"/>
                </a:solidFill>
                <a:latin typeface="Arial" pitchFamily="34" charset="0"/>
                <a:ea typeface="Arial" pitchFamily="34" charset="-122"/>
                <a:cs typeface="Arial" pitchFamily="34" charset="-120"/>
              </a:rPr>
              <a:t>Con il rumore: 74,89% senza errori, 56,5% con l'1% di errore per porta; oltre il 10% Shor è al livello del caso (24,6%).</a:t>
            </a:r>
          </a:p>
        </p:txBody>
      </p:sp>
    </p:spTree>
    <p:extLst>
      <p:ext uri="{BB962C8B-B14F-4D97-AF65-F5344CB8AC3E}">
        <p14:creationId xmlns:p14="http://schemas.microsoft.com/office/powerpoint/2010/main" val="4136590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cxnSp>
        <p:nvCxnSpPr>
          <p:cNvPr id="23" name="Straight Connector 22">
            <a:extLst>
              <a:ext uri="{FF2B5EF4-FFF2-40B4-BE49-F238E27FC236}">
                <a16:creationId xmlns:a16="http://schemas.microsoft.com/office/drawing/2014/main" id="{CDE1CEA5-D38D-13AD-8C1D-B082F56983AE}"/>
              </a:ext>
            </a:extLst>
          </p:cNvPr>
          <p:cNvCxnSpPr/>
          <p:nvPr/>
        </p:nvCxnSpPr>
        <p:spPr>
          <a:xfrm>
            <a:off x="10096500" y="3937000"/>
            <a:ext cx="0" cy="254000"/>
          </a:xfrm>
          <a:prstGeom prst="line">
            <a:avLst/>
          </a:prstGeom>
          <a:ln w="22225">
            <a:solidFill>
              <a:srgbClr val="6B4FA0"/>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5FB078F3-1E38-1156-C358-FBCEF54B21FD}"/>
              </a:ext>
            </a:extLst>
          </p:cNvPr>
          <p:cNvCxnSpPr/>
          <p:nvPr/>
        </p:nvCxnSpPr>
        <p:spPr>
          <a:xfrm>
            <a:off x="10096500" y="2616200"/>
            <a:ext cx="0" cy="381000"/>
          </a:xfrm>
          <a:prstGeom prst="line">
            <a:avLst/>
          </a:prstGeom>
          <a:ln w="22225">
            <a:solidFill>
              <a:srgbClr val="6B4FA0"/>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85DFDC7D-D9C4-A354-277B-AC1BD6237B5B}"/>
              </a:ext>
            </a:extLst>
          </p:cNvPr>
          <p:cNvCxnSpPr/>
          <p:nvPr/>
        </p:nvCxnSpPr>
        <p:spPr>
          <a:xfrm>
            <a:off x="7404100" y="2616200"/>
            <a:ext cx="0" cy="1574800"/>
          </a:xfrm>
          <a:prstGeom prst="line">
            <a:avLst/>
          </a:prstGeom>
          <a:ln w="22225">
            <a:solidFill>
              <a:srgbClr val="6B4FA0"/>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87C54456-225C-9E0A-3038-DD3974C96199}"/>
              </a:ext>
            </a:extLst>
          </p:cNvPr>
          <p:cNvCxnSpPr/>
          <p:nvPr/>
        </p:nvCxnSpPr>
        <p:spPr>
          <a:xfrm>
            <a:off x="4711700" y="2616200"/>
            <a:ext cx="0" cy="381000"/>
          </a:xfrm>
          <a:prstGeom prst="line">
            <a:avLst/>
          </a:prstGeom>
          <a:ln w="22225">
            <a:solidFill>
              <a:srgbClr val="6B4FA0"/>
            </a:solidFill>
          </a:ln>
        </p:spPr>
        <p:style>
          <a:lnRef idx="1">
            <a:schemeClr val="accent1"/>
          </a:lnRef>
          <a:fillRef idx="0">
            <a:schemeClr val="accent1"/>
          </a:fillRef>
          <a:effectRef idx="0">
            <a:schemeClr val="accent1"/>
          </a:effectRef>
          <a:fontRef idx="minor">
            <a:schemeClr val="tx1"/>
          </a:fontRef>
        </p:style>
      </p:cxnSp>
      <p:sp>
        <p:nvSpPr>
          <p:cNvPr id="18" name="Rectangle 17">
            <a:extLst>
              <a:ext uri="{FF2B5EF4-FFF2-40B4-BE49-F238E27FC236}">
                <a16:creationId xmlns:a16="http://schemas.microsoft.com/office/drawing/2014/main" id="{993C3B39-6012-409D-8C55-2E1E8048285C}"/>
              </a:ext>
            </a:extLst>
          </p:cNvPr>
          <p:cNvSpPr>
            <a:spLocks noGrp="1"/>
          </p:cNvSpPr>
          <p:nvPr/>
        </p:nvSpPr>
        <p:spPr>
          <a:xfrm>
            <a:off x="609600" y="400050"/>
            <a:ext cx="9906000" cy="619125"/>
          </a:xfrm>
          <a:prstGeom prst="rect">
            <a:avLst/>
          </a:prstGeom>
          <a:noFill/>
          <a:ln w="0">
            <a:noFill/>
          </a:ln>
        </p:spPr>
        <p:txBody>
          <a:bodyPr>
            <a:noAutofit/>
          </a:bodyPr>
          <a:lstStyle/>
          <a:p>
            <a:pPr>
              <a:defRPr sz="2700" b="0">
                <a:solidFill>
                  <a:srgbClr val="003366"/>
                </a:solidFill>
                <a:latin typeface="Arial"/>
                <a:ea typeface="Arial"/>
                <a:cs typeface="Arial"/>
              </a:defRPr>
            </a:pPr>
            <a:r>
              <a:rPr lang="it-IT" sz="2700" b="0">
                <a:solidFill>
                  <a:srgbClr val="003366"/>
                </a:solidFill>
                <a:latin typeface="Arial"/>
                <a:ea typeface="Arial"/>
                <a:cs typeface="Arial"/>
              </a:rPr>
              <a:t>Obiettivi: dove interviene ciascuna strategia</a:t>
            </a:r>
            <a:endParaRPr sz="2700" b="0">
              <a:solidFill>
                <a:srgbClr val="003366"/>
              </a:solidFill>
              <a:latin typeface="Arial"/>
              <a:ea typeface="Arial"/>
              <a:cs typeface="Arial"/>
            </a:endParaRPr>
          </a:p>
        </p:txBody>
      </p:sp>
      <p:pic>
        <p:nvPicPr>
          <p:cNvPr id="19" name="Picture 18"/>
          <p:cNvPicPr>
            <a:picLocks noChangeAspect="1"/>
          </p:cNvPicPr>
          <p:nvPr/>
        </p:nvPicPr>
        <p:blipFill>
          <a:blip r:embed="rId3"/>
          <a:stretch/>
        </p:blipFill>
        <p:spPr>
          <a:xfrm>
            <a:off x="10896600" y="243116"/>
            <a:ext cx="838200" cy="694869"/>
          </a:xfrm>
          <a:prstGeom prst="rect">
            <a:avLst/>
          </a:prstGeom>
        </p:spPr>
      </p:pic>
      <p:sp>
        <p:nvSpPr>
          <p:cNvPr id="3" name="Rectangle 2">
            <a:extLst>
              <a:ext uri="{FF2B5EF4-FFF2-40B4-BE49-F238E27FC236}">
                <a16:creationId xmlns:a16="http://schemas.microsoft.com/office/drawing/2014/main" id="{782AFE8A-0115-4407-BDA2-396C170A0820}"/>
              </a:ext>
            </a:extLst>
          </p:cNvPr>
          <p:cNvSpPr>
            <a:spLocks noGrp="1"/>
          </p:cNvSpPr>
          <p:nvPr/>
        </p:nvSpPr>
        <p:spPr>
          <a:xfrm>
            <a:off x="609600" y="1095375"/>
            <a:ext cx="10096500" cy="19050"/>
          </a:xfrm>
          <a:prstGeom prst="rect">
            <a:avLst/>
          </a:prstGeom>
          <a:solidFill>
            <a:srgbClr val="5084BF"/>
          </a:solidFill>
          <a:ln w="0">
            <a:noFill/>
          </a:ln>
        </p:spPr>
        <p:txBody>
          <a:bodyPr/>
          <a:lstStyle/>
          <a:p>
            <a:endParaRPr lang="en-GB"/>
          </a:p>
        </p:txBody>
      </p:sp>
      <p:sp>
        <p:nvSpPr>
          <p:cNvPr id="4" name="Rectangle 3">
            <a:extLst>
              <a:ext uri="{FF2B5EF4-FFF2-40B4-BE49-F238E27FC236}">
                <a16:creationId xmlns:a16="http://schemas.microsoft.com/office/drawing/2014/main" id="{FBD900CC-09C6-4AFF-B224-9EC736B42A92}"/>
              </a:ext>
            </a:extLst>
          </p:cNvPr>
          <p:cNvSpPr>
            <a:spLocks noGrp="1"/>
          </p:cNvSpPr>
          <p:nvPr/>
        </p:nvSpPr>
        <p:spPr>
          <a:xfrm>
            <a:off x="7477125" y="828675"/>
            <a:ext cx="3228975" cy="219075"/>
          </a:xfrm>
          <a:prstGeom prst="rect">
            <a:avLst/>
          </a:prstGeom>
          <a:noFill/>
          <a:ln w="0">
            <a:noFill/>
          </a:ln>
        </p:spPr>
        <p:txBody>
          <a:bodyPr rIns="0">
            <a:noAutofit/>
          </a:bodyPr>
          <a:lstStyle/>
          <a:p>
            <a:pPr algn="r">
              <a:defRPr sz="1200" b="0">
                <a:solidFill>
                  <a:srgbClr val="203344"/>
                </a:solidFill>
                <a:latin typeface="Arial"/>
                <a:ea typeface="Arial"/>
                <a:cs typeface="Arial"/>
              </a:defRPr>
            </a:pPr>
            <a:r>
              <a:rPr lang="it-IT" sz="1200" b="0">
                <a:solidFill>
                  <a:srgbClr val="203344"/>
                </a:solidFill>
                <a:latin typeface="Arial"/>
                <a:ea typeface="Arial"/>
                <a:cs typeface="Arial"/>
              </a:rPr>
              <a:t>Introduzione | 4</a:t>
            </a:r>
            <a:endParaRPr sz="1200" b="0">
              <a:solidFill>
                <a:srgbClr val="203344"/>
              </a:solidFill>
              <a:latin typeface="Arial"/>
              <a:ea typeface="Arial"/>
              <a:cs typeface="Arial"/>
            </a:endParaRPr>
          </a:p>
        </p:txBody>
      </p:sp>
      <p:sp>
        <p:nvSpPr>
          <p:cNvPr id="5" name="Rectangle: Rounded Corners 4">
            <a:extLst>
              <a:ext uri="{FF2B5EF4-FFF2-40B4-BE49-F238E27FC236}">
                <a16:creationId xmlns:a16="http://schemas.microsoft.com/office/drawing/2014/main" id="{71A406BA-430E-F9F0-8B64-5BEFA86E6FCC}"/>
              </a:ext>
            </a:extLst>
          </p:cNvPr>
          <p:cNvSpPr/>
          <p:nvPr/>
        </p:nvSpPr>
        <p:spPr>
          <a:xfrm>
            <a:off x="609600" y="1270000"/>
            <a:ext cx="10972800" cy="1498600"/>
          </a:xfrm>
          <a:prstGeom prst="roundRect">
            <a:avLst>
              <a:gd name="adj" fmla="val 8000"/>
            </a:avLst>
          </a:prstGeom>
          <a:solidFill>
            <a:srgbClr val="F7EDCB"/>
          </a:solidFill>
          <a:ln w="19050">
            <a:solidFill>
              <a:srgbClr val="C9A64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TextBox 5">
            <a:extLst>
              <a:ext uri="{FF2B5EF4-FFF2-40B4-BE49-F238E27FC236}">
                <a16:creationId xmlns:a16="http://schemas.microsoft.com/office/drawing/2014/main" id="{B203B3D3-C539-C346-D1CF-D1F6ACEB3D39}"/>
              </a:ext>
            </a:extLst>
          </p:cNvPr>
          <p:cNvSpPr txBox="1"/>
          <p:nvPr/>
        </p:nvSpPr>
        <p:spPr>
          <a:xfrm>
            <a:off x="762000" y="1320800"/>
            <a:ext cx="5080000" cy="369332"/>
          </a:xfrm>
          <a:prstGeom prst="rect">
            <a:avLst/>
          </a:prstGeom>
          <a:noFill/>
        </p:spPr>
        <p:txBody>
          <a:bodyPr vert="horz" wrap="square" rtlCol="0">
            <a:noAutofit/>
          </a:bodyPr>
          <a:lstStyle/>
          <a:p>
            <a:r>
              <a:rPr lang="en-GB" sz="1500" b="1">
                <a:solidFill>
                  <a:srgbClr val="7A5C12"/>
                </a:solidFill>
                <a:latin typeface="Arial" panose="020B0604020202020204" pitchFamily="34" charset="0"/>
              </a:rPr>
              <a:t>Algoritmo di Shor</a:t>
            </a:r>
          </a:p>
        </p:txBody>
      </p:sp>
      <p:sp>
        <p:nvSpPr>
          <p:cNvPr id="7" name="Rectangle: Rounded Corners 6">
            <a:extLst>
              <a:ext uri="{FF2B5EF4-FFF2-40B4-BE49-F238E27FC236}">
                <a16:creationId xmlns:a16="http://schemas.microsoft.com/office/drawing/2014/main" id="{BD9FE72F-AB6F-CE56-3C1B-0CE1FF3977B9}"/>
              </a:ext>
            </a:extLst>
          </p:cNvPr>
          <p:cNvSpPr/>
          <p:nvPr/>
        </p:nvSpPr>
        <p:spPr>
          <a:xfrm>
            <a:off x="787400" y="1651000"/>
            <a:ext cx="2463800" cy="965200"/>
          </a:xfrm>
          <a:prstGeom prst="roundRect">
            <a:avLst>
              <a:gd name="adj" fmla="val 8000"/>
            </a:avLst>
          </a:prstGeom>
          <a:solidFill>
            <a:srgbClr val="FFFFFF"/>
          </a:solidFill>
          <a:ln w="15875">
            <a:solidFill>
              <a:srgbClr val="C9A64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8" name="TextBox 7">
            <a:extLst>
              <a:ext uri="{FF2B5EF4-FFF2-40B4-BE49-F238E27FC236}">
                <a16:creationId xmlns:a16="http://schemas.microsoft.com/office/drawing/2014/main" id="{379D2604-111F-A13D-FD56-97652F0186E6}"/>
              </a:ext>
            </a:extLst>
          </p:cNvPr>
          <p:cNvSpPr txBox="1"/>
          <p:nvPr/>
        </p:nvSpPr>
        <p:spPr>
          <a:xfrm>
            <a:off x="869499" y="1701800"/>
            <a:ext cx="2311400" cy="369332"/>
          </a:xfrm>
          <a:prstGeom prst="rect">
            <a:avLst/>
          </a:prstGeom>
          <a:noFill/>
        </p:spPr>
        <p:txBody>
          <a:bodyPr vert="horz" wrap="square" rtlCol="0">
            <a:noAutofit/>
          </a:bodyPr>
          <a:lstStyle/>
          <a:p>
            <a:r>
              <a:rPr lang="en-GB" sz="1500" b="1">
                <a:solidFill>
                  <a:srgbClr val="003366"/>
                </a:solidFill>
                <a:latin typeface="Arial" panose="020B0604020202020204" pitchFamily="34" charset="0"/>
              </a:rPr>
              <a:t>Scelta di a</a:t>
            </a:r>
          </a:p>
        </p:txBody>
      </p:sp>
      <p:sp>
        <p:nvSpPr>
          <p:cNvPr id="9" name="TextBox 8">
            <a:extLst>
              <a:ext uri="{FF2B5EF4-FFF2-40B4-BE49-F238E27FC236}">
                <a16:creationId xmlns:a16="http://schemas.microsoft.com/office/drawing/2014/main" id="{7F8CE3D5-7F36-50F1-4688-D82C9F52A02A}"/>
              </a:ext>
            </a:extLst>
          </p:cNvPr>
          <p:cNvSpPr txBox="1"/>
          <p:nvPr/>
        </p:nvSpPr>
        <p:spPr>
          <a:xfrm>
            <a:off x="863600" y="2286000"/>
            <a:ext cx="2311400" cy="381000"/>
          </a:xfrm>
          <a:prstGeom prst="rect">
            <a:avLst/>
          </a:prstGeom>
          <a:noFill/>
        </p:spPr>
        <p:txBody>
          <a:bodyPr vert="horz" wrap="square" rtlCol="0">
            <a:noAutofit/>
          </a:bodyPr>
          <a:lstStyle/>
          <a:p>
            <a:r>
              <a:rPr lang="en-GB" sz="1350">
                <a:solidFill>
                  <a:srgbClr val="203344"/>
                </a:solidFill>
                <a:latin typeface="Arial" panose="020B0604020202020204" pitchFamily="34" charset="0"/>
              </a:rPr>
              <a:t>MCD(a, N) = 1</a:t>
            </a:r>
          </a:p>
        </p:txBody>
      </p:sp>
      <p:sp>
        <p:nvSpPr>
          <p:cNvPr id="10" name="Arrow: Right 9">
            <a:extLst>
              <a:ext uri="{FF2B5EF4-FFF2-40B4-BE49-F238E27FC236}">
                <a16:creationId xmlns:a16="http://schemas.microsoft.com/office/drawing/2014/main" id="{4FA152F5-7E2E-B567-3239-3CB985534EAA}"/>
              </a:ext>
            </a:extLst>
          </p:cNvPr>
          <p:cNvSpPr/>
          <p:nvPr/>
        </p:nvSpPr>
        <p:spPr>
          <a:xfrm>
            <a:off x="3276600" y="2057400"/>
            <a:ext cx="177800" cy="152400"/>
          </a:xfrm>
          <a:prstGeom prst="rightArrow">
            <a:avLst/>
          </a:prstGeom>
          <a:solidFill>
            <a:srgbClr val="8A7A4A"/>
          </a:solidFill>
          <a:ln w="19050">
            <a:noFill/>
            <a:prstDash val="solid"/>
          </a:ln>
          <a:effectLst/>
          <a:extLst>
            <a:ext uri="{91240B29-F687-4F45-9708-019B960494DF}">
              <a14:hiddenLine xmlns:a14="http://schemas.microsoft.com/office/drawing/2010/main" w="19050">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Rounded Corners 10">
            <a:extLst>
              <a:ext uri="{FF2B5EF4-FFF2-40B4-BE49-F238E27FC236}">
                <a16:creationId xmlns:a16="http://schemas.microsoft.com/office/drawing/2014/main" id="{B2F76A79-3800-1435-88FB-8FB9609CB385}"/>
              </a:ext>
            </a:extLst>
          </p:cNvPr>
          <p:cNvSpPr/>
          <p:nvPr/>
        </p:nvSpPr>
        <p:spPr>
          <a:xfrm>
            <a:off x="3479800" y="1651000"/>
            <a:ext cx="2463800" cy="965200"/>
          </a:xfrm>
          <a:prstGeom prst="roundRect">
            <a:avLst>
              <a:gd name="adj" fmla="val 8000"/>
            </a:avLst>
          </a:prstGeom>
          <a:solidFill>
            <a:srgbClr val="FFFFFF"/>
          </a:solidFill>
          <a:ln w="15875">
            <a:solidFill>
              <a:srgbClr val="C9A64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TextBox 11">
            <a:extLst>
              <a:ext uri="{FF2B5EF4-FFF2-40B4-BE49-F238E27FC236}">
                <a16:creationId xmlns:a16="http://schemas.microsoft.com/office/drawing/2014/main" id="{EF43BCDA-4513-C925-0E03-AEBDB0987056}"/>
              </a:ext>
            </a:extLst>
          </p:cNvPr>
          <p:cNvSpPr txBox="1"/>
          <p:nvPr/>
        </p:nvSpPr>
        <p:spPr>
          <a:xfrm>
            <a:off x="3556000" y="1701800"/>
            <a:ext cx="2311400" cy="369332"/>
          </a:xfrm>
          <a:prstGeom prst="rect">
            <a:avLst/>
          </a:prstGeom>
          <a:noFill/>
        </p:spPr>
        <p:txBody>
          <a:bodyPr vert="horz" wrap="square" rtlCol="0">
            <a:noAutofit/>
          </a:bodyPr>
          <a:lstStyle/>
          <a:p>
            <a:r>
              <a:rPr lang="en-GB" sz="1500" b="1">
                <a:solidFill>
                  <a:srgbClr val="003366"/>
                </a:solidFill>
                <a:latin typeface="Arial" panose="020B0604020202020204" pitchFamily="34" charset="0"/>
              </a:rPr>
              <a:t>Esponenziazione modulare</a:t>
            </a:r>
          </a:p>
        </p:txBody>
      </p:sp>
      <p:sp>
        <p:nvSpPr>
          <p:cNvPr id="13" name="TextBox 12">
            <a:extLst>
              <a:ext uri="{FF2B5EF4-FFF2-40B4-BE49-F238E27FC236}">
                <a16:creationId xmlns:a16="http://schemas.microsoft.com/office/drawing/2014/main" id="{64378A2F-F034-45ED-9900-8392E8A977BA}"/>
              </a:ext>
            </a:extLst>
          </p:cNvPr>
          <p:cNvSpPr txBox="1"/>
          <p:nvPr/>
        </p:nvSpPr>
        <p:spPr>
          <a:xfrm>
            <a:off x="3556000" y="2286000"/>
            <a:ext cx="2311400" cy="381000"/>
          </a:xfrm>
          <a:prstGeom prst="rect">
            <a:avLst/>
          </a:prstGeom>
          <a:noFill/>
        </p:spPr>
        <p:txBody>
          <a:bodyPr vert="horz" wrap="square" rtlCol="0">
            <a:noAutofit/>
          </a:bodyPr>
          <a:lstStyle/>
          <a:p>
            <a:r>
              <a:rPr lang="en-GB" sz="1350">
                <a:solidFill>
                  <a:srgbClr val="203344"/>
                </a:solidFill>
                <a:latin typeface="Arial" panose="020B0604020202020204" pitchFamily="34" charset="0"/>
              </a:rPr>
              <a:t>stima di fase (QPE)</a:t>
            </a:r>
          </a:p>
        </p:txBody>
      </p:sp>
      <p:sp>
        <p:nvSpPr>
          <p:cNvPr id="14" name="Arrow: Right 13">
            <a:extLst>
              <a:ext uri="{FF2B5EF4-FFF2-40B4-BE49-F238E27FC236}">
                <a16:creationId xmlns:a16="http://schemas.microsoft.com/office/drawing/2014/main" id="{FAD6E5CD-208C-6E07-9B48-CABEB14C5734}"/>
              </a:ext>
            </a:extLst>
          </p:cNvPr>
          <p:cNvSpPr/>
          <p:nvPr/>
        </p:nvSpPr>
        <p:spPr>
          <a:xfrm>
            <a:off x="5969000" y="2057400"/>
            <a:ext cx="177800" cy="152400"/>
          </a:xfrm>
          <a:prstGeom prst="rightArrow">
            <a:avLst/>
          </a:prstGeom>
          <a:solidFill>
            <a:srgbClr val="8A7A4A"/>
          </a:solidFill>
          <a:ln w="19050">
            <a:noFill/>
            <a:prstDash val="solid"/>
          </a:ln>
          <a:effectLst/>
          <a:extLst>
            <a:ext uri="{91240B29-F687-4F45-9708-019B960494DF}">
              <a14:hiddenLine xmlns:a14="http://schemas.microsoft.com/office/drawing/2010/main" w="19050">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Rounded Corners 14">
            <a:extLst>
              <a:ext uri="{FF2B5EF4-FFF2-40B4-BE49-F238E27FC236}">
                <a16:creationId xmlns:a16="http://schemas.microsoft.com/office/drawing/2014/main" id="{C91D1915-4C4B-71BF-1D11-C89B7D8B7222}"/>
              </a:ext>
            </a:extLst>
          </p:cNvPr>
          <p:cNvSpPr/>
          <p:nvPr/>
        </p:nvSpPr>
        <p:spPr>
          <a:xfrm>
            <a:off x="6172200" y="1651000"/>
            <a:ext cx="2463800" cy="965200"/>
          </a:xfrm>
          <a:prstGeom prst="roundRect">
            <a:avLst>
              <a:gd name="adj" fmla="val 8000"/>
            </a:avLst>
          </a:prstGeom>
          <a:solidFill>
            <a:srgbClr val="FFFFFF"/>
          </a:solidFill>
          <a:ln w="15875">
            <a:solidFill>
              <a:srgbClr val="C9A64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TextBox 15">
            <a:extLst>
              <a:ext uri="{FF2B5EF4-FFF2-40B4-BE49-F238E27FC236}">
                <a16:creationId xmlns:a16="http://schemas.microsoft.com/office/drawing/2014/main" id="{10BC7FA2-A5A5-149C-EABE-EA68AB38DC09}"/>
              </a:ext>
            </a:extLst>
          </p:cNvPr>
          <p:cNvSpPr txBox="1"/>
          <p:nvPr/>
        </p:nvSpPr>
        <p:spPr>
          <a:xfrm>
            <a:off x="6248400" y="1701800"/>
            <a:ext cx="2311400" cy="369332"/>
          </a:xfrm>
          <a:prstGeom prst="rect">
            <a:avLst/>
          </a:prstGeom>
          <a:noFill/>
        </p:spPr>
        <p:txBody>
          <a:bodyPr vert="horz" wrap="square" rtlCol="0">
            <a:noAutofit/>
          </a:bodyPr>
          <a:lstStyle/>
          <a:p>
            <a:r>
              <a:rPr lang="en-GB" sz="1500" b="1">
                <a:solidFill>
                  <a:srgbClr val="003366"/>
                </a:solidFill>
                <a:latin typeface="Arial" panose="020B0604020202020204" pitchFamily="34" charset="0"/>
              </a:rPr>
              <a:t>QFT inversa</a:t>
            </a:r>
          </a:p>
        </p:txBody>
      </p:sp>
      <p:sp>
        <p:nvSpPr>
          <p:cNvPr id="17" name="TextBox 16">
            <a:extLst>
              <a:ext uri="{FF2B5EF4-FFF2-40B4-BE49-F238E27FC236}">
                <a16:creationId xmlns:a16="http://schemas.microsoft.com/office/drawing/2014/main" id="{3B513393-831B-C90D-5BCD-591EB8FE277A}"/>
              </a:ext>
            </a:extLst>
          </p:cNvPr>
          <p:cNvSpPr txBox="1"/>
          <p:nvPr/>
        </p:nvSpPr>
        <p:spPr>
          <a:xfrm>
            <a:off x="6248400" y="2286000"/>
            <a:ext cx="2311400" cy="381000"/>
          </a:xfrm>
          <a:prstGeom prst="rect">
            <a:avLst/>
          </a:prstGeom>
          <a:noFill/>
        </p:spPr>
        <p:txBody>
          <a:bodyPr vert="horz" wrap="square" rtlCol="0">
            <a:noAutofit/>
          </a:bodyPr>
          <a:lstStyle/>
          <a:p>
            <a:r>
              <a:rPr lang="en-GB" sz="1350">
                <a:solidFill>
                  <a:srgbClr val="203344"/>
                </a:solidFill>
                <a:latin typeface="Arial" panose="020B0604020202020204" pitchFamily="34" charset="0"/>
              </a:rPr>
              <a:t>rotazioni controllate</a:t>
            </a:r>
          </a:p>
        </p:txBody>
      </p:sp>
      <p:sp>
        <p:nvSpPr>
          <p:cNvPr id="50" name="Arrow: Right 49">
            <a:extLst>
              <a:ext uri="{FF2B5EF4-FFF2-40B4-BE49-F238E27FC236}">
                <a16:creationId xmlns:a16="http://schemas.microsoft.com/office/drawing/2014/main" id="{29DEC9FE-10C7-271F-ABEB-4B97B4321FCD}"/>
              </a:ext>
            </a:extLst>
          </p:cNvPr>
          <p:cNvSpPr/>
          <p:nvPr/>
        </p:nvSpPr>
        <p:spPr>
          <a:xfrm>
            <a:off x="8661400" y="2057400"/>
            <a:ext cx="177800" cy="152400"/>
          </a:xfrm>
          <a:prstGeom prst="rightArrow">
            <a:avLst/>
          </a:prstGeom>
          <a:solidFill>
            <a:srgbClr val="8A7A4A"/>
          </a:solidFill>
          <a:ln w="19050">
            <a:noFill/>
            <a:prstDash val="solid"/>
          </a:ln>
          <a:effectLst/>
          <a:extLst>
            <a:ext uri="{91240B29-F687-4F45-9708-019B960494DF}">
              <a14:hiddenLine xmlns:a14="http://schemas.microsoft.com/office/drawing/2010/main" w="19050">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1" name="Rectangle: Rounded Corners 50">
            <a:extLst>
              <a:ext uri="{FF2B5EF4-FFF2-40B4-BE49-F238E27FC236}">
                <a16:creationId xmlns:a16="http://schemas.microsoft.com/office/drawing/2014/main" id="{5804AC16-C84A-4973-1E3A-33EF6EF0CE42}"/>
              </a:ext>
            </a:extLst>
          </p:cNvPr>
          <p:cNvSpPr/>
          <p:nvPr/>
        </p:nvSpPr>
        <p:spPr>
          <a:xfrm>
            <a:off x="8864600" y="1651000"/>
            <a:ext cx="2463800" cy="965200"/>
          </a:xfrm>
          <a:prstGeom prst="roundRect">
            <a:avLst>
              <a:gd name="adj" fmla="val 8000"/>
            </a:avLst>
          </a:prstGeom>
          <a:solidFill>
            <a:srgbClr val="FFFFFF"/>
          </a:solidFill>
          <a:ln w="15875">
            <a:solidFill>
              <a:srgbClr val="C9A64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2" name="TextBox 51">
            <a:extLst>
              <a:ext uri="{FF2B5EF4-FFF2-40B4-BE49-F238E27FC236}">
                <a16:creationId xmlns:a16="http://schemas.microsoft.com/office/drawing/2014/main" id="{646B5660-21FE-82E2-FF02-0E010D013066}"/>
              </a:ext>
            </a:extLst>
          </p:cNvPr>
          <p:cNvSpPr txBox="1"/>
          <p:nvPr/>
        </p:nvSpPr>
        <p:spPr>
          <a:xfrm>
            <a:off x="8940800" y="1701800"/>
            <a:ext cx="2311400" cy="369332"/>
          </a:xfrm>
          <a:prstGeom prst="rect">
            <a:avLst/>
          </a:prstGeom>
          <a:noFill/>
        </p:spPr>
        <p:txBody>
          <a:bodyPr vert="horz" wrap="square" rtlCol="0">
            <a:noAutofit/>
          </a:bodyPr>
          <a:lstStyle/>
          <a:p>
            <a:r>
              <a:rPr lang="en-GB" sz="1500" b="1">
                <a:solidFill>
                  <a:srgbClr val="003366"/>
                </a:solidFill>
                <a:latin typeface="Arial" panose="020B0604020202020204" pitchFamily="34" charset="0"/>
              </a:rPr>
              <a:t>Misura</a:t>
            </a:r>
          </a:p>
        </p:txBody>
      </p:sp>
      <p:sp>
        <p:nvSpPr>
          <p:cNvPr id="53" name="TextBox 52">
            <a:extLst>
              <a:ext uri="{FF2B5EF4-FFF2-40B4-BE49-F238E27FC236}">
                <a16:creationId xmlns:a16="http://schemas.microsoft.com/office/drawing/2014/main" id="{1A21D735-A996-BECE-47BE-974260D6411D}"/>
              </a:ext>
            </a:extLst>
          </p:cNvPr>
          <p:cNvSpPr txBox="1"/>
          <p:nvPr/>
        </p:nvSpPr>
        <p:spPr>
          <a:xfrm>
            <a:off x="8940800" y="2286000"/>
            <a:ext cx="2311400" cy="381000"/>
          </a:xfrm>
          <a:prstGeom prst="rect">
            <a:avLst/>
          </a:prstGeom>
          <a:noFill/>
        </p:spPr>
        <p:txBody>
          <a:bodyPr vert="horz" wrap="square" rtlCol="0">
            <a:noAutofit/>
          </a:bodyPr>
          <a:lstStyle/>
          <a:p>
            <a:r>
              <a:rPr lang="en-GB" sz="1350">
                <a:solidFill>
                  <a:srgbClr val="203344"/>
                </a:solidFill>
                <a:latin typeface="Arial" panose="020B0604020202020204" pitchFamily="34" charset="0"/>
              </a:rPr>
              <a:t>istogramma degli esiti</a:t>
            </a:r>
          </a:p>
        </p:txBody>
      </p:sp>
      <p:sp>
        <p:nvSpPr>
          <p:cNvPr id="56" name="Rectangle: Rounded Corners 55">
            <a:extLst>
              <a:ext uri="{FF2B5EF4-FFF2-40B4-BE49-F238E27FC236}">
                <a16:creationId xmlns:a16="http://schemas.microsoft.com/office/drawing/2014/main" id="{F8702F06-AC41-A784-75A6-8A63F848BF2E}"/>
              </a:ext>
            </a:extLst>
          </p:cNvPr>
          <p:cNvSpPr/>
          <p:nvPr/>
        </p:nvSpPr>
        <p:spPr>
          <a:xfrm>
            <a:off x="6172200" y="4191000"/>
            <a:ext cx="2463800" cy="939800"/>
          </a:xfrm>
          <a:prstGeom prst="roundRect">
            <a:avLst>
              <a:gd name="adj" fmla="val 8000"/>
            </a:avLst>
          </a:prstGeom>
          <a:solidFill>
            <a:srgbClr val="EEE7F7"/>
          </a:solidFill>
          <a:ln w="15875">
            <a:solidFill>
              <a:srgbClr val="6B4F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7" name="TextBox 56">
            <a:extLst>
              <a:ext uri="{FF2B5EF4-FFF2-40B4-BE49-F238E27FC236}">
                <a16:creationId xmlns:a16="http://schemas.microsoft.com/office/drawing/2014/main" id="{86D805D8-D26E-2153-32FC-2D467B951E73}"/>
              </a:ext>
            </a:extLst>
          </p:cNvPr>
          <p:cNvSpPr txBox="1"/>
          <p:nvPr/>
        </p:nvSpPr>
        <p:spPr>
          <a:xfrm>
            <a:off x="6299200" y="4254500"/>
            <a:ext cx="2209800" cy="369332"/>
          </a:xfrm>
          <a:prstGeom prst="rect">
            <a:avLst/>
          </a:prstGeom>
          <a:noFill/>
        </p:spPr>
        <p:txBody>
          <a:bodyPr vert="horz" wrap="square" rtlCol="0">
            <a:noAutofit/>
          </a:bodyPr>
          <a:lstStyle/>
          <a:p>
            <a:r>
              <a:rPr lang="en-GB" sz="1500" b="1">
                <a:solidFill>
                  <a:srgbClr val="4B2E83"/>
                </a:solidFill>
                <a:latin typeface="Arial" panose="020B0604020202020204" pitchFamily="34" charset="0"/>
              </a:rPr>
              <a:t>QFT approssimata</a:t>
            </a:r>
            <a:endParaRPr lang="en-GB" sz="1500" b="1" dirty="0">
              <a:solidFill>
                <a:srgbClr val="4B2E83"/>
              </a:solidFill>
              <a:latin typeface="Arial" panose="020B0604020202020204" pitchFamily="34" charset="0"/>
            </a:endParaRPr>
          </a:p>
        </p:txBody>
      </p:sp>
      <p:sp>
        <p:nvSpPr>
          <p:cNvPr id="58" name="TextBox 57">
            <a:extLst>
              <a:ext uri="{FF2B5EF4-FFF2-40B4-BE49-F238E27FC236}">
                <a16:creationId xmlns:a16="http://schemas.microsoft.com/office/drawing/2014/main" id="{70E09711-6032-D441-5BEC-D255762B5C0F}"/>
              </a:ext>
            </a:extLst>
          </p:cNvPr>
          <p:cNvSpPr txBox="1"/>
          <p:nvPr/>
        </p:nvSpPr>
        <p:spPr>
          <a:xfrm>
            <a:off x="6299200" y="4572000"/>
            <a:ext cx="2209800" cy="369332"/>
          </a:xfrm>
          <a:prstGeom prst="rect">
            <a:avLst/>
          </a:prstGeom>
          <a:noFill/>
        </p:spPr>
        <p:txBody>
          <a:bodyPr vert="horz" wrap="square" rtlCol="0">
            <a:noAutofit/>
          </a:bodyPr>
          <a:lstStyle/>
          <a:p>
            <a:r>
              <a:rPr lang="it-IT" sz="1275" dirty="0">
                <a:solidFill>
                  <a:srgbClr val="203344"/>
                </a:solidFill>
                <a:latin typeface="Arial" panose="020B0604020202020204" pitchFamily="34" charset="0"/>
              </a:rPr>
              <a:t>toglie le rotazioni di piccolo angolo</a:t>
            </a:r>
            <a:endParaRPr lang="en-GB" sz="1275" dirty="0">
              <a:solidFill>
                <a:srgbClr val="203344"/>
              </a:solidFill>
              <a:latin typeface="Arial" panose="020B0604020202020204" pitchFamily="34" charset="0"/>
            </a:endParaRPr>
          </a:p>
        </p:txBody>
      </p:sp>
      <p:sp>
        <p:nvSpPr>
          <p:cNvPr id="59" name="Rectangle: Rounded Corners 58">
            <a:extLst>
              <a:ext uri="{FF2B5EF4-FFF2-40B4-BE49-F238E27FC236}">
                <a16:creationId xmlns:a16="http://schemas.microsoft.com/office/drawing/2014/main" id="{7D7FE52C-2C69-C699-AE2B-42253A1D7671}"/>
              </a:ext>
            </a:extLst>
          </p:cNvPr>
          <p:cNvSpPr/>
          <p:nvPr/>
        </p:nvSpPr>
        <p:spPr>
          <a:xfrm>
            <a:off x="8864600" y="2997200"/>
            <a:ext cx="2463800" cy="939800"/>
          </a:xfrm>
          <a:prstGeom prst="roundRect">
            <a:avLst>
              <a:gd name="adj" fmla="val 8000"/>
            </a:avLst>
          </a:prstGeom>
          <a:solidFill>
            <a:srgbClr val="EEE7F7"/>
          </a:solidFill>
          <a:ln w="15875">
            <a:solidFill>
              <a:srgbClr val="6B4F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0" name="TextBox 59">
            <a:extLst>
              <a:ext uri="{FF2B5EF4-FFF2-40B4-BE49-F238E27FC236}">
                <a16:creationId xmlns:a16="http://schemas.microsoft.com/office/drawing/2014/main" id="{DD1271B2-1BD1-2C08-298C-BB17D381E5F9}"/>
              </a:ext>
            </a:extLst>
          </p:cNvPr>
          <p:cNvSpPr txBox="1"/>
          <p:nvPr/>
        </p:nvSpPr>
        <p:spPr>
          <a:xfrm>
            <a:off x="8991600" y="3060700"/>
            <a:ext cx="2209800" cy="369332"/>
          </a:xfrm>
          <a:prstGeom prst="rect">
            <a:avLst/>
          </a:prstGeom>
          <a:noFill/>
        </p:spPr>
        <p:txBody>
          <a:bodyPr vert="horz" wrap="square" rtlCol="0">
            <a:noAutofit/>
          </a:bodyPr>
          <a:lstStyle/>
          <a:p>
            <a:r>
              <a:rPr lang="en-GB" sz="1500" b="1">
                <a:solidFill>
                  <a:srgbClr val="4B2E83"/>
                </a:solidFill>
                <a:latin typeface="Arial" panose="020B0604020202020204" pitchFamily="34" charset="0"/>
              </a:rPr>
              <a:t>Post-processing</a:t>
            </a:r>
          </a:p>
        </p:txBody>
      </p:sp>
      <p:sp>
        <p:nvSpPr>
          <p:cNvPr id="61" name="TextBox 60">
            <a:extLst>
              <a:ext uri="{FF2B5EF4-FFF2-40B4-BE49-F238E27FC236}">
                <a16:creationId xmlns:a16="http://schemas.microsoft.com/office/drawing/2014/main" id="{B32AF17F-33DD-27A1-2503-DFC2B928164A}"/>
              </a:ext>
            </a:extLst>
          </p:cNvPr>
          <p:cNvSpPr txBox="1"/>
          <p:nvPr/>
        </p:nvSpPr>
        <p:spPr>
          <a:xfrm>
            <a:off x="8991600" y="3378200"/>
            <a:ext cx="2209800" cy="369332"/>
          </a:xfrm>
          <a:prstGeom prst="rect">
            <a:avLst/>
          </a:prstGeom>
          <a:noFill/>
        </p:spPr>
        <p:txBody>
          <a:bodyPr vert="horz" wrap="square" rtlCol="0">
            <a:noAutofit/>
          </a:bodyPr>
          <a:lstStyle/>
          <a:p>
            <a:r>
              <a:rPr lang="it-IT" sz="1275">
                <a:solidFill>
                  <a:srgbClr val="203344"/>
                </a:solidFill>
                <a:latin typeface="Arial" panose="020B0604020202020204" pitchFamily="34" charset="0"/>
              </a:rPr>
              <a:t>verifica classica degli esiti misurati</a:t>
            </a:r>
            <a:endParaRPr lang="en-GB" sz="1275">
              <a:solidFill>
                <a:srgbClr val="203344"/>
              </a:solidFill>
              <a:latin typeface="Arial" panose="020B0604020202020204" pitchFamily="34" charset="0"/>
            </a:endParaRPr>
          </a:p>
        </p:txBody>
      </p:sp>
      <p:sp>
        <p:nvSpPr>
          <p:cNvPr id="63" name="Rectangle: Rounded Corners 62">
            <a:extLst>
              <a:ext uri="{FF2B5EF4-FFF2-40B4-BE49-F238E27FC236}">
                <a16:creationId xmlns:a16="http://schemas.microsoft.com/office/drawing/2014/main" id="{899DB2B1-FCD0-8D4F-AE5F-917B564E2B10}"/>
              </a:ext>
            </a:extLst>
          </p:cNvPr>
          <p:cNvSpPr/>
          <p:nvPr/>
        </p:nvSpPr>
        <p:spPr>
          <a:xfrm>
            <a:off x="8864600" y="4191000"/>
            <a:ext cx="2463800" cy="939800"/>
          </a:xfrm>
          <a:prstGeom prst="roundRect">
            <a:avLst>
              <a:gd name="adj" fmla="val 8000"/>
            </a:avLst>
          </a:prstGeom>
          <a:solidFill>
            <a:srgbClr val="EEE7F7"/>
          </a:solidFill>
          <a:ln w="15875">
            <a:solidFill>
              <a:srgbClr val="6B4F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4" name="TextBox 63">
            <a:extLst>
              <a:ext uri="{FF2B5EF4-FFF2-40B4-BE49-F238E27FC236}">
                <a16:creationId xmlns:a16="http://schemas.microsoft.com/office/drawing/2014/main" id="{326F084D-93F3-CFB3-2AEF-0176AA102007}"/>
              </a:ext>
            </a:extLst>
          </p:cNvPr>
          <p:cNvSpPr txBox="1"/>
          <p:nvPr/>
        </p:nvSpPr>
        <p:spPr>
          <a:xfrm>
            <a:off x="8991600" y="4254500"/>
            <a:ext cx="2209800" cy="369332"/>
          </a:xfrm>
          <a:prstGeom prst="rect">
            <a:avLst/>
          </a:prstGeom>
          <a:noFill/>
        </p:spPr>
        <p:txBody>
          <a:bodyPr vert="horz" wrap="square" rtlCol="0">
            <a:noAutofit/>
          </a:bodyPr>
          <a:lstStyle/>
          <a:p>
            <a:r>
              <a:rPr lang="en-GB" sz="1500" b="1">
                <a:solidFill>
                  <a:srgbClr val="4B2E83"/>
                </a:solidFill>
                <a:latin typeface="Arial" panose="020B0604020202020204" pitchFamily="34" charset="0"/>
              </a:rPr>
              <a:t>TOP-K e ML</a:t>
            </a:r>
          </a:p>
        </p:txBody>
      </p:sp>
      <p:sp>
        <p:nvSpPr>
          <p:cNvPr id="65" name="TextBox 64">
            <a:extLst>
              <a:ext uri="{FF2B5EF4-FFF2-40B4-BE49-F238E27FC236}">
                <a16:creationId xmlns:a16="http://schemas.microsoft.com/office/drawing/2014/main" id="{273609B0-B17D-A477-1EAC-F52183F7EA23}"/>
              </a:ext>
            </a:extLst>
          </p:cNvPr>
          <p:cNvSpPr txBox="1"/>
          <p:nvPr/>
        </p:nvSpPr>
        <p:spPr>
          <a:xfrm>
            <a:off x="8991600" y="4572000"/>
            <a:ext cx="2209800" cy="369332"/>
          </a:xfrm>
          <a:prstGeom prst="rect">
            <a:avLst/>
          </a:prstGeom>
          <a:noFill/>
        </p:spPr>
        <p:txBody>
          <a:bodyPr vert="horz" wrap="square" rtlCol="0">
            <a:noAutofit/>
          </a:bodyPr>
          <a:lstStyle/>
          <a:p>
            <a:r>
              <a:rPr lang="it-IT" sz="1275">
                <a:solidFill>
                  <a:srgbClr val="203344"/>
                </a:solidFill>
                <a:latin typeface="Arial" panose="020B0604020202020204" pitchFamily="34" charset="0"/>
              </a:rPr>
              <a:t>TOP-1, TOP-4, Metodo 2: quali esiti verificare</a:t>
            </a:r>
            <a:endParaRPr lang="en-GB" sz="1275">
              <a:solidFill>
                <a:srgbClr val="203344"/>
              </a:solidFill>
              <a:latin typeface="Arial" panose="020B0604020202020204" pitchFamily="34" charset="0"/>
            </a:endParaRPr>
          </a:p>
        </p:txBody>
      </p:sp>
      <p:sp>
        <p:nvSpPr>
          <p:cNvPr id="72" name="TextBox 71">
            <a:extLst>
              <a:ext uri="{FF2B5EF4-FFF2-40B4-BE49-F238E27FC236}">
                <a16:creationId xmlns:a16="http://schemas.microsoft.com/office/drawing/2014/main" id="{EB047577-9F9F-1D1C-C350-FB9AAE01B31A}"/>
              </a:ext>
            </a:extLst>
          </p:cNvPr>
          <p:cNvSpPr txBox="1"/>
          <p:nvPr/>
        </p:nvSpPr>
        <p:spPr>
          <a:xfrm>
            <a:off x="609600" y="6045200"/>
            <a:ext cx="10972800" cy="369332"/>
          </a:xfrm>
          <a:prstGeom prst="rect">
            <a:avLst/>
          </a:prstGeom>
          <a:noFill/>
        </p:spPr>
        <p:txBody>
          <a:bodyPr vert="horz" wrap="square" rtlCol="0">
            <a:noAutofit/>
          </a:bodyPr>
          <a:lstStyle/>
          <a:p>
            <a:r>
              <a:rPr lang="it-IT" sz="1950" b="1">
                <a:solidFill>
                  <a:srgbClr val="175F99"/>
                </a:solidFill>
                <a:latin typeface="Arial" panose="020B0604020202020204" pitchFamily="34" charset="0"/>
              </a:rPr>
              <a:t>In giallo l'algoritmo di Shor, in viola i punti in cui ho lavorato.</a:t>
            </a:r>
            <a:endParaRPr lang="en-GB" sz="1950" b="1">
              <a:solidFill>
                <a:srgbClr val="175F99"/>
              </a:solidFill>
              <a:latin typeface="Arial" panose="020B0604020202020204" pitchFamily="34" charset="0"/>
            </a:endParaRPr>
          </a:p>
        </p:txBody>
      </p:sp>
      <p:sp>
        <p:nvSpPr>
          <p:cNvPr id="68" name="Rectangle: Rounded Corners 67">
            <a:extLst>
              <a:ext uri="{FF2B5EF4-FFF2-40B4-BE49-F238E27FC236}">
                <a16:creationId xmlns:a16="http://schemas.microsoft.com/office/drawing/2014/main" id="{591DD65E-84D6-869C-A834-5BCCD873E3BA}"/>
              </a:ext>
            </a:extLst>
          </p:cNvPr>
          <p:cNvSpPr/>
          <p:nvPr/>
        </p:nvSpPr>
        <p:spPr>
          <a:xfrm>
            <a:off x="3479800" y="2997200"/>
            <a:ext cx="5156200" cy="939800"/>
          </a:xfrm>
          <a:prstGeom prst="roundRect">
            <a:avLst>
              <a:gd name="adj" fmla="val 8000"/>
            </a:avLst>
          </a:prstGeom>
          <a:solidFill>
            <a:srgbClr val="EEE7F7"/>
          </a:solidFill>
          <a:ln w="15875">
            <a:solidFill>
              <a:srgbClr val="6B4F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9" name="TextBox 68">
            <a:extLst>
              <a:ext uri="{FF2B5EF4-FFF2-40B4-BE49-F238E27FC236}">
                <a16:creationId xmlns:a16="http://schemas.microsoft.com/office/drawing/2014/main" id="{C97455E7-7CCA-BE6A-D77C-5C64732A886B}"/>
              </a:ext>
            </a:extLst>
          </p:cNvPr>
          <p:cNvSpPr txBox="1"/>
          <p:nvPr/>
        </p:nvSpPr>
        <p:spPr>
          <a:xfrm>
            <a:off x="3606800" y="3060700"/>
            <a:ext cx="4902200" cy="369332"/>
          </a:xfrm>
          <a:prstGeom prst="rect">
            <a:avLst/>
          </a:prstGeom>
          <a:noFill/>
        </p:spPr>
        <p:txBody>
          <a:bodyPr vert="horz" wrap="square" rtlCol="0">
            <a:noAutofit/>
          </a:bodyPr>
          <a:lstStyle/>
          <a:p>
            <a:r>
              <a:rPr lang="en-GB" sz="1500" b="1">
                <a:solidFill>
                  <a:srgbClr val="4B2E83"/>
                </a:solidFill>
                <a:latin typeface="Arial" panose="020B0604020202020204" pitchFamily="34" charset="0"/>
              </a:rPr>
              <a:t>Correzione degli errori (QEC)</a:t>
            </a:r>
          </a:p>
        </p:txBody>
      </p:sp>
      <p:sp>
        <p:nvSpPr>
          <p:cNvPr id="70" name="TextBox 69">
            <a:extLst>
              <a:ext uri="{FF2B5EF4-FFF2-40B4-BE49-F238E27FC236}">
                <a16:creationId xmlns:a16="http://schemas.microsoft.com/office/drawing/2014/main" id="{09239A3F-A0D9-B54E-B6EB-603D0B37DEC0}"/>
              </a:ext>
            </a:extLst>
          </p:cNvPr>
          <p:cNvSpPr txBox="1"/>
          <p:nvPr/>
        </p:nvSpPr>
        <p:spPr>
          <a:xfrm>
            <a:off x="3606800" y="3378200"/>
            <a:ext cx="4902200" cy="369332"/>
          </a:xfrm>
          <a:prstGeom prst="rect">
            <a:avLst/>
          </a:prstGeom>
          <a:noFill/>
        </p:spPr>
        <p:txBody>
          <a:bodyPr vert="horz" wrap="square" rtlCol="0">
            <a:noAutofit/>
          </a:bodyPr>
          <a:lstStyle/>
          <a:p>
            <a:r>
              <a:rPr lang="it-IT" sz="1275" dirty="0" err="1">
                <a:solidFill>
                  <a:srgbClr val="203344"/>
                </a:solidFill>
                <a:latin typeface="Arial" panose="020B0604020202020204" pitchFamily="34" charset="0"/>
              </a:rPr>
              <a:t>surface</a:t>
            </a:r>
            <a:r>
              <a:rPr lang="it-IT" sz="1275" dirty="0">
                <a:solidFill>
                  <a:srgbClr val="203344"/>
                </a:solidFill>
                <a:latin typeface="Arial" panose="020B0604020202020204" pitchFamily="34" charset="0"/>
              </a:rPr>
              <a:t> code e Gross code di IBM: proteggono i qubit durante il calcolo (</a:t>
            </a:r>
            <a:r>
              <a:rPr lang="it-IT" sz="1275" dirty="0" err="1">
                <a:solidFill>
                  <a:srgbClr val="203344"/>
                </a:solidFill>
                <a:latin typeface="Arial" panose="020B0604020202020204" pitchFamily="34" charset="0"/>
              </a:rPr>
              <a:t>esponenziazione</a:t>
            </a:r>
            <a:r>
              <a:rPr lang="it-IT" sz="1275" dirty="0">
                <a:solidFill>
                  <a:srgbClr val="203344"/>
                </a:solidFill>
                <a:latin typeface="Arial" panose="020B0604020202020204" pitchFamily="34" charset="0"/>
              </a:rPr>
              <a:t> e QFT)</a:t>
            </a:r>
            <a:endParaRPr lang="en-GB" sz="1275" dirty="0">
              <a:solidFill>
                <a:srgbClr val="203344"/>
              </a:solidFill>
              <a:latin typeface="Arial" panose="020B0604020202020204" pitchFamily="34" charset="0"/>
            </a:endParaRPr>
          </a:p>
        </p:txBody>
      </p:sp>
    </p:spTree>
    <p:extLst>
      <p:ext uri="{BB962C8B-B14F-4D97-AF65-F5344CB8AC3E}">
        <p14:creationId xmlns:p14="http://schemas.microsoft.com/office/powerpoint/2010/main" val="24172191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E63F5E73-50EB-4DE5-A1E1-7932B59E91B5}"/>
              </a:ext>
            </a:extLst>
          </p:cNvPr>
          <p:cNvSpPr>
            <a:spLocks noGrp="1"/>
          </p:cNvSpPr>
          <p:nvPr/>
        </p:nvSpPr>
        <p:spPr>
          <a:xfrm>
            <a:off x="609600" y="400050"/>
            <a:ext cx="9906000" cy="619125"/>
          </a:xfrm>
          <a:prstGeom prst="rect">
            <a:avLst/>
          </a:prstGeom>
          <a:noFill/>
          <a:ln w="0">
            <a:noFill/>
          </a:ln>
        </p:spPr>
        <p:txBody>
          <a:bodyPr>
            <a:noAutofit/>
          </a:bodyPr>
          <a:lstStyle/>
          <a:p>
            <a:pPr>
              <a:defRPr sz="2700" b="0">
                <a:solidFill>
                  <a:srgbClr val="003366"/>
                </a:solidFill>
                <a:latin typeface="Arial"/>
                <a:ea typeface="Arial"/>
                <a:cs typeface="Arial"/>
              </a:defRPr>
            </a:pPr>
            <a:r>
              <a:rPr lang="it-IT" sz="2700" b="0">
                <a:solidFill>
                  <a:srgbClr val="003366"/>
                </a:solidFill>
                <a:latin typeface="Arial"/>
                <a:ea typeface="Arial"/>
                <a:cs typeface="Arial"/>
              </a:rPr>
              <a:t>Strategia 1: post-processing e ablazione ML</a:t>
            </a:r>
            <a:endParaRPr sz="2700" b="0">
              <a:solidFill>
                <a:srgbClr val="003366"/>
              </a:solidFill>
              <a:latin typeface="Arial"/>
              <a:ea typeface="Arial"/>
              <a:cs typeface="Arial"/>
            </a:endParaRPr>
          </a:p>
        </p:txBody>
      </p:sp>
      <p:pic>
        <p:nvPicPr>
          <p:cNvPr id="19" name="Picture 18"/>
          <p:cNvPicPr>
            <a:picLocks noChangeAspect="1"/>
          </p:cNvPicPr>
          <p:nvPr/>
        </p:nvPicPr>
        <p:blipFill>
          <a:blip r:embed="rId3"/>
          <a:stretch/>
        </p:blipFill>
        <p:spPr>
          <a:xfrm>
            <a:off x="10896600" y="243116"/>
            <a:ext cx="838200" cy="694869"/>
          </a:xfrm>
          <a:prstGeom prst="rect">
            <a:avLst/>
          </a:prstGeom>
        </p:spPr>
      </p:pic>
      <p:sp>
        <p:nvSpPr>
          <p:cNvPr id="3" name="Rectangle 2">
            <a:extLst>
              <a:ext uri="{FF2B5EF4-FFF2-40B4-BE49-F238E27FC236}">
                <a16:creationId xmlns:a16="http://schemas.microsoft.com/office/drawing/2014/main" id="{9478C359-BEA8-4AFD-944F-9175CC4F4295}"/>
              </a:ext>
            </a:extLst>
          </p:cNvPr>
          <p:cNvSpPr>
            <a:spLocks noGrp="1"/>
          </p:cNvSpPr>
          <p:nvPr/>
        </p:nvSpPr>
        <p:spPr>
          <a:xfrm>
            <a:off x="609600" y="1095375"/>
            <a:ext cx="10096500" cy="19050"/>
          </a:xfrm>
          <a:prstGeom prst="rect">
            <a:avLst/>
          </a:prstGeom>
          <a:solidFill>
            <a:srgbClr val="5084BF"/>
          </a:solidFill>
          <a:ln w="0">
            <a:noFill/>
          </a:ln>
        </p:spPr>
        <p:txBody>
          <a:bodyPr/>
          <a:lstStyle/>
          <a:p>
            <a:endParaRPr lang="en-GB"/>
          </a:p>
        </p:txBody>
      </p:sp>
      <p:sp>
        <p:nvSpPr>
          <p:cNvPr id="4" name="Rectangle 3">
            <a:extLst>
              <a:ext uri="{FF2B5EF4-FFF2-40B4-BE49-F238E27FC236}">
                <a16:creationId xmlns:a16="http://schemas.microsoft.com/office/drawing/2014/main" id="{8134F752-5082-496F-BC77-8A8C1F34CF24}"/>
              </a:ext>
            </a:extLst>
          </p:cNvPr>
          <p:cNvSpPr>
            <a:spLocks noGrp="1"/>
          </p:cNvSpPr>
          <p:nvPr/>
        </p:nvSpPr>
        <p:spPr>
          <a:xfrm>
            <a:off x="7477125" y="828675"/>
            <a:ext cx="3228975" cy="219075"/>
          </a:xfrm>
          <a:prstGeom prst="rect">
            <a:avLst/>
          </a:prstGeom>
          <a:noFill/>
          <a:ln w="0">
            <a:noFill/>
          </a:ln>
        </p:spPr>
        <p:txBody>
          <a:bodyPr rIns="0">
            <a:noAutofit/>
          </a:bodyPr>
          <a:lstStyle/>
          <a:p>
            <a:pPr algn="r">
              <a:defRPr sz="1200" b="0">
                <a:solidFill>
                  <a:srgbClr val="203344"/>
                </a:solidFill>
                <a:latin typeface="Arial"/>
                <a:ea typeface="Arial"/>
                <a:cs typeface="Arial"/>
              </a:defRPr>
            </a:pPr>
            <a:r>
              <a:rPr lang="it-IT" sz="1200" b="0">
                <a:solidFill>
                  <a:srgbClr val="203344"/>
                </a:solidFill>
                <a:latin typeface="Arial"/>
                <a:ea typeface="Arial"/>
                <a:cs typeface="Arial"/>
              </a:rPr>
              <a:t>Strategia 1 · Post-processing | 5</a:t>
            </a:r>
            <a:endParaRPr sz="1200" b="0">
              <a:solidFill>
                <a:srgbClr val="203344"/>
              </a:solidFill>
              <a:latin typeface="Arial"/>
              <a:ea typeface="Arial"/>
              <a:cs typeface="Arial"/>
            </a:endParaRPr>
          </a:p>
        </p:txBody>
      </p:sp>
      <p:sp>
        <p:nvSpPr>
          <p:cNvPr id="5" name="Rectangle 4">
            <a:extLst>
              <a:ext uri="{FF2B5EF4-FFF2-40B4-BE49-F238E27FC236}">
                <a16:creationId xmlns:a16="http://schemas.microsoft.com/office/drawing/2014/main" id="{CC35D492-ABDB-46BA-AE16-026C7410C362}"/>
              </a:ext>
            </a:extLst>
          </p:cNvPr>
          <p:cNvSpPr>
            <a:spLocks noGrp="1"/>
          </p:cNvSpPr>
          <p:nvPr/>
        </p:nvSpPr>
        <p:spPr>
          <a:xfrm>
            <a:off x="609600" y="1371600"/>
            <a:ext cx="10972800" cy="508000"/>
          </a:xfrm>
          <a:prstGeom prst="rect">
            <a:avLst/>
          </a:prstGeom>
          <a:solidFill>
            <a:srgbClr val="175F99"/>
          </a:solidFill>
          <a:ln w="0">
            <a:noFill/>
          </a:ln>
        </p:spPr>
        <p:txBody>
          <a:bodyPr anchor="ctr">
            <a:noAutofit/>
          </a:bodyPr>
          <a:lstStyle/>
          <a:p>
            <a:pPr algn="ctr">
              <a:defRPr sz="2100" b="1">
                <a:solidFill>
                  <a:srgbClr val="FFFFFF"/>
                </a:solidFill>
                <a:latin typeface="Arial"/>
                <a:ea typeface="Arial"/>
                <a:cs typeface="Arial"/>
              </a:defRPr>
            </a:pPr>
            <a:r>
              <a:rPr lang="it-IT" sz="2100" b="1">
                <a:solidFill>
                  <a:srgbClr val="FFFFFF"/>
                </a:solidFill>
                <a:latin typeface="Arial"/>
                <a:ea typeface="Arial"/>
                <a:cs typeface="Arial"/>
              </a:rPr>
              <a:t>Istogramma degli esiti misurati (1024 esecuzioni)</a:t>
            </a:r>
            <a:endParaRPr sz="2100" b="1">
              <a:solidFill>
                <a:srgbClr val="FFFFFF"/>
              </a:solidFill>
              <a:latin typeface="Arial"/>
              <a:ea typeface="Arial"/>
              <a:cs typeface="Arial"/>
            </a:endParaRPr>
          </a:p>
        </p:txBody>
      </p:sp>
      <p:sp>
        <p:nvSpPr>
          <p:cNvPr id="6" name="Rectangle: Rounded Corners 5">
            <a:extLst>
              <a:ext uri="{FF2B5EF4-FFF2-40B4-BE49-F238E27FC236}">
                <a16:creationId xmlns:a16="http://schemas.microsoft.com/office/drawing/2014/main" id="{6C6B2847-EFC1-4D02-B73B-9163FA7FF42D}"/>
              </a:ext>
            </a:extLst>
          </p:cNvPr>
          <p:cNvSpPr>
            <a:spLocks noGrp="1"/>
          </p:cNvSpPr>
          <p:nvPr/>
        </p:nvSpPr>
        <p:spPr>
          <a:xfrm>
            <a:off x="609600" y="2311399"/>
            <a:ext cx="3143250" cy="1905000"/>
          </a:xfrm>
          <a:prstGeom prst="roundRect">
            <a:avLst>
              <a:gd name="adj" fmla="val 6135"/>
            </a:avLst>
          </a:prstGeom>
          <a:solidFill>
            <a:srgbClr val="EEF4F8"/>
          </a:solidFill>
          <a:ln w="14288">
            <a:solidFill>
              <a:srgbClr val="5084BF"/>
            </a:solidFill>
          </a:ln>
        </p:spPr>
        <p:txBody>
          <a:bodyPr/>
          <a:lstStyle/>
          <a:p>
            <a:endParaRPr lang="en-GB"/>
          </a:p>
        </p:txBody>
      </p:sp>
      <p:sp>
        <p:nvSpPr>
          <p:cNvPr id="7" name="Rectangle 6">
            <a:extLst>
              <a:ext uri="{FF2B5EF4-FFF2-40B4-BE49-F238E27FC236}">
                <a16:creationId xmlns:a16="http://schemas.microsoft.com/office/drawing/2014/main" id="{50207F82-D486-4618-9019-4A9B6B896244}"/>
              </a:ext>
            </a:extLst>
          </p:cNvPr>
          <p:cNvSpPr>
            <a:spLocks noGrp="1"/>
          </p:cNvSpPr>
          <p:nvPr/>
        </p:nvSpPr>
        <p:spPr>
          <a:xfrm>
            <a:off x="790575" y="2463800"/>
            <a:ext cx="2781300" cy="552450"/>
          </a:xfrm>
          <a:prstGeom prst="rect">
            <a:avLst/>
          </a:prstGeom>
          <a:noFill/>
          <a:ln w="0">
            <a:noFill/>
          </a:ln>
        </p:spPr>
        <p:txBody>
          <a:bodyPr>
            <a:noAutofit/>
          </a:bodyPr>
          <a:lstStyle/>
          <a:p>
            <a:pPr>
              <a:defRPr sz="2175" b="1">
                <a:solidFill>
                  <a:srgbClr val="003366"/>
                </a:solidFill>
                <a:latin typeface="Arial"/>
                <a:ea typeface="Arial"/>
                <a:cs typeface="Arial"/>
              </a:defRPr>
            </a:pPr>
            <a:r>
              <a:rPr lang="it-IT" sz="2175" b="1">
                <a:solidFill>
                  <a:srgbClr val="003366"/>
                </a:solidFill>
                <a:latin typeface="Arial"/>
                <a:ea typeface="Arial"/>
                <a:cs typeface="Arial"/>
              </a:rPr>
              <a:t>TOP-1</a:t>
            </a:r>
            <a:endParaRPr sz="2175" b="1">
              <a:solidFill>
                <a:srgbClr val="003366"/>
              </a:solidFill>
              <a:latin typeface="Arial"/>
              <a:ea typeface="Arial"/>
              <a:cs typeface="Arial"/>
            </a:endParaRPr>
          </a:p>
        </p:txBody>
      </p:sp>
      <p:sp>
        <p:nvSpPr>
          <p:cNvPr id="8" name="Rectangle 7">
            <a:extLst>
              <a:ext uri="{FF2B5EF4-FFF2-40B4-BE49-F238E27FC236}">
                <a16:creationId xmlns:a16="http://schemas.microsoft.com/office/drawing/2014/main" id="{448DCFE9-33F7-45E1-A769-1CD6F8ABDA24}"/>
              </a:ext>
            </a:extLst>
          </p:cNvPr>
          <p:cNvSpPr>
            <a:spLocks noGrp="1"/>
          </p:cNvSpPr>
          <p:nvPr/>
        </p:nvSpPr>
        <p:spPr>
          <a:xfrm>
            <a:off x="790575" y="3022599"/>
            <a:ext cx="2781300" cy="1117600"/>
          </a:xfrm>
          <a:prstGeom prst="rect">
            <a:avLst/>
          </a:prstGeom>
          <a:noFill/>
          <a:ln w="0">
            <a:noFill/>
          </a:ln>
        </p:spPr>
        <p:txBody>
          <a:bodyPr>
            <a:noAutofit/>
          </a:bodyPr>
          <a:lstStyle/>
          <a:p>
            <a:pPr>
              <a:defRPr sz="1875" b="0">
                <a:solidFill>
                  <a:srgbClr val="203344"/>
                </a:solidFill>
                <a:latin typeface="Arial"/>
                <a:ea typeface="Arial"/>
                <a:cs typeface="Arial"/>
              </a:defRPr>
            </a:pPr>
            <a:r>
              <a:rPr lang="it-IT" sz="1875" b="0">
                <a:solidFill>
                  <a:srgbClr val="203344"/>
                </a:solidFill>
                <a:latin typeface="Arial"/>
                <a:ea typeface="Arial"/>
                <a:cs typeface="Arial"/>
              </a:rPr>
              <a:t>Verifica solo l'esito più frequente</a:t>
            </a:r>
            <a:endParaRPr sz="1875" b="0">
              <a:solidFill>
                <a:srgbClr val="203344"/>
              </a:solidFill>
              <a:latin typeface="Arial"/>
              <a:ea typeface="Arial"/>
              <a:cs typeface="Arial"/>
            </a:endParaRPr>
          </a:p>
        </p:txBody>
      </p:sp>
      <p:sp>
        <p:nvSpPr>
          <p:cNvPr id="9" name="Rectangle: Rounded Corners 8">
            <a:extLst>
              <a:ext uri="{FF2B5EF4-FFF2-40B4-BE49-F238E27FC236}">
                <a16:creationId xmlns:a16="http://schemas.microsoft.com/office/drawing/2014/main" id="{A7ED80C4-3A04-48D9-8600-16713139334D}"/>
              </a:ext>
            </a:extLst>
          </p:cNvPr>
          <p:cNvSpPr>
            <a:spLocks noGrp="1"/>
          </p:cNvSpPr>
          <p:nvPr/>
        </p:nvSpPr>
        <p:spPr>
          <a:xfrm>
            <a:off x="4524375" y="2311399"/>
            <a:ext cx="3143250" cy="1905000"/>
          </a:xfrm>
          <a:prstGeom prst="roundRect">
            <a:avLst>
              <a:gd name="adj" fmla="val 6135"/>
            </a:avLst>
          </a:prstGeom>
          <a:solidFill>
            <a:srgbClr val="EEF4F8"/>
          </a:solidFill>
          <a:ln w="14288">
            <a:solidFill>
              <a:srgbClr val="5084BF"/>
            </a:solidFill>
          </a:ln>
        </p:spPr>
        <p:txBody>
          <a:bodyPr/>
          <a:lstStyle/>
          <a:p>
            <a:endParaRPr lang="en-GB"/>
          </a:p>
        </p:txBody>
      </p:sp>
      <p:sp>
        <p:nvSpPr>
          <p:cNvPr id="10" name="Rectangle 9">
            <a:extLst>
              <a:ext uri="{FF2B5EF4-FFF2-40B4-BE49-F238E27FC236}">
                <a16:creationId xmlns:a16="http://schemas.microsoft.com/office/drawing/2014/main" id="{B7718673-DDE6-4B0E-80B1-2DEB783CDC31}"/>
              </a:ext>
            </a:extLst>
          </p:cNvPr>
          <p:cNvSpPr>
            <a:spLocks noGrp="1"/>
          </p:cNvSpPr>
          <p:nvPr/>
        </p:nvSpPr>
        <p:spPr>
          <a:xfrm>
            <a:off x="4705350" y="2463800"/>
            <a:ext cx="2781300" cy="552450"/>
          </a:xfrm>
          <a:prstGeom prst="rect">
            <a:avLst/>
          </a:prstGeom>
          <a:noFill/>
          <a:ln w="0">
            <a:noFill/>
          </a:ln>
        </p:spPr>
        <p:txBody>
          <a:bodyPr>
            <a:noAutofit/>
          </a:bodyPr>
          <a:lstStyle/>
          <a:p>
            <a:pPr>
              <a:defRPr sz="2175" b="1">
                <a:solidFill>
                  <a:srgbClr val="003366"/>
                </a:solidFill>
                <a:latin typeface="Arial"/>
                <a:ea typeface="Arial"/>
                <a:cs typeface="Arial"/>
              </a:defRPr>
            </a:pPr>
            <a:r>
              <a:rPr lang="it-IT" sz="2175" b="1">
                <a:solidFill>
                  <a:srgbClr val="003366"/>
                </a:solidFill>
                <a:latin typeface="Arial"/>
                <a:ea typeface="Arial"/>
                <a:cs typeface="Arial"/>
              </a:rPr>
              <a:t>TOP-4</a:t>
            </a:r>
            <a:endParaRPr sz="2175" b="1">
              <a:solidFill>
                <a:srgbClr val="003366"/>
              </a:solidFill>
              <a:latin typeface="Arial"/>
              <a:ea typeface="Arial"/>
              <a:cs typeface="Arial"/>
            </a:endParaRPr>
          </a:p>
        </p:txBody>
      </p:sp>
      <p:sp>
        <p:nvSpPr>
          <p:cNvPr id="11" name="Rectangle 10">
            <a:extLst>
              <a:ext uri="{FF2B5EF4-FFF2-40B4-BE49-F238E27FC236}">
                <a16:creationId xmlns:a16="http://schemas.microsoft.com/office/drawing/2014/main" id="{428CE012-A819-412F-A649-3EAB47BC23F5}"/>
              </a:ext>
            </a:extLst>
          </p:cNvPr>
          <p:cNvSpPr>
            <a:spLocks noGrp="1"/>
          </p:cNvSpPr>
          <p:nvPr/>
        </p:nvSpPr>
        <p:spPr>
          <a:xfrm>
            <a:off x="4705350" y="3022599"/>
            <a:ext cx="2781300" cy="1117600"/>
          </a:xfrm>
          <a:prstGeom prst="rect">
            <a:avLst/>
          </a:prstGeom>
          <a:noFill/>
          <a:ln w="0">
            <a:noFill/>
          </a:ln>
        </p:spPr>
        <p:txBody>
          <a:bodyPr>
            <a:noAutofit/>
          </a:bodyPr>
          <a:lstStyle/>
          <a:p>
            <a:pPr>
              <a:defRPr sz="1875" b="0">
                <a:solidFill>
                  <a:srgbClr val="203344"/>
                </a:solidFill>
                <a:latin typeface="Arial"/>
                <a:ea typeface="Arial"/>
                <a:cs typeface="Arial"/>
              </a:defRPr>
            </a:pPr>
            <a:r>
              <a:rPr lang="it-IT" sz="1875" b="0">
                <a:solidFill>
                  <a:srgbClr val="203344"/>
                </a:solidFill>
                <a:latin typeface="Arial"/>
                <a:ea typeface="Arial"/>
                <a:cs typeface="Arial"/>
              </a:rPr>
              <a:t>Verifica i quattro esiti più frequenti, uno alla volta, finché trova i fattori</a:t>
            </a:r>
            <a:endParaRPr sz="1875" b="0">
              <a:solidFill>
                <a:srgbClr val="203344"/>
              </a:solidFill>
              <a:latin typeface="Arial"/>
              <a:ea typeface="Arial"/>
              <a:cs typeface="Arial"/>
            </a:endParaRPr>
          </a:p>
        </p:txBody>
      </p:sp>
      <p:sp>
        <p:nvSpPr>
          <p:cNvPr id="12" name="Rectangle: Rounded Corners 11">
            <a:extLst>
              <a:ext uri="{FF2B5EF4-FFF2-40B4-BE49-F238E27FC236}">
                <a16:creationId xmlns:a16="http://schemas.microsoft.com/office/drawing/2014/main" id="{8E8D58EB-1F29-489F-84AA-EE5A27A893AB}"/>
              </a:ext>
            </a:extLst>
          </p:cNvPr>
          <p:cNvSpPr>
            <a:spLocks noGrp="1"/>
          </p:cNvSpPr>
          <p:nvPr/>
        </p:nvSpPr>
        <p:spPr>
          <a:xfrm>
            <a:off x="8439150" y="2311399"/>
            <a:ext cx="3143250" cy="1905000"/>
          </a:xfrm>
          <a:prstGeom prst="roundRect">
            <a:avLst>
              <a:gd name="adj" fmla="val 6135"/>
            </a:avLst>
          </a:prstGeom>
          <a:solidFill>
            <a:srgbClr val="EEF4F8"/>
          </a:solidFill>
          <a:ln w="14288">
            <a:solidFill>
              <a:srgbClr val="5084BF"/>
            </a:solidFill>
          </a:ln>
        </p:spPr>
        <p:txBody>
          <a:bodyPr/>
          <a:lstStyle/>
          <a:p>
            <a:endParaRPr lang="en-GB"/>
          </a:p>
        </p:txBody>
      </p:sp>
      <p:sp>
        <p:nvSpPr>
          <p:cNvPr id="13" name="Rectangle 12">
            <a:extLst>
              <a:ext uri="{FF2B5EF4-FFF2-40B4-BE49-F238E27FC236}">
                <a16:creationId xmlns:a16="http://schemas.microsoft.com/office/drawing/2014/main" id="{530CC7E4-D9E5-44BA-A967-3C00C77DC3EC}"/>
              </a:ext>
            </a:extLst>
          </p:cNvPr>
          <p:cNvSpPr>
            <a:spLocks noGrp="1"/>
          </p:cNvSpPr>
          <p:nvPr/>
        </p:nvSpPr>
        <p:spPr>
          <a:xfrm>
            <a:off x="8620125" y="2463800"/>
            <a:ext cx="2781300" cy="552450"/>
          </a:xfrm>
          <a:prstGeom prst="rect">
            <a:avLst/>
          </a:prstGeom>
          <a:noFill/>
          <a:ln w="0">
            <a:noFill/>
          </a:ln>
        </p:spPr>
        <p:txBody>
          <a:bodyPr>
            <a:noAutofit/>
          </a:bodyPr>
          <a:lstStyle/>
          <a:p>
            <a:pPr>
              <a:defRPr sz="2175" b="1">
                <a:solidFill>
                  <a:srgbClr val="003366"/>
                </a:solidFill>
                <a:latin typeface="Arial"/>
                <a:ea typeface="Arial"/>
                <a:cs typeface="Arial"/>
              </a:defRPr>
            </a:pPr>
            <a:r>
              <a:rPr lang="it-IT" sz="2175" b="1">
                <a:solidFill>
                  <a:srgbClr val="003366"/>
                </a:solidFill>
                <a:latin typeface="Arial"/>
                <a:ea typeface="Arial"/>
                <a:cs typeface="Arial"/>
              </a:rPr>
              <a:t>Metodo 2</a:t>
            </a:r>
            <a:endParaRPr sz="2175" b="1">
              <a:solidFill>
                <a:srgbClr val="003366"/>
              </a:solidFill>
              <a:latin typeface="Arial"/>
              <a:ea typeface="Arial"/>
              <a:cs typeface="Arial"/>
            </a:endParaRPr>
          </a:p>
        </p:txBody>
      </p:sp>
      <p:sp>
        <p:nvSpPr>
          <p:cNvPr id="14" name="Rectangle 13">
            <a:extLst>
              <a:ext uri="{FF2B5EF4-FFF2-40B4-BE49-F238E27FC236}">
                <a16:creationId xmlns:a16="http://schemas.microsoft.com/office/drawing/2014/main" id="{247C1F09-0415-4CBC-9397-423247F26ABF}"/>
              </a:ext>
            </a:extLst>
          </p:cNvPr>
          <p:cNvSpPr>
            <a:spLocks noGrp="1"/>
          </p:cNvSpPr>
          <p:nvPr/>
        </p:nvSpPr>
        <p:spPr>
          <a:xfrm>
            <a:off x="8620125" y="3022599"/>
            <a:ext cx="2781300" cy="1117600"/>
          </a:xfrm>
          <a:prstGeom prst="rect">
            <a:avLst/>
          </a:prstGeom>
          <a:noFill/>
          <a:ln w="0">
            <a:noFill/>
          </a:ln>
        </p:spPr>
        <p:txBody>
          <a:bodyPr>
            <a:noAutofit/>
          </a:bodyPr>
          <a:lstStyle/>
          <a:p>
            <a:pPr>
              <a:defRPr sz="1875" b="0">
                <a:solidFill>
                  <a:srgbClr val="203344"/>
                </a:solidFill>
                <a:latin typeface="Arial"/>
                <a:ea typeface="Arial"/>
                <a:cs typeface="Arial"/>
              </a:defRPr>
            </a:pPr>
            <a:r>
              <a:rPr lang="it-IT" sz="1875" b="0">
                <a:solidFill>
                  <a:srgbClr val="203344"/>
                </a:solidFill>
                <a:latin typeface="Arial"/>
                <a:ea typeface="Arial"/>
                <a:cs typeface="Arial"/>
              </a:rPr>
              <a:t>Applica TOP-4 solo se un classificatore ML lo approva</a:t>
            </a:r>
            <a:endParaRPr sz="1875" b="0">
              <a:solidFill>
                <a:srgbClr val="203344"/>
              </a:solidFill>
              <a:latin typeface="Arial"/>
              <a:ea typeface="Arial"/>
              <a:cs typeface="Arial"/>
            </a:endParaRPr>
          </a:p>
        </p:txBody>
      </p:sp>
      <p:sp>
        <p:nvSpPr>
          <p:cNvPr id="20" name="Arrow: Down 19">
            <a:extLst>
              <a:ext uri="{FF2B5EF4-FFF2-40B4-BE49-F238E27FC236}">
                <a16:creationId xmlns:a16="http://schemas.microsoft.com/office/drawing/2014/main" id="{88239EA8-D62F-53F3-64AE-80BC965C28FE}"/>
              </a:ext>
            </a:extLst>
          </p:cNvPr>
          <p:cNvSpPr/>
          <p:nvPr/>
        </p:nvSpPr>
        <p:spPr>
          <a:xfrm>
            <a:off x="2066925" y="1981200"/>
            <a:ext cx="228600" cy="203200"/>
          </a:xfrm>
          <a:prstGeom prst="downArrow">
            <a:avLst/>
          </a:prstGeom>
          <a:solidFill>
            <a:srgbClr val="647487"/>
          </a:solidFill>
          <a:ln w="19050">
            <a:noFill/>
            <a:prstDash val="solid"/>
          </a:ln>
          <a:effectLst/>
          <a:extLst>
            <a:ext uri="{91240B29-F687-4F45-9708-019B960494DF}">
              <a14:hiddenLine xmlns:a14="http://schemas.microsoft.com/office/drawing/2010/main" w="19050">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Arrow: Down 20">
            <a:extLst>
              <a:ext uri="{FF2B5EF4-FFF2-40B4-BE49-F238E27FC236}">
                <a16:creationId xmlns:a16="http://schemas.microsoft.com/office/drawing/2014/main" id="{3D70808E-B7B3-BDB5-55B7-351033EBED55}"/>
              </a:ext>
            </a:extLst>
          </p:cNvPr>
          <p:cNvSpPr/>
          <p:nvPr/>
        </p:nvSpPr>
        <p:spPr>
          <a:xfrm>
            <a:off x="2066925" y="4318000"/>
            <a:ext cx="228600" cy="203200"/>
          </a:xfrm>
          <a:prstGeom prst="downArrow">
            <a:avLst/>
          </a:prstGeom>
          <a:solidFill>
            <a:srgbClr val="647487"/>
          </a:solidFill>
          <a:ln w="19050">
            <a:noFill/>
            <a:prstDash val="solid"/>
          </a:ln>
          <a:effectLst/>
          <a:extLst>
            <a:ext uri="{91240B29-F687-4F45-9708-019B960494DF}">
              <a14:hiddenLine xmlns:a14="http://schemas.microsoft.com/office/drawing/2010/main" w="19050">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Arrow: Down 21">
            <a:extLst>
              <a:ext uri="{FF2B5EF4-FFF2-40B4-BE49-F238E27FC236}">
                <a16:creationId xmlns:a16="http://schemas.microsoft.com/office/drawing/2014/main" id="{D423980A-B534-E5EC-5903-37B0C4136F54}"/>
              </a:ext>
            </a:extLst>
          </p:cNvPr>
          <p:cNvSpPr/>
          <p:nvPr/>
        </p:nvSpPr>
        <p:spPr>
          <a:xfrm>
            <a:off x="5981700" y="1981200"/>
            <a:ext cx="228600" cy="203200"/>
          </a:xfrm>
          <a:prstGeom prst="downArrow">
            <a:avLst/>
          </a:prstGeom>
          <a:solidFill>
            <a:srgbClr val="647487"/>
          </a:solidFill>
          <a:ln w="19050">
            <a:noFill/>
            <a:prstDash val="solid"/>
          </a:ln>
          <a:effectLst/>
          <a:extLst>
            <a:ext uri="{91240B29-F687-4F45-9708-019B960494DF}">
              <a14:hiddenLine xmlns:a14="http://schemas.microsoft.com/office/drawing/2010/main" w="19050">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Arrow: Down 22">
            <a:extLst>
              <a:ext uri="{FF2B5EF4-FFF2-40B4-BE49-F238E27FC236}">
                <a16:creationId xmlns:a16="http://schemas.microsoft.com/office/drawing/2014/main" id="{C6B68448-7E61-3309-F0A1-DE27F018B49C}"/>
              </a:ext>
            </a:extLst>
          </p:cNvPr>
          <p:cNvSpPr/>
          <p:nvPr/>
        </p:nvSpPr>
        <p:spPr>
          <a:xfrm>
            <a:off x="5981700" y="4318000"/>
            <a:ext cx="228600" cy="203200"/>
          </a:xfrm>
          <a:prstGeom prst="downArrow">
            <a:avLst/>
          </a:prstGeom>
          <a:solidFill>
            <a:srgbClr val="647487"/>
          </a:solidFill>
          <a:ln w="19050">
            <a:noFill/>
            <a:prstDash val="solid"/>
          </a:ln>
          <a:effectLst/>
          <a:extLst>
            <a:ext uri="{91240B29-F687-4F45-9708-019B960494DF}">
              <a14:hiddenLine xmlns:a14="http://schemas.microsoft.com/office/drawing/2010/main" w="19050">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Arrow: Down 23">
            <a:extLst>
              <a:ext uri="{FF2B5EF4-FFF2-40B4-BE49-F238E27FC236}">
                <a16:creationId xmlns:a16="http://schemas.microsoft.com/office/drawing/2014/main" id="{FDD4F7C2-3C29-B429-391D-8209019EE7DB}"/>
              </a:ext>
            </a:extLst>
          </p:cNvPr>
          <p:cNvSpPr/>
          <p:nvPr/>
        </p:nvSpPr>
        <p:spPr>
          <a:xfrm>
            <a:off x="9896475" y="1981200"/>
            <a:ext cx="228600" cy="203200"/>
          </a:xfrm>
          <a:prstGeom prst="downArrow">
            <a:avLst/>
          </a:prstGeom>
          <a:solidFill>
            <a:srgbClr val="647487"/>
          </a:solidFill>
          <a:ln w="19050">
            <a:noFill/>
            <a:prstDash val="solid"/>
          </a:ln>
          <a:effectLst/>
          <a:extLst>
            <a:ext uri="{91240B29-F687-4F45-9708-019B960494DF}">
              <a14:hiddenLine xmlns:a14="http://schemas.microsoft.com/office/drawing/2010/main" w="19050">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Arrow: Down 24">
            <a:extLst>
              <a:ext uri="{FF2B5EF4-FFF2-40B4-BE49-F238E27FC236}">
                <a16:creationId xmlns:a16="http://schemas.microsoft.com/office/drawing/2014/main" id="{EBBA9AE0-D3D5-3C10-C16D-089BDBF025D6}"/>
              </a:ext>
            </a:extLst>
          </p:cNvPr>
          <p:cNvSpPr/>
          <p:nvPr/>
        </p:nvSpPr>
        <p:spPr>
          <a:xfrm>
            <a:off x="9896475" y="4318000"/>
            <a:ext cx="228600" cy="203200"/>
          </a:xfrm>
          <a:prstGeom prst="downArrow">
            <a:avLst/>
          </a:prstGeom>
          <a:solidFill>
            <a:srgbClr val="647487"/>
          </a:solidFill>
          <a:ln w="19050">
            <a:noFill/>
            <a:prstDash val="solid"/>
          </a:ln>
          <a:effectLst/>
          <a:extLst>
            <a:ext uri="{91240B29-F687-4F45-9708-019B960494DF}">
              <a14:hiddenLine xmlns:a14="http://schemas.microsoft.com/office/drawing/2010/main" w="19050">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ectangle 26">
            <a:extLst>
              <a:ext uri="{FF2B5EF4-FFF2-40B4-BE49-F238E27FC236}">
                <a16:creationId xmlns:a16="http://schemas.microsoft.com/office/drawing/2014/main" id="{B611238E-C082-6AF6-60EE-43C467FDADAA}"/>
              </a:ext>
            </a:extLst>
          </p:cNvPr>
          <p:cNvSpPr/>
          <p:nvPr/>
        </p:nvSpPr>
        <p:spPr>
          <a:xfrm>
            <a:off x="609600" y="4622800"/>
            <a:ext cx="10972800" cy="508000"/>
          </a:xfrm>
          <a:prstGeom prst="rect">
            <a:avLst/>
          </a:prstGeom>
          <a:solidFill>
            <a:srgbClr val="EEF4F8"/>
          </a:solidFill>
          <a:ln w="14288">
            <a:solidFill>
              <a:srgbClr val="5084B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it-IT" b="1">
                <a:solidFill>
                  <a:srgbClr val="003366"/>
                </a:solidFill>
                <a:latin typeface="Arial" panose="020B0604020202020204" pitchFamily="34" charset="0"/>
              </a:rPr>
              <a:t>Verifica classica (frazioni continue e MCD) → fattori di N</a:t>
            </a:r>
            <a:endParaRPr lang="en-GB" b="1">
              <a:solidFill>
                <a:srgbClr val="003366"/>
              </a:solidFill>
              <a:latin typeface="Arial" panose="020B0604020202020204" pitchFamily="34" charset="0"/>
            </a:endParaRPr>
          </a:p>
        </p:txBody>
      </p:sp>
      <p:sp>
        <p:nvSpPr>
          <p:cNvPr id="28" name="TextBox 27">
            <a:extLst>
              <a:ext uri="{FF2B5EF4-FFF2-40B4-BE49-F238E27FC236}">
                <a16:creationId xmlns:a16="http://schemas.microsoft.com/office/drawing/2014/main" id="{A0E657BA-EE5E-C3DF-BEE0-723210ECF337}"/>
              </a:ext>
            </a:extLst>
          </p:cNvPr>
          <p:cNvSpPr txBox="1"/>
          <p:nvPr/>
        </p:nvSpPr>
        <p:spPr>
          <a:xfrm>
            <a:off x="609600" y="5588000"/>
            <a:ext cx="10972800" cy="369332"/>
          </a:xfrm>
          <a:prstGeom prst="rect">
            <a:avLst/>
          </a:prstGeom>
          <a:noFill/>
        </p:spPr>
        <p:txBody>
          <a:bodyPr vert="horz" wrap="square" rtlCol="0">
            <a:noAutofit/>
          </a:bodyPr>
          <a:lstStyle/>
          <a:p>
            <a:r>
              <a:rPr lang="it-IT" sz="2025" b="1">
                <a:solidFill>
                  <a:srgbClr val="175F99"/>
                </a:solidFill>
                <a:latin typeface="Arial" panose="020B0604020202020204" pitchFamily="34" charset="0"/>
              </a:rPr>
              <a:t>Confronto chiave: Metodo 2 contro TOP-4.</a:t>
            </a:r>
          </a:p>
          <a:p>
            <a:r>
              <a:rPr lang="it-IT" sz="2025" b="1">
                <a:solidFill>
                  <a:srgbClr val="175F99"/>
                </a:solidFill>
                <a:latin typeface="Arial" panose="020B0604020202020204" pitchFamily="34" charset="0"/>
              </a:rPr>
              <a:t>Così si vede quanto conta davvero il machine learning.</a:t>
            </a:r>
            <a:endParaRPr lang="en-GB" sz="2025" b="1">
              <a:solidFill>
                <a:srgbClr val="175F99"/>
              </a:solidFill>
              <a:latin typeface="Arial" panose="020B0604020202020204" pitchFamily="34" charset="0"/>
            </a:endParaRPr>
          </a:p>
        </p:txBody>
      </p:sp>
    </p:spTree>
    <p:extLst>
      <p:ext uri="{BB962C8B-B14F-4D97-AF65-F5344CB8AC3E}">
        <p14:creationId xmlns:p14="http://schemas.microsoft.com/office/powerpoint/2010/main" val="18777476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13" name="Picture 12" descr="v2_s14_iterazioni_primo_successo.png"/>
          <p:cNvPicPr>
            <a:picLocks noChangeAspect="1"/>
          </p:cNvPicPr>
          <p:nvPr/>
        </p:nvPicPr>
        <p:blipFill>
          <a:blip r:embed="rId5"/>
          <a:stretch>
            <a:fillRect/>
          </a:stretch>
        </p:blipFill>
        <p:spPr>
          <a:xfrm>
            <a:off x="609600" y="1428750"/>
            <a:ext cx="6333428" cy="4095750"/>
          </a:xfrm>
          <a:prstGeom prst="rect">
            <a:avLst/>
          </a:prstGeom>
        </p:spPr>
      </p:pic>
      <p:sp>
        <p:nvSpPr>
          <p:cNvPr id="11" name="Rectangle 10">
            <a:extLst>
              <a:ext uri="{FF2B5EF4-FFF2-40B4-BE49-F238E27FC236}">
                <a16:creationId xmlns:a16="http://schemas.microsoft.com/office/drawing/2014/main" id="{9E95F82B-CDE8-448E-B6D8-A3E05F218E05}"/>
              </a:ext>
            </a:extLst>
          </p:cNvPr>
          <p:cNvSpPr>
            <a:spLocks noGrp="1"/>
          </p:cNvSpPr>
          <p:nvPr/>
        </p:nvSpPr>
        <p:spPr>
          <a:xfrm>
            <a:off x="609600" y="400050"/>
            <a:ext cx="9906000" cy="619125"/>
          </a:xfrm>
          <a:prstGeom prst="rect">
            <a:avLst/>
          </a:prstGeom>
          <a:noFill/>
          <a:ln w="0">
            <a:noFill/>
          </a:ln>
        </p:spPr>
        <p:txBody>
          <a:bodyPr>
            <a:noAutofit/>
          </a:bodyPr>
          <a:lstStyle/>
          <a:p>
            <a:pPr>
              <a:defRPr sz="2700" b="0">
                <a:solidFill>
                  <a:srgbClr val="003366"/>
                </a:solidFill>
                <a:latin typeface="Arial"/>
                <a:ea typeface="Arial"/>
                <a:cs typeface="Arial"/>
              </a:defRPr>
            </a:pPr>
            <a:r>
              <a:rPr lang="it-IT" sz="2700" b="0">
                <a:solidFill>
                  <a:srgbClr val="003366"/>
                </a:solidFill>
                <a:latin typeface="Arial"/>
                <a:ea typeface="Arial"/>
                <a:cs typeface="Arial"/>
              </a:rPr>
              <a:t>Risultato 1: il beneficio viene da TOP-4</a:t>
            </a:r>
            <a:endParaRPr sz="2700" b="0">
              <a:solidFill>
                <a:srgbClr val="003366"/>
              </a:solidFill>
              <a:latin typeface="Arial"/>
              <a:ea typeface="Arial"/>
              <a:cs typeface="Arial"/>
            </a:endParaRPr>
          </a:p>
        </p:txBody>
      </p:sp>
      <p:pic>
        <p:nvPicPr>
          <p:cNvPr id="12" name="Picture 11"/>
          <p:cNvPicPr>
            <a:picLocks noChangeAspect="1"/>
          </p:cNvPicPr>
          <p:nvPr/>
        </p:nvPicPr>
        <p:blipFill>
          <a:blip r:embed="rId3"/>
          <a:stretch/>
        </p:blipFill>
        <p:spPr>
          <a:xfrm>
            <a:off x="10896600" y="243116"/>
            <a:ext cx="838200" cy="694869"/>
          </a:xfrm>
          <a:prstGeom prst="rect">
            <a:avLst/>
          </a:prstGeom>
        </p:spPr>
      </p:pic>
      <p:sp>
        <p:nvSpPr>
          <p:cNvPr id="3" name="Rectangle 2">
            <a:extLst>
              <a:ext uri="{FF2B5EF4-FFF2-40B4-BE49-F238E27FC236}">
                <a16:creationId xmlns:a16="http://schemas.microsoft.com/office/drawing/2014/main" id="{7441F74C-BA89-458E-AB53-0F4F7EFF5A41}"/>
              </a:ext>
            </a:extLst>
          </p:cNvPr>
          <p:cNvSpPr>
            <a:spLocks noGrp="1"/>
          </p:cNvSpPr>
          <p:nvPr/>
        </p:nvSpPr>
        <p:spPr>
          <a:xfrm>
            <a:off x="609600" y="1095375"/>
            <a:ext cx="10096500" cy="19050"/>
          </a:xfrm>
          <a:prstGeom prst="rect">
            <a:avLst/>
          </a:prstGeom>
          <a:solidFill>
            <a:srgbClr val="5084BF"/>
          </a:solidFill>
          <a:ln w="0">
            <a:noFill/>
          </a:ln>
        </p:spPr>
        <p:txBody>
          <a:bodyPr/>
          <a:lstStyle/>
          <a:p>
            <a:endParaRPr lang="en-GB"/>
          </a:p>
        </p:txBody>
      </p:sp>
      <p:sp>
        <p:nvSpPr>
          <p:cNvPr id="4" name="Rectangle 3">
            <a:extLst>
              <a:ext uri="{FF2B5EF4-FFF2-40B4-BE49-F238E27FC236}">
                <a16:creationId xmlns:a16="http://schemas.microsoft.com/office/drawing/2014/main" id="{ABD41A47-49F1-4096-92F6-B4B9DFAA222F}"/>
              </a:ext>
            </a:extLst>
          </p:cNvPr>
          <p:cNvSpPr>
            <a:spLocks noGrp="1"/>
          </p:cNvSpPr>
          <p:nvPr/>
        </p:nvSpPr>
        <p:spPr>
          <a:xfrm>
            <a:off x="7477125" y="828675"/>
            <a:ext cx="3228975" cy="219075"/>
          </a:xfrm>
          <a:prstGeom prst="rect">
            <a:avLst/>
          </a:prstGeom>
          <a:noFill/>
          <a:ln w="0">
            <a:noFill/>
          </a:ln>
        </p:spPr>
        <p:txBody>
          <a:bodyPr rIns="0">
            <a:noAutofit/>
          </a:bodyPr>
          <a:lstStyle/>
          <a:p>
            <a:pPr algn="r">
              <a:defRPr sz="1200" b="0">
                <a:solidFill>
                  <a:srgbClr val="203344"/>
                </a:solidFill>
                <a:latin typeface="Arial"/>
                <a:ea typeface="Arial"/>
                <a:cs typeface="Arial"/>
              </a:defRPr>
            </a:pPr>
            <a:r>
              <a:rPr lang="it-IT" sz="1200" b="0">
                <a:solidFill>
                  <a:srgbClr val="203344"/>
                </a:solidFill>
                <a:latin typeface="Arial"/>
                <a:ea typeface="Arial"/>
                <a:cs typeface="Arial"/>
              </a:rPr>
              <a:t>Strategia 1 · Post-processing | 6</a:t>
            </a:r>
            <a:endParaRPr sz="1200" b="0">
              <a:solidFill>
                <a:srgbClr val="203344"/>
              </a:solidFill>
              <a:latin typeface="Arial"/>
              <a:ea typeface="Arial"/>
              <a:cs typeface="Arial"/>
            </a:endParaRPr>
          </a:p>
        </p:txBody>
      </p:sp>
      <p:sp>
        <p:nvSpPr>
          <p:cNvPr id="6" name="Rectangle 5">
            <a:extLst>
              <a:ext uri="{FF2B5EF4-FFF2-40B4-BE49-F238E27FC236}">
                <a16:creationId xmlns:a16="http://schemas.microsoft.com/office/drawing/2014/main" id="{37BF5463-337E-49AE-80CA-06E347012199}"/>
              </a:ext>
            </a:extLst>
          </p:cNvPr>
          <p:cNvSpPr>
            <a:spLocks noGrp="1"/>
          </p:cNvSpPr>
          <p:nvPr/>
        </p:nvSpPr>
        <p:spPr>
          <a:xfrm>
            <a:off x="7810500" y="1628775"/>
            <a:ext cx="3771900" cy="800100"/>
          </a:xfrm>
          <a:prstGeom prst="rect">
            <a:avLst/>
          </a:prstGeom>
          <a:noFill/>
          <a:ln w="0">
            <a:noFill/>
          </a:ln>
        </p:spPr>
        <p:txBody>
          <a:bodyPr>
            <a:noAutofit/>
          </a:bodyPr>
          <a:lstStyle/>
          <a:p>
            <a:pPr>
              <a:defRPr sz="5250" b="1">
                <a:solidFill>
                  <a:srgbClr val="175F99"/>
                </a:solidFill>
                <a:latin typeface="Arial"/>
                <a:ea typeface="Arial"/>
                <a:cs typeface="Arial"/>
              </a:defRPr>
            </a:pPr>
            <a:r>
              <a:rPr sz="5250" b="1">
                <a:solidFill>
                  <a:srgbClr val="B5641A"/>
                </a:solidFill>
                <a:latin typeface="Arial"/>
                <a:ea typeface="Arial"/>
                <a:cs typeface="Arial"/>
              </a:rPr>
              <a:t>1,00</a:t>
            </a:r>
          </a:p>
        </p:txBody>
      </p:sp>
      <p:sp>
        <p:nvSpPr>
          <p:cNvPr id="7" name="Rectangle 6">
            <a:extLst>
              <a:ext uri="{FF2B5EF4-FFF2-40B4-BE49-F238E27FC236}">
                <a16:creationId xmlns:a16="http://schemas.microsoft.com/office/drawing/2014/main" id="{BFC548CF-E898-4D0E-BA1B-8F970B902EDF}"/>
              </a:ext>
            </a:extLst>
          </p:cNvPr>
          <p:cNvSpPr>
            <a:spLocks noGrp="1"/>
          </p:cNvSpPr>
          <p:nvPr/>
        </p:nvSpPr>
        <p:spPr>
          <a:xfrm>
            <a:off x="7810500" y="2466975"/>
            <a:ext cx="3771900" cy="1095375"/>
          </a:xfrm>
          <a:prstGeom prst="rect">
            <a:avLst/>
          </a:prstGeom>
          <a:noFill/>
          <a:ln w="0">
            <a:noFill/>
          </a:ln>
        </p:spPr>
        <p:txBody>
          <a:bodyPr>
            <a:noAutofit/>
          </a:bodyPr>
          <a:lstStyle/>
          <a:p>
            <a:pPr>
              <a:defRPr sz="2025" b="0">
                <a:solidFill>
                  <a:srgbClr val="203344"/>
                </a:solidFill>
                <a:latin typeface="Arial"/>
                <a:ea typeface="Arial"/>
                <a:cs typeface="Arial"/>
              </a:defRPr>
            </a:pPr>
            <a:r>
              <a:rPr lang="it-IT" sz="2025" b="0">
                <a:solidFill>
                  <a:srgbClr val="203344"/>
                </a:solidFill>
                <a:latin typeface="Arial"/>
                <a:ea typeface="Arial"/>
                <a:cs typeface="Arial"/>
              </a:rPr>
              <a:t>tentativi medi con TOP-4</a:t>
            </a:r>
          </a:p>
          <a:p>
            <a:pPr>
              <a:defRPr sz="2025" b="0">
                <a:solidFill>
                  <a:srgbClr val="203344"/>
                </a:solidFill>
                <a:latin typeface="Arial"/>
                <a:ea typeface="Arial"/>
                <a:cs typeface="Arial"/>
              </a:defRPr>
            </a:pPr>
            <a:r>
              <a:rPr lang="it-IT" sz="2025" b="0">
                <a:solidFill>
                  <a:srgbClr val="203344"/>
                </a:solidFill>
                <a:latin typeface="Arial"/>
                <a:ea typeface="Arial"/>
                <a:cs typeface="Arial"/>
              </a:rPr>
              <a:t>(30 repliche su 30)</a:t>
            </a:r>
            <a:endParaRPr sz="2025" b="0">
              <a:solidFill>
                <a:srgbClr val="203344"/>
              </a:solidFill>
              <a:latin typeface="Arial"/>
              <a:ea typeface="Arial"/>
              <a:cs typeface="Arial"/>
            </a:endParaRPr>
          </a:p>
        </p:txBody>
      </p:sp>
      <p:sp>
        <p:nvSpPr>
          <p:cNvPr id="8" name="Rectangle 7">
            <a:extLst>
              <a:ext uri="{FF2B5EF4-FFF2-40B4-BE49-F238E27FC236}">
                <a16:creationId xmlns:a16="http://schemas.microsoft.com/office/drawing/2014/main" id="{1C2AA07C-8300-40A1-AF46-782A9117948E}"/>
              </a:ext>
            </a:extLst>
          </p:cNvPr>
          <p:cNvSpPr>
            <a:spLocks noGrp="1"/>
          </p:cNvSpPr>
          <p:nvPr/>
        </p:nvSpPr>
        <p:spPr>
          <a:xfrm>
            <a:off x="7810500" y="3714750"/>
            <a:ext cx="3771900" cy="1047750"/>
          </a:xfrm>
          <a:prstGeom prst="rect">
            <a:avLst/>
          </a:prstGeom>
          <a:noFill/>
          <a:ln w="0">
            <a:noFill/>
          </a:ln>
        </p:spPr>
        <p:txBody>
          <a:bodyPr>
            <a:noAutofit/>
          </a:bodyPr>
          <a:lstStyle/>
          <a:p>
            <a:pPr>
              <a:defRPr sz="2175" b="0">
                <a:solidFill>
                  <a:srgbClr val="203344"/>
                </a:solidFill>
                <a:latin typeface="Arial"/>
                <a:ea typeface="Arial"/>
                <a:cs typeface="Arial"/>
              </a:defRPr>
            </a:pPr>
            <a:r>
              <a:rPr lang="it-IT" sz="1725" b="1">
                <a:solidFill>
                  <a:srgbClr val="175F99"/>
                </a:solidFill>
                <a:latin typeface="Arial"/>
                <a:ea typeface="Arial"/>
                <a:cs typeface="Arial"/>
              </a:rPr>
              <a:t>Gli altri metodi (UC1 · UC2)</a:t>
            </a:r>
          </a:p>
          <a:p>
            <a:pPr>
              <a:defRPr sz="2175" b="0">
                <a:solidFill>
                  <a:srgbClr val="203344"/>
                </a:solidFill>
                <a:latin typeface="Arial"/>
                <a:ea typeface="Arial"/>
                <a:cs typeface="Arial"/>
              </a:defRPr>
            </a:pPr>
            <a:r>
              <a:rPr lang="it-IT">
                <a:solidFill>
                  <a:srgbClr val="203344"/>
                </a:solidFill>
                <a:latin typeface="Arial"/>
                <a:ea typeface="Arial"/>
                <a:cs typeface="Arial"/>
              </a:rPr>
              <a:t>TOP-1: 1,37 · 1,50</a:t>
            </a:r>
          </a:p>
          <a:p>
            <a:pPr>
              <a:defRPr sz="2175" b="0">
                <a:solidFill>
                  <a:srgbClr val="203344"/>
                </a:solidFill>
                <a:latin typeface="Arial"/>
                <a:ea typeface="Arial"/>
                <a:cs typeface="Arial"/>
              </a:defRPr>
            </a:pPr>
            <a:r>
              <a:rPr lang="it-IT">
                <a:solidFill>
                  <a:srgbClr val="203344"/>
                </a:solidFill>
                <a:latin typeface="Arial"/>
                <a:ea typeface="Arial"/>
                <a:cs typeface="Arial"/>
              </a:rPr>
              <a:t>Metodo 2: 1,50 · 1,37</a:t>
            </a:r>
            <a:endParaRPr>
              <a:solidFill>
                <a:srgbClr val="203344"/>
              </a:solidFill>
              <a:latin typeface="Arial"/>
              <a:ea typeface="Arial"/>
              <a:cs typeface="Arial"/>
            </a:endParaRPr>
          </a:p>
        </p:txBody>
      </p:sp>
      <p:sp>
        <p:nvSpPr>
          <p:cNvPr id="10" name="Rectangle 9">
            <a:extLst>
              <a:ext uri="{FF2B5EF4-FFF2-40B4-BE49-F238E27FC236}">
                <a16:creationId xmlns:a16="http://schemas.microsoft.com/office/drawing/2014/main" id="{A7AC68A4-E2EE-4085-845B-47EDAAA6D577}"/>
              </a:ext>
            </a:extLst>
          </p:cNvPr>
          <p:cNvSpPr>
            <a:spLocks noGrp="1"/>
          </p:cNvSpPr>
          <p:nvPr/>
        </p:nvSpPr>
        <p:spPr>
          <a:xfrm>
            <a:off x="609600" y="6229350"/>
            <a:ext cx="10972800" cy="495300"/>
          </a:xfrm>
          <a:prstGeom prst="rect">
            <a:avLst/>
          </a:prstGeom>
          <a:noFill/>
          <a:ln w="0">
            <a:noFill/>
          </a:ln>
        </p:spPr>
        <p:txBody>
          <a:bodyPr>
            <a:noAutofit/>
          </a:bodyPr>
          <a:lstStyle/>
          <a:p>
            <a:pPr>
              <a:defRPr sz="1950" b="1">
                <a:solidFill>
                  <a:srgbClr val="175F99"/>
                </a:solidFill>
                <a:latin typeface="Arial"/>
                <a:ea typeface="Arial"/>
                <a:cs typeface="Arial"/>
              </a:defRPr>
            </a:pPr>
            <a:r>
              <a:rPr lang="it-IT" sz="1950" b="1">
                <a:solidFill>
                  <a:srgbClr val="175F99"/>
                </a:solidFill>
                <a:latin typeface="Arial"/>
                <a:ea typeface="Arial"/>
                <a:cs typeface="Arial"/>
              </a:rPr>
              <a:t>Il vantaggio viene dai candidati in più, non dal machine learning.</a:t>
            </a:r>
            <a:endParaRPr sz="1950" b="1">
              <a:solidFill>
                <a:srgbClr val="175F99"/>
              </a:solidFill>
              <a:latin typeface="Arial"/>
              <a:ea typeface="Arial"/>
              <a:cs typeface="Arial"/>
            </a:endParaRPr>
          </a:p>
        </p:txBody>
      </p:sp>
      <p:sp>
        <p:nvSpPr>
          <p:cNvPr id="14" name="TextBox 13"/>
          <p:cNvSpPr txBox="1"/>
          <p:nvPr/>
        </p:nvSpPr>
        <p:spPr>
          <a:xfrm>
            <a:off x="7810500" y="4857750"/>
            <a:ext cx="3771900" cy="476250"/>
          </a:xfrm>
          <a:prstGeom prst="rect">
            <a:avLst/>
          </a:prstGeom>
          <a:noFill/>
        </p:spPr>
        <p:txBody>
          <a:bodyPr wrap="square">
            <a:spAutoFit/>
          </a:bodyPr>
          <a:lstStyle/>
          <a:p>
            <a:r>
              <a:rPr sz="1300" b="1">
                <a:solidFill>
                  <a:srgbClr val="B8621B"/>
                </a:solidFill>
              </a:rPr>
              <a:t>Metodo 2 peggiore di TOP-4: p = 0,003 (UC1) e 0,010 (UC2), test appaiato con correzione di Holm</a:t>
            </a:r>
          </a:p>
        </p:txBody>
      </p:sp>
      <p:sp>
        <p:nvSpPr>
          <p:cNvPr id="15" name="TextBox 14"/>
          <p:cNvSpPr txBox="1"/>
          <p:nvPr/>
        </p:nvSpPr>
        <p:spPr>
          <a:xfrm>
            <a:off x="7810500" y="5476875"/>
            <a:ext cx="3771900" cy="381000"/>
          </a:xfrm>
          <a:prstGeom prst="rect">
            <a:avLst/>
          </a:prstGeom>
          <a:noFill/>
        </p:spPr>
        <p:txBody>
          <a:bodyPr wrap="square">
            <a:spAutoFit/>
          </a:bodyPr>
          <a:lstStyle/>
          <a:p>
            <a:r>
              <a:rPr sz="1200" b="0">
                <a:solidFill>
                  <a:srgbClr val="5B6573"/>
                </a:solidFill>
              </a:rPr>
              <a:t>UC1 e UC2: due preset di rumore uniforme, illustrativi; 30 repliche ciascuno.</a:t>
            </a:r>
          </a:p>
        </p:txBody>
      </p:sp>
    </p:spTree>
    <p:extLst>
      <p:ext uri="{BB962C8B-B14F-4D97-AF65-F5344CB8AC3E}">
        <p14:creationId xmlns:p14="http://schemas.microsoft.com/office/powerpoint/2010/main" val="62711556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01A0FE10-7D08-45A5-9369-B8A8D92211C3}"/>
              </a:ext>
            </a:extLst>
          </p:cNvPr>
          <p:cNvSpPr>
            <a:spLocks noGrp="1"/>
          </p:cNvSpPr>
          <p:nvPr/>
        </p:nvSpPr>
        <p:spPr>
          <a:xfrm>
            <a:off x="609600" y="400050"/>
            <a:ext cx="9906000" cy="619125"/>
          </a:xfrm>
          <a:prstGeom prst="rect">
            <a:avLst/>
          </a:prstGeom>
          <a:noFill/>
          <a:ln w="0">
            <a:noFill/>
          </a:ln>
        </p:spPr>
        <p:txBody>
          <a:bodyPr>
            <a:noAutofit/>
          </a:bodyPr>
          <a:lstStyle/>
          <a:p>
            <a:pPr>
              <a:defRPr sz="2700" b="0">
                <a:solidFill>
                  <a:srgbClr val="003366"/>
                </a:solidFill>
                <a:latin typeface="Arial"/>
                <a:ea typeface="Arial"/>
                <a:cs typeface="Arial"/>
              </a:defRPr>
            </a:pPr>
            <a:r>
              <a:rPr lang="it-IT" sz="2700" b="0">
                <a:solidFill>
                  <a:srgbClr val="003366"/>
                </a:solidFill>
                <a:latin typeface="Arial"/>
                <a:ea typeface="Arial"/>
                <a:cs typeface="Arial"/>
              </a:rPr>
              <a:t>Strategia 2: correzione quantistica degli errori</a:t>
            </a:r>
            <a:endParaRPr sz="2700" b="0">
              <a:solidFill>
                <a:srgbClr val="003366"/>
              </a:solidFill>
              <a:latin typeface="Arial"/>
              <a:ea typeface="Arial"/>
              <a:cs typeface="Arial"/>
            </a:endParaRPr>
          </a:p>
        </p:txBody>
      </p:sp>
      <p:pic>
        <p:nvPicPr>
          <p:cNvPr id="17" name="Picture 16"/>
          <p:cNvPicPr>
            <a:picLocks noChangeAspect="1"/>
          </p:cNvPicPr>
          <p:nvPr/>
        </p:nvPicPr>
        <p:blipFill>
          <a:blip r:embed="rId3"/>
          <a:stretch/>
        </p:blipFill>
        <p:spPr>
          <a:xfrm>
            <a:off x="10896600" y="243116"/>
            <a:ext cx="838200" cy="694869"/>
          </a:xfrm>
          <a:prstGeom prst="rect">
            <a:avLst/>
          </a:prstGeom>
        </p:spPr>
      </p:pic>
      <p:sp>
        <p:nvSpPr>
          <p:cNvPr id="3" name="Rectangle 2">
            <a:extLst>
              <a:ext uri="{FF2B5EF4-FFF2-40B4-BE49-F238E27FC236}">
                <a16:creationId xmlns:a16="http://schemas.microsoft.com/office/drawing/2014/main" id="{C63BB1C7-E1F5-4EAD-96B7-5E2DB8BF6210}"/>
              </a:ext>
            </a:extLst>
          </p:cNvPr>
          <p:cNvSpPr>
            <a:spLocks noGrp="1"/>
          </p:cNvSpPr>
          <p:nvPr/>
        </p:nvSpPr>
        <p:spPr>
          <a:xfrm>
            <a:off x="609600" y="1095375"/>
            <a:ext cx="10096500" cy="19050"/>
          </a:xfrm>
          <a:prstGeom prst="rect">
            <a:avLst/>
          </a:prstGeom>
          <a:solidFill>
            <a:srgbClr val="5084BF"/>
          </a:solidFill>
          <a:ln w="0">
            <a:noFill/>
          </a:ln>
        </p:spPr>
        <p:txBody>
          <a:bodyPr/>
          <a:lstStyle/>
          <a:p>
            <a:endParaRPr lang="en-GB"/>
          </a:p>
        </p:txBody>
      </p:sp>
      <p:sp>
        <p:nvSpPr>
          <p:cNvPr id="4" name="Rectangle 3">
            <a:extLst>
              <a:ext uri="{FF2B5EF4-FFF2-40B4-BE49-F238E27FC236}">
                <a16:creationId xmlns:a16="http://schemas.microsoft.com/office/drawing/2014/main" id="{FCD7F7CC-AA63-4989-8F76-D977A27FE480}"/>
              </a:ext>
            </a:extLst>
          </p:cNvPr>
          <p:cNvSpPr>
            <a:spLocks noGrp="1"/>
          </p:cNvSpPr>
          <p:nvPr/>
        </p:nvSpPr>
        <p:spPr>
          <a:xfrm>
            <a:off x="7477125" y="828675"/>
            <a:ext cx="3228975" cy="219075"/>
          </a:xfrm>
          <a:prstGeom prst="rect">
            <a:avLst/>
          </a:prstGeom>
          <a:noFill/>
          <a:ln w="0">
            <a:noFill/>
          </a:ln>
        </p:spPr>
        <p:txBody>
          <a:bodyPr rIns="0">
            <a:noAutofit/>
          </a:bodyPr>
          <a:lstStyle/>
          <a:p>
            <a:pPr algn="r">
              <a:defRPr sz="1200" b="0">
                <a:solidFill>
                  <a:srgbClr val="203344"/>
                </a:solidFill>
                <a:latin typeface="Arial"/>
                <a:ea typeface="Arial"/>
                <a:cs typeface="Arial"/>
              </a:defRPr>
            </a:pPr>
            <a:r>
              <a:rPr lang="it-IT" sz="1200" b="0">
                <a:solidFill>
                  <a:srgbClr val="203344"/>
                </a:solidFill>
                <a:latin typeface="Arial"/>
                <a:ea typeface="Arial"/>
                <a:cs typeface="Arial"/>
              </a:rPr>
              <a:t>Strategia 2 · Correzione degli errori | 7</a:t>
            </a:r>
            <a:endParaRPr sz="1200" b="0">
              <a:solidFill>
                <a:srgbClr val="203344"/>
              </a:solidFill>
              <a:latin typeface="Arial"/>
              <a:ea typeface="Arial"/>
              <a:cs typeface="Arial"/>
            </a:endParaRPr>
          </a:p>
        </p:txBody>
      </p:sp>
      <p:sp>
        <p:nvSpPr>
          <p:cNvPr id="2" name="TextBox 1">
            <a:extLst>
              <a:ext uri="{FF2B5EF4-FFF2-40B4-BE49-F238E27FC236}">
                <a16:creationId xmlns:a16="http://schemas.microsoft.com/office/drawing/2014/main" id="{02CC2BCD-8065-AF14-A761-223B420003D9}"/>
              </a:ext>
            </a:extLst>
          </p:cNvPr>
          <p:cNvSpPr txBox="1"/>
          <p:nvPr/>
        </p:nvSpPr>
        <p:spPr>
          <a:xfrm>
            <a:off x="609600" y="1244600"/>
            <a:ext cx="10972800" cy="369332"/>
          </a:xfrm>
          <a:prstGeom prst="rect">
            <a:avLst/>
          </a:prstGeom>
          <a:noFill/>
        </p:spPr>
        <p:txBody>
          <a:bodyPr vert="horz" wrap="square" rtlCol="0">
            <a:noAutofit/>
          </a:bodyPr>
          <a:lstStyle/>
          <a:p>
            <a:r>
              <a:rPr lang="it-IT" sz="1725">
                <a:solidFill>
                  <a:srgbClr val="203344"/>
                </a:solidFill>
                <a:latin typeface="Arial" panose="020B0604020202020204" pitchFamily="34" charset="0"/>
              </a:rPr>
              <a:t>Idea comune: più qubit fisici proteggono un qubit logico; un decoder legge le sindromi (i segnali d'errore) e sceglie la correzione.</a:t>
            </a:r>
            <a:endParaRPr lang="en-GB" sz="1725">
              <a:solidFill>
                <a:srgbClr val="203344"/>
              </a:solidFill>
              <a:latin typeface="Arial" panose="020B0604020202020204" pitchFamily="34" charset="0"/>
            </a:endParaRPr>
          </a:p>
        </p:txBody>
      </p:sp>
      <p:sp>
        <p:nvSpPr>
          <p:cNvPr id="18" name="Rectangle: Rounded Corners 17">
            <a:extLst>
              <a:ext uri="{FF2B5EF4-FFF2-40B4-BE49-F238E27FC236}">
                <a16:creationId xmlns:a16="http://schemas.microsoft.com/office/drawing/2014/main" id="{AC9DEF35-39AA-F617-3B4C-E858BF45BBB0}"/>
              </a:ext>
            </a:extLst>
          </p:cNvPr>
          <p:cNvSpPr/>
          <p:nvPr/>
        </p:nvSpPr>
        <p:spPr>
          <a:xfrm>
            <a:off x="609600" y="1905000"/>
            <a:ext cx="5334000" cy="2717800"/>
          </a:xfrm>
          <a:prstGeom prst="roundRect">
            <a:avLst>
              <a:gd name="adj" fmla="val 6000"/>
            </a:avLst>
          </a:prstGeom>
          <a:solidFill>
            <a:srgbClr val="EEF4F8"/>
          </a:solidFill>
          <a:ln w="14288">
            <a:solidFill>
              <a:srgbClr val="5084B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Rectangle: Rounded Corners 18">
            <a:extLst>
              <a:ext uri="{FF2B5EF4-FFF2-40B4-BE49-F238E27FC236}">
                <a16:creationId xmlns:a16="http://schemas.microsoft.com/office/drawing/2014/main" id="{95661C65-2684-3063-6807-9D8EF5ABDD01}"/>
              </a:ext>
            </a:extLst>
          </p:cNvPr>
          <p:cNvSpPr/>
          <p:nvPr/>
        </p:nvSpPr>
        <p:spPr>
          <a:xfrm>
            <a:off x="6248400" y="1905000"/>
            <a:ext cx="5334000" cy="2717800"/>
          </a:xfrm>
          <a:prstGeom prst="roundRect">
            <a:avLst>
              <a:gd name="adj" fmla="val 6000"/>
            </a:avLst>
          </a:prstGeom>
          <a:solidFill>
            <a:srgbClr val="EEF4F8"/>
          </a:solidFill>
          <a:ln w="14288">
            <a:solidFill>
              <a:srgbClr val="5084B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TextBox 19">
            <a:extLst>
              <a:ext uri="{FF2B5EF4-FFF2-40B4-BE49-F238E27FC236}">
                <a16:creationId xmlns:a16="http://schemas.microsoft.com/office/drawing/2014/main" id="{869506C8-FC11-2811-D894-827E70F8AA96}"/>
              </a:ext>
            </a:extLst>
          </p:cNvPr>
          <p:cNvSpPr txBox="1"/>
          <p:nvPr/>
        </p:nvSpPr>
        <p:spPr>
          <a:xfrm>
            <a:off x="787400" y="2032000"/>
            <a:ext cx="4978400" cy="369332"/>
          </a:xfrm>
          <a:prstGeom prst="rect">
            <a:avLst/>
          </a:prstGeom>
          <a:noFill/>
        </p:spPr>
        <p:txBody>
          <a:bodyPr vert="horz" wrap="square" rtlCol="0">
            <a:noAutofit/>
          </a:bodyPr>
          <a:lstStyle/>
          <a:p>
            <a:r>
              <a:rPr lang="en-GB" sz="2025" b="1">
                <a:solidFill>
                  <a:srgbClr val="003366"/>
                </a:solidFill>
                <a:latin typeface="Arial" panose="020B0604020202020204" pitchFamily="34" charset="0"/>
              </a:rPr>
              <a:t>Surface code · il riferimento</a:t>
            </a:r>
          </a:p>
        </p:txBody>
      </p:sp>
      <p:sp>
        <p:nvSpPr>
          <p:cNvPr id="21" name="TextBox 20">
            <a:extLst>
              <a:ext uri="{FF2B5EF4-FFF2-40B4-BE49-F238E27FC236}">
                <a16:creationId xmlns:a16="http://schemas.microsoft.com/office/drawing/2014/main" id="{857FD32E-EA8E-B329-B336-DE0EE6795F38}"/>
              </a:ext>
            </a:extLst>
          </p:cNvPr>
          <p:cNvSpPr txBox="1"/>
          <p:nvPr/>
        </p:nvSpPr>
        <p:spPr>
          <a:xfrm>
            <a:off x="787400" y="2463800"/>
            <a:ext cx="4978400" cy="369332"/>
          </a:xfrm>
          <a:prstGeom prst="rect">
            <a:avLst/>
          </a:prstGeom>
          <a:noFill/>
        </p:spPr>
        <p:txBody>
          <a:bodyPr vert="horz" wrap="square" rtlCol="0">
            <a:noAutofit/>
          </a:bodyPr>
          <a:lstStyle/>
          <a:p>
            <a:pPr>
              <a:spcAft>
                <a:spcPts val="600"/>
              </a:spcAft>
            </a:pPr>
            <a:r>
              <a:rPr lang="it-IT" sz="1575">
                <a:solidFill>
                  <a:srgbClr val="203344"/>
                </a:solidFill>
                <a:latin typeface="Arial" panose="020B0604020202020204" pitchFamily="34" charset="0"/>
              </a:rPr>
              <a:t>Il codice più studiato e robusto, ma costoso: per 12 qubit logici servono circa 2000 qubit di dato.</a:t>
            </a:r>
          </a:p>
          <a:p>
            <a:pPr>
              <a:spcAft>
                <a:spcPts val="600"/>
              </a:spcAft>
            </a:pPr>
            <a:r>
              <a:rPr lang="it-IT" sz="1575">
                <a:solidFill>
                  <a:srgbClr val="203344"/>
                </a:solidFill>
                <a:latin typeface="Arial" panose="020B0604020202020204" pitchFamily="34" charset="0"/>
              </a:rPr>
              <a:t>Qui ho confrontato i decoder: MWPM (classico), rete neurale, ibrido e BP+OSD.</a:t>
            </a:r>
          </a:p>
          <a:p>
            <a:pPr>
              <a:spcAft>
                <a:spcPts val="600"/>
              </a:spcAft>
            </a:pPr>
            <a:r>
              <a:rPr lang="it-IT" sz="1575">
                <a:solidFill>
                  <a:srgbClr val="203344"/>
                </a:solidFill>
                <a:latin typeface="Arial" panose="020B0604020202020204" pitchFamily="34" charset="0"/>
              </a:rPr>
              <a:t>Circuito completo, con i qubit ancilla che misurano le sindromi; rumore su porte e misure, anche crosstalk.</a:t>
            </a:r>
            <a:endParaRPr lang="en-GB" sz="1575">
              <a:solidFill>
                <a:srgbClr val="203344"/>
              </a:solidFill>
              <a:latin typeface="Arial" panose="020B0604020202020204" pitchFamily="34" charset="0"/>
            </a:endParaRPr>
          </a:p>
        </p:txBody>
      </p:sp>
      <p:sp>
        <p:nvSpPr>
          <p:cNvPr id="22" name="TextBox 21">
            <a:extLst>
              <a:ext uri="{FF2B5EF4-FFF2-40B4-BE49-F238E27FC236}">
                <a16:creationId xmlns:a16="http://schemas.microsoft.com/office/drawing/2014/main" id="{8846A3DB-8C7A-059A-3406-00678FBF6068}"/>
              </a:ext>
            </a:extLst>
          </p:cNvPr>
          <p:cNvSpPr txBox="1"/>
          <p:nvPr/>
        </p:nvSpPr>
        <p:spPr>
          <a:xfrm>
            <a:off x="6426200" y="2032000"/>
            <a:ext cx="4978400" cy="369332"/>
          </a:xfrm>
          <a:prstGeom prst="rect">
            <a:avLst/>
          </a:prstGeom>
          <a:noFill/>
        </p:spPr>
        <p:txBody>
          <a:bodyPr vert="horz" wrap="square" rtlCol="0">
            <a:noAutofit/>
          </a:bodyPr>
          <a:lstStyle/>
          <a:p>
            <a:r>
              <a:rPr lang="it-IT" sz="2025" b="1">
                <a:solidFill>
                  <a:srgbClr val="003366"/>
                </a:solidFill>
                <a:latin typeface="Arial" panose="020B0604020202020204" pitchFamily="34" charset="0"/>
              </a:rPr>
              <a:t>Gross code · l'alternativa di IBM</a:t>
            </a:r>
            <a:endParaRPr lang="en-GB" sz="2025" b="1">
              <a:solidFill>
                <a:srgbClr val="003366"/>
              </a:solidFill>
              <a:latin typeface="Arial" panose="020B0604020202020204" pitchFamily="34" charset="0"/>
            </a:endParaRPr>
          </a:p>
        </p:txBody>
      </p:sp>
      <p:sp>
        <p:nvSpPr>
          <p:cNvPr id="23" name="TextBox 22">
            <a:extLst>
              <a:ext uri="{FF2B5EF4-FFF2-40B4-BE49-F238E27FC236}">
                <a16:creationId xmlns:a16="http://schemas.microsoft.com/office/drawing/2014/main" id="{D67C5876-F2AC-D4AC-554A-2845DA338BE9}"/>
              </a:ext>
            </a:extLst>
          </p:cNvPr>
          <p:cNvSpPr txBox="1"/>
          <p:nvPr/>
        </p:nvSpPr>
        <p:spPr>
          <a:xfrm>
            <a:off x="6426200" y="2463800"/>
            <a:ext cx="4978400" cy="369332"/>
          </a:xfrm>
          <a:prstGeom prst="rect">
            <a:avLst/>
          </a:prstGeom>
          <a:noFill/>
        </p:spPr>
        <p:txBody>
          <a:bodyPr vert="horz" wrap="square" rtlCol="0">
            <a:noAutofit/>
          </a:bodyPr>
          <a:lstStyle/>
          <a:p>
            <a:pPr>
              <a:spcAft>
                <a:spcPts val="600"/>
              </a:spcAft>
            </a:pPr>
            <a:r>
              <a:rPr lang="it-IT" sz="1575">
                <a:solidFill>
                  <a:srgbClr val="203344"/>
                </a:solidFill>
                <a:latin typeface="Arial" panose="020B0604020202020204" pitchFamily="34" charset="0"/>
              </a:rPr>
              <a:t>Codice qLDPC proposto da IBM: protegge gli stessi 12 qubit logici con 144 qubit di dato.</a:t>
            </a:r>
          </a:p>
          <a:p>
            <a:pPr>
              <a:spcAft>
                <a:spcPts val="600"/>
              </a:spcAft>
            </a:pPr>
            <a:r>
              <a:rPr lang="it-IT" sz="1575">
                <a:solidFill>
                  <a:srgbClr val="203344"/>
                </a:solidFill>
                <a:latin typeface="Arial" panose="020B0604020202020204" pitchFamily="34" charset="0"/>
              </a:rPr>
              <a:t>Decoder BP+OSD.</a:t>
            </a:r>
          </a:p>
          <a:p>
            <a:pPr>
              <a:spcAft>
                <a:spcPts val="600"/>
              </a:spcAft>
            </a:pPr>
            <a:r>
              <a:rPr lang="it-IT" sz="1575">
                <a:solidFill>
                  <a:srgbClr val="203344"/>
                </a:solidFill>
                <a:latin typeface="Arial" panose="020B0604020202020204" pitchFamily="34" charset="0"/>
              </a:rPr>
              <a:t>Simulo solo gli errori, come sequenze di 144 bit: niente ancilla, sindromi perfette.</a:t>
            </a:r>
            <a:endParaRPr lang="en-GB" sz="1575">
              <a:solidFill>
                <a:srgbClr val="203344"/>
              </a:solidFill>
              <a:latin typeface="Arial" panose="020B0604020202020204" pitchFamily="34" charset="0"/>
            </a:endParaRPr>
          </a:p>
        </p:txBody>
      </p:sp>
      <p:sp>
        <p:nvSpPr>
          <p:cNvPr id="24" name="Rectangle: Rounded Corners 23">
            <a:extLst>
              <a:ext uri="{FF2B5EF4-FFF2-40B4-BE49-F238E27FC236}">
                <a16:creationId xmlns:a16="http://schemas.microsoft.com/office/drawing/2014/main" id="{8A433B95-FA57-CBF7-76F8-A6D5100B633C}"/>
              </a:ext>
            </a:extLst>
          </p:cNvPr>
          <p:cNvSpPr/>
          <p:nvPr/>
        </p:nvSpPr>
        <p:spPr>
          <a:xfrm>
            <a:off x="609600" y="4775200"/>
            <a:ext cx="10972800" cy="965200"/>
          </a:xfrm>
          <a:prstGeom prst="roundRect">
            <a:avLst>
              <a:gd name="adj" fmla="val 6000"/>
            </a:avLst>
          </a:prstGeom>
          <a:solidFill>
            <a:srgbClr val="FDF1E4"/>
          </a:solidFill>
          <a:ln w="19050">
            <a:solidFill>
              <a:srgbClr val="D9822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TextBox 24">
            <a:extLst>
              <a:ext uri="{FF2B5EF4-FFF2-40B4-BE49-F238E27FC236}">
                <a16:creationId xmlns:a16="http://schemas.microsoft.com/office/drawing/2014/main" id="{CE9970CF-B93F-E493-A038-3F9BE7D46CE6}"/>
              </a:ext>
            </a:extLst>
          </p:cNvPr>
          <p:cNvSpPr txBox="1"/>
          <p:nvPr/>
        </p:nvSpPr>
        <p:spPr>
          <a:xfrm>
            <a:off x="787400" y="4826000"/>
            <a:ext cx="10617200" cy="369332"/>
          </a:xfrm>
          <a:prstGeom prst="rect">
            <a:avLst/>
          </a:prstGeom>
          <a:noFill/>
        </p:spPr>
        <p:txBody>
          <a:bodyPr vert="horz" wrap="square" rtlCol="0">
            <a:noAutofit/>
          </a:bodyPr>
          <a:lstStyle/>
          <a:p>
            <a:r>
              <a:rPr lang="it-IT" sz="1725" b="1">
                <a:solidFill>
                  <a:srgbClr val="B5641A"/>
                </a:solidFill>
                <a:latin typeface="Arial" panose="020B0604020202020204" pitchFamily="34" charset="0"/>
              </a:rPr>
              <a:t>Perché due codici?</a:t>
            </a:r>
          </a:p>
          <a:p>
            <a:r>
              <a:rPr lang="it-IT" sz="1575">
                <a:solidFill>
                  <a:srgbClr val="203344"/>
                </a:solidFill>
                <a:latin typeface="Arial" panose="020B0604020202020204" pitchFamily="34" charset="0"/>
              </a:rPr>
              <a:t>Il surface code è lo standard ma richiede molti qubit; il Gross code promette una protezione simile con 10–14 volte meno qubit. Confrontarli dice quanto si può risparmiare.</a:t>
            </a:r>
            <a:endParaRPr lang="en-GB" sz="1575">
              <a:solidFill>
                <a:srgbClr val="203344"/>
              </a:solidFill>
              <a:latin typeface="Arial" panose="020B0604020202020204" pitchFamily="34" charset="0"/>
            </a:endParaRPr>
          </a:p>
        </p:txBody>
      </p:sp>
      <p:sp>
        <p:nvSpPr>
          <p:cNvPr id="26" name="TextBox 25">
            <a:extLst>
              <a:ext uri="{FF2B5EF4-FFF2-40B4-BE49-F238E27FC236}">
                <a16:creationId xmlns:a16="http://schemas.microsoft.com/office/drawing/2014/main" id="{7A8B7BF9-EBFF-23BB-8494-C317E06E5D5B}"/>
              </a:ext>
            </a:extLst>
          </p:cNvPr>
          <p:cNvSpPr txBox="1"/>
          <p:nvPr/>
        </p:nvSpPr>
        <p:spPr>
          <a:xfrm>
            <a:off x="609600" y="5816600"/>
            <a:ext cx="10972800" cy="369332"/>
          </a:xfrm>
          <a:prstGeom prst="rect">
            <a:avLst/>
          </a:prstGeom>
          <a:noFill/>
        </p:spPr>
        <p:txBody>
          <a:bodyPr vert="horz" wrap="square" rtlCol="0">
            <a:noAutofit/>
          </a:bodyPr>
          <a:lstStyle/>
          <a:p>
            <a:r>
              <a:rPr lang="it-IT" sz="1275">
                <a:solidFill>
                  <a:srgbClr val="647487"/>
                </a:solidFill>
                <a:latin typeface="Arial" panose="020B0604020202020204" pitchFamily="34" charset="0"/>
              </a:rPr>
              <a:t>Simulazioni con Stim e PyMatching (surface code) e ldpc (Gross code). La correzione degli errori è studiata separatamente da Shor.</a:t>
            </a:r>
            <a:endParaRPr lang="en-GB" sz="1275">
              <a:solidFill>
                <a:srgbClr val="647487"/>
              </a:solidFill>
              <a:latin typeface="Arial" panose="020B0604020202020204" pitchFamily="34" charset="0"/>
            </a:endParaRPr>
          </a:p>
        </p:txBody>
      </p:sp>
      <p:sp>
        <p:nvSpPr>
          <p:cNvPr id="27" name="TextBox 26">
            <a:extLst>
              <a:ext uri="{FF2B5EF4-FFF2-40B4-BE49-F238E27FC236}">
                <a16:creationId xmlns:a16="http://schemas.microsoft.com/office/drawing/2014/main" id="{F0CC65BC-FC56-74B3-8292-99AF6B487F00}"/>
              </a:ext>
            </a:extLst>
          </p:cNvPr>
          <p:cNvSpPr txBox="1"/>
          <p:nvPr/>
        </p:nvSpPr>
        <p:spPr>
          <a:xfrm>
            <a:off x="609600" y="6197600"/>
            <a:ext cx="10972800" cy="369332"/>
          </a:xfrm>
          <a:prstGeom prst="rect">
            <a:avLst/>
          </a:prstGeom>
          <a:noFill/>
        </p:spPr>
        <p:txBody>
          <a:bodyPr vert="horz" wrap="square" rtlCol="0">
            <a:noAutofit/>
          </a:bodyPr>
          <a:lstStyle/>
          <a:p>
            <a:r>
              <a:rPr lang="it-IT" sz="1950" b="1">
                <a:solidFill>
                  <a:srgbClr val="175F99"/>
                </a:solidFill>
                <a:latin typeface="Arial" panose="020B0604020202020204" pitchFamily="34" charset="0"/>
              </a:rPr>
              <a:t>Stessa idea, due compromessi diversi tra protezione e numero di qubit.</a:t>
            </a:r>
            <a:endParaRPr lang="en-GB" sz="1950" b="1">
              <a:solidFill>
                <a:srgbClr val="175F99"/>
              </a:solidFill>
              <a:latin typeface="Arial" panose="020B0604020202020204" pitchFamily="34" charset="0"/>
            </a:endParaRPr>
          </a:p>
        </p:txBody>
      </p:sp>
    </p:spTree>
    <p:extLst>
      <p:ext uri="{BB962C8B-B14F-4D97-AF65-F5344CB8AC3E}">
        <p14:creationId xmlns:p14="http://schemas.microsoft.com/office/powerpoint/2010/main" val="3848242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15" name="Picture 14" descr="v2_s15_surface_code_soglia_z.png"/>
          <p:cNvPicPr>
            <a:picLocks noChangeAspect="1"/>
          </p:cNvPicPr>
          <p:nvPr/>
        </p:nvPicPr>
        <p:blipFill>
          <a:blip r:embed="rId5"/>
          <a:stretch>
            <a:fillRect/>
          </a:stretch>
        </p:blipFill>
        <p:spPr>
          <a:xfrm>
            <a:off x="609600" y="1428750"/>
            <a:ext cx="6496827" cy="4095750"/>
          </a:xfrm>
          <a:prstGeom prst="rect">
            <a:avLst/>
          </a:prstGeom>
        </p:spPr>
      </p:pic>
      <p:sp>
        <p:nvSpPr>
          <p:cNvPr id="11" name="Rectangle 10">
            <a:extLst>
              <a:ext uri="{FF2B5EF4-FFF2-40B4-BE49-F238E27FC236}">
                <a16:creationId xmlns:a16="http://schemas.microsoft.com/office/drawing/2014/main" id="{4AA26051-CE9A-44FC-98B2-DC8331178E93}"/>
              </a:ext>
            </a:extLst>
          </p:cNvPr>
          <p:cNvSpPr>
            <a:spLocks noGrp="1"/>
          </p:cNvSpPr>
          <p:nvPr/>
        </p:nvSpPr>
        <p:spPr>
          <a:xfrm>
            <a:off x="609600" y="400050"/>
            <a:ext cx="9906000" cy="619125"/>
          </a:xfrm>
          <a:prstGeom prst="rect">
            <a:avLst/>
          </a:prstGeom>
          <a:noFill/>
          <a:ln w="0">
            <a:noFill/>
          </a:ln>
        </p:spPr>
        <p:txBody>
          <a:bodyPr>
            <a:noAutofit/>
          </a:bodyPr>
          <a:lstStyle/>
          <a:p>
            <a:pPr>
              <a:defRPr sz="2700" b="0">
                <a:solidFill>
                  <a:srgbClr val="003366"/>
                </a:solidFill>
                <a:latin typeface="Arial"/>
                <a:ea typeface="Arial"/>
                <a:cs typeface="Arial"/>
              </a:defRPr>
            </a:pPr>
            <a:r>
              <a:rPr lang="it-IT" sz="2700" b="0">
                <a:solidFill>
                  <a:srgbClr val="003366"/>
                </a:solidFill>
                <a:latin typeface="Arial"/>
                <a:ea typeface="Arial"/>
                <a:cs typeface="Arial"/>
              </a:rPr>
              <a:t>Risultato 2: la QEC aiuta sotto soglia</a:t>
            </a:r>
            <a:endParaRPr sz="2700" b="0">
              <a:solidFill>
                <a:srgbClr val="003366"/>
              </a:solidFill>
              <a:latin typeface="Arial"/>
              <a:ea typeface="Arial"/>
              <a:cs typeface="Arial"/>
            </a:endParaRPr>
          </a:p>
        </p:txBody>
      </p:sp>
      <p:pic>
        <p:nvPicPr>
          <p:cNvPr id="12" name="Picture 11"/>
          <p:cNvPicPr>
            <a:picLocks noChangeAspect="1"/>
          </p:cNvPicPr>
          <p:nvPr/>
        </p:nvPicPr>
        <p:blipFill>
          <a:blip r:embed="rId3"/>
          <a:stretch/>
        </p:blipFill>
        <p:spPr>
          <a:xfrm>
            <a:off x="10896600" y="243116"/>
            <a:ext cx="838200" cy="694869"/>
          </a:xfrm>
          <a:prstGeom prst="rect">
            <a:avLst/>
          </a:prstGeom>
        </p:spPr>
      </p:pic>
      <p:sp>
        <p:nvSpPr>
          <p:cNvPr id="3" name="Rectangle 2">
            <a:extLst>
              <a:ext uri="{FF2B5EF4-FFF2-40B4-BE49-F238E27FC236}">
                <a16:creationId xmlns:a16="http://schemas.microsoft.com/office/drawing/2014/main" id="{865D6DAB-35C4-44C3-BE25-5179AEC9B4BF}"/>
              </a:ext>
            </a:extLst>
          </p:cNvPr>
          <p:cNvSpPr>
            <a:spLocks noGrp="1"/>
          </p:cNvSpPr>
          <p:nvPr/>
        </p:nvSpPr>
        <p:spPr>
          <a:xfrm>
            <a:off x="609600" y="1095375"/>
            <a:ext cx="10096500" cy="19050"/>
          </a:xfrm>
          <a:prstGeom prst="rect">
            <a:avLst/>
          </a:prstGeom>
          <a:solidFill>
            <a:srgbClr val="5084BF"/>
          </a:solidFill>
          <a:ln w="0">
            <a:noFill/>
          </a:ln>
        </p:spPr>
        <p:txBody>
          <a:bodyPr/>
          <a:lstStyle/>
          <a:p>
            <a:endParaRPr lang="en-GB"/>
          </a:p>
        </p:txBody>
      </p:sp>
      <p:sp>
        <p:nvSpPr>
          <p:cNvPr id="4" name="Rectangle 3">
            <a:extLst>
              <a:ext uri="{FF2B5EF4-FFF2-40B4-BE49-F238E27FC236}">
                <a16:creationId xmlns:a16="http://schemas.microsoft.com/office/drawing/2014/main" id="{DF278FCC-CAE1-457F-906A-2CA805A50B30}"/>
              </a:ext>
            </a:extLst>
          </p:cNvPr>
          <p:cNvSpPr>
            <a:spLocks noGrp="1"/>
          </p:cNvSpPr>
          <p:nvPr/>
        </p:nvSpPr>
        <p:spPr>
          <a:xfrm>
            <a:off x="7477125" y="828675"/>
            <a:ext cx="3228975" cy="219075"/>
          </a:xfrm>
          <a:prstGeom prst="rect">
            <a:avLst/>
          </a:prstGeom>
          <a:noFill/>
          <a:ln w="0">
            <a:noFill/>
          </a:ln>
        </p:spPr>
        <p:txBody>
          <a:bodyPr rIns="0">
            <a:noAutofit/>
          </a:bodyPr>
          <a:lstStyle/>
          <a:p>
            <a:pPr algn="r">
              <a:defRPr sz="1200" b="0">
                <a:solidFill>
                  <a:srgbClr val="203344"/>
                </a:solidFill>
                <a:latin typeface="Arial"/>
                <a:ea typeface="Arial"/>
                <a:cs typeface="Arial"/>
              </a:defRPr>
            </a:pPr>
            <a:r>
              <a:rPr lang="it-IT" sz="1200" b="0">
                <a:solidFill>
                  <a:srgbClr val="203344"/>
                </a:solidFill>
                <a:latin typeface="Arial"/>
                <a:ea typeface="Arial"/>
                <a:cs typeface="Arial"/>
              </a:rPr>
              <a:t>Strategia 2 · Correzione degli errori | 8</a:t>
            </a:r>
            <a:endParaRPr sz="1200" b="0">
              <a:solidFill>
                <a:srgbClr val="203344"/>
              </a:solidFill>
              <a:latin typeface="Arial"/>
              <a:ea typeface="Arial"/>
              <a:cs typeface="Arial"/>
            </a:endParaRPr>
          </a:p>
        </p:txBody>
      </p:sp>
      <p:sp>
        <p:nvSpPr>
          <p:cNvPr id="6" name="Rectangle 5">
            <a:extLst>
              <a:ext uri="{FF2B5EF4-FFF2-40B4-BE49-F238E27FC236}">
                <a16:creationId xmlns:a16="http://schemas.microsoft.com/office/drawing/2014/main" id="{0C456B77-8485-4875-A49F-280A5006DBAD}"/>
              </a:ext>
            </a:extLst>
          </p:cNvPr>
          <p:cNvSpPr>
            <a:spLocks noGrp="1"/>
          </p:cNvSpPr>
          <p:nvPr/>
        </p:nvSpPr>
        <p:spPr>
          <a:xfrm>
            <a:off x="7810500" y="1704975"/>
            <a:ext cx="3771900" cy="800100"/>
          </a:xfrm>
          <a:prstGeom prst="rect">
            <a:avLst/>
          </a:prstGeom>
          <a:noFill/>
          <a:ln w="0">
            <a:noFill/>
          </a:ln>
        </p:spPr>
        <p:txBody>
          <a:bodyPr>
            <a:noAutofit/>
          </a:bodyPr>
          <a:lstStyle/>
          <a:p>
            <a:pPr>
              <a:defRPr sz="4575" b="1">
                <a:solidFill>
                  <a:srgbClr val="175F99"/>
                </a:solidFill>
                <a:latin typeface="Arial"/>
                <a:ea typeface="Arial"/>
                <a:cs typeface="Arial"/>
              </a:defRPr>
            </a:pPr>
            <a:r>
              <a:rPr sz="4575" b="1">
                <a:solidFill>
                  <a:srgbClr val="175F99"/>
                </a:solidFill>
                <a:latin typeface="Arial"/>
                <a:ea typeface="Arial"/>
                <a:cs typeface="Arial"/>
              </a:rPr>
              <a:t>0,86%</a:t>
            </a:r>
          </a:p>
        </p:txBody>
      </p:sp>
      <p:sp>
        <p:nvSpPr>
          <p:cNvPr id="7" name="Rectangle 6">
            <a:extLst>
              <a:ext uri="{FF2B5EF4-FFF2-40B4-BE49-F238E27FC236}">
                <a16:creationId xmlns:a16="http://schemas.microsoft.com/office/drawing/2014/main" id="{84BFCB9A-D13F-41D2-8F42-9C9249466A06}"/>
              </a:ext>
            </a:extLst>
          </p:cNvPr>
          <p:cNvSpPr>
            <a:spLocks noGrp="1"/>
          </p:cNvSpPr>
          <p:nvPr/>
        </p:nvSpPr>
        <p:spPr>
          <a:xfrm>
            <a:off x="7810500" y="2543175"/>
            <a:ext cx="3771900" cy="1095375"/>
          </a:xfrm>
          <a:prstGeom prst="rect">
            <a:avLst/>
          </a:prstGeom>
          <a:noFill/>
          <a:ln w="0">
            <a:noFill/>
          </a:ln>
        </p:spPr>
        <p:txBody>
          <a:bodyPr>
            <a:noAutofit/>
          </a:bodyPr>
          <a:lstStyle/>
          <a:p>
            <a:pPr>
              <a:defRPr sz="2025" b="0">
                <a:solidFill>
                  <a:srgbClr val="203344"/>
                </a:solidFill>
                <a:latin typeface="Arial"/>
                <a:ea typeface="Arial"/>
                <a:cs typeface="Arial"/>
              </a:defRPr>
            </a:pPr>
            <a:r>
              <a:rPr lang="it-IT" sz="2025" b="0">
                <a:solidFill>
                  <a:srgbClr val="203344"/>
                </a:solidFill>
                <a:latin typeface="Arial"/>
                <a:ea typeface="Arial"/>
                <a:cs typeface="Arial"/>
              </a:rPr>
              <a:t>Soglia in base Z (fit)</a:t>
            </a:r>
          </a:p>
          <a:p>
            <a:pPr>
              <a:defRPr sz="2025" b="0">
                <a:solidFill>
                  <a:srgbClr val="203344"/>
                </a:solidFill>
                <a:latin typeface="Arial"/>
                <a:ea typeface="Arial"/>
                <a:cs typeface="Arial"/>
              </a:defRPr>
            </a:pPr>
            <a:r>
              <a:rPr lang="it-IT" sz="2025" b="0">
                <a:solidFill>
                  <a:srgbClr val="203344"/>
                </a:solidFill>
                <a:latin typeface="Arial"/>
                <a:ea typeface="Arial"/>
                <a:cs typeface="Arial"/>
              </a:rPr>
              <a:t>base X: 0,81%</a:t>
            </a:r>
            <a:endParaRPr sz="2025" b="0">
              <a:solidFill>
                <a:srgbClr val="203344"/>
              </a:solidFill>
              <a:latin typeface="Arial"/>
              <a:ea typeface="Arial"/>
              <a:cs typeface="Arial"/>
            </a:endParaRPr>
          </a:p>
        </p:txBody>
      </p:sp>
      <p:sp>
        <p:nvSpPr>
          <p:cNvPr id="10" name="Rectangle 9">
            <a:extLst>
              <a:ext uri="{FF2B5EF4-FFF2-40B4-BE49-F238E27FC236}">
                <a16:creationId xmlns:a16="http://schemas.microsoft.com/office/drawing/2014/main" id="{DB181A39-D107-484D-8C5C-DA919F356FAC}"/>
              </a:ext>
            </a:extLst>
          </p:cNvPr>
          <p:cNvSpPr>
            <a:spLocks noGrp="1"/>
          </p:cNvSpPr>
          <p:nvPr/>
        </p:nvSpPr>
        <p:spPr>
          <a:xfrm>
            <a:off x="609600" y="6286500"/>
            <a:ext cx="10972800" cy="419100"/>
          </a:xfrm>
          <a:prstGeom prst="rect">
            <a:avLst/>
          </a:prstGeom>
          <a:noFill/>
          <a:ln w="0">
            <a:noFill/>
          </a:ln>
        </p:spPr>
        <p:txBody>
          <a:bodyPr>
            <a:noAutofit/>
          </a:bodyPr>
          <a:lstStyle/>
          <a:p>
            <a:pPr>
              <a:defRPr sz="2025" b="1">
                <a:solidFill>
                  <a:srgbClr val="175F99"/>
                </a:solidFill>
                <a:latin typeface="Arial"/>
                <a:ea typeface="Arial"/>
                <a:cs typeface="Arial"/>
              </a:defRPr>
            </a:pPr>
            <a:r>
              <a:rPr lang="it-IT" sz="2025" b="1">
                <a:solidFill>
                  <a:srgbClr val="175F99"/>
                </a:solidFill>
                <a:latin typeface="Arial"/>
                <a:ea typeface="Arial"/>
                <a:cs typeface="Arial"/>
              </a:rPr>
              <a:t>Sotto soglia, codici più grandi correggono meglio; sopra soglia peggiorano.</a:t>
            </a:r>
            <a:endParaRPr sz="2025" b="1">
              <a:solidFill>
                <a:srgbClr val="175F99"/>
              </a:solidFill>
              <a:latin typeface="Arial"/>
              <a:ea typeface="Arial"/>
              <a:cs typeface="Arial"/>
            </a:endParaRPr>
          </a:p>
        </p:txBody>
      </p:sp>
      <p:sp>
        <p:nvSpPr>
          <p:cNvPr id="13" name="Rectangle: Rounded Corners 12">
            <a:extLst>
              <a:ext uri="{FF2B5EF4-FFF2-40B4-BE49-F238E27FC236}">
                <a16:creationId xmlns:a16="http://schemas.microsoft.com/office/drawing/2014/main" id="{F5174091-E7B1-4C19-3F79-348B7BFCFDB0}"/>
              </a:ext>
            </a:extLst>
          </p:cNvPr>
          <p:cNvSpPr/>
          <p:nvPr/>
        </p:nvSpPr>
        <p:spPr>
          <a:xfrm>
            <a:off x="7810500" y="3810000"/>
            <a:ext cx="3771900" cy="1320800"/>
          </a:xfrm>
          <a:prstGeom prst="roundRect">
            <a:avLst>
              <a:gd name="adj" fmla="val 6000"/>
            </a:avLst>
          </a:prstGeom>
          <a:solidFill>
            <a:srgbClr val="FDF1E4"/>
          </a:solidFill>
          <a:ln w="19050">
            <a:solidFill>
              <a:srgbClr val="D9822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extBox 13">
            <a:extLst>
              <a:ext uri="{FF2B5EF4-FFF2-40B4-BE49-F238E27FC236}">
                <a16:creationId xmlns:a16="http://schemas.microsoft.com/office/drawing/2014/main" id="{882D396C-6EB7-5831-1F5F-F7D23910526B}"/>
              </a:ext>
            </a:extLst>
          </p:cNvPr>
          <p:cNvSpPr txBox="1"/>
          <p:nvPr/>
        </p:nvSpPr>
        <p:spPr>
          <a:xfrm>
            <a:off x="7810500" y="3886200"/>
            <a:ext cx="3771900" cy="369332"/>
          </a:xfrm>
          <a:prstGeom prst="rect">
            <a:avLst/>
          </a:prstGeom>
          <a:noFill/>
        </p:spPr>
        <p:txBody>
          <a:bodyPr vert="horz" wrap="square" rtlCol="0">
            <a:noAutofit/>
          </a:bodyPr>
          <a:lstStyle/>
          <a:p>
            <a:r>
              <a:rPr lang="it-IT" sz="1725" b="1">
                <a:solidFill>
                  <a:srgbClr val="B5641A"/>
                </a:solidFill>
                <a:latin typeface="Arial" panose="020B0604020202020204" pitchFamily="34" charset="0"/>
              </a:rPr>
              <a:t>La soglia</a:t>
            </a:r>
          </a:p>
          <a:p>
            <a:r>
              <a:rPr lang="it-IT" sz="1575">
                <a:solidFill>
                  <a:srgbClr val="203344"/>
                </a:solidFill>
                <a:latin typeface="Arial" panose="020B0604020202020204" pitchFamily="34" charset="0"/>
              </a:rPr>
              <a:t>è il punto in cui le curve si incrociano (cerchio arancione)</a:t>
            </a:r>
            <a:endParaRPr lang="en-GB" sz="1575">
              <a:solidFill>
                <a:srgbClr val="203344"/>
              </a:solidFill>
              <a:latin typeface="Arial" panose="020B0604020202020204" pitchFamily="34" charset="0"/>
            </a:endParaRPr>
          </a:p>
        </p:txBody>
      </p:sp>
      <p:sp>
        <p:nvSpPr>
          <p:cNvPr id="16" name="TextBox 15"/>
          <p:cNvSpPr txBox="1"/>
          <p:nvPr/>
        </p:nvSpPr>
        <p:spPr>
          <a:xfrm>
            <a:off x="7810500" y="5334000"/>
            <a:ext cx="3771900" cy="571500"/>
          </a:xfrm>
          <a:prstGeom prst="rect">
            <a:avLst/>
          </a:prstGeom>
          <a:noFill/>
        </p:spPr>
        <p:txBody>
          <a:bodyPr wrap="square">
            <a:spAutoFit/>
          </a:bodyPr>
          <a:lstStyle/>
          <a:p>
            <a:r>
              <a:rPr sz="1200">
                <a:solidFill>
                  <a:srgbClr val="5B6573"/>
                </a:solidFill>
              </a:rPr>
              <a:t>Grafico: base Z, decoder MWPM, d = 3–9; circuito completo con qubit ancilla e rumore su porte e misure; 200 000 shot per punto.</a:t>
            </a:r>
          </a:p>
        </p:txBody>
      </p:sp>
    </p:spTree>
    <p:extLst>
      <p:ext uri="{BB962C8B-B14F-4D97-AF65-F5344CB8AC3E}">
        <p14:creationId xmlns:p14="http://schemas.microsoft.com/office/powerpoint/2010/main" val="158152618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13" name="Picture 12" descr="v2_s16_decoder_bposd_ibrido.png"/>
          <p:cNvPicPr>
            <a:picLocks noChangeAspect="1"/>
          </p:cNvPicPr>
          <p:nvPr/>
        </p:nvPicPr>
        <p:blipFill>
          <a:blip r:embed="rId5"/>
          <a:stretch>
            <a:fillRect/>
          </a:stretch>
        </p:blipFill>
        <p:spPr>
          <a:xfrm>
            <a:off x="609600" y="1428750"/>
            <a:ext cx="6756912" cy="4095750"/>
          </a:xfrm>
          <a:prstGeom prst="rect">
            <a:avLst/>
          </a:prstGeom>
        </p:spPr>
      </p:pic>
      <p:sp>
        <p:nvSpPr>
          <p:cNvPr id="11" name="Rectangle 10">
            <a:extLst>
              <a:ext uri="{FF2B5EF4-FFF2-40B4-BE49-F238E27FC236}">
                <a16:creationId xmlns:a16="http://schemas.microsoft.com/office/drawing/2014/main" id="{102FDD2B-0B15-4559-A78F-7510806E9E7B}"/>
              </a:ext>
            </a:extLst>
          </p:cNvPr>
          <p:cNvSpPr>
            <a:spLocks noGrp="1"/>
          </p:cNvSpPr>
          <p:nvPr/>
        </p:nvSpPr>
        <p:spPr>
          <a:xfrm>
            <a:off x="609600" y="400050"/>
            <a:ext cx="9906000" cy="619125"/>
          </a:xfrm>
          <a:prstGeom prst="rect">
            <a:avLst/>
          </a:prstGeom>
          <a:noFill/>
          <a:ln w="0">
            <a:noFill/>
          </a:ln>
        </p:spPr>
        <p:txBody>
          <a:bodyPr>
            <a:noAutofit/>
          </a:bodyPr>
          <a:lstStyle/>
          <a:p>
            <a:pPr>
              <a:defRPr sz="2700" b="0">
                <a:solidFill>
                  <a:srgbClr val="003366"/>
                </a:solidFill>
                <a:latin typeface="Arial"/>
                <a:ea typeface="Arial"/>
                <a:cs typeface="Arial"/>
              </a:defRPr>
            </a:pPr>
            <a:r>
              <a:rPr lang="it-IT" sz="2700" b="0">
                <a:solidFill>
                  <a:srgbClr val="003366"/>
                </a:solidFill>
                <a:latin typeface="Arial"/>
                <a:ea typeface="Arial"/>
                <a:cs typeface="Arial"/>
              </a:rPr>
              <a:t>Risultato 2: decoder ibrido con crosstalk</a:t>
            </a:r>
            <a:endParaRPr sz="2700" b="0">
              <a:solidFill>
                <a:srgbClr val="003366"/>
              </a:solidFill>
              <a:latin typeface="Arial"/>
              <a:ea typeface="Arial"/>
              <a:cs typeface="Arial"/>
            </a:endParaRPr>
          </a:p>
        </p:txBody>
      </p:sp>
      <p:pic>
        <p:nvPicPr>
          <p:cNvPr id="12" name="Picture 11"/>
          <p:cNvPicPr>
            <a:picLocks noChangeAspect="1"/>
          </p:cNvPicPr>
          <p:nvPr/>
        </p:nvPicPr>
        <p:blipFill>
          <a:blip r:embed="rId3"/>
          <a:stretch/>
        </p:blipFill>
        <p:spPr>
          <a:xfrm>
            <a:off x="10896600" y="243116"/>
            <a:ext cx="838200" cy="694869"/>
          </a:xfrm>
          <a:prstGeom prst="rect">
            <a:avLst/>
          </a:prstGeom>
        </p:spPr>
      </p:pic>
      <p:sp>
        <p:nvSpPr>
          <p:cNvPr id="3" name="Rectangle 2">
            <a:extLst>
              <a:ext uri="{FF2B5EF4-FFF2-40B4-BE49-F238E27FC236}">
                <a16:creationId xmlns:a16="http://schemas.microsoft.com/office/drawing/2014/main" id="{99AED080-374B-49B1-8F03-8E6FD7F6D0AB}"/>
              </a:ext>
            </a:extLst>
          </p:cNvPr>
          <p:cNvSpPr>
            <a:spLocks noGrp="1"/>
          </p:cNvSpPr>
          <p:nvPr/>
        </p:nvSpPr>
        <p:spPr>
          <a:xfrm>
            <a:off x="609600" y="1095375"/>
            <a:ext cx="10096500" cy="19050"/>
          </a:xfrm>
          <a:prstGeom prst="rect">
            <a:avLst/>
          </a:prstGeom>
          <a:solidFill>
            <a:srgbClr val="5084BF"/>
          </a:solidFill>
          <a:ln w="0">
            <a:noFill/>
          </a:ln>
        </p:spPr>
        <p:txBody>
          <a:bodyPr/>
          <a:lstStyle/>
          <a:p>
            <a:endParaRPr lang="en-GB"/>
          </a:p>
        </p:txBody>
      </p:sp>
      <p:sp>
        <p:nvSpPr>
          <p:cNvPr id="4" name="Rectangle 3">
            <a:extLst>
              <a:ext uri="{FF2B5EF4-FFF2-40B4-BE49-F238E27FC236}">
                <a16:creationId xmlns:a16="http://schemas.microsoft.com/office/drawing/2014/main" id="{9383A908-0877-4618-A927-9F701AE6012C}"/>
              </a:ext>
            </a:extLst>
          </p:cNvPr>
          <p:cNvSpPr>
            <a:spLocks noGrp="1"/>
          </p:cNvSpPr>
          <p:nvPr/>
        </p:nvSpPr>
        <p:spPr>
          <a:xfrm>
            <a:off x="7477125" y="828675"/>
            <a:ext cx="3228975" cy="219075"/>
          </a:xfrm>
          <a:prstGeom prst="rect">
            <a:avLst/>
          </a:prstGeom>
          <a:noFill/>
          <a:ln w="0">
            <a:noFill/>
          </a:ln>
        </p:spPr>
        <p:txBody>
          <a:bodyPr rIns="0">
            <a:noAutofit/>
          </a:bodyPr>
          <a:lstStyle/>
          <a:p>
            <a:pPr algn="r">
              <a:defRPr sz="1200" b="0">
                <a:solidFill>
                  <a:srgbClr val="203344"/>
                </a:solidFill>
                <a:latin typeface="Arial"/>
                <a:ea typeface="Arial"/>
                <a:cs typeface="Arial"/>
              </a:defRPr>
            </a:pPr>
            <a:r>
              <a:rPr lang="it-IT" sz="1200" b="0">
                <a:solidFill>
                  <a:srgbClr val="203344"/>
                </a:solidFill>
                <a:latin typeface="Arial"/>
                <a:ea typeface="Arial"/>
                <a:cs typeface="Arial"/>
              </a:rPr>
              <a:t>Strategia 2 · Correzione degli errori | 9</a:t>
            </a:r>
            <a:endParaRPr sz="1200" b="0">
              <a:solidFill>
                <a:srgbClr val="203344"/>
              </a:solidFill>
              <a:latin typeface="Arial"/>
              <a:ea typeface="Arial"/>
              <a:cs typeface="Arial"/>
            </a:endParaRPr>
          </a:p>
        </p:txBody>
      </p:sp>
      <p:sp>
        <p:nvSpPr>
          <p:cNvPr id="6" name="Rectangle 5">
            <a:extLst>
              <a:ext uri="{FF2B5EF4-FFF2-40B4-BE49-F238E27FC236}">
                <a16:creationId xmlns:a16="http://schemas.microsoft.com/office/drawing/2014/main" id="{B20ABF44-F325-4D36-BD1F-ABAF3859847D}"/>
              </a:ext>
            </a:extLst>
          </p:cNvPr>
          <p:cNvSpPr>
            <a:spLocks noGrp="1"/>
          </p:cNvSpPr>
          <p:nvPr/>
        </p:nvSpPr>
        <p:spPr>
          <a:xfrm>
            <a:off x="7810500" y="1638300"/>
            <a:ext cx="3771900" cy="800100"/>
          </a:xfrm>
          <a:prstGeom prst="rect">
            <a:avLst/>
          </a:prstGeom>
          <a:noFill/>
          <a:ln w="0">
            <a:noFill/>
          </a:ln>
        </p:spPr>
        <p:txBody>
          <a:bodyPr>
            <a:noAutofit/>
          </a:bodyPr>
          <a:lstStyle/>
          <a:p>
            <a:pPr>
              <a:defRPr sz="4575" b="1">
                <a:solidFill>
                  <a:srgbClr val="175F99"/>
                </a:solidFill>
                <a:latin typeface="Arial"/>
                <a:ea typeface="Arial"/>
                <a:cs typeface="Arial"/>
              </a:defRPr>
            </a:pPr>
            <a:r>
              <a:rPr sz="4575" b="1">
                <a:solidFill>
                  <a:srgbClr val="B5641A"/>
                </a:solidFill>
                <a:latin typeface="Arial"/>
                <a:ea typeface="Arial"/>
                <a:cs typeface="Arial"/>
              </a:rPr>
              <a:t>−16,8%</a:t>
            </a:r>
          </a:p>
        </p:txBody>
      </p:sp>
      <p:sp>
        <p:nvSpPr>
          <p:cNvPr id="7" name="Rectangle 6">
            <a:extLst>
              <a:ext uri="{FF2B5EF4-FFF2-40B4-BE49-F238E27FC236}">
                <a16:creationId xmlns:a16="http://schemas.microsoft.com/office/drawing/2014/main" id="{337B76D2-161E-4AC3-85EB-CBF789DC78E0}"/>
              </a:ext>
            </a:extLst>
          </p:cNvPr>
          <p:cNvSpPr>
            <a:spLocks noGrp="1"/>
          </p:cNvSpPr>
          <p:nvPr/>
        </p:nvSpPr>
        <p:spPr>
          <a:xfrm>
            <a:off x="7810500" y="2476500"/>
            <a:ext cx="3771900" cy="1095375"/>
          </a:xfrm>
          <a:prstGeom prst="rect">
            <a:avLst/>
          </a:prstGeom>
          <a:noFill/>
          <a:ln w="0">
            <a:noFill/>
          </a:ln>
        </p:spPr>
        <p:txBody>
          <a:bodyPr>
            <a:noAutofit/>
          </a:bodyPr>
          <a:lstStyle/>
          <a:p>
            <a:pPr>
              <a:defRPr sz="2025" b="0">
                <a:solidFill>
                  <a:srgbClr val="203344"/>
                </a:solidFill>
                <a:latin typeface="Arial"/>
                <a:ea typeface="Arial"/>
                <a:cs typeface="Arial"/>
              </a:defRPr>
            </a:pPr>
            <a:r>
              <a:rPr sz="2025" b="0">
                <a:solidFill>
                  <a:srgbClr val="203344"/>
                </a:solidFill>
                <a:latin typeface="Arial"/>
                <a:ea typeface="Arial"/>
                <a:cs typeface="Arial"/>
              </a:rPr>
              <a:t>Riduzione relativa di </a:t>
            </a:r>
            <a:r>
              <a:rPr sz="2025" b="0">
                <a:solidFill>
                  <a:srgbClr val="203344"/>
                </a:solidFill>
                <a:latin typeface="Arial"/>
                <a:ea typeface="Arial"/>
                <a:cs typeface="Arial"/>
              </a:rPr>
              <a:t>p</a:t>
            </a:r>
            <a:r>
              <a:rPr sz="2025" b="0" baseline="-25000">
                <a:solidFill>
                  <a:srgbClr val="203344"/>
                </a:solidFill>
                <a:latin typeface="Arial"/>
                <a:ea typeface="Arial"/>
                <a:cs typeface="Arial"/>
              </a:rPr>
              <a:t>L</a:t>
            </a:r>
            <a:r>
              <a:rPr sz="2025" b="0" baseline="-25000">
                <a:solidFill>
                  <a:srgbClr val="203344"/>
                </a:solidFill>
                <a:latin typeface="Arial"/>
                <a:ea typeface="Arial"/>
                <a:cs typeface="Arial"/>
              </a:rPr>
              <a:t/>
            </a:r>
          </a:p>
          <a:p>
            <a:pPr>
              <a:defRPr sz="2025" b="0">
                <a:solidFill>
                  <a:srgbClr val="203344"/>
                </a:solidFill>
                <a:latin typeface="Arial"/>
                <a:ea typeface="Arial"/>
                <a:cs typeface="Arial"/>
              </a:defRPr>
            </a:pPr>
            <a:r>
              <a:rPr sz="2025" b="0">
                <a:solidFill>
                  <a:srgbClr val="203344"/>
                </a:solidFill>
                <a:latin typeface="Arial"/>
                <a:ea typeface="Arial"/>
                <a:cs typeface="Arial"/>
              </a:rPr>
              <a:t>a d = 3, errore fisico 0,3%</a:t>
            </a:r>
          </a:p>
          <a:p>
            <a:pPr>
              <a:defRPr sz="2025" b="0">
                <a:solidFill>
                  <a:srgbClr val="203344"/>
                </a:solidFill>
                <a:latin typeface="Arial"/>
                <a:ea typeface="Arial"/>
                <a:cs typeface="Arial"/>
              </a:defRPr>
            </a:pPr>
            <a:r>
              <a:rPr sz="2025" b="0">
                <a:solidFill>
                  <a:srgbClr val="203344"/>
                </a:solidFill>
                <a:latin typeface="Arial"/>
                <a:ea typeface="Arial"/>
                <a:cs typeface="Arial"/>
              </a:rPr>
              <a:t>e crosstalk = 0,01</a:t>
            </a:r>
          </a:p>
        </p:txBody>
      </p:sp>
      <p:sp>
        <p:nvSpPr>
          <p:cNvPr id="8" name="Rectangle 7">
            <a:extLst>
              <a:ext uri="{FF2B5EF4-FFF2-40B4-BE49-F238E27FC236}">
                <a16:creationId xmlns:a16="http://schemas.microsoft.com/office/drawing/2014/main" id="{EBDE56B1-67CD-4776-88F0-9542C55C4473}"/>
              </a:ext>
            </a:extLst>
          </p:cNvPr>
          <p:cNvSpPr>
            <a:spLocks noGrp="1"/>
          </p:cNvSpPr>
          <p:nvPr/>
        </p:nvSpPr>
        <p:spPr>
          <a:xfrm>
            <a:off x="7810500" y="3714750"/>
            <a:ext cx="3771900" cy="1171575"/>
          </a:xfrm>
          <a:prstGeom prst="rect">
            <a:avLst/>
          </a:prstGeom>
          <a:noFill/>
          <a:ln w="0">
            <a:noFill/>
          </a:ln>
        </p:spPr>
        <p:txBody>
          <a:bodyPr>
            <a:noAutofit/>
          </a:bodyPr>
          <a:lstStyle/>
          <a:p>
            <a:pPr>
              <a:defRPr sz="1950" b="0">
                <a:solidFill>
                  <a:srgbClr val="203344"/>
                </a:solidFill>
                <a:latin typeface="Arial"/>
                <a:ea typeface="Arial"/>
                <a:cs typeface="Arial"/>
              </a:defRPr>
            </a:pPr>
            <a:r>
              <a:rPr sz="1950" b="0">
                <a:solidFill>
                  <a:srgbClr val="203344"/>
                </a:solidFill>
                <a:latin typeface="Arial"/>
                <a:ea typeface="Arial"/>
                <a:cs typeface="Arial"/>
              </a:rPr>
              <a:t>0,05829 → 0,04851</a:t>
            </a:r>
          </a:p>
          <a:p>
            <a:pPr>
              <a:defRPr sz="1950" b="0">
                <a:solidFill>
                  <a:srgbClr val="203344"/>
                </a:solidFill>
                <a:latin typeface="Arial"/>
                <a:ea typeface="Arial"/>
                <a:cs typeface="Arial"/>
              </a:defRPr>
            </a:pPr>
            <a:r>
              <a:rPr sz="1950" b="0">
                <a:solidFill>
                  <a:srgbClr val="203344"/>
                </a:solidFill>
                <a:latin typeface="Arial"/>
                <a:ea typeface="Arial"/>
                <a:cs typeface="Arial"/>
              </a:rPr>
              <a:t>Test appaiato di McNemar:</a:t>
            </a:r>
          </a:p>
          <a:p>
            <a:pPr>
              <a:defRPr sz="1950" b="0">
                <a:solidFill>
                  <a:srgbClr val="203344"/>
                </a:solidFill>
                <a:latin typeface="Arial"/>
                <a:ea typeface="Arial"/>
                <a:cs typeface="Arial"/>
              </a:defRPr>
            </a:pPr>
            <a:r>
              <a:rPr sz="1950" b="0">
                <a:solidFill>
                  <a:srgbClr val="203344"/>
                </a:solidFill>
                <a:latin typeface="Arial"/>
                <a:ea typeface="Arial"/>
                <a:cs typeface="Arial"/>
              </a:rPr>
              <a:t>beneficio significativo</a:t>
            </a:r>
          </a:p>
        </p:txBody>
      </p:sp>
      <p:sp>
        <p:nvSpPr>
          <p:cNvPr id="10" name="Rectangle 9">
            <a:extLst>
              <a:ext uri="{FF2B5EF4-FFF2-40B4-BE49-F238E27FC236}">
                <a16:creationId xmlns:a16="http://schemas.microsoft.com/office/drawing/2014/main" id="{EE85C313-4101-4A13-8229-69A60076480D}"/>
              </a:ext>
            </a:extLst>
          </p:cNvPr>
          <p:cNvSpPr>
            <a:spLocks noGrp="1"/>
          </p:cNvSpPr>
          <p:nvPr/>
        </p:nvSpPr>
        <p:spPr>
          <a:xfrm>
            <a:off x="609600" y="6305550"/>
            <a:ext cx="10972800" cy="400050"/>
          </a:xfrm>
          <a:prstGeom prst="rect">
            <a:avLst/>
          </a:prstGeom>
          <a:noFill/>
          <a:ln w="0">
            <a:noFill/>
          </a:ln>
        </p:spPr>
        <p:txBody>
          <a:bodyPr>
            <a:noAutofit/>
          </a:bodyPr>
          <a:lstStyle/>
          <a:p>
            <a:pPr>
              <a:defRPr sz="1950" b="1">
                <a:solidFill>
                  <a:srgbClr val="175F99"/>
                </a:solidFill>
                <a:latin typeface="Arial"/>
                <a:ea typeface="Arial"/>
                <a:cs typeface="Arial"/>
              </a:defRPr>
            </a:pPr>
            <a:r>
              <a:rPr lang="it-IT" b="1">
                <a:solidFill>
                  <a:srgbClr val="175F99"/>
                </a:solidFill>
                <a:latin typeface="Arial"/>
                <a:ea typeface="Arial"/>
                <a:cs typeface="Arial"/>
              </a:rPr>
              <a:t>Il ML aiuta come correttore di MWPM; il vantaggio cala sui codici più grandi.</a:t>
            </a:r>
            <a:endParaRPr b="1">
              <a:solidFill>
                <a:srgbClr val="175F99"/>
              </a:solidFill>
              <a:latin typeface="Arial"/>
              <a:ea typeface="Arial"/>
              <a:cs typeface="Arial"/>
            </a:endParaRPr>
          </a:p>
        </p:txBody>
      </p:sp>
      <p:sp>
        <p:nvSpPr>
          <p:cNvPr id="14" name="TextBox 13"/>
          <p:cNvSpPr txBox="1"/>
          <p:nvPr/>
        </p:nvSpPr>
        <p:spPr>
          <a:xfrm>
            <a:off x="7810500" y="5143500"/>
            <a:ext cx="3771900" cy="571500"/>
          </a:xfrm>
          <a:prstGeom prst="rect">
            <a:avLst/>
          </a:prstGeom>
          <a:noFill/>
        </p:spPr>
        <p:txBody>
          <a:bodyPr wrap="square">
            <a:spAutoFit/>
          </a:bodyPr>
          <a:lstStyle/>
          <a:p>
            <a:r>
              <a:rPr sz="1200">
                <a:solidFill>
                  <a:srgbClr val="5B6573"/>
                </a:solidFill>
              </a:rPr>
              <a:t>In grigio BP+OSD, decoder classico più potente: a d = 5 supera l'ibrido.</a:t>
            </a:r>
          </a:p>
        </p:txBody>
      </p:sp>
    </p:spTree>
    <p:extLst>
      <p:ext uri="{BB962C8B-B14F-4D97-AF65-F5344CB8AC3E}">
        <p14:creationId xmlns:p14="http://schemas.microsoft.com/office/powerpoint/2010/main" val="192244686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2DD45B49-2B11-4DFB-98C7-25966E63F343}"/>
              </a:ext>
            </a:extLst>
          </p:cNvPr>
          <p:cNvSpPr>
            <a:spLocks noGrp="1"/>
          </p:cNvSpPr>
          <p:nvPr/>
        </p:nvSpPr>
        <p:spPr>
          <a:xfrm>
            <a:off x="609600" y="400050"/>
            <a:ext cx="9906000" cy="619125"/>
          </a:xfrm>
          <a:prstGeom prst="rect">
            <a:avLst/>
          </a:prstGeom>
          <a:noFill/>
          <a:ln w="0">
            <a:noFill/>
          </a:ln>
        </p:spPr>
        <p:txBody>
          <a:bodyPr>
            <a:noAutofit/>
          </a:bodyPr>
          <a:lstStyle/>
          <a:p>
            <a:pPr>
              <a:defRPr sz="2700" b="0">
                <a:solidFill>
                  <a:srgbClr val="003366"/>
                </a:solidFill>
                <a:latin typeface="Arial"/>
                <a:ea typeface="Arial"/>
                <a:cs typeface="Arial"/>
              </a:defRPr>
            </a:pPr>
            <a:r>
              <a:rPr lang="it-IT" sz="2700" b="0">
                <a:solidFill>
                  <a:srgbClr val="003366"/>
                </a:solidFill>
                <a:latin typeface="Arial"/>
                <a:ea typeface="Arial"/>
                <a:cs typeface="Arial"/>
              </a:rPr>
              <a:t>Risultato 2: Gross code e numero di qubit</a:t>
            </a:r>
            <a:endParaRPr sz="2700" b="0">
              <a:solidFill>
                <a:srgbClr val="003366"/>
              </a:solidFill>
              <a:latin typeface="Arial"/>
              <a:ea typeface="Arial"/>
              <a:cs typeface="Arial"/>
            </a:endParaRPr>
          </a:p>
        </p:txBody>
      </p:sp>
      <p:pic>
        <p:nvPicPr>
          <p:cNvPr id="16" name="Picture 15"/>
          <p:cNvPicPr>
            <a:picLocks noChangeAspect="1"/>
          </p:cNvPicPr>
          <p:nvPr/>
        </p:nvPicPr>
        <p:blipFill>
          <a:blip r:embed="rId3"/>
          <a:stretch/>
        </p:blipFill>
        <p:spPr>
          <a:xfrm>
            <a:off x="10896600" y="243116"/>
            <a:ext cx="838200" cy="694869"/>
          </a:xfrm>
          <a:prstGeom prst="rect">
            <a:avLst/>
          </a:prstGeom>
        </p:spPr>
      </p:pic>
      <p:sp>
        <p:nvSpPr>
          <p:cNvPr id="3" name="Rectangle 2">
            <a:extLst>
              <a:ext uri="{FF2B5EF4-FFF2-40B4-BE49-F238E27FC236}">
                <a16:creationId xmlns:a16="http://schemas.microsoft.com/office/drawing/2014/main" id="{E81DA0D9-D748-4F9F-9C08-BE658E4E9967}"/>
              </a:ext>
            </a:extLst>
          </p:cNvPr>
          <p:cNvSpPr>
            <a:spLocks noGrp="1"/>
          </p:cNvSpPr>
          <p:nvPr/>
        </p:nvSpPr>
        <p:spPr>
          <a:xfrm>
            <a:off x="609600" y="1095375"/>
            <a:ext cx="10096500" cy="19050"/>
          </a:xfrm>
          <a:prstGeom prst="rect">
            <a:avLst/>
          </a:prstGeom>
          <a:solidFill>
            <a:srgbClr val="5084BF"/>
          </a:solidFill>
          <a:ln w="0">
            <a:noFill/>
          </a:ln>
        </p:spPr>
        <p:txBody>
          <a:bodyPr/>
          <a:lstStyle/>
          <a:p>
            <a:endParaRPr lang="en-GB"/>
          </a:p>
        </p:txBody>
      </p:sp>
      <p:sp>
        <p:nvSpPr>
          <p:cNvPr id="4" name="Rectangle 3">
            <a:extLst>
              <a:ext uri="{FF2B5EF4-FFF2-40B4-BE49-F238E27FC236}">
                <a16:creationId xmlns:a16="http://schemas.microsoft.com/office/drawing/2014/main" id="{6E3FE9E0-BFDE-43C4-92FF-F134608A13C0}"/>
              </a:ext>
            </a:extLst>
          </p:cNvPr>
          <p:cNvSpPr>
            <a:spLocks noGrp="1"/>
          </p:cNvSpPr>
          <p:nvPr/>
        </p:nvSpPr>
        <p:spPr>
          <a:xfrm>
            <a:off x="7477125" y="828675"/>
            <a:ext cx="3228975" cy="219075"/>
          </a:xfrm>
          <a:prstGeom prst="rect">
            <a:avLst/>
          </a:prstGeom>
          <a:noFill/>
          <a:ln w="0">
            <a:noFill/>
          </a:ln>
        </p:spPr>
        <p:txBody>
          <a:bodyPr rIns="0">
            <a:noAutofit/>
          </a:bodyPr>
          <a:lstStyle/>
          <a:p>
            <a:pPr algn="r">
              <a:defRPr sz="1200" b="0">
                <a:solidFill>
                  <a:srgbClr val="203344"/>
                </a:solidFill>
                <a:latin typeface="Arial"/>
                <a:ea typeface="Arial"/>
                <a:cs typeface="Arial"/>
              </a:defRPr>
            </a:pPr>
            <a:r>
              <a:rPr lang="it-IT" sz="1200" b="0">
                <a:solidFill>
                  <a:srgbClr val="203344"/>
                </a:solidFill>
                <a:latin typeface="Arial"/>
                <a:ea typeface="Arial"/>
                <a:cs typeface="Arial"/>
              </a:rPr>
              <a:t>Strategia 2 · Correzione degli errori | 10</a:t>
            </a:r>
            <a:endParaRPr sz="1200" b="0">
              <a:solidFill>
                <a:srgbClr val="203344"/>
              </a:solidFill>
              <a:latin typeface="Arial"/>
              <a:ea typeface="Arial"/>
              <a:cs typeface="Arial"/>
            </a:endParaRPr>
          </a:p>
        </p:txBody>
      </p:sp>
      <p:sp>
        <p:nvSpPr>
          <p:cNvPr id="5" name="Rectangle 4">
            <a:extLst>
              <a:ext uri="{FF2B5EF4-FFF2-40B4-BE49-F238E27FC236}">
                <a16:creationId xmlns:a16="http://schemas.microsoft.com/office/drawing/2014/main" id="{3B59E607-563C-497F-860E-6DBFA2201FC9}"/>
              </a:ext>
            </a:extLst>
          </p:cNvPr>
          <p:cNvSpPr>
            <a:spLocks noGrp="1"/>
          </p:cNvSpPr>
          <p:nvPr/>
        </p:nvSpPr>
        <p:spPr>
          <a:xfrm>
            <a:off x="609600" y="1447800"/>
            <a:ext cx="10972800" cy="666750"/>
          </a:xfrm>
          <a:prstGeom prst="rect">
            <a:avLst/>
          </a:prstGeom>
          <a:noFill/>
          <a:ln w="0">
            <a:noFill/>
          </a:ln>
        </p:spPr>
        <p:txBody>
          <a:bodyPr>
            <a:noAutofit/>
          </a:bodyPr>
          <a:lstStyle/>
          <a:p>
            <a:pPr>
              <a:defRPr sz="2175" b="0">
                <a:solidFill>
                  <a:srgbClr val="203344"/>
                </a:solidFill>
                <a:latin typeface="Arial"/>
                <a:ea typeface="Arial"/>
                <a:cs typeface="Arial"/>
              </a:defRPr>
            </a:pPr>
            <a:r>
              <a:rPr lang="it-IT" sz="2175" b="0">
                <a:solidFill>
                  <a:srgbClr val="203344"/>
                </a:solidFill>
                <a:latin typeface="Arial"/>
                <a:ea typeface="Arial"/>
                <a:cs typeface="Arial"/>
              </a:rPr>
              <a:t>Qubit di dato per 12 qubit logici ed errore logico a p = 1% · code-capacity</a:t>
            </a:r>
            <a:endParaRPr sz="2175" b="0">
              <a:solidFill>
                <a:srgbClr val="203344"/>
              </a:solidFill>
              <a:latin typeface="Arial"/>
              <a:ea typeface="Arial"/>
              <a:cs typeface="Arial"/>
            </a:endParaRPr>
          </a:p>
        </p:txBody>
      </p:sp>
      <p:sp>
        <p:nvSpPr>
          <p:cNvPr id="13" name="Rectangle 12">
            <a:extLst>
              <a:ext uri="{FF2B5EF4-FFF2-40B4-BE49-F238E27FC236}">
                <a16:creationId xmlns:a16="http://schemas.microsoft.com/office/drawing/2014/main" id="{FA2DE5DE-DFF9-4E56-AB42-5BD84A6327AC}"/>
              </a:ext>
            </a:extLst>
          </p:cNvPr>
          <p:cNvSpPr>
            <a:spLocks noGrp="1"/>
          </p:cNvSpPr>
          <p:nvPr/>
        </p:nvSpPr>
        <p:spPr>
          <a:xfrm>
            <a:off x="609600" y="5057775"/>
            <a:ext cx="10972800" cy="781050"/>
          </a:xfrm>
          <a:prstGeom prst="rect">
            <a:avLst/>
          </a:prstGeom>
          <a:noFill/>
          <a:ln w="0">
            <a:noFill/>
          </a:ln>
        </p:spPr>
        <p:txBody>
          <a:bodyPr>
            <a:noAutofit/>
          </a:bodyPr>
          <a:lstStyle/>
          <a:p>
            <a:pPr>
              <a:defRPr sz="2025" b="0">
                <a:solidFill>
                  <a:srgbClr val="203344"/>
                </a:solidFill>
                <a:latin typeface="Arial"/>
                <a:ea typeface="Arial"/>
                <a:cs typeface="Arial"/>
              </a:defRPr>
            </a:pPr>
            <a:r>
              <a:rPr lang="it-IT" sz="2025" b="0">
                <a:solidFill>
                  <a:srgbClr val="203344"/>
                </a:solidFill>
                <a:latin typeface="Arial"/>
                <a:ea typeface="Arial"/>
                <a:cs typeface="Arial"/>
              </a:rPr>
              <a:t>Gross code migliore delle patch d = 11 a ogni livello; delle patch d = 13 solo per p ≥ 0,75% (a 0,5% pari, più in basso vince d = 13).</a:t>
            </a:r>
            <a:endParaRPr sz="2025" b="0">
              <a:solidFill>
                <a:srgbClr val="203344"/>
              </a:solidFill>
              <a:latin typeface="Arial"/>
              <a:ea typeface="Arial"/>
              <a:cs typeface="Arial"/>
            </a:endParaRPr>
          </a:p>
        </p:txBody>
      </p:sp>
      <p:sp>
        <p:nvSpPr>
          <p:cNvPr id="14" name="Rectangle 13">
            <a:extLst>
              <a:ext uri="{FF2B5EF4-FFF2-40B4-BE49-F238E27FC236}">
                <a16:creationId xmlns:a16="http://schemas.microsoft.com/office/drawing/2014/main" id="{56FACC26-75FB-4DAA-A0AD-6154F7148699}"/>
              </a:ext>
            </a:extLst>
          </p:cNvPr>
          <p:cNvSpPr>
            <a:spLocks noGrp="1"/>
          </p:cNvSpPr>
          <p:nvPr/>
        </p:nvSpPr>
        <p:spPr>
          <a:xfrm>
            <a:off x="609600" y="6124575"/>
            <a:ext cx="10972800" cy="561975"/>
          </a:xfrm>
          <a:prstGeom prst="rect">
            <a:avLst/>
          </a:prstGeom>
          <a:noFill/>
          <a:ln w="0">
            <a:noFill/>
          </a:ln>
        </p:spPr>
        <p:txBody>
          <a:bodyPr>
            <a:noAutofit/>
          </a:bodyPr>
          <a:lstStyle/>
          <a:p>
            <a:pPr>
              <a:defRPr sz="1950" b="1">
                <a:solidFill>
                  <a:srgbClr val="175F99"/>
                </a:solidFill>
                <a:latin typeface="Arial"/>
                <a:ea typeface="Arial"/>
                <a:cs typeface="Arial"/>
              </a:defRPr>
            </a:pPr>
            <a:r>
              <a:rPr sz="1950" b="1">
                <a:solidFill>
                  <a:srgbClr val="175F99"/>
                </a:solidFill>
                <a:latin typeface="Arial"/>
                <a:ea typeface="Arial"/>
                <a:cs typeface="Arial"/>
              </a:rPr>
              <a:t>BP+OSD seriale riduce il fallimento di circa 100× rispetto all’aggiornamento parallelo.</a:t>
            </a:r>
          </a:p>
        </p:txBody>
      </p:sp>
      <p:sp>
        <p:nvSpPr>
          <p:cNvPr id="40" name="Nota simulazione"/>
          <p:cNvSpPr>
            <a:spLocks noGrp="1"/>
          </p:cNvSpPr>
          <p:nvPr/>
        </p:nvSpPr>
        <p:spPr>
          <a:xfrm>
            <a:off x="609600" y="4290000"/>
            <a:ext cx="10972800" cy="560000"/>
          </a:xfrm>
          <a:prstGeom prst="rect">
            <a:avLst/>
          </a:prstGeom>
          <a:noFill/>
          <a:ln w="0">
            <a:noFill/>
          </a:ln>
        </p:spPr>
        <p:txBody>
          <a:bodyPr>
            <a:noAutofit/>
          </a:bodyPr>
          <a:lstStyle/>
          <a:p>
            <a:pPr>
              <a:defRPr sz="1500" b="0">
                <a:solidFill>
                  <a:srgbClr val="5A6B7B"/>
                </a:solidFill>
                <a:latin typeface="Arial"/>
                <a:ea typeface="Arial"/>
                <a:cs typeface="Arial"/>
              </a:defRPr>
            </a:pPr>
            <a:r>
              <a:rPr lang="it-IT" sz="1500" b="0">
                <a:solidFill>
                  <a:srgbClr val="5A6B7B"/>
                </a:solidFill>
                <a:latin typeface="Arial"/>
                <a:ea typeface="Arial"/>
                <a:cs typeface="Arial"/>
              </a:rPr>
              <a:t>Stesso modello semplificato per entrambi i codici: solo errori sui qubit di dato, senza ancilla, sindromi perfette. Non confrontabile con la soglia della slide 8, che usa il circuito completo.</a:t>
            </a:r>
            <a:endParaRPr sz="1500" b="0">
              <a:solidFill>
                <a:srgbClr val="5A6B7B"/>
              </a:solidFill>
              <a:latin typeface="Arial"/>
              <a:ea typeface="Arial"/>
              <a:cs typeface="Arial"/>
            </a:endParaRPr>
          </a:p>
        </p:txBody>
      </p:sp>
      <p:sp>
        <p:nvSpPr>
          <p:cNvPr id="2" name="TextBox 1">
            <a:extLst>
              <a:ext uri="{FF2B5EF4-FFF2-40B4-BE49-F238E27FC236}">
                <a16:creationId xmlns:a16="http://schemas.microsoft.com/office/drawing/2014/main" id="{6CC69F4F-C1C0-F662-B4B2-B110AEC17965}"/>
              </a:ext>
            </a:extLst>
          </p:cNvPr>
          <p:cNvSpPr txBox="1"/>
          <p:nvPr/>
        </p:nvSpPr>
        <p:spPr>
          <a:xfrm>
            <a:off x="609600" y="2260600"/>
            <a:ext cx="3556000" cy="381000"/>
          </a:xfrm>
          <a:prstGeom prst="rect">
            <a:avLst/>
          </a:prstGeom>
          <a:noFill/>
        </p:spPr>
        <p:txBody>
          <a:bodyPr vert="horz" wrap="square" rtlCol="0">
            <a:noAutofit/>
          </a:bodyPr>
          <a:lstStyle/>
          <a:p>
            <a:r>
              <a:rPr lang="en-GB" sz="1725" b="1">
                <a:solidFill>
                  <a:srgbClr val="203344"/>
                </a:solidFill>
                <a:latin typeface="Arial" panose="020B0604020202020204" pitchFamily="34" charset="0"/>
              </a:rPr>
              <a:t>Gross code [[144,12,12]]</a:t>
            </a:r>
          </a:p>
        </p:txBody>
      </p:sp>
      <p:sp>
        <p:nvSpPr>
          <p:cNvPr id="17" name="Rectangle 16">
            <a:extLst>
              <a:ext uri="{FF2B5EF4-FFF2-40B4-BE49-F238E27FC236}">
                <a16:creationId xmlns:a16="http://schemas.microsoft.com/office/drawing/2014/main" id="{9148C583-5F91-EA23-2FB5-8EE6E27AC3C5}"/>
              </a:ext>
            </a:extLst>
          </p:cNvPr>
          <p:cNvSpPr/>
          <p:nvPr/>
        </p:nvSpPr>
        <p:spPr>
          <a:xfrm>
            <a:off x="4191000" y="2286000"/>
            <a:ext cx="259842" cy="330200"/>
          </a:xfrm>
          <a:prstGeom prst="rect">
            <a:avLst/>
          </a:prstGeom>
          <a:solidFill>
            <a:srgbClr val="D9822B"/>
          </a:solidFill>
          <a:ln w="1905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TextBox 17">
            <a:extLst>
              <a:ext uri="{FF2B5EF4-FFF2-40B4-BE49-F238E27FC236}">
                <a16:creationId xmlns:a16="http://schemas.microsoft.com/office/drawing/2014/main" id="{7BF7674F-7718-D766-7EEB-A9A243251484}"/>
              </a:ext>
            </a:extLst>
          </p:cNvPr>
          <p:cNvSpPr txBox="1"/>
          <p:nvPr/>
        </p:nvSpPr>
        <p:spPr>
          <a:xfrm>
            <a:off x="4686300" y="2247900"/>
            <a:ext cx="6667500" cy="381000"/>
          </a:xfrm>
          <a:prstGeom prst="rect">
            <a:avLst/>
          </a:prstGeom>
          <a:noFill/>
        </p:spPr>
        <p:txBody>
          <a:bodyPr vert="horz" wrap="square" rtlCol="0">
            <a:noAutofit/>
          </a:bodyPr>
          <a:lstStyle/>
          <a:p>
            <a:r>
              <a:rPr lang="it-IT" sz="1950" b="1">
                <a:solidFill>
                  <a:srgbClr val="B5641A"/>
                </a:solidFill>
                <a:latin typeface="Arial" panose="020B0604020202020204" pitchFamily="34" charset="0"/>
              </a:rPr>
              <a:t>144  ·  </a:t>
            </a:r>
            <a:r>
              <a:rPr lang="it-IT" sz="1950" b="1">
                <a:solidFill>
                  <a:srgbClr val="B5641A"/>
                </a:solidFill>
                <a:latin typeface="Arial" panose="020B0604020202020204" pitchFamily="34" charset="0"/>
              </a:rPr>
              <a:t>p</a:t>
            </a:r>
            <a:r>
              <a:rPr lang="it-IT" sz="1950" b="1" baseline="-25000">
                <a:solidFill>
                  <a:srgbClr val="B5641A"/>
                </a:solidFill>
                <a:latin typeface="Arial" panose="020B0604020202020204" pitchFamily="34" charset="0"/>
              </a:rPr>
              <a:t>L</a:t>
            </a:r>
            <a:r>
              <a:rPr lang="it-IT" sz="1950" b="1">
                <a:solidFill>
                  <a:srgbClr val="B5641A"/>
                </a:solidFill>
                <a:latin typeface="Arial" panose="020B0604020202020204" pitchFamily="34" charset="0"/>
              </a:rPr>
              <a:t> = 1,0×10⁻⁶  ·  10–14× meno qubit</a:t>
            </a:r>
            <a:endParaRPr lang="en-GB" sz="1950" b="1">
              <a:solidFill>
                <a:srgbClr val="B5641A"/>
              </a:solidFill>
              <a:latin typeface="Arial" panose="020B0604020202020204" pitchFamily="34" charset="0"/>
            </a:endParaRPr>
          </a:p>
        </p:txBody>
      </p:sp>
      <p:sp>
        <p:nvSpPr>
          <p:cNvPr id="19" name="TextBox 18">
            <a:extLst>
              <a:ext uri="{FF2B5EF4-FFF2-40B4-BE49-F238E27FC236}">
                <a16:creationId xmlns:a16="http://schemas.microsoft.com/office/drawing/2014/main" id="{FBADE274-5C8A-78BC-573F-8D208A4B8336}"/>
              </a:ext>
            </a:extLst>
          </p:cNvPr>
          <p:cNvSpPr txBox="1"/>
          <p:nvPr/>
        </p:nvSpPr>
        <p:spPr>
          <a:xfrm>
            <a:off x="609600" y="2844800"/>
            <a:ext cx="3556000" cy="381000"/>
          </a:xfrm>
          <a:prstGeom prst="rect">
            <a:avLst/>
          </a:prstGeom>
          <a:noFill/>
        </p:spPr>
        <p:txBody>
          <a:bodyPr vert="horz" wrap="square" rtlCol="0">
            <a:noAutofit/>
          </a:bodyPr>
          <a:lstStyle/>
          <a:p>
            <a:r>
              <a:rPr lang="fr-FR" sz="1725">
                <a:solidFill>
                  <a:srgbClr val="203344"/>
                </a:solidFill>
                <a:latin typeface="Arial" panose="020B0604020202020204" pitchFamily="34" charset="0"/>
              </a:rPr>
              <a:t>12 patch surface code, d = 11</a:t>
            </a:r>
            <a:endParaRPr lang="en-GB" sz="1725">
              <a:solidFill>
                <a:srgbClr val="203344"/>
              </a:solidFill>
              <a:latin typeface="Arial" panose="020B0604020202020204" pitchFamily="34" charset="0"/>
            </a:endParaRPr>
          </a:p>
        </p:txBody>
      </p:sp>
      <p:sp>
        <p:nvSpPr>
          <p:cNvPr id="20" name="Rectangle 19">
            <a:extLst>
              <a:ext uri="{FF2B5EF4-FFF2-40B4-BE49-F238E27FC236}">
                <a16:creationId xmlns:a16="http://schemas.microsoft.com/office/drawing/2014/main" id="{17EEBA82-F5DD-FBA4-53C0-D669891ED9C6}"/>
              </a:ext>
            </a:extLst>
          </p:cNvPr>
          <p:cNvSpPr/>
          <p:nvPr/>
        </p:nvSpPr>
        <p:spPr>
          <a:xfrm>
            <a:off x="4191000" y="2870200"/>
            <a:ext cx="2653538" cy="330200"/>
          </a:xfrm>
          <a:prstGeom prst="rect">
            <a:avLst/>
          </a:prstGeom>
          <a:solidFill>
            <a:srgbClr val="B8C7D9"/>
          </a:solidFill>
          <a:ln w="19050">
            <a:noFill/>
            <a:prstDash val="solid"/>
          </a:ln>
          <a:effectLst/>
          <a:extLst>
            <a:ext uri="{91240B29-F687-4F45-9708-019B960494DF}">
              <a14:hiddenLine xmlns:a14="http://schemas.microsoft.com/office/drawing/2010/main" w="19050">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TextBox 20">
            <a:extLst>
              <a:ext uri="{FF2B5EF4-FFF2-40B4-BE49-F238E27FC236}">
                <a16:creationId xmlns:a16="http://schemas.microsoft.com/office/drawing/2014/main" id="{985FA1F8-8FD8-D08F-6193-F42B82486A22}"/>
              </a:ext>
            </a:extLst>
          </p:cNvPr>
          <p:cNvSpPr txBox="1"/>
          <p:nvPr/>
        </p:nvSpPr>
        <p:spPr>
          <a:xfrm>
            <a:off x="6937820" y="2832100"/>
            <a:ext cx="4000500" cy="381000"/>
          </a:xfrm>
          <a:prstGeom prst="rect">
            <a:avLst/>
          </a:prstGeom>
          <a:noFill/>
        </p:spPr>
        <p:txBody>
          <a:bodyPr vert="horz" wrap="square" rtlCol="0">
            <a:noAutofit/>
          </a:bodyPr>
          <a:lstStyle/>
          <a:p>
            <a:r>
              <a:rPr lang="en-GB" sz="1950" b="1">
                <a:solidFill>
                  <a:srgbClr val="203344"/>
                </a:solidFill>
                <a:latin typeface="Arial" panose="020B0604020202020204" pitchFamily="34" charset="0"/>
              </a:rPr>
              <a:t>1 452  ·  </a:t>
            </a:r>
            <a:r>
              <a:rPr lang="en-GB" sz="1950" b="1">
                <a:solidFill>
                  <a:srgbClr val="203344"/>
                </a:solidFill>
                <a:latin typeface="Arial" panose="020B0604020202020204" pitchFamily="34" charset="0"/>
              </a:rPr>
              <a:t>p</a:t>
            </a:r>
            <a:r>
              <a:rPr lang="en-GB" sz="1950" b="1" baseline="-25000">
                <a:solidFill>
                  <a:srgbClr val="203344"/>
                </a:solidFill>
                <a:latin typeface="Arial" panose="020B0604020202020204" pitchFamily="34" charset="0"/>
              </a:rPr>
              <a:t>L</a:t>
            </a:r>
            <a:r>
              <a:rPr lang="en-GB" sz="1950" b="1">
                <a:solidFill>
                  <a:srgbClr val="203344"/>
                </a:solidFill>
                <a:latin typeface="Arial" panose="020B0604020202020204" pitchFamily="34" charset="0"/>
              </a:rPr>
              <a:t> = 1,2×10⁻⁵</a:t>
            </a:r>
          </a:p>
        </p:txBody>
      </p:sp>
      <p:sp>
        <p:nvSpPr>
          <p:cNvPr id="22" name="TextBox 21">
            <a:extLst>
              <a:ext uri="{FF2B5EF4-FFF2-40B4-BE49-F238E27FC236}">
                <a16:creationId xmlns:a16="http://schemas.microsoft.com/office/drawing/2014/main" id="{07F3761C-CB28-DF95-8288-1CF2A85D3EB3}"/>
              </a:ext>
            </a:extLst>
          </p:cNvPr>
          <p:cNvSpPr txBox="1"/>
          <p:nvPr/>
        </p:nvSpPr>
        <p:spPr>
          <a:xfrm>
            <a:off x="609600" y="3429000"/>
            <a:ext cx="3556000" cy="381000"/>
          </a:xfrm>
          <a:prstGeom prst="rect">
            <a:avLst/>
          </a:prstGeom>
          <a:noFill/>
        </p:spPr>
        <p:txBody>
          <a:bodyPr vert="horz" wrap="square" rtlCol="0">
            <a:noAutofit/>
          </a:bodyPr>
          <a:lstStyle/>
          <a:p>
            <a:r>
              <a:rPr lang="fr-FR" sz="1725">
                <a:solidFill>
                  <a:srgbClr val="203344"/>
                </a:solidFill>
                <a:latin typeface="Arial" panose="020B0604020202020204" pitchFamily="34" charset="0"/>
              </a:rPr>
              <a:t>12 patch surface code, d = 13</a:t>
            </a:r>
            <a:endParaRPr lang="en-GB" sz="1725">
              <a:solidFill>
                <a:srgbClr val="203344"/>
              </a:solidFill>
              <a:latin typeface="Arial" panose="020B0604020202020204" pitchFamily="34" charset="0"/>
            </a:endParaRPr>
          </a:p>
        </p:txBody>
      </p:sp>
      <p:sp>
        <p:nvSpPr>
          <p:cNvPr id="23" name="Rectangle 22">
            <a:extLst>
              <a:ext uri="{FF2B5EF4-FFF2-40B4-BE49-F238E27FC236}">
                <a16:creationId xmlns:a16="http://schemas.microsoft.com/office/drawing/2014/main" id="{BA0EF537-C669-94C1-3B0E-710E8987E75F}"/>
              </a:ext>
            </a:extLst>
          </p:cNvPr>
          <p:cNvSpPr/>
          <p:nvPr/>
        </p:nvSpPr>
        <p:spPr>
          <a:xfrm>
            <a:off x="4191000" y="3454400"/>
            <a:ext cx="3700780" cy="330200"/>
          </a:xfrm>
          <a:prstGeom prst="rect">
            <a:avLst/>
          </a:prstGeom>
          <a:solidFill>
            <a:srgbClr val="B8C7D9"/>
          </a:solidFill>
          <a:ln w="19050">
            <a:noFill/>
            <a:prstDash val="solid"/>
          </a:ln>
          <a:effectLst/>
          <a:extLst>
            <a:ext uri="{91240B29-F687-4F45-9708-019B960494DF}">
              <a14:hiddenLine xmlns:a14="http://schemas.microsoft.com/office/drawing/2010/main" w="19050">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TextBox 23">
            <a:extLst>
              <a:ext uri="{FF2B5EF4-FFF2-40B4-BE49-F238E27FC236}">
                <a16:creationId xmlns:a16="http://schemas.microsoft.com/office/drawing/2014/main" id="{F9CCD019-9513-713C-464B-129DFFF0690F}"/>
              </a:ext>
            </a:extLst>
          </p:cNvPr>
          <p:cNvSpPr txBox="1"/>
          <p:nvPr/>
        </p:nvSpPr>
        <p:spPr>
          <a:xfrm>
            <a:off x="7988998" y="3416300"/>
            <a:ext cx="4000500" cy="381000"/>
          </a:xfrm>
          <a:prstGeom prst="rect">
            <a:avLst/>
          </a:prstGeom>
          <a:noFill/>
        </p:spPr>
        <p:txBody>
          <a:bodyPr vert="horz" wrap="square" rtlCol="0">
            <a:noAutofit/>
          </a:bodyPr>
          <a:lstStyle/>
          <a:p>
            <a:r>
              <a:rPr lang="en-GB" sz="1950" b="1">
                <a:solidFill>
                  <a:srgbClr val="203344"/>
                </a:solidFill>
                <a:latin typeface="Arial" panose="020B0604020202020204" pitchFamily="34" charset="0"/>
              </a:rPr>
              <a:t>2 028  ·  </a:t>
            </a:r>
            <a:r>
              <a:rPr lang="en-GB" sz="1950" b="1">
                <a:solidFill>
                  <a:srgbClr val="203344"/>
                </a:solidFill>
                <a:latin typeface="Arial" panose="020B0604020202020204" pitchFamily="34" charset="0"/>
              </a:rPr>
              <a:t>p</a:t>
            </a:r>
            <a:r>
              <a:rPr lang="en-GB" sz="1950" b="1" baseline="-25000">
                <a:solidFill>
                  <a:srgbClr val="203344"/>
                </a:solidFill>
                <a:latin typeface="Arial" panose="020B0604020202020204" pitchFamily="34" charset="0"/>
              </a:rPr>
              <a:t>L</a:t>
            </a:r>
            <a:r>
              <a:rPr lang="en-GB" sz="1950" b="1">
                <a:solidFill>
                  <a:srgbClr val="203344"/>
                </a:solidFill>
                <a:latin typeface="Arial" panose="020B0604020202020204" pitchFamily="34" charset="0"/>
              </a:rPr>
              <a:t> = 1,6×10⁻⁶</a:t>
            </a:r>
          </a:p>
        </p:txBody>
      </p:sp>
    </p:spTree>
    <p:extLst>
      <p:ext uri="{BB962C8B-B14F-4D97-AF65-F5344CB8AC3E}">
        <p14:creationId xmlns:p14="http://schemas.microsoft.com/office/powerpoint/2010/main" val="4983515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Rectangle 22">
            <a:extLst>
              <a:ext uri="{FF2B5EF4-FFF2-40B4-BE49-F238E27FC236}">
                <a16:creationId xmlns:a16="http://schemas.microsoft.com/office/drawing/2014/main" id="{7C934D66-A19F-4F45-A910-9FC2198DE6D8}"/>
              </a:ext>
            </a:extLst>
          </p:cNvPr>
          <p:cNvSpPr>
            <a:spLocks noGrp="1"/>
          </p:cNvSpPr>
          <p:nvPr/>
        </p:nvSpPr>
        <p:spPr>
          <a:xfrm>
            <a:off x="609600" y="400050"/>
            <a:ext cx="9906000" cy="619125"/>
          </a:xfrm>
          <a:prstGeom prst="rect">
            <a:avLst/>
          </a:prstGeom>
          <a:noFill/>
          <a:ln w="0">
            <a:noFill/>
          </a:ln>
        </p:spPr>
        <p:txBody>
          <a:bodyPr>
            <a:noAutofit/>
          </a:bodyPr>
          <a:lstStyle/>
          <a:p>
            <a:pPr>
              <a:defRPr sz="2700" b="0">
                <a:solidFill>
                  <a:srgbClr val="003366"/>
                </a:solidFill>
                <a:latin typeface="Arial"/>
                <a:ea typeface="Arial"/>
                <a:cs typeface="Arial"/>
              </a:defRPr>
            </a:pPr>
            <a:r>
              <a:rPr lang="it-IT" sz="2700" b="0">
                <a:solidFill>
                  <a:srgbClr val="003366"/>
                </a:solidFill>
                <a:latin typeface="Arial"/>
                <a:ea typeface="Arial"/>
                <a:cs typeface="Arial"/>
              </a:rPr>
              <a:t>Strategia 3: QFT approssimata (AQFT)</a:t>
            </a:r>
            <a:endParaRPr sz="2700" b="0">
              <a:solidFill>
                <a:srgbClr val="003366"/>
              </a:solidFill>
              <a:latin typeface="Arial"/>
              <a:ea typeface="Arial"/>
              <a:cs typeface="Arial"/>
            </a:endParaRPr>
          </a:p>
        </p:txBody>
      </p:sp>
      <p:pic>
        <p:nvPicPr>
          <p:cNvPr id="24" name="Picture 23"/>
          <p:cNvPicPr>
            <a:picLocks noChangeAspect="1"/>
          </p:cNvPicPr>
          <p:nvPr/>
        </p:nvPicPr>
        <p:blipFill>
          <a:blip r:embed="rId3"/>
          <a:stretch/>
        </p:blipFill>
        <p:spPr>
          <a:xfrm>
            <a:off x="10896600" y="243116"/>
            <a:ext cx="838200" cy="694869"/>
          </a:xfrm>
          <a:prstGeom prst="rect">
            <a:avLst/>
          </a:prstGeom>
        </p:spPr>
      </p:pic>
      <p:sp>
        <p:nvSpPr>
          <p:cNvPr id="3" name="Rectangle 2">
            <a:extLst>
              <a:ext uri="{FF2B5EF4-FFF2-40B4-BE49-F238E27FC236}">
                <a16:creationId xmlns:a16="http://schemas.microsoft.com/office/drawing/2014/main" id="{9B7D945B-C75B-4179-BF6C-020587B974A1}"/>
              </a:ext>
            </a:extLst>
          </p:cNvPr>
          <p:cNvSpPr>
            <a:spLocks noGrp="1"/>
          </p:cNvSpPr>
          <p:nvPr/>
        </p:nvSpPr>
        <p:spPr>
          <a:xfrm>
            <a:off x="609600" y="1095375"/>
            <a:ext cx="10096500" cy="19050"/>
          </a:xfrm>
          <a:prstGeom prst="rect">
            <a:avLst/>
          </a:prstGeom>
          <a:solidFill>
            <a:srgbClr val="5084BF"/>
          </a:solidFill>
          <a:ln w="0">
            <a:noFill/>
          </a:ln>
        </p:spPr>
        <p:txBody>
          <a:bodyPr/>
          <a:lstStyle/>
          <a:p>
            <a:endParaRPr lang="en-GB"/>
          </a:p>
        </p:txBody>
      </p:sp>
      <p:sp>
        <p:nvSpPr>
          <p:cNvPr id="4" name="Rectangle 3">
            <a:extLst>
              <a:ext uri="{FF2B5EF4-FFF2-40B4-BE49-F238E27FC236}">
                <a16:creationId xmlns:a16="http://schemas.microsoft.com/office/drawing/2014/main" id="{40A8CD84-FE44-4433-9B90-AFC6409EC098}"/>
              </a:ext>
            </a:extLst>
          </p:cNvPr>
          <p:cNvSpPr>
            <a:spLocks noGrp="1"/>
          </p:cNvSpPr>
          <p:nvPr/>
        </p:nvSpPr>
        <p:spPr>
          <a:xfrm>
            <a:off x="7477125" y="828675"/>
            <a:ext cx="3228975" cy="219075"/>
          </a:xfrm>
          <a:prstGeom prst="rect">
            <a:avLst/>
          </a:prstGeom>
          <a:noFill/>
          <a:ln w="0">
            <a:noFill/>
          </a:ln>
        </p:spPr>
        <p:txBody>
          <a:bodyPr rIns="0">
            <a:noAutofit/>
          </a:bodyPr>
          <a:lstStyle/>
          <a:p>
            <a:pPr algn="r">
              <a:defRPr sz="1200" b="0">
                <a:solidFill>
                  <a:srgbClr val="203344"/>
                </a:solidFill>
                <a:latin typeface="Arial"/>
                <a:ea typeface="Arial"/>
                <a:cs typeface="Arial"/>
              </a:defRPr>
            </a:pPr>
            <a:r>
              <a:rPr lang="it-IT" sz="1200" b="0">
                <a:solidFill>
                  <a:srgbClr val="203344"/>
                </a:solidFill>
                <a:latin typeface="Arial"/>
                <a:ea typeface="Arial"/>
                <a:cs typeface="Arial"/>
              </a:rPr>
              <a:t>Strategia 3 · QFT approssimata | 11</a:t>
            </a:r>
            <a:endParaRPr sz="1200" b="0">
              <a:solidFill>
                <a:srgbClr val="203344"/>
              </a:solidFill>
              <a:latin typeface="Arial"/>
              <a:ea typeface="Arial"/>
              <a:cs typeface="Arial"/>
            </a:endParaRPr>
          </a:p>
        </p:txBody>
      </p:sp>
      <p:sp>
        <p:nvSpPr>
          <p:cNvPr id="2" name="TextBox 1">
            <a:extLst>
              <a:ext uri="{FF2B5EF4-FFF2-40B4-BE49-F238E27FC236}">
                <a16:creationId xmlns:a16="http://schemas.microsoft.com/office/drawing/2014/main" id="{95352E57-B61F-C999-5D37-1F4387D07242}"/>
              </a:ext>
            </a:extLst>
          </p:cNvPr>
          <p:cNvSpPr txBox="1"/>
          <p:nvPr/>
        </p:nvSpPr>
        <p:spPr>
          <a:xfrm>
            <a:off x="609600" y="1244600"/>
            <a:ext cx="10972800" cy="369332"/>
          </a:xfrm>
          <a:prstGeom prst="rect">
            <a:avLst/>
          </a:prstGeom>
          <a:noFill/>
        </p:spPr>
        <p:txBody>
          <a:bodyPr vert="horz" wrap="square" rtlCol="0">
            <a:noAutofit/>
          </a:bodyPr>
          <a:lstStyle/>
          <a:p>
            <a:r>
              <a:rPr lang="it-IT" sz="1725">
                <a:solidFill>
                  <a:srgbClr val="203344"/>
                </a:solidFill>
                <a:latin typeface="Arial" panose="020B0604020202020204" pitchFamily="34" charset="0"/>
              </a:rPr>
              <a:t>Più porte significa più errori. Nella QFT molte rotazioni sono piccolissime: spostano la fase quasi di nulla, ma costano porte.</a:t>
            </a:r>
            <a:endParaRPr lang="en-GB" sz="1725">
              <a:solidFill>
                <a:srgbClr val="203344"/>
              </a:solidFill>
              <a:latin typeface="Arial" panose="020B0604020202020204" pitchFamily="34" charset="0"/>
            </a:endParaRPr>
          </a:p>
        </p:txBody>
      </p:sp>
      <p:sp>
        <p:nvSpPr>
          <p:cNvPr id="25" name="Rectangle: Rounded Corners 24">
            <a:extLst>
              <a:ext uri="{FF2B5EF4-FFF2-40B4-BE49-F238E27FC236}">
                <a16:creationId xmlns:a16="http://schemas.microsoft.com/office/drawing/2014/main" id="{7E78E41E-B49D-5A5D-871D-DECD7957C390}"/>
              </a:ext>
            </a:extLst>
          </p:cNvPr>
          <p:cNvSpPr/>
          <p:nvPr/>
        </p:nvSpPr>
        <p:spPr>
          <a:xfrm>
            <a:off x="609600" y="1981200"/>
            <a:ext cx="5029200" cy="1422400"/>
          </a:xfrm>
          <a:prstGeom prst="roundRect">
            <a:avLst>
              <a:gd name="adj" fmla="val 6000"/>
            </a:avLst>
          </a:prstGeom>
          <a:solidFill>
            <a:srgbClr val="EEF4F8"/>
          </a:solidFill>
          <a:ln w="14288">
            <a:solidFill>
              <a:srgbClr val="5084B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Rectangle: Rounded Corners 25">
            <a:extLst>
              <a:ext uri="{FF2B5EF4-FFF2-40B4-BE49-F238E27FC236}">
                <a16:creationId xmlns:a16="http://schemas.microsoft.com/office/drawing/2014/main" id="{361EE528-3606-AEF0-EBBD-B53CA48C9C2C}"/>
              </a:ext>
            </a:extLst>
          </p:cNvPr>
          <p:cNvSpPr/>
          <p:nvPr/>
        </p:nvSpPr>
        <p:spPr>
          <a:xfrm>
            <a:off x="6553200" y="1981200"/>
            <a:ext cx="5029200" cy="1422400"/>
          </a:xfrm>
          <a:prstGeom prst="roundRect">
            <a:avLst>
              <a:gd name="adj" fmla="val 6000"/>
            </a:avLst>
          </a:prstGeom>
          <a:solidFill>
            <a:srgbClr val="EEF4F8"/>
          </a:solidFill>
          <a:ln w="14288">
            <a:solidFill>
              <a:srgbClr val="5084B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TextBox 26">
            <a:extLst>
              <a:ext uri="{FF2B5EF4-FFF2-40B4-BE49-F238E27FC236}">
                <a16:creationId xmlns:a16="http://schemas.microsoft.com/office/drawing/2014/main" id="{0FE43342-5019-9F0B-BE0F-51B5406A711A}"/>
              </a:ext>
            </a:extLst>
          </p:cNvPr>
          <p:cNvSpPr txBox="1"/>
          <p:nvPr/>
        </p:nvSpPr>
        <p:spPr>
          <a:xfrm>
            <a:off x="787400" y="2082800"/>
            <a:ext cx="4673600" cy="369332"/>
          </a:xfrm>
          <a:prstGeom prst="rect">
            <a:avLst/>
          </a:prstGeom>
          <a:noFill/>
        </p:spPr>
        <p:txBody>
          <a:bodyPr vert="horz" wrap="square" rtlCol="0">
            <a:noAutofit/>
          </a:bodyPr>
          <a:lstStyle/>
          <a:p>
            <a:r>
              <a:rPr lang="en-GB" sz="2025" b="1">
                <a:solidFill>
                  <a:srgbClr val="003366"/>
                </a:solidFill>
                <a:latin typeface="Arial" panose="020B0604020202020204" pitchFamily="34" charset="0"/>
              </a:rPr>
              <a:t>QFT piena</a:t>
            </a:r>
          </a:p>
        </p:txBody>
      </p:sp>
      <p:sp>
        <p:nvSpPr>
          <p:cNvPr id="28" name="TextBox 27">
            <a:extLst>
              <a:ext uri="{FF2B5EF4-FFF2-40B4-BE49-F238E27FC236}">
                <a16:creationId xmlns:a16="http://schemas.microsoft.com/office/drawing/2014/main" id="{1DC0A524-1F7B-2CF3-21D7-9DA6710C8688}"/>
              </a:ext>
            </a:extLst>
          </p:cNvPr>
          <p:cNvSpPr txBox="1"/>
          <p:nvPr/>
        </p:nvSpPr>
        <p:spPr>
          <a:xfrm>
            <a:off x="787400" y="2489200"/>
            <a:ext cx="4673600" cy="369332"/>
          </a:xfrm>
          <a:prstGeom prst="rect">
            <a:avLst/>
          </a:prstGeom>
          <a:noFill/>
        </p:spPr>
        <p:txBody>
          <a:bodyPr vert="horz" wrap="square" rtlCol="0">
            <a:noAutofit/>
          </a:bodyPr>
          <a:lstStyle/>
          <a:p>
            <a:r>
              <a:rPr lang="it-IT" sz="1575">
                <a:solidFill>
                  <a:srgbClr val="203344"/>
                </a:solidFill>
                <a:latin typeface="Arial" panose="020B0604020202020204" pitchFamily="34" charset="0"/>
              </a:rPr>
              <a:t>tutte le rotazioni, dalle più grandi alle più piccole (π/2, π/4, …, π/128)</a:t>
            </a:r>
            <a:endParaRPr lang="en-GB" sz="1575">
              <a:solidFill>
                <a:srgbClr val="203344"/>
              </a:solidFill>
              <a:latin typeface="Arial" panose="020B0604020202020204" pitchFamily="34" charset="0"/>
            </a:endParaRPr>
          </a:p>
        </p:txBody>
      </p:sp>
      <p:sp>
        <p:nvSpPr>
          <p:cNvPr id="29" name="Arrow: Right 28">
            <a:extLst>
              <a:ext uri="{FF2B5EF4-FFF2-40B4-BE49-F238E27FC236}">
                <a16:creationId xmlns:a16="http://schemas.microsoft.com/office/drawing/2014/main" id="{D7385B42-C672-37F0-EA93-7736BBCDC002}"/>
              </a:ext>
            </a:extLst>
          </p:cNvPr>
          <p:cNvSpPr/>
          <p:nvPr/>
        </p:nvSpPr>
        <p:spPr>
          <a:xfrm>
            <a:off x="5791200" y="2540000"/>
            <a:ext cx="609600" cy="304800"/>
          </a:xfrm>
          <a:prstGeom prst="rightArrow">
            <a:avLst/>
          </a:prstGeom>
          <a:solidFill>
            <a:srgbClr val="647487"/>
          </a:solidFill>
          <a:ln w="19050">
            <a:noFill/>
            <a:prstDash val="solid"/>
          </a:ln>
          <a:effectLst/>
          <a:extLst>
            <a:ext uri="{91240B29-F687-4F45-9708-019B960494DF}">
              <a14:hiddenLine xmlns:a14="http://schemas.microsoft.com/office/drawing/2010/main" w="19050">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TextBox 29">
            <a:extLst>
              <a:ext uri="{FF2B5EF4-FFF2-40B4-BE49-F238E27FC236}">
                <a16:creationId xmlns:a16="http://schemas.microsoft.com/office/drawing/2014/main" id="{5E1B3776-88E2-3E55-98D8-03693B4B2752}"/>
              </a:ext>
            </a:extLst>
          </p:cNvPr>
          <p:cNvSpPr txBox="1"/>
          <p:nvPr/>
        </p:nvSpPr>
        <p:spPr>
          <a:xfrm>
            <a:off x="6731000" y="2082800"/>
            <a:ext cx="4673600" cy="369332"/>
          </a:xfrm>
          <a:prstGeom prst="rect">
            <a:avLst/>
          </a:prstGeom>
          <a:noFill/>
        </p:spPr>
        <p:txBody>
          <a:bodyPr vert="horz" wrap="square" rtlCol="0">
            <a:noAutofit/>
          </a:bodyPr>
          <a:lstStyle/>
          <a:p>
            <a:r>
              <a:rPr lang="en-GB" sz="2025" b="1">
                <a:solidFill>
                  <a:srgbClr val="003366"/>
                </a:solidFill>
                <a:latin typeface="Arial" panose="020B0604020202020204" pitchFamily="34" charset="0"/>
              </a:rPr>
              <a:t>QFT approssimata</a:t>
            </a:r>
          </a:p>
        </p:txBody>
      </p:sp>
      <p:sp>
        <p:nvSpPr>
          <p:cNvPr id="31" name="TextBox 30">
            <a:extLst>
              <a:ext uri="{FF2B5EF4-FFF2-40B4-BE49-F238E27FC236}">
                <a16:creationId xmlns:a16="http://schemas.microsoft.com/office/drawing/2014/main" id="{8F43277F-E401-37CE-EE39-DC997F9BEE96}"/>
              </a:ext>
            </a:extLst>
          </p:cNvPr>
          <p:cNvSpPr txBox="1"/>
          <p:nvPr/>
        </p:nvSpPr>
        <p:spPr>
          <a:xfrm>
            <a:off x="6731000" y="2489200"/>
            <a:ext cx="4673600" cy="369332"/>
          </a:xfrm>
          <a:prstGeom prst="rect">
            <a:avLst/>
          </a:prstGeom>
          <a:noFill/>
        </p:spPr>
        <p:txBody>
          <a:bodyPr vert="horz" wrap="square" rtlCol="0">
            <a:noAutofit/>
          </a:bodyPr>
          <a:lstStyle/>
          <a:p>
            <a:r>
              <a:rPr lang="it-IT" sz="1575">
                <a:solidFill>
                  <a:srgbClr val="203344"/>
                </a:solidFill>
                <a:latin typeface="Arial" panose="020B0604020202020204" pitchFamily="34" charset="0"/>
              </a:rPr>
              <a:t>tolgo le rotazioni più piccole; per N = 15 bastano quelle tra qubit vicini</a:t>
            </a:r>
            <a:endParaRPr lang="en-GB" sz="1575">
              <a:solidFill>
                <a:srgbClr val="203344"/>
              </a:solidFill>
              <a:latin typeface="Arial" panose="020B0604020202020204" pitchFamily="34" charset="0"/>
            </a:endParaRPr>
          </a:p>
        </p:txBody>
      </p:sp>
      <p:sp>
        <p:nvSpPr>
          <p:cNvPr id="32" name="Rectangle: Rounded Corners 31">
            <a:extLst>
              <a:ext uri="{FF2B5EF4-FFF2-40B4-BE49-F238E27FC236}">
                <a16:creationId xmlns:a16="http://schemas.microsoft.com/office/drawing/2014/main" id="{03BFD759-0FC9-8A52-32DE-7BD3B2BCFD97}"/>
              </a:ext>
            </a:extLst>
          </p:cNvPr>
          <p:cNvSpPr/>
          <p:nvPr/>
        </p:nvSpPr>
        <p:spPr>
          <a:xfrm>
            <a:off x="609600" y="3556000"/>
            <a:ext cx="10972800" cy="812800"/>
          </a:xfrm>
          <a:prstGeom prst="roundRect">
            <a:avLst>
              <a:gd name="adj" fmla="val 6000"/>
            </a:avLst>
          </a:prstGeom>
          <a:solidFill>
            <a:srgbClr val="FDF1E4"/>
          </a:solidFill>
          <a:ln w="19050">
            <a:solidFill>
              <a:srgbClr val="D9822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TextBox 32">
            <a:extLst>
              <a:ext uri="{FF2B5EF4-FFF2-40B4-BE49-F238E27FC236}">
                <a16:creationId xmlns:a16="http://schemas.microsoft.com/office/drawing/2014/main" id="{413C35CB-ACBA-D28E-971E-1FB45EA81156}"/>
              </a:ext>
            </a:extLst>
          </p:cNvPr>
          <p:cNvSpPr txBox="1"/>
          <p:nvPr/>
        </p:nvSpPr>
        <p:spPr>
          <a:xfrm>
            <a:off x="787400" y="3606800"/>
            <a:ext cx="10617200" cy="369332"/>
          </a:xfrm>
          <a:prstGeom prst="rect">
            <a:avLst/>
          </a:prstGeom>
          <a:noFill/>
        </p:spPr>
        <p:txBody>
          <a:bodyPr vert="horz" wrap="square" rtlCol="0">
            <a:noAutofit/>
          </a:bodyPr>
          <a:lstStyle/>
          <a:p>
            <a:r>
              <a:rPr lang="it-IT" sz="1725" b="1">
                <a:solidFill>
                  <a:srgbClr val="B5641A"/>
                </a:solidFill>
                <a:latin typeface="Arial" panose="020B0604020202020204" pitchFamily="34" charset="0"/>
              </a:rPr>
              <a:t>Perché funziona</a:t>
            </a:r>
          </a:p>
          <a:p>
            <a:r>
              <a:rPr lang="it-IT" sz="1575">
                <a:solidFill>
                  <a:srgbClr val="203344"/>
                </a:solidFill>
                <a:latin typeface="Arial" panose="020B0604020202020204" pitchFamily="34" charset="0"/>
              </a:rPr>
              <a:t>Shor non ha bisogno della fase esatta: basta un valore abbastanza vicino perché il calcolo classico ritrovi il periodo.</a:t>
            </a:r>
            <a:endParaRPr lang="en-GB" sz="1575">
              <a:solidFill>
                <a:srgbClr val="203344"/>
              </a:solidFill>
              <a:latin typeface="Arial" panose="020B0604020202020204" pitchFamily="34" charset="0"/>
            </a:endParaRPr>
          </a:p>
        </p:txBody>
      </p:sp>
      <p:sp>
        <p:nvSpPr>
          <p:cNvPr id="34" name="Rectangle: Rounded Corners 33">
            <a:extLst>
              <a:ext uri="{FF2B5EF4-FFF2-40B4-BE49-F238E27FC236}">
                <a16:creationId xmlns:a16="http://schemas.microsoft.com/office/drawing/2014/main" id="{CA553507-CEF1-40FD-A606-FDC486F98C68}"/>
              </a:ext>
            </a:extLst>
          </p:cNvPr>
          <p:cNvSpPr/>
          <p:nvPr/>
        </p:nvSpPr>
        <p:spPr>
          <a:xfrm>
            <a:off x="609600" y="4521200"/>
            <a:ext cx="3429000" cy="965200"/>
          </a:xfrm>
          <a:prstGeom prst="roundRect">
            <a:avLst>
              <a:gd name="adj" fmla="val 6000"/>
            </a:avLst>
          </a:prstGeom>
          <a:solidFill>
            <a:srgbClr val="EEF4F8"/>
          </a:solidFill>
          <a:ln w="14288">
            <a:solidFill>
              <a:srgbClr val="5084B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TextBox 34">
            <a:extLst>
              <a:ext uri="{FF2B5EF4-FFF2-40B4-BE49-F238E27FC236}">
                <a16:creationId xmlns:a16="http://schemas.microsoft.com/office/drawing/2014/main" id="{EBECDAA2-08BE-E059-2ECE-6596D3F633D6}"/>
              </a:ext>
            </a:extLst>
          </p:cNvPr>
          <p:cNvSpPr txBox="1"/>
          <p:nvPr/>
        </p:nvSpPr>
        <p:spPr>
          <a:xfrm>
            <a:off x="762000" y="4597400"/>
            <a:ext cx="3124200" cy="369332"/>
          </a:xfrm>
          <a:prstGeom prst="rect">
            <a:avLst/>
          </a:prstGeom>
          <a:noFill/>
        </p:spPr>
        <p:txBody>
          <a:bodyPr vert="horz" wrap="square" rtlCol="0">
            <a:noAutofit/>
          </a:bodyPr>
          <a:lstStyle/>
          <a:p>
            <a:r>
              <a:rPr lang="en-GB" sz="1725" b="1">
                <a:solidFill>
                  <a:srgbClr val="003366"/>
                </a:solidFill>
                <a:latin typeface="Arial" panose="020B0604020202020204" pitchFamily="34" charset="0"/>
              </a:rPr>
              <a:t>N = 15</a:t>
            </a:r>
          </a:p>
        </p:txBody>
      </p:sp>
      <p:sp>
        <p:nvSpPr>
          <p:cNvPr id="36" name="TextBox 35">
            <a:extLst>
              <a:ext uri="{FF2B5EF4-FFF2-40B4-BE49-F238E27FC236}">
                <a16:creationId xmlns:a16="http://schemas.microsoft.com/office/drawing/2014/main" id="{1F36D963-9E38-4E37-D144-3DAF38058D13}"/>
              </a:ext>
            </a:extLst>
          </p:cNvPr>
          <p:cNvSpPr txBox="1"/>
          <p:nvPr/>
        </p:nvSpPr>
        <p:spPr>
          <a:xfrm>
            <a:off x="762000" y="4978400"/>
            <a:ext cx="3124200" cy="369332"/>
          </a:xfrm>
          <a:prstGeom prst="rect">
            <a:avLst/>
          </a:prstGeom>
          <a:noFill/>
        </p:spPr>
        <p:txBody>
          <a:bodyPr vert="horz" wrap="square" rtlCol="0">
            <a:noAutofit/>
          </a:bodyPr>
          <a:lstStyle/>
          <a:p>
            <a:r>
              <a:rPr lang="en-GB" sz="1425">
                <a:solidFill>
                  <a:srgbClr val="203344"/>
                </a:solidFill>
                <a:latin typeface="Arial" panose="020B0604020202020204" pitchFamily="34" charset="0"/>
              </a:rPr>
              <a:t>QFT finale di Shor</a:t>
            </a:r>
          </a:p>
        </p:txBody>
      </p:sp>
      <p:sp>
        <p:nvSpPr>
          <p:cNvPr id="37" name="Rectangle: Rounded Corners 36">
            <a:extLst>
              <a:ext uri="{FF2B5EF4-FFF2-40B4-BE49-F238E27FC236}">
                <a16:creationId xmlns:a16="http://schemas.microsoft.com/office/drawing/2014/main" id="{FEA8EC40-EBE1-A508-E7A5-7753600D410D}"/>
              </a:ext>
            </a:extLst>
          </p:cNvPr>
          <p:cNvSpPr/>
          <p:nvPr/>
        </p:nvSpPr>
        <p:spPr>
          <a:xfrm>
            <a:off x="4381500" y="4521200"/>
            <a:ext cx="3429000" cy="965200"/>
          </a:xfrm>
          <a:prstGeom prst="roundRect">
            <a:avLst>
              <a:gd name="adj" fmla="val 6000"/>
            </a:avLst>
          </a:prstGeom>
          <a:solidFill>
            <a:srgbClr val="EEF4F8"/>
          </a:solidFill>
          <a:ln w="14288">
            <a:solidFill>
              <a:srgbClr val="5084B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TextBox 37">
            <a:extLst>
              <a:ext uri="{FF2B5EF4-FFF2-40B4-BE49-F238E27FC236}">
                <a16:creationId xmlns:a16="http://schemas.microsoft.com/office/drawing/2014/main" id="{0BF72B91-2111-8551-D1D4-C5F9DA973716}"/>
              </a:ext>
            </a:extLst>
          </p:cNvPr>
          <p:cNvSpPr txBox="1"/>
          <p:nvPr/>
        </p:nvSpPr>
        <p:spPr>
          <a:xfrm>
            <a:off x="4533900" y="4597400"/>
            <a:ext cx="3124200" cy="369332"/>
          </a:xfrm>
          <a:prstGeom prst="rect">
            <a:avLst/>
          </a:prstGeom>
          <a:noFill/>
        </p:spPr>
        <p:txBody>
          <a:bodyPr vert="horz" wrap="square" rtlCol="0">
            <a:noAutofit/>
          </a:bodyPr>
          <a:lstStyle/>
          <a:p>
            <a:r>
              <a:rPr lang="en-GB" sz="1725" b="1">
                <a:solidFill>
                  <a:srgbClr val="003366"/>
                </a:solidFill>
                <a:latin typeface="Arial" panose="020B0604020202020204" pitchFamily="34" charset="0"/>
              </a:rPr>
              <a:t>N = 21</a:t>
            </a:r>
          </a:p>
        </p:txBody>
      </p:sp>
      <p:sp>
        <p:nvSpPr>
          <p:cNvPr id="39" name="TextBox 38">
            <a:extLst>
              <a:ext uri="{FF2B5EF4-FFF2-40B4-BE49-F238E27FC236}">
                <a16:creationId xmlns:a16="http://schemas.microsoft.com/office/drawing/2014/main" id="{7EF81A7D-9F96-01F4-85FC-8048116D2579}"/>
              </a:ext>
            </a:extLst>
          </p:cNvPr>
          <p:cNvSpPr txBox="1"/>
          <p:nvPr/>
        </p:nvSpPr>
        <p:spPr>
          <a:xfrm>
            <a:off x="4533900" y="4978400"/>
            <a:ext cx="3124200" cy="369332"/>
          </a:xfrm>
          <a:prstGeom prst="rect">
            <a:avLst/>
          </a:prstGeom>
          <a:noFill/>
        </p:spPr>
        <p:txBody>
          <a:bodyPr vert="horz" wrap="square" rtlCol="0">
            <a:noAutofit/>
          </a:bodyPr>
          <a:lstStyle/>
          <a:p>
            <a:r>
              <a:rPr lang="en-GB" sz="1425">
                <a:solidFill>
                  <a:srgbClr val="203344"/>
                </a:solidFill>
                <a:latin typeface="Arial" panose="020B0604020202020204" pitchFamily="34" charset="0"/>
              </a:rPr>
              <a:t>QFT dentro l'aritmetica modulare</a:t>
            </a:r>
          </a:p>
        </p:txBody>
      </p:sp>
      <p:sp>
        <p:nvSpPr>
          <p:cNvPr id="40" name="Rectangle: Rounded Corners 39">
            <a:extLst>
              <a:ext uri="{FF2B5EF4-FFF2-40B4-BE49-F238E27FC236}">
                <a16:creationId xmlns:a16="http://schemas.microsoft.com/office/drawing/2014/main" id="{402282E1-3BCE-89B1-37F7-AC59C0D67CC2}"/>
              </a:ext>
            </a:extLst>
          </p:cNvPr>
          <p:cNvSpPr/>
          <p:nvPr/>
        </p:nvSpPr>
        <p:spPr>
          <a:xfrm>
            <a:off x="8153400" y="4521200"/>
            <a:ext cx="3429000" cy="965200"/>
          </a:xfrm>
          <a:prstGeom prst="roundRect">
            <a:avLst>
              <a:gd name="adj" fmla="val 6000"/>
            </a:avLst>
          </a:prstGeom>
          <a:solidFill>
            <a:srgbClr val="EEF4F8"/>
          </a:solidFill>
          <a:ln w="14288">
            <a:solidFill>
              <a:srgbClr val="5084B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TextBox 40">
            <a:extLst>
              <a:ext uri="{FF2B5EF4-FFF2-40B4-BE49-F238E27FC236}">
                <a16:creationId xmlns:a16="http://schemas.microsoft.com/office/drawing/2014/main" id="{E567FCEB-699E-E744-BC31-A3A44CFB6874}"/>
              </a:ext>
            </a:extLst>
          </p:cNvPr>
          <p:cNvSpPr txBox="1"/>
          <p:nvPr/>
        </p:nvSpPr>
        <p:spPr>
          <a:xfrm>
            <a:off x="8305800" y="4597400"/>
            <a:ext cx="3124200" cy="369332"/>
          </a:xfrm>
          <a:prstGeom prst="rect">
            <a:avLst/>
          </a:prstGeom>
          <a:noFill/>
        </p:spPr>
        <p:txBody>
          <a:bodyPr vert="horz" wrap="square" rtlCol="0">
            <a:noAutofit/>
          </a:bodyPr>
          <a:lstStyle/>
          <a:p>
            <a:r>
              <a:rPr lang="en-GB" sz="1725" b="1">
                <a:solidFill>
                  <a:srgbClr val="003366"/>
                </a:solidFill>
                <a:latin typeface="Arial" panose="020B0604020202020204" pitchFamily="34" charset="0"/>
              </a:rPr>
              <a:t>Stima di fase</a:t>
            </a:r>
          </a:p>
        </p:txBody>
      </p:sp>
      <p:sp>
        <p:nvSpPr>
          <p:cNvPr id="42" name="TextBox 41">
            <a:extLst>
              <a:ext uri="{FF2B5EF4-FFF2-40B4-BE49-F238E27FC236}">
                <a16:creationId xmlns:a16="http://schemas.microsoft.com/office/drawing/2014/main" id="{530C2E88-3EAA-8914-54A2-8F43E9C06BEF}"/>
              </a:ext>
            </a:extLst>
          </p:cNvPr>
          <p:cNvSpPr txBox="1"/>
          <p:nvPr/>
        </p:nvSpPr>
        <p:spPr>
          <a:xfrm>
            <a:off x="8305800" y="4978400"/>
            <a:ext cx="3124200" cy="369332"/>
          </a:xfrm>
          <a:prstGeom prst="rect">
            <a:avLst/>
          </a:prstGeom>
          <a:noFill/>
        </p:spPr>
        <p:txBody>
          <a:bodyPr vert="horz" wrap="square" rtlCol="0">
            <a:noAutofit/>
          </a:bodyPr>
          <a:lstStyle/>
          <a:p>
            <a:r>
              <a:rPr lang="it-IT" sz="1425">
                <a:solidFill>
                  <a:srgbClr val="203344"/>
                </a:solidFill>
                <a:latin typeface="Arial" panose="020B0604020202020204" pitchFamily="34" charset="0"/>
              </a:rPr>
              <a:t>test isolati, da 6 a 10 qubit</a:t>
            </a:r>
            <a:endParaRPr lang="en-GB" sz="1425">
              <a:solidFill>
                <a:srgbClr val="203344"/>
              </a:solidFill>
              <a:latin typeface="Arial" panose="020B0604020202020204" pitchFamily="34" charset="0"/>
            </a:endParaRPr>
          </a:p>
        </p:txBody>
      </p:sp>
      <p:sp>
        <p:nvSpPr>
          <p:cNvPr id="43" name="TextBox 42">
            <a:extLst>
              <a:ext uri="{FF2B5EF4-FFF2-40B4-BE49-F238E27FC236}">
                <a16:creationId xmlns:a16="http://schemas.microsoft.com/office/drawing/2014/main" id="{4CD43F7A-C369-C032-DFB0-39F88B6B42C6}"/>
              </a:ext>
            </a:extLst>
          </p:cNvPr>
          <p:cNvSpPr txBox="1"/>
          <p:nvPr/>
        </p:nvSpPr>
        <p:spPr>
          <a:xfrm>
            <a:off x="609600" y="5588000"/>
            <a:ext cx="10972800" cy="369332"/>
          </a:xfrm>
          <a:prstGeom prst="rect">
            <a:avLst/>
          </a:prstGeom>
          <a:noFill/>
        </p:spPr>
        <p:txBody>
          <a:bodyPr vert="horz" wrap="square" rtlCol="0">
            <a:noAutofit/>
          </a:bodyPr>
          <a:lstStyle/>
          <a:p>
            <a:r>
              <a:rPr lang="it-IT" sz="1275">
                <a:solidFill>
                  <a:srgbClr val="647487"/>
                </a:solidFill>
                <a:latin typeface="Arial" panose="020B0604020202020204" pitchFamily="34" charset="0"/>
              </a:rPr>
              <a:t>Rumore preso dalla calibrazione di un computer IBM (FakeSherbrooke). Il grado di approssimazione è scelto su metà dei dati e verificato sull'altra metà.</a:t>
            </a:r>
            <a:endParaRPr lang="en-GB" sz="1275">
              <a:solidFill>
                <a:srgbClr val="647487"/>
              </a:solidFill>
              <a:latin typeface="Arial" panose="020B0604020202020204" pitchFamily="34" charset="0"/>
            </a:endParaRPr>
          </a:p>
        </p:txBody>
      </p:sp>
      <p:sp>
        <p:nvSpPr>
          <p:cNvPr id="44" name="TextBox 43">
            <a:extLst>
              <a:ext uri="{FF2B5EF4-FFF2-40B4-BE49-F238E27FC236}">
                <a16:creationId xmlns:a16="http://schemas.microsoft.com/office/drawing/2014/main" id="{9A9E8929-75B6-6913-46FA-CDC4A629F0C9}"/>
              </a:ext>
            </a:extLst>
          </p:cNvPr>
          <p:cNvSpPr txBox="1"/>
          <p:nvPr/>
        </p:nvSpPr>
        <p:spPr>
          <a:xfrm>
            <a:off x="609600" y="6197600"/>
            <a:ext cx="10972800" cy="369332"/>
          </a:xfrm>
          <a:prstGeom prst="rect">
            <a:avLst/>
          </a:prstGeom>
          <a:noFill/>
        </p:spPr>
        <p:txBody>
          <a:bodyPr vert="horz" wrap="square" rtlCol="0">
            <a:noAutofit/>
          </a:bodyPr>
          <a:lstStyle/>
          <a:p>
            <a:r>
              <a:rPr lang="it-IT" sz="1950" b="1">
                <a:solidFill>
                  <a:srgbClr val="175F99"/>
                </a:solidFill>
                <a:latin typeface="Arial" panose="020B0604020202020204" pitchFamily="34" charset="0"/>
              </a:rPr>
              <a:t>Meno rotazioni = meno porte e meno rumore, al prezzo di un po' di precisione.</a:t>
            </a:r>
            <a:endParaRPr lang="en-GB" sz="1950" b="1">
              <a:solidFill>
                <a:srgbClr val="175F99"/>
              </a:solidFill>
              <a:latin typeface="Arial" panose="020B0604020202020204" pitchFamily="34" charset="0"/>
            </a:endParaRPr>
          </a:p>
        </p:txBody>
      </p:sp>
    </p:spTree>
    <p:extLst>
      <p:ext uri="{BB962C8B-B14F-4D97-AF65-F5344CB8AC3E}">
        <p14:creationId xmlns:p14="http://schemas.microsoft.com/office/powerpoint/2010/main" val="49079628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19" name="Picture 18" descr="v2_s18_aqft_n15_holdout.png"/>
          <p:cNvPicPr>
            <a:picLocks noChangeAspect="1"/>
          </p:cNvPicPr>
          <p:nvPr/>
        </p:nvPicPr>
        <p:blipFill>
          <a:blip r:embed="rId5"/>
          <a:stretch>
            <a:fillRect/>
          </a:stretch>
        </p:blipFill>
        <p:spPr>
          <a:xfrm>
            <a:off x="609600" y="1428750"/>
            <a:ext cx="6499474" cy="4095750"/>
          </a:xfrm>
          <a:prstGeom prst="rect">
            <a:avLst/>
          </a:prstGeom>
        </p:spPr>
      </p:pic>
      <p:sp>
        <p:nvSpPr>
          <p:cNvPr id="11" name="Rectangle 10">
            <a:extLst>
              <a:ext uri="{FF2B5EF4-FFF2-40B4-BE49-F238E27FC236}">
                <a16:creationId xmlns:a16="http://schemas.microsoft.com/office/drawing/2014/main" id="{8A715D2C-BFF8-4F44-9B9C-E1B9D835B317}"/>
              </a:ext>
            </a:extLst>
          </p:cNvPr>
          <p:cNvSpPr>
            <a:spLocks noGrp="1"/>
          </p:cNvSpPr>
          <p:nvPr/>
        </p:nvSpPr>
        <p:spPr>
          <a:xfrm>
            <a:off x="609600" y="400050"/>
            <a:ext cx="9906000" cy="619125"/>
          </a:xfrm>
          <a:prstGeom prst="rect">
            <a:avLst/>
          </a:prstGeom>
          <a:noFill/>
          <a:ln w="0">
            <a:noFill/>
          </a:ln>
        </p:spPr>
        <p:txBody>
          <a:bodyPr>
            <a:noAutofit/>
          </a:bodyPr>
          <a:lstStyle/>
          <a:p>
            <a:pPr>
              <a:defRPr sz="2700" b="0">
                <a:solidFill>
                  <a:srgbClr val="003366"/>
                </a:solidFill>
                <a:latin typeface="Arial"/>
                <a:ea typeface="Arial"/>
                <a:cs typeface="Arial"/>
              </a:defRPr>
            </a:pPr>
            <a:r>
              <a:rPr lang="it-IT" sz="2700" b="0">
                <a:solidFill>
                  <a:srgbClr val="003366"/>
                </a:solidFill>
                <a:latin typeface="Arial"/>
                <a:ea typeface="Arial"/>
                <a:cs typeface="Arial"/>
              </a:rPr>
              <a:t>Risultato 3: AQFT su N = 15</a:t>
            </a:r>
            <a:endParaRPr sz="2700" b="0">
              <a:solidFill>
                <a:srgbClr val="003366"/>
              </a:solidFill>
              <a:latin typeface="Arial"/>
              <a:ea typeface="Arial"/>
              <a:cs typeface="Arial"/>
            </a:endParaRPr>
          </a:p>
        </p:txBody>
      </p:sp>
      <p:pic>
        <p:nvPicPr>
          <p:cNvPr id="12" name="Picture 11"/>
          <p:cNvPicPr>
            <a:picLocks noChangeAspect="1"/>
          </p:cNvPicPr>
          <p:nvPr/>
        </p:nvPicPr>
        <p:blipFill>
          <a:blip r:embed="rId3"/>
          <a:stretch/>
        </p:blipFill>
        <p:spPr>
          <a:xfrm>
            <a:off x="10896600" y="243116"/>
            <a:ext cx="838200" cy="694869"/>
          </a:xfrm>
          <a:prstGeom prst="rect">
            <a:avLst/>
          </a:prstGeom>
        </p:spPr>
      </p:pic>
      <p:sp>
        <p:nvSpPr>
          <p:cNvPr id="3" name="Rectangle 2">
            <a:extLst>
              <a:ext uri="{FF2B5EF4-FFF2-40B4-BE49-F238E27FC236}">
                <a16:creationId xmlns:a16="http://schemas.microsoft.com/office/drawing/2014/main" id="{EA2291F3-B2FD-49F3-B6D2-121D3BDBF3CD}"/>
              </a:ext>
            </a:extLst>
          </p:cNvPr>
          <p:cNvSpPr>
            <a:spLocks noGrp="1"/>
          </p:cNvSpPr>
          <p:nvPr/>
        </p:nvSpPr>
        <p:spPr>
          <a:xfrm>
            <a:off x="609600" y="1095375"/>
            <a:ext cx="10096500" cy="19050"/>
          </a:xfrm>
          <a:prstGeom prst="rect">
            <a:avLst/>
          </a:prstGeom>
          <a:solidFill>
            <a:srgbClr val="5084BF"/>
          </a:solidFill>
          <a:ln w="0">
            <a:noFill/>
          </a:ln>
        </p:spPr>
        <p:txBody>
          <a:bodyPr/>
          <a:lstStyle/>
          <a:p>
            <a:endParaRPr lang="en-GB"/>
          </a:p>
        </p:txBody>
      </p:sp>
      <p:sp>
        <p:nvSpPr>
          <p:cNvPr id="4" name="Rectangle 3">
            <a:extLst>
              <a:ext uri="{FF2B5EF4-FFF2-40B4-BE49-F238E27FC236}">
                <a16:creationId xmlns:a16="http://schemas.microsoft.com/office/drawing/2014/main" id="{42F908A8-B2EF-405D-A77D-5756ADD4C77A}"/>
              </a:ext>
            </a:extLst>
          </p:cNvPr>
          <p:cNvSpPr>
            <a:spLocks noGrp="1"/>
          </p:cNvSpPr>
          <p:nvPr/>
        </p:nvSpPr>
        <p:spPr>
          <a:xfrm>
            <a:off x="7477125" y="828675"/>
            <a:ext cx="3228975" cy="219075"/>
          </a:xfrm>
          <a:prstGeom prst="rect">
            <a:avLst/>
          </a:prstGeom>
          <a:noFill/>
          <a:ln w="0">
            <a:noFill/>
          </a:ln>
        </p:spPr>
        <p:txBody>
          <a:bodyPr rIns="0">
            <a:noAutofit/>
          </a:bodyPr>
          <a:lstStyle/>
          <a:p>
            <a:pPr algn="r">
              <a:defRPr sz="1200" b="0">
                <a:solidFill>
                  <a:srgbClr val="203344"/>
                </a:solidFill>
                <a:latin typeface="Arial"/>
                <a:ea typeface="Arial"/>
                <a:cs typeface="Arial"/>
              </a:defRPr>
            </a:pPr>
            <a:r>
              <a:rPr lang="it-IT" sz="1200" b="0">
                <a:solidFill>
                  <a:srgbClr val="203344"/>
                </a:solidFill>
                <a:latin typeface="Arial"/>
                <a:ea typeface="Arial"/>
                <a:cs typeface="Arial"/>
              </a:rPr>
              <a:t>Strategia 3 · QFT approssimata | 12</a:t>
            </a:r>
            <a:endParaRPr sz="1200" b="0">
              <a:solidFill>
                <a:srgbClr val="203344"/>
              </a:solidFill>
              <a:latin typeface="Arial"/>
              <a:ea typeface="Arial"/>
              <a:cs typeface="Arial"/>
            </a:endParaRPr>
          </a:p>
        </p:txBody>
      </p:sp>
      <p:sp>
        <p:nvSpPr>
          <p:cNvPr id="6" name="Rectangle 5">
            <a:extLst>
              <a:ext uri="{FF2B5EF4-FFF2-40B4-BE49-F238E27FC236}">
                <a16:creationId xmlns:a16="http://schemas.microsoft.com/office/drawing/2014/main" id="{68AFD0C9-328E-4D63-A4D9-E371C130FD82}"/>
              </a:ext>
            </a:extLst>
          </p:cNvPr>
          <p:cNvSpPr>
            <a:spLocks noGrp="1"/>
          </p:cNvSpPr>
          <p:nvPr/>
        </p:nvSpPr>
        <p:spPr>
          <a:xfrm>
            <a:off x="7810500" y="1609725"/>
            <a:ext cx="3771900" cy="800100"/>
          </a:xfrm>
          <a:prstGeom prst="rect">
            <a:avLst/>
          </a:prstGeom>
          <a:noFill/>
          <a:ln w="0">
            <a:noFill/>
          </a:ln>
        </p:spPr>
        <p:txBody>
          <a:bodyPr>
            <a:noAutofit/>
          </a:bodyPr>
          <a:lstStyle/>
          <a:p>
            <a:pPr>
              <a:defRPr sz="4725" b="1">
                <a:solidFill>
                  <a:srgbClr val="175F99"/>
                </a:solidFill>
                <a:latin typeface="Arial"/>
                <a:ea typeface="Arial"/>
                <a:cs typeface="Arial"/>
              </a:defRPr>
            </a:pPr>
            <a:r>
              <a:rPr sz="4725" b="1">
                <a:solidFill>
                  <a:srgbClr val="B5641A"/>
                </a:solidFill>
                <a:latin typeface="Arial"/>
                <a:ea typeface="Arial"/>
                <a:cs typeface="Arial"/>
              </a:rPr>
              <a:t>+14,87</a:t>
            </a:r>
          </a:p>
        </p:txBody>
      </p:sp>
      <p:sp>
        <p:nvSpPr>
          <p:cNvPr id="7" name="Rectangle 6">
            <a:extLst>
              <a:ext uri="{FF2B5EF4-FFF2-40B4-BE49-F238E27FC236}">
                <a16:creationId xmlns:a16="http://schemas.microsoft.com/office/drawing/2014/main" id="{A3C5E1FC-DBD5-48E4-A049-97253916A7E3}"/>
              </a:ext>
            </a:extLst>
          </p:cNvPr>
          <p:cNvSpPr>
            <a:spLocks noGrp="1"/>
          </p:cNvSpPr>
          <p:nvPr/>
        </p:nvSpPr>
        <p:spPr>
          <a:xfrm>
            <a:off x="7810500" y="2447925"/>
            <a:ext cx="3771900" cy="1095375"/>
          </a:xfrm>
          <a:prstGeom prst="rect">
            <a:avLst/>
          </a:prstGeom>
          <a:noFill/>
          <a:ln w="0">
            <a:noFill/>
          </a:ln>
        </p:spPr>
        <p:txBody>
          <a:bodyPr>
            <a:noAutofit/>
          </a:bodyPr>
          <a:lstStyle/>
          <a:p>
            <a:pPr>
              <a:defRPr sz="2025" b="0">
                <a:solidFill>
                  <a:srgbClr val="203344"/>
                </a:solidFill>
                <a:latin typeface="Arial"/>
                <a:ea typeface="Arial"/>
                <a:cs typeface="Arial"/>
              </a:defRPr>
            </a:pPr>
            <a:r>
              <a:rPr sz="2025" b="0">
                <a:solidFill>
                  <a:srgbClr val="203344"/>
                </a:solidFill>
                <a:latin typeface="Arial"/>
                <a:ea typeface="Arial"/>
                <a:cs typeface="Arial"/>
              </a:rPr>
              <a:t>Punti percentuali di successo</a:t>
            </a:r>
          </a:p>
          <a:p>
            <a:pPr>
              <a:defRPr sz="2025" b="0">
                <a:solidFill>
                  <a:srgbClr val="203344"/>
                </a:solidFill>
                <a:latin typeface="Arial"/>
                <a:ea typeface="Arial"/>
                <a:cs typeface="Arial"/>
              </a:defRPr>
            </a:pPr>
            <a:r>
              <a:rPr sz="2025" b="0">
                <a:solidFill>
                  <a:srgbClr val="203344"/>
                </a:solidFill>
                <a:latin typeface="Arial"/>
                <a:ea typeface="Arial"/>
                <a:cs typeface="Arial"/>
              </a:rPr>
              <a:t>su dati di verifica</a:t>
            </a:r>
          </a:p>
          <a:p>
            <a:r>
              <a:rPr sz="1600">
                <a:solidFill>
                  <a:srgbClr val="5B6573"/>
                </a:solidFill>
              </a:rPr>
              <a:t>IC 95%: da +12,7 a +17,0</a:t>
            </a:r>
          </a:p>
        </p:txBody>
      </p:sp>
      <p:graphicFrame>
        <p:nvGraphicFramePr>
          <p:cNvPr id="18" name="Table 17"/>
          <p:cNvGraphicFramePr/>
          <p:nvPr/>
        </p:nvGraphicFramePr>
        <p:xfrm>
          <a:off x="7810500" y="3629025"/>
          <a:ext cx="3771900" cy="1895476"/>
        </p:xfrm>
        <a:graphic>
          <a:graphicData uri="http://schemas.openxmlformats.org/drawingml/2006/table">
            <a:tbl>
              <a:tblPr/>
              <a:tblGrid>
                <a:gridCol w="1508760">
                  <a:extLst>
                    <a:ext uri="{9D8B030D-6E8A-4147-A177-3AD203B41FA5}">
                      <a16:colId xmlns:a16="http://schemas.microsoft.com/office/drawing/2014/main" val="20000"/>
                    </a:ext>
                  </a:extLst>
                </a:gridCol>
                <a:gridCol w="1131570">
                  <a:extLst>
                    <a:ext uri="{9D8B030D-6E8A-4147-A177-3AD203B41FA5}">
                      <a16:colId xmlns:a16="http://schemas.microsoft.com/office/drawing/2014/main" val="20001"/>
                    </a:ext>
                  </a:extLst>
                </a:gridCol>
                <a:gridCol w="1131570">
                  <a:extLst>
                    <a:ext uri="{9D8B030D-6E8A-4147-A177-3AD203B41FA5}">
                      <a16:colId xmlns:a16="http://schemas.microsoft.com/office/drawing/2014/main" val="20002"/>
                    </a:ext>
                  </a:extLst>
                </a:gridCol>
              </a:tblGrid>
              <a:tr h="473869">
                <a:tc>
                  <a:txBody>
                    <a:bodyPr/>
                    <a:lstStyle/>
                    <a:p>
                      <a:endParaRPr/>
                    </a:p>
                  </a:txBody>
                  <a:tcPr>
                    <a:solidFill>
                      <a:srgbClr val="175F99"/>
                    </a:solidFill>
                  </a:tcPr>
                </a:tc>
                <a:tc>
                  <a:txBody>
                    <a:bodyPr/>
                    <a:lstStyle/>
                    <a:p>
                      <a:r>
                        <a:rPr sz="1725" b="1">
                          <a:solidFill>
                            <a:srgbClr val="FFFFFF"/>
                          </a:solidFill>
                          <a:latin typeface="Arial"/>
                          <a:ea typeface="Arial"/>
                          <a:cs typeface="Arial"/>
                        </a:rPr>
                        <a:t>QFT piena</a:t>
                      </a:r>
                    </a:p>
                  </a:txBody>
                  <a:tcPr>
                    <a:solidFill>
                      <a:srgbClr val="175F99"/>
                    </a:solidFill>
                  </a:tcPr>
                </a:tc>
                <a:tc>
                  <a:txBody>
                    <a:bodyPr/>
                    <a:lstStyle/>
                    <a:p>
                      <a:r>
                        <a:rPr sz="1725" b="1">
                          <a:solidFill>
                            <a:srgbClr val="FFFFFF"/>
                          </a:solidFill>
                          <a:latin typeface="Arial"/>
                          <a:ea typeface="Arial"/>
                          <a:cs typeface="Arial"/>
                        </a:rPr>
                        <a:t>AQFT</a:t>
                      </a:r>
                    </a:p>
                  </a:txBody>
                  <a:tcPr>
                    <a:solidFill>
                      <a:srgbClr val="175F99"/>
                    </a:solidFill>
                  </a:tcPr>
                </a:tc>
                <a:extLst>
                  <a:ext uri="{0D108BD9-81ED-4DB2-BD59-A6C34878D82A}">
                    <a16:rowId xmlns:a16="http://schemas.microsoft.com/office/drawing/2014/main" val="10000"/>
                  </a:ext>
                </a:extLst>
              </a:tr>
              <a:tr h="473869">
                <a:tc>
                  <a:txBody>
                    <a:bodyPr/>
                    <a:lstStyle/>
                    <a:p>
                      <a:r>
                        <a:rPr sz="1725" b="0">
                          <a:solidFill>
                            <a:srgbClr val="203344"/>
                          </a:solidFill>
                          <a:latin typeface="Arial"/>
                          <a:ea typeface="Arial"/>
                          <a:cs typeface="Arial"/>
                        </a:rPr>
                        <a:t>Successo</a:t>
                      </a:r>
                    </a:p>
                  </a:txBody>
                  <a:tcPr>
                    <a:solidFill>
                      <a:srgbClr val="EEF4F8"/>
                    </a:solidFill>
                  </a:tcPr>
                </a:tc>
                <a:tc>
                  <a:txBody>
                    <a:bodyPr/>
                    <a:lstStyle/>
                    <a:p>
                      <a:r>
                        <a:rPr sz="1725" b="0">
                          <a:solidFill>
                            <a:srgbClr val="203344"/>
                          </a:solidFill>
                          <a:latin typeface="Arial"/>
                          <a:ea typeface="Arial"/>
                          <a:cs typeface="Arial"/>
                        </a:rPr>
                        <a:t>47,92%</a:t>
                      </a:r>
                    </a:p>
                  </a:txBody>
                  <a:tcPr>
                    <a:solidFill>
                      <a:srgbClr val="EEF4F8"/>
                    </a:solidFill>
                  </a:tcPr>
                </a:tc>
                <a:tc>
                  <a:txBody>
                    <a:bodyPr/>
                    <a:lstStyle/>
                    <a:p>
                      <a:r>
                        <a:rPr sz="1725" b="0">
                          <a:solidFill>
                            <a:srgbClr val="203344"/>
                          </a:solidFill>
                          <a:latin typeface="Arial"/>
                          <a:ea typeface="Arial"/>
                          <a:cs typeface="Arial"/>
                        </a:rPr>
                        <a:t>62,79%</a:t>
                      </a:r>
                    </a:p>
                  </a:txBody>
                  <a:tcPr>
                    <a:solidFill>
                      <a:srgbClr val="EEF4F8"/>
                    </a:solidFill>
                  </a:tcPr>
                </a:tc>
                <a:extLst>
                  <a:ext uri="{0D108BD9-81ED-4DB2-BD59-A6C34878D82A}">
                    <a16:rowId xmlns:a16="http://schemas.microsoft.com/office/drawing/2014/main" val="10001"/>
                  </a:ext>
                </a:extLst>
              </a:tr>
              <a:tr h="473869">
                <a:tc>
                  <a:txBody>
                    <a:bodyPr/>
                    <a:lstStyle/>
                    <a:p>
                      <a:r>
                        <a:rPr sz="1725" b="0">
                          <a:solidFill>
                            <a:srgbClr val="203344"/>
                          </a:solidFill>
                          <a:latin typeface="Arial"/>
                          <a:ea typeface="Arial"/>
                          <a:cs typeface="Arial"/>
                        </a:rPr>
                        <a:t>Porte a 2 qubit (ECR)</a:t>
                      </a:r>
                    </a:p>
                  </a:txBody>
                  <a:tcPr>
                    <a:solidFill>
                      <a:srgbClr val="FFFFFF"/>
                    </a:solidFill>
                  </a:tcPr>
                </a:tc>
                <a:tc>
                  <a:txBody>
                    <a:bodyPr/>
                    <a:lstStyle/>
                    <a:p>
                      <a:r>
                        <a:rPr sz="1725" b="0">
                          <a:solidFill>
                            <a:srgbClr val="203344"/>
                          </a:solidFill>
                          <a:latin typeface="Arial"/>
                          <a:ea typeface="Arial"/>
                          <a:cs typeface="Arial"/>
                        </a:rPr>
                        <a:t>362</a:t>
                      </a:r>
                    </a:p>
                  </a:txBody>
                  <a:tcPr>
                    <a:solidFill>
                      <a:srgbClr val="FFFFFF"/>
                    </a:solidFill>
                  </a:tcPr>
                </a:tc>
                <a:tc>
                  <a:txBody>
                    <a:bodyPr/>
                    <a:lstStyle/>
                    <a:p>
                      <a:r>
                        <a:rPr sz="1725" b="0">
                          <a:solidFill>
                            <a:srgbClr val="203344"/>
                          </a:solidFill>
                          <a:latin typeface="Arial"/>
                          <a:ea typeface="Arial"/>
                          <a:cs typeface="Arial"/>
                        </a:rPr>
                        <a:t>279</a:t>
                      </a:r>
                    </a:p>
                  </a:txBody>
                  <a:tcPr>
                    <a:solidFill>
                      <a:srgbClr val="FFFFFF"/>
                    </a:solidFill>
                  </a:tcPr>
                </a:tc>
                <a:extLst>
                  <a:ext uri="{0D108BD9-81ED-4DB2-BD59-A6C34878D82A}">
                    <a16:rowId xmlns:a16="http://schemas.microsoft.com/office/drawing/2014/main" val="10002"/>
                  </a:ext>
                </a:extLst>
              </a:tr>
              <a:tr h="473869">
                <a:tc>
                  <a:txBody>
                    <a:bodyPr/>
                    <a:lstStyle/>
                    <a:p>
                      <a:r>
                        <a:rPr sz="1725" b="0">
                          <a:solidFill>
                            <a:srgbClr val="203344"/>
                          </a:solidFill>
                          <a:latin typeface="Arial"/>
                          <a:ea typeface="Arial"/>
                          <a:cs typeface="Arial"/>
                        </a:rPr>
                        <a:t>Profondità</a:t>
                      </a:r>
                    </a:p>
                  </a:txBody>
                  <a:tcPr>
                    <a:solidFill>
                      <a:srgbClr val="EEF4F8"/>
                    </a:solidFill>
                  </a:tcPr>
                </a:tc>
                <a:tc>
                  <a:txBody>
                    <a:bodyPr/>
                    <a:lstStyle/>
                    <a:p>
                      <a:r>
                        <a:rPr sz="1725" b="0">
                          <a:solidFill>
                            <a:srgbClr val="203344"/>
                          </a:solidFill>
                          <a:latin typeface="Arial"/>
                          <a:ea typeface="Arial"/>
                          <a:cs typeface="Arial"/>
                        </a:rPr>
                        <a:t>1351</a:t>
                      </a:r>
                    </a:p>
                  </a:txBody>
                  <a:tcPr>
                    <a:solidFill>
                      <a:srgbClr val="EEF4F8"/>
                    </a:solidFill>
                  </a:tcPr>
                </a:tc>
                <a:tc>
                  <a:txBody>
                    <a:bodyPr/>
                    <a:lstStyle/>
                    <a:p>
                      <a:r>
                        <a:rPr sz="1725" b="0">
                          <a:solidFill>
                            <a:srgbClr val="203344"/>
                          </a:solidFill>
                          <a:latin typeface="Arial"/>
                          <a:ea typeface="Arial"/>
                          <a:cs typeface="Arial"/>
                        </a:rPr>
                        <a:t>1141</a:t>
                      </a:r>
                    </a:p>
                  </a:txBody>
                  <a:tcPr>
                    <a:solidFill>
                      <a:srgbClr val="EEF4F8"/>
                    </a:solidFill>
                  </a:tcPr>
                </a:tc>
                <a:extLst>
                  <a:ext uri="{0D108BD9-81ED-4DB2-BD59-A6C34878D82A}">
                    <a16:rowId xmlns:a16="http://schemas.microsoft.com/office/drawing/2014/main" val="10003"/>
                  </a:ext>
                </a:extLst>
              </a:tr>
            </a:tbl>
          </a:graphicData>
        </a:graphic>
      </p:graphicFrame>
      <p:sp>
        <p:nvSpPr>
          <p:cNvPr id="10" name="Rectangle 9">
            <a:extLst>
              <a:ext uri="{FF2B5EF4-FFF2-40B4-BE49-F238E27FC236}">
                <a16:creationId xmlns:a16="http://schemas.microsoft.com/office/drawing/2014/main" id="{CD681458-516B-464A-8A55-982CD3E3B7A1}"/>
              </a:ext>
            </a:extLst>
          </p:cNvPr>
          <p:cNvSpPr>
            <a:spLocks noGrp="1"/>
          </p:cNvSpPr>
          <p:nvPr/>
        </p:nvSpPr>
        <p:spPr>
          <a:xfrm>
            <a:off x="609600" y="6296025"/>
            <a:ext cx="10972800" cy="409575"/>
          </a:xfrm>
          <a:prstGeom prst="rect">
            <a:avLst/>
          </a:prstGeom>
          <a:noFill/>
          <a:ln w="0">
            <a:noFill/>
          </a:ln>
        </p:spPr>
        <p:txBody>
          <a:bodyPr>
            <a:noAutofit/>
          </a:bodyPr>
          <a:lstStyle/>
          <a:p>
            <a:pPr>
              <a:defRPr sz="2025" b="1">
                <a:solidFill>
                  <a:srgbClr val="175F99"/>
                </a:solidFill>
                <a:latin typeface="Arial"/>
                <a:ea typeface="Arial"/>
                <a:cs typeface="Arial"/>
              </a:defRPr>
            </a:pPr>
            <a:r>
              <a:rPr lang="it-IT" b="1">
                <a:solidFill>
                  <a:srgbClr val="175F99"/>
                </a:solidFill>
                <a:latin typeface="Arial"/>
                <a:ea typeface="Arial"/>
                <a:cs typeface="Arial"/>
              </a:rPr>
              <a:t>Su N = 15: più successo con il 22,9% di porte in meno; caso favorevole.</a:t>
            </a:r>
            <a:endParaRPr b="1">
              <a:solidFill>
                <a:srgbClr val="175F99"/>
              </a:solidFill>
              <a:latin typeface="Arial"/>
              <a:ea typeface="Arial"/>
              <a:cs typeface="Arial"/>
            </a:endParaRPr>
          </a:p>
        </p:txBody>
      </p:sp>
    </p:spTree>
    <p:extLst>
      <p:ext uri="{BB962C8B-B14F-4D97-AF65-F5344CB8AC3E}">
        <p14:creationId xmlns:p14="http://schemas.microsoft.com/office/powerpoint/2010/main" val="10239366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1CA37C23-8EF6-4C17-A4F4-E71FFDA7BF90}"/>
              </a:ext>
            </a:extLst>
          </p:cNvPr>
          <p:cNvSpPr>
            <a:spLocks noGrp="1"/>
          </p:cNvSpPr>
          <p:nvPr/>
        </p:nvSpPr>
        <p:spPr>
          <a:xfrm>
            <a:off x="609600" y="400050"/>
            <a:ext cx="9906000" cy="619125"/>
          </a:xfrm>
          <a:prstGeom prst="rect">
            <a:avLst/>
          </a:prstGeom>
          <a:noFill/>
          <a:ln w="0">
            <a:noFill/>
          </a:ln>
        </p:spPr>
        <p:txBody>
          <a:bodyPr>
            <a:noAutofit/>
          </a:bodyPr>
          <a:lstStyle/>
          <a:p>
            <a:pPr>
              <a:defRPr sz="2700" b="0">
                <a:solidFill>
                  <a:srgbClr val="003366"/>
                </a:solidFill>
                <a:latin typeface="Arial"/>
                <a:ea typeface="Arial"/>
                <a:cs typeface="Arial"/>
              </a:defRPr>
            </a:pPr>
            <a:r>
              <a:rPr lang="it-IT" sz="2700" b="0">
                <a:solidFill>
                  <a:srgbClr val="003366"/>
                </a:solidFill>
                <a:latin typeface="Arial"/>
                <a:ea typeface="Arial"/>
                <a:cs typeface="Arial"/>
              </a:rPr>
              <a:t>Demo: Shor passo per passo, con e senza rumore</a:t>
            </a:r>
            <a:endParaRPr sz="2700" b="0">
              <a:solidFill>
                <a:srgbClr val="003366"/>
              </a:solidFill>
              <a:latin typeface="Arial"/>
              <a:ea typeface="Arial"/>
              <a:cs typeface="Arial"/>
            </a:endParaRPr>
          </a:p>
        </p:txBody>
      </p:sp>
      <p:pic>
        <p:nvPicPr>
          <p:cNvPr id="16" name="Picture 15"/>
          <p:cNvPicPr>
            <a:picLocks noChangeAspect="1"/>
          </p:cNvPicPr>
          <p:nvPr/>
        </p:nvPicPr>
        <p:blipFill>
          <a:blip r:embed="rId5"/>
          <a:stretch/>
        </p:blipFill>
        <p:spPr>
          <a:xfrm>
            <a:off x="10896600" y="243116"/>
            <a:ext cx="838200" cy="694869"/>
          </a:xfrm>
          <a:prstGeom prst="rect">
            <a:avLst/>
          </a:prstGeom>
        </p:spPr>
      </p:pic>
      <p:sp>
        <p:nvSpPr>
          <p:cNvPr id="3" name="Rectangle 2">
            <a:extLst>
              <a:ext uri="{FF2B5EF4-FFF2-40B4-BE49-F238E27FC236}">
                <a16:creationId xmlns:a16="http://schemas.microsoft.com/office/drawing/2014/main" id="{42491AB4-A50E-4972-B4BC-A45D2FE2D097}"/>
              </a:ext>
            </a:extLst>
          </p:cNvPr>
          <p:cNvSpPr>
            <a:spLocks noGrp="1"/>
          </p:cNvSpPr>
          <p:nvPr/>
        </p:nvSpPr>
        <p:spPr>
          <a:xfrm>
            <a:off x="609600" y="1095375"/>
            <a:ext cx="10096500" cy="19050"/>
          </a:xfrm>
          <a:prstGeom prst="rect">
            <a:avLst/>
          </a:prstGeom>
          <a:solidFill>
            <a:srgbClr val="5084BF"/>
          </a:solidFill>
          <a:ln w="0">
            <a:noFill/>
          </a:ln>
        </p:spPr>
        <p:txBody>
          <a:bodyPr/>
          <a:lstStyle/>
          <a:p>
            <a:endParaRPr lang="en-GB"/>
          </a:p>
        </p:txBody>
      </p:sp>
      <p:sp>
        <p:nvSpPr>
          <p:cNvPr id="4" name="Rectangle 3">
            <a:extLst>
              <a:ext uri="{FF2B5EF4-FFF2-40B4-BE49-F238E27FC236}">
                <a16:creationId xmlns:a16="http://schemas.microsoft.com/office/drawing/2014/main" id="{BCA1C702-C5F3-4FAF-A2B8-E1EA38A991CF}"/>
              </a:ext>
            </a:extLst>
          </p:cNvPr>
          <p:cNvSpPr>
            <a:spLocks noGrp="1"/>
          </p:cNvSpPr>
          <p:nvPr/>
        </p:nvSpPr>
        <p:spPr>
          <a:xfrm>
            <a:off x="7477125" y="828675"/>
            <a:ext cx="3228975" cy="219075"/>
          </a:xfrm>
          <a:prstGeom prst="rect">
            <a:avLst/>
          </a:prstGeom>
          <a:noFill/>
          <a:ln w="0">
            <a:noFill/>
          </a:ln>
        </p:spPr>
        <p:txBody>
          <a:bodyPr rIns="0">
            <a:noAutofit/>
          </a:bodyPr>
          <a:lstStyle/>
          <a:p>
            <a:pPr algn="r">
              <a:defRPr sz="1200" b="0">
                <a:solidFill>
                  <a:srgbClr val="203344"/>
                </a:solidFill>
                <a:latin typeface="Arial"/>
                <a:ea typeface="Arial"/>
                <a:cs typeface="Arial"/>
              </a:defRPr>
            </a:pPr>
            <a:r>
              <a:rPr lang="it-IT" sz="1200" b="0">
                <a:solidFill>
                  <a:srgbClr val="203344"/>
                </a:solidFill>
                <a:latin typeface="Arial"/>
                <a:ea typeface="Arial"/>
                <a:cs typeface="Arial"/>
              </a:rPr>
              <a:t>Discussione e conclusioni | 13</a:t>
            </a:r>
            <a:endParaRPr sz="1200" b="0">
              <a:solidFill>
                <a:srgbClr val="203344"/>
              </a:solidFill>
              <a:latin typeface="Arial"/>
              <a:ea typeface="Arial"/>
              <a:cs typeface="Arial"/>
            </a:endParaRPr>
          </a:p>
        </p:txBody>
      </p:sp>
      <p:pic>
        <p:nvPicPr>
          <p:cNvPr id="2" name="Video demo">
            <a:hlinkClick r:id="" action="ppaction://media"/>
            <a:extLst>
              <a:ext uri="{FF2B5EF4-FFF2-40B4-BE49-F238E27FC236}">
                <a16:creationId xmlns:a16="http://schemas.microsoft.com/office/drawing/2014/main" id="{3D85B229-0E24-4FE6-B0E9-3A912C1EAE96}"/>
              </a:ext>
            </a:extLst>
          </p:cNvPr>
          <p:cNvPicPr>
            <a:picLocks noChangeAspect="1"/>
          </p:cNvPicPr>
          <p:nvPr>
            <a:videoFile r:link="rId2"/>
            <p:extLst>
              <p:ext uri="{DAA4B4D4-6D71-4841-9C94-3DE7FCFB9230}">
                <p14:media xmlns:p14="http://schemas.microsoft.com/office/powerpoint/2010/main" r:embed="rId1"/>
              </p:ext>
            </p:extLst>
          </p:nvPr>
        </p:nvPicPr>
        <p:blipFill>
          <a:blip r:embed="rId6"/>
          <a:stretch>
            <a:fillRect/>
          </a:stretch>
        </p:blipFill>
        <p:spPr>
          <a:xfrm>
            <a:off x="1625600" y="1270000"/>
            <a:ext cx="8940800" cy="5029200"/>
          </a:xfrm>
          <a:prstGeom prst="rect">
            <a:avLst/>
          </a:prstGeom>
        </p:spPr>
      </p:pic>
      <p:sp>
        <p:nvSpPr>
          <p:cNvPr id="17" name="TextBox 16">
            <a:extLst>
              <a:ext uri="{FF2B5EF4-FFF2-40B4-BE49-F238E27FC236}">
                <a16:creationId xmlns:a16="http://schemas.microsoft.com/office/drawing/2014/main" id="{B9C09EE8-FAE3-DE90-B529-415FBD4F7A44}"/>
              </a:ext>
            </a:extLst>
          </p:cNvPr>
          <p:cNvSpPr txBox="1"/>
          <p:nvPr/>
        </p:nvSpPr>
        <p:spPr>
          <a:xfrm>
            <a:off x="609600" y="6451600"/>
            <a:ext cx="10972800" cy="288541"/>
          </a:xfrm>
          <a:prstGeom prst="rect">
            <a:avLst/>
          </a:prstGeom>
          <a:noFill/>
        </p:spPr>
        <p:txBody>
          <a:bodyPr vert="horz" wrap="square" rtlCol="0">
            <a:spAutoFit/>
          </a:bodyPr>
          <a:lstStyle/>
          <a:p>
            <a:pPr algn="ctr"/>
            <a:r>
              <a:rPr lang="it-IT" sz="1275">
                <a:solidFill>
                  <a:srgbClr val="647487"/>
                </a:solidFill>
                <a:latin typeface="Arial" panose="020B0604020202020204" pitchFamily="34" charset="0"/>
              </a:rPr>
              <a:t>Demo web illustrativa: modello di rumore uniforme (preset UC1). I numeri della demo non sono risultati della tesi.</a:t>
            </a:r>
            <a:endParaRPr lang="en-GB" sz="1275">
              <a:solidFill>
                <a:srgbClr val="647487"/>
              </a:solidFill>
              <a:latin typeface="Arial" panose="020B0604020202020204" pitchFamily="34" charset="0"/>
            </a:endParaRPr>
          </a:p>
        </p:txBody>
      </p:sp>
    </p:spTree>
    <p:extLst>
      <p:ext uri="{BB962C8B-B14F-4D97-AF65-F5344CB8AC3E}">
        <p14:creationId xmlns:p14="http://schemas.microsoft.com/office/powerpoint/2010/main" val="33786032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9300"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2"/>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2"/>
                                        </p:tgtEl>
                                      </p:cBhvr>
                                    </p:cmd>
                                  </p:childTnLst>
                                </p:cTn>
                              </p:par>
                            </p:childTnLst>
                          </p:cTn>
                        </p:par>
                      </p:childTnLst>
                    </p:cTn>
                  </p:par>
                </p:childTnLst>
              </p:cTn>
              <p:nextCondLst>
                <p:cond evt="onClick" delay="0">
                  <p:tgtEl>
                    <p:spTgt spid="2"/>
                  </p:tgtEl>
                </p:cond>
              </p:nextCondLst>
            </p:seq>
            <p:video>
              <p:cMediaNode vol="80000">
                <p:cTn id="12" fill="hold" display="0">
                  <p:stCondLst>
                    <p:cond delay="indefinite"/>
                  </p:stCondLst>
                </p:cTn>
                <p:tgtEl>
                  <p:spTgt spid="2"/>
                </p:tgtEl>
              </p:cMediaNode>
            </p:video>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9D44FC83-C70B-46CD-8C70-92D7C3D9C2AC}"/>
              </a:ext>
            </a:extLst>
          </p:cNvPr>
          <p:cNvSpPr>
            <a:spLocks noGrp="1"/>
          </p:cNvSpPr>
          <p:nvPr/>
        </p:nvSpPr>
        <p:spPr>
          <a:xfrm>
            <a:off x="609600" y="400050"/>
            <a:ext cx="9906000" cy="619125"/>
          </a:xfrm>
          <a:prstGeom prst="rect">
            <a:avLst/>
          </a:prstGeom>
          <a:noFill/>
          <a:ln w="0">
            <a:noFill/>
          </a:ln>
        </p:spPr>
        <p:txBody>
          <a:bodyPr>
            <a:noAutofit/>
          </a:bodyPr>
          <a:lstStyle/>
          <a:p>
            <a:pPr>
              <a:defRPr sz="2700" b="0">
                <a:solidFill>
                  <a:srgbClr val="003366"/>
                </a:solidFill>
                <a:latin typeface="Arial"/>
                <a:ea typeface="Arial"/>
                <a:cs typeface="Arial"/>
              </a:defRPr>
            </a:pPr>
            <a:r>
              <a:rPr lang="it-IT" sz="2700" b="0">
                <a:solidFill>
                  <a:srgbClr val="003366"/>
                </a:solidFill>
                <a:latin typeface="Arial"/>
                <a:ea typeface="Arial"/>
                <a:cs typeface="Arial"/>
              </a:rPr>
              <a:t>Conclusioni e limiti</a:t>
            </a:r>
            <a:endParaRPr sz="2700" b="0">
              <a:solidFill>
                <a:srgbClr val="003366"/>
              </a:solidFill>
              <a:latin typeface="Arial"/>
              <a:ea typeface="Arial"/>
              <a:cs typeface="Arial"/>
            </a:endParaRPr>
          </a:p>
        </p:txBody>
      </p:sp>
      <p:pic>
        <p:nvPicPr>
          <p:cNvPr id="13" name="Picture 12"/>
          <p:cNvPicPr>
            <a:picLocks noChangeAspect="1"/>
          </p:cNvPicPr>
          <p:nvPr/>
        </p:nvPicPr>
        <p:blipFill>
          <a:blip r:embed="rId3"/>
          <a:stretch/>
        </p:blipFill>
        <p:spPr>
          <a:xfrm>
            <a:off x="10896600" y="243116"/>
            <a:ext cx="838200" cy="694869"/>
          </a:xfrm>
          <a:prstGeom prst="rect">
            <a:avLst/>
          </a:prstGeom>
        </p:spPr>
      </p:pic>
      <p:sp>
        <p:nvSpPr>
          <p:cNvPr id="3" name="Rectangle 2">
            <a:extLst>
              <a:ext uri="{FF2B5EF4-FFF2-40B4-BE49-F238E27FC236}">
                <a16:creationId xmlns:a16="http://schemas.microsoft.com/office/drawing/2014/main" id="{20B7C71E-845D-4B6E-BAC4-41119EECCBA9}"/>
              </a:ext>
            </a:extLst>
          </p:cNvPr>
          <p:cNvSpPr>
            <a:spLocks noGrp="1"/>
          </p:cNvSpPr>
          <p:nvPr/>
        </p:nvSpPr>
        <p:spPr>
          <a:xfrm>
            <a:off x="609600" y="1095375"/>
            <a:ext cx="10096500" cy="19050"/>
          </a:xfrm>
          <a:prstGeom prst="rect">
            <a:avLst/>
          </a:prstGeom>
          <a:solidFill>
            <a:srgbClr val="5084BF"/>
          </a:solidFill>
          <a:ln w="0">
            <a:noFill/>
          </a:ln>
        </p:spPr>
        <p:txBody>
          <a:bodyPr/>
          <a:lstStyle/>
          <a:p>
            <a:endParaRPr lang="en-GB"/>
          </a:p>
        </p:txBody>
      </p:sp>
      <p:sp>
        <p:nvSpPr>
          <p:cNvPr id="4" name="Rectangle 3">
            <a:extLst>
              <a:ext uri="{FF2B5EF4-FFF2-40B4-BE49-F238E27FC236}">
                <a16:creationId xmlns:a16="http://schemas.microsoft.com/office/drawing/2014/main" id="{61EF0B45-22BD-40BF-B86A-74F485774734}"/>
              </a:ext>
            </a:extLst>
          </p:cNvPr>
          <p:cNvSpPr>
            <a:spLocks noGrp="1"/>
          </p:cNvSpPr>
          <p:nvPr/>
        </p:nvSpPr>
        <p:spPr>
          <a:xfrm>
            <a:off x="7477125" y="828675"/>
            <a:ext cx="3228975" cy="219075"/>
          </a:xfrm>
          <a:prstGeom prst="rect">
            <a:avLst/>
          </a:prstGeom>
          <a:noFill/>
          <a:ln w="0">
            <a:noFill/>
          </a:ln>
        </p:spPr>
        <p:txBody>
          <a:bodyPr rIns="0">
            <a:noAutofit/>
          </a:bodyPr>
          <a:lstStyle/>
          <a:p>
            <a:pPr algn="r">
              <a:defRPr sz="1200" b="0">
                <a:solidFill>
                  <a:srgbClr val="203344"/>
                </a:solidFill>
                <a:latin typeface="Arial"/>
                <a:ea typeface="Arial"/>
                <a:cs typeface="Arial"/>
              </a:defRPr>
            </a:pPr>
            <a:r>
              <a:rPr lang="it-IT" sz="1200" b="0">
                <a:solidFill>
                  <a:srgbClr val="203344"/>
                </a:solidFill>
                <a:latin typeface="Arial"/>
                <a:ea typeface="Arial"/>
                <a:cs typeface="Arial"/>
              </a:rPr>
              <a:t>Discussione e conclusioni | 14</a:t>
            </a:r>
            <a:endParaRPr sz="1200" b="0">
              <a:solidFill>
                <a:srgbClr val="203344"/>
              </a:solidFill>
              <a:latin typeface="Arial"/>
              <a:ea typeface="Arial"/>
              <a:cs typeface="Arial"/>
            </a:endParaRPr>
          </a:p>
        </p:txBody>
      </p:sp>
      <p:sp>
        <p:nvSpPr>
          <p:cNvPr id="5" name="Rectangle 4">
            <a:extLst>
              <a:ext uri="{FF2B5EF4-FFF2-40B4-BE49-F238E27FC236}">
                <a16:creationId xmlns:a16="http://schemas.microsoft.com/office/drawing/2014/main" id="{D9FD045C-2318-472B-9B26-08CDB5EF9595}"/>
              </a:ext>
            </a:extLst>
          </p:cNvPr>
          <p:cNvSpPr>
            <a:spLocks noGrp="1"/>
          </p:cNvSpPr>
          <p:nvPr/>
        </p:nvSpPr>
        <p:spPr>
          <a:xfrm>
            <a:off x="609600" y="1346200"/>
            <a:ext cx="10972800" cy="1016000"/>
          </a:xfrm>
          <a:prstGeom prst="rect">
            <a:avLst/>
          </a:prstGeom>
          <a:noFill/>
          <a:ln w="0">
            <a:noFill/>
          </a:ln>
        </p:spPr>
        <p:txBody>
          <a:bodyPr>
            <a:noAutofit/>
          </a:bodyPr>
          <a:lstStyle/>
          <a:p>
            <a:pPr>
              <a:defRPr sz="3450" b="1">
                <a:solidFill>
                  <a:srgbClr val="003366"/>
                </a:solidFill>
                <a:latin typeface="Arial"/>
                <a:ea typeface="Arial"/>
                <a:cs typeface="Arial"/>
              </a:defRPr>
            </a:pPr>
            <a:r>
              <a:rPr lang="it-IT" sz="2600" b="1">
                <a:solidFill>
                  <a:srgbClr val="003366"/>
                </a:solidFill>
                <a:latin typeface="Arial"/>
                <a:ea typeface="Arial"/>
                <a:cs typeface="Arial"/>
              </a:rPr>
              <a:t>Il valore di una tecnica dipende dall'informazione che sfrutta e dalla forza della baseline.</a:t>
            </a:r>
            <a:endParaRPr sz="2600" b="1">
              <a:solidFill>
                <a:srgbClr val="003366"/>
              </a:solidFill>
              <a:latin typeface="Arial"/>
              <a:ea typeface="Arial"/>
              <a:cs typeface="Arial"/>
            </a:endParaRPr>
          </a:p>
        </p:txBody>
      </p:sp>
      <p:sp>
        <p:nvSpPr>
          <p:cNvPr id="2" name="Rectangle: Rounded Corners 1">
            <a:extLst>
              <a:ext uri="{FF2B5EF4-FFF2-40B4-BE49-F238E27FC236}">
                <a16:creationId xmlns:a16="http://schemas.microsoft.com/office/drawing/2014/main" id="{79DE2815-21B7-682F-A426-5F90BFDD3396}"/>
              </a:ext>
            </a:extLst>
          </p:cNvPr>
          <p:cNvSpPr/>
          <p:nvPr/>
        </p:nvSpPr>
        <p:spPr>
          <a:xfrm>
            <a:off x="609600" y="2603500"/>
            <a:ext cx="3457600" cy="3302000"/>
          </a:xfrm>
          <a:prstGeom prst="roundRect">
            <a:avLst>
              <a:gd name="adj" fmla="val 6000"/>
            </a:avLst>
          </a:prstGeom>
          <a:solidFill>
            <a:srgbClr val="EEF4F8"/>
          </a:solidFill>
          <a:ln w="14288">
            <a:solidFill>
              <a:srgbClr val="5084B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Rounded Corners 13">
            <a:extLst>
              <a:ext uri="{FF2B5EF4-FFF2-40B4-BE49-F238E27FC236}">
                <a16:creationId xmlns:a16="http://schemas.microsoft.com/office/drawing/2014/main" id="{A1C020A3-720D-427F-D9DE-ECE06638CA52}"/>
              </a:ext>
            </a:extLst>
          </p:cNvPr>
          <p:cNvSpPr/>
          <p:nvPr/>
        </p:nvSpPr>
        <p:spPr>
          <a:xfrm>
            <a:off x="4367200" y="2603500"/>
            <a:ext cx="3457600" cy="3302000"/>
          </a:xfrm>
          <a:prstGeom prst="roundRect">
            <a:avLst>
              <a:gd name="adj" fmla="val 6000"/>
            </a:avLst>
          </a:prstGeom>
          <a:solidFill>
            <a:srgbClr val="EEF4F8"/>
          </a:solidFill>
          <a:ln w="14288">
            <a:solidFill>
              <a:srgbClr val="5084B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TextBox 14">
            <a:extLst>
              <a:ext uri="{FF2B5EF4-FFF2-40B4-BE49-F238E27FC236}">
                <a16:creationId xmlns:a16="http://schemas.microsoft.com/office/drawing/2014/main" id="{F5790D89-B65C-CB3A-B26D-A612DB8546D8}"/>
              </a:ext>
            </a:extLst>
          </p:cNvPr>
          <p:cNvSpPr txBox="1"/>
          <p:nvPr/>
        </p:nvSpPr>
        <p:spPr>
          <a:xfrm>
            <a:off x="789600" y="2755900"/>
            <a:ext cx="3097600" cy="381000"/>
          </a:xfrm>
          <a:prstGeom prst="rect">
            <a:avLst/>
          </a:prstGeom>
          <a:noFill/>
        </p:spPr>
        <p:txBody>
          <a:bodyPr vert="horz" wrap="square" rtlCol="0">
            <a:noAutofit/>
          </a:bodyPr>
          <a:lstStyle/>
          <a:p>
            <a:r>
              <a:rPr lang="en-GB" sz="2175" b="1">
                <a:solidFill>
                  <a:srgbClr val="003366"/>
                </a:solidFill>
                <a:latin typeface="Arial" panose="020B0604020202020204" pitchFamily="34" charset="0"/>
              </a:rPr>
              <a:t>Cosa ho mostrato</a:t>
            </a:r>
          </a:p>
        </p:txBody>
      </p:sp>
      <p:sp>
        <p:nvSpPr>
          <p:cNvPr id="16" name="TextBox 15">
            <a:extLst>
              <a:ext uri="{FF2B5EF4-FFF2-40B4-BE49-F238E27FC236}">
                <a16:creationId xmlns:a16="http://schemas.microsoft.com/office/drawing/2014/main" id="{0B6CF6D8-7978-90DC-1925-74FEA6FB9763}"/>
              </a:ext>
            </a:extLst>
          </p:cNvPr>
          <p:cNvSpPr txBox="1"/>
          <p:nvPr/>
        </p:nvSpPr>
        <p:spPr>
          <a:xfrm>
            <a:off x="4547200" y="2755900"/>
            <a:ext cx="3097600" cy="381000"/>
          </a:xfrm>
          <a:prstGeom prst="rect">
            <a:avLst/>
          </a:prstGeom>
          <a:noFill/>
        </p:spPr>
        <p:txBody>
          <a:bodyPr vert="horz" wrap="square" rtlCol="0">
            <a:noAutofit/>
          </a:bodyPr>
          <a:lstStyle/>
          <a:p>
            <a:r>
              <a:rPr lang="en-GB" sz="2175" b="1">
                <a:solidFill>
                  <a:srgbClr val="003366"/>
                </a:solidFill>
                <a:latin typeface="Arial" panose="020B0604020202020204" pitchFamily="34" charset="0"/>
              </a:rPr>
              <a:t>Contributo personale</a:t>
            </a:r>
          </a:p>
        </p:txBody>
      </p:sp>
      <p:sp>
        <p:nvSpPr>
          <p:cNvPr id="17" name="TextBox 16">
            <a:extLst>
              <a:ext uri="{FF2B5EF4-FFF2-40B4-BE49-F238E27FC236}">
                <a16:creationId xmlns:a16="http://schemas.microsoft.com/office/drawing/2014/main" id="{BE5014B6-44D1-DC9B-7BB9-F99AF83A1D2A}"/>
              </a:ext>
            </a:extLst>
          </p:cNvPr>
          <p:cNvSpPr txBox="1"/>
          <p:nvPr/>
        </p:nvSpPr>
        <p:spPr>
          <a:xfrm>
            <a:off x="789600" y="3251200"/>
            <a:ext cx="3097600" cy="369332"/>
          </a:xfrm>
          <a:prstGeom prst="rect">
            <a:avLst/>
          </a:prstGeom>
          <a:noFill/>
        </p:spPr>
        <p:txBody>
          <a:bodyPr vert="horz" wrap="square" rtlCol="0">
            <a:noAutofit/>
          </a:bodyPr>
          <a:lstStyle/>
          <a:p>
            <a:pPr>
              <a:spcAft>
                <a:spcPts val="1000"/>
              </a:spcAft>
            </a:pPr>
            <a:r>
              <a:rPr lang="it-IT" sz="1725">
                <a:solidFill>
                  <a:srgbClr val="203344"/>
                </a:solidFill>
                <a:latin typeface="Arial" panose="020B0604020202020204" pitchFamily="34" charset="0"/>
              </a:rPr>
              <a:t>Più candidati, non il ML, riducono le iterazioni.</a:t>
            </a:r>
          </a:p>
          <a:p>
            <a:pPr>
              <a:spcAft>
                <a:spcPts val="1000"/>
              </a:spcAft>
            </a:pPr>
            <a:r>
              <a:rPr lang="it-IT" sz="1725">
                <a:solidFill>
                  <a:srgbClr val="203344"/>
                </a:solidFill>
                <a:latin typeface="Arial" panose="020B0604020202020204" pitchFamily="34" charset="0"/>
              </a:rPr>
              <a:t>La QEC aiuta solo sotto soglia; decoder e codice contano insieme.</a:t>
            </a:r>
          </a:p>
          <a:p>
            <a:pPr>
              <a:spcAft>
                <a:spcPts val="1000"/>
              </a:spcAft>
            </a:pPr>
            <a:r>
              <a:rPr lang="it-IT" sz="1725">
                <a:solidFill>
                  <a:srgbClr val="203344"/>
                </a:solidFill>
                <a:latin typeface="Arial" panose="020B0604020202020204" pitchFamily="34" charset="0"/>
              </a:rPr>
              <a:t>L'AQFT dà +14,87 punti su N = 15; su N = 21 il beneficio non è dimostrato.</a:t>
            </a:r>
            <a:endParaRPr lang="en-GB" sz="1725">
              <a:solidFill>
                <a:srgbClr val="203344"/>
              </a:solidFill>
              <a:latin typeface="Arial" panose="020B0604020202020204" pitchFamily="34" charset="0"/>
            </a:endParaRPr>
          </a:p>
        </p:txBody>
      </p:sp>
      <p:sp>
        <p:nvSpPr>
          <p:cNvPr id="18" name="TextBox 17">
            <a:extLst>
              <a:ext uri="{FF2B5EF4-FFF2-40B4-BE49-F238E27FC236}">
                <a16:creationId xmlns:a16="http://schemas.microsoft.com/office/drawing/2014/main" id="{3F45B240-B8AE-8BB8-DDD9-8B7D9D18CA56}"/>
              </a:ext>
            </a:extLst>
          </p:cNvPr>
          <p:cNvSpPr txBox="1"/>
          <p:nvPr/>
        </p:nvSpPr>
        <p:spPr>
          <a:xfrm>
            <a:off x="4547200" y="3251200"/>
            <a:ext cx="3097600" cy="369332"/>
          </a:xfrm>
          <a:prstGeom prst="rect">
            <a:avLst/>
          </a:prstGeom>
          <a:noFill/>
        </p:spPr>
        <p:txBody>
          <a:bodyPr vert="horz" wrap="square" rtlCol="0">
            <a:noAutofit/>
          </a:bodyPr>
          <a:lstStyle/>
          <a:p>
            <a:pPr>
              <a:spcAft>
                <a:spcPts val="1000"/>
              </a:spcAft>
            </a:pPr>
            <a:r>
              <a:rPr lang="it-IT" sz="1725">
                <a:solidFill>
                  <a:srgbClr val="203344"/>
                </a:solidFill>
                <a:latin typeface="Arial" panose="020B0604020202020204" pitchFamily="34" charset="0"/>
              </a:rPr>
              <a:t>Circuiti per N = 15, 21 e 35, implementati e validati.</a:t>
            </a:r>
          </a:p>
          <a:p>
            <a:pPr>
              <a:spcAft>
                <a:spcPts val="1000"/>
              </a:spcAft>
            </a:pPr>
            <a:r>
              <a:rPr lang="it-IT" sz="1725">
                <a:solidFill>
                  <a:srgbClr val="203344"/>
                </a:solidFill>
                <a:latin typeface="Arial" panose="020B0604020202020204" pitchFamily="34" charset="0"/>
              </a:rPr>
              <a:t>Campagne con baseline esplicite e confronti appaiati.</a:t>
            </a:r>
          </a:p>
          <a:p>
            <a:pPr>
              <a:spcAft>
                <a:spcPts val="1000"/>
              </a:spcAft>
            </a:pPr>
            <a:r>
              <a:rPr lang="it-IT" sz="1725">
                <a:solidFill>
                  <a:srgbClr val="203344"/>
                </a:solidFill>
                <a:latin typeface="Arial" panose="020B0604020202020204" pitchFamily="34" charset="0"/>
              </a:rPr>
              <a:t>Pipeline riproducibile: versioni, parametri e seed registrati.</a:t>
            </a:r>
          </a:p>
        </p:txBody>
      </p:sp>
      <p:sp>
        <p:nvSpPr>
          <p:cNvPr id="19" name="TextBox 18">
            <a:extLst>
              <a:ext uri="{FF2B5EF4-FFF2-40B4-BE49-F238E27FC236}">
                <a16:creationId xmlns:a16="http://schemas.microsoft.com/office/drawing/2014/main" id="{007C03F3-6ECC-0A57-515F-008B8206761D}"/>
              </a:ext>
            </a:extLst>
          </p:cNvPr>
          <p:cNvSpPr txBox="1"/>
          <p:nvPr/>
        </p:nvSpPr>
        <p:spPr>
          <a:xfrm>
            <a:off x="609600" y="6096000"/>
            <a:ext cx="10972800" cy="369332"/>
          </a:xfrm>
          <a:prstGeom prst="rect">
            <a:avLst/>
          </a:prstGeom>
          <a:noFill/>
        </p:spPr>
        <p:txBody>
          <a:bodyPr vert="horz" wrap="square" rtlCol="0">
            <a:noAutofit/>
          </a:bodyPr>
          <a:lstStyle/>
          <a:p>
            <a:r>
              <a:rPr lang="it-IT" sz="1725" b="1">
                <a:solidFill>
                  <a:srgbClr val="175F99"/>
                </a:solidFill>
                <a:latin typeface="Arial" panose="020B0604020202020204" pitchFamily="34" charset="0"/>
              </a:rPr>
              <a:t>Ottimizzazione del circuito e QEC sono complementari: la prima contiene le risorse, la seconda protegge l'esecuzione.</a:t>
            </a:r>
            <a:endParaRPr lang="en-GB" sz="1725" b="1">
              <a:solidFill>
                <a:srgbClr val="175F99"/>
              </a:solidFill>
              <a:latin typeface="Arial" panose="020B0604020202020204" pitchFamily="34" charset="0"/>
            </a:endParaRPr>
          </a:p>
        </p:txBody>
      </p:sp>
      <p:sp>
        <p:nvSpPr>
          <p:cNvPr id="14" name="Rectangle: Rounded Corners 13">
            <a:extLst>
              <a:ext uri="{FF2B5EF4-FFF2-40B4-BE49-F238E27FC236}">
                <a16:creationId xmlns:a16="http://schemas.microsoft.com/office/drawing/2014/main" id="{A1C020A3-720D-427F-D9DE-ECE06638CA52}"/>
              </a:ext>
            </a:extLst>
          </p:cNvPr>
          <p:cNvSpPr/>
          <p:nvPr/>
        </p:nvSpPr>
        <p:spPr>
          <a:xfrm>
            <a:off x="8124800" y="2603500"/>
            <a:ext cx="3457600" cy="3302000"/>
          </a:xfrm>
          <a:prstGeom prst="roundRect">
            <a:avLst>
              <a:gd name="adj" fmla="val 6000"/>
            </a:avLst>
          </a:prstGeom>
          <a:solidFill>
            <a:srgbClr val="EEF4F8"/>
          </a:solidFill>
          <a:ln w="14288">
            <a:solidFill>
              <a:srgbClr val="5084B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TextBox 15">
            <a:extLst>
              <a:ext uri="{FF2B5EF4-FFF2-40B4-BE49-F238E27FC236}">
                <a16:creationId xmlns:a16="http://schemas.microsoft.com/office/drawing/2014/main" id="{0B6CF6D8-7978-90DC-1925-74FEA6FB9763}"/>
              </a:ext>
            </a:extLst>
          </p:cNvPr>
          <p:cNvSpPr txBox="1"/>
          <p:nvPr/>
        </p:nvSpPr>
        <p:spPr>
          <a:xfrm>
            <a:off x="8304800" y="2755900"/>
            <a:ext cx="3097600" cy="381000"/>
          </a:xfrm>
          <a:prstGeom prst="rect">
            <a:avLst/>
          </a:prstGeom>
          <a:noFill/>
        </p:spPr>
        <p:txBody>
          <a:bodyPr vert="horz" wrap="square" rtlCol="0">
            <a:noAutofit/>
          </a:bodyPr>
          <a:lstStyle/>
          <a:p>
            <a:r>
              <a:rPr lang="en-GB" sz="2175" b="1">
                <a:solidFill>
                  <a:srgbClr val="003366"/>
                </a:solidFill>
                <a:latin typeface="Arial" panose="020B0604020202020204" pitchFamily="34" charset="0"/>
              </a:rPr>
              <a:t>Limiti e sviluppi futuri</a:t>
            </a:r>
          </a:p>
        </p:txBody>
      </p:sp>
      <p:sp>
        <p:nvSpPr>
          <p:cNvPr id="18" name="TextBox 17">
            <a:extLst>
              <a:ext uri="{FF2B5EF4-FFF2-40B4-BE49-F238E27FC236}">
                <a16:creationId xmlns:a16="http://schemas.microsoft.com/office/drawing/2014/main" id="{3F45B240-B8AE-8BB8-DDD9-8B7D9D18CA56}"/>
              </a:ext>
            </a:extLst>
          </p:cNvPr>
          <p:cNvSpPr txBox="1"/>
          <p:nvPr/>
        </p:nvSpPr>
        <p:spPr>
          <a:xfrm>
            <a:off x="8304800" y="3251200"/>
            <a:ext cx="3097600" cy="369332"/>
          </a:xfrm>
          <a:prstGeom prst="rect">
            <a:avLst/>
          </a:prstGeom>
          <a:noFill/>
        </p:spPr>
        <p:txBody>
          <a:bodyPr vert="horz" wrap="square" rtlCol="0">
            <a:noAutofit/>
          </a:bodyPr>
          <a:lstStyle/>
          <a:p>
            <a:pPr>
              <a:spcAft>
                <a:spcPts val="1000"/>
              </a:spcAft>
            </a:pPr>
            <a:r>
              <a:rPr lang="it-IT" sz="1725">
                <a:solidFill>
                  <a:srgbClr val="203344"/>
                </a:solidFill>
                <a:latin typeface="Arial" panose="020B0604020202020204" pitchFamily="34" charset="0"/>
              </a:rPr>
              <a:t>Solo simulazione, su poche istanze.</a:t>
            </a:r>
          </a:p>
          <a:p>
            <a:pPr>
              <a:spcAft>
                <a:spcPts val="1000"/>
              </a:spcAft>
            </a:pPr>
            <a:r>
              <a:rPr lang="it-IT" sz="1725">
                <a:solidFill>
                  <a:srgbClr val="203344"/>
                </a:solidFill>
                <a:latin typeface="Arial" panose="020B0604020202020204" pitchFamily="34" charset="0"/>
              </a:rPr>
              <a:t>Nessuna esecuzione di Shor protetta dagli errori.</a:t>
            </a:r>
          </a:p>
          <a:p>
            <a:pPr>
              <a:spcAft>
                <a:spcPts val="1000"/>
              </a:spcAft>
            </a:pPr>
            <a:r>
              <a:rPr lang="it-IT" sz="1725">
                <a:solidFill>
                  <a:srgbClr val="203344"/>
                </a:solidFill>
                <a:latin typeface="Arial" panose="020B0604020202020204" pitchFamily="34" charset="0"/>
              </a:rPr>
              <a:t>Prossimo passo: circuiti più leggeri, uniti alla correzione degli errori.</a:t>
            </a:r>
          </a:p>
        </p:txBody>
      </p:sp>
    </p:spTree>
    <p:extLst>
      <p:ext uri="{BB962C8B-B14F-4D97-AF65-F5344CB8AC3E}">
        <p14:creationId xmlns:p14="http://schemas.microsoft.com/office/powerpoint/2010/main" val="154046958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98FCB8C3-6EF2-4D5C-830F-D31C57913E1A}"/>
              </a:ext>
            </a:extLst>
          </p:cNvPr>
          <p:cNvSpPr>
            <a:spLocks noGrp="1"/>
          </p:cNvSpPr>
          <p:nvPr/>
        </p:nvSpPr>
        <p:spPr>
          <a:xfrm>
            <a:off x="609600" y="1847850"/>
            <a:ext cx="7581900" cy="1828800"/>
          </a:xfrm>
          <a:prstGeom prst="rect">
            <a:avLst/>
          </a:prstGeom>
          <a:noFill/>
          <a:ln w="0">
            <a:noFill/>
          </a:ln>
        </p:spPr>
        <p:txBody>
          <a:bodyPr>
            <a:noAutofit/>
          </a:bodyPr>
          <a:lstStyle/>
          <a:p>
            <a:pPr>
              <a:defRPr sz="5250" b="0">
                <a:solidFill>
                  <a:srgbClr val="003366"/>
                </a:solidFill>
                <a:latin typeface="Arial"/>
                <a:ea typeface="Arial"/>
                <a:cs typeface="Arial"/>
              </a:defRPr>
            </a:pPr>
            <a:r>
              <a:rPr sz="5250" b="0">
                <a:solidFill>
                  <a:srgbClr val="003366"/>
                </a:solidFill>
                <a:latin typeface="Arial"/>
                <a:ea typeface="Arial"/>
                <a:cs typeface="Arial"/>
              </a:rPr>
              <a:t>Grazie</a:t>
            </a:r>
          </a:p>
          <a:p>
            <a:pPr>
              <a:defRPr sz="5250" b="0">
                <a:solidFill>
                  <a:srgbClr val="003366"/>
                </a:solidFill>
                <a:latin typeface="Arial"/>
                <a:ea typeface="Arial"/>
                <a:cs typeface="Arial"/>
              </a:defRPr>
            </a:pPr>
            <a:r>
              <a:rPr sz="5250" b="0">
                <a:solidFill>
                  <a:srgbClr val="003366"/>
                </a:solidFill>
                <a:latin typeface="Arial"/>
                <a:ea typeface="Arial"/>
                <a:cs typeface="Arial"/>
              </a:rPr>
              <a:t>per l’attenzione</a:t>
            </a:r>
          </a:p>
        </p:txBody>
      </p:sp>
      <p:pic>
        <p:nvPicPr>
          <p:cNvPr id="7" name="Picture 6"/>
          <p:cNvPicPr>
            <a:picLocks noChangeAspect="1"/>
          </p:cNvPicPr>
          <p:nvPr/>
        </p:nvPicPr>
        <p:blipFill>
          <a:blip r:embed="rId3"/>
          <a:stretch/>
        </p:blipFill>
        <p:spPr>
          <a:xfrm>
            <a:off x="7810500" y="1753654"/>
            <a:ext cx="3743325" cy="3512617"/>
          </a:xfrm>
          <a:prstGeom prst="rect">
            <a:avLst/>
          </a:prstGeom>
        </p:spPr>
      </p:pic>
      <p:sp>
        <p:nvSpPr>
          <p:cNvPr id="3" name="Rectangle 2">
            <a:extLst>
              <a:ext uri="{FF2B5EF4-FFF2-40B4-BE49-F238E27FC236}">
                <a16:creationId xmlns:a16="http://schemas.microsoft.com/office/drawing/2014/main" id="{85C0F97C-7D70-493D-8ABF-F3E5206AB52F}"/>
              </a:ext>
            </a:extLst>
          </p:cNvPr>
          <p:cNvSpPr>
            <a:spLocks noGrp="1"/>
          </p:cNvSpPr>
          <p:nvPr/>
        </p:nvSpPr>
        <p:spPr>
          <a:xfrm>
            <a:off x="609600" y="4886325"/>
            <a:ext cx="6810375" cy="323850"/>
          </a:xfrm>
          <a:prstGeom prst="rect">
            <a:avLst/>
          </a:prstGeom>
          <a:noFill/>
          <a:ln w="0">
            <a:noFill/>
          </a:ln>
        </p:spPr>
        <p:txBody>
          <a:bodyPr>
            <a:noAutofit/>
          </a:bodyPr>
          <a:lstStyle/>
          <a:p>
            <a:pPr>
              <a:defRPr sz="1725" b="1">
                <a:solidFill>
                  <a:srgbClr val="175F99"/>
                </a:solidFill>
                <a:latin typeface="Arial"/>
                <a:ea typeface="Arial"/>
                <a:cs typeface="Arial"/>
              </a:defRPr>
            </a:pPr>
            <a:r>
              <a:rPr sz="1725" b="1">
                <a:solidFill>
                  <a:srgbClr val="175F99"/>
                </a:solidFill>
                <a:latin typeface="Arial"/>
                <a:ea typeface="Arial"/>
                <a:cs typeface="Arial"/>
              </a:rPr>
              <a:t>Claudio Dragotta</a:t>
            </a:r>
          </a:p>
        </p:txBody>
      </p:sp>
      <p:sp>
        <p:nvSpPr>
          <p:cNvPr id="4" name="Rectangle 3">
            <a:extLst>
              <a:ext uri="{FF2B5EF4-FFF2-40B4-BE49-F238E27FC236}">
                <a16:creationId xmlns:a16="http://schemas.microsoft.com/office/drawing/2014/main" id="{BF3BF28B-851A-43E0-9AB9-72CF4D3F664A}"/>
              </a:ext>
            </a:extLst>
          </p:cNvPr>
          <p:cNvSpPr>
            <a:spLocks noGrp="1"/>
          </p:cNvSpPr>
          <p:nvPr/>
        </p:nvSpPr>
        <p:spPr>
          <a:xfrm>
            <a:off x="609600" y="5381625"/>
            <a:ext cx="6953250" cy="819150"/>
          </a:xfrm>
          <a:prstGeom prst="rect">
            <a:avLst/>
          </a:prstGeom>
          <a:noFill/>
          <a:ln w="0">
            <a:noFill/>
          </a:ln>
        </p:spPr>
        <p:txBody>
          <a:bodyPr>
            <a:noAutofit/>
          </a:bodyPr>
          <a:lstStyle/>
          <a:p>
            <a:pPr>
              <a:defRPr sz="2025" b="0">
                <a:solidFill>
                  <a:srgbClr val="203344"/>
                </a:solidFill>
                <a:latin typeface="Arial"/>
                <a:ea typeface="Arial"/>
                <a:cs typeface="Arial"/>
              </a:defRPr>
            </a:pPr>
            <a:r>
              <a:rPr sz="2025" b="0">
                <a:solidFill>
                  <a:srgbClr val="203344"/>
                </a:solidFill>
                <a:latin typeface="Arial"/>
                <a:ea typeface="Arial"/>
                <a:cs typeface="Arial"/>
              </a:rPr>
              <a:t>Ingegneria dei Sistemi Intelligenti</a:t>
            </a:r>
          </a:p>
          <a:p>
            <a:pPr>
              <a:defRPr sz="2025" b="0">
                <a:solidFill>
                  <a:srgbClr val="203344"/>
                </a:solidFill>
                <a:latin typeface="Arial"/>
                <a:ea typeface="Arial"/>
                <a:cs typeface="Arial"/>
              </a:defRPr>
            </a:pPr>
            <a:r>
              <a:rPr sz="2025" b="0">
                <a:solidFill>
                  <a:srgbClr val="203344"/>
                </a:solidFill>
                <a:latin typeface="Arial"/>
                <a:ea typeface="Arial"/>
                <a:cs typeface="Arial"/>
              </a:rPr>
              <a:t>A.A. 2025/2026</a:t>
            </a:r>
          </a:p>
        </p:txBody>
      </p:sp>
      <p:pic>
        <p:nvPicPr>
          <p:cNvPr id="10" name="Picture 9"/>
          <p:cNvPicPr>
            <a:picLocks noChangeAspect="1"/>
          </p:cNvPicPr>
          <p:nvPr/>
        </p:nvPicPr>
        <p:blipFill>
          <a:blip r:embed="rId4"/>
          <a:stretch/>
        </p:blipFill>
        <p:spPr>
          <a:xfrm>
            <a:off x="619125" y="515764"/>
            <a:ext cx="1019175" cy="844897"/>
          </a:xfrm>
          <a:prstGeom prst="rect">
            <a:avLst/>
          </a:prstGeom>
        </p:spPr>
      </p:pic>
    </p:spTree>
    <p:extLst>
      <p:ext uri="{BB962C8B-B14F-4D97-AF65-F5344CB8AC3E}">
        <p14:creationId xmlns:p14="http://schemas.microsoft.com/office/powerpoint/2010/main" val="1101435892"/>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11</TotalTime>
  <Words>4111</Words>
  <Application>Microsoft Office PowerPoint</Application>
  <DocSecurity>0</DocSecurity>
  <PresentationFormat>Widescreen</PresentationFormat>
  <Paragraphs>372</Paragraphs>
  <Slides>22</Slides>
  <Notes>22</Notes>
  <HiddenSlides>0</HiddenSlides>
  <MMClips>1</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Aptos</vt:lpstr>
      <vt:lpstr>Arial</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claudio dragotta</cp:lastModifiedBy>
  <cp:revision>35</cp:revision>
  <dcterms:created xsi:type="dcterms:W3CDTF">2026-10-04T20:49:31Z</dcterms:created>
  <dcterms:modified xsi:type="dcterms:W3CDTF">2026-10-06T13:07:13Z</dcterms:modified>
</cp:coreProperties>
</file>