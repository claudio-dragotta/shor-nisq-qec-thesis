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ckup_work/img/immagini_slide/slide01_logo_uc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1812" y="347472"/>
            <a:ext cx="1323617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00200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UNIVERSITÀ CAMPUS BIO-MEDICO DI ROMA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188720" y="1901952"/>
            <a:ext cx="982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5EF"/>
                </a:solidFill>
              </a:rPr>
              <a:t>Corso di Laurea Magistrale in Ingegneria dei Sistemi Intelligenti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43000" y="2788920"/>
            <a:ext cx="9921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Implementazione e Ottimizzazione dell'Algoritmo di Shor in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Ambienti Quantistici Rumorosi mediante Modelli di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Intelligenza Artificiale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77240" y="4800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7"/>
                </a:solidFill>
              </a:rPr>
              <a:t>Relatore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7"/>
                </a:solidFill>
              </a:rPr>
              <a:t>Prof. Paolo Soda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7"/>
                </a:solidFill>
              </a:rPr>
              <a:t>Correlatore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0F7"/>
                </a:solidFill>
              </a:rPr>
              <a:t>Ing. Floriano Caprio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915400" y="48920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7"/>
                </a:solidFill>
              </a:rPr>
              <a:t>Laureando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0F7"/>
                </a:solidFill>
              </a:rPr>
              <a:t>Claudio Dragotta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892040" y="61630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D6E5EF"/>
                </a:solidFill>
              </a:rPr>
              <a:t>Anno Accademico 2025/2026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Sommario</a:t>
            </a:r>
            <a:endParaRPr lang="en-US" sz="2500" dirty="0"/>
          </a:p>
        </p:txBody>
      </p:sp>
      <p:pic>
        <p:nvPicPr>
          <p:cNvPr id="3" name="Image 0" descr="/mnt/data/mockup_work/img/immagini_slide/slide01_logo_uc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4682" y="164592"/>
            <a:ext cx="496356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9516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8848C"/>
                </a:solidFill>
              </a:rPr>
              <a:t>C. Dragotta — Algoritmo di Shor in ambienti rumorosi | 2 / 11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1024128"/>
            <a:ext cx="310896" cy="310896"/>
          </a:xfrm>
          <a:prstGeom prst="rect">
            <a:avLst/>
          </a:prstGeom>
          <a:solidFill>
            <a:srgbClr val="003A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24128" y="1005840"/>
            <a:ext cx="6766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03A63"/>
                </a:solidFill>
              </a:rPr>
              <a:t>Introduzione</a:t>
            </a:r>
            <a:pPr indent="0" marL="0">
              <a:buNone/>
            </a:pPr>
            <a:r>
              <a:rPr lang="en-US" sz="1130" dirty="0">
                <a:solidFill>
                  <a:srgbClr val="111111"/>
                </a:solidFill>
              </a:rPr>
              <a:t> — Shor minaccia RSA; l'era NISQ e il problema del rumore</a:t>
            </a:r>
            <a:endParaRPr lang="en-US" sz="1130" dirty="0"/>
          </a:p>
        </p:txBody>
      </p:sp>
      <p:sp>
        <p:nvSpPr>
          <p:cNvPr id="7" name="Text 4"/>
          <p:cNvSpPr/>
          <p:nvPr/>
        </p:nvSpPr>
        <p:spPr>
          <a:xfrm>
            <a:off x="502920" y="1682496"/>
            <a:ext cx="310896" cy="310896"/>
          </a:xfrm>
          <a:prstGeom prst="rect">
            <a:avLst/>
          </a:prstGeom>
          <a:solidFill>
            <a:srgbClr val="003A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" y="1664208"/>
            <a:ext cx="6766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03A63"/>
                </a:solidFill>
              </a:rPr>
              <a:t>Obiettivi</a:t>
            </a:r>
            <a:pPr indent="0" marL="0">
              <a:buNone/>
            </a:pPr>
            <a:r>
              <a:rPr lang="en-US" sz="1130" dirty="0">
                <a:solidFill>
                  <a:srgbClr val="111111"/>
                </a:solidFill>
              </a:rPr>
              <a:t> — dall'ipotesi del classificatore ML alla correzione d'errore (QEC)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502920" y="2340864"/>
            <a:ext cx="310896" cy="310896"/>
          </a:xfrm>
          <a:prstGeom prst="rect">
            <a:avLst/>
          </a:prstGeom>
          <a:solidFill>
            <a:srgbClr val="003A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24128" y="2322576"/>
            <a:ext cx="6766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03A63"/>
                </a:solidFill>
              </a:rPr>
              <a:t>Lavoro svolto</a:t>
            </a:r>
            <a:pPr indent="0" marL="0">
              <a:buNone/>
            </a:pPr>
            <a:r>
              <a:rPr lang="en-US" sz="1130" dirty="0">
                <a:solidFill>
                  <a:srgbClr val="111111"/>
                </a:solidFill>
              </a:rPr>
              <a:t> — Shor su simulatore, analisi di ablazione TOP-K, laboratori QEC, Shor logico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502920" y="2999232"/>
            <a:ext cx="310896" cy="310896"/>
          </a:xfrm>
          <a:prstGeom prst="rect">
            <a:avLst/>
          </a:prstGeom>
          <a:solidFill>
            <a:srgbClr val="003A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4128" y="2980944"/>
            <a:ext cx="6766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03A63"/>
                </a:solidFill>
              </a:rPr>
              <a:t>Risultati</a:t>
            </a:r>
            <a:pPr indent="0" marL="0">
              <a:buNone/>
            </a:pPr>
            <a:r>
              <a:rPr lang="en-US" sz="1130" dirty="0">
                <a:solidFill>
                  <a:srgbClr val="111111"/>
                </a:solidFill>
              </a:rPr>
              <a:t> — la soglia del surface code e la curva conclusiva P_success vs p_L</a:t>
            </a:r>
            <a:endParaRPr lang="en-US" sz="1130" dirty="0"/>
          </a:p>
        </p:txBody>
      </p:sp>
      <p:sp>
        <p:nvSpPr>
          <p:cNvPr id="13" name="Text 10"/>
          <p:cNvSpPr/>
          <p:nvPr/>
        </p:nvSpPr>
        <p:spPr>
          <a:xfrm>
            <a:off x="502920" y="3657600"/>
            <a:ext cx="310896" cy="310896"/>
          </a:xfrm>
          <a:prstGeom prst="rect">
            <a:avLst/>
          </a:prstGeom>
          <a:solidFill>
            <a:srgbClr val="003A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4128" y="3639312"/>
            <a:ext cx="6766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03A63"/>
                </a:solidFill>
              </a:rPr>
              <a:t>Conclusioni e contributo personale</a:t>
            </a:r>
            <a:pPr indent="0" marL="0">
              <a:buNone/>
            </a:pPr>
            <a:r>
              <a:rPr lang="en-US" sz="1130" dirty="0">
                <a:solidFill>
                  <a:srgbClr val="111111"/>
                </a:solidFill>
              </a:rPr>
              <a:t> — che cosa è stato appurato e realizzato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8275320" y="7132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6B73"/>
                </a:solidFill>
              </a:rPr>
              <a:t>Il percorso in tre figure</a:t>
            </a:r>
            <a:endParaRPr lang="en-US" sz="850" dirty="0"/>
          </a:p>
        </p:txBody>
      </p:sp>
      <p:pic>
        <p:nvPicPr>
          <p:cNvPr id="16" name="Image 1" descr="/mnt/data/mockup_work/img/immagini_slide/slide08e09_surface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859" y="1115568"/>
            <a:ext cx="1750082" cy="1298448"/>
          </a:xfrm>
          <a:prstGeom prst="rect">
            <a:avLst/>
          </a:prstGeom>
        </p:spPr>
      </p:pic>
      <p:pic>
        <p:nvPicPr>
          <p:cNvPr id="17" name="Image 2" descr="/mnt/data/mockup_work/img/immagini_slide/slide09_shor_logico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405" y="2578608"/>
            <a:ext cx="1862991" cy="1298448"/>
          </a:xfrm>
          <a:prstGeom prst="rect">
            <a:avLst/>
          </a:prstGeom>
        </p:spPr>
      </p:pic>
      <p:pic>
        <p:nvPicPr>
          <p:cNvPr id="18" name="Image 3" descr="/mnt/data/mockup_work/img/immagini_slide/slide10_cumulativa_p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574" y="4041648"/>
            <a:ext cx="1888652" cy="12984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18120" y="55961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5C6B73"/>
                </a:solidFill>
              </a:rPr>
              <a:t>Dal rumore fisico → QEC → affidabilità cumulativa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L'algoritmo di Shor e la minaccia a RSA</a:t>
            </a:r>
            <a:endParaRPr lang="en-US" sz="2500" dirty="0"/>
          </a:p>
        </p:txBody>
      </p:sp>
      <p:pic>
        <p:nvPicPr>
          <p:cNvPr id="3" name="Image 0" descr="/mnt/data/mockup_work/img/immagini_slide/slide01_logo_uc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4682" y="164592"/>
            <a:ext cx="496356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9516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8848C"/>
                </a:solidFill>
              </a:rPr>
              <a:t>C. Dragotta — Algoritmo di Shor in ambienti rumorosi | 3 / 11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2920" y="960120"/>
            <a:ext cx="42519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sicurezza di RSA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 fonda sulla difficoltà computazionale della fattorizzazione di grandi interi.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783080"/>
            <a:ext cx="4251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5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 (1994)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fattorizza in tempo polinomiale su un computer quantistico: la barriera cade.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2615184"/>
            <a:ext cx="425196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5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risposta dell'industria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standard di crittografia post-quantistica NIST e migrazione in corso.</a:t>
            </a:r>
            <a:endParaRPr lang="en-US" sz="1250" dirty="0"/>
          </a:p>
        </p:txBody>
      </p:sp>
      <p:pic>
        <p:nvPicPr>
          <p:cNvPr id="8" name="Image 1" descr="/mnt/data/mockup_work/img/immagini_slide/slide03_classi_complessi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545" y="868680"/>
            <a:ext cx="5872110" cy="411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53949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</a:rPr>
              <a:t>fattorizzare</a:t>
            </a:r>
            <a:pPr algn="ctr" indent="0" marL="0">
              <a:buNone/>
            </a:pPr>
            <a:r>
              <a:rPr lang="en-US" sz="1500" b="1" dirty="0">
                <a:solidFill>
                  <a:srgbClr val="F28C00"/>
                </a:solidFill>
              </a:rPr>
              <a:t>  ⇒  </a:t>
            </a:r>
            <a:pPr algn="ctr" indent="0" marL="0">
              <a:buNone/>
            </a:pPr>
            <a:r>
              <a:rPr lang="en-US" sz="1500" b="1" dirty="0">
                <a:solidFill>
                  <a:srgbClr val="F28C00"/>
                </a:solidFill>
              </a:rPr>
              <a:t>rompere RSA</a:t>
            </a:r>
            <a:pPr algn="ctr" indent="0" marL="0">
              <a:buNone/>
            </a:pPr>
            <a:r>
              <a:rPr lang="en-US" sz="1500" b="1" dirty="0">
                <a:solidFill>
                  <a:srgbClr val="F28C00"/>
                </a:solidFill>
              </a:rPr>
              <a:t>  ⇒  </a:t>
            </a:r>
            <a:pPr algn="ctr" indent="0" marL="0">
              <a:buNone/>
            </a:pPr>
            <a:r>
              <a:rPr lang="en-US" sz="1500" b="1" i="1" dirty="0">
                <a:solidFill>
                  <a:srgbClr val="1D5D92"/>
                </a:solidFill>
              </a:rPr>
              <a:t>crittografia post-quantistica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120640" y="5010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5C6B73"/>
                </a:solidFill>
              </a:rPr>
              <a:t>Classi di complessità: la fattorizzazione è in BQP, fuori dalla portata classica nota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Dall'era NISQ al calcolo fault-tolerant</a:t>
            </a:r>
            <a:endParaRPr lang="en-US" sz="2500" dirty="0"/>
          </a:p>
        </p:txBody>
      </p:sp>
      <p:pic>
        <p:nvPicPr>
          <p:cNvPr id="3" name="Image 0" descr="/mnt/data/mockup_work/img/immagini_slide/slide01_logo_uc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4682" y="164592"/>
            <a:ext cx="496356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9516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8848C"/>
                </a:solidFill>
              </a:rPr>
              <a:t>C. Dragotta — Algoritmo di Shor in ambienti rumorosi | 4 / 11</a:t>
            </a:r>
            <a:endParaRPr lang="en-US" sz="650" dirty="0"/>
          </a:p>
        </p:txBody>
      </p:sp>
      <p:pic>
        <p:nvPicPr>
          <p:cNvPr id="5" name="Image 1" descr="/mnt/data/mockup_work/img/immagini_slide/slide04_ibm_system_one.jpg">    </p:cNvPr>
          <p:cNvPicPr>
            <a:picLocks noChangeAspect="1"/>
          </p:cNvPicPr>
          <p:nvPr/>
        </p:nvPicPr>
        <p:blipFill>
          <a:blip r:embed="rId2"/>
          <a:srcRect l="0" r="0" t="1688" b="1688"/>
          <a:stretch/>
        </p:blipFill>
        <p:spPr>
          <a:xfrm>
            <a:off x="502920" y="914400"/>
            <a:ext cx="4160520" cy="2788920"/>
          </a:xfrm>
          <a:prstGeom prst="rect">
            <a:avLst/>
          </a:prstGeom>
        </p:spPr>
      </p:pic>
      <p:pic>
        <p:nvPicPr>
          <p:cNvPr id="6" name="Image 2" descr="/mnt/data/mockup_work/img/immagini_slide/slide04_chip_transm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00600" y="1325880"/>
            <a:ext cx="1078992" cy="10789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" y="38587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5C6B73"/>
                </a:solidFill>
              </a:rPr>
              <a:t>IBM Quantum System One</a:t>
            </a:r>
            <a:endParaRPr lang="en-US" sz="820" dirty="0"/>
          </a:p>
        </p:txBody>
      </p:sp>
      <p:sp>
        <p:nvSpPr>
          <p:cNvPr id="8" name="Text 3"/>
          <p:cNvSpPr/>
          <p:nvPr/>
        </p:nvSpPr>
        <p:spPr>
          <a:xfrm>
            <a:off x="4800600" y="2542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5C6B73"/>
                </a:solidFill>
              </a:rPr>
              <a:t>Chip transmon</a:t>
            </a:r>
            <a:endParaRPr lang="en-US" sz="820" dirty="0"/>
          </a:p>
        </p:txBody>
      </p:sp>
      <p:sp>
        <p:nvSpPr>
          <p:cNvPr id="9" name="Text 4"/>
          <p:cNvSpPr/>
          <p:nvPr/>
        </p:nvSpPr>
        <p:spPr>
          <a:xfrm>
            <a:off x="6172200" y="914400"/>
            <a:ext cx="5257800" cy="914400"/>
          </a:xfrm>
          <a:prstGeom prst="rect">
            <a:avLst/>
          </a:prstGeom>
          <a:solidFill>
            <a:srgbClr val="F7FBFF"/>
          </a:solidFill>
          <a:ln w="10160">
            <a:solidFill>
              <a:srgbClr val="BBD6E8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8C00"/>
                </a:solidFill>
              </a:rPr>
              <a:t>●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I dispositivi attuali sono rumorosi: errore per gate a 2 qubit ε₂q ≈ 10⁻²; decoerenza e misura imperfetta.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172200" y="2148840"/>
            <a:ext cx="5257800" cy="914400"/>
          </a:xfrm>
          <a:prstGeom prst="rect">
            <a:avLst/>
          </a:prstGeom>
          <a:solidFill>
            <a:srgbClr val="F7FBFF"/>
          </a:solidFill>
          <a:ln w="10160">
            <a:solidFill>
              <a:srgbClr val="BBD6E8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8C00"/>
                </a:solidFill>
              </a:rPr>
              <a:t>●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La profondità amplifica il rumore: il circuito di Shor per N=15 conta già 162 porte CX (P_surv ≈ 20%).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172200" y="3794760"/>
            <a:ext cx="5257800" cy="1024128"/>
          </a:xfrm>
          <a:prstGeom prst="rect">
            <a:avLst/>
          </a:prstGeom>
          <a:solidFill>
            <a:srgbClr val="EAF5FF"/>
          </a:solidFill>
          <a:ln w="12700">
            <a:solidFill>
              <a:srgbClr val="1D5D9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03A63"/>
                </a:solidFill>
              </a:rPr>
              <a:t>Lacuna affrontata: </a:t>
            </a:r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quantificare quanto rumore l'algoritmo di Shor tollera e quanta correzione d'errore serve per renderlo affidabile.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Obiettivi del lavoro</a:t>
            </a:r>
            <a:endParaRPr lang="en-US" sz="2500" dirty="0"/>
          </a:p>
        </p:txBody>
      </p:sp>
      <p:pic>
        <p:nvPicPr>
          <p:cNvPr id="3" name="Image 0" descr="/mnt/data/mockup_work/img/immagini_slide/slide01_logo_uc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4682" y="164592"/>
            <a:ext cx="496356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9516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8848C"/>
                </a:solidFill>
              </a:rPr>
              <a:t>C. Dragotta — Algoritmo di Shor in ambienti rumorosi | 5 / 11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94360" y="1143000"/>
            <a:ext cx="2926080" cy="310896"/>
          </a:xfrm>
          <a:prstGeom prst="rect">
            <a:avLst/>
          </a:prstGeom>
          <a:solidFill>
            <a:srgbClr val="EFF6FC"/>
          </a:solidFill>
          <a:ln w="11430">
            <a:solidFill>
              <a:srgbClr val="1D5D92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A63"/>
                </a:solidFill>
              </a:rPr>
              <a:t>1 · Verificare l'ipotesi iniziale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1572768"/>
            <a:ext cx="2926080" cy="12984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Un classificatore ML sull'output rumoroso di Shor riduce le iterazioni?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Attesa: M̄₂ ≈ 3, ρ = M̄₁/M̄₂ &gt; 1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(Mann-Whitney, p &lt; 0.05)</a:t>
            </a:r>
            <a:endParaRPr lang="en-US" sz="1020" dirty="0"/>
          </a:p>
        </p:txBody>
      </p:sp>
      <p:sp>
        <p:nvSpPr>
          <p:cNvPr id="7" name="Shape 4"/>
          <p:cNvSpPr/>
          <p:nvPr/>
        </p:nvSpPr>
        <p:spPr>
          <a:xfrm>
            <a:off x="3593592" y="1920240"/>
            <a:ext cx="429768" cy="0"/>
          </a:xfrm>
          <a:prstGeom prst="line">
            <a:avLst/>
          </a:prstGeom>
          <a:noFill/>
          <a:ln w="27940">
            <a:solidFill>
              <a:srgbClr val="F28C00"/>
            </a:solidFill>
            <a:prstDash val="solid"/>
            <a:headEnd type="none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4160520" y="1143000"/>
            <a:ext cx="2926080" cy="310896"/>
          </a:xfrm>
          <a:prstGeom prst="rect">
            <a:avLst/>
          </a:prstGeom>
          <a:solidFill>
            <a:srgbClr val="EFF6FC"/>
          </a:solidFill>
          <a:ln w="11430">
            <a:solidFill>
              <a:srgbClr val="1D5D92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A63"/>
                </a:solidFill>
              </a:rPr>
              <a:t>2 · Caratterizzare la QEC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60520" y="1572768"/>
            <a:ext cx="2926080" cy="12984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Misurare l'errore logico p_L di repetition code, codice di Steane [[7,1,3]] e surface code a distanza d = 3, 5, 7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7159752" y="1920240"/>
            <a:ext cx="429768" cy="0"/>
          </a:xfrm>
          <a:prstGeom prst="line">
            <a:avLst/>
          </a:prstGeom>
          <a:noFill/>
          <a:ln w="27940">
            <a:solidFill>
              <a:srgbClr val="F28C00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7726680" y="1143000"/>
            <a:ext cx="2926080" cy="310896"/>
          </a:xfrm>
          <a:prstGeom prst="rect">
            <a:avLst/>
          </a:prstGeom>
          <a:solidFill>
            <a:srgbClr val="EFF6FC"/>
          </a:solidFill>
          <a:ln w="11430">
            <a:solidFill>
              <a:srgbClr val="1D5D92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A63"/>
                </a:solidFill>
              </a:rPr>
              <a:t>3 · Integrare: lo Shor logico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26680" y="1572768"/>
            <a:ext cx="2926080" cy="12984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Quale p_L serve perché Shor mantenga una probabilità di successo elevata?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Requisito sull'hardware fisico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1051560" y="4279392"/>
            <a:ext cx="10149840" cy="384048"/>
          </a:xfrm>
          <a:prstGeom prst="rect">
            <a:avLst/>
          </a:prstGeom>
          <a:solidFill>
            <a:srgbClr val="EFF6FC"/>
          </a:solidFill>
          <a:ln w="7620">
            <a:solidFill>
              <a:srgbClr val="BBD6E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63"/>
                </a:solidFill>
              </a:rPr>
              <a:t>4 use case: N=15 a due livelli di rumore (UC1, UC2), N=21 (UC3), N=35 (UC4)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51560" y="4828032"/>
            <a:ext cx="10149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Simulatore: Qiskit AerSimulator · seed deterministici · 1024 shot/iterazione · K = 30 ripetizioni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Un'architettura a quattro livelli</a:t>
            </a:r>
            <a:endParaRPr lang="en-US" sz="2500" dirty="0"/>
          </a:p>
        </p:txBody>
      </p:sp>
      <p:pic>
        <p:nvPicPr>
          <p:cNvPr id="3" name="Image 0" descr="/mnt/data/mockup_work/img/immagini_slide/slide01_logo_uc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4682" y="164592"/>
            <a:ext cx="496356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9516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8848C"/>
                </a:solidFill>
              </a:rPr>
              <a:t>C. Dragotta — Algoritmo di Shor in ambienti rumorosi | 6 / 11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94360" y="941832"/>
            <a:ext cx="5715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BD6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3A63"/>
                </a:solidFill>
              </a:rPr>
              <a:t>Livello 1 — Shor ideale</a:t>
            </a:r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   Qiskit Aer (statevector)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594360" y="1691640"/>
            <a:ext cx="5715000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BBD6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3A63"/>
                </a:solidFill>
              </a:rPr>
              <a:t>Livello 2 — Shor rumoroso</a:t>
            </a:r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   Qiskit Aer + noise model NISQ</a:t>
            </a:r>
            <a:endParaRPr lang="en-US" sz="1120" dirty="0"/>
          </a:p>
        </p:txBody>
      </p:sp>
      <p:sp>
        <p:nvSpPr>
          <p:cNvPr id="7" name="Text 4"/>
          <p:cNvSpPr/>
          <p:nvPr/>
        </p:nvSpPr>
        <p:spPr>
          <a:xfrm>
            <a:off x="594360" y="2441448"/>
            <a:ext cx="5715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BBD6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3A63"/>
                </a:solidFill>
              </a:rPr>
              <a:t>Livello 3 — QEC isolata</a:t>
            </a:r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   Qiskit (repetition, Steane) · Stim + PyMatching (surface)</a:t>
            </a:r>
            <a:endParaRPr lang="en-US" sz="1120" dirty="0"/>
          </a:p>
        </p:txBody>
      </p:sp>
      <p:sp>
        <p:nvSpPr>
          <p:cNvPr id="8" name="Text 5"/>
          <p:cNvSpPr/>
          <p:nvPr/>
        </p:nvSpPr>
        <p:spPr>
          <a:xfrm>
            <a:off x="594360" y="3191256"/>
            <a:ext cx="5715000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BBD6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03A63"/>
                </a:solidFill>
              </a:rPr>
              <a:t>Livello 4 — Shor logico</a:t>
            </a:r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   Qiskit Aer + canale d'errore logico p_L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685800" y="42062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i="1" dirty="0">
                <a:solidFill>
                  <a:srgbClr val="F28C00"/>
                </a:solidFill>
              </a:rPr>
              <a:t>p_L</a:t>
            </a:r>
            <a:pPr indent="0" marL="0">
              <a:buNone/>
            </a:pPr>
            <a:r>
              <a:rPr lang="en-US" sz="1120" b="1" dirty="0">
                <a:solidFill>
                  <a:srgbClr val="F28C00"/>
                </a:solidFill>
              </a:rPr>
              <a:t>: la grandezza di scambio — misurata al livello 3, iniettata al livello 4</a:t>
            </a:r>
            <a:endParaRPr lang="en-US" sz="1120" dirty="0"/>
          </a:p>
        </p:txBody>
      </p:sp>
      <p:pic>
        <p:nvPicPr>
          <p:cNvPr id="10" name="Image 1" descr="/mnt/data/mockup_work/img/immagini_slide/slide06_circuito_QPE_N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072" y="868680"/>
            <a:ext cx="4487576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53675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5C6B73"/>
                </a:solidFill>
              </a:rPr>
              <a:t>Circuito sotto esame: QPE per N = 15 (12 qubit; 162 CX, profondità 309 dopo traspilazione)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 vs M2 vs TOP-4: l'analisi di ablazione</a:t>
            </a:r>
            <a:endParaRPr lang="en-US" sz="2500" dirty="0"/>
          </a:p>
        </p:txBody>
      </p:sp>
      <p:pic>
        <p:nvPicPr>
          <p:cNvPr id="3" name="Image 0" descr="/mnt/data/mockup_work/img/immagini_slide/slide01_logo_uc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4682" y="164592"/>
            <a:ext cx="496356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9516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8848C"/>
                </a:solidFill>
              </a:rPr>
              <a:t>C. Dragotta — Algoritmo di Shor in ambienti rumorosi | 7 / 11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94360" y="777240"/>
            <a:ext cx="108813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Segnale QPE strutturato vs output dominato dal rumore (UC1): distinguere i due casi era il compito del classificatore</a:t>
            </a:r>
            <a:endParaRPr lang="en-US" sz="1150" dirty="0"/>
          </a:p>
        </p:txBody>
      </p:sp>
      <p:pic>
        <p:nvPicPr>
          <p:cNvPr id="6" name="Image 1" descr="/mnt/data/mockup_work/img/immagini_slide/slide07_istogrammi_q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56716"/>
            <a:ext cx="5303520" cy="2121408"/>
          </a:xfrm>
          <a:prstGeom prst="rect">
            <a:avLst/>
          </a:prstGeom>
        </p:spPr>
      </p:pic>
      <p:pic>
        <p:nvPicPr>
          <p:cNvPr id="7" name="Image 2" descr="/mnt/data/mockup_work/img/immagini_slide/slide07_ablazione_iterazion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340" y="1143000"/>
            <a:ext cx="4372081" cy="3611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360" y="3337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5C6B73"/>
                </a:solidFill>
              </a:rPr>
              <a:t>Distribuzione frequenze: Metodo 1 vs Metodo 2</a:t>
            </a:r>
            <a:endParaRPr lang="en-US" sz="820" dirty="0"/>
          </a:p>
        </p:txBody>
      </p:sp>
      <p:sp>
        <p:nvSpPr>
          <p:cNvPr id="9" name="Text 4"/>
          <p:cNvSpPr/>
          <p:nvPr/>
        </p:nvSpPr>
        <p:spPr>
          <a:xfrm>
            <a:off x="713232" y="4160520"/>
            <a:ext cx="1234440" cy="320040"/>
          </a:xfrm>
          <a:prstGeom prst="rect">
            <a:avLst/>
          </a:prstGeom>
          <a:solidFill>
            <a:srgbClr val="EFF6FC"/>
          </a:solidFill>
          <a:ln w="10160">
            <a:solidFill>
              <a:srgbClr val="BBD6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63"/>
                </a:solidFill>
              </a:rPr>
              <a:t>M1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40080" y="4507992"/>
            <a:ext cx="138988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TOP-1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baseline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2587752" y="4160520"/>
            <a:ext cx="1234440" cy="320040"/>
          </a:xfrm>
          <a:prstGeom prst="rect">
            <a:avLst/>
          </a:prstGeom>
          <a:solidFill>
            <a:srgbClr val="EFF6FC"/>
          </a:solidFill>
          <a:ln w="10160">
            <a:solidFill>
              <a:srgbClr val="BBD6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63"/>
                </a:solidFill>
              </a:rPr>
              <a:t>M2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2514600" y="4507992"/>
            <a:ext cx="138988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classificatore ML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+ TOP-4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4462272" y="4160520"/>
            <a:ext cx="1234440" cy="320040"/>
          </a:xfrm>
          <a:prstGeom prst="rect">
            <a:avLst/>
          </a:prstGeom>
          <a:solidFill>
            <a:srgbClr val="EFF6FC"/>
          </a:solidFill>
          <a:ln w="10160">
            <a:solidFill>
              <a:srgbClr val="BBD6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63"/>
                </a:solidFill>
              </a:rPr>
              <a:t>M_TOP4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389120" y="4507992"/>
            <a:ext cx="138988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solo TOP-4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senza ML (ablazione)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303520" y="507492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5C6B73"/>
                </a:solidFill>
              </a:rPr>
              <a:t>Iterazioni per configurazione su UC1 — K = 30 ripetizioni, M_max = 50, 1024 shot/iterazione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Dalla ridondanza al surface code</a:t>
            </a:r>
            <a:endParaRPr lang="en-US" sz="2500" dirty="0"/>
          </a:p>
        </p:txBody>
      </p:sp>
      <p:pic>
        <p:nvPicPr>
          <p:cNvPr id="3" name="Image 0" descr="/mnt/data/mockup_work/img/immagini_slide/slide01_logo_uc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4682" y="164592"/>
            <a:ext cx="496356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9516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8848C"/>
                </a:solidFill>
              </a:rPr>
              <a:t>C. Dragotta — Algoritmo di Shor in ambienti rumorosi | 8 / 11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023360" y="7955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D92"/>
                </a:solidFill>
              </a:rPr>
              <a:t>capacità di correzione crescente  →</a:t>
            </a:r>
            <a:endParaRPr lang="en-US" sz="1050" dirty="0"/>
          </a:p>
        </p:txBody>
      </p:sp>
      <p:pic>
        <p:nvPicPr>
          <p:cNvPr id="6" name="Image 1" descr="/mnt/data/mockup_work/img/immagini_slide/slide08_repetition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9278"/>
            <a:ext cx="3429000" cy="24334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858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63"/>
                </a:solidFill>
              </a:rPr>
              <a:t>Repetition 3 qubit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94360" y="4160520"/>
            <a:ext cx="324612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C6B73"/>
                </a:solidFill>
              </a:rPr>
              <a:t>p_L = 3p² − 2p³: accordo Monte Carlo / teoria</a:t>
            </a:r>
            <a:endParaRPr lang="en-US" sz="920" dirty="0"/>
          </a:p>
        </p:txBody>
      </p:sp>
      <p:pic>
        <p:nvPicPr>
          <p:cNvPr id="9" name="Image 2" descr="/mnt/data/mockup_work/img/immagini_slide/slide08_steane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173972"/>
            <a:ext cx="3429000" cy="25440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70832" y="3858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63"/>
                </a:solidFill>
              </a:rPr>
              <a:t>Steane [[7,1,3]]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462272" y="4160520"/>
            <a:ext cx="324612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C6B73"/>
                </a:solidFill>
              </a:rPr>
              <a:t>p_L ∝ p²: pseudo-soglia p ≈ 0.08</a:t>
            </a:r>
            <a:endParaRPr lang="en-US" sz="920" dirty="0"/>
          </a:p>
        </p:txBody>
      </p:sp>
      <p:pic>
        <p:nvPicPr>
          <p:cNvPr id="12" name="Image 3" descr="/mnt/data/mockup_work/img/immagini_slide/slide08e09_surface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1173972"/>
            <a:ext cx="3429000" cy="25440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38744" y="3858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63"/>
                </a:solidFill>
              </a:rPr>
              <a:t>Surface code d = 3, 5, 7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8330184" y="4160520"/>
            <a:ext cx="324612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C6B73"/>
                </a:solidFill>
              </a:rPr>
              <a:t>Stim + PyMatching, 200.000 campioni/punto</a:t>
            </a:r>
            <a:endParaRPr lang="en-US" sz="920" dirty="0"/>
          </a:p>
        </p:txBody>
      </p:sp>
      <p:sp>
        <p:nvSpPr>
          <p:cNvPr id="15" name="Text 9"/>
          <p:cNvSpPr/>
          <p:nvPr/>
        </p:nvSpPr>
        <p:spPr>
          <a:xfrm>
            <a:off x="1828800" y="5166360"/>
            <a:ext cx="8595360" cy="411480"/>
          </a:xfrm>
          <a:prstGeom prst="rect">
            <a:avLst/>
          </a:prstGeom>
          <a:solidFill>
            <a:srgbClr val="EFF6FC"/>
          </a:solidFill>
          <a:ln w="7620">
            <a:solidFill>
              <a:srgbClr val="BBD6E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63"/>
                </a:solidFill>
              </a:rPr>
              <a:t>Ridondanza + decoding trasformano l’errore fisico p in errore logico p_L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Risultati: dalla soglia del surface code allo Shor logico</a:t>
            </a:r>
            <a:endParaRPr lang="en-US" sz="2500" dirty="0"/>
          </a:p>
        </p:txBody>
      </p:sp>
      <p:pic>
        <p:nvPicPr>
          <p:cNvPr id="3" name="Image 0" descr="/mnt/data/mockup_work/img/immagini_slide/slide01_logo_uc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4682" y="164592"/>
            <a:ext cx="496356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9516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8848C"/>
                </a:solidFill>
              </a:rPr>
              <a:t>C. Dragotta — Algoritmo di Shor in ambienti rumorosi | 9 / 11</a:t>
            </a:r>
            <a:endParaRPr lang="en-US" sz="650" dirty="0"/>
          </a:p>
        </p:txBody>
      </p:sp>
      <p:pic>
        <p:nvPicPr>
          <p:cNvPr id="5" name="Image 1" descr="/mnt/data/mockup_work/img/immagini_slide/slide08e09_surface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70" y="960120"/>
            <a:ext cx="4744941" cy="3520440"/>
          </a:xfrm>
          <a:prstGeom prst="rect">
            <a:avLst/>
          </a:prstGeom>
        </p:spPr>
      </p:pic>
      <p:pic>
        <p:nvPicPr>
          <p:cNvPr id="6" name="Image 2" descr="/mnt/data/mockup_work/img/immagini_slide/slide09_shor_logico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87" y="960120"/>
            <a:ext cx="5051066" cy="3520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05840" y="1298448"/>
            <a:ext cx="2011680" cy="329184"/>
          </a:xfrm>
          <a:prstGeom prst="rect">
            <a:avLst/>
          </a:prstGeom>
          <a:solidFill>
            <a:srgbClr val="FFF3E0"/>
          </a:solidFill>
          <a:ln w="11430">
            <a:solidFill>
              <a:srgbClr val="F28C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00"/>
                </a:solidFill>
              </a:rPr>
              <a:t>soglia p_th ≈ 0.9%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7360920" y="1298448"/>
            <a:ext cx="2880360" cy="329184"/>
          </a:xfrm>
          <a:prstGeom prst="rect">
            <a:avLst/>
          </a:prstGeom>
          <a:solidFill>
            <a:srgbClr val="FFF3E0"/>
          </a:solidFill>
          <a:ln w="11430">
            <a:solidFill>
              <a:srgbClr val="F28C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8C00"/>
                </a:solidFill>
              </a:rPr>
              <a:t>fisico &lt; Steane &lt; surface: gerarchia netta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868680" y="4754880"/>
            <a:ext cx="47091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Sotto soglia, ogni incremento di d abbatte p_L di ~4×; l'hardware NISQ attuale (ε₂q ≈ 10⁻²) è ancora sopra soglia.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309360" y="4754880"/>
            <a:ext cx="50749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Figura conclusiva — P_success(N=15) vs p_L: fisico (10⁻², P≈0.64) → Steane (1.7×10⁻³, P≈0.72) → surface d=7 (10⁻⁴, P≈0.74).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Conclusioni</a:t>
            </a:r>
            <a:endParaRPr lang="en-US" sz="2500" dirty="0"/>
          </a:p>
        </p:txBody>
      </p:sp>
      <p:pic>
        <p:nvPicPr>
          <p:cNvPr id="3" name="Image 0" descr="/mnt/data/mockup_work/img/immagini_slide/slide01_logo_uc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4682" y="164592"/>
            <a:ext cx="496356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9516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8848C"/>
                </a:solidFill>
              </a:rPr>
              <a:t>C. Dragotta — Algoritmo di Shor in ambienti rumorosi | 10 / 11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371600" cy="475488"/>
          </a:xfrm>
          <a:prstGeom prst="rect">
            <a:avLst/>
          </a:prstGeom>
          <a:solidFill>
            <a:srgbClr val="EFF6FC"/>
          </a:solidFill>
          <a:ln w="10160">
            <a:solidFill>
              <a:srgbClr val="BBD6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00"/>
                </a:solidFill>
              </a:rPr>
              <a:t>ρ = 6.4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148840" y="923544"/>
            <a:ext cx="42519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</a:rPr>
              <a:t>Le iterazioni si riducono davvero — ma l'ablazione smentisce l'ipotesi: il merito è della ricerca TOP-4, non del classificatore ML (M_TOP4 ≈ M2, p = 0.849).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640080" y="2221992"/>
            <a:ext cx="1371600" cy="475488"/>
          </a:xfrm>
          <a:prstGeom prst="rect">
            <a:avLst/>
          </a:prstGeom>
          <a:solidFill>
            <a:srgbClr val="EFF6FC"/>
          </a:solidFill>
          <a:ln w="10160">
            <a:solidFill>
              <a:srgbClr val="BBD6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00"/>
                </a:solidFill>
              </a:rPr>
              <a:t>p_th ≈ 0.9%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148840" y="2185416"/>
            <a:ext cx="42519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</a:rPr>
              <a:t>Il comportamento a soglia del surface code è osservato sperimentalmente: servono gate sotto ~10⁻³ perché aggiungere distanza convenga.</a:t>
            </a:r>
            <a:endParaRPr lang="en-US" sz="1040" dirty="0"/>
          </a:p>
        </p:txBody>
      </p:sp>
      <p:sp>
        <p:nvSpPr>
          <p:cNvPr id="9" name="Text 6"/>
          <p:cNvSpPr/>
          <p:nvPr/>
        </p:nvSpPr>
        <p:spPr>
          <a:xfrm>
            <a:off x="640080" y="3483864"/>
            <a:ext cx="1371600" cy="475488"/>
          </a:xfrm>
          <a:prstGeom prst="rect">
            <a:avLst/>
          </a:prstGeom>
          <a:solidFill>
            <a:srgbClr val="EFF6FC"/>
          </a:solidFill>
          <a:ln w="10160">
            <a:solidFill>
              <a:srgbClr val="BBD6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00"/>
                </a:solidFill>
              </a:rPr>
              <a:t>k = 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148840" y="3447288"/>
            <a:ext cx="42519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111"/>
                </a:solidFill>
              </a:rPr>
              <a:t>Con correzione ideale (P_s ≈ 0.75 per N=15) bastano 2 esecuzioni per superare l'80% cumulativo: la QEC rende il calcolo affidabile.</a:t>
            </a:r>
            <a:endParaRPr lang="en-US" sz="1040" dirty="0"/>
          </a:p>
        </p:txBody>
      </p:sp>
      <p:pic>
        <p:nvPicPr>
          <p:cNvPr id="11" name="Image 1" descr="/mnt/data/mockup_work/img/immagini_slide/slide10_cumulativa_p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264444"/>
            <a:ext cx="4434840" cy="30489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20840" y="4800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3"/>
                </a:solidFill>
              </a:rPr>
              <a:t>P(k) = 1 − (1 − P_s)^k: la soglia dell’80% è un obiettivo cumulativo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Contributo personale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49808" y="14356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00"/>
                </a:solidFill>
              </a:rPr>
              <a:t>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1417320"/>
            <a:ext cx="9738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</a:rPr>
              <a:t>Pipeline completa di Shor in Python/Qiskit</a:t>
            </a:r>
            <a:pPr indent="0" marL="0">
              <a:buNone/>
            </a:pPr>
            <a:r>
              <a:rPr lang="en-US" sz="1090" dirty="0">
                <a:solidFill>
                  <a:srgbClr val="E6F2FA"/>
                </a:solidFill>
              </a:rPr>
              <a:t> — QPE, esponenziazione modulare, estrazione dei fattori; confronto M1/M2 con seed deterministici e test statistici (Mann-Whitney).</a:t>
            </a:r>
            <a:endParaRPr lang="en-US" sz="1090" dirty="0"/>
          </a:p>
        </p:txBody>
      </p:sp>
      <p:sp>
        <p:nvSpPr>
          <p:cNvPr id="5" name="Text 3"/>
          <p:cNvSpPr/>
          <p:nvPr/>
        </p:nvSpPr>
        <p:spPr>
          <a:xfrm>
            <a:off x="749808" y="23134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00"/>
                </a:solidFill>
              </a:rPr>
              <a:t>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295144"/>
            <a:ext cx="9738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</a:rPr>
              <a:t>Analisi di ablazione</a:t>
            </a:r>
            <a:pPr indent="0" marL="0">
              <a:buNone/>
            </a:pPr>
            <a:r>
              <a:rPr lang="en-US" sz="1090" dirty="0">
                <a:solidFill>
                  <a:srgbClr val="E6F2FA"/>
                </a:solidFill>
              </a:rPr>
              <a:t> — progettata ed eseguita per isolare — e smentire — il contributo del classificatore ML rispetto alla strategia TOP-4.</a:t>
            </a:r>
            <a:endParaRPr lang="en-US" sz="1090" dirty="0"/>
          </a:p>
        </p:txBody>
      </p:sp>
      <p:sp>
        <p:nvSpPr>
          <p:cNvPr id="7" name="Text 5"/>
          <p:cNvSpPr/>
          <p:nvPr/>
        </p:nvSpPr>
        <p:spPr>
          <a:xfrm>
            <a:off x="749808" y="319125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00"/>
                </a:solidFill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172968"/>
            <a:ext cx="9738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</a:rPr>
              <a:t>Tre laboratori QEC</a:t>
            </a:r>
            <a:pPr indent="0" marL="0">
              <a:buNone/>
            </a:pPr>
            <a:r>
              <a:rPr lang="en-US" sz="1090" dirty="0">
                <a:solidFill>
                  <a:srgbClr val="E6F2FA"/>
                </a:solidFill>
              </a:rPr>
              <a:t> — repetition, Steane e surface code (Stim + PyMatching): stima sperimentale della soglia e del logical error rate p_L.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749808" y="406908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00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4050792"/>
            <a:ext cx="9738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</a:rPr>
              <a:t>Modello integrato di Shor logico</a:t>
            </a:r>
            <a:pPr indent="0" marL="0">
              <a:buNone/>
            </a:pPr>
            <a:r>
              <a:rPr lang="en-US" sz="1090" dirty="0">
                <a:solidFill>
                  <a:srgbClr val="E6F2FA"/>
                </a:solidFill>
              </a:rPr>
              <a:t> — costruzione della figura conclusiva P_success vs p_L e analisi critica dei limiti del modello di Pauli.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425196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6E5EF"/>
                </a:solidFill>
              </a:rPr>
              <a:t>Grazie per l'attenzione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Mockup slide tesi - Algoritmo di Shor</dc:title>
  <dc:subject>Mockup tesi quantum</dc:subject>
  <dc:creator>OpenAI</dc:creator>
  <cp:lastModifiedBy>OpenAI</cp:lastModifiedBy>
  <cp:revision>1</cp:revision>
  <dcterms:created xsi:type="dcterms:W3CDTF">2026-07-17T12:38:51Z</dcterms:created>
  <dcterms:modified xsi:type="dcterms:W3CDTF">2026-07-17T12:38:51Z</dcterms:modified>
</cp:coreProperties>
</file>